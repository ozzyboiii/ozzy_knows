
<file path=[Content_Types].xml><?xml version="1.0" encoding="utf-8"?>
<Types xmlns="http://schemas.openxmlformats.org/package/2006/content-types">
  <Default Extension="bin" ContentType="image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78" r:id="rId4"/>
    <p:sldId id="475" r:id="rId5"/>
    <p:sldId id="512" r:id="rId6"/>
    <p:sldId id="482" r:id="rId7"/>
    <p:sldId id="504" r:id="rId8"/>
    <p:sldId id="505" r:id="rId9"/>
    <p:sldId id="279" r:id="rId10"/>
    <p:sldId id="506" r:id="rId11"/>
    <p:sldId id="508" r:id="rId12"/>
    <p:sldId id="280" r:id="rId13"/>
    <p:sldId id="445" r:id="rId14"/>
    <p:sldId id="431" r:id="rId15"/>
    <p:sldId id="290" r:id="rId16"/>
    <p:sldId id="270" r:id="rId17"/>
    <p:sldId id="285" r:id="rId18"/>
    <p:sldId id="286" r:id="rId19"/>
    <p:sldId id="287" r:id="rId20"/>
    <p:sldId id="264" r:id="rId21"/>
    <p:sldId id="477" r:id="rId22"/>
    <p:sldId id="509" r:id="rId23"/>
    <p:sldId id="510" r:id="rId24"/>
    <p:sldId id="282" r:id="rId25"/>
    <p:sldId id="51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B79A"/>
    <a:srgbClr val="CC9900"/>
    <a:srgbClr val="3C0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8" y="3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4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D1A47C-8214-49F5-835D-2DA1F8CD0D7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875D3E-8144-4E0C-83E6-D507ED61373E}">
      <dgm:prSet phldrT="[Text]" custT="1"/>
      <dgm:sp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</dgm:spPr>
      <dgm:t>
        <a:bodyPr/>
        <a:lstStyle/>
        <a:p>
          <a:r>
            <a:rPr lang="hr-HR" sz="2400" dirty="0">
              <a:solidFill>
                <a:schemeClr val="tx1"/>
              </a:solidFill>
              <a:latin typeface="+mj-lt"/>
            </a:rPr>
            <a:t>Kemijski sastav </a:t>
          </a:r>
          <a:endParaRPr lang="en-US" sz="2400" dirty="0">
            <a:solidFill>
              <a:schemeClr val="tx1"/>
            </a:solidFill>
            <a:latin typeface="+mj-lt"/>
          </a:endParaRPr>
        </a:p>
      </dgm:t>
    </dgm:pt>
    <dgm:pt modelId="{F5F36A57-CBCA-415E-BFD8-2A93A063E231}" type="parTrans" cxnId="{57AC51EE-ADD0-4041-932D-3003D09ACA5B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A9DB3449-7D27-4A17-B787-808DFB2E897D}" type="sibTrans" cxnId="{57AC51EE-ADD0-4041-932D-3003D09ACA5B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0D7CFB55-A41D-4EC5-A5C5-DEF00722F1DC}">
      <dgm:prSet phldrT="[Text]" custT="1"/>
      <dgm:sp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</dgm:spPr>
      <dgm:t>
        <a:bodyPr/>
        <a:lstStyle/>
        <a:p>
          <a:r>
            <a:rPr lang="hr-HR" sz="2400" dirty="0">
              <a:solidFill>
                <a:schemeClr val="tx1"/>
              </a:solidFill>
              <a:latin typeface="+mj-lt"/>
            </a:rPr>
            <a:t>Steroidni</a:t>
          </a:r>
        </a:p>
        <a:p>
          <a:endParaRPr lang="en-US" sz="2400" dirty="0">
            <a:solidFill>
              <a:schemeClr val="tx1"/>
            </a:solidFill>
            <a:latin typeface="+mj-lt"/>
          </a:endParaRPr>
        </a:p>
      </dgm:t>
    </dgm:pt>
    <dgm:pt modelId="{E4DE6F4B-48A1-46D0-8D97-4472FFBA21B8}" type="parTrans" cxnId="{77D755E4-1881-48F7-98E5-E2D07BFE3853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DEABE325-398D-4962-8F7A-7F12550D9663}" type="sibTrans" cxnId="{77D755E4-1881-48F7-98E5-E2D07BFE3853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4AB0233F-B36F-4310-80B5-BFCCAA088E96}">
      <dgm:prSet phldrT="[Text]" custT="1"/>
      <dgm:spPr>
        <a:solidFill>
          <a:schemeClr val="bg1"/>
        </a:solidFill>
      </dgm:spPr>
      <dgm:t>
        <a:bodyPr/>
        <a:lstStyle/>
        <a:p>
          <a:r>
            <a:rPr lang="hr-HR" sz="2400" dirty="0">
              <a:solidFill>
                <a:schemeClr val="tx1"/>
              </a:solidFill>
              <a:latin typeface="+mj-lt"/>
            </a:rPr>
            <a:t>Ne steroidni</a:t>
          </a:r>
        </a:p>
        <a:p>
          <a:r>
            <a:rPr lang="hr-HR" sz="2400" dirty="0">
              <a:solidFill>
                <a:schemeClr val="tx1"/>
              </a:solidFill>
              <a:latin typeface="+mj-lt"/>
            </a:rPr>
            <a:t> </a:t>
          </a:r>
          <a:endParaRPr lang="en-US" sz="2400" dirty="0">
            <a:solidFill>
              <a:schemeClr val="tx1"/>
            </a:solidFill>
            <a:latin typeface="+mj-lt"/>
          </a:endParaRPr>
        </a:p>
      </dgm:t>
    </dgm:pt>
    <dgm:pt modelId="{7C421F6F-2F63-461A-8B1A-C2DECE3EC110}" type="parTrans" cxnId="{8DF15CAB-11EC-45D3-98AC-F400DD94AA1D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1FC32CF3-B58C-4D09-96AE-BEFE515DFF2D}" type="sibTrans" cxnId="{8DF15CAB-11EC-45D3-98AC-F400DD94AA1D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634E0D89-FF12-4732-9D18-22C2C3765331}" type="pres">
      <dgm:prSet presAssocID="{AAD1A47C-8214-49F5-835D-2DA1F8CD0D7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7D8D79B-3789-43AA-A9A2-07F6698AE0F9}" type="pres">
      <dgm:prSet presAssocID="{0B875D3E-8144-4E0C-83E6-D507ED61373E}" presName="hierRoot1" presStyleCnt="0">
        <dgm:presLayoutVars>
          <dgm:hierBranch val="init"/>
        </dgm:presLayoutVars>
      </dgm:prSet>
      <dgm:spPr/>
    </dgm:pt>
    <dgm:pt modelId="{5A4D800A-6B51-48F1-8AB7-404281BC2EC4}" type="pres">
      <dgm:prSet presAssocID="{0B875D3E-8144-4E0C-83E6-D507ED61373E}" presName="rootComposite1" presStyleCnt="0"/>
      <dgm:spPr/>
    </dgm:pt>
    <dgm:pt modelId="{861AB0DD-B536-41ED-B2C8-420C0151272D}" type="pres">
      <dgm:prSet presAssocID="{0B875D3E-8144-4E0C-83E6-D507ED61373E}" presName="rootText1" presStyleLbl="node0" presStyleIdx="0" presStyleCnt="1">
        <dgm:presLayoutVars>
          <dgm:chPref val="3"/>
        </dgm:presLayoutVars>
      </dgm:prSet>
      <dgm:spPr/>
    </dgm:pt>
    <dgm:pt modelId="{BEE128A2-3BB0-44C3-8C3A-0DB4B952707C}" type="pres">
      <dgm:prSet presAssocID="{0B875D3E-8144-4E0C-83E6-D507ED61373E}" presName="rootConnector1" presStyleLbl="node1" presStyleIdx="0" presStyleCnt="0"/>
      <dgm:spPr/>
    </dgm:pt>
    <dgm:pt modelId="{1DDE3B28-DB97-4698-A711-69575D24386B}" type="pres">
      <dgm:prSet presAssocID="{0B875D3E-8144-4E0C-83E6-D507ED61373E}" presName="hierChild2" presStyleCnt="0"/>
      <dgm:spPr/>
    </dgm:pt>
    <dgm:pt modelId="{B2770F4D-978E-4F82-8D42-A461AE907135}" type="pres">
      <dgm:prSet presAssocID="{E4DE6F4B-48A1-46D0-8D97-4472FFBA21B8}" presName="Name37" presStyleLbl="parChTrans1D2" presStyleIdx="0" presStyleCnt="2"/>
      <dgm:spPr/>
    </dgm:pt>
    <dgm:pt modelId="{8A275906-2E45-417F-90E0-76BD42CCCB63}" type="pres">
      <dgm:prSet presAssocID="{0D7CFB55-A41D-4EC5-A5C5-DEF00722F1DC}" presName="hierRoot2" presStyleCnt="0">
        <dgm:presLayoutVars>
          <dgm:hierBranch val="init"/>
        </dgm:presLayoutVars>
      </dgm:prSet>
      <dgm:spPr/>
    </dgm:pt>
    <dgm:pt modelId="{0DB12678-0AD9-4AE1-BC34-2722B1EDCA8B}" type="pres">
      <dgm:prSet presAssocID="{0D7CFB55-A41D-4EC5-A5C5-DEF00722F1DC}" presName="rootComposite" presStyleCnt="0"/>
      <dgm:spPr/>
    </dgm:pt>
    <dgm:pt modelId="{67BE9B5D-E348-479C-B875-B21075B8F956}" type="pres">
      <dgm:prSet presAssocID="{0D7CFB55-A41D-4EC5-A5C5-DEF00722F1DC}" presName="rootText" presStyleLbl="node2" presStyleIdx="0" presStyleCnt="2" custScaleY="206921">
        <dgm:presLayoutVars>
          <dgm:chPref val="3"/>
        </dgm:presLayoutVars>
      </dgm:prSet>
      <dgm:spPr/>
    </dgm:pt>
    <dgm:pt modelId="{046E7F72-18CF-4C84-B7C9-898D8E4FCC2F}" type="pres">
      <dgm:prSet presAssocID="{0D7CFB55-A41D-4EC5-A5C5-DEF00722F1DC}" presName="rootConnector" presStyleLbl="node2" presStyleIdx="0" presStyleCnt="2"/>
      <dgm:spPr/>
    </dgm:pt>
    <dgm:pt modelId="{E85E55BE-6DA7-46B9-A2AE-49333CA02EA5}" type="pres">
      <dgm:prSet presAssocID="{0D7CFB55-A41D-4EC5-A5C5-DEF00722F1DC}" presName="hierChild4" presStyleCnt="0"/>
      <dgm:spPr/>
    </dgm:pt>
    <dgm:pt modelId="{D1257E75-AF18-492E-B38C-1A2AFE94609F}" type="pres">
      <dgm:prSet presAssocID="{0D7CFB55-A41D-4EC5-A5C5-DEF00722F1DC}" presName="hierChild5" presStyleCnt="0"/>
      <dgm:spPr/>
    </dgm:pt>
    <dgm:pt modelId="{49DC3C87-509B-46A5-883D-BD13D7375B07}" type="pres">
      <dgm:prSet presAssocID="{7C421F6F-2F63-461A-8B1A-C2DECE3EC110}" presName="Name37" presStyleLbl="parChTrans1D2" presStyleIdx="1" presStyleCnt="2"/>
      <dgm:spPr/>
    </dgm:pt>
    <dgm:pt modelId="{8B2CCCD6-ACB5-4A7B-9132-CEB88477BB48}" type="pres">
      <dgm:prSet presAssocID="{4AB0233F-B36F-4310-80B5-BFCCAA088E96}" presName="hierRoot2" presStyleCnt="0">
        <dgm:presLayoutVars>
          <dgm:hierBranch val="init"/>
        </dgm:presLayoutVars>
      </dgm:prSet>
      <dgm:spPr/>
    </dgm:pt>
    <dgm:pt modelId="{1FFC1BD1-60F3-4767-93B5-1023E1482BDB}" type="pres">
      <dgm:prSet presAssocID="{4AB0233F-B36F-4310-80B5-BFCCAA088E96}" presName="rootComposite" presStyleCnt="0"/>
      <dgm:spPr/>
    </dgm:pt>
    <dgm:pt modelId="{B2ACEAC6-F317-43D2-8B8E-5BB4AC1379B4}" type="pres">
      <dgm:prSet presAssocID="{4AB0233F-B36F-4310-80B5-BFCCAA088E96}" presName="rootText" presStyleLbl="node2" presStyleIdx="1" presStyleCnt="2" custScaleY="207513">
        <dgm:presLayoutVars>
          <dgm:chPref val="3"/>
        </dgm:presLayoutVars>
      </dgm:prSet>
      <dgm:spPr/>
    </dgm:pt>
    <dgm:pt modelId="{AA631F3B-D984-4818-BABC-DCE2BA0B7195}" type="pres">
      <dgm:prSet presAssocID="{4AB0233F-B36F-4310-80B5-BFCCAA088E96}" presName="rootConnector" presStyleLbl="node2" presStyleIdx="1" presStyleCnt="2"/>
      <dgm:spPr/>
    </dgm:pt>
    <dgm:pt modelId="{A750A3C1-D5A6-4F72-A9BF-A285BD435819}" type="pres">
      <dgm:prSet presAssocID="{4AB0233F-B36F-4310-80B5-BFCCAA088E96}" presName="hierChild4" presStyleCnt="0"/>
      <dgm:spPr/>
    </dgm:pt>
    <dgm:pt modelId="{A9CEE888-D270-4DA7-95D9-77A4C1879A11}" type="pres">
      <dgm:prSet presAssocID="{4AB0233F-B36F-4310-80B5-BFCCAA088E96}" presName="hierChild5" presStyleCnt="0"/>
      <dgm:spPr/>
    </dgm:pt>
    <dgm:pt modelId="{1BAE8B87-CD4E-4313-8AEA-93D4A1751C91}" type="pres">
      <dgm:prSet presAssocID="{0B875D3E-8144-4E0C-83E6-D507ED61373E}" presName="hierChild3" presStyleCnt="0"/>
      <dgm:spPr/>
    </dgm:pt>
  </dgm:ptLst>
  <dgm:cxnLst>
    <dgm:cxn modelId="{D8765129-B52E-4F0F-97CE-935002E56956}" type="presOf" srcId="{0D7CFB55-A41D-4EC5-A5C5-DEF00722F1DC}" destId="{67BE9B5D-E348-479C-B875-B21075B8F956}" srcOrd="0" destOrd="0" presId="urn:microsoft.com/office/officeart/2005/8/layout/orgChart1"/>
    <dgm:cxn modelId="{88D6355D-D815-4BE0-9B1E-074E68A74182}" type="presOf" srcId="{E4DE6F4B-48A1-46D0-8D97-4472FFBA21B8}" destId="{B2770F4D-978E-4F82-8D42-A461AE907135}" srcOrd="0" destOrd="0" presId="urn:microsoft.com/office/officeart/2005/8/layout/orgChart1"/>
    <dgm:cxn modelId="{9B5AE860-CC89-495C-8EC1-2F1468107B58}" type="presOf" srcId="{AAD1A47C-8214-49F5-835D-2DA1F8CD0D75}" destId="{634E0D89-FF12-4732-9D18-22C2C3765331}" srcOrd="0" destOrd="0" presId="urn:microsoft.com/office/officeart/2005/8/layout/orgChart1"/>
    <dgm:cxn modelId="{E160D57A-3951-4CD0-8998-C1D6E070E425}" type="presOf" srcId="{0B875D3E-8144-4E0C-83E6-D507ED61373E}" destId="{BEE128A2-3BB0-44C3-8C3A-0DB4B952707C}" srcOrd="1" destOrd="0" presId="urn:microsoft.com/office/officeart/2005/8/layout/orgChart1"/>
    <dgm:cxn modelId="{E1D98881-8299-40FA-A2DB-60AF894701A5}" type="presOf" srcId="{4AB0233F-B36F-4310-80B5-BFCCAA088E96}" destId="{AA631F3B-D984-4818-BABC-DCE2BA0B7195}" srcOrd="1" destOrd="0" presId="urn:microsoft.com/office/officeart/2005/8/layout/orgChart1"/>
    <dgm:cxn modelId="{8DF15CAB-11EC-45D3-98AC-F400DD94AA1D}" srcId="{0B875D3E-8144-4E0C-83E6-D507ED61373E}" destId="{4AB0233F-B36F-4310-80B5-BFCCAA088E96}" srcOrd="1" destOrd="0" parTransId="{7C421F6F-2F63-461A-8B1A-C2DECE3EC110}" sibTransId="{1FC32CF3-B58C-4D09-96AE-BEFE515DFF2D}"/>
    <dgm:cxn modelId="{EA1842B2-2296-4C29-A47B-32B0DD369A04}" type="presOf" srcId="{4AB0233F-B36F-4310-80B5-BFCCAA088E96}" destId="{B2ACEAC6-F317-43D2-8B8E-5BB4AC1379B4}" srcOrd="0" destOrd="0" presId="urn:microsoft.com/office/officeart/2005/8/layout/orgChart1"/>
    <dgm:cxn modelId="{992A6AD8-8C5D-42DA-8AC7-9B63DAF89D4D}" type="presOf" srcId="{0B875D3E-8144-4E0C-83E6-D507ED61373E}" destId="{861AB0DD-B536-41ED-B2C8-420C0151272D}" srcOrd="0" destOrd="0" presId="urn:microsoft.com/office/officeart/2005/8/layout/orgChart1"/>
    <dgm:cxn modelId="{77D755E4-1881-48F7-98E5-E2D07BFE3853}" srcId="{0B875D3E-8144-4E0C-83E6-D507ED61373E}" destId="{0D7CFB55-A41D-4EC5-A5C5-DEF00722F1DC}" srcOrd="0" destOrd="0" parTransId="{E4DE6F4B-48A1-46D0-8D97-4472FFBA21B8}" sibTransId="{DEABE325-398D-4962-8F7A-7F12550D9663}"/>
    <dgm:cxn modelId="{48745EEE-3899-47D0-A9A7-0F151A942F54}" type="presOf" srcId="{0D7CFB55-A41D-4EC5-A5C5-DEF00722F1DC}" destId="{046E7F72-18CF-4C84-B7C9-898D8E4FCC2F}" srcOrd="1" destOrd="0" presId="urn:microsoft.com/office/officeart/2005/8/layout/orgChart1"/>
    <dgm:cxn modelId="{57AC51EE-ADD0-4041-932D-3003D09ACA5B}" srcId="{AAD1A47C-8214-49F5-835D-2DA1F8CD0D75}" destId="{0B875D3E-8144-4E0C-83E6-D507ED61373E}" srcOrd="0" destOrd="0" parTransId="{F5F36A57-CBCA-415E-BFD8-2A93A063E231}" sibTransId="{A9DB3449-7D27-4A17-B787-808DFB2E897D}"/>
    <dgm:cxn modelId="{566CB2F3-9BAD-4F40-A404-E20259201CB9}" type="presOf" srcId="{7C421F6F-2F63-461A-8B1A-C2DECE3EC110}" destId="{49DC3C87-509B-46A5-883D-BD13D7375B07}" srcOrd="0" destOrd="0" presId="urn:microsoft.com/office/officeart/2005/8/layout/orgChart1"/>
    <dgm:cxn modelId="{79C5DC8E-4E60-4E03-B925-1CB5AACBFAF7}" type="presParOf" srcId="{634E0D89-FF12-4732-9D18-22C2C3765331}" destId="{A7D8D79B-3789-43AA-A9A2-07F6698AE0F9}" srcOrd="0" destOrd="0" presId="urn:microsoft.com/office/officeart/2005/8/layout/orgChart1"/>
    <dgm:cxn modelId="{998C696D-9651-421B-8772-9A933E13A64A}" type="presParOf" srcId="{A7D8D79B-3789-43AA-A9A2-07F6698AE0F9}" destId="{5A4D800A-6B51-48F1-8AB7-404281BC2EC4}" srcOrd="0" destOrd="0" presId="urn:microsoft.com/office/officeart/2005/8/layout/orgChart1"/>
    <dgm:cxn modelId="{967163B7-920B-4C19-B836-5B65D884A96A}" type="presParOf" srcId="{5A4D800A-6B51-48F1-8AB7-404281BC2EC4}" destId="{861AB0DD-B536-41ED-B2C8-420C0151272D}" srcOrd="0" destOrd="0" presId="urn:microsoft.com/office/officeart/2005/8/layout/orgChart1"/>
    <dgm:cxn modelId="{89412580-F7A4-4DC3-B14A-4D1F84E4EF57}" type="presParOf" srcId="{5A4D800A-6B51-48F1-8AB7-404281BC2EC4}" destId="{BEE128A2-3BB0-44C3-8C3A-0DB4B952707C}" srcOrd="1" destOrd="0" presId="urn:microsoft.com/office/officeart/2005/8/layout/orgChart1"/>
    <dgm:cxn modelId="{FDF43287-FC7E-4D16-82FC-78A93001C2B6}" type="presParOf" srcId="{A7D8D79B-3789-43AA-A9A2-07F6698AE0F9}" destId="{1DDE3B28-DB97-4698-A711-69575D24386B}" srcOrd="1" destOrd="0" presId="urn:microsoft.com/office/officeart/2005/8/layout/orgChart1"/>
    <dgm:cxn modelId="{B141E89F-3483-436F-91A5-867F4C1D2639}" type="presParOf" srcId="{1DDE3B28-DB97-4698-A711-69575D24386B}" destId="{B2770F4D-978E-4F82-8D42-A461AE907135}" srcOrd="0" destOrd="0" presId="urn:microsoft.com/office/officeart/2005/8/layout/orgChart1"/>
    <dgm:cxn modelId="{B278A8D0-A1AD-45E7-93AA-2CDEA2A64C80}" type="presParOf" srcId="{1DDE3B28-DB97-4698-A711-69575D24386B}" destId="{8A275906-2E45-417F-90E0-76BD42CCCB63}" srcOrd="1" destOrd="0" presId="urn:microsoft.com/office/officeart/2005/8/layout/orgChart1"/>
    <dgm:cxn modelId="{42735B2B-2203-4880-847C-96233BACB0BF}" type="presParOf" srcId="{8A275906-2E45-417F-90E0-76BD42CCCB63}" destId="{0DB12678-0AD9-4AE1-BC34-2722B1EDCA8B}" srcOrd="0" destOrd="0" presId="urn:microsoft.com/office/officeart/2005/8/layout/orgChart1"/>
    <dgm:cxn modelId="{46B98E37-3FB5-492B-B9F7-3581750E84E1}" type="presParOf" srcId="{0DB12678-0AD9-4AE1-BC34-2722B1EDCA8B}" destId="{67BE9B5D-E348-479C-B875-B21075B8F956}" srcOrd="0" destOrd="0" presId="urn:microsoft.com/office/officeart/2005/8/layout/orgChart1"/>
    <dgm:cxn modelId="{BA31984B-CF4B-4E06-A503-C6E6C9D957A7}" type="presParOf" srcId="{0DB12678-0AD9-4AE1-BC34-2722B1EDCA8B}" destId="{046E7F72-18CF-4C84-B7C9-898D8E4FCC2F}" srcOrd="1" destOrd="0" presId="urn:microsoft.com/office/officeart/2005/8/layout/orgChart1"/>
    <dgm:cxn modelId="{DF230D5B-7619-4D9E-A43B-A5B94C2027A9}" type="presParOf" srcId="{8A275906-2E45-417F-90E0-76BD42CCCB63}" destId="{E85E55BE-6DA7-46B9-A2AE-49333CA02EA5}" srcOrd="1" destOrd="0" presId="urn:microsoft.com/office/officeart/2005/8/layout/orgChart1"/>
    <dgm:cxn modelId="{B9A054D4-6217-493D-9C6D-0742C2FEB69B}" type="presParOf" srcId="{8A275906-2E45-417F-90E0-76BD42CCCB63}" destId="{D1257E75-AF18-492E-B38C-1A2AFE94609F}" srcOrd="2" destOrd="0" presId="urn:microsoft.com/office/officeart/2005/8/layout/orgChart1"/>
    <dgm:cxn modelId="{C063FCA4-E2D8-4541-B979-F586C59FD356}" type="presParOf" srcId="{1DDE3B28-DB97-4698-A711-69575D24386B}" destId="{49DC3C87-509B-46A5-883D-BD13D7375B07}" srcOrd="2" destOrd="0" presId="urn:microsoft.com/office/officeart/2005/8/layout/orgChart1"/>
    <dgm:cxn modelId="{69074AD0-61DA-43E8-9BA0-148B7596D255}" type="presParOf" srcId="{1DDE3B28-DB97-4698-A711-69575D24386B}" destId="{8B2CCCD6-ACB5-4A7B-9132-CEB88477BB48}" srcOrd="3" destOrd="0" presId="urn:microsoft.com/office/officeart/2005/8/layout/orgChart1"/>
    <dgm:cxn modelId="{87A10120-FC75-443C-BB03-B70B007231C6}" type="presParOf" srcId="{8B2CCCD6-ACB5-4A7B-9132-CEB88477BB48}" destId="{1FFC1BD1-60F3-4767-93B5-1023E1482BDB}" srcOrd="0" destOrd="0" presId="urn:microsoft.com/office/officeart/2005/8/layout/orgChart1"/>
    <dgm:cxn modelId="{61A13B6B-2BA5-4C7E-902A-E90FE330E4BD}" type="presParOf" srcId="{1FFC1BD1-60F3-4767-93B5-1023E1482BDB}" destId="{B2ACEAC6-F317-43D2-8B8E-5BB4AC1379B4}" srcOrd="0" destOrd="0" presId="urn:microsoft.com/office/officeart/2005/8/layout/orgChart1"/>
    <dgm:cxn modelId="{7FE57E73-0443-4EB7-B206-8BDDD743F962}" type="presParOf" srcId="{1FFC1BD1-60F3-4767-93B5-1023E1482BDB}" destId="{AA631F3B-D984-4818-BABC-DCE2BA0B7195}" srcOrd="1" destOrd="0" presId="urn:microsoft.com/office/officeart/2005/8/layout/orgChart1"/>
    <dgm:cxn modelId="{CCDD13ED-1A11-4245-B40C-BF12977B8C73}" type="presParOf" srcId="{8B2CCCD6-ACB5-4A7B-9132-CEB88477BB48}" destId="{A750A3C1-D5A6-4F72-A9BF-A285BD435819}" srcOrd="1" destOrd="0" presId="urn:microsoft.com/office/officeart/2005/8/layout/orgChart1"/>
    <dgm:cxn modelId="{F742B1E7-0AD7-4419-B750-FF2D5E3D44CE}" type="presParOf" srcId="{8B2CCCD6-ACB5-4A7B-9132-CEB88477BB48}" destId="{A9CEE888-D270-4DA7-95D9-77A4C1879A11}" srcOrd="2" destOrd="0" presId="urn:microsoft.com/office/officeart/2005/8/layout/orgChart1"/>
    <dgm:cxn modelId="{4A149344-1B53-46DB-B260-8337B4F2A0A2}" type="presParOf" srcId="{A7D8D79B-3789-43AA-A9A2-07F6698AE0F9}" destId="{1BAE8B87-CD4E-4313-8AEA-93D4A1751C9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C2FA68-73F6-4F57-BE2E-F594BFEFC3BE}" type="doc">
      <dgm:prSet loTypeId="urn:microsoft.com/office/officeart/2005/8/layout/process3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hr-HR"/>
        </a:p>
      </dgm:t>
    </dgm:pt>
    <dgm:pt modelId="{A3A185E5-FFAC-4D99-819D-F97E125E7CAD}">
      <dgm:prSet phldrT="[Tekst]" custT="1"/>
      <dgm:spPr>
        <a:solidFill>
          <a:srgbClr val="DCFCE8"/>
        </a:solidFill>
        <a:ln w="19050">
          <a:solidFill>
            <a:schemeClr val="tx1"/>
          </a:solidFill>
        </a:ln>
      </dgm:spPr>
      <dgm:t>
        <a:bodyPr/>
        <a:lstStyle/>
        <a:p>
          <a:pPr algn="ctr"/>
          <a:r>
            <a:rPr lang="hr-HR" sz="2400" b="1" dirty="0">
              <a:solidFill>
                <a:schemeClr val="tx1"/>
              </a:solidFill>
              <a:latin typeface="+mj-lt"/>
            </a:rPr>
            <a:t>ŠTO?</a:t>
          </a:r>
        </a:p>
      </dgm:t>
    </dgm:pt>
    <dgm:pt modelId="{5DE88E84-EB48-46AB-B0EF-82354A38F338}" type="parTrans" cxnId="{6D7E79FA-03AD-4D92-9054-FD3FAB1017DE}">
      <dgm:prSet/>
      <dgm:spPr/>
      <dgm:t>
        <a:bodyPr/>
        <a:lstStyle/>
        <a:p>
          <a:endParaRPr lang="hr-HR" b="1">
            <a:latin typeface="+mj-lt"/>
          </a:endParaRPr>
        </a:p>
      </dgm:t>
    </dgm:pt>
    <dgm:pt modelId="{C7879763-2360-43D3-AFA8-F216D9F18C83}" type="sibTrans" cxnId="{6D7E79FA-03AD-4D92-9054-FD3FAB1017DE}">
      <dgm:prSet/>
      <dgm:spPr/>
      <dgm:t>
        <a:bodyPr/>
        <a:lstStyle/>
        <a:p>
          <a:endParaRPr lang="hr-HR" b="1">
            <a:latin typeface="+mj-lt"/>
          </a:endParaRPr>
        </a:p>
      </dgm:t>
    </dgm:pt>
    <dgm:pt modelId="{CEA7EF76-BFE4-4F03-9312-9D88786EB09F}">
      <dgm:prSet phldrT="[Tekst]" custT="1"/>
      <dgm:spPr>
        <a:ln>
          <a:solidFill>
            <a:schemeClr val="tx1"/>
          </a:solidFill>
        </a:ln>
      </dgm:spPr>
      <dgm:t>
        <a:bodyPr/>
        <a:lstStyle/>
        <a:p>
          <a:pPr algn="ctr"/>
          <a:r>
            <a:rPr lang="hr-HR" sz="2400" b="1" dirty="0">
              <a:latin typeface="+mj-lt"/>
            </a:rPr>
            <a:t>Što ste naučili?</a:t>
          </a:r>
        </a:p>
      </dgm:t>
    </dgm:pt>
    <dgm:pt modelId="{E25481D2-DD4B-4CFA-ADE0-911861B51565}" type="parTrans" cxnId="{7585AD83-F763-4CF7-B7CE-F7B528705132}">
      <dgm:prSet/>
      <dgm:spPr/>
      <dgm:t>
        <a:bodyPr/>
        <a:lstStyle/>
        <a:p>
          <a:endParaRPr lang="hr-HR" b="1">
            <a:latin typeface="+mj-lt"/>
          </a:endParaRPr>
        </a:p>
      </dgm:t>
    </dgm:pt>
    <dgm:pt modelId="{065B5F4A-09CE-4AC9-ADFE-3ED70658E296}" type="sibTrans" cxnId="{7585AD83-F763-4CF7-B7CE-F7B528705132}">
      <dgm:prSet/>
      <dgm:spPr/>
      <dgm:t>
        <a:bodyPr/>
        <a:lstStyle/>
        <a:p>
          <a:endParaRPr lang="hr-HR" b="1">
            <a:latin typeface="+mj-lt"/>
          </a:endParaRPr>
        </a:p>
      </dgm:t>
    </dgm:pt>
    <dgm:pt modelId="{7279D504-48D3-463F-884B-48A5C473E448}">
      <dgm:prSet phldrT="[Tekst]" custT="1"/>
      <dgm:spPr>
        <a:solidFill>
          <a:srgbClr val="E1D4E8"/>
        </a:solidFill>
        <a:ln w="19050">
          <a:solidFill>
            <a:schemeClr val="tx1"/>
          </a:solidFill>
        </a:ln>
      </dgm:spPr>
      <dgm:t>
        <a:bodyPr/>
        <a:lstStyle/>
        <a:p>
          <a:pPr algn="ctr"/>
          <a:r>
            <a:rPr lang="hr-HR" sz="2400" b="1" dirty="0">
              <a:solidFill>
                <a:schemeClr val="tx1"/>
              </a:solidFill>
              <a:latin typeface="+mj-lt"/>
            </a:rPr>
            <a:t>ZAŠTO?</a:t>
          </a:r>
        </a:p>
      </dgm:t>
    </dgm:pt>
    <dgm:pt modelId="{C5669837-B9BA-42D8-B536-FB6A422AB301}" type="parTrans" cxnId="{1A6072B0-89C0-447F-8A37-F4916674E447}">
      <dgm:prSet/>
      <dgm:spPr/>
      <dgm:t>
        <a:bodyPr/>
        <a:lstStyle/>
        <a:p>
          <a:endParaRPr lang="hr-HR" b="1">
            <a:latin typeface="+mj-lt"/>
          </a:endParaRPr>
        </a:p>
      </dgm:t>
    </dgm:pt>
    <dgm:pt modelId="{399E10B2-628A-4EC9-B094-6D5FD8348E5A}" type="sibTrans" cxnId="{1A6072B0-89C0-447F-8A37-F4916674E447}">
      <dgm:prSet/>
      <dgm:spPr/>
      <dgm:t>
        <a:bodyPr/>
        <a:lstStyle/>
        <a:p>
          <a:endParaRPr lang="hr-HR" b="1">
            <a:latin typeface="+mj-lt"/>
          </a:endParaRPr>
        </a:p>
      </dgm:t>
    </dgm:pt>
    <dgm:pt modelId="{6FED1CD1-D48D-44C4-BCC3-4B876BD323E3}">
      <dgm:prSet phldrT="[Tekst]" custT="1"/>
      <dgm:spPr>
        <a:ln>
          <a:solidFill>
            <a:schemeClr val="tx1"/>
          </a:solidFill>
        </a:ln>
      </dgm:spPr>
      <dgm:t>
        <a:bodyPr/>
        <a:lstStyle/>
        <a:p>
          <a:pPr algn="ctr"/>
          <a:r>
            <a:rPr lang="hr-HR" sz="2400" b="1" dirty="0">
              <a:latin typeface="+mj-lt"/>
            </a:rPr>
            <a:t>Zašto je to važno?</a:t>
          </a:r>
        </a:p>
      </dgm:t>
    </dgm:pt>
    <dgm:pt modelId="{BEBFE47D-B064-4891-BCC7-C13C11B94E42}" type="parTrans" cxnId="{81AE9F7D-E59B-43C9-AB57-CB72A178E672}">
      <dgm:prSet/>
      <dgm:spPr/>
      <dgm:t>
        <a:bodyPr/>
        <a:lstStyle/>
        <a:p>
          <a:endParaRPr lang="hr-HR" b="1">
            <a:latin typeface="+mj-lt"/>
          </a:endParaRPr>
        </a:p>
      </dgm:t>
    </dgm:pt>
    <dgm:pt modelId="{CDAEA6E4-8E05-4A6B-8EC4-BF2D8C97D0CE}" type="sibTrans" cxnId="{81AE9F7D-E59B-43C9-AB57-CB72A178E672}">
      <dgm:prSet/>
      <dgm:spPr/>
      <dgm:t>
        <a:bodyPr/>
        <a:lstStyle/>
        <a:p>
          <a:endParaRPr lang="hr-HR" b="1">
            <a:latin typeface="+mj-lt"/>
          </a:endParaRPr>
        </a:p>
      </dgm:t>
    </dgm:pt>
    <dgm:pt modelId="{FEA7705F-24F7-478C-8661-20D10653771E}">
      <dgm:prSet phldrT="[Tekst]" custT="1"/>
      <dgm:spPr>
        <a:solidFill>
          <a:schemeClr val="accent4">
            <a:lumMod val="20000"/>
            <a:lumOff val="80000"/>
          </a:schemeClr>
        </a:solidFill>
        <a:ln w="19050">
          <a:solidFill>
            <a:schemeClr val="tx1"/>
          </a:solidFill>
        </a:ln>
      </dgm:spPr>
      <dgm:t>
        <a:bodyPr/>
        <a:lstStyle/>
        <a:p>
          <a:pPr algn="ctr"/>
          <a:r>
            <a:rPr lang="hr-HR" sz="2400" b="1" dirty="0">
              <a:solidFill>
                <a:schemeClr val="tx1"/>
              </a:solidFill>
              <a:latin typeface="+mj-lt"/>
            </a:rPr>
            <a:t>ŠTO SAD?</a:t>
          </a:r>
        </a:p>
      </dgm:t>
    </dgm:pt>
    <dgm:pt modelId="{AAA68F2E-FDDA-47BD-96FF-AF85DC70010F}" type="parTrans" cxnId="{898FEB06-7BAA-4176-AECC-7F5FBCF1CFDB}">
      <dgm:prSet/>
      <dgm:spPr/>
      <dgm:t>
        <a:bodyPr/>
        <a:lstStyle/>
        <a:p>
          <a:endParaRPr lang="hr-HR" b="1">
            <a:latin typeface="+mj-lt"/>
          </a:endParaRPr>
        </a:p>
      </dgm:t>
    </dgm:pt>
    <dgm:pt modelId="{E2EBF425-37F8-44BF-9DFB-12B8144D7660}" type="sibTrans" cxnId="{898FEB06-7BAA-4176-AECC-7F5FBCF1CFDB}">
      <dgm:prSet/>
      <dgm:spPr/>
      <dgm:t>
        <a:bodyPr/>
        <a:lstStyle/>
        <a:p>
          <a:endParaRPr lang="hr-HR" b="1">
            <a:latin typeface="+mj-lt"/>
          </a:endParaRPr>
        </a:p>
      </dgm:t>
    </dgm:pt>
    <dgm:pt modelId="{CA8FB593-AAE9-4B09-99D6-716F195876DE}">
      <dgm:prSet phldrT="[Tekst]" custT="1"/>
      <dgm:spPr>
        <a:ln>
          <a:solidFill>
            <a:schemeClr val="tx1"/>
          </a:solidFill>
        </a:ln>
      </dgm:spPr>
      <dgm:t>
        <a:bodyPr/>
        <a:lstStyle/>
        <a:p>
          <a:r>
            <a:rPr lang="hr-HR" sz="2400" b="1" dirty="0">
              <a:latin typeface="+mj-lt"/>
            </a:rPr>
            <a:t>Kako se to može povezati s drugim gradivom?</a:t>
          </a:r>
        </a:p>
      </dgm:t>
    </dgm:pt>
    <dgm:pt modelId="{6020E838-C887-453E-BFEA-C74E9C9F2A29}" type="parTrans" cxnId="{4A666058-551D-4F0D-9263-B8433BEAD80B}">
      <dgm:prSet/>
      <dgm:spPr/>
      <dgm:t>
        <a:bodyPr/>
        <a:lstStyle/>
        <a:p>
          <a:endParaRPr lang="hr-HR" b="1">
            <a:latin typeface="+mj-lt"/>
          </a:endParaRPr>
        </a:p>
      </dgm:t>
    </dgm:pt>
    <dgm:pt modelId="{13E5AA26-076D-470B-AEFA-BF9341FBC3B2}" type="sibTrans" cxnId="{4A666058-551D-4F0D-9263-B8433BEAD80B}">
      <dgm:prSet/>
      <dgm:spPr/>
      <dgm:t>
        <a:bodyPr/>
        <a:lstStyle/>
        <a:p>
          <a:endParaRPr lang="hr-HR" b="1">
            <a:latin typeface="+mj-lt"/>
          </a:endParaRPr>
        </a:p>
      </dgm:t>
    </dgm:pt>
    <dgm:pt modelId="{1E80CD35-6617-4530-A30C-F7AFA7030DC3}" type="pres">
      <dgm:prSet presAssocID="{54C2FA68-73F6-4F57-BE2E-F594BFEFC3BE}" presName="linearFlow" presStyleCnt="0">
        <dgm:presLayoutVars>
          <dgm:dir/>
          <dgm:animLvl val="lvl"/>
          <dgm:resizeHandles val="exact"/>
        </dgm:presLayoutVars>
      </dgm:prSet>
      <dgm:spPr/>
    </dgm:pt>
    <dgm:pt modelId="{CE4884EC-9684-45EA-AB5F-34E286DF57C4}" type="pres">
      <dgm:prSet presAssocID="{A3A185E5-FFAC-4D99-819D-F97E125E7CAD}" presName="composite" presStyleCnt="0"/>
      <dgm:spPr/>
    </dgm:pt>
    <dgm:pt modelId="{CD9A8100-2B66-4785-B15D-C7E8117EC90A}" type="pres">
      <dgm:prSet presAssocID="{A3A185E5-FFAC-4D99-819D-F97E125E7CAD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ACE0FD3-F69F-4D82-A3BB-6A876FD04A64}" type="pres">
      <dgm:prSet presAssocID="{A3A185E5-FFAC-4D99-819D-F97E125E7CAD}" presName="parSh" presStyleLbl="node1" presStyleIdx="0" presStyleCnt="3" custScaleX="121212" custScaleY="85346" custLinFactNeighborX="-237" custLinFactNeighborY="-10339"/>
      <dgm:spPr/>
    </dgm:pt>
    <dgm:pt modelId="{518CF7BC-E7C4-46DD-999F-5350559C9357}" type="pres">
      <dgm:prSet presAssocID="{A3A185E5-FFAC-4D99-819D-F97E125E7CAD}" presName="desTx" presStyleLbl="fgAcc1" presStyleIdx="0" presStyleCnt="3" custScaleX="100488" custScaleY="46459" custLinFactNeighborX="-333" custLinFactNeighborY="-22452">
        <dgm:presLayoutVars>
          <dgm:bulletEnabled val="1"/>
        </dgm:presLayoutVars>
      </dgm:prSet>
      <dgm:spPr/>
    </dgm:pt>
    <dgm:pt modelId="{9A25EB5D-BDC8-48BE-8208-8EE1238F1171}" type="pres">
      <dgm:prSet presAssocID="{C7879763-2360-43D3-AFA8-F216D9F18C83}" presName="sibTrans" presStyleLbl="sibTrans2D1" presStyleIdx="0" presStyleCnt="2"/>
      <dgm:spPr/>
    </dgm:pt>
    <dgm:pt modelId="{1106495E-83BA-41AA-9BA6-CA4966270A07}" type="pres">
      <dgm:prSet presAssocID="{C7879763-2360-43D3-AFA8-F216D9F18C83}" presName="connTx" presStyleLbl="sibTrans2D1" presStyleIdx="0" presStyleCnt="2"/>
      <dgm:spPr/>
    </dgm:pt>
    <dgm:pt modelId="{E08E7881-489B-441F-924D-82301A5990CD}" type="pres">
      <dgm:prSet presAssocID="{7279D504-48D3-463F-884B-48A5C473E448}" presName="composite" presStyleCnt="0"/>
      <dgm:spPr/>
    </dgm:pt>
    <dgm:pt modelId="{F6CE4C9B-1FAF-4331-88B9-1C05F86B5F82}" type="pres">
      <dgm:prSet presAssocID="{7279D504-48D3-463F-884B-48A5C473E448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8D5404D-209D-4B4F-ABD0-7EDDCA26591B}" type="pres">
      <dgm:prSet presAssocID="{7279D504-48D3-463F-884B-48A5C473E448}" presName="parSh" presStyleLbl="node1" presStyleIdx="1" presStyleCnt="3" custScaleX="121212" custLinFactNeighborX="-511" custLinFactNeighborY="3277"/>
      <dgm:spPr/>
    </dgm:pt>
    <dgm:pt modelId="{9532C2FD-CD52-48B2-8EC0-D64894BD1563}" type="pres">
      <dgm:prSet presAssocID="{7279D504-48D3-463F-884B-48A5C473E448}" presName="desTx" presStyleLbl="fgAcc1" presStyleIdx="1" presStyleCnt="3" custScaleX="98697" custScaleY="47323" custLinFactNeighborX="2773" custLinFactNeighborY="-26575">
        <dgm:presLayoutVars>
          <dgm:bulletEnabled val="1"/>
        </dgm:presLayoutVars>
      </dgm:prSet>
      <dgm:spPr/>
    </dgm:pt>
    <dgm:pt modelId="{85ABFC39-0C44-4487-A990-68F24A4BD72D}" type="pres">
      <dgm:prSet presAssocID="{399E10B2-628A-4EC9-B094-6D5FD8348E5A}" presName="sibTrans" presStyleLbl="sibTrans2D1" presStyleIdx="1" presStyleCnt="2"/>
      <dgm:spPr/>
    </dgm:pt>
    <dgm:pt modelId="{40DD7A3F-3BCB-485B-B517-726786529E87}" type="pres">
      <dgm:prSet presAssocID="{399E10B2-628A-4EC9-B094-6D5FD8348E5A}" presName="connTx" presStyleLbl="sibTrans2D1" presStyleIdx="1" presStyleCnt="2"/>
      <dgm:spPr/>
    </dgm:pt>
    <dgm:pt modelId="{3380688D-4C47-40FD-8569-81B1B175A470}" type="pres">
      <dgm:prSet presAssocID="{FEA7705F-24F7-478C-8661-20D10653771E}" presName="composite" presStyleCnt="0"/>
      <dgm:spPr/>
    </dgm:pt>
    <dgm:pt modelId="{5C56CC4C-063C-4B7A-8FC5-3F9C3865A940}" type="pres">
      <dgm:prSet presAssocID="{FEA7705F-24F7-478C-8661-20D10653771E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EAB87C8-6293-4C84-AF3F-79F03C61221A}" type="pres">
      <dgm:prSet presAssocID="{FEA7705F-24F7-478C-8661-20D10653771E}" presName="parSh" presStyleLbl="node1" presStyleIdx="2" presStyleCnt="3" custScaleX="121212" custLinFactNeighborX="1347" custLinFactNeighborY="17597"/>
      <dgm:spPr/>
    </dgm:pt>
    <dgm:pt modelId="{E17CB74D-87C0-4E28-9FD5-CB91117EFF55}" type="pres">
      <dgm:prSet presAssocID="{FEA7705F-24F7-478C-8661-20D10653771E}" presName="desTx" presStyleLbl="fgAcc1" presStyleIdx="2" presStyleCnt="3" custScaleX="125115" custScaleY="79691" custLinFactNeighborX="-8795" custLinFactNeighborY="-3536">
        <dgm:presLayoutVars>
          <dgm:bulletEnabled val="1"/>
        </dgm:presLayoutVars>
      </dgm:prSet>
      <dgm:spPr/>
    </dgm:pt>
  </dgm:ptLst>
  <dgm:cxnLst>
    <dgm:cxn modelId="{898FEB06-7BAA-4176-AECC-7F5FBCF1CFDB}" srcId="{54C2FA68-73F6-4F57-BE2E-F594BFEFC3BE}" destId="{FEA7705F-24F7-478C-8661-20D10653771E}" srcOrd="2" destOrd="0" parTransId="{AAA68F2E-FDDA-47BD-96FF-AF85DC70010F}" sibTransId="{E2EBF425-37F8-44BF-9DFB-12B8144D7660}"/>
    <dgm:cxn modelId="{E7A18A1F-93F1-4BC4-B9FC-6EC3FCCBFF62}" type="presOf" srcId="{A3A185E5-FFAC-4D99-819D-F97E125E7CAD}" destId="{CD9A8100-2B66-4785-B15D-C7E8117EC90A}" srcOrd="0" destOrd="0" presId="urn:microsoft.com/office/officeart/2005/8/layout/process3"/>
    <dgm:cxn modelId="{2D82CC22-5FC3-4C55-9B7E-9760689F0E0F}" type="presOf" srcId="{CEA7EF76-BFE4-4F03-9312-9D88786EB09F}" destId="{518CF7BC-E7C4-46DD-999F-5350559C9357}" srcOrd="0" destOrd="0" presId="urn:microsoft.com/office/officeart/2005/8/layout/process3"/>
    <dgm:cxn modelId="{C424952A-C0F4-4BD5-9226-4B202AB1E3ED}" type="presOf" srcId="{7279D504-48D3-463F-884B-48A5C473E448}" destId="{C8D5404D-209D-4B4F-ABD0-7EDDCA26591B}" srcOrd="1" destOrd="0" presId="urn:microsoft.com/office/officeart/2005/8/layout/process3"/>
    <dgm:cxn modelId="{98B4C52B-979D-4CD2-9F4C-F4E30BC44AB2}" type="presOf" srcId="{A3A185E5-FFAC-4D99-819D-F97E125E7CAD}" destId="{4ACE0FD3-F69F-4D82-A3BB-6A876FD04A64}" srcOrd="1" destOrd="0" presId="urn:microsoft.com/office/officeart/2005/8/layout/process3"/>
    <dgm:cxn modelId="{A6041539-C1CA-46D8-8A67-2EE074728442}" type="presOf" srcId="{FEA7705F-24F7-478C-8661-20D10653771E}" destId="{6EAB87C8-6293-4C84-AF3F-79F03C61221A}" srcOrd="1" destOrd="0" presId="urn:microsoft.com/office/officeart/2005/8/layout/process3"/>
    <dgm:cxn modelId="{C94DA85B-858C-48B0-B703-A71C68D1EEEE}" type="presOf" srcId="{CA8FB593-AAE9-4B09-99D6-716F195876DE}" destId="{E17CB74D-87C0-4E28-9FD5-CB91117EFF55}" srcOrd="0" destOrd="0" presId="urn:microsoft.com/office/officeart/2005/8/layout/process3"/>
    <dgm:cxn modelId="{4770515E-0B6D-4D15-B2CC-165CBCD93964}" type="presOf" srcId="{54C2FA68-73F6-4F57-BE2E-F594BFEFC3BE}" destId="{1E80CD35-6617-4530-A30C-F7AFA7030DC3}" srcOrd="0" destOrd="0" presId="urn:microsoft.com/office/officeart/2005/8/layout/process3"/>
    <dgm:cxn modelId="{270F995E-3B8A-4A89-9752-C4A71B9692DB}" type="presOf" srcId="{399E10B2-628A-4EC9-B094-6D5FD8348E5A}" destId="{40DD7A3F-3BCB-485B-B517-726786529E87}" srcOrd="1" destOrd="0" presId="urn:microsoft.com/office/officeart/2005/8/layout/process3"/>
    <dgm:cxn modelId="{D6FC8F52-CB88-4F06-9AB7-1E9BF4F5CF81}" type="presOf" srcId="{C7879763-2360-43D3-AFA8-F216D9F18C83}" destId="{9A25EB5D-BDC8-48BE-8208-8EE1238F1171}" srcOrd="0" destOrd="0" presId="urn:microsoft.com/office/officeart/2005/8/layout/process3"/>
    <dgm:cxn modelId="{9C6F2573-3A2C-421D-8219-6B005B052187}" type="presOf" srcId="{FEA7705F-24F7-478C-8661-20D10653771E}" destId="{5C56CC4C-063C-4B7A-8FC5-3F9C3865A940}" srcOrd="0" destOrd="0" presId="urn:microsoft.com/office/officeart/2005/8/layout/process3"/>
    <dgm:cxn modelId="{4A666058-551D-4F0D-9263-B8433BEAD80B}" srcId="{FEA7705F-24F7-478C-8661-20D10653771E}" destId="{CA8FB593-AAE9-4B09-99D6-716F195876DE}" srcOrd="0" destOrd="0" parTransId="{6020E838-C887-453E-BFEA-C74E9C9F2A29}" sibTransId="{13E5AA26-076D-470B-AEFA-BF9341FBC3B2}"/>
    <dgm:cxn modelId="{81AE9F7D-E59B-43C9-AB57-CB72A178E672}" srcId="{7279D504-48D3-463F-884B-48A5C473E448}" destId="{6FED1CD1-D48D-44C4-BCC3-4B876BD323E3}" srcOrd="0" destOrd="0" parTransId="{BEBFE47D-B064-4891-BCC7-C13C11B94E42}" sibTransId="{CDAEA6E4-8E05-4A6B-8EC4-BF2D8C97D0CE}"/>
    <dgm:cxn modelId="{7585AD83-F763-4CF7-B7CE-F7B528705132}" srcId="{A3A185E5-FFAC-4D99-819D-F97E125E7CAD}" destId="{CEA7EF76-BFE4-4F03-9312-9D88786EB09F}" srcOrd="0" destOrd="0" parTransId="{E25481D2-DD4B-4CFA-ADE0-911861B51565}" sibTransId="{065B5F4A-09CE-4AC9-ADFE-3ED70658E296}"/>
    <dgm:cxn modelId="{84269094-4BF7-45FB-9AAA-F0CFBDE9846A}" type="presOf" srcId="{6FED1CD1-D48D-44C4-BCC3-4B876BD323E3}" destId="{9532C2FD-CD52-48B2-8EC0-D64894BD1563}" srcOrd="0" destOrd="0" presId="urn:microsoft.com/office/officeart/2005/8/layout/process3"/>
    <dgm:cxn modelId="{1A6072B0-89C0-447F-8A37-F4916674E447}" srcId="{54C2FA68-73F6-4F57-BE2E-F594BFEFC3BE}" destId="{7279D504-48D3-463F-884B-48A5C473E448}" srcOrd="1" destOrd="0" parTransId="{C5669837-B9BA-42D8-B536-FB6A422AB301}" sibTransId="{399E10B2-628A-4EC9-B094-6D5FD8348E5A}"/>
    <dgm:cxn modelId="{9DF28EC3-2FB1-48BA-98BD-99FA4BE50748}" type="presOf" srcId="{7279D504-48D3-463F-884B-48A5C473E448}" destId="{F6CE4C9B-1FAF-4331-88B9-1C05F86B5F82}" srcOrd="0" destOrd="0" presId="urn:microsoft.com/office/officeart/2005/8/layout/process3"/>
    <dgm:cxn modelId="{F960AFE5-9252-4A45-8AE0-6FE8BD66A777}" type="presOf" srcId="{C7879763-2360-43D3-AFA8-F216D9F18C83}" destId="{1106495E-83BA-41AA-9BA6-CA4966270A07}" srcOrd="1" destOrd="0" presId="urn:microsoft.com/office/officeart/2005/8/layout/process3"/>
    <dgm:cxn modelId="{6D7E79FA-03AD-4D92-9054-FD3FAB1017DE}" srcId="{54C2FA68-73F6-4F57-BE2E-F594BFEFC3BE}" destId="{A3A185E5-FFAC-4D99-819D-F97E125E7CAD}" srcOrd="0" destOrd="0" parTransId="{5DE88E84-EB48-46AB-B0EF-82354A38F338}" sibTransId="{C7879763-2360-43D3-AFA8-F216D9F18C83}"/>
    <dgm:cxn modelId="{DDD023FE-D3BB-41C6-A951-26432598C8CC}" type="presOf" srcId="{399E10B2-628A-4EC9-B094-6D5FD8348E5A}" destId="{85ABFC39-0C44-4487-A990-68F24A4BD72D}" srcOrd="0" destOrd="0" presId="urn:microsoft.com/office/officeart/2005/8/layout/process3"/>
    <dgm:cxn modelId="{5636E23D-0F95-4875-AC1E-34DCB855E929}" type="presParOf" srcId="{1E80CD35-6617-4530-A30C-F7AFA7030DC3}" destId="{CE4884EC-9684-45EA-AB5F-34E286DF57C4}" srcOrd="0" destOrd="0" presId="urn:microsoft.com/office/officeart/2005/8/layout/process3"/>
    <dgm:cxn modelId="{C1721245-A624-463E-AF73-1E8A07760E7D}" type="presParOf" srcId="{CE4884EC-9684-45EA-AB5F-34E286DF57C4}" destId="{CD9A8100-2B66-4785-B15D-C7E8117EC90A}" srcOrd="0" destOrd="0" presId="urn:microsoft.com/office/officeart/2005/8/layout/process3"/>
    <dgm:cxn modelId="{33126166-D34B-4B33-BF11-B8DD2A1FE6E2}" type="presParOf" srcId="{CE4884EC-9684-45EA-AB5F-34E286DF57C4}" destId="{4ACE0FD3-F69F-4D82-A3BB-6A876FD04A64}" srcOrd="1" destOrd="0" presId="urn:microsoft.com/office/officeart/2005/8/layout/process3"/>
    <dgm:cxn modelId="{8BC07523-EA8B-4CE1-9837-D8E7A7A3EDDC}" type="presParOf" srcId="{CE4884EC-9684-45EA-AB5F-34E286DF57C4}" destId="{518CF7BC-E7C4-46DD-999F-5350559C9357}" srcOrd="2" destOrd="0" presId="urn:microsoft.com/office/officeart/2005/8/layout/process3"/>
    <dgm:cxn modelId="{933DF48D-6690-4C81-AAE1-9A645DB254FB}" type="presParOf" srcId="{1E80CD35-6617-4530-A30C-F7AFA7030DC3}" destId="{9A25EB5D-BDC8-48BE-8208-8EE1238F1171}" srcOrd="1" destOrd="0" presId="urn:microsoft.com/office/officeart/2005/8/layout/process3"/>
    <dgm:cxn modelId="{76BF62AD-49B3-4A27-A867-6F0B1E95EB6B}" type="presParOf" srcId="{9A25EB5D-BDC8-48BE-8208-8EE1238F1171}" destId="{1106495E-83BA-41AA-9BA6-CA4966270A07}" srcOrd="0" destOrd="0" presId="urn:microsoft.com/office/officeart/2005/8/layout/process3"/>
    <dgm:cxn modelId="{63238C02-EC37-4C9E-8C24-D9A2AA7469EB}" type="presParOf" srcId="{1E80CD35-6617-4530-A30C-F7AFA7030DC3}" destId="{E08E7881-489B-441F-924D-82301A5990CD}" srcOrd="2" destOrd="0" presId="urn:microsoft.com/office/officeart/2005/8/layout/process3"/>
    <dgm:cxn modelId="{3F901C90-EF8C-424F-927F-2D1DF54B013A}" type="presParOf" srcId="{E08E7881-489B-441F-924D-82301A5990CD}" destId="{F6CE4C9B-1FAF-4331-88B9-1C05F86B5F82}" srcOrd="0" destOrd="0" presId="urn:microsoft.com/office/officeart/2005/8/layout/process3"/>
    <dgm:cxn modelId="{D8B37060-D5C7-4770-B5FF-D7186B811B29}" type="presParOf" srcId="{E08E7881-489B-441F-924D-82301A5990CD}" destId="{C8D5404D-209D-4B4F-ABD0-7EDDCA26591B}" srcOrd="1" destOrd="0" presId="urn:microsoft.com/office/officeart/2005/8/layout/process3"/>
    <dgm:cxn modelId="{3F61EA48-A20C-4202-A93A-B1059A28387D}" type="presParOf" srcId="{E08E7881-489B-441F-924D-82301A5990CD}" destId="{9532C2FD-CD52-48B2-8EC0-D64894BD1563}" srcOrd="2" destOrd="0" presId="urn:microsoft.com/office/officeart/2005/8/layout/process3"/>
    <dgm:cxn modelId="{845D3C9B-96A6-4AA3-B9AB-3064FC230A1B}" type="presParOf" srcId="{1E80CD35-6617-4530-A30C-F7AFA7030DC3}" destId="{85ABFC39-0C44-4487-A990-68F24A4BD72D}" srcOrd="3" destOrd="0" presId="urn:microsoft.com/office/officeart/2005/8/layout/process3"/>
    <dgm:cxn modelId="{76DEC43E-0B94-4DF4-AF21-C321BABC1C39}" type="presParOf" srcId="{85ABFC39-0C44-4487-A990-68F24A4BD72D}" destId="{40DD7A3F-3BCB-485B-B517-726786529E87}" srcOrd="0" destOrd="0" presId="urn:microsoft.com/office/officeart/2005/8/layout/process3"/>
    <dgm:cxn modelId="{7DFB5FE2-3E0A-49CF-8E92-9567402E187E}" type="presParOf" srcId="{1E80CD35-6617-4530-A30C-F7AFA7030DC3}" destId="{3380688D-4C47-40FD-8569-81B1B175A470}" srcOrd="4" destOrd="0" presId="urn:microsoft.com/office/officeart/2005/8/layout/process3"/>
    <dgm:cxn modelId="{457CFD2C-0068-4867-A073-B8DA24F5CA51}" type="presParOf" srcId="{3380688D-4C47-40FD-8569-81B1B175A470}" destId="{5C56CC4C-063C-4B7A-8FC5-3F9C3865A940}" srcOrd="0" destOrd="0" presId="urn:microsoft.com/office/officeart/2005/8/layout/process3"/>
    <dgm:cxn modelId="{D4321F94-42C4-4048-A37C-8015BD68403A}" type="presParOf" srcId="{3380688D-4C47-40FD-8569-81B1B175A470}" destId="{6EAB87C8-6293-4C84-AF3F-79F03C61221A}" srcOrd="1" destOrd="0" presId="urn:microsoft.com/office/officeart/2005/8/layout/process3"/>
    <dgm:cxn modelId="{7BBDA8D0-59FD-431B-81ED-ACFB9FD04F28}" type="presParOf" srcId="{3380688D-4C47-40FD-8569-81B1B175A470}" destId="{E17CB74D-87C0-4E28-9FD5-CB91117EFF55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DC3C87-509B-46A5-883D-BD13D7375B07}">
      <dsp:nvSpPr>
        <dsp:cNvPr id="0" name=""/>
        <dsp:cNvSpPr/>
      </dsp:nvSpPr>
      <dsp:spPr>
        <a:xfrm>
          <a:off x="2528378" y="1253422"/>
          <a:ext cx="1383648" cy="4802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137"/>
              </a:lnTo>
              <a:lnTo>
                <a:pt x="1383648" y="240137"/>
              </a:lnTo>
              <a:lnTo>
                <a:pt x="1383648" y="4802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770F4D-978E-4F82-8D42-A461AE907135}">
      <dsp:nvSpPr>
        <dsp:cNvPr id="0" name=""/>
        <dsp:cNvSpPr/>
      </dsp:nvSpPr>
      <dsp:spPr>
        <a:xfrm>
          <a:off x="1144730" y="1253422"/>
          <a:ext cx="1383648" cy="480274"/>
        </a:xfrm>
        <a:custGeom>
          <a:avLst/>
          <a:gdLst/>
          <a:ahLst/>
          <a:cxnLst/>
          <a:rect l="0" t="0" r="0" b="0"/>
          <a:pathLst>
            <a:path>
              <a:moveTo>
                <a:pt x="1383648" y="0"/>
              </a:moveTo>
              <a:lnTo>
                <a:pt x="1383648" y="240137"/>
              </a:lnTo>
              <a:lnTo>
                <a:pt x="0" y="240137"/>
              </a:lnTo>
              <a:lnTo>
                <a:pt x="0" y="4802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1AB0DD-B536-41ED-B2C8-420C0151272D}">
      <dsp:nvSpPr>
        <dsp:cNvPr id="0" name=""/>
        <dsp:cNvSpPr/>
      </dsp:nvSpPr>
      <dsp:spPr>
        <a:xfrm>
          <a:off x="1384867" y="109911"/>
          <a:ext cx="2287022" cy="1143511"/>
        </a:xfrm>
        <a:prstGeom prst="rect">
          <a:avLst/>
        </a:prstGeom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kern="1200" dirty="0">
              <a:solidFill>
                <a:schemeClr val="tx1"/>
              </a:solidFill>
              <a:latin typeface="+mj-lt"/>
            </a:rPr>
            <a:t>Kemijski sastav </a:t>
          </a:r>
          <a:endParaRPr lang="en-US" sz="2400" kern="1200" dirty="0">
            <a:solidFill>
              <a:schemeClr val="tx1"/>
            </a:solidFill>
            <a:latin typeface="+mj-lt"/>
          </a:endParaRPr>
        </a:p>
      </dsp:txBody>
      <dsp:txXfrm>
        <a:off x="1384867" y="109911"/>
        <a:ext cx="2287022" cy="1143511"/>
      </dsp:txXfrm>
    </dsp:sp>
    <dsp:sp modelId="{67BE9B5D-E348-479C-B875-B21075B8F956}">
      <dsp:nvSpPr>
        <dsp:cNvPr id="0" name=""/>
        <dsp:cNvSpPr/>
      </dsp:nvSpPr>
      <dsp:spPr>
        <a:xfrm>
          <a:off x="1219" y="1733697"/>
          <a:ext cx="2287022" cy="2366164"/>
        </a:xfrm>
        <a:prstGeom prst="rect">
          <a:avLst/>
        </a:prstGeom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kern="1200" dirty="0">
              <a:solidFill>
                <a:schemeClr val="tx1"/>
              </a:solidFill>
              <a:latin typeface="+mj-lt"/>
            </a:rPr>
            <a:t>Steroidni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>
            <a:solidFill>
              <a:schemeClr val="tx1"/>
            </a:solidFill>
            <a:latin typeface="+mj-lt"/>
          </a:endParaRPr>
        </a:p>
      </dsp:txBody>
      <dsp:txXfrm>
        <a:off x="1219" y="1733697"/>
        <a:ext cx="2287022" cy="2366164"/>
      </dsp:txXfrm>
    </dsp:sp>
    <dsp:sp modelId="{B2ACEAC6-F317-43D2-8B8E-5BB4AC1379B4}">
      <dsp:nvSpPr>
        <dsp:cNvPr id="0" name=""/>
        <dsp:cNvSpPr/>
      </dsp:nvSpPr>
      <dsp:spPr>
        <a:xfrm>
          <a:off x="2768515" y="1733697"/>
          <a:ext cx="2287022" cy="2372934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kern="1200" dirty="0">
              <a:solidFill>
                <a:schemeClr val="tx1"/>
              </a:solidFill>
              <a:latin typeface="+mj-lt"/>
            </a:rPr>
            <a:t>Ne steroidni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kern="1200" dirty="0">
              <a:solidFill>
                <a:schemeClr val="tx1"/>
              </a:solidFill>
              <a:latin typeface="+mj-lt"/>
            </a:rPr>
            <a:t> </a:t>
          </a:r>
          <a:endParaRPr lang="en-US" sz="2400" kern="1200" dirty="0">
            <a:solidFill>
              <a:schemeClr val="tx1"/>
            </a:solidFill>
            <a:latin typeface="+mj-lt"/>
          </a:endParaRPr>
        </a:p>
      </dsp:txBody>
      <dsp:txXfrm>
        <a:off x="2768515" y="1733697"/>
        <a:ext cx="2287022" cy="23729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E0FD3-F69F-4D82-A3BB-6A876FD04A64}">
      <dsp:nvSpPr>
        <dsp:cNvPr id="0" name=""/>
        <dsp:cNvSpPr/>
      </dsp:nvSpPr>
      <dsp:spPr>
        <a:xfrm>
          <a:off x="0" y="283787"/>
          <a:ext cx="2695763" cy="971971"/>
        </a:xfrm>
        <a:prstGeom prst="roundRect">
          <a:avLst>
            <a:gd name="adj" fmla="val 10000"/>
          </a:avLst>
        </a:prstGeom>
        <a:solidFill>
          <a:srgbClr val="DCFCE8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b="1" kern="1200" dirty="0">
              <a:solidFill>
                <a:schemeClr val="tx1"/>
              </a:solidFill>
              <a:latin typeface="+mj-lt"/>
            </a:rPr>
            <a:t>ŠTO?</a:t>
          </a:r>
        </a:p>
      </dsp:txBody>
      <dsp:txXfrm>
        <a:off x="0" y="283787"/>
        <a:ext cx="2695763" cy="647981"/>
      </dsp:txXfrm>
    </dsp:sp>
    <dsp:sp modelId="{518CF7BC-E7C4-46DD-999F-5350559C9357}">
      <dsp:nvSpPr>
        <dsp:cNvPr id="0" name=""/>
        <dsp:cNvSpPr/>
      </dsp:nvSpPr>
      <dsp:spPr>
        <a:xfrm>
          <a:off x="683835" y="1078007"/>
          <a:ext cx="2234860" cy="1204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2400" b="1" kern="1200" dirty="0">
              <a:latin typeface="+mj-lt"/>
            </a:rPr>
            <a:t>Što ste naučili?</a:t>
          </a:r>
        </a:p>
      </dsp:txBody>
      <dsp:txXfrm>
        <a:off x="719105" y="1113277"/>
        <a:ext cx="2164320" cy="1133677"/>
      </dsp:txXfrm>
    </dsp:sp>
    <dsp:sp modelId="{9A25EB5D-BDC8-48BE-8208-8EE1238F1171}">
      <dsp:nvSpPr>
        <dsp:cNvPr id="0" name=""/>
        <dsp:cNvSpPr/>
      </dsp:nvSpPr>
      <dsp:spPr>
        <a:xfrm rot="97249">
          <a:off x="2973660" y="385267"/>
          <a:ext cx="589627" cy="5537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r-HR" sz="2300" b="1" kern="1200">
            <a:latin typeface="+mj-lt"/>
          </a:endParaRPr>
        </a:p>
      </dsp:txBody>
      <dsp:txXfrm>
        <a:off x="2973693" y="493661"/>
        <a:ext cx="423513" cy="332227"/>
      </dsp:txXfrm>
    </dsp:sp>
    <dsp:sp modelId="{C8D5404D-209D-4B4F-ABD0-7EDDCA26591B}">
      <dsp:nvSpPr>
        <dsp:cNvPr id="0" name=""/>
        <dsp:cNvSpPr/>
      </dsp:nvSpPr>
      <dsp:spPr>
        <a:xfrm>
          <a:off x="3807822" y="335904"/>
          <a:ext cx="2695763" cy="1138860"/>
        </a:xfrm>
        <a:prstGeom prst="roundRect">
          <a:avLst>
            <a:gd name="adj" fmla="val 10000"/>
          </a:avLst>
        </a:prstGeom>
        <a:solidFill>
          <a:srgbClr val="E1D4E8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b="1" kern="1200" dirty="0">
              <a:solidFill>
                <a:schemeClr val="tx1"/>
              </a:solidFill>
              <a:latin typeface="+mj-lt"/>
            </a:rPr>
            <a:t>ZAŠTO?</a:t>
          </a:r>
        </a:p>
      </dsp:txBody>
      <dsp:txXfrm>
        <a:off x="3807822" y="335904"/>
        <a:ext cx="2695763" cy="759240"/>
      </dsp:txXfrm>
    </dsp:sp>
    <dsp:sp modelId="{9532C2FD-CD52-48B2-8EC0-D64894BD1563}">
      <dsp:nvSpPr>
        <dsp:cNvPr id="0" name=""/>
        <dsp:cNvSpPr/>
      </dsp:nvSpPr>
      <dsp:spPr>
        <a:xfrm>
          <a:off x="4586746" y="1051694"/>
          <a:ext cx="2195028" cy="12266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2400" b="1" kern="1200" dirty="0">
              <a:latin typeface="+mj-lt"/>
            </a:rPr>
            <a:t>Zašto je to važno?</a:t>
          </a:r>
        </a:p>
      </dsp:txBody>
      <dsp:txXfrm>
        <a:off x="4622672" y="1087620"/>
        <a:ext cx="2123176" cy="1154760"/>
      </dsp:txXfrm>
    </dsp:sp>
    <dsp:sp modelId="{85ABFC39-0C44-4487-A990-68F24A4BD72D}">
      <dsp:nvSpPr>
        <dsp:cNvPr id="0" name=""/>
        <dsp:cNvSpPr/>
      </dsp:nvSpPr>
      <dsp:spPr>
        <a:xfrm rot="21558179">
          <a:off x="6788453" y="415130"/>
          <a:ext cx="604011" cy="5537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4047587"/>
            <a:satOff val="34105"/>
            <a:lumOff val="329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r-HR" sz="2300" b="1" kern="1200">
            <a:latin typeface="+mj-lt"/>
          </a:endParaRPr>
        </a:p>
      </dsp:txBody>
      <dsp:txXfrm>
        <a:off x="6788459" y="526883"/>
        <a:ext cx="437897" cy="332227"/>
      </dsp:txXfrm>
    </dsp:sp>
    <dsp:sp modelId="{6EAB87C8-6293-4C84-AF3F-79F03C61221A}">
      <dsp:nvSpPr>
        <dsp:cNvPr id="0" name=""/>
        <dsp:cNvSpPr/>
      </dsp:nvSpPr>
      <dsp:spPr>
        <a:xfrm>
          <a:off x="7643146" y="289244"/>
          <a:ext cx="2695763" cy="1138860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b="1" kern="1200" dirty="0">
              <a:solidFill>
                <a:schemeClr val="tx1"/>
              </a:solidFill>
              <a:latin typeface="+mj-lt"/>
            </a:rPr>
            <a:t>ŠTO SAD?</a:t>
          </a:r>
        </a:p>
      </dsp:txBody>
      <dsp:txXfrm>
        <a:off x="7643146" y="289244"/>
        <a:ext cx="2695763" cy="759240"/>
      </dsp:txXfrm>
    </dsp:sp>
    <dsp:sp modelId="{E17CB74D-87C0-4E28-9FD5-CB91117EFF55}">
      <dsp:nvSpPr>
        <dsp:cNvPr id="0" name=""/>
        <dsp:cNvSpPr/>
      </dsp:nvSpPr>
      <dsp:spPr>
        <a:xfrm>
          <a:off x="7829705" y="1019631"/>
          <a:ext cx="2782566" cy="20655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2400" b="1" kern="1200" dirty="0">
              <a:latin typeface="+mj-lt"/>
            </a:rPr>
            <a:t>Kako se to može povezati s drugim gradivom?</a:t>
          </a:r>
        </a:p>
      </dsp:txBody>
      <dsp:txXfrm>
        <a:off x="7890204" y="1080130"/>
        <a:ext cx="2661568" cy="1944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5:59.427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17,'0'-7,"0"-3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01.278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0,'30'8,"-12"-4,0 2,-1-1,32 16,-43-17,0-1,-1 1,1 1,-1-1,0 1,0 0,0 0,-1 0,1 1,-1-1,-1 1,1 0,-1 0,4 9,12 43,21 104,142 808,43 191,159 351,-165-675,-197-747,144 503,-128-482,4-2,5-2,74 121,-114-217,5 11,1-1,1 0,1-1,1 0,25 22,-41-41,0-1,0 0,0 0,0 1,0-1,0 0,0 0,0 0,0 1,1-1,-1 0,0 0,0 0,0 1,0-1,0 0,1 0,-1 0,0 0,0 1,0-1,0 0,1 0,-1 0,0 0,0 0,0 0,1 0,-1 0,0 0,0 1,1-1,-1 0,0 0,0 0,1 0,-1 0,0 0,0-1,0 1,1 0,-1 0,0 0,0 0,1 0,-1 0,0 0,0 0,0 0,0-1,1 1,-1 0,0 0,0 0,1-1,-5-10,0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01.715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6137,'0'-8,"0"-52,10-81,29-104,37-102,30-84,355-1208,306-497,-617 1770,-87 219,6 3,125-191,-180 312,2 1,0 1,37-37,-53 58,1-1,0 0,0 0,-1 0,1 0,0 0,0 1,0-1,0 0,0 0,0 1,0-1,0 0,0 1,0-1,0 1,0 0,1-1,-1 1,0 0,0 0,0-1,1 1,-1 0,0 0,0 0,1 1,0-1,1 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02.19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1,'37'32,"-3"2,0 2,-3 1,43 64,82 177,31 161,-29 15,-75-208,-70-206,-6-16,2 0,0-1,1 0,26 42,-35-63,0 0,0 0,1 0,-1-1,0 1,1 0,-1-1,1 1,0-1,0 0,-1 0,1 1,0-1,0 0,0-1,0 1,0 0,1 0,-1-1,0 0,0 1,0-1,0 0,1 0,-1 0,0 0,3-1,0-1,0 0,0-1,0 1,-1-1,1-1,-1 1,1 0,-1-1,0 0,-1 0,7-8,10-15,-1-1,-1 0,-1-2,12-32,50-136,-69 170,87-252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02.592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03.262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1790,'177'374,"-131"-266,287 728,-66 27,-254-816,-5-21,-2 1,0 0,-2 0,2 47,-6-72,-1 13,-4-13,-3-10,-20-34,3-1,-30-68,48 95,-541-1355,424 927,105 351,4 0,-5-173,19 236,1-1,2 0,2 0,0 0,2 1,1 0,2 0,1 1,1 0,26-47,-33 69,0 1,0-1,0 1,1 0,0 1,1-1,-1 1,1 0,0 0,0 1,0 0,1 0,0 0,7-2,-7 4,-1 0,1 1,0 0,0 1,0-1,0 1,0 0,0 1,0 0,0 0,0 1,0-1,-1 1,1 1,9 4,2 2,0 1,-1 0,0 1,-1 1,22 20,74 86,4 25,-6 4,135 241,-128-169,121 313,-227-503,15 36,-2 2,21 104,-43-148,-17-71,-50-220,13-3,-20-300,45-147,34 568,5-1,57-261,-56 361,1 0,3 1,3 1,1 1,2 0,3 2,50-70,-59 95,1 1,1 0,0 1,2 2,0 0,1 1,26-15,-29 21,0 1,0 1,1 1,1 0,-1 2,1 0,0 1,0 1,42 0,-33 5,0 2,0 1,-1 1,0 1,0 1,0 2,-1 1,-1 2,0 0,-1 2,42 30,-11-2,-2 3,-2 2,84 98,-75-68,-3 2,-4 3,71 143,-64-92,78 250,-118-310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03.82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2927,'16'9,"0"-2,1 0,0-1,1 0,-1-2,1 0,0-1,0-1,0 0,0-1,0-1,1-1,-1-1,0 0,0-2,31-9,-3-2,1-3,-2-1,-1-3,0-1,44-33,-2-6,-2-4,-3-4,-3-3,-3-3,-4-4,-3-2,-4-4,76-133,-83 115,-4-2,-5-2,-5-2,-4-2,-6-1,-4-2,20-175,-43 226,-2 0,-4 0,-2 0,-18-112,13 142,-1 0,-2 0,-1 1,-2 0,0 1,-3 0,-1 1,-1 1,-1 1,-26-30,36 48,0 1,-1 0,0 0,-1 1,0 1,-1 0,1 0,-1 1,-1 1,0 0,1 1,-2 0,1 1,-17-4,14 7,1 0,-1 1,0 0,0 1,1 1,-1 1,1 0,0 1,0 0,0 2,0-1,-24 15,-6 6,0 2,2 3,2 0,0 3,3 2,-44 50,15-6,4 2,-67 116,72-96,4 2,4 2,6 2,-59 215,87-252,2 1,3 1,4 0,2 0,4 1,3-1,4 0,29 143,-16-146,3-1,4 0,2-2,3-2,3 0,3-2,3-2,2-2,3-1,97 96,-99-115,2-2,1-2,1-2,2-2,1-2,56 22,-61-33,2-1,0-3,0-2,1-1,1-3,0-2,79-1,-57-9,0-3,-1-3,0-3,-1-4,-1-2,-1-3,0-4,80-42,-15-4,-4-6,213-169,-95 44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36.549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245 2653,'21'-26,"-2"-2,-1 0,-1-1,-1-1,-2 0,14-43,45-197,-32 63,25-390,-77-213,-18 552,23 225,-1 0,-2 1,-1 0,-2 0,-22-43,34 73,-1 0,0 0,0 0,0 1,0-1,-1 0,1 0,-1 1,1-1,-1 1,1-1,-1 1,0 0,1-1,-1 1,0 0,-3-1,3 2,0 0,0 1,0-1,0 1,0-1,0 1,0 0,0 0,1 0,-1 0,0 0,0 0,1 0,-1 1,1-1,-1 0,1 1,0-1,-1 1,1 0,-1 1,-10 13,1 1,0 0,1 1,-14 34,-26 94,48-139,-60 209,-59 401,52 246,67-638,54 436,-23-486,8-2,8-2,66 166,-3-77,214 372,204 207,-218-397,-7-9,-296-425,-5-8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36.922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1 500,'0'0,"0"3,0 1,0 1,0 3,0-2,32-7,31-15,39-17,40-19,22-14,5-3,-7 2,-17 7,-12 3,-1 0,-22 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37.428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343 1,'-263'987,"191"-540,67-384,2 1,3-1,3 1,3 0,15 66,-16-106,2-1,1 0,0 0,2 0,0-1,2-1,0 0,2-1,0 0,1-1,27 27,-29-34,0-1,1-1,0 0,0-1,1 0,1-1,-1-1,1 0,1-1,-1-1,1-1,0 0,0-1,0-1,0 0,0-2,18 0,-13-2,-1-1,0 0,0-2,0 0,-1-2,1 0,-2-1,1-1,-1-1,21-14,-15 6,0-1,-2-2,0 0,-1-1,-1-2,24-33,-7-3,-2-2,-3-1,-3-1,-3-2,28-98,-24 58,-6-1,-3-1,10-161,-30 218,-1 0,-3 0,-2 0,-2 0,-3 0,-1 1,-3 0,-2 1,-36-79,41 107,-1 1,-1 1,-1 0,0 1,-27-28,35 40,0 1,-1 1,1-1,-1 1,0 0,0 0,0 1,0-1,-1 1,0 1,1-1,-1 1,0 1,0-1,0 1,0 0,0 1,0-1,0 1,0 1,-14 2,11 0,0 0,0 1,0 1,1-1,0 2,0-1,0 1,-9 9,-5 5,-31 37,-30 46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38.109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1 977,'66'132,"67"191,-67-152,285 591,-238-557,220 300,-288-456,-100-172,21 54,-332-787,292 643,10-2,-45-266,94 386,-4-180,19 228,3 0,1 0,3 0,1 1,27-81,-25 103,1 0,0 1,2 1,1 0,1 0,1 2,0 0,2 1,0 0,39-29,-22 22,1 3,1 0,1 2,1 2,70-24,-95 39,-1 0,1 1,-1 1,1 0,0 1,0 0,0 1,19 2,19 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38.96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966 0,'-52'58,"2"1,-68 110,-63 148,65-96,10 5,10 5,-97 353,185-550,-32 149,37-164,1-1,1 1,1 0,1-1,0 1,2-1,7 31,-9-45,0 0,0 0,0-1,1 1,0 0,0 0,0-1,0 0,0 1,1-1,0 0,-1 0,1 0,0 0,1-1,-1 1,0-1,1 0,-1 0,1 0,0 0,-1 0,1-1,0 0,0 0,7 1,1-1,-1-2,1 1,-1-1,0-1,1 0,-1-1,0 0,21-9,61-30,-3-4,159-107,-110 63,339-189,-365 222,3 4,164-50,-238 90,1 2,0 2,1 2,-1 2,1 2,55 3,-78 1,0 1,-1 2,1 0,-1 1,0 0,0 2,0 1,-1 0,0 2,-1 0,0 0,-1 2,0 0,30 30,-31-24,0 2,-1-1,-2 2,0 0,-1 1,-1 0,-1 1,-1 0,-1 0,-1 1,-1 0,-1 0,2 34,-3-3,-3 1,-2 0,-2 0,-21 101,7-86,-3-1,-3-1,-3-1,-3-2,-3 0,-3-2,-74 102,-12-9,-220 221,299-336,-130 127,144-144,0-2,-2-1,-1-1,-42 20,8-14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39.473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252 738,'5'95,"32"450,35-11,19-128,-71-335,4-1,2 0,55 100,-75-158,1 0,0-1,1 0,0-1,0 0,2 0,-1-1,16 13,-20-19,-1-1,1 1,0-1,0 0,0 0,0-1,0 1,0-1,1 0,-1-1,0 1,1-1,-1 0,0 0,1-1,-1 1,0-1,0 0,0-1,1 1,-1-1,-1 0,9-5,3-2,-1 0,1-2,-2 0,0 0,0-2,23-26,-6 0,41-66,-15 9,-5-2,-5-3,48-143,-50 97,50-290,-82 348,-4-1,-4 0,-4-1,-4 1,-14-90,8 122,-3 1,-3 0,-2 2,-2 0,-2 1,-3 0,-3 2,-55-83,61 106,-1 1,-1 0,-51-46,64 66,1 1,-1-1,0 2,-1-1,0 2,0-1,0 1,0 1,-1 0,0 1,1 0,-2 1,1 0,0 1,-14 0,11 2,0 1,0 1,1 1,-1 0,1 0,0 1,0 1,-21 13,4 0,2 1,-46 40,19-8,2 3,3 2,3 3,-54 84,38-38,-96 216,85-136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0.36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1 938,'145'162,"-8"6,219 352,145 408,-470-867,334 741,-359-785,-3-11,0 1,-1 0,0 0,0 0,1 12,-5-14,-10-22,-107-205,10-6,10-5,10-3,11-4,-56-293,111 408,-13-247,35 301,4 1,2 0,3 0,3 1,22-73,-23 111,1 0,1 0,1 1,2 1,1 1,2 0,37-47,-42 61,0 0,1 0,1 2,0 0,0 0,1 2,1 0,0 0,0 2,1 0,0 1,0 1,1 1,29-5,-21 7,0 1,-1 1,1 1,0 2,0 1,-1 1,42 12,-31-5,-1 3,0 1,-1 1,57 37,-34-13,-3 3,-1 2,-2 3,-2 2,61 79,-50-50,-4 3,-4 2,-3 2,-5 2,-3 2,50 157,-87-231,-1 1,0 0,3 32,-7-49,-1 0,1 0,0 0,0 0,0 0,0 0,0-1,0 1,0 0,0 0,-1 0,1 0,0 0,0 0,0 0,0 0,0 0,0 0,0 0,0 0,-1 1,1-1,0 0,0 0,0 0,0 0,0 0,0 0,0 0,0 0,0 0,-1 0,1 0,0 0,0 0,0 0,0 1,0-1,0 0,0 0,0 0,0 0,0 0,0 0,0 0,0 0,0 0,0 1,0-1,0 0,0 0,0 0,0 0,0 0,0 0,0 0,0 1,0-1,0 0,0 0,0 0,0 0,0 0,0 0,0 0,0 0,0 0,1 1,-10-14,-12-35,-86-248,14-5,-81-458,169 728,-16-134,19 141,2 1,1-1,0 1,10-44,-11 67,2-9,1-1,0 1,0 0,6-11,-8 18,0-1,0 2,1-1,-1 0,0 0,1 0,-1 1,1-1,-1 0,1 1,0 0,0-1,0 1,-1 0,1 0,0 0,1 0,-1 0,0 0,0 1,0-1,0 1,1 0,-1-1,0 1,0 0,4 0,9 4,0 0,0 0,-1 1,0 1,17 9,76 48,-105-62,104 70,-4 4,-3 5,111 115,244 305,-232-247,-213-243,14 16,1 0,39 31,-33-38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1.011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623 2111,'37'-12,"0"-3,-1 0,-1-3,-1 0,0-3,-1 0,-2-2,32-30,-40 31,-2 0,0-2,-2 0,-1-1,-1-1,-1-1,-1 0,-1-1,-2 0,16-52,-15 22,-3-1,-2 0,-2-1,-3 1,-3-1,-15-116,-2 67,-5 1,-68-196,-5 74,76 194,-1 1,-1 1,-2 1,-29-31,43 54,1 1,-1 0,-1 1,0 0,0 1,0 0,-1 1,0 0,0 0,-18-5,18 8,1 0,-1 2,1-1,-1 1,1 1,-1 0,1 0,-1 1,0 1,1 0,0 0,-17 6,3 2,0 1,2 1,-1 1,1 1,1 1,1 1,0 1,1 0,1 2,1 0,0 1,-21 33,5-1,3 1,1 1,3 2,-23 73,24-50,4 0,3 2,4 0,3 1,4 0,3 0,4 1,4-1,3 0,3 0,5-1,3 0,3-2,4 0,3-2,3-1,4-1,3-2,3-1,56 72,-56-94,3-1,2-3,1-1,3-3,1-2,2-2,2-2,1-3,2-2,1-3,1-2,85 23,-67-27,0-4,2-3,0-4,1-3,-1-3,1-4,0-4,0-3,125-27,-163 25,-1-3,0-1,-1-3,-1-1,0-1,-1-3,61-40,-91 53,-1-1,0 0,0 0,-1 0,0-1,0 0,-1 0,0-1,-1 0,0 0,-1 0,0 0,0-1,-1 0,0 1,1-22,4-43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1.42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0,'579'694,"-527"-628,650 896,-40 36,-209-310,-307-472,161 247,-28 10,-244-404,39 107,-47-89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1.831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1 943,'0'0,"45"-16,64-21,58-23,38-20,24-12,3-8,-5-6,-17-4,-25-5,-29-7,-41 18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2.685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0,'808'1079,"197"299,-825-1117,612 909,-760-1123,-14-21,-1 1,-1 0,14 35,-29-39,-8-23,-8-20,-22-49,4-1,3-1,-35-127,-36-246,75 292,-11-252,35 326,5 0,2 0,4 0,3 1,26-87,-29 133,2 0,1 0,2 2,0-1,2 2,2 0,0 1,26-28,-30 40,0 0,1 1,1 1,1 1,-1 0,2 1,0 1,0 0,0 1,1 2,1 0,-1 0,40-5,-35 9,-1 2,1 0,0 2,0 1,0 1,0 1,-1 0,0 2,0 1,0 1,-1 1,0 1,39 24,-13-3,-2 2,-1 2,-1 3,67 73,-22-6,-4 4,85 142,118 257,45 69,-292-513,95 108,-117-151,1-1,0-1,2-1,0-1,1-1,1-1,0-1,33 14,-44-24,-1 0,1-1,0 0,0 0,0-2,0 1,0-2,0 0,0 0,0-1,0-1,0 0,0-1,-1-1,1 1,-1-2,0 0,0 0,0-1,-1-1,0 0,0 0,16-16,1-2,-2-1,-1-2,-1-1,-1 0,-2-2,-1 0,18-39,-7 5,-3-2,-2 0,-4-2,-3 0,15-96,-22 69,-4 0,-4-1,-14-147,-8 97,-7 1,-6 1,-6 1,-6 3,-75-165,18 98,81 174,-2 1,-1 1,-45-50,62 77,3 1,-1 1,0-1,0 1,-1 0,1 0,0 0,-1 0,0 0,0 1,0 0,0 0,0 0,0 0,-8-1,9 5,7 10,23 38,49 70,-51-83,470 627,44-31,-452-532,0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3.029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3.531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0,'48'40,"-1"1,-3 3,42 52,102 156,364 636,-37-55,-493-800,46 61,-60-84,0-1,1 0,0-1,0 0,0 0,20 11,-28-19,14 6,-10-11,-10-11,-134-255,-39-79,-30-118,159 342,-58-232,102 339,1-1,1 0,1 0,1-1,0 1,6-39,-4 50,1 1,0-1,1 1,0 0,0 0,1 0,0 0,1 1,-1 0,1 0,1 0,-1 0,1 1,0 0,1 0,-1 0,1 1,10-6,2 1,0 1,1 1,0 1,0 0,1 1,0 2,0 0,0 1,37 0,5 3,0 4,65 11,-25 3,0 5,-2 4,-1 5,-2 4,-1 4,-3 5,-1 3,-2 5,-3 3,99 83,-135-93,-1 2,-3 3,-2 1,-3 3,64 101,-82-113,-2 1,-2 1,-2 1,-2 1,-2 0,-2 1,-2 0,8 88,-18-120,0 1,-2 0,0-1,-1 1,0-1,-2 1,0-1,0 0,-2 0,0-1,-9 17,-33 41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4.627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964 1,'-34'2,"-54"2,1 4,-108 24,169-26,1 1,0 1,0 2,1 0,0 2,0 0,2 2,0 1,0 0,2 1,-38 38,32-21,1 0,1 1,2 2,1 0,2 2,2 0,1 0,2 2,2 0,-11 65,12-34,4 0,2 1,4-1,3 1,15 97,-7-108,3 0,2 0,3-1,3-1,2-1,3-1,47 77,-48-94,1-2,3-1,0-1,3-2,1-1,1-1,1-2,2-2,1-1,67 35,-83-51,1-1,1-1,0-1,0-1,0-1,1-1,0-2,0 0,0-2,38-2,-51 0,1 0,-1-1,0-1,1 0,-1-1,-1 0,1-1,-1 0,1-1,-1 0,-1-1,1 0,-1-1,-1 0,1 0,-2-1,1 0,-1-1,0 0,-1 0,0-1,9-19,-7 6,-1 0,-1 0,-1 0,-1-1,-1 0,-1 0,-2 0,0-1,-2 1,0 0,-9-38,-3-5,-4 1,-50-129,30 107,-4 3,-52-82,57 111,-3 2,-1 2,-83-82,114 126,3 2,0 0,-1 1,0 0,0 0,0 0,-1 1,0 0,0 1,0 0,0 0,-1 0,-9-2,17 6,-15 2,15-1,1 0,-1 0,1 0,-1 0,1 0,0-1,0 1,-1 0,1 0,0 0,0 0,0 0,0 0,0 0,0 0,0 0,1 0,-1 0,0 0,0 0,1 0,-1 0,0-1,1 1,-1 0,1 0,0 0,0 1,43 78,86 118,83 77,-127-165,662 917,-580-763,-12 7,128 309,-218-419,-7 3,57 256,-96-316,-4 1,-4 0,-6 1,-3 0,-16 144,4-188,-2-1,-3 0,-3-1,-2-1,-2 0,-50 92,46-106,-2-2,-2 0,-1-2,-3-1,-1-2,-2-1,-1-2,-61 44,74-62,-1-1,0-1,-2-1,1-2,-2 0,-47 12,63-20,-1-2,0 1,-1-2,1 0,0 0,0-2,0 1,0-2,-1 1,1-2,1 0,-1 0,0-2,1 1,0-1,0-1,-12-7,8 0,0 0,1-1,0 0,1-1,1-1,1 0,0 0,1-2,0 1,2-1,0-1,1 0,-10-38,5 7,2 0,2-1,3 0,0-79,10 19,5 0,5 0,5 1,4 1,6 1,58-147,15 13,211-362,-141 313,143-265,-248 416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6.28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1029,'295'350,"-33"18,-210-294,257 380,238 336,-92-257,-439-516,-4-6,-1 1,0 0,-1 1,0 1,-1-1,13 26,-74-120,-349-668,302 530,-110-364,147 356,-44-314,87 390,7-1,6-1,17-172,19 102,-24 196,1 0,1 1,2 0,0 0,27-46,-30 62,1 1,-1 0,2 0,-1 1,1 0,0 0,1 1,0 0,0 1,0 0,1 1,0 0,0 0,0 1,1 1,-1 0,1 0,0 1,20 0,-1 0,1 2,0 2,-1 1,0 1,1 2,39 12,-24-2,0 2,-1 2,-1 2,57 38,155 130,-168-112,-3 4,-3 4,108 145,-75-65,120 227,-107-158,279 528,-60 28,-341-773,-4-12,-1 1,0-1,1 1,-2 0,1 0,0 9,-3-13,-1-4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7.48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574 3400,'55'-24,"-2"-2,-1-3,-1-1,-1-3,71-63,-46 27,-3-3,89-113,-89 88,-5-3,-4-2,-5-3,-4-3,71-204,-83 175,-5-1,-7-2,-6 0,10-228,-32 272,-4 1,-28-188,22 236,-3 2,-1-1,-3 1,-1 1,-2 1,-2 0,-2 2,-28-41,39 67,-1 1,0 0,0 1,-1 1,-1 0,0 0,-1 1,0 1,0 1,-1 0,-1 1,1 1,-1 0,-1 1,1 1,-1 1,0 0,1 1,-2 1,1 1,0 1,0 0,0 1,0 1,-27 6,11 1,1 2,0 1,1 1,0 2,1 1,1 1,1 2,-37 30,-3 9,3 3,-63 75,55-49,4 2,4 3,4 3,4 3,4 2,5 2,-56 168,78-183,5 0,3 1,4 1,4 0,4 1,4 0,4 1,3-1,5-1,21 96,4-50,94 241,101 112,-143-333,6-3,7-5,6-4,6-5,186 179,-232-258,2-3,3-3,94 56,-115-82,1-1,1-3,1-1,1-3,1-3,62 11,-89-22,1-3,-1 0,1-2,0 0,-1-2,1-2,-1 0,0-2,0 0,-1-2,1-1,-2-1,1-2,-2 0,0-2,0 0,-1-2,-1 0,0-2,20-21,-7 2,-1-1,-2-2,-2-2,-2 0,-2-2,-1-1,-3 0,-1-2,28-98,-18 15,-6-2,-6 0,-5-1,-6-1,-6 0,-16-140,13 258,0-1,-1 1,-1 0,0 1,-1-1,-1 1,0-1,-1 1,-1 1,0-1,-17-23,1 11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8.119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1373,'174'291,"80"143,-174-288,316 539,-316-563,6-3,5-5,144 142,-208-229,2 0,0-2,2-2,0-1,42 23,-69-43,0 0,-1-1,1 1,0-1,0 1,0-1,0 0,0-1,1 1,-1-1,0 1,0-1,0-1,1 1,-1 0,0-1,0 0,6-2,-5 0,-1 0,0 1,1-2,-2 1,1 0,0-1,-1 0,1 0,-1 0,0 0,-1 0,1-1,-1 1,1-1,1-6,6-14,-2-1,0-1,-2 1,5-42,-1-114,-9 150,-14-653,-38-4,47 636,-186-1594,176 1511,11 82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8.712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1330,'616'732,"-570"-675,411 550,-242-314,35 19,-197-254,3-1,124 94,-158-135,0 0,1-2,1-1,26 10,-44-20,-1-1,1 0,0 0,0-1,0 0,0 1,0-2,0 1,1-1,-1 0,0 0,0-1,0 0,0 0,0 0,0-1,0 0,0 0,-1-1,1 1,-1-1,0 0,8-6,-2-2,-1-2,0 1,-1-1,0-1,-1 0,0 0,-2 0,1-1,-2 0,6-23,13-49,-3 0,-5-2,7-110,-12-280,-27 112,-16 1,-153-694,184 1054,-24-103,-63-172,76 251,-2 0,0 1,-2 1,-1 0,-1 1,-1 1,-1 1,-2 1,0 0,-35-27,2 13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9.303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1,'318'774,"-261"-642,509 1076,-350-761,224 406,92 200,-519-1026,-6-13,0 0,-1 1,6 24,-11-36,0 0,-1 1,0-1,1 1,-1-1,0 1,0-1,-1 0,1 1,-1-1,0 1,0-1,0 0,0 0,0 1,-1-1,0 0,1 0,-1-1,0 1,-3 3,-25 20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26T11:36:49.757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ABDB8-F9DE-41BE-BAD5-7BD3B0138F17}" type="datetimeFigureOut">
              <a:rPr lang="en-US" smtClean="0"/>
              <a:t>1/5/2022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C3E475-9885-4BFC-9420-FBF363A06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8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3E475-9885-4BFC-9420-FBF363A066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53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7F3D0-41FC-4430-9F9E-1F78A18D65F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D798F6-1F12-46CE-9AFD-CC66555A1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0936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A70B137-2503-4803-9F56-620A586FA49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224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CE129D0-CB7B-444C-AF89-B1CB663E3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18374"/>
            <a:ext cx="8687356" cy="6439627"/>
          </a:xfrm>
          <a:custGeom>
            <a:avLst/>
            <a:gdLst>
              <a:gd name="connsiteX0" fmla="*/ 0 w 8687356"/>
              <a:gd name="connsiteY0" fmla="*/ 5592682 h 6439627"/>
              <a:gd name="connsiteX1" fmla="*/ 186296 w 8687356"/>
              <a:gd name="connsiteY1" fmla="*/ 5593149 h 6439627"/>
              <a:gd name="connsiteX2" fmla="*/ 1348900 w 8687356"/>
              <a:gd name="connsiteY2" fmla="*/ 5596063 h 6439627"/>
              <a:gd name="connsiteX3" fmla="*/ 1800991 w 8687356"/>
              <a:gd name="connsiteY3" fmla="*/ 5851702 h 6439627"/>
              <a:gd name="connsiteX4" fmla="*/ 2106366 w 8687356"/>
              <a:gd name="connsiteY4" fmla="*/ 6380627 h 6439627"/>
              <a:gd name="connsiteX5" fmla="*/ 2140430 w 8687356"/>
              <a:gd name="connsiteY5" fmla="*/ 6439627 h 6439627"/>
              <a:gd name="connsiteX6" fmla="*/ 0 w 8687356"/>
              <a:gd name="connsiteY6" fmla="*/ 6439627 h 6439627"/>
              <a:gd name="connsiteX7" fmla="*/ 693821 w 8687356"/>
              <a:gd name="connsiteY7" fmla="*/ 3646328 h 6439627"/>
              <a:gd name="connsiteX8" fmla="*/ 1586357 w 8687356"/>
              <a:gd name="connsiteY8" fmla="*/ 3648566 h 6439627"/>
              <a:gd name="connsiteX9" fmla="*/ 1724950 w 8687356"/>
              <a:gd name="connsiteY9" fmla="*/ 3726935 h 6439627"/>
              <a:gd name="connsiteX10" fmla="*/ 2172189 w 8687356"/>
              <a:gd name="connsiteY10" fmla="*/ 4501577 h 6439627"/>
              <a:gd name="connsiteX11" fmla="*/ 2171729 w 8687356"/>
              <a:gd name="connsiteY11" fmla="*/ 4662459 h 6439627"/>
              <a:gd name="connsiteX12" fmla="*/ 1726432 w 8687356"/>
              <a:gd name="connsiteY12" fmla="*/ 5434863 h 6439627"/>
              <a:gd name="connsiteX13" fmla="*/ 1589746 w 8687356"/>
              <a:gd name="connsiteY13" fmla="*/ 5513779 h 6439627"/>
              <a:gd name="connsiteX14" fmla="*/ 698177 w 8687356"/>
              <a:gd name="connsiteY14" fmla="*/ 5513215 h 6439627"/>
              <a:gd name="connsiteX15" fmla="*/ 558617 w 8687356"/>
              <a:gd name="connsiteY15" fmla="*/ 5433172 h 6439627"/>
              <a:gd name="connsiteX16" fmla="*/ 111378 w 8687356"/>
              <a:gd name="connsiteY16" fmla="*/ 4658531 h 6439627"/>
              <a:gd name="connsiteX17" fmla="*/ 112805 w 8687356"/>
              <a:gd name="connsiteY17" fmla="*/ 4499321 h 6439627"/>
              <a:gd name="connsiteX18" fmla="*/ 557135 w 8687356"/>
              <a:gd name="connsiteY18" fmla="*/ 3725244 h 6439627"/>
              <a:gd name="connsiteX19" fmla="*/ 693821 w 8687356"/>
              <a:gd name="connsiteY19" fmla="*/ 3646328 h 6439627"/>
              <a:gd name="connsiteX20" fmla="*/ 1975378 w 8687356"/>
              <a:gd name="connsiteY20" fmla="*/ 3263784 h 6439627"/>
              <a:gd name="connsiteX21" fmla="*/ 2292917 w 8687356"/>
              <a:gd name="connsiteY21" fmla="*/ 3264581 h 6439627"/>
              <a:gd name="connsiteX22" fmla="*/ 2342225 w 8687356"/>
              <a:gd name="connsiteY22" fmla="*/ 3292462 h 6439627"/>
              <a:gd name="connsiteX23" fmla="*/ 2501341 w 8687356"/>
              <a:gd name="connsiteY23" fmla="*/ 3568059 h 6439627"/>
              <a:gd name="connsiteX24" fmla="*/ 2501177 w 8687356"/>
              <a:gd name="connsiteY24" fmla="*/ 3625297 h 6439627"/>
              <a:gd name="connsiteX25" fmla="*/ 2342753 w 8687356"/>
              <a:gd name="connsiteY25" fmla="*/ 3900096 h 6439627"/>
              <a:gd name="connsiteX26" fmla="*/ 2294123 w 8687356"/>
              <a:gd name="connsiteY26" fmla="*/ 3928173 h 6439627"/>
              <a:gd name="connsiteX27" fmla="*/ 1976927 w 8687356"/>
              <a:gd name="connsiteY27" fmla="*/ 3927972 h 6439627"/>
              <a:gd name="connsiteX28" fmla="*/ 1927275 w 8687356"/>
              <a:gd name="connsiteY28" fmla="*/ 3899495 h 6439627"/>
              <a:gd name="connsiteX29" fmla="*/ 1768160 w 8687356"/>
              <a:gd name="connsiteY29" fmla="*/ 3623899 h 6439627"/>
              <a:gd name="connsiteX30" fmla="*/ 1768668 w 8687356"/>
              <a:gd name="connsiteY30" fmla="*/ 3567256 h 6439627"/>
              <a:gd name="connsiteX31" fmla="*/ 1926748 w 8687356"/>
              <a:gd name="connsiteY31" fmla="*/ 3291861 h 6439627"/>
              <a:gd name="connsiteX32" fmla="*/ 1975378 w 8687356"/>
              <a:gd name="connsiteY32" fmla="*/ 3263784 h 6439627"/>
              <a:gd name="connsiteX33" fmla="*/ 2130702 w 8687356"/>
              <a:gd name="connsiteY33" fmla="*/ 2828022 h 6439627"/>
              <a:gd name="connsiteX34" fmla="*/ 2298374 w 8687356"/>
              <a:gd name="connsiteY34" fmla="*/ 2828442 h 6439627"/>
              <a:gd name="connsiteX35" fmla="*/ 2324410 w 8687356"/>
              <a:gd name="connsiteY35" fmla="*/ 2843165 h 6439627"/>
              <a:gd name="connsiteX36" fmla="*/ 2408429 w 8687356"/>
              <a:gd name="connsiteY36" fmla="*/ 2988689 h 6439627"/>
              <a:gd name="connsiteX37" fmla="*/ 2408342 w 8687356"/>
              <a:gd name="connsiteY37" fmla="*/ 3018913 h 6439627"/>
              <a:gd name="connsiteX38" fmla="*/ 2324689 w 8687356"/>
              <a:gd name="connsiteY38" fmla="*/ 3164017 h 6439627"/>
              <a:gd name="connsiteX39" fmla="*/ 2299011 w 8687356"/>
              <a:gd name="connsiteY39" fmla="*/ 3178842 h 6439627"/>
              <a:gd name="connsiteX40" fmla="*/ 2131520 w 8687356"/>
              <a:gd name="connsiteY40" fmla="*/ 3178736 h 6439627"/>
              <a:gd name="connsiteX41" fmla="*/ 2105302 w 8687356"/>
              <a:gd name="connsiteY41" fmla="*/ 3163699 h 6439627"/>
              <a:gd name="connsiteX42" fmla="*/ 2021284 w 8687356"/>
              <a:gd name="connsiteY42" fmla="*/ 3018175 h 6439627"/>
              <a:gd name="connsiteX43" fmla="*/ 2021552 w 8687356"/>
              <a:gd name="connsiteY43" fmla="*/ 2988265 h 6439627"/>
              <a:gd name="connsiteX44" fmla="*/ 2105024 w 8687356"/>
              <a:gd name="connsiteY44" fmla="*/ 2842847 h 6439627"/>
              <a:gd name="connsiteX45" fmla="*/ 2130702 w 8687356"/>
              <a:gd name="connsiteY45" fmla="*/ 2828022 h 6439627"/>
              <a:gd name="connsiteX46" fmla="*/ 3794942 w 8687356"/>
              <a:gd name="connsiteY46" fmla="*/ 2543905 h 6439627"/>
              <a:gd name="connsiteX47" fmla="*/ 6706383 w 8687356"/>
              <a:gd name="connsiteY47" fmla="*/ 2551204 h 6439627"/>
              <a:gd name="connsiteX48" fmla="*/ 7158474 w 8687356"/>
              <a:gd name="connsiteY48" fmla="*/ 2806842 h 6439627"/>
              <a:gd name="connsiteX49" fmla="*/ 8617364 w 8687356"/>
              <a:gd name="connsiteY49" fmla="*/ 5333715 h 6439627"/>
              <a:gd name="connsiteX50" fmla="*/ 8615859 w 8687356"/>
              <a:gd name="connsiteY50" fmla="*/ 5858514 h 6439627"/>
              <a:gd name="connsiteX51" fmla="*/ 8311811 w 8687356"/>
              <a:gd name="connsiteY51" fmla="*/ 6385912 h 6439627"/>
              <a:gd name="connsiteX52" fmla="*/ 8280844 w 8687356"/>
              <a:gd name="connsiteY52" fmla="*/ 6439627 h 6439627"/>
              <a:gd name="connsiteX53" fmla="*/ 2237916 w 8687356"/>
              <a:gd name="connsiteY53" fmla="*/ 6439627 h 6439627"/>
              <a:gd name="connsiteX54" fmla="*/ 2151815 w 8687356"/>
              <a:gd name="connsiteY54" fmla="*/ 6290497 h 6439627"/>
              <a:gd name="connsiteX55" fmla="*/ 1895013 w 8687356"/>
              <a:gd name="connsiteY55" fmla="*/ 5845703 h 6439627"/>
              <a:gd name="connsiteX56" fmla="*/ 1899669 w 8687356"/>
              <a:gd name="connsiteY56" fmla="*/ 5326361 h 6439627"/>
              <a:gd name="connsiteX57" fmla="*/ 3349069 w 8687356"/>
              <a:gd name="connsiteY57" fmla="*/ 2801330 h 6439627"/>
              <a:gd name="connsiteX58" fmla="*/ 3794942 w 8687356"/>
              <a:gd name="connsiteY58" fmla="*/ 2543905 h 6439627"/>
              <a:gd name="connsiteX59" fmla="*/ 634940 w 8687356"/>
              <a:gd name="connsiteY59" fmla="*/ 2395105 h 6439627"/>
              <a:gd name="connsiteX60" fmla="*/ 1188015 w 8687356"/>
              <a:gd name="connsiteY60" fmla="*/ 2396492 h 6439627"/>
              <a:gd name="connsiteX61" fmla="*/ 1273897 w 8687356"/>
              <a:gd name="connsiteY61" fmla="*/ 2445054 h 6439627"/>
              <a:gd name="connsiteX62" fmla="*/ 1551037 w 8687356"/>
              <a:gd name="connsiteY62" fmla="*/ 2925075 h 6439627"/>
              <a:gd name="connsiteX63" fmla="*/ 1550752 w 8687356"/>
              <a:gd name="connsiteY63" fmla="*/ 3024769 h 6439627"/>
              <a:gd name="connsiteX64" fmla="*/ 1274816 w 8687356"/>
              <a:gd name="connsiteY64" fmla="*/ 3503403 h 6439627"/>
              <a:gd name="connsiteX65" fmla="*/ 1190116 w 8687356"/>
              <a:gd name="connsiteY65" fmla="*/ 3552304 h 6439627"/>
              <a:gd name="connsiteX66" fmla="*/ 637639 w 8687356"/>
              <a:gd name="connsiteY66" fmla="*/ 3551955 h 6439627"/>
              <a:gd name="connsiteX67" fmla="*/ 551158 w 8687356"/>
              <a:gd name="connsiteY67" fmla="*/ 3502355 h 6439627"/>
              <a:gd name="connsiteX68" fmla="*/ 274018 w 8687356"/>
              <a:gd name="connsiteY68" fmla="*/ 3022335 h 6439627"/>
              <a:gd name="connsiteX69" fmla="*/ 274903 w 8687356"/>
              <a:gd name="connsiteY69" fmla="*/ 2923678 h 6439627"/>
              <a:gd name="connsiteX70" fmla="*/ 550240 w 8687356"/>
              <a:gd name="connsiteY70" fmla="*/ 2444007 h 6439627"/>
              <a:gd name="connsiteX71" fmla="*/ 634940 w 8687356"/>
              <a:gd name="connsiteY71" fmla="*/ 2395105 h 6439627"/>
              <a:gd name="connsiteX72" fmla="*/ 2521339 w 8687356"/>
              <a:gd name="connsiteY72" fmla="*/ 1975621 h 6439627"/>
              <a:gd name="connsiteX73" fmla="*/ 2985874 w 8687356"/>
              <a:gd name="connsiteY73" fmla="*/ 1976785 h 6439627"/>
              <a:gd name="connsiteX74" fmla="*/ 3058007 w 8687356"/>
              <a:gd name="connsiteY74" fmla="*/ 2017574 h 6439627"/>
              <a:gd name="connsiteX75" fmla="*/ 3290779 w 8687356"/>
              <a:gd name="connsiteY75" fmla="*/ 2420748 h 6439627"/>
              <a:gd name="connsiteX76" fmla="*/ 3290540 w 8687356"/>
              <a:gd name="connsiteY76" fmla="*/ 2504482 h 6439627"/>
              <a:gd name="connsiteX77" fmla="*/ 3058778 w 8687356"/>
              <a:gd name="connsiteY77" fmla="*/ 2906492 h 6439627"/>
              <a:gd name="connsiteX78" fmla="*/ 2987637 w 8687356"/>
              <a:gd name="connsiteY78" fmla="*/ 2947565 h 6439627"/>
              <a:gd name="connsiteX79" fmla="*/ 2523606 w 8687356"/>
              <a:gd name="connsiteY79" fmla="*/ 2947271 h 6439627"/>
              <a:gd name="connsiteX80" fmla="*/ 2450970 w 8687356"/>
              <a:gd name="connsiteY80" fmla="*/ 2905612 h 6439627"/>
              <a:gd name="connsiteX81" fmla="*/ 2218197 w 8687356"/>
              <a:gd name="connsiteY81" fmla="*/ 2502438 h 6439627"/>
              <a:gd name="connsiteX82" fmla="*/ 2218941 w 8687356"/>
              <a:gd name="connsiteY82" fmla="*/ 2419574 h 6439627"/>
              <a:gd name="connsiteX83" fmla="*/ 2450199 w 8687356"/>
              <a:gd name="connsiteY83" fmla="*/ 2016694 h 6439627"/>
              <a:gd name="connsiteX84" fmla="*/ 2521339 w 8687356"/>
              <a:gd name="connsiteY84" fmla="*/ 1975621 h 6439627"/>
              <a:gd name="connsiteX85" fmla="*/ 3564142 w 8687356"/>
              <a:gd name="connsiteY85" fmla="*/ 34 h 6439627"/>
              <a:gd name="connsiteX86" fmla="*/ 4738405 w 8687356"/>
              <a:gd name="connsiteY86" fmla="*/ 2977 h 6439627"/>
              <a:gd name="connsiteX87" fmla="*/ 4920745 w 8687356"/>
              <a:gd name="connsiteY87" fmla="*/ 106084 h 6439627"/>
              <a:gd name="connsiteX88" fmla="*/ 5509155 w 8687356"/>
              <a:gd name="connsiteY88" fmla="*/ 1125240 h 6439627"/>
              <a:gd name="connsiteX89" fmla="*/ 5508549 w 8687356"/>
              <a:gd name="connsiteY89" fmla="*/ 1336906 h 6439627"/>
              <a:gd name="connsiteX90" fmla="*/ 4922696 w 8687356"/>
              <a:gd name="connsiteY90" fmla="*/ 2353119 h 6439627"/>
              <a:gd name="connsiteX91" fmla="*/ 4742864 w 8687356"/>
              <a:gd name="connsiteY91" fmla="*/ 2456945 h 6439627"/>
              <a:gd name="connsiteX92" fmla="*/ 3569871 w 8687356"/>
              <a:gd name="connsiteY92" fmla="*/ 2456203 h 6439627"/>
              <a:gd name="connsiteX93" fmla="*/ 3386259 w 8687356"/>
              <a:gd name="connsiteY93" fmla="*/ 2350896 h 6439627"/>
              <a:gd name="connsiteX94" fmla="*/ 2797848 w 8687356"/>
              <a:gd name="connsiteY94" fmla="*/ 1331739 h 6439627"/>
              <a:gd name="connsiteX95" fmla="*/ 2799727 w 8687356"/>
              <a:gd name="connsiteY95" fmla="*/ 1122274 h 6439627"/>
              <a:gd name="connsiteX96" fmla="*/ 3384310 w 8687356"/>
              <a:gd name="connsiteY96" fmla="*/ 103860 h 6439627"/>
              <a:gd name="connsiteX97" fmla="*/ 3564142 w 8687356"/>
              <a:gd name="connsiteY97" fmla="*/ 34 h 643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8687356" h="6439627">
                <a:moveTo>
                  <a:pt x="0" y="5592682"/>
                </a:moveTo>
                <a:lnTo>
                  <a:pt x="186296" y="5593149"/>
                </a:lnTo>
                <a:cubicBezTo>
                  <a:pt x="510155" y="5593961"/>
                  <a:pt x="893987" y="5594923"/>
                  <a:pt x="1348900" y="5596063"/>
                </a:cubicBezTo>
                <a:cubicBezTo>
                  <a:pt x="1534387" y="5590847"/>
                  <a:pt x="1709614" y="5693431"/>
                  <a:pt x="1800991" y="5851702"/>
                </a:cubicBezTo>
                <a:cubicBezTo>
                  <a:pt x="1800991" y="5851702"/>
                  <a:pt x="1800991" y="5851702"/>
                  <a:pt x="2106366" y="6380627"/>
                </a:cubicBezTo>
                <a:lnTo>
                  <a:pt x="2140430" y="6439627"/>
                </a:lnTo>
                <a:lnTo>
                  <a:pt x="0" y="6439627"/>
                </a:lnTo>
                <a:close/>
                <a:moveTo>
                  <a:pt x="693821" y="3646328"/>
                </a:moveTo>
                <a:cubicBezTo>
                  <a:pt x="693821" y="3646328"/>
                  <a:pt x="693821" y="3646328"/>
                  <a:pt x="1586357" y="3648566"/>
                </a:cubicBezTo>
                <a:cubicBezTo>
                  <a:pt x="1643220" y="3646968"/>
                  <a:pt x="1696937" y="3678416"/>
                  <a:pt x="1724950" y="3726935"/>
                </a:cubicBezTo>
                <a:cubicBezTo>
                  <a:pt x="1724950" y="3726935"/>
                  <a:pt x="1724950" y="3726935"/>
                  <a:pt x="2172189" y="4501577"/>
                </a:cubicBezTo>
                <a:cubicBezTo>
                  <a:pt x="2201168" y="4551769"/>
                  <a:pt x="2200578" y="4612341"/>
                  <a:pt x="2171729" y="4662459"/>
                </a:cubicBezTo>
                <a:cubicBezTo>
                  <a:pt x="2171729" y="4662459"/>
                  <a:pt x="2171729" y="4662459"/>
                  <a:pt x="1726432" y="5434863"/>
                </a:cubicBezTo>
                <a:cubicBezTo>
                  <a:pt x="1699249" y="5484020"/>
                  <a:pt x="1645909" y="5514815"/>
                  <a:pt x="1589746" y="5513779"/>
                </a:cubicBezTo>
                <a:cubicBezTo>
                  <a:pt x="1589746" y="5513779"/>
                  <a:pt x="1589746" y="5513779"/>
                  <a:pt x="698177" y="5513215"/>
                </a:cubicBezTo>
                <a:cubicBezTo>
                  <a:pt x="640348" y="5513140"/>
                  <a:pt x="587596" y="5483366"/>
                  <a:pt x="558617" y="5433172"/>
                </a:cubicBezTo>
                <a:cubicBezTo>
                  <a:pt x="558617" y="5433172"/>
                  <a:pt x="558617" y="5433172"/>
                  <a:pt x="111378" y="4658531"/>
                </a:cubicBezTo>
                <a:cubicBezTo>
                  <a:pt x="83365" y="4610012"/>
                  <a:pt x="82990" y="4547767"/>
                  <a:pt x="112805" y="4499321"/>
                </a:cubicBezTo>
                <a:cubicBezTo>
                  <a:pt x="112805" y="4499321"/>
                  <a:pt x="112805" y="4499321"/>
                  <a:pt x="557135" y="3725244"/>
                </a:cubicBezTo>
                <a:cubicBezTo>
                  <a:pt x="584319" y="3676088"/>
                  <a:pt x="637659" y="3645292"/>
                  <a:pt x="693821" y="3646328"/>
                </a:cubicBezTo>
                <a:close/>
                <a:moveTo>
                  <a:pt x="1975378" y="3263784"/>
                </a:moveTo>
                <a:cubicBezTo>
                  <a:pt x="1975378" y="3263784"/>
                  <a:pt x="1975378" y="3263784"/>
                  <a:pt x="2292917" y="3264581"/>
                </a:cubicBezTo>
                <a:cubicBezTo>
                  <a:pt x="2313148" y="3264012"/>
                  <a:pt x="2332259" y="3275200"/>
                  <a:pt x="2342225" y="3292462"/>
                </a:cubicBezTo>
                <a:cubicBezTo>
                  <a:pt x="2342225" y="3292462"/>
                  <a:pt x="2342225" y="3292462"/>
                  <a:pt x="2501341" y="3568059"/>
                </a:cubicBezTo>
                <a:cubicBezTo>
                  <a:pt x="2511651" y="3585916"/>
                  <a:pt x="2511441" y="3607466"/>
                  <a:pt x="2501177" y="3625297"/>
                </a:cubicBezTo>
                <a:cubicBezTo>
                  <a:pt x="2501177" y="3625297"/>
                  <a:pt x="2501177" y="3625297"/>
                  <a:pt x="2342753" y="3900096"/>
                </a:cubicBezTo>
                <a:cubicBezTo>
                  <a:pt x="2333082" y="3917585"/>
                  <a:pt x="2314104" y="3928542"/>
                  <a:pt x="2294123" y="3928173"/>
                </a:cubicBezTo>
                <a:cubicBezTo>
                  <a:pt x="2294123" y="3928173"/>
                  <a:pt x="2294123" y="3928173"/>
                  <a:pt x="1976927" y="3927972"/>
                </a:cubicBezTo>
                <a:cubicBezTo>
                  <a:pt x="1956353" y="3927946"/>
                  <a:pt x="1937585" y="3917353"/>
                  <a:pt x="1927275" y="3899495"/>
                </a:cubicBezTo>
                <a:cubicBezTo>
                  <a:pt x="1927275" y="3899495"/>
                  <a:pt x="1927275" y="3899495"/>
                  <a:pt x="1768160" y="3623899"/>
                </a:cubicBezTo>
                <a:cubicBezTo>
                  <a:pt x="1758193" y="3606636"/>
                  <a:pt x="1758060" y="3584492"/>
                  <a:pt x="1768668" y="3567256"/>
                </a:cubicBezTo>
                <a:cubicBezTo>
                  <a:pt x="1768668" y="3567256"/>
                  <a:pt x="1768668" y="3567256"/>
                  <a:pt x="1926748" y="3291861"/>
                </a:cubicBezTo>
                <a:cubicBezTo>
                  <a:pt x="1936419" y="3274372"/>
                  <a:pt x="1955397" y="3263416"/>
                  <a:pt x="1975378" y="3263784"/>
                </a:cubicBezTo>
                <a:close/>
                <a:moveTo>
                  <a:pt x="2130702" y="2828022"/>
                </a:moveTo>
                <a:cubicBezTo>
                  <a:pt x="2130702" y="2828022"/>
                  <a:pt x="2130702" y="2828022"/>
                  <a:pt x="2298374" y="2828442"/>
                </a:cubicBezTo>
                <a:cubicBezTo>
                  <a:pt x="2309057" y="2828143"/>
                  <a:pt x="2319148" y="2834050"/>
                  <a:pt x="2324410" y="2843165"/>
                </a:cubicBezTo>
                <a:cubicBezTo>
                  <a:pt x="2324410" y="2843165"/>
                  <a:pt x="2324410" y="2843165"/>
                  <a:pt x="2408429" y="2988689"/>
                </a:cubicBezTo>
                <a:cubicBezTo>
                  <a:pt x="2413873" y="2998119"/>
                  <a:pt x="2413762" y="3009498"/>
                  <a:pt x="2408342" y="3018913"/>
                </a:cubicBezTo>
                <a:cubicBezTo>
                  <a:pt x="2408342" y="3018913"/>
                  <a:pt x="2408342" y="3018913"/>
                  <a:pt x="2324689" y="3164017"/>
                </a:cubicBezTo>
                <a:cubicBezTo>
                  <a:pt x="2319583" y="3173251"/>
                  <a:pt x="2309561" y="3179037"/>
                  <a:pt x="2299011" y="3178842"/>
                </a:cubicBezTo>
                <a:cubicBezTo>
                  <a:pt x="2299011" y="3178842"/>
                  <a:pt x="2299011" y="3178842"/>
                  <a:pt x="2131520" y="3178736"/>
                </a:cubicBezTo>
                <a:cubicBezTo>
                  <a:pt x="2120657" y="3178722"/>
                  <a:pt x="2110746" y="3173129"/>
                  <a:pt x="2105302" y="3163699"/>
                </a:cubicBezTo>
                <a:cubicBezTo>
                  <a:pt x="2105302" y="3163699"/>
                  <a:pt x="2105302" y="3163699"/>
                  <a:pt x="2021284" y="3018175"/>
                </a:cubicBezTo>
                <a:cubicBezTo>
                  <a:pt x="2016021" y="3009060"/>
                  <a:pt x="2015951" y="2997367"/>
                  <a:pt x="2021552" y="2988265"/>
                </a:cubicBezTo>
                <a:cubicBezTo>
                  <a:pt x="2021552" y="2988265"/>
                  <a:pt x="2021552" y="2988265"/>
                  <a:pt x="2105024" y="2842847"/>
                </a:cubicBezTo>
                <a:cubicBezTo>
                  <a:pt x="2110131" y="2833613"/>
                  <a:pt x="2120152" y="2827827"/>
                  <a:pt x="2130702" y="2828022"/>
                </a:cubicBezTo>
                <a:close/>
                <a:moveTo>
                  <a:pt x="3794942" y="2543905"/>
                </a:moveTo>
                <a:cubicBezTo>
                  <a:pt x="3794942" y="2543905"/>
                  <a:pt x="3794942" y="2543905"/>
                  <a:pt x="6706383" y="2551204"/>
                </a:cubicBezTo>
                <a:cubicBezTo>
                  <a:pt x="6891871" y="2545988"/>
                  <a:pt x="7067096" y="2648572"/>
                  <a:pt x="7158474" y="2806842"/>
                </a:cubicBezTo>
                <a:cubicBezTo>
                  <a:pt x="7158474" y="2806842"/>
                  <a:pt x="7158474" y="2806842"/>
                  <a:pt x="8617364" y="5333715"/>
                </a:cubicBezTo>
                <a:cubicBezTo>
                  <a:pt x="8711893" y="5497443"/>
                  <a:pt x="8709969" y="5695027"/>
                  <a:pt x="8615859" y="5858514"/>
                </a:cubicBezTo>
                <a:cubicBezTo>
                  <a:pt x="8615859" y="5858514"/>
                  <a:pt x="8615859" y="5858514"/>
                  <a:pt x="8311811" y="6385912"/>
                </a:cubicBezTo>
                <a:lnTo>
                  <a:pt x="8280844" y="6439627"/>
                </a:lnTo>
                <a:lnTo>
                  <a:pt x="2237916" y="6439627"/>
                </a:lnTo>
                <a:lnTo>
                  <a:pt x="2151815" y="6290497"/>
                </a:lnTo>
                <a:cubicBezTo>
                  <a:pt x="2071676" y="6151692"/>
                  <a:pt x="1986194" y="6003633"/>
                  <a:pt x="1895013" y="5845703"/>
                </a:cubicBezTo>
                <a:cubicBezTo>
                  <a:pt x="1803636" y="5687432"/>
                  <a:pt x="1802408" y="5484390"/>
                  <a:pt x="1899669" y="5326361"/>
                </a:cubicBezTo>
                <a:cubicBezTo>
                  <a:pt x="1899669" y="5326361"/>
                  <a:pt x="1899669" y="5326361"/>
                  <a:pt x="3349069" y="2801330"/>
                </a:cubicBezTo>
                <a:cubicBezTo>
                  <a:pt x="3437742" y="2640982"/>
                  <a:pt x="3611741" y="2540524"/>
                  <a:pt x="3794942" y="2543905"/>
                </a:cubicBezTo>
                <a:close/>
                <a:moveTo>
                  <a:pt x="634940" y="2395105"/>
                </a:moveTo>
                <a:cubicBezTo>
                  <a:pt x="634940" y="2395105"/>
                  <a:pt x="634940" y="2395105"/>
                  <a:pt x="1188015" y="2396492"/>
                </a:cubicBezTo>
                <a:cubicBezTo>
                  <a:pt x="1223252" y="2395501"/>
                  <a:pt x="1256539" y="2414988"/>
                  <a:pt x="1273897" y="2445054"/>
                </a:cubicBezTo>
                <a:cubicBezTo>
                  <a:pt x="1273897" y="2445054"/>
                  <a:pt x="1273897" y="2445054"/>
                  <a:pt x="1551037" y="2925075"/>
                </a:cubicBezTo>
                <a:cubicBezTo>
                  <a:pt x="1568994" y="2956177"/>
                  <a:pt x="1568629" y="2993712"/>
                  <a:pt x="1550752" y="3024769"/>
                </a:cubicBezTo>
                <a:cubicBezTo>
                  <a:pt x="1550752" y="3024769"/>
                  <a:pt x="1550752" y="3024769"/>
                  <a:pt x="1274816" y="3503403"/>
                </a:cubicBezTo>
                <a:cubicBezTo>
                  <a:pt x="1257971" y="3533863"/>
                  <a:pt x="1224917" y="3552947"/>
                  <a:pt x="1190116" y="3552304"/>
                </a:cubicBezTo>
                <a:cubicBezTo>
                  <a:pt x="1190116" y="3552304"/>
                  <a:pt x="1190116" y="3552304"/>
                  <a:pt x="637639" y="3551955"/>
                </a:cubicBezTo>
                <a:cubicBezTo>
                  <a:pt x="601804" y="3551909"/>
                  <a:pt x="569115" y="3533458"/>
                  <a:pt x="551158" y="3502355"/>
                </a:cubicBezTo>
                <a:cubicBezTo>
                  <a:pt x="551158" y="3502355"/>
                  <a:pt x="551158" y="3502355"/>
                  <a:pt x="274018" y="3022335"/>
                </a:cubicBezTo>
                <a:cubicBezTo>
                  <a:pt x="256660" y="2992269"/>
                  <a:pt x="256426" y="2953698"/>
                  <a:pt x="274903" y="2923678"/>
                </a:cubicBezTo>
                <a:cubicBezTo>
                  <a:pt x="274903" y="2923678"/>
                  <a:pt x="274903" y="2923678"/>
                  <a:pt x="550240" y="2444007"/>
                </a:cubicBezTo>
                <a:cubicBezTo>
                  <a:pt x="567085" y="2413547"/>
                  <a:pt x="600139" y="2394463"/>
                  <a:pt x="634940" y="2395105"/>
                </a:cubicBezTo>
                <a:close/>
                <a:moveTo>
                  <a:pt x="2521339" y="1975621"/>
                </a:moveTo>
                <a:cubicBezTo>
                  <a:pt x="2521339" y="1975621"/>
                  <a:pt x="2521339" y="1975621"/>
                  <a:pt x="2985874" y="1976785"/>
                </a:cubicBezTo>
                <a:cubicBezTo>
                  <a:pt x="3015469" y="1975952"/>
                  <a:pt x="3043427" y="1992321"/>
                  <a:pt x="3058007" y="2017574"/>
                </a:cubicBezTo>
                <a:cubicBezTo>
                  <a:pt x="3058007" y="2017574"/>
                  <a:pt x="3058007" y="2017574"/>
                  <a:pt x="3290779" y="2420748"/>
                </a:cubicBezTo>
                <a:cubicBezTo>
                  <a:pt x="3305862" y="2446871"/>
                  <a:pt x="3305555" y="2478396"/>
                  <a:pt x="3290540" y="2504482"/>
                </a:cubicBezTo>
                <a:cubicBezTo>
                  <a:pt x="3290540" y="2504482"/>
                  <a:pt x="3290540" y="2504482"/>
                  <a:pt x="3058778" y="2906492"/>
                </a:cubicBezTo>
                <a:cubicBezTo>
                  <a:pt x="3044630" y="2932076"/>
                  <a:pt x="3016868" y="2948104"/>
                  <a:pt x="2987637" y="2947565"/>
                </a:cubicBezTo>
                <a:cubicBezTo>
                  <a:pt x="2987637" y="2947565"/>
                  <a:pt x="2987637" y="2947565"/>
                  <a:pt x="2523606" y="2947271"/>
                </a:cubicBezTo>
                <a:cubicBezTo>
                  <a:pt x="2493508" y="2947232"/>
                  <a:pt x="2466052" y="2931735"/>
                  <a:pt x="2450970" y="2905612"/>
                </a:cubicBezTo>
                <a:cubicBezTo>
                  <a:pt x="2450970" y="2905612"/>
                  <a:pt x="2450970" y="2905612"/>
                  <a:pt x="2218197" y="2502438"/>
                </a:cubicBezTo>
                <a:cubicBezTo>
                  <a:pt x="2203617" y="2477185"/>
                  <a:pt x="2203422" y="2444788"/>
                  <a:pt x="2218941" y="2419574"/>
                </a:cubicBezTo>
                <a:cubicBezTo>
                  <a:pt x="2218941" y="2419574"/>
                  <a:pt x="2218941" y="2419574"/>
                  <a:pt x="2450199" y="2016694"/>
                </a:cubicBezTo>
                <a:cubicBezTo>
                  <a:pt x="2464347" y="1991110"/>
                  <a:pt x="2492109" y="1975081"/>
                  <a:pt x="2521339" y="1975621"/>
                </a:cubicBezTo>
                <a:close/>
                <a:moveTo>
                  <a:pt x="3564142" y="34"/>
                </a:moveTo>
                <a:cubicBezTo>
                  <a:pt x="3564142" y="34"/>
                  <a:pt x="3564142" y="34"/>
                  <a:pt x="4738405" y="2977"/>
                </a:cubicBezTo>
                <a:cubicBezTo>
                  <a:pt x="4813218" y="874"/>
                  <a:pt x="4883890" y="42249"/>
                  <a:pt x="4920745" y="106084"/>
                </a:cubicBezTo>
                <a:cubicBezTo>
                  <a:pt x="4920745" y="106084"/>
                  <a:pt x="4920745" y="106084"/>
                  <a:pt x="5509155" y="1125240"/>
                </a:cubicBezTo>
                <a:cubicBezTo>
                  <a:pt x="5547281" y="1191277"/>
                  <a:pt x="5546507" y="1270967"/>
                  <a:pt x="5508549" y="1336906"/>
                </a:cubicBezTo>
                <a:cubicBezTo>
                  <a:pt x="5508549" y="1336906"/>
                  <a:pt x="5508549" y="1336906"/>
                  <a:pt x="4922696" y="2353119"/>
                </a:cubicBezTo>
                <a:cubicBezTo>
                  <a:pt x="4886932" y="2417792"/>
                  <a:pt x="4816753" y="2458309"/>
                  <a:pt x="4742864" y="2456945"/>
                </a:cubicBezTo>
                <a:cubicBezTo>
                  <a:pt x="4742864" y="2456945"/>
                  <a:pt x="4742864" y="2456945"/>
                  <a:pt x="3569871" y="2456203"/>
                </a:cubicBezTo>
                <a:cubicBezTo>
                  <a:pt x="3493788" y="2456106"/>
                  <a:pt x="3424385" y="2416932"/>
                  <a:pt x="3386259" y="2350896"/>
                </a:cubicBezTo>
                <a:cubicBezTo>
                  <a:pt x="3386259" y="2350896"/>
                  <a:pt x="3386259" y="2350896"/>
                  <a:pt x="2797848" y="1331739"/>
                </a:cubicBezTo>
                <a:cubicBezTo>
                  <a:pt x="2760993" y="1267904"/>
                  <a:pt x="2760499" y="1186012"/>
                  <a:pt x="2799727" y="1122274"/>
                </a:cubicBezTo>
                <a:cubicBezTo>
                  <a:pt x="2799727" y="1122274"/>
                  <a:pt x="2799727" y="1122274"/>
                  <a:pt x="3384310" y="103860"/>
                </a:cubicBezTo>
                <a:cubicBezTo>
                  <a:pt x="3420073" y="39188"/>
                  <a:pt x="3490251" y="-1330"/>
                  <a:pt x="3564142" y="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4081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divider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7300" y="4386894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810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B7C90C9-77F3-4C3C-97F8-425EF81FB7A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1795125" cy="6858000"/>
          </a:xfrm>
          <a:custGeom>
            <a:avLst/>
            <a:gdLst>
              <a:gd name="connsiteX0" fmla="*/ 4729712 w 11795125"/>
              <a:gd name="connsiteY0" fmla="*/ 4417922 h 6858000"/>
              <a:gd name="connsiteX1" fmla="*/ 7234278 w 11795125"/>
              <a:gd name="connsiteY1" fmla="*/ 4419507 h 6858000"/>
              <a:gd name="connsiteX2" fmla="*/ 7626325 w 11795125"/>
              <a:gd name="connsiteY2" fmla="*/ 4644358 h 6858000"/>
              <a:gd name="connsiteX3" fmla="*/ 8882694 w 11795125"/>
              <a:gd name="connsiteY3" fmla="*/ 6820455 h 6858000"/>
              <a:gd name="connsiteX4" fmla="*/ 8898077 w 11795125"/>
              <a:gd name="connsiteY4" fmla="*/ 6858000 h 6858000"/>
              <a:gd name="connsiteX5" fmla="*/ 3070863 w 11795125"/>
              <a:gd name="connsiteY5" fmla="*/ 6858000 h 6858000"/>
              <a:gd name="connsiteX6" fmla="*/ 3094823 w 11795125"/>
              <a:gd name="connsiteY6" fmla="*/ 6809422 h 6858000"/>
              <a:gd name="connsiteX7" fmla="*/ 4345735 w 11795125"/>
              <a:gd name="connsiteY7" fmla="*/ 4639611 h 6858000"/>
              <a:gd name="connsiteX8" fmla="*/ 4729712 w 11795125"/>
              <a:gd name="connsiteY8" fmla="*/ 4417922 h 6858000"/>
              <a:gd name="connsiteX9" fmla="*/ 2031302 w 11795125"/>
              <a:gd name="connsiteY9" fmla="*/ 2039301 h 6858000"/>
              <a:gd name="connsiteX10" fmla="*/ 2747265 w 11795125"/>
              <a:gd name="connsiteY10" fmla="*/ 2039754 h 6858000"/>
              <a:gd name="connsiteX11" fmla="*/ 2859337 w 11795125"/>
              <a:gd name="connsiteY11" fmla="*/ 2104031 h 6858000"/>
              <a:gd name="connsiteX12" fmla="*/ 3218486 w 11795125"/>
              <a:gd name="connsiteY12" fmla="*/ 2726096 h 6858000"/>
              <a:gd name="connsiteX13" fmla="*/ 3217340 w 11795125"/>
              <a:gd name="connsiteY13" fmla="*/ 2853948 h 6858000"/>
              <a:gd name="connsiteX14" fmla="*/ 2860527 w 11795125"/>
              <a:gd name="connsiteY14" fmla="*/ 3475560 h 6858000"/>
              <a:gd name="connsiteX15" fmla="*/ 2750762 w 11795125"/>
              <a:gd name="connsiteY15" fmla="*/ 3538933 h 6858000"/>
              <a:gd name="connsiteX16" fmla="*/ 2034023 w 11795125"/>
              <a:gd name="connsiteY16" fmla="*/ 3537136 h 6858000"/>
              <a:gd name="connsiteX17" fmla="*/ 1922728 w 11795125"/>
              <a:gd name="connsiteY17" fmla="*/ 3474202 h 6858000"/>
              <a:gd name="connsiteX18" fmla="*/ 1563578 w 11795125"/>
              <a:gd name="connsiteY18" fmla="*/ 2852137 h 6858000"/>
              <a:gd name="connsiteX19" fmla="*/ 1563948 w 11795125"/>
              <a:gd name="connsiteY19" fmla="*/ 2722942 h 6858000"/>
              <a:gd name="connsiteX20" fmla="*/ 1921537 w 11795125"/>
              <a:gd name="connsiteY20" fmla="*/ 2102674 h 6858000"/>
              <a:gd name="connsiteX21" fmla="*/ 2031302 w 11795125"/>
              <a:gd name="connsiteY21" fmla="*/ 2039301 h 6858000"/>
              <a:gd name="connsiteX22" fmla="*/ 9343478 w 11795125"/>
              <a:gd name="connsiteY22" fmla="*/ 1795745 h 6858000"/>
              <a:gd name="connsiteX23" fmla="*/ 11620502 w 11795125"/>
              <a:gd name="connsiteY23" fmla="*/ 1797185 h 6858000"/>
              <a:gd name="connsiteX24" fmla="*/ 11795125 w 11795125"/>
              <a:gd name="connsiteY24" fmla="*/ 1797296 h 6858000"/>
              <a:gd name="connsiteX25" fmla="*/ 11795125 w 11795125"/>
              <a:gd name="connsiteY25" fmla="*/ 6858000 h 6858000"/>
              <a:gd name="connsiteX26" fmla="*/ 8996698 w 11795125"/>
              <a:gd name="connsiteY26" fmla="*/ 6858000 h 6858000"/>
              <a:gd name="connsiteX27" fmla="*/ 8963663 w 11795125"/>
              <a:gd name="connsiteY27" fmla="*/ 6815289 h 6858000"/>
              <a:gd name="connsiteX28" fmla="*/ 7707295 w 11795125"/>
              <a:gd name="connsiteY28" fmla="*/ 4639193 h 6858000"/>
              <a:gd name="connsiteX29" fmla="*/ 7708590 w 11795125"/>
              <a:gd name="connsiteY29" fmla="*/ 4187244 h 6858000"/>
              <a:gd name="connsiteX30" fmla="*/ 8959501 w 11795125"/>
              <a:gd name="connsiteY30" fmla="*/ 2017434 h 6858000"/>
              <a:gd name="connsiteX31" fmla="*/ 9343478 w 11795125"/>
              <a:gd name="connsiteY31" fmla="*/ 1795745 h 6858000"/>
              <a:gd name="connsiteX32" fmla="*/ 3102644 w 11795125"/>
              <a:gd name="connsiteY32" fmla="*/ 1739841 h 6858000"/>
              <a:gd name="connsiteX33" fmla="*/ 3385876 w 11795125"/>
              <a:gd name="connsiteY33" fmla="*/ 1740020 h 6858000"/>
              <a:gd name="connsiteX34" fmla="*/ 3430211 w 11795125"/>
              <a:gd name="connsiteY34" fmla="*/ 1765448 h 6858000"/>
              <a:gd name="connsiteX35" fmla="*/ 3572289 w 11795125"/>
              <a:gd name="connsiteY35" fmla="*/ 2011533 h 6858000"/>
              <a:gd name="connsiteX36" fmla="*/ 3571836 w 11795125"/>
              <a:gd name="connsiteY36" fmla="*/ 2062111 h 6858000"/>
              <a:gd name="connsiteX37" fmla="*/ 3430681 w 11795125"/>
              <a:gd name="connsiteY37" fmla="*/ 2308019 h 6858000"/>
              <a:gd name="connsiteX38" fmla="*/ 3387260 w 11795125"/>
              <a:gd name="connsiteY38" fmla="*/ 2333088 h 6858000"/>
              <a:gd name="connsiteX39" fmla="*/ 3103720 w 11795125"/>
              <a:gd name="connsiteY39" fmla="*/ 2332378 h 6858000"/>
              <a:gd name="connsiteX40" fmla="*/ 3059693 w 11795125"/>
              <a:gd name="connsiteY40" fmla="*/ 2307481 h 6858000"/>
              <a:gd name="connsiteX41" fmla="*/ 2917615 w 11795125"/>
              <a:gd name="connsiteY41" fmla="*/ 2061395 h 6858000"/>
              <a:gd name="connsiteX42" fmla="*/ 2917761 w 11795125"/>
              <a:gd name="connsiteY42" fmla="*/ 2010286 h 6858000"/>
              <a:gd name="connsiteX43" fmla="*/ 3059222 w 11795125"/>
              <a:gd name="connsiteY43" fmla="*/ 1764910 h 6858000"/>
              <a:gd name="connsiteX44" fmla="*/ 3102644 w 11795125"/>
              <a:gd name="connsiteY44" fmla="*/ 1739841 h 6858000"/>
              <a:gd name="connsiteX45" fmla="*/ 3522963 w 11795125"/>
              <a:gd name="connsiteY45" fmla="*/ 1598675 h 6858000"/>
              <a:gd name="connsiteX46" fmla="*/ 3625194 w 11795125"/>
              <a:gd name="connsiteY46" fmla="*/ 1598740 h 6858000"/>
              <a:gd name="connsiteX47" fmla="*/ 3641197 w 11795125"/>
              <a:gd name="connsiteY47" fmla="*/ 1607918 h 6858000"/>
              <a:gd name="connsiteX48" fmla="*/ 3692479 w 11795125"/>
              <a:gd name="connsiteY48" fmla="*/ 1696742 h 6858000"/>
              <a:gd name="connsiteX49" fmla="*/ 3692315 w 11795125"/>
              <a:gd name="connsiteY49" fmla="*/ 1714998 h 6858000"/>
              <a:gd name="connsiteX50" fmla="*/ 3641367 w 11795125"/>
              <a:gd name="connsiteY50" fmla="*/ 1803757 h 6858000"/>
              <a:gd name="connsiteX51" fmla="*/ 3625694 w 11795125"/>
              <a:gd name="connsiteY51" fmla="*/ 1812806 h 6858000"/>
              <a:gd name="connsiteX52" fmla="*/ 3523352 w 11795125"/>
              <a:gd name="connsiteY52" fmla="*/ 1812549 h 6858000"/>
              <a:gd name="connsiteX53" fmla="*/ 3507459 w 11795125"/>
              <a:gd name="connsiteY53" fmla="*/ 1803563 h 6858000"/>
              <a:gd name="connsiteX54" fmla="*/ 3456177 w 11795125"/>
              <a:gd name="connsiteY54" fmla="*/ 1714739 h 6858000"/>
              <a:gd name="connsiteX55" fmla="*/ 3456230 w 11795125"/>
              <a:gd name="connsiteY55" fmla="*/ 1696292 h 6858000"/>
              <a:gd name="connsiteX56" fmla="*/ 3507290 w 11795125"/>
              <a:gd name="connsiteY56" fmla="*/ 1607724 h 6858000"/>
              <a:gd name="connsiteX57" fmla="*/ 3522963 w 11795125"/>
              <a:gd name="connsiteY57" fmla="*/ 1598675 h 6858000"/>
              <a:gd name="connsiteX58" fmla="*/ 4199803 w 11795125"/>
              <a:gd name="connsiteY58" fmla="*/ 1370724 h 6858000"/>
              <a:gd name="connsiteX59" fmla="*/ 4537019 w 11795125"/>
              <a:gd name="connsiteY59" fmla="*/ 1370938 h 6858000"/>
              <a:gd name="connsiteX60" fmla="*/ 4589804 w 11795125"/>
              <a:gd name="connsiteY60" fmla="*/ 1401211 h 6858000"/>
              <a:gd name="connsiteX61" fmla="*/ 4758963 w 11795125"/>
              <a:gd name="connsiteY61" fmla="*/ 1694203 h 6858000"/>
              <a:gd name="connsiteX62" fmla="*/ 4758423 w 11795125"/>
              <a:gd name="connsiteY62" fmla="*/ 1754421 h 6858000"/>
              <a:gd name="connsiteX63" fmla="*/ 4590365 w 11795125"/>
              <a:gd name="connsiteY63" fmla="*/ 2047199 h 6858000"/>
              <a:gd name="connsiteX64" fmla="*/ 4538665 w 11795125"/>
              <a:gd name="connsiteY64" fmla="*/ 2077046 h 6858000"/>
              <a:gd name="connsiteX65" fmla="*/ 4201084 w 11795125"/>
              <a:gd name="connsiteY65" fmla="*/ 2076201 h 6858000"/>
              <a:gd name="connsiteX66" fmla="*/ 4148664 w 11795125"/>
              <a:gd name="connsiteY66" fmla="*/ 2046559 h 6858000"/>
              <a:gd name="connsiteX67" fmla="*/ 3979505 w 11795125"/>
              <a:gd name="connsiteY67" fmla="*/ 1753567 h 6858000"/>
              <a:gd name="connsiteX68" fmla="*/ 3979680 w 11795125"/>
              <a:gd name="connsiteY68" fmla="*/ 1692718 h 6858000"/>
              <a:gd name="connsiteX69" fmla="*/ 4148104 w 11795125"/>
              <a:gd name="connsiteY69" fmla="*/ 1400573 h 6858000"/>
              <a:gd name="connsiteX70" fmla="*/ 4199803 w 11795125"/>
              <a:gd name="connsiteY70" fmla="*/ 1370724 h 6858000"/>
              <a:gd name="connsiteX71" fmla="*/ 3525946 w 11795125"/>
              <a:gd name="connsiteY71" fmla="*/ 1141304 h 6858000"/>
              <a:gd name="connsiteX72" fmla="*/ 3719554 w 11795125"/>
              <a:gd name="connsiteY72" fmla="*/ 1141427 h 6858000"/>
              <a:gd name="connsiteX73" fmla="*/ 3749860 w 11795125"/>
              <a:gd name="connsiteY73" fmla="*/ 1158808 h 6858000"/>
              <a:gd name="connsiteX74" fmla="*/ 3846980 w 11795125"/>
              <a:gd name="connsiteY74" fmla="*/ 1327024 h 6858000"/>
              <a:gd name="connsiteX75" fmla="*/ 3846670 w 11795125"/>
              <a:gd name="connsiteY75" fmla="*/ 1361598 h 6858000"/>
              <a:gd name="connsiteX76" fmla="*/ 3750182 w 11795125"/>
              <a:gd name="connsiteY76" fmla="*/ 1529691 h 6858000"/>
              <a:gd name="connsiteX77" fmla="*/ 3720499 w 11795125"/>
              <a:gd name="connsiteY77" fmla="*/ 1546828 h 6858000"/>
              <a:gd name="connsiteX78" fmla="*/ 3526682 w 11795125"/>
              <a:gd name="connsiteY78" fmla="*/ 1546343 h 6858000"/>
              <a:gd name="connsiteX79" fmla="*/ 3496586 w 11795125"/>
              <a:gd name="connsiteY79" fmla="*/ 1529324 h 6858000"/>
              <a:gd name="connsiteX80" fmla="*/ 3399466 w 11795125"/>
              <a:gd name="connsiteY80" fmla="*/ 1361108 h 6858000"/>
              <a:gd name="connsiteX81" fmla="*/ 3399566 w 11795125"/>
              <a:gd name="connsiteY81" fmla="*/ 1326172 h 6858000"/>
              <a:gd name="connsiteX82" fmla="*/ 3496264 w 11795125"/>
              <a:gd name="connsiteY82" fmla="*/ 1158441 h 6858000"/>
              <a:gd name="connsiteX83" fmla="*/ 3525946 w 11795125"/>
              <a:gd name="connsiteY83" fmla="*/ 1141304 h 6858000"/>
              <a:gd name="connsiteX84" fmla="*/ 3955878 w 11795125"/>
              <a:gd name="connsiteY84" fmla="*/ 173494 h 6858000"/>
              <a:gd name="connsiteX85" fmla="*/ 4500068 w 11795125"/>
              <a:gd name="connsiteY85" fmla="*/ 173838 h 6858000"/>
              <a:gd name="connsiteX86" fmla="*/ 4585252 w 11795125"/>
              <a:gd name="connsiteY86" fmla="*/ 222694 h 6858000"/>
              <a:gd name="connsiteX87" fmla="*/ 4858234 w 11795125"/>
              <a:gd name="connsiteY87" fmla="*/ 695514 h 6858000"/>
              <a:gd name="connsiteX88" fmla="*/ 4857363 w 11795125"/>
              <a:gd name="connsiteY88" fmla="*/ 792690 h 6858000"/>
              <a:gd name="connsiteX89" fmla="*/ 4586156 w 11795125"/>
              <a:gd name="connsiteY89" fmla="*/ 1265167 h 6858000"/>
              <a:gd name="connsiteX90" fmla="*/ 4502727 w 11795125"/>
              <a:gd name="connsiteY90" fmla="*/ 1313334 h 6858000"/>
              <a:gd name="connsiteX91" fmla="*/ 3957947 w 11795125"/>
              <a:gd name="connsiteY91" fmla="*/ 1311968 h 6858000"/>
              <a:gd name="connsiteX92" fmla="*/ 3873354 w 11795125"/>
              <a:gd name="connsiteY92" fmla="*/ 1264134 h 6858000"/>
              <a:gd name="connsiteX93" fmla="*/ 3600372 w 11795125"/>
              <a:gd name="connsiteY93" fmla="*/ 791315 h 6858000"/>
              <a:gd name="connsiteX94" fmla="*/ 3600653 w 11795125"/>
              <a:gd name="connsiteY94" fmla="*/ 693116 h 6858000"/>
              <a:gd name="connsiteX95" fmla="*/ 3872449 w 11795125"/>
              <a:gd name="connsiteY95" fmla="*/ 221662 h 6858000"/>
              <a:gd name="connsiteX96" fmla="*/ 3955878 w 11795125"/>
              <a:gd name="connsiteY96" fmla="*/ 173494 h 6858000"/>
              <a:gd name="connsiteX97" fmla="*/ 3852283 w 11795125"/>
              <a:gd name="connsiteY97" fmla="*/ 0 h 6858000"/>
              <a:gd name="connsiteX98" fmla="*/ 6130031 w 11795125"/>
              <a:gd name="connsiteY98" fmla="*/ 0 h 6858000"/>
              <a:gd name="connsiteX99" fmla="*/ 6102465 w 11795125"/>
              <a:gd name="connsiteY99" fmla="*/ 36730 h 6858000"/>
              <a:gd name="connsiteX100" fmla="*/ 5879948 w 11795125"/>
              <a:gd name="connsiteY100" fmla="*/ 127724 h 6858000"/>
              <a:gd name="connsiteX101" fmla="*/ 4102884 w 11795125"/>
              <a:gd name="connsiteY101" fmla="*/ 123270 h 6858000"/>
              <a:gd name="connsiteX102" fmla="*/ 3877665 w 11795125"/>
              <a:gd name="connsiteY102" fmla="*/ 32818 h 6858000"/>
              <a:gd name="connsiteX103" fmla="*/ 0 w 11795125"/>
              <a:gd name="connsiteY103" fmla="*/ 0 h 6858000"/>
              <a:gd name="connsiteX104" fmla="*/ 3781476 w 11795125"/>
              <a:gd name="connsiteY104" fmla="*/ 0 h 6858000"/>
              <a:gd name="connsiteX105" fmla="*/ 3800985 w 11795125"/>
              <a:gd name="connsiteY105" fmla="*/ 47617 h 6858000"/>
              <a:gd name="connsiteX106" fmla="*/ 3766711 w 11795125"/>
              <a:gd name="connsiteY106" fmla="*/ 287889 h 6858000"/>
              <a:gd name="connsiteX107" fmla="*/ 2882037 w 11795125"/>
              <a:gd name="connsiteY107" fmla="*/ 1829098 h 6858000"/>
              <a:gd name="connsiteX108" fmla="*/ 2609888 w 11795125"/>
              <a:gd name="connsiteY108" fmla="*/ 1986223 h 6858000"/>
              <a:gd name="connsiteX109" fmla="*/ 832823 w 11795125"/>
              <a:gd name="connsiteY109" fmla="*/ 1981768 h 6858000"/>
              <a:gd name="connsiteX110" fmla="*/ 556879 w 11795125"/>
              <a:gd name="connsiteY110" fmla="*/ 1825733 h 6858000"/>
              <a:gd name="connsiteX111" fmla="*/ 79254 w 11795125"/>
              <a:gd name="connsiteY111" fmla="*/ 998462 h 6858000"/>
              <a:gd name="connsiteX112" fmla="*/ 0 w 11795125"/>
              <a:gd name="connsiteY112" fmla="*/ 8611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1795125" h="6858000">
                <a:moveTo>
                  <a:pt x="4729712" y="4417922"/>
                </a:moveTo>
                <a:cubicBezTo>
                  <a:pt x="4729712" y="4417922"/>
                  <a:pt x="4729712" y="4417922"/>
                  <a:pt x="7234278" y="4419507"/>
                </a:cubicBezTo>
                <a:cubicBezTo>
                  <a:pt x="7396730" y="4419716"/>
                  <a:pt x="7544918" y="4503359"/>
                  <a:pt x="7626325" y="4644358"/>
                </a:cubicBezTo>
                <a:cubicBezTo>
                  <a:pt x="7626325" y="4644358"/>
                  <a:pt x="7626325" y="4644358"/>
                  <a:pt x="8882694" y="6820455"/>
                </a:cubicBezTo>
                <a:lnTo>
                  <a:pt x="8898077" y="6858000"/>
                </a:lnTo>
                <a:lnTo>
                  <a:pt x="3070863" y="6858000"/>
                </a:lnTo>
                <a:lnTo>
                  <a:pt x="3094823" y="6809422"/>
                </a:lnTo>
                <a:cubicBezTo>
                  <a:pt x="3094823" y="6809422"/>
                  <a:pt x="3094823" y="6809422"/>
                  <a:pt x="4345735" y="4639611"/>
                </a:cubicBezTo>
                <a:cubicBezTo>
                  <a:pt x="4422097" y="4501523"/>
                  <a:pt x="4571941" y="4415010"/>
                  <a:pt x="4729712" y="4417922"/>
                </a:cubicBezTo>
                <a:close/>
                <a:moveTo>
                  <a:pt x="2031302" y="2039301"/>
                </a:moveTo>
                <a:cubicBezTo>
                  <a:pt x="2031302" y="2039301"/>
                  <a:pt x="2031302" y="2039301"/>
                  <a:pt x="2747265" y="2039754"/>
                </a:cubicBezTo>
                <a:cubicBezTo>
                  <a:pt x="2793703" y="2039814"/>
                  <a:pt x="2836066" y="2063724"/>
                  <a:pt x="2859337" y="2104031"/>
                </a:cubicBezTo>
                <a:cubicBezTo>
                  <a:pt x="2859337" y="2104031"/>
                  <a:pt x="2859337" y="2104031"/>
                  <a:pt x="3218486" y="2726096"/>
                </a:cubicBezTo>
                <a:cubicBezTo>
                  <a:pt x="3240981" y="2765058"/>
                  <a:pt x="3241283" y="2815045"/>
                  <a:pt x="3217340" y="2853948"/>
                </a:cubicBezTo>
                <a:cubicBezTo>
                  <a:pt x="3217340" y="2853948"/>
                  <a:pt x="3217340" y="2853948"/>
                  <a:pt x="2860527" y="3475560"/>
                </a:cubicBezTo>
                <a:cubicBezTo>
                  <a:pt x="2838697" y="3515034"/>
                  <a:pt x="2795862" y="3539765"/>
                  <a:pt x="2750762" y="3538933"/>
                </a:cubicBezTo>
                <a:cubicBezTo>
                  <a:pt x="2750762" y="3538933"/>
                  <a:pt x="2750762" y="3538933"/>
                  <a:pt x="2034023" y="3537136"/>
                </a:cubicBezTo>
                <a:cubicBezTo>
                  <a:pt x="1988359" y="3538420"/>
                  <a:pt x="1945223" y="3513165"/>
                  <a:pt x="1922728" y="3474202"/>
                </a:cubicBezTo>
                <a:cubicBezTo>
                  <a:pt x="1922728" y="3474202"/>
                  <a:pt x="1922728" y="3474202"/>
                  <a:pt x="1563578" y="2852137"/>
                </a:cubicBezTo>
                <a:cubicBezTo>
                  <a:pt x="1540307" y="2811831"/>
                  <a:pt x="1540780" y="2763190"/>
                  <a:pt x="1563948" y="2722942"/>
                </a:cubicBezTo>
                <a:cubicBezTo>
                  <a:pt x="1563948" y="2722942"/>
                  <a:pt x="1563948" y="2722942"/>
                  <a:pt x="1921537" y="2102674"/>
                </a:cubicBezTo>
                <a:cubicBezTo>
                  <a:pt x="1943366" y="2063199"/>
                  <a:pt x="1986202" y="2038468"/>
                  <a:pt x="2031302" y="2039301"/>
                </a:cubicBezTo>
                <a:close/>
                <a:moveTo>
                  <a:pt x="9343478" y="1795745"/>
                </a:moveTo>
                <a:cubicBezTo>
                  <a:pt x="9343478" y="1795745"/>
                  <a:pt x="9343478" y="1795745"/>
                  <a:pt x="11620502" y="1797185"/>
                </a:cubicBezTo>
                <a:lnTo>
                  <a:pt x="11795125" y="1797296"/>
                </a:lnTo>
                <a:lnTo>
                  <a:pt x="11795125" y="6858000"/>
                </a:lnTo>
                <a:lnTo>
                  <a:pt x="8996698" y="6858000"/>
                </a:lnTo>
                <a:lnTo>
                  <a:pt x="8963663" y="6815289"/>
                </a:lnTo>
                <a:cubicBezTo>
                  <a:pt x="8963663" y="6815289"/>
                  <a:pt x="8963663" y="6815289"/>
                  <a:pt x="7707295" y="4639193"/>
                </a:cubicBezTo>
                <a:cubicBezTo>
                  <a:pt x="7625888" y="4498193"/>
                  <a:pt x="7627546" y="4328036"/>
                  <a:pt x="7708590" y="4187244"/>
                </a:cubicBezTo>
                <a:cubicBezTo>
                  <a:pt x="7708590" y="4187244"/>
                  <a:pt x="7708590" y="4187244"/>
                  <a:pt x="8959501" y="2017434"/>
                </a:cubicBezTo>
                <a:cubicBezTo>
                  <a:pt x="9035863" y="1879345"/>
                  <a:pt x="9185707" y="1792833"/>
                  <a:pt x="9343478" y="1795745"/>
                </a:cubicBezTo>
                <a:close/>
                <a:moveTo>
                  <a:pt x="3102644" y="1739841"/>
                </a:moveTo>
                <a:cubicBezTo>
                  <a:pt x="3102644" y="1739841"/>
                  <a:pt x="3102644" y="1739841"/>
                  <a:pt x="3385876" y="1740020"/>
                </a:cubicBezTo>
                <a:cubicBezTo>
                  <a:pt x="3404247" y="1740043"/>
                  <a:pt x="3421005" y="1749503"/>
                  <a:pt x="3430211" y="1765448"/>
                </a:cubicBezTo>
                <a:cubicBezTo>
                  <a:pt x="3430211" y="1765448"/>
                  <a:pt x="3430211" y="1765448"/>
                  <a:pt x="3572289" y="2011533"/>
                </a:cubicBezTo>
                <a:cubicBezTo>
                  <a:pt x="3581188" y="2026948"/>
                  <a:pt x="3581308" y="2046721"/>
                  <a:pt x="3571836" y="2062111"/>
                </a:cubicBezTo>
                <a:cubicBezTo>
                  <a:pt x="3571836" y="2062111"/>
                  <a:pt x="3571836" y="2062111"/>
                  <a:pt x="3430681" y="2308019"/>
                </a:cubicBezTo>
                <a:cubicBezTo>
                  <a:pt x="3422046" y="2323634"/>
                  <a:pt x="3405101" y="2333418"/>
                  <a:pt x="3387260" y="2333088"/>
                </a:cubicBezTo>
                <a:cubicBezTo>
                  <a:pt x="3387260" y="2333088"/>
                  <a:pt x="3387260" y="2333088"/>
                  <a:pt x="3103720" y="2332378"/>
                </a:cubicBezTo>
                <a:cubicBezTo>
                  <a:pt x="3085656" y="2332886"/>
                  <a:pt x="3068592" y="2322895"/>
                  <a:pt x="3059693" y="2307481"/>
                </a:cubicBezTo>
                <a:cubicBezTo>
                  <a:pt x="3059693" y="2307481"/>
                  <a:pt x="3059693" y="2307481"/>
                  <a:pt x="2917615" y="2061395"/>
                </a:cubicBezTo>
                <a:cubicBezTo>
                  <a:pt x="2908409" y="2045450"/>
                  <a:pt x="2908596" y="2026208"/>
                  <a:pt x="2917761" y="2010286"/>
                </a:cubicBezTo>
                <a:cubicBezTo>
                  <a:pt x="2917761" y="2010286"/>
                  <a:pt x="2917761" y="2010286"/>
                  <a:pt x="3059222" y="1764910"/>
                </a:cubicBezTo>
                <a:cubicBezTo>
                  <a:pt x="3067857" y="1749295"/>
                  <a:pt x="3084803" y="1739511"/>
                  <a:pt x="3102644" y="1739841"/>
                </a:cubicBezTo>
                <a:close/>
                <a:moveTo>
                  <a:pt x="3522963" y="1598675"/>
                </a:moveTo>
                <a:cubicBezTo>
                  <a:pt x="3522963" y="1598675"/>
                  <a:pt x="3522963" y="1598675"/>
                  <a:pt x="3625194" y="1598740"/>
                </a:cubicBezTo>
                <a:cubicBezTo>
                  <a:pt x="3631826" y="1598748"/>
                  <a:pt x="3637874" y="1602162"/>
                  <a:pt x="3641197" y="1607918"/>
                </a:cubicBezTo>
                <a:cubicBezTo>
                  <a:pt x="3641197" y="1607918"/>
                  <a:pt x="3641197" y="1607918"/>
                  <a:pt x="3692479" y="1696742"/>
                </a:cubicBezTo>
                <a:cubicBezTo>
                  <a:pt x="3695691" y="1702305"/>
                  <a:pt x="3695735" y="1709443"/>
                  <a:pt x="3692315" y="1714998"/>
                </a:cubicBezTo>
                <a:cubicBezTo>
                  <a:pt x="3692315" y="1714998"/>
                  <a:pt x="3692315" y="1714998"/>
                  <a:pt x="3641367" y="1803757"/>
                </a:cubicBezTo>
                <a:cubicBezTo>
                  <a:pt x="3638250" y="1809393"/>
                  <a:pt x="3632134" y="1812924"/>
                  <a:pt x="3625694" y="1812806"/>
                </a:cubicBezTo>
                <a:cubicBezTo>
                  <a:pt x="3625694" y="1812806"/>
                  <a:pt x="3625694" y="1812806"/>
                  <a:pt x="3523352" y="1812549"/>
                </a:cubicBezTo>
                <a:cubicBezTo>
                  <a:pt x="3516832" y="1812733"/>
                  <a:pt x="3510671" y="1809127"/>
                  <a:pt x="3507459" y="1803563"/>
                </a:cubicBezTo>
                <a:cubicBezTo>
                  <a:pt x="3507459" y="1803563"/>
                  <a:pt x="3507459" y="1803563"/>
                  <a:pt x="3456177" y="1714739"/>
                </a:cubicBezTo>
                <a:cubicBezTo>
                  <a:pt x="3452854" y="1708984"/>
                  <a:pt x="3452922" y="1702038"/>
                  <a:pt x="3456230" y="1696292"/>
                </a:cubicBezTo>
                <a:cubicBezTo>
                  <a:pt x="3456230" y="1696292"/>
                  <a:pt x="3456230" y="1696292"/>
                  <a:pt x="3507290" y="1607724"/>
                </a:cubicBezTo>
                <a:cubicBezTo>
                  <a:pt x="3510406" y="1602087"/>
                  <a:pt x="3516523" y="1598556"/>
                  <a:pt x="3522963" y="1598675"/>
                </a:cubicBezTo>
                <a:close/>
                <a:moveTo>
                  <a:pt x="4199803" y="1370724"/>
                </a:moveTo>
                <a:cubicBezTo>
                  <a:pt x="4199803" y="1370724"/>
                  <a:pt x="4199803" y="1370724"/>
                  <a:pt x="4537019" y="1370938"/>
                </a:cubicBezTo>
                <a:cubicBezTo>
                  <a:pt x="4558892" y="1370965"/>
                  <a:pt x="4578843" y="1382227"/>
                  <a:pt x="4589804" y="1401211"/>
                </a:cubicBezTo>
                <a:cubicBezTo>
                  <a:pt x="4589804" y="1401211"/>
                  <a:pt x="4589804" y="1401211"/>
                  <a:pt x="4758963" y="1694203"/>
                </a:cubicBezTo>
                <a:cubicBezTo>
                  <a:pt x="4769558" y="1712554"/>
                  <a:pt x="4769700" y="1736097"/>
                  <a:pt x="4758423" y="1754421"/>
                </a:cubicBezTo>
                <a:cubicBezTo>
                  <a:pt x="4758423" y="1754421"/>
                  <a:pt x="4758423" y="1754421"/>
                  <a:pt x="4590365" y="2047199"/>
                </a:cubicBezTo>
                <a:cubicBezTo>
                  <a:pt x="4580083" y="2065790"/>
                  <a:pt x="4559908" y="2077438"/>
                  <a:pt x="4538665" y="2077046"/>
                </a:cubicBezTo>
                <a:cubicBezTo>
                  <a:pt x="4538665" y="2077046"/>
                  <a:pt x="4538665" y="2077046"/>
                  <a:pt x="4201084" y="2076201"/>
                </a:cubicBezTo>
                <a:cubicBezTo>
                  <a:pt x="4179577" y="2076805"/>
                  <a:pt x="4159259" y="2064910"/>
                  <a:pt x="4148664" y="2046559"/>
                </a:cubicBezTo>
                <a:cubicBezTo>
                  <a:pt x="4148664" y="2046559"/>
                  <a:pt x="4148664" y="2046559"/>
                  <a:pt x="3979505" y="1753567"/>
                </a:cubicBezTo>
                <a:cubicBezTo>
                  <a:pt x="3968545" y="1734583"/>
                  <a:pt x="3968768" y="1711673"/>
                  <a:pt x="3979680" y="1692718"/>
                </a:cubicBezTo>
                <a:cubicBezTo>
                  <a:pt x="3979680" y="1692718"/>
                  <a:pt x="3979680" y="1692718"/>
                  <a:pt x="4148104" y="1400573"/>
                </a:cubicBezTo>
                <a:cubicBezTo>
                  <a:pt x="4158385" y="1381980"/>
                  <a:pt x="4178560" y="1370332"/>
                  <a:pt x="4199803" y="1370724"/>
                </a:cubicBezTo>
                <a:close/>
                <a:moveTo>
                  <a:pt x="3525946" y="1141304"/>
                </a:moveTo>
                <a:cubicBezTo>
                  <a:pt x="3525946" y="1141304"/>
                  <a:pt x="3525946" y="1141304"/>
                  <a:pt x="3719554" y="1141427"/>
                </a:cubicBezTo>
                <a:cubicBezTo>
                  <a:pt x="3732112" y="1141443"/>
                  <a:pt x="3743567" y="1147909"/>
                  <a:pt x="3749860" y="1158808"/>
                </a:cubicBezTo>
                <a:cubicBezTo>
                  <a:pt x="3749860" y="1158808"/>
                  <a:pt x="3749860" y="1158808"/>
                  <a:pt x="3846980" y="1327024"/>
                </a:cubicBezTo>
                <a:cubicBezTo>
                  <a:pt x="3853063" y="1337561"/>
                  <a:pt x="3853144" y="1351077"/>
                  <a:pt x="3846670" y="1361598"/>
                </a:cubicBezTo>
                <a:cubicBezTo>
                  <a:pt x="3846670" y="1361598"/>
                  <a:pt x="3846670" y="1361598"/>
                  <a:pt x="3750182" y="1529691"/>
                </a:cubicBezTo>
                <a:cubicBezTo>
                  <a:pt x="3744279" y="1540366"/>
                  <a:pt x="3732695" y="1547054"/>
                  <a:pt x="3720499" y="1546828"/>
                </a:cubicBezTo>
                <a:cubicBezTo>
                  <a:pt x="3720499" y="1546828"/>
                  <a:pt x="3720499" y="1546828"/>
                  <a:pt x="3526682" y="1546343"/>
                </a:cubicBezTo>
                <a:cubicBezTo>
                  <a:pt x="3514334" y="1546689"/>
                  <a:pt x="3502669" y="1539861"/>
                  <a:pt x="3496586" y="1529324"/>
                </a:cubicBezTo>
                <a:cubicBezTo>
                  <a:pt x="3496586" y="1529324"/>
                  <a:pt x="3496586" y="1529324"/>
                  <a:pt x="3399466" y="1361108"/>
                </a:cubicBezTo>
                <a:cubicBezTo>
                  <a:pt x="3393173" y="1350208"/>
                  <a:pt x="3393302" y="1337055"/>
                  <a:pt x="3399566" y="1326172"/>
                </a:cubicBezTo>
                <a:cubicBezTo>
                  <a:pt x="3399566" y="1326172"/>
                  <a:pt x="3399566" y="1326172"/>
                  <a:pt x="3496264" y="1158441"/>
                </a:cubicBezTo>
                <a:cubicBezTo>
                  <a:pt x="3502167" y="1147767"/>
                  <a:pt x="3513750" y="1141079"/>
                  <a:pt x="3525946" y="1141304"/>
                </a:cubicBezTo>
                <a:close/>
                <a:moveTo>
                  <a:pt x="3955878" y="173494"/>
                </a:moveTo>
                <a:cubicBezTo>
                  <a:pt x="3955878" y="173494"/>
                  <a:pt x="3955878" y="173494"/>
                  <a:pt x="4500068" y="173838"/>
                </a:cubicBezTo>
                <a:cubicBezTo>
                  <a:pt x="4535365" y="173884"/>
                  <a:pt x="4567564" y="192057"/>
                  <a:pt x="4585252" y="222694"/>
                </a:cubicBezTo>
                <a:cubicBezTo>
                  <a:pt x="4585252" y="222694"/>
                  <a:pt x="4585252" y="222694"/>
                  <a:pt x="4858234" y="695514"/>
                </a:cubicBezTo>
                <a:cubicBezTo>
                  <a:pt x="4875332" y="725128"/>
                  <a:pt x="4875562" y="763121"/>
                  <a:pt x="4857363" y="792690"/>
                </a:cubicBezTo>
                <a:cubicBezTo>
                  <a:pt x="4857363" y="792690"/>
                  <a:pt x="4857363" y="792690"/>
                  <a:pt x="4586156" y="1265167"/>
                </a:cubicBezTo>
                <a:cubicBezTo>
                  <a:pt x="4569564" y="1295169"/>
                  <a:pt x="4537006" y="1313967"/>
                  <a:pt x="4502727" y="1313334"/>
                </a:cubicBezTo>
                <a:cubicBezTo>
                  <a:pt x="4502727" y="1313334"/>
                  <a:pt x="4502727" y="1313334"/>
                  <a:pt x="3957947" y="1311968"/>
                </a:cubicBezTo>
                <a:cubicBezTo>
                  <a:pt x="3923239" y="1312944"/>
                  <a:pt x="3890452" y="1293749"/>
                  <a:pt x="3873354" y="1264134"/>
                </a:cubicBezTo>
                <a:cubicBezTo>
                  <a:pt x="3873354" y="1264134"/>
                  <a:pt x="3873354" y="1264134"/>
                  <a:pt x="3600372" y="791315"/>
                </a:cubicBezTo>
                <a:cubicBezTo>
                  <a:pt x="3582684" y="760678"/>
                  <a:pt x="3583043" y="723707"/>
                  <a:pt x="3600653" y="693116"/>
                </a:cubicBezTo>
                <a:cubicBezTo>
                  <a:pt x="3600653" y="693116"/>
                  <a:pt x="3600653" y="693116"/>
                  <a:pt x="3872449" y="221662"/>
                </a:cubicBezTo>
                <a:cubicBezTo>
                  <a:pt x="3889041" y="191658"/>
                  <a:pt x="3921599" y="172861"/>
                  <a:pt x="3955878" y="173494"/>
                </a:cubicBezTo>
                <a:close/>
                <a:moveTo>
                  <a:pt x="3852283" y="0"/>
                </a:moveTo>
                <a:lnTo>
                  <a:pt x="6130031" y="0"/>
                </a:lnTo>
                <a:lnTo>
                  <a:pt x="6102465" y="36730"/>
                </a:lnTo>
                <a:cubicBezTo>
                  <a:pt x="6044520" y="95168"/>
                  <a:pt x="5963814" y="129272"/>
                  <a:pt x="5879948" y="127724"/>
                </a:cubicBezTo>
                <a:cubicBezTo>
                  <a:pt x="5879948" y="127724"/>
                  <a:pt x="5879948" y="127724"/>
                  <a:pt x="4102884" y="123270"/>
                </a:cubicBezTo>
                <a:cubicBezTo>
                  <a:pt x="4017972" y="125657"/>
                  <a:pt x="3936583" y="91034"/>
                  <a:pt x="3877665" y="32818"/>
                </a:cubicBezTo>
                <a:close/>
                <a:moveTo>
                  <a:pt x="0" y="0"/>
                </a:moveTo>
                <a:lnTo>
                  <a:pt x="3781476" y="0"/>
                </a:lnTo>
                <a:lnTo>
                  <a:pt x="3800985" y="47617"/>
                </a:lnTo>
                <a:cubicBezTo>
                  <a:pt x="3821943" y="127749"/>
                  <a:pt x="3811234" y="215546"/>
                  <a:pt x="3766711" y="287889"/>
                </a:cubicBezTo>
                <a:cubicBezTo>
                  <a:pt x="3766711" y="287889"/>
                  <a:pt x="3766711" y="287889"/>
                  <a:pt x="2882037" y="1829098"/>
                </a:cubicBezTo>
                <a:cubicBezTo>
                  <a:pt x="2827913" y="1926970"/>
                  <a:pt x="2721708" y="1988287"/>
                  <a:pt x="2609888" y="1986223"/>
                </a:cubicBezTo>
                <a:cubicBezTo>
                  <a:pt x="2609888" y="1986223"/>
                  <a:pt x="2609888" y="1986223"/>
                  <a:pt x="832823" y="1981768"/>
                </a:cubicBezTo>
                <a:cubicBezTo>
                  <a:pt x="719607" y="1984952"/>
                  <a:pt x="612654" y="1922338"/>
                  <a:pt x="556879" y="1825733"/>
                </a:cubicBezTo>
                <a:cubicBezTo>
                  <a:pt x="556879" y="1825733"/>
                  <a:pt x="556879" y="1825733"/>
                  <a:pt x="79254" y="998462"/>
                </a:cubicBezTo>
                <a:lnTo>
                  <a:pt x="0" y="861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864000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divider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76219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81149" y="1684742"/>
            <a:ext cx="4904790" cy="433376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04986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4B33BB-8F3A-42CE-BBDA-D08AA326673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282692" y="432000"/>
            <a:ext cx="5511800" cy="5760000"/>
          </a:xfrm>
          <a:custGeom>
            <a:avLst/>
            <a:gdLst>
              <a:gd name="connsiteX0" fmla="*/ 193823 w 5511800"/>
              <a:gd name="connsiteY0" fmla="*/ 0 h 5760000"/>
              <a:gd name="connsiteX1" fmla="*/ 5511800 w 5511800"/>
              <a:gd name="connsiteY1" fmla="*/ 0 h 5760000"/>
              <a:gd name="connsiteX2" fmla="*/ 5511800 w 5511800"/>
              <a:gd name="connsiteY2" fmla="*/ 5760000 h 5760000"/>
              <a:gd name="connsiteX3" fmla="*/ 193823 w 5511800"/>
              <a:gd name="connsiteY3" fmla="*/ 5760000 h 5760000"/>
              <a:gd name="connsiteX4" fmla="*/ 3937 w 5511800"/>
              <a:gd name="connsiteY4" fmla="*/ 5605239 h 5760000"/>
              <a:gd name="connsiteX5" fmla="*/ 0 w 5511800"/>
              <a:gd name="connsiteY5" fmla="*/ 5566186 h 5760000"/>
              <a:gd name="connsiteX6" fmla="*/ 0 w 5511800"/>
              <a:gd name="connsiteY6" fmla="*/ 193814 h 5760000"/>
              <a:gd name="connsiteX7" fmla="*/ 3937 w 5511800"/>
              <a:gd name="connsiteY7" fmla="*/ 154762 h 5760000"/>
              <a:gd name="connsiteX8" fmla="*/ 193823 w 5511800"/>
              <a:gd name="connsiteY8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11800" h="5760000">
                <a:moveTo>
                  <a:pt x="193823" y="0"/>
                </a:moveTo>
                <a:lnTo>
                  <a:pt x="5511800" y="0"/>
                </a:lnTo>
                <a:lnTo>
                  <a:pt x="5511800" y="5760000"/>
                </a:lnTo>
                <a:lnTo>
                  <a:pt x="193823" y="5760000"/>
                </a:lnTo>
                <a:cubicBezTo>
                  <a:pt x="100158" y="5760000"/>
                  <a:pt x="22011" y="5693561"/>
                  <a:pt x="3937" y="5605239"/>
                </a:cubicBezTo>
                <a:lnTo>
                  <a:pt x="0" y="5566186"/>
                </a:lnTo>
                <a:lnTo>
                  <a:pt x="0" y="193814"/>
                </a:lnTo>
                <a:lnTo>
                  <a:pt x="3937" y="154762"/>
                </a:lnTo>
                <a:cubicBezTo>
                  <a:pt x="22011" y="66440"/>
                  <a:pt x="100158" y="0"/>
                  <a:pt x="193823" y="0"/>
                </a:cubicBezTo>
                <a:close/>
              </a:path>
            </a:pathLst>
          </a:custGeom>
        </p:spPr>
        <p:txBody>
          <a:bodyPr wrap="square" tIns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72673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12170" y="237629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317B12-44C8-4227-9EB8-973D2226E63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812420" y="117614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AD2255F-36DA-4BDE-B54D-F94F14B68B6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812419" y="3552739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</p:spTree>
    <p:extLst>
      <p:ext uri="{BB962C8B-B14F-4D97-AF65-F5344CB8AC3E}">
        <p14:creationId xmlns:p14="http://schemas.microsoft.com/office/powerpoint/2010/main" val="388442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CD92D281-07CD-478F-9BF5-BA7D43439A3D}"/>
              </a:ext>
            </a:extLst>
          </p:cNvPr>
          <p:cNvSpPr>
            <a:spLocks noChangeAspect="1"/>
          </p:cNvSpPr>
          <p:nvPr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2C53265-8805-42B3-82B4-151EFBC42731}"/>
              </a:ext>
            </a:extLst>
          </p:cNvPr>
          <p:cNvSpPr>
            <a:spLocks noChangeAspect="1"/>
          </p:cNvSpPr>
          <p:nvPr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0111EB4-98AF-4EB7-878B-31FD32A95141}"/>
              </a:ext>
            </a:extLst>
          </p:cNvPr>
          <p:cNvSpPr>
            <a:spLocks noChangeAspect="1"/>
          </p:cNvSpPr>
          <p:nvPr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33809002-30A9-49C0-BE36-B14DD1E4D872}"/>
              </a:ext>
            </a:extLst>
          </p:cNvPr>
          <p:cNvSpPr>
            <a:spLocks noChangeAspect="1"/>
          </p:cNvSpPr>
          <p:nvPr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FFD5C582-B212-4ADA-AB1B-0481AA39C3A9}"/>
              </a:ext>
            </a:extLst>
          </p:cNvPr>
          <p:cNvSpPr>
            <a:spLocks noChangeAspect="1"/>
          </p:cNvSpPr>
          <p:nvPr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71282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1771313" cy="61912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C3BEE7-44AC-45BC-B4E7-93E3454EB8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0687" y="5066452"/>
            <a:ext cx="4459766" cy="539345"/>
          </a:xfrm>
          <a:prstGeom prst="roundRect">
            <a:avLst>
              <a:gd name="adj" fmla="val 10086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108000" rIns="180000" bIns="0" anchor="t"/>
          <a:lstStyle>
            <a:lvl1pPr algn="l">
              <a:lnSpc>
                <a:spcPct val="100000"/>
              </a:lnSpc>
              <a:defRPr sz="1800" b="0" spc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Enter your caption</a:t>
            </a:r>
          </a:p>
        </p:txBody>
      </p:sp>
    </p:spTree>
    <p:extLst>
      <p:ext uri="{BB962C8B-B14F-4D97-AF65-F5344CB8AC3E}">
        <p14:creationId xmlns:p14="http://schemas.microsoft.com/office/powerpoint/2010/main" val="2361043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D31C544-1372-4B34-8149-B6058B8CC577}"/>
              </a:ext>
            </a:extLst>
          </p:cNvPr>
          <p:cNvSpPr/>
          <p:nvPr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2598CA-3443-4098-80E7-1F16DC9A13CC}"/>
              </a:ext>
            </a:extLst>
          </p:cNvPr>
          <p:cNvSpPr/>
          <p:nvPr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E421EAA-68E8-4AED-BA2F-01A6AC6685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834640"/>
            <a:ext cx="4459766" cy="2720356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907C852-B0E0-4C2E-88CE-B543605961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4849" y="3859066"/>
            <a:ext cx="3521514" cy="288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84C0BEF-F601-4B10-8AEE-4859FE996B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34849" y="4220189"/>
            <a:ext cx="3521514" cy="288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3A6EF9B-EF2F-4949-9CC4-C16BF8DC8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4849" y="4581312"/>
            <a:ext cx="3521514" cy="288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E8CA170-9CA9-448E-B07A-E01AB84F7F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849" y="4942435"/>
            <a:ext cx="3521514" cy="288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</p:spTree>
    <p:extLst>
      <p:ext uri="{BB962C8B-B14F-4D97-AF65-F5344CB8AC3E}">
        <p14:creationId xmlns:p14="http://schemas.microsoft.com/office/powerpoint/2010/main" val="355818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FA90A43-BEC4-4B20-96E2-797B03FB82F2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430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A2C2023-6C37-4611-ACAF-5F2060202836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817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8559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87399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06C51E8-C5C0-4672-B456-F44C69B074DB}"/>
              </a:ext>
            </a:extLst>
          </p:cNvPr>
          <p:cNvSpPr>
            <a:spLocks noChangeAspect="1"/>
          </p:cNvSpPr>
          <p:nvPr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DE9AE8C-7574-4D45-B521-6B18054DA7C5}"/>
              </a:ext>
            </a:extLst>
          </p:cNvPr>
          <p:cNvSpPr>
            <a:spLocks noChangeAspect="1"/>
          </p:cNvSpPr>
          <p:nvPr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EF240172-5930-4717-A0CD-A151075277D6}"/>
              </a:ext>
            </a:extLst>
          </p:cNvPr>
          <p:cNvSpPr>
            <a:spLocks noChangeAspect="1"/>
          </p:cNvSpPr>
          <p:nvPr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7B4A83CE-8643-4697-94A9-C9F587F46E23}"/>
              </a:ext>
            </a:extLst>
          </p:cNvPr>
          <p:cNvSpPr>
            <a:spLocks noChangeAspect="1"/>
          </p:cNvSpPr>
          <p:nvPr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B0A765A5-BBCE-405E-A4B3-80A660118E84}"/>
              </a:ext>
            </a:extLst>
          </p:cNvPr>
          <p:cNvSpPr>
            <a:spLocks noChangeAspect="1"/>
          </p:cNvSpPr>
          <p:nvPr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57842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>
            <a:extLst>
              <a:ext uri="{FF2B5EF4-FFF2-40B4-BE49-F238E27FC236}">
                <a16:creationId xmlns:a16="http://schemas.microsoft.com/office/drawing/2014/main" id="{12B8F0DB-CC25-4CE9-A68E-CAA2FD986AF3}"/>
              </a:ext>
            </a:extLst>
          </p:cNvPr>
          <p:cNvSpPr>
            <a:spLocks noChangeAspect="1"/>
          </p:cNvSpPr>
          <p:nvPr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8A058973-2DC9-4087-9D57-F1D779F56CC2}"/>
              </a:ext>
            </a:extLst>
          </p:cNvPr>
          <p:cNvSpPr>
            <a:spLocks noChangeAspect="1"/>
          </p:cNvSpPr>
          <p:nvPr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B641062D-3CD4-49D1-A621-331E29333406}"/>
              </a:ext>
            </a:extLst>
          </p:cNvPr>
          <p:cNvSpPr>
            <a:spLocks noChangeAspect="1"/>
          </p:cNvSpPr>
          <p:nvPr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F2C1E7C-A088-4772-84B3-15309BEADF7D}"/>
              </a:ext>
            </a:extLst>
          </p:cNvPr>
          <p:cNvSpPr>
            <a:spLocks noChangeAspect="1"/>
          </p:cNvSpPr>
          <p:nvPr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CA52278A-6924-4F97-A196-AE30D3DACB7A}"/>
              </a:ext>
            </a:extLst>
          </p:cNvPr>
          <p:cNvSpPr>
            <a:spLocks noChangeAspect="1"/>
          </p:cNvSpPr>
          <p:nvPr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divider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45839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8663BD7B-5136-47ED-BE0A-C6C2F5622BDC}"/>
              </a:ext>
            </a:extLst>
          </p:cNvPr>
          <p:cNvSpPr>
            <a:spLocks noChangeAspect="1"/>
          </p:cNvSpPr>
          <p:nvPr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ABA22C7-C35B-4EC0-B7CE-54F9EEFCB71D}"/>
              </a:ext>
            </a:extLst>
          </p:cNvPr>
          <p:cNvSpPr>
            <a:spLocks noChangeAspect="1"/>
          </p:cNvSpPr>
          <p:nvPr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6DAE4BC9-9CFF-4522-8216-651498F7A167}"/>
              </a:ext>
            </a:extLst>
          </p:cNvPr>
          <p:cNvSpPr>
            <a:spLocks noChangeAspect="1"/>
          </p:cNvSpPr>
          <p:nvPr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8E822AA0-FB3E-4051-AA1F-F51204BA02A9}"/>
              </a:ext>
            </a:extLst>
          </p:cNvPr>
          <p:cNvSpPr>
            <a:spLocks noChangeAspect="1"/>
          </p:cNvSpPr>
          <p:nvPr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3445288A-D169-4374-BCFD-917DD04B2B1E}"/>
              </a:ext>
            </a:extLst>
          </p:cNvPr>
          <p:cNvSpPr>
            <a:spLocks noChangeAspect="1"/>
          </p:cNvSpPr>
          <p:nvPr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72805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CD5709C-84DE-45F3-AE9B-8B6FD7134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9886" y="1511250"/>
            <a:ext cx="5460114" cy="4665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6BB18B1-3B7F-4B18-A1C5-BB7DA443C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6816" y="1511250"/>
            <a:ext cx="5460114" cy="4665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5496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419BDFB-8FC0-4B89-A29A-8EAC95E9A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511250"/>
            <a:ext cx="548493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E6C2CC0-9AB0-46E9-977A-EF923DCE7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9334" y="1518287"/>
            <a:ext cx="54206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8DF954C-A51E-4242-B83E-A826008F5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9334" y="2486989"/>
            <a:ext cx="5432666" cy="370267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00E416E-6162-484A-BA4D-640FA8307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2486989"/>
            <a:ext cx="5491215" cy="370267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34921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1999"/>
            <a:ext cx="3932237" cy="16001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marL="0" lvl="0"/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49FB4A2-B750-422F-96D2-A7C264295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4062" y="21343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8B59DDF-F2BC-491E-92E0-9D2C1398E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31999"/>
            <a:ext cx="6544468" cy="55138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00450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1999"/>
            <a:ext cx="3932237" cy="16001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marL="0" lvl="0"/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49FB4A2-B750-422F-96D2-A7C264295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4062" y="21343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110E46C-B434-49FA-AA0E-D64E5786D2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31999"/>
            <a:ext cx="6544468" cy="5513889"/>
          </a:xfrm>
          <a:prstGeom prst="roundRect">
            <a:avLst>
              <a:gd name="adj" fmla="val 5554"/>
            </a:avLst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9551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B0FE1C0F-474B-4310-A4A5-1EB4321DE50B}"/>
              </a:ext>
            </a:extLst>
          </p:cNvPr>
          <p:cNvSpPr>
            <a:spLocks noChangeAspect="1"/>
          </p:cNvSpPr>
          <p:nvPr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73FA99E-5E31-474E-8818-615B453CD89C}"/>
              </a:ext>
            </a:extLst>
          </p:cNvPr>
          <p:cNvSpPr>
            <a:spLocks noChangeAspect="1"/>
          </p:cNvSpPr>
          <p:nvPr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A0EE7FC-884E-43B5-B6D6-9156FBE9AB59}"/>
              </a:ext>
            </a:extLst>
          </p:cNvPr>
          <p:cNvSpPr>
            <a:spLocks noChangeAspect="1"/>
          </p:cNvSpPr>
          <p:nvPr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58C6DC6-901F-4F3E-97A4-1B55324C068B}"/>
              </a:ext>
            </a:extLst>
          </p:cNvPr>
          <p:cNvSpPr>
            <a:spLocks noChangeAspect="1"/>
          </p:cNvSpPr>
          <p:nvPr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041B359-9F78-4782-9C50-0B1DED37AD2C}"/>
              </a:ext>
            </a:extLst>
          </p:cNvPr>
          <p:cNvSpPr>
            <a:spLocks noChangeAspect="1"/>
          </p:cNvSpPr>
          <p:nvPr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90C5B8B-2AF3-42F3-B4F8-A806BB98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9689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B0FE1C0F-474B-4310-A4A5-1EB4321DE50B}"/>
              </a:ext>
            </a:extLst>
          </p:cNvPr>
          <p:cNvSpPr>
            <a:spLocks noChangeAspect="1"/>
          </p:cNvSpPr>
          <p:nvPr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73FA99E-5E31-474E-8818-615B453CD89C}"/>
              </a:ext>
            </a:extLst>
          </p:cNvPr>
          <p:cNvSpPr>
            <a:spLocks noChangeAspect="1"/>
          </p:cNvSpPr>
          <p:nvPr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A0EE7FC-884E-43B5-B6D6-9156FBE9AB59}"/>
              </a:ext>
            </a:extLst>
          </p:cNvPr>
          <p:cNvSpPr>
            <a:spLocks noChangeAspect="1"/>
          </p:cNvSpPr>
          <p:nvPr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58C6DC6-901F-4F3E-97A4-1B55324C068B}"/>
              </a:ext>
            </a:extLst>
          </p:cNvPr>
          <p:cNvSpPr>
            <a:spLocks noChangeAspect="1"/>
          </p:cNvSpPr>
          <p:nvPr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041B359-9F78-4782-9C50-0B1DED37AD2C}"/>
              </a:ext>
            </a:extLst>
          </p:cNvPr>
          <p:cNvSpPr>
            <a:spLocks noChangeAspect="1"/>
          </p:cNvSpPr>
          <p:nvPr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90C5B8B-2AF3-42F3-B4F8-A806BB98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3B1662-8902-44D0-A545-5008B483D1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8017" y="2169005"/>
            <a:ext cx="9035966" cy="2519990"/>
          </a:xfrm>
        </p:spPr>
        <p:txBody>
          <a:bodyPr anchor="ctr"/>
          <a:lstStyle>
            <a:lvl1pPr marL="0" indent="0" algn="ctr">
              <a:buNone/>
              <a:defRPr sz="6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77536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B0FE1C0F-474B-4310-A4A5-1EB4321DE50B}"/>
              </a:ext>
            </a:extLst>
          </p:cNvPr>
          <p:cNvSpPr>
            <a:spLocks noChangeAspect="1"/>
          </p:cNvSpPr>
          <p:nvPr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73FA99E-5E31-474E-8818-615B453CD89C}"/>
              </a:ext>
            </a:extLst>
          </p:cNvPr>
          <p:cNvSpPr>
            <a:spLocks noChangeAspect="1"/>
          </p:cNvSpPr>
          <p:nvPr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A0EE7FC-884E-43B5-B6D6-9156FBE9AB59}"/>
              </a:ext>
            </a:extLst>
          </p:cNvPr>
          <p:cNvSpPr>
            <a:spLocks noChangeAspect="1"/>
          </p:cNvSpPr>
          <p:nvPr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58C6DC6-901F-4F3E-97A4-1B55324C068B}"/>
              </a:ext>
            </a:extLst>
          </p:cNvPr>
          <p:cNvSpPr>
            <a:spLocks noChangeAspect="1"/>
          </p:cNvSpPr>
          <p:nvPr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041B359-9F78-4782-9C50-0B1DED37AD2C}"/>
              </a:ext>
            </a:extLst>
          </p:cNvPr>
          <p:cNvSpPr>
            <a:spLocks noChangeAspect="1"/>
          </p:cNvSpPr>
          <p:nvPr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95767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E81F30-8FC8-4841-8404-4DC79218B945}"/>
              </a:ext>
            </a:extLst>
          </p:cNvPr>
          <p:cNvSpPr/>
          <p:nvPr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3D29F65-481C-4C80-BB65-121E5AED26B5}"/>
              </a:ext>
            </a:extLst>
          </p:cNvPr>
          <p:cNvSpPr/>
          <p:nvPr/>
        </p:nvSpPr>
        <p:spPr>
          <a:xfrm>
            <a:off x="11844618" y="6249961"/>
            <a:ext cx="230420" cy="460402"/>
          </a:xfrm>
          <a:prstGeom prst="roundRect">
            <a:avLst>
              <a:gd name="adj" fmla="val 7366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6C03AE-289A-4BCC-971C-3400028C8764}"/>
              </a:ext>
            </a:extLst>
          </p:cNvPr>
          <p:cNvSpPr/>
          <p:nvPr/>
        </p:nvSpPr>
        <p:spPr>
          <a:xfrm rot="5400000">
            <a:off x="8694713" y="3406143"/>
            <a:ext cx="6857999" cy="457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1483"/>
            <a:ext cx="5484930" cy="20153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7656" y="6277243"/>
            <a:ext cx="464344" cy="400188"/>
          </a:xfrm>
          <a:prstGeom prst="roundRect">
            <a:avLst>
              <a:gd name="adj" fmla="val 9526"/>
            </a:avLst>
          </a:prstGeom>
          <a:gradFill>
            <a:gsLst>
              <a:gs pos="20000">
                <a:schemeClr val="tx1">
                  <a:lumMod val="75000"/>
                  <a:lumOff val="25000"/>
                </a:schemeClr>
              </a:gs>
              <a:gs pos="82000">
                <a:schemeClr val="tx1"/>
              </a:gs>
            </a:gsLst>
            <a:lin ang="3000000" scaled="0"/>
          </a:gradFill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E26B2E9-D793-4775-9E18-4557FF0C26C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1793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9.png"/><Relationship Id="rId26" Type="http://schemas.openxmlformats.org/officeDocument/2006/relationships/image" Target="../media/image23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27.png"/><Relationship Id="rId42" Type="http://schemas.openxmlformats.org/officeDocument/2006/relationships/customXml" Target="../ink/ink21.xml"/><Relationship Id="rId47" Type="http://schemas.openxmlformats.org/officeDocument/2006/relationships/image" Target="../media/image33.png"/><Relationship Id="rId50" Type="http://schemas.openxmlformats.org/officeDocument/2006/relationships/customXml" Target="../ink/ink25.xml"/><Relationship Id="rId55" Type="http://schemas.openxmlformats.org/officeDocument/2006/relationships/image" Target="../media/image37.png"/><Relationship Id="rId7" Type="http://schemas.openxmlformats.org/officeDocument/2006/relationships/customXml" Target="../ink/ink3.xml"/><Relationship Id="rId12" Type="http://schemas.openxmlformats.org/officeDocument/2006/relationships/image" Target="../media/image1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9.png"/><Relationship Id="rId46" Type="http://schemas.openxmlformats.org/officeDocument/2006/relationships/customXml" Target="../ink/ink23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20" Type="http://schemas.openxmlformats.org/officeDocument/2006/relationships/image" Target="../media/image20.png"/><Relationship Id="rId29" Type="http://schemas.openxmlformats.org/officeDocument/2006/relationships/customXml" Target="../ink/ink14.xml"/><Relationship Id="rId41" Type="http://schemas.openxmlformats.org/officeDocument/2006/relationships/image" Target="../media/image30.png"/><Relationship Id="rId54" Type="http://schemas.openxmlformats.org/officeDocument/2006/relationships/customXml" Target="../ink/ink27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3.png"/><Relationship Id="rId11" Type="http://schemas.openxmlformats.org/officeDocument/2006/relationships/customXml" Target="../ink/ink5.xml"/><Relationship Id="rId24" Type="http://schemas.openxmlformats.org/officeDocument/2006/relationships/image" Target="../media/image22.png"/><Relationship Id="rId32" Type="http://schemas.openxmlformats.org/officeDocument/2006/relationships/image" Target="../media/image26.png"/><Relationship Id="rId37" Type="http://schemas.openxmlformats.org/officeDocument/2006/relationships/customXml" Target="../ink/ink18.xml"/><Relationship Id="rId40" Type="http://schemas.openxmlformats.org/officeDocument/2006/relationships/customXml" Target="../ink/ink20.xml"/><Relationship Id="rId45" Type="http://schemas.openxmlformats.org/officeDocument/2006/relationships/image" Target="../media/image32.png"/><Relationship Id="rId53" Type="http://schemas.openxmlformats.org/officeDocument/2006/relationships/image" Target="../media/image36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4.png"/><Relationship Id="rId36" Type="http://schemas.openxmlformats.org/officeDocument/2006/relationships/image" Target="../media/image28.png"/><Relationship Id="rId49" Type="http://schemas.openxmlformats.org/officeDocument/2006/relationships/image" Target="../media/image34.png"/><Relationship Id="rId10" Type="http://schemas.openxmlformats.org/officeDocument/2006/relationships/image" Target="../media/image15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4" Type="http://schemas.openxmlformats.org/officeDocument/2006/relationships/image" Target="../media/image12.png"/><Relationship Id="rId9" Type="http://schemas.openxmlformats.org/officeDocument/2006/relationships/customXml" Target="../ink/ink4.xml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customXml" Target="../ink/ink13.xml"/><Relationship Id="rId30" Type="http://schemas.openxmlformats.org/officeDocument/2006/relationships/image" Target="../media/image25.png"/><Relationship Id="rId35" Type="http://schemas.openxmlformats.org/officeDocument/2006/relationships/customXml" Target="../ink/ink17.xml"/><Relationship Id="rId43" Type="http://schemas.openxmlformats.org/officeDocument/2006/relationships/image" Target="../media/image31.png"/><Relationship Id="rId48" Type="http://schemas.openxmlformats.org/officeDocument/2006/relationships/customXml" Target="../ink/ink24.xml"/><Relationship Id="rId8" Type="http://schemas.openxmlformats.org/officeDocument/2006/relationships/image" Target="../media/image14.png"/><Relationship Id="rId51" Type="http://schemas.openxmlformats.org/officeDocument/2006/relationships/image" Target="../media/image35.png"/><Relationship Id="rId3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9.svg"/><Relationship Id="rId7" Type="http://schemas.openxmlformats.org/officeDocument/2006/relationships/image" Target="../media/image4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9" Type="http://schemas.openxmlformats.org/officeDocument/2006/relationships/image" Target="../media/image4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7.svg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4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51.jp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www.youtube.com/watch?v=FEHNIELPb0s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bEtZHeCPsBs" TargetMode="External"/><Relationship Id="rId5" Type="http://schemas.openxmlformats.org/officeDocument/2006/relationships/hyperlink" Target="https://www.youtube.com/watch?v=DHa8JiqFg5Y" TargetMode="External"/><Relationship Id="rId4" Type="http://schemas.openxmlformats.org/officeDocument/2006/relationships/image" Target="../media/image5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bin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play.google.com/store/apps/details?id=com.afra.endocrinesystem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jamboard.google.com/d/1gDMO6FnpKlGYCpImN1uAL_m_x7zcNwFfaluM4zZAAzM/edit?usp=sharing" TargetMode="External"/><Relationship Id="rId2" Type="http://schemas.openxmlformats.org/officeDocument/2006/relationships/image" Target="../media/image62.bin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endokrini/endokrini%20listi&#263;%20pitanja.docx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bin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A984F92-0D1E-459F-8630-B1F2F5292F4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02" b="23702"/>
          <a:stretch/>
        </p:blipFill>
        <p:spPr>
          <a:xfrm>
            <a:off x="-557940" y="19373"/>
            <a:ext cx="13039020" cy="6858000"/>
          </a:xfr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B5771643-C0F8-43DB-935C-E7C115CF5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0339" y="2979549"/>
            <a:ext cx="8394491" cy="1202961"/>
          </a:xfrm>
          <a:noFill/>
          <a:ln>
            <a:noFill/>
          </a:ln>
        </p:spPr>
        <p:txBody>
          <a:bodyPr/>
          <a:lstStyle/>
          <a:p>
            <a:pPr algn="ctr"/>
            <a:r>
              <a:rPr lang="hr-HR" sz="5400" b="1" dirty="0">
                <a:solidFill>
                  <a:schemeClr val="accent6">
                    <a:lumMod val="50000"/>
                  </a:schemeClr>
                </a:solidFill>
              </a:rPr>
              <a:t>HOMEOSTAZA</a:t>
            </a:r>
            <a:br>
              <a:rPr lang="hr-HR" sz="54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hr-HR" sz="5400" b="1" dirty="0">
                <a:solidFill>
                  <a:schemeClr val="accent6">
                    <a:lumMod val="50000"/>
                  </a:schemeClr>
                </a:solidFill>
              </a:rPr>
              <a:t>Endokrini sustav</a:t>
            </a:r>
            <a:br>
              <a:rPr lang="hr-HR" sz="54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hr-HR" sz="5400" b="1" dirty="0">
                <a:solidFill>
                  <a:schemeClr val="accent6">
                    <a:lumMod val="50000"/>
                  </a:schemeClr>
                </a:solidFill>
              </a:rPr>
              <a:t>	            </a:t>
            </a:r>
            <a:r>
              <a:rPr lang="hr-HR" sz="2400" b="1" dirty="0">
                <a:solidFill>
                  <a:schemeClr val="accent6">
                    <a:lumMod val="50000"/>
                  </a:schemeClr>
                </a:solidFill>
              </a:rPr>
              <a:t>Mihaela Marceljak Ilić, prof savjetnik </a:t>
            </a:r>
            <a:br>
              <a:rPr lang="hr-HR" sz="24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hr-HR" sz="2400" b="1" dirty="0">
                <a:solidFill>
                  <a:schemeClr val="accent6">
                    <a:lumMod val="50000"/>
                  </a:schemeClr>
                </a:solidFill>
              </a:rPr>
              <a:t>                                                    XV. gimnazija Zagreb </a:t>
            </a:r>
            <a:endParaRPr 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16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85BF98-F47B-4930-ACCA-9E78A35448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21767" y="828710"/>
            <a:ext cx="5047281" cy="77606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hr-H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Uloge živčanog sustava u </a:t>
            </a:r>
            <a:r>
              <a:rPr lang="hr-HR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homeostazi</a:t>
            </a:r>
            <a:endParaRPr lang="hr-H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197D78-6E72-43BB-B659-239577D28F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56065" y="3675798"/>
            <a:ext cx="4024393" cy="2057944"/>
          </a:xfrm>
        </p:spPr>
        <p:txBody>
          <a:bodyPr/>
          <a:lstStyle/>
          <a:p>
            <a:r>
              <a:rPr lang="hr-H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Tko prenosi podražaj? </a:t>
            </a:r>
          </a:p>
          <a:p>
            <a:r>
              <a:rPr lang="hr-H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Kako se prenosi podražaj?</a:t>
            </a:r>
          </a:p>
          <a:p>
            <a:r>
              <a:rPr lang="hr-H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Koja je brzina reakcije? </a:t>
            </a:r>
          </a:p>
          <a:p>
            <a:r>
              <a:rPr lang="hr-H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Kakav je odgovor?</a:t>
            </a:r>
          </a:p>
          <a:p>
            <a:r>
              <a:rPr lang="hr-H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Kako komuniciraju stanice ?</a:t>
            </a:r>
          </a:p>
        </p:txBody>
      </p:sp>
      <p:pic>
        <p:nvPicPr>
          <p:cNvPr id="15" name="Picture Placeholder 14" descr="A close-up of a brain&#10;&#10;Description automatically generated with medium confidence">
            <a:extLst>
              <a:ext uri="{FF2B5EF4-FFF2-40B4-BE49-F238E27FC236}">
                <a16:creationId xmlns:a16="http://schemas.microsoft.com/office/drawing/2014/main" id="{4324F971-D7AA-4D28-B53F-4911532FAA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2" r="6302"/>
          <a:stretch>
            <a:fillRect/>
          </a:stretch>
        </p:blipFill>
        <p:spPr>
          <a:xfrm>
            <a:off x="1" y="10680"/>
            <a:ext cx="9035512" cy="684732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B7266-097B-4555-87B0-3CEA2988F5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07505" y="254237"/>
            <a:ext cx="3521514" cy="288000"/>
          </a:xfrm>
        </p:spPr>
        <p:txBody>
          <a:bodyPr/>
          <a:lstStyle/>
          <a:p>
            <a:r>
              <a:rPr lang="hr-H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Podsjetimo se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87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7FF49C3-F14B-40B8-994F-9178C96A447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663"/>
            <a:ext cx="8619344" cy="707962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F38F7-D240-4400-A41F-F5AAF92ACF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34849" y="4374333"/>
            <a:ext cx="3521514" cy="288000"/>
          </a:xfrm>
        </p:spPr>
        <p:txBody>
          <a:bodyPr/>
          <a:lstStyle/>
          <a:p>
            <a:r>
              <a:rPr lang="hr-HR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Što ? Gdje? Kako?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85BF98-F47B-4930-ACCA-9E78A35448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197D78-6E72-43BB-B659-239577D28F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14A963-DD19-41FA-88E3-0A3E8C0D9B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ubtitle 3">
            <a:extLst>
              <a:ext uri="{FF2B5EF4-FFF2-40B4-BE49-F238E27FC236}">
                <a16:creationId xmlns:a16="http://schemas.microsoft.com/office/drawing/2014/main" id="{F4AB9A36-F16F-4D64-908B-C4AD67D11CFF}"/>
              </a:ext>
            </a:extLst>
          </p:cNvPr>
          <p:cNvSpPr txBox="1">
            <a:spLocks/>
          </p:cNvSpPr>
          <p:nvPr/>
        </p:nvSpPr>
        <p:spPr>
          <a:xfrm>
            <a:off x="4965673" y="4169025"/>
            <a:ext cx="5705477" cy="2623458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endParaRPr lang="hr-HR" sz="2400" dirty="0"/>
          </a:p>
          <a:p>
            <a:pPr marL="342900" indent="-342900"/>
            <a:endParaRPr lang="hr-HR" sz="24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13A27D34-B451-4638-BC7D-79120CD2F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1764" y="142997"/>
            <a:ext cx="5822197" cy="2133691"/>
          </a:xfrm>
          <a:prstGeom prst="roundRect">
            <a:avLst>
              <a:gd name="adj" fmla="val 32418"/>
            </a:avLst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hr-HR" sz="3400" b="0" dirty="0" err="1">
                <a:solidFill>
                  <a:schemeClr val="tx1"/>
                </a:solidFill>
              </a:rPr>
              <a:t>Homeostaza</a:t>
            </a:r>
            <a:r>
              <a:rPr lang="hr-HR" sz="3400" dirty="0">
                <a:solidFill>
                  <a:schemeClr val="tx1"/>
                </a:solidFill>
              </a:rPr>
              <a:t> u regulaciji  tjelesnih tekućina ?</a:t>
            </a:r>
            <a:endParaRPr lang="en-US" sz="3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127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utnik: zaobljeni kutovi 5">
            <a:extLst>
              <a:ext uri="{FF2B5EF4-FFF2-40B4-BE49-F238E27FC236}">
                <a16:creationId xmlns:a16="http://schemas.microsoft.com/office/drawing/2014/main" id="{7022AF91-5FAD-41D3-8B5C-B6000C728D46}"/>
              </a:ext>
            </a:extLst>
          </p:cNvPr>
          <p:cNvSpPr/>
          <p:nvPr/>
        </p:nvSpPr>
        <p:spPr>
          <a:xfrm>
            <a:off x="4268193" y="3044569"/>
            <a:ext cx="2886075" cy="8763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Održavanje stalne razine vode u krvi</a:t>
            </a:r>
          </a:p>
        </p:txBody>
      </p:sp>
      <p:pic>
        <p:nvPicPr>
          <p:cNvPr id="9" name="Grafika 8" descr="Račvanje ceste">
            <a:extLst>
              <a:ext uri="{FF2B5EF4-FFF2-40B4-BE49-F238E27FC236}">
                <a16:creationId xmlns:a16="http://schemas.microsoft.com/office/drawing/2014/main" id="{860F702C-BBC6-48CB-B7F4-A80C35473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9357" y="1758604"/>
            <a:ext cx="1131711" cy="1131711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5EAECC48-F0FB-41D9-885D-2F3B01ACB4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808" t="20230" r="5934" b="56979"/>
          <a:stretch/>
        </p:blipFill>
        <p:spPr>
          <a:xfrm>
            <a:off x="6388949" y="1692957"/>
            <a:ext cx="948620" cy="847725"/>
          </a:xfrm>
          <a:prstGeom prst="rect">
            <a:avLst/>
          </a:prstGeom>
        </p:spPr>
      </p:pic>
      <p:sp>
        <p:nvSpPr>
          <p:cNvPr id="13" name="TekstniOkvir 12">
            <a:extLst>
              <a:ext uri="{FF2B5EF4-FFF2-40B4-BE49-F238E27FC236}">
                <a16:creationId xmlns:a16="http://schemas.microsoft.com/office/drawing/2014/main" id="{463624F8-BB4D-4F0A-B11D-E8AA461FFF3A}"/>
              </a:ext>
            </a:extLst>
          </p:cNvPr>
          <p:cNvSpPr txBox="1"/>
          <p:nvPr/>
        </p:nvSpPr>
        <p:spPr>
          <a:xfrm>
            <a:off x="5853996" y="2246992"/>
            <a:ext cx="577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žeđ</a:t>
            </a:r>
            <a:endParaRPr lang="hr-HR" dirty="0"/>
          </a:p>
        </p:txBody>
      </p:sp>
      <p:sp>
        <p:nvSpPr>
          <p:cNvPr id="15" name="TekstniOkvir 14">
            <a:extLst>
              <a:ext uri="{FF2B5EF4-FFF2-40B4-BE49-F238E27FC236}">
                <a16:creationId xmlns:a16="http://schemas.microsoft.com/office/drawing/2014/main" id="{8FFC59C5-8E20-4037-9167-D0553295E26C}"/>
              </a:ext>
            </a:extLst>
          </p:cNvPr>
          <p:cNvSpPr txBox="1"/>
          <p:nvPr/>
        </p:nvSpPr>
        <p:spPr>
          <a:xfrm>
            <a:off x="7336442" y="1709685"/>
            <a:ext cx="14196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400" dirty="0" err="1">
                <a:latin typeface="Comic Sans MS" panose="030F0702030302020204" pitchFamily="66" charset="0"/>
              </a:rPr>
              <a:t>lučenjeADH</a:t>
            </a:r>
            <a:endParaRPr lang="hr-HR" sz="2400" dirty="0">
              <a:latin typeface="Comic Sans MS" panose="030F0702030302020204" pitchFamily="66" charset="0"/>
            </a:endParaRPr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31DF8D59-4FB0-431D-A5A2-5D196F8E70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808" t="20230" r="5934" b="56979"/>
          <a:stretch/>
        </p:blipFill>
        <p:spPr>
          <a:xfrm>
            <a:off x="4170737" y="1692683"/>
            <a:ext cx="948620" cy="847725"/>
          </a:xfrm>
          <a:prstGeom prst="rect">
            <a:avLst/>
          </a:prstGeom>
        </p:spPr>
      </p:pic>
      <p:sp>
        <p:nvSpPr>
          <p:cNvPr id="21" name="TekstniOkvir 20">
            <a:extLst>
              <a:ext uri="{FF2B5EF4-FFF2-40B4-BE49-F238E27FC236}">
                <a16:creationId xmlns:a16="http://schemas.microsoft.com/office/drawing/2014/main" id="{B33D4E20-6BB8-4108-A15A-65C8D65795DD}"/>
              </a:ext>
            </a:extLst>
          </p:cNvPr>
          <p:cNvSpPr txBox="1"/>
          <p:nvPr/>
        </p:nvSpPr>
        <p:spPr>
          <a:xfrm>
            <a:off x="1988129" y="1718048"/>
            <a:ext cx="2056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potisnuto lučenje ADH</a:t>
            </a:r>
          </a:p>
        </p:txBody>
      </p:sp>
      <p:sp>
        <p:nvSpPr>
          <p:cNvPr id="23" name="TekstniOkvir 22">
            <a:extLst>
              <a:ext uri="{FF2B5EF4-FFF2-40B4-BE49-F238E27FC236}">
                <a16:creationId xmlns:a16="http://schemas.microsoft.com/office/drawing/2014/main" id="{45854B05-898E-40DB-8D49-E2A9CF8FF92F}"/>
              </a:ext>
            </a:extLst>
          </p:cNvPr>
          <p:cNvSpPr txBox="1"/>
          <p:nvPr/>
        </p:nvSpPr>
        <p:spPr>
          <a:xfrm>
            <a:off x="8907571" y="4470154"/>
            <a:ext cx="2794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dirty="0">
                <a:latin typeface="Comic Sans MS" panose="030F0702030302020204" pitchFamily="66" charset="0"/>
              </a:rPr>
              <a:t>reapsorpcija vode</a:t>
            </a:r>
          </a:p>
        </p:txBody>
      </p:sp>
      <p:sp>
        <p:nvSpPr>
          <p:cNvPr id="25" name="TekstniOkvir 24">
            <a:extLst>
              <a:ext uri="{FF2B5EF4-FFF2-40B4-BE49-F238E27FC236}">
                <a16:creationId xmlns:a16="http://schemas.microsoft.com/office/drawing/2014/main" id="{88BAA6C3-E76B-42D6-9317-8EAC05501C57}"/>
              </a:ext>
            </a:extLst>
          </p:cNvPr>
          <p:cNvSpPr txBox="1"/>
          <p:nvPr/>
        </p:nvSpPr>
        <p:spPr>
          <a:xfrm>
            <a:off x="6286223" y="4962312"/>
            <a:ext cx="26987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smanjeno izlučivanje vode mokraćom</a:t>
            </a:r>
          </a:p>
        </p:txBody>
      </p:sp>
      <p:pic>
        <p:nvPicPr>
          <p:cNvPr id="3074" name="Picture 2" descr="Kidney with adrenal gland - Servier Medical Art">
            <a:extLst>
              <a:ext uri="{FF2B5EF4-FFF2-40B4-BE49-F238E27FC236}">
                <a16:creationId xmlns:a16="http://schemas.microsoft.com/office/drawing/2014/main" id="{7BF40D8C-DF72-41D6-BE6B-B081A4F13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4838" y="2720338"/>
            <a:ext cx="981484" cy="163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kstniOkvir 25">
            <a:extLst>
              <a:ext uri="{FF2B5EF4-FFF2-40B4-BE49-F238E27FC236}">
                <a16:creationId xmlns:a16="http://schemas.microsoft.com/office/drawing/2014/main" id="{DF42FA1D-19FF-4EFB-84F5-D9E401BA3287}"/>
              </a:ext>
            </a:extLst>
          </p:cNvPr>
          <p:cNvSpPr txBox="1"/>
          <p:nvPr/>
        </p:nvSpPr>
        <p:spPr>
          <a:xfrm>
            <a:off x="10140077" y="2713278"/>
            <a:ext cx="18944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200" dirty="0">
                <a:latin typeface="Comic Sans MS" panose="030F0702030302020204" pitchFamily="66" charset="0"/>
              </a:rPr>
              <a:t>lučenje</a:t>
            </a:r>
          </a:p>
          <a:p>
            <a:pPr algn="ctr"/>
            <a:r>
              <a:rPr lang="hr-HR" sz="2200" dirty="0" err="1">
                <a:latin typeface="Comic Sans MS" panose="030F0702030302020204" pitchFamily="66" charset="0"/>
              </a:rPr>
              <a:t>aldosterona</a:t>
            </a:r>
            <a:endParaRPr lang="hr-HR" sz="2200" dirty="0">
              <a:latin typeface="Comic Sans MS" panose="030F0702030302020204" pitchFamily="66" charset="0"/>
            </a:endParaRPr>
          </a:p>
        </p:txBody>
      </p:sp>
      <p:pic>
        <p:nvPicPr>
          <p:cNvPr id="29" name="Grafika 28" descr="Strelica: krivulja u smjeru kretanja kazaljke na satu">
            <a:extLst>
              <a:ext uri="{FF2B5EF4-FFF2-40B4-BE49-F238E27FC236}">
                <a16:creationId xmlns:a16="http://schemas.microsoft.com/office/drawing/2014/main" id="{E2D3A4D0-CFD3-4420-8048-5EA075C7E2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243726" flipH="1" flipV="1">
            <a:off x="8671810" y="1963815"/>
            <a:ext cx="897953" cy="897953"/>
          </a:xfrm>
          <a:prstGeom prst="rect">
            <a:avLst/>
          </a:prstGeom>
        </p:spPr>
      </p:pic>
      <p:pic>
        <p:nvPicPr>
          <p:cNvPr id="30" name="Grafika 29" descr="Spajanje">
            <a:extLst>
              <a:ext uri="{FF2B5EF4-FFF2-40B4-BE49-F238E27FC236}">
                <a16:creationId xmlns:a16="http://schemas.microsoft.com/office/drawing/2014/main" id="{52CC005C-7338-4697-8A4C-60A53773EE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5001603" y="4049974"/>
            <a:ext cx="1437527" cy="1437527"/>
          </a:xfrm>
          <a:prstGeom prst="rect">
            <a:avLst/>
          </a:prstGeom>
        </p:spPr>
      </p:pic>
      <p:pic>
        <p:nvPicPr>
          <p:cNvPr id="31" name="Grafika 30" descr="Strelica: krivulja u smjeru kretanja kazaljke na satu">
            <a:extLst>
              <a:ext uri="{FF2B5EF4-FFF2-40B4-BE49-F238E27FC236}">
                <a16:creationId xmlns:a16="http://schemas.microsoft.com/office/drawing/2014/main" id="{C614523A-872F-4561-94F9-4F87E67460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683376" flipH="1" flipV="1">
            <a:off x="9033318" y="4981461"/>
            <a:ext cx="897953" cy="897953"/>
          </a:xfrm>
          <a:prstGeom prst="rect">
            <a:avLst/>
          </a:prstGeom>
        </p:spPr>
      </p:pic>
      <p:sp>
        <p:nvSpPr>
          <p:cNvPr id="32" name="TekstniOkvir 31">
            <a:extLst>
              <a:ext uri="{FF2B5EF4-FFF2-40B4-BE49-F238E27FC236}">
                <a16:creationId xmlns:a16="http://schemas.microsoft.com/office/drawing/2014/main" id="{78051F9C-042D-4E74-84BB-646BA7BDB359}"/>
              </a:ext>
            </a:extLst>
          </p:cNvPr>
          <p:cNvSpPr txBox="1"/>
          <p:nvPr/>
        </p:nvSpPr>
        <p:spPr>
          <a:xfrm>
            <a:off x="89303" y="4408258"/>
            <a:ext cx="22938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dirty="0">
                <a:latin typeface="Comic Sans MS" panose="030F0702030302020204" pitchFamily="66" charset="0"/>
              </a:rPr>
              <a:t>smanjena reapsorpcija vode</a:t>
            </a:r>
          </a:p>
        </p:txBody>
      </p:sp>
      <p:sp>
        <p:nvSpPr>
          <p:cNvPr id="33" name="TekstniOkvir 32">
            <a:extLst>
              <a:ext uri="{FF2B5EF4-FFF2-40B4-BE49-F238E27FC236}">
                <a16:creationId xmlns:a16="http://schemas.microsoft.com/office/drawing/2014/main" id="{43B9D0C4-3A59-47E5-8FFA-A52C3FC26261}"/>
              </a:ext>
            </a:extLst>
          </p:cNvPr>
          <p:cNvSpPr txBox="1"/>
          <p:nvPr/>
        </p:nvSpPr>
        <p:spPr>
          <a:xfrm>
            <a:off x="2319947" y="5003081"/>
            <a:ext cx="26987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pojačano izlučivanje vode mokraćom</a:t>
            </a:r>
          </a:p>
        </p:txBody>
      </p:sp>
      <p:pic>
        <p:nvPicPr>
          <p:cNvPr id="34" name="Picture 2" descr="Kidney with adrenal gland - Servier Medical Art">
            <a:extLst>
              <a:ext uri="{FF2B5EF4-FFF2-40B4-BE49-F238E27FC236}">
                <a16:creationId xmlns:a16="http://schemas.microsoft.com/office/drawing/2014/main" id="{5A805377-68F9-4D7A-BCDA-94E9BA003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88" y="2769037"/>
            <a:ext cx="981484" cy="163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kstniOkvir 34">
            <a:extLst>
              <a:ext uri="{FF2B5EF4-FFF2-40B4-BE49-F238E27FC236}">
                <a16:creationId xmlns:a16="http://schemas.microsoft.com/office/drawing/2014/main" id="{9663C868-42EF-408D-9CDA-0B920891FA37}"/>
              </a:ext>
            </a:extLst>
          </p:cNvPr>
          <p:cNvSpPr txBox="1"/>
          <p:nvPr/>
        </p:nvSpPr>
        <p:spPr>
          <a:xfrm>
            <a:off x="1486552" y="2857399"/>
            <a:ext cx="194634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200" dirty="0">
                <a:latin typeface="Comic Sans MS" panose="030F0702030302020204" pitchFamily="66" charset="0"/>
              </a:rPr>
              <a:t>potisnuto lučenje</a:t>
            </a:r>
          </a:p>
          <a:p>
            <a:pPr algn="ctr"/>
            <a:r>
              <a:rPr lang="hr-HR" sz="2200" dirty="0" err="1">
                <a:latin typeface="Comic Sans MS" panose="030F0702030302020204" pitchFamily="66" charset="0"/>
              </a:rPr>
              <a:t>aldosteron</a:t>
            </a:r>
            <a:endParaRPr lang="hr-HR" sz="2200" dirty="0">
              <a:latin typeface="Comic Sans MS" panose="030F0702030302020204" pitchFamily="66" charset="0"/>
            </a:endParaRPr>
          </a:p>
        </p:txBody>
      </p:sp>
      <p:pic>
        <p:nvPicPr>
          <p:cNvPr id="36" name="Grafika 35" descr="Strelica: krivulja u smjeru kretanja kazaljke na satu">
            <a:extLst>
              <a:ext uri="{FF2B5EF4-FFF2-40B4-BE49-F238E27FC236}">
                <a16:creationId xmlns:a16="http://schemas.microsoft.com/office/drawing/2014/main" id="{04F9924C-604F-4AB4-AB55-17F1334C62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356274" flipV="1">
            <a:off x="1102497" y="1875484"/>
            <a:ext cx="897953" cy="897953"/>
          </a:xfrm>
          <a:prstGeom prst="rect">
            <a:avLst/>
          </a:prstGeom>
        </p:spPr>
      </p:pic>
      <p:pic>
        <p:nvPicPr>
          <p:cNvPr id="37" name="Grafika 36" descr="Strelica: krivulja u smjeru kretanja kazaljke na satu">
            <a:extLst>
              <a:ext uri="{FF2B5EF4-FFF2-40B4-BE49-F238E27FC236}">
                <a16:creationId xmlns:a16="http://schemas.microsoft.com/office/drawing/2014/main" id="{20984F25-491F-4E0B-B648-E3F7F56EBD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5916624" flipV="1">
            <a:off x="1228101" y="5038525"/>
            <a:ext cx="897953" cy="89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5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5" grpId="0"/>
      <p:bldP spid="21" grpId="0"/>
      <p:bldP spid="23" grpId="0"/>
      <p:bldP spid="25" grpId="0"/>
      <p:bldP spid="26" grpId="0"/>
      <p:bldP spid="33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5E9E977-B561-4280-94CB-E9ED2E69A1FE}"/>
                  </a:ext>
                </a:extLst>
              </p14:cNvPr>
              <p14:cNvContentPartPr/>
              <p14:nvPr/>
            </p14:nvContentPartPr>
            <p14:xfrm>
              <a:off x="464046" y="2886958"/>
              <a:ext cx="360" cy="6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5E9E977-B561-4280-94CB-E9ED2E69A1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0406" y="2778958"/>
                <a:ext cx="1080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0580388-6D9F-45B0-9CEC-CE07F4A2EC31}"/>
                  </a:ext>
                </a:extLst>
              </p14:cNvPr>
              <p14:cNvContentPartPr/>
              <p14:nvPr/>
            </p14:nvContentPartPr>
            <p14:xfrm>
              <a:off x="558726" y="2964358"/>
              <a:ext cx="661680" cy="2242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0580388-6D9F-45B0-9CEC-CE07F4A2EC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4726" y="2856358"/>
                <a:ext cx="769320" cy="245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B232250-BC74-4EF4-999A-42362309445A}"/>
                  </a:ext>
                </a:extLst>
              </p14:cNvPr>
              <p14:cNvContentPartPr/>
              <p14:nvPr/>
            </p14:nvContentPartPr>
            <p14:xfrm>
              <a:off x="167046" y="2055718"/>
              <a:ext cx="744840" cy="2209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B232250-BC74-4EF4-999A-4236230944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3406" y="1947718"/>
                <a:ext cx="852480" cy="24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846803F-1910-4880-ADE7-0E0D2DA3BAE8}"/>
                  </a:ext>
                </a:extLst>
              </p14:cNvPr>
              <p14:cNvContentPartPr/>
              <p14:nvPr/>
            </p14:nvContentPartPr>
            <p14:xfrm>
              <a:off x="1364766" y="3907918"/>
              <a:ext cx="461160" cy="6782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846803F-1910-4880-ADE7-0E0D2DA3BAE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10766" y="3800278"/>
                <a:ext cx="568800" cy="89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A523F8D-CE14-47DF-8F14-D71F65B3E95A}"/>
                  </a:ext>
                </a:extLst>
              </p14:cNvPr>
              <p14:cNvContentPartPr/>
              <p14:nvPr/>
            </p14:nvContentPartPr>
            <p14:xfrm>
              <a:off x="1416606" y="2928718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A523F8D-CE14-47DF-8F14-D71F65B3E95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62966" y="282071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A0A854D-2E1E-47B6-A374-6EEB8B4BD94B}"/>
                  </a:ext>
                </a:extLst>
              </p14:cNvPr>
              <p14:cNvContentPartPr/>
              <p14:nvPr/>
            </p14:nvContentPartPr>
            <p14:xfrm>
              <a:off x="2009526" y="2384758"/>
              <a:ext cx="1146600" cy="15188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A0A854D-2E1E-47B6-A374-6EEB8B4BD94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55886" y="2276758"/>
                <a:ext cx="1254240" cy="173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555FAC8-106E-4018-8520-031488853CFF}"/>
                  </a:ext>
                </a:extLst>
              </p14:cNvPr>
              <p14:cNvContentPartPr/>
              <p14:nvPr/>
            </p14:nvContentPartPr>
            <p14:xfrm>
              <a:off x="3114366" y="1345078"/>
              <a:ext cx="1110960" cy="12128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555FAC8-106E-4018-8520-031488853CF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60726" y="1237438"/>
                <a:ext cx="1218600" cy="14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45CFC1D-1909-4656-AA9E-F44E292123C5}"/>
                  </a:ext>
                </a:extLst>
              </p14:cNvPr>
              <p14:cNvContentPartPr/>
              <p14:nvPr/>
            </p14:nvContentPartPr>
            <p14:xfrm>
              <a:off x="2203926" y="4492918"/>
              <a:ext cx="663840" cy="2286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45CFC1D-1909-4656-AA9E-F44E292123C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49926" y="4385278"/>
                <a:ext cx="771480" cy="250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D3B4D15-D3D1-4ADA-820C-ED76EADB133F}"/>
                  </a:ext>
                </a:extLst>
              </p14:cNvPr>
              <p14:cNvContentPartPr/>
              <p14:nvPr/>
            </p14:nvContentPartPr>
            <p14:xfrm>
              <a:off x="2091246" y="6012679"/>
              <a:ext cx="487800" cy="189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D3B4D15-D3D1-4ADA-820C-ED76EADB133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37606" y="5904679"/>
                <a:ext cx="59544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00BD8D7-228C-4A46-8259-2F9E850C72C3}"/>
                  </a:ext>
                </a:extLst>
              </p14:cNvPr>
              <p14:cNvContentPartPr/>
              <p14:nvPr/>
            </p14:nvContentPartPr>
            <p14:xfrm>
              <a:off x="2879646" y="5398519"/>
              <a:ext cx="449640" cy="8200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00BD8D7-228C-4A46-8259-2F9E850C72C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825646" y="5290879"/>
                <a:ext cx="557280" cy="10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446F0F4-8CB4-47EB-A410-89B1FDE47FE0}"/>
                  </a:ext>
                </a:extLst>
              </p14:cNvPr>
              <p14:cNvContentPartPr/>
              <p14:nvPr/>
            </p14:nvContentPartPr>
            <p14:xfrm>
              <a:off x="3340806" y="4651159"/>
              <a:ext cx="402120" cy="1124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446F0F4-8CB4-47EB-A410-89B1FDE47FE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287166" y="4543519"/>
                <a:ext cx="509760" cy="13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22DEDE5-B2ED-4E36-B92C-6CA6E8328EF5}"/>
                  </a:ext>
                </a:extLst>
              </p14:cNvPr>
              <p14:cNvContentPartPr/>
              <p14:nvPr/>
            </p14:nvContentPartPr>
            <p14:xfrm>
              <a:off x="4464366" y="3542359"/>
              <a:ext cx="938520" cy="13856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22DEDE5-B2ED-4E36-B92C-6CA6E8328EF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410366" y="3434359"/>
                <a:ext cx="1046160" cy="160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00AB034-45A8-453A-BBBD-37C52D71FABF}"/>
                  </a:ext>
                </a:extLst>
              </p14:cNvPr>
              <p14:cNvContentPartPr/>
              <p14:nvPr/>
            </p14:nvContentPartPr>
            <p14:xfrm>
              <a:off x="5360406" y="3260479"/>
              <a:ext cx="531000" cy="1017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00AB034-45A8-453A-BBBD-37C52D71FAB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306406" y="3152839"/>
                <a:ext cx="638640" cy="12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E467914-EFD1-4BE3-8F08-B3CEB4361510}"/>
                  </a:ext>
                </a:extLst>
              </p14:cNvPr>
              <p14:cNvContentPartPr/>
              <p14:nvPr/>
            </p14:nvContentPartPr>
            <p14:xfrm>
              <a:off x="5973126" y="2467399"/>
              <a:ext cx="1381320" cy="1315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E467914-EFD1-4BE3-8F08-B3CEB436151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919486" y="2359399"/>
                <a:ext cx="1488960" cy="15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935F09F-F6E6-4370-AC48-EAFFF079F42A}"/>
                  </a:ext>
                </a:extLst>
              </p14:cNvPr>
              <p14:cNvContentPartPr/>
              <p14:nvPr/>
            </p14:nvContentPartPr>
            <p14:xfrm>
              <a:off x="7192806" y="1927759"/>
              <a:ext cx="919800" cy="10515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935F09F-F6E6-4370-AC48-EAFFF079F42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138806" y="1820119"/>
                <a:ext cx="1027440" cy="12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8102345-6B3D-47BC-AE94-E21A7821A80E}"/>
                  </a:ext>
                </a:extLst>
              </p14:cNvPr>
              <p14:cNvContentPartPr/>
              <p14:nvPr/>
            </p14:nvContentPartPr>
            <p14:xfrm>
              <a:off x="7223046" y="706999"/>
              <a:ext cx="1194120" cy="17611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8102345-6B3D-47BC-AE94-E21A7821A80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169046" y="598999"/>
                <a:ext cx="1301760" cy="19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3A98EA9-FC33-4548-BDC6-144206D4D844}"/>
                  </a:ext>
                </a:extLst>
              </p14:cNvPr>
              <p14:cNvContentPartPr/>
              <p14:nvPr/>
            </p14:nvContentPartPr>
            <p14:xfrm>
              <a:off x="7939806" y="1976719"/>
              <a:ext cx="677160" cy="3394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3A98EA9-FC33-4548-BDC6-144206D4D84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886166" y="1869079"/>
                <a:ext cx="784800" cy="55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5AE152D-9D8A-42EE-9FE3-D6F5AA2C2EA7}"/>
                  </a:ext>
                </a:extLst>
              </p14:cNvPr>
              <p14:cNvContentPartPr/>
              <p14:nvPr/>
            </p14:nvContentPartPr>
            <p14:xfrm>
              <a:off x="7932606" y="625279"/>
              <a:ext cx="2356200" cy="1476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5AE152D-9D8A-42EE-9FE3-D6F5AA2C2EA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878606" y="517279"/>
                <a:ext cx="2463840" cy="169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0ADD8CA-5EB2-440B-85D5-186B7F48EBCB}"/>
                  </a:ext>
                </a:extLst>
              </p14:cNvPr>
              <p14:cNvContentPartPr/>
              <p14:nvPr/>
            </p14:nvContentPartPr>
            <p14:xfrm>
              <a:off x="9338766" y="669919"/>
              <a:ext cx="360" cy="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0ADD8CA-5EB2-440B-85D5-186B7F48EBC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285126" y="56191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D0D9FD0-0566-4BD5-A645-1ABF9BC2779C}"/>
                  </a:ext>
                </a:extLst>
              </p14:cNvPr>
              <p14:cNvContentPartPr/>
              <p14:nvPr/>
            </p14:nvContentPartPr>
            <p14:xfrm>
              <a:off x="9972006" y="530239"/>
              <a:ext cx="1163880" cy="8636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D0D9FD0-0566-4BD5-A645-1ABF9BC2779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918006" y="422239"/>
                <a:ext cx="1271520" cy="10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885F3A9-4143-4328-8E91-29F929A324C1}"/>
                  </a:ext>
                </a:extLst>
              </p14:cNvPr>
              <p14:cNvContentPartPr/>
              <p14:nvPr/>
            </p14:nvContentPartPr>
            <p14:xfrm>
              <a:off x="11228406" y="318199"/>
              <a:ext cx="975960" cy="2185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885F3A9-4143-4328-8E91-29F929A324C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174406" y="210559"/>
                <a:ext cx="1083600" cy="24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B320018-1FB3-4143-B2C7-42246E8D0A47}"/>
                  </a:ext>
                </a:extLst>
              </p14:cNvPr>
              <p14:cNvContentPartPr/>
              <p14:nvPr/>
            </p14:nvContentPartPr>
            <p14:xfrm>
              <a:off x="7017126" y="4903519"/>
              <a:ext cx="1406160" cy="13428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B320018-1FB3-4143-B2C7-42246E8D0A4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963126" y="4795519"/>
                <a:ext cx="1513800" cy="155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122887D-F03F-4E56-82C6-E4924D05F612}"/>
                  </a:ext>
                </a:extLst>
              </p14:cNvPr>
              <p14:cNvContentPartPr/>
              <p14:nvPr/>
            </p14:nvContentPartPr>
            <p14:xfrm>
              <a:off x="8150046" y="3970399"/>
              <a:ext cx="1071720" cy="17762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122887D-F03F-4E56-82C6-E4924D05F61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96406" y="3862759"/>
                <a:ext cx="1179360" cy="19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1EEFD38-2F14-4025-B416-0444DD329F5C}"/>
                  </a:ext>
                </a:extLst>
              </p14:cNvPr>
              <p14:cNvContentPartPr/>
              <p14:nvPr/>
            </p14:nvContentPartPr>
            <p14:xfrm>
              <a:off x="9046806" y="3585559"/>
              <a:ext cx="651600" cy="13406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1EEFD38-2F14-4025-B416-0444DD329F5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93166" y="3477559"/>
                <a:ext cx="759240" cy="15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84001E8-5508-46DA-920C-E87A56723FA6}"/>
                  </a:ext>
                </a:extLst>
              </p14:cNvPr>
              <p14:cNvContentPartPr/>
              <p14:nvPr/>
            </p14:nvContentPartPr>
            <p14:xfrm>
              <a:off x="9424446" y="3481159"/>
              <a:ext cx="846720" cy="13298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84001E8-5508-46DA-920C-E87A56723FA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370446" y="3373159"/>
                <a:ext cx="954360" cy="154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8F24CC4F-C97C-496D-A8BE-F64192FC2CD1}"/>
                  </a:ext>
                </a:extLst>
              </p14:cNvPr>
              <p14:cNvContentPartPr/>
              <p14:nvPr/>
            </p14:nvContentPartPr>
            <p14:xfrm>
              <a:off x="10358286" y="2510599"/>
              <a:ext cx="784080" cy="16840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8F24CC4F-C97C-496D-A8BE-F64192FC2CD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304286" y="2402959"/>
                <a:ext cx="891720" cy="18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5B681DB-A4BE-47D2-AC18-4F934A99453B}"/>
                  </a:ext>
                </a:extLst>
              </p14:cNvPr>
              <p14:cNvContentPartPr/>
              <p14:nvPr/>
            </p14:nvContentPartPr>
            <p14:xfrm>
              <a:off x="11401926" y="5212759"/>
              <a:ext cx="360" cy="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5B681DB-A4BE-47D2-AC18-4F934A99453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348286" y="5105119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052AD14-F579-46D8-B7D1-29F427975AF2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0" y="-104666"/>
            <a:ext cx="12520583" cy="704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94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a 1">
            <a:extLst>
              <a:ext uri="{FF2B5EF4-FFF2-40B4-BE49-F238E27FC236}">
                <a16:creationId xmlns:a16="http://schemas.microsoft.com/office/drawing/2014/main" id="{53F0AB82-B476-4F22-A17B-23BCF502D500}"/>
              </a:ext>
            </a:extLst>
          </p:cNvPr>
          <p:cNvSpPr/>
          <p:nvPr/>
        </p:nvSpPr>
        <p:spPr>
          <a:xfrm>
            <a:off x="914400" y="3350210"/>
            <a:ext cx="2558143" cy="2329543"/>
          </a:xfrm>
          <a:custGeom>
            <a:avLst/>
            <a:gdLst>
              <a:gd name="connsiteX0" fmla="*/ 0 w 2558143"/>
              <a:gd name="connsiteY0" fmla="*/ 1164772 h 2329543"/>
              <a:gd name="connsiteX1" fmla="*/ 1279072 w 2558143"/>
              <a:gd name="connsiteY1" fmla="*/ 0 h 2329543"/>
              <a:gd name="connsiteX2" fmla="*/ 2558144 w 2558143"/>
              <a:gd name="connsiteY2" fmla="*/ 1164772 h 2329543"/>
              <a:gd name="connsiteX3" fmla="*/ 1279072 w 2558143"/>
              <a:gd name="connsiteY3" fmla="*/ 2329544 h 2329543"/>
              <a:gd name="connsiteX4" fmla="*/ 0 w 2558143"/>
              <a:gd name="connsiteY4" fmla="*/ 1164772 h 232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8143" h="2329543" fill="none" extrusionOk="0">
                <a:moveTo>
                  <a:pt x="0" y="1164772"/>
                </a:moveTo>
                <a:cubicBezTo>
                  <a:pt x="76430" y="585358"/>
                  <a:pt x="484786" y="-110198"/>
                  <a:pt x="1279072" y="0"/>
                </a:cubicBezTo>
                <a:cubicBezTo>
                  <a:pt x="1920535" y="4078"/>
                  <a:pt x="2551898" y="546727"/>
                  <a:pt x="2558144" y="1164772"/>
                </a:cubicBezTo>
                <a:cubicBezTo>
                  <a:pt x="2558203" y="1790470"/>
                  <a:pt x="1887425" y="2363102"/>
                  <a:pt x="1279072" y="2329544"/>
                </a:cubicBezTo>
                <a:cubicBezTo>
                  <a:pt x="538330" y="2285125"/>
                  <a:pt x="109996" y="1746365"/>
                  <a:pt x="0" y="1164772"/>
                </a:cubicBezTo>
                <a:close/>
              </a:path>
              <a:path w="2558143" h="2329543" stroke="0" extrusionOk="0">
                <a:moveTo>
                  <a:pt x="0" y="1164772"/>
                </a:moveTo>
                <a:cubicBezTo>
                  <a:pt x="-82097" y="370096"/>
                  <a:pt x="675106" y="-45686"/>
                  <a:pt x="1279072" y="0"/>
                </a:cubicBezTo>
                <a:cubicBezTo>
                  <a:pt x="2052124" y="141272"/>
                  <a:pt x="2465951" y="564470"/>
                  <a:pt x="2558144" y="1164772"/>
                </a:cubicBezTo>
                <a:cubicBezTo>
                  <a:pt x="2540457" y="1792710"/>
                  <a:pt x="2001330" y="2323655"/>
                  <a:pt x="1279072" y="2329544"/>
                </a:cubicBezTo>
                <a:cubicBezTo>
                  <a:pt x="546591" y="2302374"/>
                  <a:pt x="85822" y="1873090"/>
                  <a:pt x="0" y="1164772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4" name="Elipsa 3">
            <a:extLst>
              <a:ext uri="{FF2B5EF4-FFF2-40B4-BE49-F238E27FC236}">
                <a16:creationId xmlns:a16="http://schemas.microsoft.com/office/drawing/2014/main" id="{5122E638-CA5A-498B-89FD-7DA7560F6507}"/>
              </a:ext>
            </a:extLst>
          </p:cNvPr>
          <p:cNvSpPr/>
          <p:nvPr/>
        </p:nvSpPr>
        <p:spPr>
          <a:xfrm>
            <a:off x="5018314" y="3350210"/>
            <a:ext cx="2558143" cy="2329543"/>
          </a:xfrm>
          <a:custGeom>
            <a:avLst/>
            <a:gdLst>
              <a:gd name="connsiteX0" fmla="*/ 0 w 2558143"/>
              <a:gd name="connsiteY0" fmla="*/ 1164772 h 2329543"/>
              <a:gd name="connsiteX1" fmla="*/ 1279072 w 2558143"/>
              <a:gd name="connsiteY1" fmla="*/ 0 h 2329543"/>
              <a:gd name="connsiteX2" fmla="*/ 2558144 w 2558143"/>
              <a:gd name="connsiteY2" fmla="*/ 1164772 h 2329543"/>
              <a:gd name="connsiteX3" fmla="*/ 1279072 w 2558143"/>
              <a:gd name="connsiteY3" fmla="*/ 2329544 h 2329543"/>
              <a:gd name="connsiteX4" fmla="*/ 0 w 2558143"/>
              <a:gd name="connsiteY4" fmla="*/ 1164772 h 232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8143" h="2329543" fill="none" extrusionOk="0">
                <a:moveTo>
                  <a:pt x="0" y="1164772"/>
                </a:moveTo>
                <a:cubicBezTo>
                  <a:pt x="76430" y="585358"/>
                  <a:pt x="484786" y="-110198"/>
                  <a:pt x="1279072" y="0"/>
                </a:cubicBezTo>
                <a:cubicBezTo>
                  <a:pt x="1920535" y="4078"/>
                  <a:pt x="2551898" y="546727"/>
                  <a:pt x="2558144" y="1164772"/>
                </a:cubicBezTo>
                <a:cubicBezTo>
                  <a:pt x="2558203" y="1790470"/>
                  <a:pt x="1887425" y="2363102"/>
                  <a:pt x="1279072" y="2329544"/>
                </a:cubicBezTo>
                <a:cubicBezTo>
                  <a:pt x="538330" y="2285125"/>
                  <a:pt x="109996" y="1746365"/>
                  <a:pt x="0" y="1164772"/>
                </a:cubicBezTo>
                <a:close/>
              </a:path>
              <a:path w="2558143" h="2329543" stroke="0" extrusionOk="0">
                <a:moveTo>
                  <a:pt x="0" y="1164772"/>
                </a:moveTo>
                <a:cubicBezTo>
                  <a:pt x="-82097" y="370096"/>
                  <a:pt x="675106" y="-45686"/>
                  <a:pt x="1279072" y="0"/>
                </a:cubicBezTo>
                <a:cubicBezTo>
                  <a:pt x="2052124" y="141272"/>
                  <a:pt x="2465951" y="564470"/>
                  <a:pt x="2558144" y="1164772"/>
                </a:cubicBezTo>
                <a:cubicBezTo>
                  <a:pt x="2540457" y="1792710"/>
                  <a:pt x="2001330" y="2323655"/>
                  <a:pt x="1279072" y="2329544"/>
                </a:cubicBezTo>
                <a:cubicBezTo>
                  <a:pt x="546591" y="2302374"/>
                  <a:pt x="85822" y="1873090"/>
                  <a:pt x="0" y="1164772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Elipsa 5">
            <a:extLst>
              <a:ext uri="{FF2B5EF4-FFF2-40B4-BE49-F238E27FC236}">
                <a16:creationId xmlns:a16="http://schemas.microsoft.com/office/drawing/2014/main" id="{126BDB7A-0F4B-4F5C-B144-AFA2E3119BBD}"/>
              </a:ext>
            </a:extLst>
          </p:cNvPr>
          <p:cNvSpPr/>
          <p:nvPr/>
        </p:nvSpPr>
        <p:spPr>
          <a:xfrm>
            <a:off x="8958943" y="3350211"/>
            <a:ext cx="2558143" cy="2329543"/>
          </a:xfrm>
          <a:custGeom>
            <a:avLst/>
            <a:gdLst>
              <a:gd name="connsiteX0" fmla="*/ 0 w 2558143"/>
              <a:gd name="connsiteY0" fmla="*/ 1164772 h 2329543"/>
              <a:gd name="connsiteX1" fmla="*/ 1279072 w 2558143"/>
              <a:gd name="connsiteY1" fmla="*/ 0 h 2329543"/>
              <a:gd name="connsiteX2" fmla="*/ 2558144 w 2558143"/>
              <a:gd name="connsiteY2" fmla="*/ 1164772 h 2329543"/>
              <a:gd name="connsiteX3" fmla="*/ 1279072 w 2558143"/>
              <a:gd name="connsiteY3" fmla="*/ 2329544 h 2329543"/>
              <a:gd name="connsiteX4" fmla="*/ 0 w 2558143"/>
              <a:gd name="connsiteY4" fmla="*/ 1164772 h 232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8143" h="2329543" fill="none" extrusionOk="0">
                <a:moveTo>
                  <a:pt x="0" y="1164772"/>
                </a:moveTo>
                <a:cubicBezTo>
                  <a:pt x="76430" y="585358"/>
                  <a:pt x="484786" y="-110198"/>
                  <a:pt x="1279072" y="0"/>
                </a:cubicBezTo>
                <a:cubicBezTo>
                  <a:pt x="1920535" y="4078"/>
                  <a:pt x="2551898" y="546727"/>
                  <a:pt x="2558144" y="1164772"/>
                </a:cubicBezTo>
                <a:cubicBezTo>
                  <a:pt x="2558203" y="1790470"/>
                  <a:pt x="1887425" y="2363102"/>
                  <a:pt x="1279072" y="2329544"/>
                </a:cubicBezTo>
                <a:cubicBezTo>
                  <a:pt x="538330" y="2285125"/>
                  <a:pt x="109996" y="1746365"/>
                  <a:pt x="0" y="1164772"/>
                </a:cubicBezTo>
                <a:close/>
              </a:path>
              <a:path w="2558143" h="2329543" stroke="0" extrusionOk="0">
                <a:moveTo>
                  <a:pt x="0" y="1164772"/>
                </a:moveTo>
                <a:cubicBezTo>
                  <a:pt x="-82097" y="370096"/>
                  <a:pt x="675106" y="-45686"/>
                  <a:pt x="1279072" y="0"/>
                </a:cubicBezTo>
                <a:cubicBezTo>
                  <a:pt x="2052124" y="141272"/>
                  <a:pt x="2465951" y="564470"/>
                  <a:pt x="2558144" y="1164772"/>
                </a:cubicBezTo>
                <a:cubicBezTo>
                  <a:pt x="2540457" y="1792710"/>
                  <a:pt x="2001330" y="2323655"/>
                  <a:pt x="1279072" y="2329544"/>
                </a:cubicBezTo>
                <a:cubicBezTo>
                  <a:pt x="546591" y="2302374"/>
                  <a:pt x="85822" y="1873090"/>
                  <a:pt x="0" y="1164772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81C6C4E6-90BD-4669-AF96-FF8DA80D3915}"/>
              </a:ext>
            </a:extLst>
          </p:cNvPr>
          <p:cNvSpPr txBox="1"/>
          <p:nvPr/>
        </p:nvSpPr>
        <p:spPr>
          <a:xfrm>
            <a:off x="406883" y="5689858"/>
            <a:ext cx="3574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signalizirajuća stanica</a:t>
            </a:r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DE5C3AEC-872E-4F01-8AB2-7DBA3E92B2C6}"/>
              </a:ext>
            </a:extLst>
          </p:cNvPr>
          <p:cNvSpPr txBox="1"/>
          <p:nvPr/>
        </p:nvSpPr>
        <p:spPr>
          <a:xfrm>
            <a:off x="5047450" y="5679753"/>
            <a:ext cx="2471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ciljna stanica</a:t>
            </a: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2C2588DD-64B6-4105-AC05-6318EED00111}"/>
              </a:ext>
            </a:extLst>
          </p:cNvPr>
          <p:cNvSpPr txBox="1"/>
          <p:nvPr/>
        </p:nvSpPr>
        <p:spPr>
          <a:xfrm>
            <a:off x="9046029" y="5679752"/>
            <a:ext cx="2471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druga stanica</a:t>
            </a:r>
          </a:p>
        </p:txBody>
      </p:sp>
      <p:sp>
        <p:nvSpPr>
          <p:cNvPr id="12" name="Dijagram toka: Spremljeni podaci 11">
            <a:extLst>
              <a:ext uri="{FF2B5EF4-FFF2-40B4-BE49-F238E27FC236}">
                <a16:creationId xmlns:a16="http://schemas.microsoft.com/office/drawing/2014/main" id="{37484862-986C-4BFA-B59F-129D7EA83154}"/>
              </a:ext>
            </a:extLst>
          </p:cNvPr>
          <p:cNvSpPr/>
          <p:nvPr/>
        </p:nvSpPr>
        <p:spPr>
          <a:xfrm rot="14165981">
            <a:off x="5404073" y="3242599"/>
            <a:ext cx="411839" cy="424542"/>
          </a:xfrm>
          <a:prstGeom prst="flowChartOnlineStorage">
            <a:avLst/>
          </a:prstGeom>
          <a:solidFill>
            <a:srgbClr val="9BD5C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3" name="Dijagram toka: Odgoda 12">
            <a:extLst>
              <a:ext uri="{FF2B5EF4-FFF2-40B4-BE49-F238E27FC236}">
                <a16:creationId xmlns:a16="http://schemas.microsoft.com/office/drawing/2014/main" id="{832FC3C9-B19B-4509-95FD-FFA88B79AA79}"/>
              </a:ext>
            </a:extLst>
          </p:cNvPr>
          <p:cNvSpPr/>
          <p:nvPr/>
        </p:nvSpPr>
        <p:spPr>
          <a:xfrm rot="5400000">
            <a:off x="3578469" y="2745597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5" name="Dijagram toka: Odgoda 14">
            <a:extLst>
              <a:ext uri="{FF2B5EF4-FFF2-40B4-BE49-F238E27FC236}">
                <a16:creationId xmlns:a16="http://schemas.microsoft.com/office/drawing/2014/main" id="{A3B45830-ABC5-4BF9-A586-B260F130095C}"/>
              </a:ext>
            </a:extLst>
          </p:cNvPr>
          <p:cNvSpPr/>
          <p:nvPr/>
        </p:nvSpPr>
        <p:spPr>
          <a:xfrm rot="5718025">
            <a:off x="3338050" y="3309214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7" name="Dijagram toka: Odgoda 16">
            <a:extLst>
              <a:ext uri="{FF2B5EF4-FFF2-40B4-BE49-F238E27FC236}">
                <a16:creationId xmlns:a16="http://schemas.microsoft.com/office/drawing/2014/main" id="{6B9F6EA8-3124-443A-8C34-71A530EE0B53}"/>
              </a:ext>
            </a:extLst>
          </p:cNvPr>
          <p:cNvSpPr/>
          <p:nvPr/>
        </p:nvSpPr>
        <p:spPr>
          <a:xfrm rot="5101373">
            <a:off x="2655265" y="2873245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9" name="Dijagram toka: Odgoda 18">
            <a:extLst>
              <a:ext uri="{FF2B5EF4-FFF2-40B4-BE49-F238E27FC236}">
                <a16:creationId xmlns:a16="http://schemas.microsoft.com/office/drawing/2014/main" id="{18D5B9A3-FDA1-4C83-97ED-EA160D6D3FC4}"/>
              </a:ext>
            </a:extLst>
          </p:cNvPr>
          <p:cNvSpPr/>
          <p:nvPr/>
        </p:nvSpPr>
        <p:spPr>
          <a:xfrm rot="7217921">
            <a:off x="3054509" y="2308301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21" name="Grafika 20" descr="Strelica: krivulja u smjeru kretanja kazaljke na satu">
            <a:extLst>
              <a:ext uri="{FF2B5EF4-FFF2-40B4-BE49-F238E27FC236}">
                <a16:creationId xmlns:a16="http://schemas.microsoft.com/office/drawing/2014/main" id="{EE412A53-C87D-4AC8-9B40-4094658AF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983237">
            <a:off x="4554631" y="2557523"/>
            <a:ext cx="914400" cy="914400"/>
          </a:xfrm>
          <a:prstGeom prst="rect">
            <a:avLst/>
          </a:prstGeom>
        </p:spPr>
      </p:pic>
      <p:pic>
        <p:nvPicPr>
          <p:cNvPr id="23" name="Grafika 22" descr="Strelica: okomita u obliku slova U">
            <a:extLst>
              <a:ext uri="{FF2B5EF4-FFF2-40B4-BE49-F238E27FC236}">
                <a16:creationId xmlns:a16="http://schemas.microsoft.com/office/drawing/2014/main" id="{C2F25907-953F-4440-A88A-66A362760B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731622">
            <a:off x="8458722" y="2996151"/>
            <a:ext cx="914400" cy="914400"/>
          </a:xfrm>
          <a:prstGeom prst="rect">
            <a:avLst/>
          </a:prstGeom>
        </p:spPr>
      </p:pic>
      <p:sp>
        <p:nvSpPr>
          <p:cNvPr id="25" name="Dijagram toka: Odgoda 24">
            <a:extLst>
              <a:ext uri="{FF2B5EF4-FFF2-40B4-BE49-F238E27FC236}">
                <a16:creationId xmlns:a16="http://schemas.microsoft.com/office/drawing/2014/main" id="{C836F8A7-C28D-405B-80C9-75F13CD6389B}"/>
              </a:ext>
            </a:extLst>
          </p:cNvPr>
          <p:cNvSpPr/>
          <p:nvPr/>
        </p:nvSpPr>
        <p:spPr>
          <a:xfrm rot="3448899">
            <a:off x="4111162" y="2930246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7" name="Dijagram toka: Odgoda 26">
            <a:extLst>
              <a:ext uri="{FF2B5EF4-FFF2-40B4-BE49-F238E27FC236}">
                <a16:creationId xmlns:a16="http://schemas.microsoft.com/office/drawing/2014/main" id="{1281E09B-F97D-40A3-A009-B6CF0409FC72}"/>
              </a:ext>
            </a:extLst>
          </p:cNvPr>
          <p:cNvSpPr/>
          <p:nvPr/>
        </p:nvSpPr>
        <p:spPr>
          <a:xfrm rot="3448899">
            <a:off x="8111541" y="3035932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29" name="Grafika 28" descr="Strelica dolje">
            <a:extLst>
              <a:ext uri="{FF2B5EF4-FFF2-40B4-BE49-F238E27FC236}">
                <a16:creationId xmlns:a16="http://schemas.microsoft.com/office/drawing/2014/main" id="{A406C3DD-B398-4047-A275-1CF59D76B3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5030" y="3744180"/>
            <a:ext cx="483438" cy="483438"/>
          </a:xfrm>
          <a:prstGeom prst="rect">
            <a:avLst/>
          </a:prstGeom>
        </p:spPr>
      </p:pic>
      <p:pic>
        <p:nvPicPr>
          <p:cNvPr id="31" name="Grafika 30" descr="Strelica dolje">
            <a:extLst>
              <a:ext uri="{FF2B5EF4-FFF2-40B4-BE49-F238E27FC236}">
                <a16:creationId xmlns:a16="http://schemas.microsoft.com/office/drawing/2014/main" id="{5F0637FF-61D3-41AA-B1C8-42D407CA5D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5030" y="4318915"/>
            <a:ext cx="483438" cy="483438"/>
          </a:xfrm>
          <a:prstGeom prst="rect">
            <a:avLst/>
          </a:prstGeom>
        </p:spPr>
      </p:pic>
      <p:sp>
        <p:nvSpPr>
          <p:cNvPr id="33" name="TekstniOkvir 32">
            <a:extLst>
              <a:ext uri="{FF2B5EF4-FFF2-40B4-BE49-F238E27FC236}">
                <a16:creationId xmlns:a16="http://schemas.microsoft.com/office/drawing/2014/main" id="{5CA4C3BE-FA3C-4272-874A-0E1FBD33538E}"/>
              </a:ext>
            </a:extLst>
          </p:cNvPr>
          <p:cNvSpPr txBox="1"/>
          <p:nvPr/>
        </p:nvSpPr>
        <p:spPr>
          <a:xfrm>
            <a:off x="5305988" y="4802353"/>
            <a:ext cx="1974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000" dirty="0">
                <a:latin typeface="Comic Sans MS" panose="030F0702030302020204" pitchFamily="66" charset="0"/>
              </a:rPr>
              <a:t>stanični odgovor</a:t>
            </a:r>
          </a:p>
        </p:txBody>
      </p:sp>
      <p:cxnSp>
        <p:nvCxnSpPr>
          <p:cNvPr id="35" name="Ravni poveznik 34">
            <a:extLst>
              <a:ext uri="{FF2B5EF4-FFF2-40B4-BE49-F238E27FC236}">
                <a16:creationId xmlns:a16="http://schemas.microsoft.com/office/drawing/2014/main" id="{3AC5075E-8041-473C-B3DD-070AA37EDFB7}"/>
              </a:ext>
            </a:extLst>
          </p:cNvPr>
          <p:cNvCxnSpPr>
            <a:cxnSpLocks/>
          </p:cNvCxnSpPr>
          <p:nvPr/>
        </p:nvCxnSpPr>
        <p:spPr>
          <a:xfrm flipH="1">
            <a:off x="5658037" y="2810481"/>
            <a:ext cx="510431" cy="621099"/>
          </a:xfrm>
          <a:prstGeom prst="line">
            <a:avLst/>
          </a:prstGeom>
          <a:ln w="285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avni poveznik 36">
            <a:extLst>
              <a:ext uri="{FF2B5EF4-FFF2-40B4-BE49-F238E27FC236}">
                <a16:creationId xmlns:a16="http://schemas.microsoft.com/office/drawing/2014/main" id="{EA14976A-D81B-4F01-AA71-EE79CE826E12}"/>
              </a:ext>
            </a:extLst>
          </p:cNvPr>
          <p:cNvCxnSpPr>
            <a:cxnSpLocks/>
          </p:cNvCxnSpPr>
          <p:nvPr/>
        </p:nvCxnSpPr>
        <p:spPr>
          <a:xfrm>
            <a:off x="2126178" y="2657593"/>
            <a:ext cx="600727" cy="346743"/>
          </a:xfrm>
          <a:prstGeom prst="line">
            <a:avLst/>
          </a:prstGeom>
          <a:ln w="285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kstniOkvir 40">
            <a:extLst>
              <a:ext uri="{FF2B5EF4-FFF2-40B4-BE49-F238E27FC236}">
                <a16:creationId xmlns:a16="http://schemas.microsoft.com/office/drawing/2014/main" id="{AC65CE07-74DC-4223-89D4-0350B6B4BEFD}"/>
              </a:ext>
            </a:extLst>
          </p:cNvPr>
          <p:cNvSpPr txBox="1"/>
          <p:nvPr/>
        </p:nvSpPr>
        <p:spPr>
          <a:xfrm>
            <a:off x="5614543" y="2366296"/>
            <a:ext cx="1480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receptor</a:t>
            </a:r>
          </a:p>
        </p:txBody>
      </p:sp>
      <p:sp>
        <p:nvSpPr>
          <p:cNvPr id="43" name="TekstniOkvir 42">
            <a:extLst>
              <a:ext uri="{FF2B5EF4-FFF2-40B4-BE49-F238E27FC236}">
                <a16:creationId xmlns:a16="http://schemas.microsoft.com/office/drawing/2014/main" id="{7D2C4AE0-37D4-4886-9A9C-8748ACF85AFA}"/>
              </a:ext>
            </a:extLst>
          </p:cNvPr>
          <p:cNvSpPr txBox="1"/>
          <p:nvPr/>
        </p:nvSpPr>
        <p:spPr>
          <a:xfrm>
            <a:off x="649468" y="2240872"/>
            <a:ext cx="1480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signalna molekula</a:t>
            </a:r>
          </a:p>
        </p:txBody>
      </p:sp>
      <p:pic>
        <p:nvPicPr>
          <p:cNvPr id="48" name="Grafika 47" descr="Strelica dolje">
            <a:extLst>
              <a:ext uri="{FF2B5EF4-FFF2-40B4-BE49-F238E27FC236}">
                <a16:creationId xmlns:a16="http://schemas.microsoft.com/office/drawing/2014/main" id="{9CCC1A9C-6FB5-40DE-BBFA-723422B590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3484219">
            <a:off x="2651679" y="3329458"/>
            <a:ext cx="483438" cy="483438"/>
          </a:xfrm>
          <a:prstGeom prst="rect">
            <a:avLst/>
          </a:prstGeom>
        </p:spPr>
      </p:pic>
      <p:sp>
        <p:nvSpPr>
          <p:cNvPr id="50" name="TekstniOkvir 49">
            <a:extLst>
              <a:ext uri="{FF2B5EF4-FFF2-40B4-BE49-F238E27FC236}">
                <a16:creationId xmlns:a16="http://schemas.microsoft.com/office/drawing/2014/main" id="{2EE74750-46B6-4651-98CC-C404C2E5DDD3}"/>
              </a:ext>
            </a:extLst>
          </p:cNvPr>
          <p:cNvSpPr txBox="1"/>
          <p:nvPr/>
        </p:nvSpPr>
        <p:spPr>
          <a:xfrm>
            <a:off x="1688295" y="3706026"/>
            <a:ext cx="2378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b="1" dirty="0">
                <a:latin typeface="Comic Sans MS" panose="030F0702030302020204" pitchFamily="66" charset="0"/>
              </a:rPr>
              <a:t>EGZOCITOZA</a:t>
            </a:r>
          </a:p>
        </p:txBody>
      </p:sp>
      <p:sp>
        <p:nvSpPr>
          <p:cNvPr id="28" name="TekstniOkvir 2">
            <a:extLst>
              <a:ext uri="{FF2B5EF4-FFF2-40B4-BE49-F238E27FC236}">
                <a16:creationId xmlns:a16="http://schemas.microsoft.com/office/drawing/2014/main" id="{242C6570-3CFF-4726-904E-53385D665E67}"/>
              </a:ext>
            </a:extLst>
          </p:cNvPr>
          <p:cNvSpPr txBox="1"/>
          <p:nvPr/>
        </p:nvSpPr>
        <p:spPr>
          <a:xfrm>
            <a:off x="831942" y="253160"/>
            <a:ext cx="8573276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hr-HR" sz="40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+mj-lt"/>
              </a:rPr>
              <a:t>Stanična signalizacija</a:t>
            </a:r>
          </a:p>
        </p:txBody>
      </p:sp>
    </p:spTree>
    <p:extLst>
      <p:ext uri="{BB962C8B-B14F-4D97-AF65-F5344CB8AC3E}">
        <p14:creationId xmlns:p14="http://schemas.microsoft.com/office/powerpoint/2010/main" val="379162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/>
      <p:bldP spid="9" grpId="0"/>
      <p:bldP spid="11" grpId="0"/>
      <p:bldP spid="12" grpId="0" animBg="1"/>
      <p:bldP spid="13" grpId="0" animBg="1"/>
      <p:bldP spid="15" grpId="0" animBg="1"/>
      <p:bldP spid="17" grpId="0" animBg="1"/>
      <p:bldP spid="19" grpId="0" animBg="1"/>
      <p:bldP spid="25" grpId="0" animBg="1"/>
      <p:bldP spid="27" grpId="0" animBg="1"/>
      <p:bldP spid="33" grpId="0"/>
      <p:bldP spid="41" grpId="0"/>
      <p:bldP spid="43" grpId="0"/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a 1">
            <a:extLst>
              <a:ext uri="{FF2B5EF4-FFF2-40B4-BE49-F238E27FC236}">
                <a16:creationId xmlns:a16="http://schemas.microsoft.com/office/drawing/2014/main" id="{FCE224FA-F0B5-4E07-84A1-AD06F750682F}"/>
              </a:ext>
            </a:extLst>
          </p:cNvPr>
          <p:cNvSpPr/>
          <p:nvPr/>
        </p:nvSpPr>
        <p:spPr>
          <a:xfrm>
            <a:off x="7893734" y="3156436"/>
            <a:ext cx="2558143" cy="2329543"/>
          </a:xfrm>
          <a:custGeom>
            <a:avLst/>
            <a:gdLst>
              <a:gd name="connsiteX0" fmla="*/ 0 w 2558143"/>
              <a:gd name="connsiteY0" fmla="*/ 1164772 h 2329543"/>
              <a:gd name="connsiteX1" fmla="*/ 1279072 w 2558143"/>
              <a:gd name="connsiteY1" fmla="*/ 0 h 2329543"/>
              <a:gd name="connsiteX2" fmla="*/ 2558144 w 2558143"/>
              <a:gd name="connsiteY2" fmla="*/ 1164772 h 2329543"/>
              <a:gd name="connsiteX3" fmla="*/ 1279072 w 2558143"/>
              <a:gd name="connsiteY3" fmla="*/ 2329544 h 2329543"/>
              <a:gd name="connsiteX4" fmla="*/ 0 w 2558143"/>
              <a:gd name="connsiteY4" fmla="*/ 1164772 h 232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8143" h="2329543" fill="none" extrusionOk="0">
                <a:moveTo>
                  <a:pt x="0" y="1164772"/>
                </a:moveTo>
                <a:cubicBezTo>
                  <a:pt x="76430" y="585358"/>
                  <a:pt x="484786" y="-110198"/>
                  <a:pt x="1279072" y="0"/>
                </a:cubicBezTo>
                <a:cubicBezTo>
                  <a:pt x="1920535" y="4078"/>
                  <a:pt x="2551898" y="546727"/>
                  <a:pt x="2558144" y="1164772"/>
                </a:cubicBezTo>
                <a:cubicBezTo>
                  <a:pt x="2558203" y="1790470"/>
                  <a:pt x="1887425" y="2363102"/>
                  <a:pt x="1279072" y="2329544"/>
                </a:cubicBezTo>
                <a:cubicBezTo>
                  <a:pt x="538330" y="2285125"/>
                  <a:pt x="109996" y="1746365"/>
                  <a:pt x="0" y="1164772"/>
                </a:cubicBezTo>
                <a:close/>
              </a:path>
              <a:path w="2558143" h="2329543" stroke="0" extrusionOk="0">
                <a:moveTo>
                  <a:pt x="0" y="1164772"/>
                </a:moveTo>
                <a:cubicBezTo>
                  <a:pt x="-82097" y="370096"/>
                  <a:pt x="675106" y="-45686"/>
                  <a:pt x="1279072" y="0"/>
                </a:cubicBezTo>
                <a:cubicBezTo>
                  <a:pt x="2052124" y="141272"/>
                  <a:pt x="2465951" y="564470"/>
                  <a:pt x="2558144" y="1164772"/>
                </a:cubicBezTo>
                <a:cubicBezTo>
                  <a:pt x="2540457" y="1792710"/>
                  <a:pt x="2001330" y="2323655"/>
                  <a:pt x="1279072" y="2329544"/>
                </a:cubicBezTo>
                <a:cubicBezTo>
                  <a:pt x="546591" y="2302374"/>
                  <a:pt x="85822" y="1873090"/>
                  <a:pt x="0" y="1164772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" name="Dijagram toka: Spremljeni podaci 2">
            <a:extLst>
              <a:ext uri="{FF2B5EF4-FFF2-40B4-BE49-F238E27FC236}">
                <a16:creationId xmlns:a16="http://schemas.microsoft.com/office/drawing/2014/main" id="{332EEE74-B36C-443B-AE93-557565FBE41C}"/>
              </a:ext>
            </a:extLst>
          </p:cNvPr>
          <p:cNvSpPr/>
          <p:nvPr/>
        </p:nvSpPr>
        <p:spPr>
          <a:xfrm rot="16200000">
            <a:off x="8966886" y="2828199"/>
            <a:ext cx="411839" cy="424542"/>
          </a:xfrm>
          <a:prstGeom prst="flowChartOnlineStorage">
            <a:avLst/>
          </a:prstGeom>
          <a:solidFill>
            <a:srgbClr val="9BD5C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4" name="Dijagram toka: Odgoda 3">
            <a:extLst>
              <a:ext uri="{FF2B5EF4-FFF2-40B4-BE49-F238E27FC236}">
                <a16:creationId xmlns:a16="http://schemas.microsoft.com/office/drawing/2014/main" id="{61DA00AE-2B16-4D22-88CB-44CF7DCA192E}"/>
              </a:ext>
            </a:extLst>
          </p:cNvPr>
          <p:cNvSpPr/>
          <p:nvPr/>
        </p:nvSpPr>
        <p:spPr>
          <a:xfrm rot="5400000">
            <a:off x="9025418" y="2527130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9795DFAF-4F40-409F-9F55-8C899293EEF6}"/>
              </a:ext>
            </a:extLst>
          </p:cNvPr>
          <p:cNvSpPr txBox="1"/>
          <p:nvPr/>
        </p:nvSpPr>
        <p:spPr>
          <a:xfrm>
            <a:off x="9767143" y="2791377"/>
            <a:ext cx="2698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membranski receptor</a:t>
            </a:r>
          </a:p>
        </p:txBody>
      </p:sp>
      <p:cxnSp>
        <p:nvCxnSpPr>
          <p:cNvPr id="6" name="Ravni poveznik 5">
            <a:extLst>
              <a:ext uri="{FF2B5EF4-FFF2-40B4-BE49-F238E27FC236}">
                <a16:creationId xmlns:a16="http://schemas.microsoft.com/office/drawing/2014/main" id="{86DED62C-0FB9-45C3-94CC-9A2E3653CF40}"/>
              </a:ext>
            </a:extLst>
          </p:cNvPr>
          <p:cNvCxnSpPr>
            <a:cxnSpLocks/>
          </p:cNvCxnSpPr>
          <p:nvPr/>
        </p:nvCxnSpPr>
        <p:spPr>
          <a:xfrm flipH="1">
            <a:off x="9172806" y="2282595"/>
            <a:ext cx="690569" cy="415499"/>
          </a:xfrm>
          <a:prstGeom prst="line">
            <a:avLst/>
          </a:prstGeom>
          <a:ln w="285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kstniOkvir 6">
            <a:extLst>
              <a:ext uri="{FF2B5EF4-FFF2-40B4-BE49-F238E27FC236}">
                <a16:creationId xmlns:a16="http://schemas.microsoft.com/office/drawing/2014/main" id="{F90D61AF-043B-4DD8-AC20-3FA0FF6DC183}"/>
              </a:ext>
            </a:extLst>
          </p:cNvPr>
          <p:cNvSpPr txBox="1"/>
          <p:nvPr/>
        </p:nvSpPr>
        <p:spPr>
          <a:xfrm>
            <a:off x="9648771" y="1816657"/>
            <a:ext cx="1846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signalna molekula</a:t>
            </a:r>
          </a:p>
        </p:txBody>
      </p:sp>
      <p:cxnSp>
        <p:nvCxnSpPr>
          <p:cNvPr id="8" name="Ravni poveznik 7">
            <a:extLst>
              <a:ext uri="{FF2B5EF4-FFF2-40B4-BE49-F238E27FC236}">
                <a16:creationId xmlns:a16="http://schemas.microsoft.com/office/drawing/2014/main" id="{C0E105E2-F53A-453C-B90D-D71E345B9BCF}"/>
              </a:ext>
            </a:extLst>
          </p:cNvPr>
          <p:cNvCxnSpPr>
            <a:cxnSpLocks/>
          </p:cNvCxnSpPr>
          <p:nvPr/>
        </p:nvCxnSpPr>
        <p:spPr>
          <a:xfrm flipH="1">
            <a:off x="9182279" y="3055556"/>
            <a:ext cx="960097" cy="1"/>
          </a:xfrm>
          <a:prstGeom prst="line">
            <a:avLst/>
          </a:prstGeom>
          <a:ln w="285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jagram toka: Odgoda 8">
            <a:extLst>
              <a:ext uri="{FF2B5EF4-FFF2-40B4-BE49-F238E27FC236}">
                <a16:creationId xmlns:a16="http://schemas.microsoft.com/office/drawing/2014/main" id="{85A9A093-2BA7-448B-AFA6-E32A56CC1A43}"/>
              </a:ext>
            </a:extLst>
          </p:cNvPr>
          <p:cNvSpPr/>
          <p:nvPr/>
        </p:nvSpPr>
        <p:spPr>
          <a:xfrm rot="3762313">
            <a:off x="8548712" y="3926950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0" name="Dijagram toka: Odgoda 9">
            <a:extLst>
              <a:ext uri="{FF2B5EF4-FFF2-40B4-BE49-F238E27FC236}">
                <a16:creationId xmlns:a16="http://schemas.microsoft.com/office/drawing/2014/main" id="{51C930F3-BE16-414F-85CD-1E932559F959}"/>
              </a:ext>
            </a:extLst>
          </p:cNvPr>
          <p:cNvSpPr/>
          <p:nvPr/>
        </p:nvSpPr>
        <p:spPr>
          <a:xfrm rot="3257329">
            <a:off x="7634158" y="2781917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16" name="Grafika 15" descr="Strelica: krivulja u smjeru kretanja kazaljke na satu">
            <a:extLst>
              <a:ext uri="{FF2B5EF4-FFF2-40B4-BE49-F238E27FC236}">
                <a16:creationId xmlns:a16="http://schemas.microsoft.com/office/drawing/2014/main" id="{23AB0DD8-2B0C-4824-BBCD-5643B429A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6381326">
            <a:off x="7961739" y="2030912"/>
            <a:ext cx="914400" cy="914400"/>
          </a:xfrm>
          <a:prstGeom prst="rect">
            <a:avLst/>
          </a:prstGeom>
        </p:spPr>
      </p:pic>
      <p:pic>
        <p:nvPicPr>
          <p:cNvPr id="20" name="Grafika 19" descr="Strelica gore">
            <a:extLst>
              <a:ext uri="{FF2B5EF4-FFF2-40B4-BE49-F238E27FC236}">
                <a16:creationId xmlns:a16="http://schemas.microsoft.com/office/drawing/2014/main" id="{CB0B4CFF-11F1-42B2-8C14-E37302B1B1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305901">
            <a:off x="7744954" y="3089294"/>
            <a:ext cx="914400" cy="914400"/>
          </a:xfrm>
          <a:prstGeom prst="rect">
            <a:avLst/>
          </a:prstGeom>
        </p:spPr>
      </p:pic>
      <p:sp>
        <p:nvSpPr>
          <p:cNvPr id="21" name="Oblačić za govor: pravokutnik sa zaobljenim kutovima 20">
            <a:extLst>
              <a:ext uri="{FF2B5EF4-FFF2-40B4-BE49-F238E27FC236}">
                <a16:creationId xmlns:a16="http://schemas.microsoft.com/office/drawing/2014/main" id="{3A51B947-97D5-47C5-A8DC-0E7006916368}"/>
              </a:ext>
            </a:extLst>
          </p:cNvPr>
          <p:cNvSpPr/>
          <p:nvPr/>
        </p:nvSpPr>
        <p:spPr>
          <a:xfrm>
            <a:off x="1134759" y="1726112"/>
            <a:ext cx="5442009" cy="1134889"/>
          </a:xfrm>
          <a:custGeom>
            <a:avLst/>
            <a:gdLst>
              <a:gd name="connsiteX0" fmla="*/ 0 w 5442009"/>
              <a:gd name="connsiteY0" fmla="*/ 189152 h 1134889"/>
              <a:gd name="connsiteX1" fmla="*/ 189152 w 5442009"/>
              <a:gd name="connsiteY1" fmla="*/ 0 h 1134889"/>
              <a:gd name="connsiteX2" fmla="*/ 562434 w 5442009"/>
              <a:gd name="connsiteY2" fmla="*/ 0 h 1134889"/>
              <a:gd name="connsiteX3" fmla="*/ 907002 w 5442009"/>
              <a:gd name="connsiteY3" fmla="*/ 0 h 1134889"/>
              <a:gd name="connsiteX4" fmla="*/ 492244 w 5442009"/>
              <a:gd name="connsiteY4" fmla="*/ -268829 h 1134889"/>
              <a:gd name="connsiteX5" fmla="*/ 24537 w 5442009"/>
              <a:gd name="connsiteY5" fmla="*/ -571977 h 1134889"/>
              <a:gd name="connsiteX6" fmla="*/ -416695 w 5442009"/>
              <a:gd name="connsiteY6" fmla="*/ -857965 h 1134889"/>
              <a:gd name="connsiteX7" fmla="*/ 173829 w 5442009"/>
              <a:gd name="connsiteY7" fmla="*/ -669213 h 1134889"/>
              <a:gd name="connsiteX8" fmla="*/ 656985 w 5442009"/>
              <a:gd name="connsiteY8" fmla="*/ -514779 h 1134889"/>
              <a:gd name="connsiteX9" fmla="*/ 1140140 w 5442009"/>
              <a:gd name="connsiteY9" fmla="*/ -360345 h 1134889"/>
              <a:gd name="connsiteX10" fmla="*/ 1676980 w 5442009"/>
              <a:gd name="connsiteY10" fmla="*/ -188752 h 1134889"/>
              <a:gd name="connsiteX11" fmla="*/ 2267504 w 5442009"/>
              <a:gd name="connsiteY11" fmla="*/ 0 h 1134889"/>
              <a:gd name="connsiteX12" fmla="*/ 2775014 w 5442009"/>
              <a:gd name="connsiteY12" fmla="*/ 0 h 1134889"/>
              <a:gd name="connsiteX13" fmla="*/ 3431792 w 5442009"/>
              <a:gd name="connsiteY13" fmla="*/ 0 h 1134889"/>
              <a:gd name="connsiteX14" fmla="*/ 3969155 w 5442009"/>
              <a:gd name="connsiteY14" fmla="*/ 0 h 1134889"/>
              <a:gd name="connsiteX15" fmla="*/ 4566226 w 5442009"/>
              <a:gd name="connsiteY15" fmla="*/ 0 h 1134889"/>
              <a:gd name="connsiteX16" fmla="*/ 5252857 w 5442009"/>
              <a:gd name="connsiteY16" fmla="*/ 0 h 1134889"/>
              <a:gd name="connsiteX17" fmla="*/ 5442009 w 5442009"/>
              <a:gd name="connsiteY17" fmla="*/ 189152 h 1134889"/>
              <a:gd name="connsiteX18" fmla="*/ 5442009 w 5442009"/>
              <a:gd name="connsiteY18" fmla="*/ 189148 h 1134889"/>
              <a:gd name="connsiteX19" fmla="*/ 5442009 w 5442009"/>
              <a:gd name="connsiteY19" fmla="*/ 189148 h 1134889"/>
              <a:gd name="connsiteX20" fmla="*/ 5442009 w 5442009"/>
              <a:gd name="connsiteY20" fmla="*/ 472870 h 1134889"/>
              <a:gd name="connsiteX21" fmla="*/ 5442009 w 5442009"/>
              <a:gd name="connsiteY21" fmla="*/ 945737 h 1134889"/>
              <a:gd name="connsiteX22" fmla="*/ 5252857 w 5442009"/>
              <a:gd name="connsiteY22" fmla="*/ 1134889 h 1134889"/>
              <a:gd name="connsiteX23" fmla="*/ 4655786 w 5442009"/>
              <a:gd name="connsiteY23" fmla="*/ 1134889 h 1134889"/>
              <a:gd name="connsiteX24" fmla="*/ 4148276 w 5442009"/>
              <a:gd name="connsiteY24" fmla="*/ 1134889 h 1134889"/>
              <a:gd name="connsiteX25" fmla="*/ 3640766 w 5442009"/>
              <a:gd name="connsiteY25" fmla="*/ 1134889 h 1134889"/>
              <a:gd name="connsiteX26" fmla="*/ 3013842 w 5442009"/>
              <a:gd name="connsiteY26" fmla="*/ 1134889 h 1134889"/>
              <a:gd name="connsiteX27" fmla="*/ 2267504 w 5442009"/>
              <a:gd name="connsiteY27" fmla="*/ 1134889 h 1134889"/>
              <a:gd name="connsiteX28" fmla="*/ 1560043 w 5442009"/>
              <a:gd name="connsiteY28" fmla="*/ 1134889 h 1134889"/>
              <a:gd name="connsiteX29" fmla="*/ 907002 w 5442009"/>
              <a:gd name="connsiteY29" fmla="*/ 1134889 h 1134889"/>
              <a:gd name="connsiteX30" fmla="*/ 907002 w 5442009"/>
              <a:gd name="connsiteY30" fmla="*/ 1134889 h 1134889"/>
              <a:gd name="connsiteX31" fmla="*/ 548077 w 5442009"/>
              <a:gd name="connsiteY31" fmla="*/ 1134889 h 1134889"/>
              <a:gd name="connsiteX32" fmla="*/ 189152 w 5442009"/>
              <a:gd name="connsiteY32" fmla="*/ 1134889 h 1134889"/>
              <a:gd name="connsiteX33" fmla="*/ 0 w 5442009"/>
              <a:gd name="connsiteY33" fmla="*/ 945737 h 1134889"/>
              <a:gd name="connsiteX34" fmla="*/ 0 w 5442009"/>
              <a:gd name="connsiteY34" fmla="*/ 472870 h 1134889"/>
              <a:gd name="connsiteX35" fmla="*/ 0 w 5442009"/>
              <a:gd name="connsiteY35" fmla="*/ 189148 h 1134889"/>
              <a:gd name="connsiteX36" fmla="*/ 0 w 5442009"/>
              <a:gd name="connsiteY36" fmla="*/ 189148 h 1134889"/>
              <a:gd name="connsiteX37" fmla="*/ 0 w 5442009"/>
              <a:gd name="connsiteY37" fmla="*/ 189152 h 1134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442009" h="1134889" extrusionOk="0">
                <a:moveTo>
                  <a:pt x="0" y="189152"/>
                </a:moveTo>
                <a:cubicBezTo>
                  <a:pt x="-15898" y="74880"/>
                  <a:pt x="63936" y="7788"/>
                  <a:pt x="189152" y="0"/>
                </a:cubicBezTo>
                <a:cubicBezTo>
                  <a:pt x="362726" y="-10943"/>
                  <a:pt x="414522" y="-6840"/>
                  <a:pt x="562434" y="0"/>
                </a:cubicBezTo>
                <a:cubicBezTo>
                  <a:pt x="710346" y="6840"/>
                  <a:pt x="771620" y="-10971"/>
                  <a:pt x="907002" y="0"/>
                </a:cubicBezTo>
                <a:cubicBezTo>
                  <a:pt x="810186" y="-57598"/>
                  <a:pt x="683280" y="-166523"/>
                  <a:pt x="492244" y="-268829"/>
                </a:cubicBezTo>
                <a:cubicBezTo>
                  <a:pt x="301208" y="-371135"/>
                  <a:pt x="166490" y="-481834"/>
                  <a:pt x="24537" y="-571977"/>
                </a:cubicBezTo>
                <a:cubicBezTo>
                  <a:pt x="-117416" y="-662120"/>
                  <a:pt x="-301272" y="-797503"/>
                  <a:pt x="-416695" y="-857965"/>
                </a:cubicBezTo>
                <a:cubicBezTo>
                  <a:pt x="-194162" y="-799586"/>
                  <a:pt x="-102462" y="-726968"/>
                  <a:pt x="173829" y="-669213"/>
                </a:cubicBezTo>
                <a:cubicBezTo>
                  <a:pt x="450120" y="-611457"/>
                  <a:pt x="480201" y="-594250"/>
                  <a:pt x="656985" y="-514779"/>
                </a:cubicBezTo>
                <a:cubicBezTo>
                  <a:pt x="833769" y="-435308"/>
                  <a:pt x="997787" y="-403319"/>
                  <a:pt x="1140140" y="-360345"/>
                </a:cubicBezTo>
                <a:cubicBezTo>
                  <a:pt x="1282493" y="-317371"/>
                  <a:pt x="1458970" y="-274266"/>
                  <a:pt x="1676980" y="-188752"/>
                </a:cubicBezTo>
                <a:cubicBezTo>
                  <a:pt x="1894990" y="-103238"/>
                  <a:pt x="2111860" y="-42658"/>
                  <a:pt x="2267504" y="0"/>
                </a:cubicBezTo>
                <a:cubicBezTo>
                  <a:pt x="2424376" y="21871"/>
                  <a:pt x="2527564" y="-7620"/>
                  <a:pt x="2775014" y="0"/>
                </a:cubicBezTo>
                <a:cubicBezTo>
                  <a:pt x="3022464" y="7620"/>
                  <a:pt x="3194241" y="13341"/>
                  <a:pt x="3431792" y="0"/>
                </a:cubicBezTo>
                <a:cubicBezTo>
                  <a:pt x="3669343" y="-13341"/>
                  <a:pt x="3784015" y="-1369"/>
                  <a:pt x="3969155" y="0"/>
                </a:cubicBezTo>
                <a:cubicBezTo>
                  <a:pt x="4154295" y="1369"/>
                  <a:pt x="4302197" y="-27426"/>
                  <a:pt x="4566226" y="0"/>
                </a:cubicBezTo>
                <a:cubicBezTo>
                  <a:pt x="4830255" y="27426"/>
                  <a:pt x="5029976" y="-1567"/>
                  <a:pt x="5252857" y="0"/>
                </a:cubicBezTo>
                <a:cubicBezTo>
                  <a:pt x="5355853" y="-4422"/>
                  <a:pt x="5449837" y="83096"/>
                  <a:pt x="5442009" y="189152"/>
                </a:cubicBezTo>
                <a:lnTo>
                  <a:pt x="5442009" y="189148"/>
                </a:lnTo>
                <a:lnTo>
                  <a:pt x="5442009" y="189148"/>
                </a:lnTo>
                <a:cubicBezTo>
                  <a:pt x="5444470" y="317005"/>
                  <a:pt x="5435902" y="392464"/>
                  <a:pt x="5442009" y="472870"/>
                </a:cubicBezTo>
                <a:cubicBezTo>
                  <a:pt x="5461771" y="585622"/>
                  <a:pt x="5421833" y="791620"/>
                  <a:pt x="5442009" y="945737"/>
                </a:cubicBezTo>
                <a:cubicBezTo>
                  <a:pt x="5443490" y="1064270"/>
                  <a:pt x="5361710" y="1133413"/>
                  <a:pt x="5252857" y="1134889"/>
                </a:cubicBezTo>
                <a:cubicBezTo>
                  <a:pt x="5065643" y="1135206"/>
                  <a:pt x="4903139" y="1127275"/>
                  <a:pt x="4655786" y="1134889"/>
                </a:cubicBezTo>
                <a:cubicBezTo>
                  <a:pt x="4408433" y="1142503"/>
                  <a:pt x="4271281" y="1111137"/>
                  <a:pt x="4148276" y="1134889"/>
                </a:cubicBezTo>
                <a:cubicBezTo>
                  <a:pt x="4025271" y="1158642"/>
                  <a:pt x="3761508" y="1119283"/>
                  <a:pt x="3640766" y="1134889"/>
                </a:cubicBezTo>
                <a:cubicBezTo>
                  <a:pt x="3520024" y="1150496"/>
                  <a:pt x="3273585" y="1131468"/>
                  <a:pt x="3013842" y="1134889"/>
                </a:cubicBezTo>
                <a:cubicBezTo>
                  <a:pt x="2754099" y="1138310"/>
                  <a:pt x="2582690" y="1168534"/>
                  <a:pt x="2267504" y="1134889"/>
                </a:cubicBezTo>
                <a:cubicBezTo>
                  <a:pt x="1913947" y="1152733"/>
                  <a:pt x="1852763" y="1150422"/>
                  <a:pt x="1560043" y="1134889"/>
                </a:cubicBezTo>
                <a:cubicBezTo>
                  <a:pt x="1267323" y="1119356"/>
                  <a:pt x="1082287" y="1107092"/>
                  <a:pt x="907002" y="1134889"/>
                </a:cubicBezTo>
                <a:lnTo>
                  <a:pt x="907002" y="1134889"/>
                </a:lnTo>
                <a:cubicBezTo>
                  <a:pt x="795874" y="1145202"/>
                  <a:pt x="674437" y="1146679"/>
                  <a:pt x="548077" y="1134889"/>
                </a:cubicBezTo>
                <a:cubicBezTo>
                  <a:pt x="421718" y="1123099"/>
                  <a:pt x="276570" y="1130357"/>
                  <a:pt x="189152" y="1134889"/>
                </a:cubicBezTo>
                <a:cubicBezTo>
                  <a:pt x="64044" y="1146464"/>
                  <a:pt x="828" y="1052447"/>
                  <a:pt x="0" y="945737"/>
                </a:cubicBezTo>
                <a:cubicBezTo>
                  <a:pt x="2109" y="826810"/>
                  <a:pt x="-3011" y="694455"/>
                  <a:pt x="0" y="472870"/>
                </a:cubicBezTo>
                <a:cubicBezTo>
                  <a:pt x="-5019" y="373322"/>
                  <a:pt x="-4645" y="329953"/>
                  <a:pt x="0" y="189148"/>
                </a:cubicBezTo>
                <a:lnTo>
                  <a:pt x="0" y="189148"/>
                </a:lnTo>
                <a:lnTo>
                  <a:pt x="0" y="189152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wedgeRoundRectCallout">
                    <a:avLst>
                      <a:gd name="adj1" fmla="val -57657"/>
                      <a:gd name="adj2" fmla="val -125599"/>
                      <a:gd name="adj3" fmla="val 1666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800" dirty="0">
                <a:solidFill>
                  <a:schemeClr val="tx1"/>
                </a:solidFill>
                <a:latin typeface="+mj-lt"/>
              </a:rPr>
              <a:t>Može li signalizirajuća stanica utjecati sama na sebe?</a:t>
            </a:r>
          </a:p>
        </p:txBody>
      </p:sp>
      <p:sp>
        <p:nvSpPr>
          <p:cNvPr id="14" name="Oblačić za govor: pravokutnik sa zaobljenim kutovima 20">
            <a:extLst>
              <a:ext uri="{FF2B5EF4-FFF2-40B4-BE49-F238E27FC236}">
                <a16:creationId xmlns:a16="http://schemas.microsoft.com/office/drawing/2014/main" id="{FFA8479D-DBA2-4AD5-AC33-94C70D4976D2}"/>
              </a:ext>
            </a:extLst>
          </p:cNvPr>
          <p:cNvSpPr/>
          <p:nvPr/>
        </p:nvSpPr>
        <p:spPr>
          <a:xfrm>
            <a:off x="3984117" y="4337275"/>
            <a:ext cx="3544142" cy="1000399"/>
          </a:xfrm>
          <a:custGeom>
            <a:avLst/>
            <a:gdLst>
              <a:gd name="connsiteX0" fmla="*/ 0 w 3544142"/>
              <a:gd name="connsiteY0" fmla="*/ 166737 h 1000399"/>
              <a:gd name="connsiteX1" fmla="*/ 166737 w 3544142"/>
              <a:gd name="connsiteY1" fmla="*/ 0 h 1000399"/>
              <a:gd name="connsiteX2" fmla="*/ 838310 w 3544142"/>
              <a:gd name="connsiteY2" fmla="*/ 0 h 1000399"/>
              <a:gd name="connsiteX3" fmla="*/ 1452863 w 3544142"/>
              <a:gd name="connsiteY3" fmla="*/ 0 h 1000399"/>
              <a:gd name="connsiteX4" fmla="*/ 2067416 w 3544142"/>
              <a:gd name="connsiteY4" fmla="*/ 0 h 1000399"/>
              <a:gd name="connsiteX5" fmla="*/ 2672185 w 3544142"/>
              <a:gd name="connsiteY5" fmla="*/ -119019 h 1000399"/>
              <a:gd name="connsiteX6" fmla="*/ 3224109 w 3544142"/>
              <a:gd name="connsiteY6" fmla="*/ -227639 h 1000399"/>
              <a:gd name="connsiteX7" fmla="*/ 3828878 w 3544142"/>
              <a:gd name="connsiteY7" fmla="*/ -346658 h 1000399"/>
              <a:gd name="connsiteX8" fmla="*/ 3373656 w 3544142"/>
              <a:gd name="connsiteY8" fmla="*/ -166396 h 1000399"/>
              <a:gd name="connsiteX9" fmla="*/ 2953452 w 3544142"/>
              <a:gd name="connsiteY9" fmla="*/ 0 h 1000399"/>
              <a:gd name="connsiteX10" fmla="*/ 3377405 w 3544142"/>
              <a:gd name="connsiteY10" fmla="*/ 0 h 1000399"/>
              <a:gd name="connsiteX11" fmla="*/ 3544142 w 3544142"/>
              <a:gd name="connsiteY11" fmla="*/ 166737 h 1000399"/>
              <a:gd name="connsiteX12" fmla="*/ 3544142 w 3544142"/>
              <a:gd name="connsiteY12" fmla="*/ 166733 h 1000399"/>
              <a:gd name="connsiteX13" fmla="*/ 3544142 w 3544142"/>
              <a:gd name="connsiteY13" fmla="*/ 166733 h 1000399"/>
              <a:gd name="connsiteX14" fmla="*/ 3544142 w 3544142"/>
              <a:gd name="connsiteY14" fmla="*/ 416833 h 1000399"/>
              <a:gd name="connsiteX15" fmla="*/ 3544142 w 3544142"/>
              <a:gd name="connsiteY15" fmla="*/ 833662 h 1000399"/>
              <a:gd name="connsiteX16" fmla="*/ 3377405 w 3544142"/>
              <a:gd name="connsiteY16" fmla="*/ 1000399 h 1000399"/>
              <a:gd name="connsiteX17" fmla="*/ 2953452 w 3544142"/>
              <a:gd name="connsiteY17" fmla="*/ 1000399 h 1000399"/>
              <a:gd name="connsiteX18" fmla="*/ 2528155 w 3544142"/>
              <a:gd name="connsiteY18" fmla="*/ 1000399 h 1000399"/>
              <a:gd name="connsiteX19" fmla="*/ 2067416 w 3544142"/>
              <a:gd name="connsiteY19" fmla="*/ 1000399 h 1000399"/>
              <a:gd name="connsiteX20" fmla="*/ 2067416 w 3544142"/>
              <a:gd name="connsiteY20" fmla="*/ 1000399 h 1000399"/>
              <a:gd name="connsiteX21" fmla="*/ 1452863 w 3544142"/>
              <a:gd name="connsiteY21" fmla="*/ 1000399 h 1000399"/>
              <a:gd name="connsiteX22" fmla="*/ 819303 w 3544142"/>
              <a:gd name="connsiteY22" fmla="*/ 1000399 h 1000399"/>
              <a:gd name="connsiteX23" fmla="*/ 166737 w 3544142"/>
              <a:gd name="connsiteY23" fmla="*/ 1000399 h 1000399"/>
              <a:gd name="connsiteX24" fmla="*/ 0 w 3544142"/>
              <a:gd name="connsiteY24" fmla="*/ 833662 h 1000399"/>
              <a:gd name="connsiteX25" fmla="*/ 0 w 3544142"/>
              <a:gd name="connsiteY25" fmla="*/ 416833 h 1000399"/>
              <a:gd name="connsiteX26" fmla="*/ 0 w 3544142"/>
              <a:gd name="connsiteY26" fmla="*/ 166733 h 1000399"/>
              <a:gd name="connsiteX27" fmla="*/ 0 w 3544142"/>
              <a:gd name="connsiteY27" fmla="*/ 166733 h 1000399"/>
              <a:gd name="connsiteX28" fmla="*/ 0 w 3544142"/>
              <a:gd name="connsiteY28" fmla="*/ 166737 h 10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544142" h="1000399" extrusionOk="0">
                <a:moveTo>
                  <a:pt x="0" y="166737"/>
                </a:moveTo>
                <a:cubicBezTo>
                  <a:pt x="-10816" y="67979"/>
                  <a:pt x="56741" y="6722"/>
                  <a:pt x="166737" y="0"/>
                </a:cubicBezTo>
                <a:cubicBezTo>
                  <a:pt x="487247" y="-21268"/>
                  <a:pt x="522463" y="2546"/>
                  <a:pt x="838310" y="0"/>
                </a:cubicBezTo>
                <a:cubicBezTo>
                  <a:pt x="1154157" y="-2546"/>
                  <a:pt x="1173911" y="28301"/>
                  <a:pt x="1452863" y="0"/>
                </a:cubicBezTo>
                <a:cubicBezTo>
                  <a:pt x="1731815" y="-28301"/>
                  <a:pt x="1941039" y="28417"/>
                  <a:pt x="2067416" y="0"/>
                </a:cubicBezTo>
                <a:cubicBezTo>
                  <a:pt x="2249972" y="-28694"/>
                  <a:pt x="2549300" y="-77579"/>
                  <a:pt x="2672185" y="-119019"/>
                </a:cubicBezTo>
                <a:cubicBezTo>
                  <a:pt x="2795070" y="-160459"/>
                  <a:pt x="3032046" y="-180309"/>
                  <a:pt x="3224109" y="-227639"/>
                </a:cubicBezTo>
                <a:cubicBezTo>
                  <a:pt x="3416172" y="-274969"/>
                  <a:pt x="3577038" y="-278028"/>
                  <a:pt x="3828878" y="-346658"/>
                </a:cubicBezTo>
                <a:cubicBezTo>
                  <a:pt x="3694891" y="-302740"/>
                  <a:pt x="3544327" y="-253484"/>
                  <a:pt x="3373656" y="-166396"/>
                </a:cubicBezTo>
                <a:cubicBezTo>
                  <a:pt x="3202985" y="-79308"/>
                  <a:pt x="3048789" y="-40240"/>
                  <a:pt x="2953452" y="0"/>
                </a:cubicBezTo>
                <a:cubicBezTo>
                  <a:pt x="3152852" y="-15772"/>
                  <a:pt x="3281229" y="12951"/>
                  <a:pt x="3377405" y="0"/>
                </a:cubicBezTo>
                <a:cubicBezTo>
                  <a:pt x="3482696" y="-13048"/>
                  <a:pt x="3546669" y="73022"/>
                  <a:pt x="3544142" y="166737"/>
                </a:cubicBezTo>
                <a:lnTo>
                  <a:pt x="3544142" y="166733"/>
                </a:lnTo>
                <a:lnTo>
                  <a:pt x="3544142" y="166733"/>
                </a:lnTo>
                <a:cubicBezTo>
                  <a:pt x="3538868" y="236108"/>
                  <a:pt x="3554346" y="364410"/>
                  <a:pt x="3544142" y="416833"/>
                </a:cubicBezTo>
                <a:cubicBezTo>
                  <a:pt x="3563789" y="515220"/>
                  <a:pt x="3549390" y="671846"/>
                  <a:pt x="3544142" y="833662"/>
                </a:cubicBezTo>
                <a:cubicBezTo>
                  <a:pt x="3540019" y="919585"/>
                  <a:pt x="3465088" y="1016974"/>
                  <a:pt x="3377405" y="1000399"/>
                </a:cubicBezTo>
                <a:cubicBezTo>
                  <a:pt x="3228839" y="985002"/>
                  <a:pt x="3117096" y="981833"/>
                  <a:pt x="2953452" y="1000399"/>
                </a:cubicBezTo>
                <a:cubicBezTo>
                  <a:pt x="2805813" y="1015049"/>
                  <a:pt x="2691707" y="1004940"/>
                  <a:pt x="2528155" y="1000399"/>
                </a:cubicBezTo>
                <a:cubicBezTo>
                  <a:pt x="2364603" y="995858"/>
                  <a:pt x="2162985" y="1018443"/>
                  <a:pt x="2067416" y="1000399"/>
                </a:cubicBezTo>
                <a:lnTo>
                  <a:pt x="2067416" y="1000399"/>
                </a:lnTo>
                <a:cubicBezTo>
                  <a:pt x="1823030" y="981668"/>
                  <a:pt x="1716277" y="1022815"/>
                  <a:pt x="1452863" y="1000399"/>
                </a:cubicBezTo>
                <a:cubicBezTo>
                  <a:pt x="1189449" y="977983"/>
                  <a:pt x="975134" y="1027331"/>
                  <a:pt x="819303" y="1000399"/>
                </a:cubicBezTo>
                <a:cubicBezTo>
                  <a:pt x="663472" y="973467"/>
                  <a:pt x="480501" y="974697"/>
                  <a:pt x="166737" y="1000399"/>
                </a:cubicBezTo>
                <a:cubicBezTo>
                  <a:pt x="80103" y="983630"/>
                  <a:pt x="10502" y="937103"/>
                  <a:pt x="0" y="833662"/>
                </a:cubicBezTo>
                <a:cubicBezTo>
                  <a:pt x="-17841" y="702216"/>
                  <a:pt x="-4853" y="574049"/>
                  <a:pt x="0" y="416833"/>
                </a:cubicBezTo>
                <a:cubicBezTo>
                  <a:pt x="-3642" y="357782"/>
                  <a:pt x="-5229" y="256967"/>
                  <a:pt x="0" y="166733"/>
                </a:cubicBezTo>
                <a:lnTo>
                  <a:pt x="0" y="166733"/>
                </a:lnTo>
                <a:lnTo>
                  <a:pt x="0" y="166737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wedgeRoundRectCallout">
                    <a:avLst>
                      <a:gd name="adj1" fmla="val 58034"/>
                      <a:gd name="adj2" fmla="val -84652"/>
                      <a:gd name="adj3" fmla="val 1666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800" dirty="0" err="1">
                <a:solidFill>
                  <a:schemeClr val="tx1"/>
                </a:solidFill>
                <a:latin typeface="+mj-lt"/>
              </a:rPr>
              <a:t>Autokrina</a:t>
            </a:r>
            <a:r>
              <a:rPr lang="hr-HR" sz="2800" dirty="0">
                <a:solidFill>
                  <a:schemeClr val="tx1"/>
                </a:solidFill>
                <a:latin typeface="+mj-lt"/>
              </a:rPr>
              <a:t> regulacija</a:t>
            </a:r>
          </a:p>
        </p:txBody>
      </p:sp>
    </p:spTree>
    <p:extLst>
      <p:ext uri="{BB962C8B-B14F-4D97-AF65-F5344CB8AC3E}">
        <p14:creationId xmlns:p14="http://schemas.microsoft.com/office/powerpoint/2010/main" val="132295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9" grpId="0" animBg="1"/>
      <p:bldP spid="10" grpId="0" animBg="1"/>
      <p:bldP spid="21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a 1">
            <a:extLst>
              <a:ext uri="{FF2B5EF4-FFF2-40B4-BE49-F238E27FC236}">
                <a16:creationId xmlns:a16="http://schemas.microsoft.com/office/drawing/2014/main" id="{53F0AB82-B476-4F22-A17B-23BCF502D500}"/>
              </a:ext>
            </a:extLst>
          </p:cNvPr>
          <p:cNvSpPr/>
          <p:nvPr/>
        </p:nvSpPr>
        <p:spPr>
          <a:xfrm>
            <a:off x="946131" y="3147992"/>
            <a:ext cx="2558143" cy="2329543"/>
          </a:xfrm>
          <a:custGeom>
            <a:avLst/>
            <a:gdLst>
              <a:gd name="connsiteX0" fmla="*/ 0 w 2558143"/>
              <a:gd name="connsiteY0" fmla="*/ 1164772 h 2329543"/>
              <a:gd name="connsiteX1" fmla="*/ 1279072 w 2558143"/>
              <a:gd name="connsiteY1" fmla="*/ 0 h 2329543"/>
              <a:gd name="connsiteX2" fmla="*/ 2558144 w 2558143"/>
              <a:gd name="connsiteY2" fmla="*/ 1164772 h 2329543"/>
              <a:gd name="connsiteX3" fmla="*/ 1279072 w 2558143"/>
              <a:gd name="connsiteY3" fmla="*/ 2329544 h 2329543"/>
              <a:gd name="connsiteX4" fmla="*/ 0 w 2558143"/>
              <a:gd name="connsiteY4" fmla="*/ 1164772 h 232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8143" h="2329543" fill="none" extrusionOk="0">
                <a:moveTo>
                  <a:pt x="0" y="1164772"/>
                </a:moveTo>
                <a:cubicBezTo>
                  <a:pt x="76430" y="585358"/>
                  <a:pt x="484786" y="-110198"/>
                  <a:pt x="1279072" y="0"/>
                </a:cubicBezTo>
                <a:cubicBezTo>
                  <a:pt x="1920535" y="4078"/>
                  <a:pt x="2551898" y="546727"/>
                  <a:pt x="2558144" y="1164772"/>
                </a:cubicBezTo>
                <a:cubicBezTo>
                  <a:pt x="2558203" y="1790470"/>
                  <a:pt x="1887425" y="2363102"/>
                  <a:pt x="1279072" y="2329544"/>
                </a:cubicBezTo>
                <a:cubicBezTo>
                  <a:pt x="538330" y="2285125"/>
                  <a:pt x="109996" y="1746365"/>
                  <a:pt x="0" y="1164772"/>
                </a:cubicBezTo>
                <a:close/>
              </a:path>
              <a:path w="2558143" h="2329543" stroke="0" extrusionOk="0">
                <a:moveTo>
                  <a:pt x="0" y="1164772"/>
                </a:moveTo>
                <a:cubicBezTo>
                  <a:pt x="-82097" y="370096"/>
                  <a:pt x="675106" y="-45686"/>
                  <a:pt x="1279072" y="0"/>
                </a:cubicBezTo>
                <a:cubicBezTo>
                  <a:pt x="2052124" y="141272"/>
                  <a:pt x="2465951" y="564470"/>
                  <a:pt x="2558144" y="1164772"/>
                </a:cubicBezTo>
                <a:cubicBezTo>
                  <a:pt x="2540457" y="1792710"/>
                  <a:pt x="2001330" y="2323655"/>
                  <a:pt x="1279072" y="2329544"/>
                </a:cubicBezTo>
                <a:cubicBezTo>
                  <a:pt x="546591" y="2302374"/>
                  <a:pt x="85822" y="1873090"/>
                  <a:pt x="0" y="1164772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4" name="Elipsa 3">
            <a:extLst>
              <a:ext uri="{FF2B5EF4-FFF2-40B4-BE49-F238E27FC236}">
                <a16:creationId xmlns:a16="http://schemas.microsoft.com/office/drawing/2014/main" id="{5122E638-CA5A-498B-89FD-7DA7560F6507}"/>
              </a:ext>
            </a:extLst>
          </p:cNvPr>
          <p:cNvSpPr/>
          <p:nvPr/>
        </p:nvSpPr>
        <p:spPr>
          <a:xfrm>
            <a:off x="4960364" y="3312884"/>
            <a:ext cx="2558143" cy="2329543"/>
          </a:xfrm>
          <a:custGeom>
            <a:avLst/>
            <a:gdLst>
              <a:gd name="connsiteX0" fmla="*/ 0 w 2558143"/>
              <a:gd name="connsiteY0" fmla="*/ 1164772 h 2329543"/>
              <a:gd name="connsiteX1" fmla="*/ 1279072 w 2558143"/>
              <a:gd name="connsiteY1" fmla="*/ 0 h 2329543"/>
              <a:gd name="connsiteX2" fmla="*/ 2558144 w 2558143"/>
              <a:gd name="connsiteY2" fmla="*/ 1164772 h 2329543"/>
              <a:gd name="connsiteX3" fmla="*/ 1279072 w 2558143"/>
              <a:gd name="connsiteY3" fmla="*/ 2329544 h 2329543"/>
              <a:gd name="connsiteX4" fmla="*/ 0 w 2558143"/>
              <a:gd name="connsiteY4" fmla="*/ 1164772 h 232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8143" h="2329543" fill="none" extrusionOk="0">
                <a:moveTo>
                  <a:pt x="0" y="1164772"/>
                </a:moveTo>
                <a:cubicBezTo>
                  <a:pt x="76430" y="585358"/>
                  <a:pt x="484786" y="-110198"/>
                  <a:pt x="1279072" y="0"/>
                </a:cubicBezTo>
                <a:cubicBezTo>
                  <a:pt x="1920535" y="4078"/>
                  <a:pt x="2551898" y="546727"/>
                  <a:pt x="2558144" y="1164772"/>
                </a:cubicBezTo>
                <a:cubicBezTo>
                  <a:pt x="2558203" y="1790470"/>
                  <a:pt x="1887425" y="2363102"/>
                  <a:pt x="1279072" y="2329544"/>
                </a:cubicBezTo>
                <a:cubicBezTo>
                  <a:pt x="538330" y="2285125"/>
                  <a:pt x="109996" y="1746365"/>
                  <a:pt x="0" y="1164772"/>
                </a:cubicBezTo>
                <a:close/>
              </a:path>
              <a:path w="2558143" h="2329543" stroke="0" extrusionOk="0">
                <a:moveTo>
                  <a:pt x="0" y="1164772"/>
                </a:moveTo>
                <a:cubicBezTo>
                  <a:pt x="-82097" y="370096"/>
                  <a:pt x="675106" y="-45686"/>
                  <a:pt x="1279072" y="0"/>
                </a:cubicBezTo>
                <a:cubicBezTo>
                  <a:pt x="2052124" y="141272"/>
                  <a:pt x="2465951" y="564470"/>
                  <a:pt x="2558144" y="1164772"/>
                </a:cubicBezTo>
                <a:cubicBezTo>
                  <a:pt x="2540457" y="1792710"/>
                  <a:pt x="2001330" y="2323655"/>
                  <a:pt x="1279072" y="2329544"/>
                </a:cubicBezTo>
                <a:cubicBezTo>
                  <a:pt x="546591" y="2302374"/>
                  <a:pt x="85822" y="1873090"/>
                  <a:pt x="0" y="1164772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81C6C4E6-90BD-4669-AF96-FF8DA80D3915}"/>
              </a:ext>
            </a:extLst>
          </p:cNvPr>
          <p:cNvSpPr txBox="1"/>
          <p:nvPr/>
        </p:nvSpPr>
        <p:spPr>
          <a:xfrm>
            <a:off x="290110" y="5443605"/>
            <a:ext cx="3574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signalizirajuća stanica</a:t>
            </a:r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DE5C3AEC-872E-4F01-8AB2-7DBA3E92B2C6}"/>
              </a:ext>
            </a:extLst>
          </p:cNvPr>
          <p:cNvSpPr txBox="1"/>
          <p:nvPr/>
        </p:nvSpPr>
        <p:spPr>
          <a:xfrm>
            <a:off x="5085824" y="5554786"/>
            <a:ext cx="2471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ciljna stanica</a:t>
            </a:r>
          </a:p>
        </p:txBody>
      </p:sp>
      <p:sp>
        <p:nvSpPr>
          <p:cNvPr id="12" name="Dijagram toka: Spremljeni podaci 11">
            <a:extLst>
              <a:ext uri="{FF2B5EF4-FFF2-40B4-BE49-F238E27FC236}">
                <a16:creationId xmlns:a16="http://schemas.microsoft.com/office/drawing/2014/main" id="{37484862-986C-4BFA-B59F-129D7EA83154}"/>
              </a:ext>
            </a:extLst>
          </p:cNvPr>
          <p:cNvSpPr/>
          <p:nvPr/>
        </p:nvSpPr>
        <p:spPr>
          <a:xfrm rot="14165981">
            <a:off x="5404073" y="3242599"/>
            <a:ext cx="411839" cy="424542"/>
          </a:xfrm>
          <a:prstGeom prst="flowChartOnlineStorage">
            <a:avLst/>
          </a:prstGeom>
          <a:solidFill>
            <a:srgbClr val="9BD5C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3" name="Dijagram toka: Odgoda 12">
            <a:extLst>
              <a:ext uri="{FF2B5EF4-FFF2-40B4-BE49-F238E27FC236}">
                <a16:creationId xmlns:a16="http://schemas.microsoft.com/office/drawing/2014/main" id="{832FC3C9-B19B-4509-95FD-FFA88B79AA79}"/>
              </a:ext>
            </a:extLst>
          </p:cNvPr>
          <p:cNvSpPr/>
          <p:nvPr/>
        </p:nvSpPr>
        <p:spPr>
          <a:xfrm rot="5400000">
            <a:off x="3578469" y="2745597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5" name="Dijagram toka: Odgoda 14">
            <a:extLst>
              <a:ext uri="{FF2B5EF4-FFF2-40B4-BE49-F238E27FC236}">
                <a16:creationId xmlns:a16="http://schemas.microsoft.com/office/drawing/2014/main" id="{A3B45830-ABC5-4BF9-A586-B260F130095C}"/>
              </a:ext>
            </a:extLst>
          </p:cNvPr>
          <p:cNvSpPr/>
          <p:nvPr/>
        </p:nvSpPr>
        <p:spPr>
          <a:xfrm rot="5718025">
            <a:off x="3338050" y="3309214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7" name="Dijagram toka: Odgoda 16">
            <a:extLst>
              <a:ext uri="{FF2B5EF4-FFF2-40B4-BE49-F238E27FC236}">
                <a16:creationId xmlns:a16="http://schemas.microsoft.com/office/drawing/2014/main" id="{6B9F6EA8-3124-443A-8C34-71A530EE0B53}"/>
              </a:ext>
            </a:extLst>
          </p:cNvPr>
          <p:cNvSpPr/>
          <p:nvPr/>
        </p:nvSpPr>
        <p:spPr>
          <a:xfrm rot="5101373">
            <a:off x="2655265" y="2873245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9" name="Dijagram toka: Odgoda 18">
            <a:extLst>
              <a:ext uri="{FF2B5EF4-FFF2-40B4-BE49-F238E27FC236}">
                <a16:creationId xmlns:a16="http://schemas.microsoft.com/office/drawing/2014/main" id="{18D5B9A3-FDA1-4C83-97ED-EA160D6D3FC4}"/>
              </a:ext>
            </a:extLst>
          </p:cNvPr>
          <p:cNvSpPr/>
          <p:nvPr/>
        </p:nvSpPr>
        <p:spPr>
          <a:xfrm rot="7217921">
            <a:off x="3054509" y="2308301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21" name="Grafika 20" descr="Strelica: krivulja u smjeru kretanja kazaljke na satu">
            <a:extLst>
              <a:ext uri="{FF2B5EF4-FFF2-40B4-BE49-F238E27FC236}">
                <a16:creationId xmlns:a16="http://schemas.microsoft.com/office/drawing/2014/main" id="{EE412A53-C87D-4AC8-9B40-4094658AF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983237">
            <a:off x="4554631" y="2557523"/>
            <a:ext cx="914400" cy="914400"/>
          </a:xfrm>
          <a:prstGeom prst="rect">
            <a:avLst/>
          </a:prstGeom>
        </p:spPr>
      </p:pic>
      <p:sp>
        <p:nvSpPr>
          <p:cNvPr id="25" name="Dijagram toka: Odgoda 24">
            <a:extLst>
              <a:ext uri="{FF2B5EF4-FFF2-40B4-BE49-F238E27FC236}">
                <a16:creationId xmlns:a16="http://schemas.microsoft.com/office/drawing/2014/main" id="{C836F8A7-C28D-405B-80C9-75F13CD6389B}"/>
              </a:ext>
            </a:extLst>
          </p:cNvPr>
          <p:cNvSpPr/>
          <p:nvPr/>
        </p:nvSpPr>
        <p:spPr>
          <a:xfrm rot="3448899">
            <a:off x="4111162" y="2930246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29" name="Grafika 28" descr="Strelica dolje">
            <a:extLst>
              <a:ext uri="{FF2B5EF4-FFF2-40B4-BE49-F238E27FC236}">
                <a16:creationId xmlns:a16="http://schemas.microsoft.com/office/drawing/2014/main" id="{A406C3DD-B398-4047-A275-1CF59D76B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5030" y="3744180"/>
            <a:ext cx="483438" cy="483438"/>
          </a:xfrm>
          <a:prstGeom prst="rect">
            <a:avLst/>
          </a:prstGeom>
        </p:spPr>
      </p:pic>
      <p:pic>
        <p:nvPicPr>
          <p:cNvPr id="31" name="Grafika 30" descr="Strelica dolje">
            <a:extLst>
              <a:ext uri="{FF2B5EF4-FFF2-40B4-BE49-F238E27FC236}">
                <a16:creationId xmlns:a16="http://schemas.microsoft.com/office/drawing/2014/main" id="{5F0637FF-61D3-41AA-B1C8-42D407CA5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5030" y="4318915"/>
            <a:ext cx="483438" cy="483438"/>
          </a:xfrm>
          <a:prstGeom prst="rect">
            <a:avLst/>
          </a:prstGeom>
        </p:spPr>
      </p:pic>
      <p:sp>
        <p:nvSpPr>
          <p:cNvPr id="33" name="TekstniOkvir 32">
            <a:extLst>
              <a:ext uri="{FF2B5EF4-FFF2-40B4-BE49-F238E27FC236}">
                <a16:creationId xmlns:a16="http://schemas.microsoft.com/office/drawing/2014/main" id="{5CA4C3BE-FA3C-4272-874A-0E1FBD33538E}"/>
              </a:ext>
            </a:extLst>
          </p:cNvPr>
          <p:cNvSpPr txBox="1"/>
          <p:nvPr/>
        </p:nvSpPr>
        <p:spPr>
          <a:xfrm>
            <a:off x="5305988" y="4802353"/>
            <a:ext cx="1974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000" dirty="0">
                <a:latin typeface="Comic Sans MS" panose="030F0702030302020204" pitchFamily="66" charset="0"/>
              </a:rPr>
              <a:t>stanični odgovor</a:t>
            </a:r>
          </a:p>
        </p:txBody>
      </p:sp>
      <p:cxnSp>
        <p:nvCxnSpPr>
          <p:cNvPr id="35" name="Ravni poveznik 34">
            <a:extLst>
              <a:ext uri="{FF2B5EF4-FFF2-40B4-BE49-F238E27FC236}">
                <a16:creationId xmlns:a16="http://schemas.microsoft.com/office/drawing/2014/main" id="{3AC5075E-8041-473C-B3DD-070AA37EDFB7}"/>
              </a:ext>
            </a:extLst>
          </p:cNvPr>
          <p:cNvCxnSpPr>
            <a:cxnSpLocks/>
          </p:cNvCxnSpPr>
          <p:nvPr/>
        </p:nvCxnSpPr>
        <p:spPr>
          <a:xfrm flipH="1">
            <a:off x="5658037" y="2810481"/>
            <a:ext cx="510431" cy="621099"/>
          </a:xfrm>
          <a:prstGeom prst="line">
            <a:avLst/>
          </a:prstGeom>
          <a:ln w="285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avni poveznik 36">
            <a:extLst>
              <a:ext uri="{FF2B5EF4-FFF2-40B4-BE49-F238E27FC236}">
                <a16:creationId xmlns:a16="http://schemas.microsoft.com/office/drawing/2014/main" id="{EA14976A-D81B-4F01-AA71-EE79CE826E12}"/>
              </a:ext>
            </a:extLst>
          </p:cNvPr>
          <p:cNvCxnSpPr>
            <a:cxnSpLocks/>
          </p:cNvCxnSpPr>
          <p:nvPr/>
        </p:nvCxnSpPr>
        <p:spPr>
          <a:xfrm>
            <a:off x="2126178" y="2657593"/>
            <a:ext cx="600727" cy="346743"/>
          </a:xfrm>
          <a:prstGeom prst="line">
            <a:avLst/>
          </a:prstGeom>
          <a:ln w="28575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kstniOkvir 40">
            <a:extLst>
              <a:ext uri="{FF2B5EF4-FFF2-40B4-BE49-F238E27FC236}">
                <a16:creationId xmlns:a16="http://schemas.microsoft.com/office/drawing/2014/main" id="{AC65CE07-74DC-4223-89D4-0350B6B4BEFD}"/>
              </a:ext>
            </a:extLst>
          </p:cNvPr>
          <p:cNvSpPr txBox="1"/>
          <p:nvPr/>
        </p:nvSpPr>
        <p:spPr>
          <a:xfrm>
            <a:off x="5614543" y="2366296"/>
            <a:ext cx="1480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receptor</a:t>
            </a:r>
          </a:p>
        </p:txBody>
      </p:sp>
      <p:sp>
        <p:nvSpPr>
          <p:cNvPr id="43" name="TekstniOkvir 42">
            <a:extLst>
              <a:ext uri="{FF2B5EF4-FFF2-40B4-BE49-F238E27FC236}">
                <a16:creationId xmlns:a16="http://schemas.microsoft.com/office/drawing/2014/main" id="{7D2C4AE0-37D4-4886-9A9C-8748ACF85AFA}"/>
              </a:ext>
            </a:extLst>
          </p:cNvPr>
          <p:cNvSpPr txBox="1"/>
          <p:nvPr/>
        </p:nvSpPr>
        <p:spPr>
          <a:xfrm>
            <a:off x="649468" y="2240872"/>
            <a:ext cx="1480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signalna molekula</a:t>
            </a:r>
          </a:p>
        </p:txBody>
      </p:sp>
      <p:pic>
        <p:nvPicPr>
          <p:cNvPr id="48" name="Grafika 47" descr="Strelica dolje">
            <a:extLst>
              <a:ext uri="{FF2B5EF4-FFF2-40B4-BE49-F238E27FC236}">
                <a16:creationId xmlns:a16="http://schemas.microsoft.com/office/drawing/2014/main" id="{9CCC1A9C-6FB5-40DE-BBFA-723422B590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4219">
            <a:off x="2651679" y="3329458"/>
            <a:ext cx="483438" cy="483438"/>
          </a:xfrm>
          <a:prstGeom prst="rect">
            <a:avLst/>
          </a:prstGeom>
        </p:spPr>
      </p:pic>
      <p:sp>
        <p:nvSpPr>
          <p:cNvPr id="50" name="TekstniOkvir 49">
            <a:extLst>
              <a:ext uri="{FF2B5EF4-FFF2-40B4-BE49-F238E27FC236}">
                <a16:creationId xmlns:a16="http://schemas.microsoft.com/office/drawing/2014/main" id="{2EE74750-46B6-4651-98CC-C404C2E5DDD3}"/>
              </a:ext>
            </a:extLst>
          </p:cNvPr>
          <p:cNvSpPr txBox="1"/>
          <p:nvPr/>
        </p:nvSpPr>
        <p:spPr>
          <a:xfrm>
            <a:off x="1688295" y="3706026"/>
            <a:ext cx="2378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b="1" dirty="0">
                <a:latin typeface="Comic Sans MS" panose="030F0702030302020204" pitchFamily="66" charset="0"/>
              </a:rPr>
              <a:t>EGZOCITOZA</a:t>
            </a:r>
          </a:p>
        </p:txBody>
      </p:sp>
      <p:sp>
        <p:nvSpPr>
          <p:cNvPr id="30" name="Oblačić za govor: pravokutnik sa zaobljenim kutovima 20">
            <a:extLst>
              <a:ext uri="{FF2B5EF4-FFF2-40B4-BE49-F238E27FC236}">
                <a16:creationId xmlns:a16="http://schemas.microsoft.com/office/drawing/2014/main" id="{A5BE50BC-BF81-49CF-90CB-7020A42C9E95}"/>
              </a:ext>
            </a:extLst>
          </p:cNvPr>
          <p:cNvSpPr/>
          <p:nvPr/>
        </p:nvSpPr>
        <p:spPr>
          <a:xfrm>
            <a:off x="1688295" y="663662"/>
            <a:ext cx="3544142" cy="1000399"/>
          </a:xfrm>
          <a:custGeom>
            <a:avLst/>
            <a:gdLst>
              <a:gd name="connsiteX0" fmla="*/ 0 w 3544142"/>
              <a:gd name="connsiteY0" fmla="*/ 166737 h 1000399"/>
              <a:gd name="connsiteX1" fmla="*/ 166737 w 3544142"/>
              <a:gd name="connsiteY1" fmla="*/ 0 h 1000399"/>
              <a:gd name="connsiteX2" fmla="*/ 838310 w 3544142"/>
              <a:gd name="connsiteY2" fmla="*/ 0 h 1000399"/>
              <a:gd name="connsiteX3" fmla="*/ 1452863 w 3544142"/>
              <a:gd name="connsiteY3" fmla="*/ 0 h 1000399"/>
              <a:gd name="connsiteX4" fmla="*/ 2067416 w 3544142"/>
              <a:gd name="connsiteY4" fmla="*/ 0 h 1000399"/>
              <a:gd name="connsiteX5" fmla="*/ 2067416 w 3544142"/>
              <a:gd name="connsiteY5" fmla="*/ 0 h 1000399"/>
              <a:gd name="connsiteX6" fmla="*/ 2519294 w 3544142"/>
              <a:gd name="connsiteY6" fmla="*/ 0 h 1000399"/>
              <a:gd name="connsiteX7" fmla="*/ 2953452 w 3544142"/>
              <a:gd name="connsiteY7" fmla="*/ 0 h 1000399"/>
              <a:gd name="connsiteX8" fmla="*/ 3377405 w 3544142"/>
              <a:gd name="connsiteY8" fmla="*/ 0 h 1000399"/>
              <a:gd name="connsiteX9" fmla="*/ 3544142 w 3544142"/>
              <a:gd name="connsiteY9" fmla="*/ 166737 h 1000399"/>
              <a:gd name="connsiteX10" fmla="*/ 3544142 w 3544142"/>
              <a:gd name="connsiteY10" fmla="*/ 583566 h 1000399"/>
              <a:gd name="connsiteX11" fmla="*/ 3544142 w 3544142"/>
              <a:gd name="connsiteY11" fmla="*/ 583566 h 1000399"/>
              <a:gd name="connsiteX12" fmla="*/ 3544142 w 3544142"/>
              <a:gd name="connsiteY12" fmla="*/ 833666 h 1000399"/>
              <a:gd name="connsiteX13" fmla="*/ 3544142 w 3544142"/>
              <a:gd name="connsiteY13" fmla="*/ 833662 h 1000399"/>
              <a:gd name="connsiteX14" fmla="*/ 3377405 w 3544142"/>
              <a:gd name="connsiteY14" fmla="*/ 1000399 h 1000399"/>
              <a:gd name="connsiteX15" fmla="*/ 2953452 w 3544142"/>
              <a:gd name="connsiteY15" fmla="*/ 1000399 h 1000399"/>
              <a:gd name="connsiteX16" fmla="*/ 2993920 w 3544142"/>
              <a:gd name="connsiteY16" fmla="*/ 1398668 h 1000399"/>
              <a:gd name="connsiteX17" fmla="*/ 3034388 w 3544142"/>
              <a:gd name="connsiteY17" fmla="*/ 1796937 h 1000399"/>
              <a:gd name="connsiteX18" fmla="*/ 2579911 w 3544142"/>
              <a:gd name="connsiteY18" fmla="*/ 1422564 h 1000399"/>
              <a:gd name="connsiteX19" fmla="*/ 2067416 w 3544142"/>
              <a:gd name="connsiteY19" fmla="*/ 1000399 h 1000399"/>
              <a:gd name="connsiteX20" fmla="*/ 1414850 w 3544142"/>
              <a:gd name="connsiteY20" fmla="*/ 1000399 h 1000399"/>
              <a:gd name="connsiteX21" fmla="*/ 819303 w 3544142"/>
              <a:gd name="connsiteY21" fmla="*/ 1000399 h 1000399"/>
              <a:gd name="connsiteX22" fmla="*/ 166737 w 3544142"/>
              <a:gd name="connsiteY22" fmla="*/ 1000399 h 1000399"/>
              <a:gd name="connsiteX23" fmla="*/ 0 w 3544142"/>
              <a:gd name="connsiteY23" fmla="*/ 833662 h 1000399"/>
              <a:gd name="connsiteX24" fmla="*/ 0 w 3544142"/>
              <a:gd name="connsiteY24" fmla="*/ 833666 h 1000399"/>
              <a:gd name="connsiteX25" fmla="*/ 0 w 3544142"/>
              <a:gd name="connsiteY25" fmla="*/ 583566 h 1000399"/>
              <a:gd name="connsiteX26" fmla="*/ 0 w 3544142"/>
              <a:gd name="connsiteY26" fmla="*/ 583566 h 1000399"/>
              <a:gd name="connsiteX27" fmla="*/ 0 w 3544142"/>
              <a:gd name="connsiteY27" fmla="*/ 166737 h 10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544142" h="1000399" extrusionOk="0">
                <a:moveTo>
                  <a:pt x="0" y="166737"/>
                </a:moveTo>
                <a:cubicBezTo>
                  <a:pt x="-10816" y="67979"/>
                  <a:pt x="56741" y="6722"/>
                  <a:pt x="166737" y="0"/>
                </a:cubicBezTo>
                <a:cubicBezTo>
                  <a:pt x="487247" y="-21268"/>
                  <a:pt x="522463" y="2546"/>
                  <a:pt x="838310" y="0"/>
                </a:cubicBezTo>
                <a:cubicBezTo>
                  <a:pt x="1154157" y="-2546"/>
                  <a:pt x="1173911" y="28301"/>
                  <a:pt x="1452863" y="0"/>
                </a:cubicBezTo>
                <a:cubicBezTo>
                  <a:pt x="1731815" y="-28301"/>
                  <a:pt x="1941039" y="28417"/>
                  <a:pt x="2067416" y="0"/>
                </a:cubicBezTo>
                <a:lnTo>
                  <a:pt x="2067416" y="0"/>
                </a:lnTo>
                <a:cubicBezTo>
                  <a:pt x="2226329" y="-19657"/>
                  <a:pt x="2379666" y="-4214"/>
                  <a:pt x="2519294" y="0"/>
                </a:cubicBezTo>
                <a:cubicBezTo>
                  <a:pt x="2658922" y="4214"/>
                  <a:pt x="2818006" y="-4969"/>
                  <a:pt x="2953452" y="0"/>
                </a:cubicBezTo>
                <a:cubicBezTo>
                  <a:pt x="3053745" y="-8435"/>
                  <a:pt x="3206695" y="-1812"/>
                  <a:pt x="3377405" y="0"/>
                </a:cubicBezTo>
                <a:cubicBezTo>
                  <a:pt x="3476924" y="4161"/>
                  <a:pt x="3552785" y="76729"/>
                  <a:pt x="3544142" y="166737"/>
                </a:cubicBezTo>
                <a:cubicBezTo>
                  <a:pt x="3549685" y="347167"/>
                  <a:pt x="3530005" y="441938"/>
                  <a:pt x="3544142" y="583566"/>
                </a:cubicBezTo>
                <a:lnTo>
                  <a:pt x="3544142" y="583566"/>
                </a:lnTo>
                <a:cubicBezTo>
                  <a:pt x="3543383" y="689953"/>
                  <a:pt x="3543079" y="771032"/>
                  <a:pt x="3544142" y="833666"/>
                </a:cubicBezTo>
                <a:lnTo>
                  <a:pt x="3544142" y="833662"/>
                </a:lnTo>
                <a:cubicBezTo>
                  <a:pt x="3557950" y="942662"/>
                  <a:pt x="3478603" y="992421"/>
                  <a:pt x="3377405" y="1000399"/>
                </a:cubicBezTo>
                <a:cubicBezTo>
                  <a:pt x="3226384" y="1012343"/>
                  <a:pt x="3081509" y="985705"/>
                  <a:pt x="2953452" y="1000399"/>
                </a:cubicBezTo>
                <a:cubicBezTo>
                  <a:pt x="2958383" y="1090994"/>
                  <a:pt x="2971240" y="1239088"/>
                  <a:pt x="2993920" y="1398668"/>
                </a:cubicBezTo>
                <a:cubicBezTo>
                  <a:pt x="3016600" y="1558248"/>
                  <a:pt x="3005045" y="1665376"/>
                  <a:pt x="3034388" y="1796937"/>
                </a:cubicBezTo>
                <a:cubicBezTo>
                  <a:pt x="2908240" y="1700615"/>
                  <a:pt x="2726199" y="1543121"/>
                  <a:pt x="2579911" y="1422564"/>
                </a:cubicBezTo>
                <a:cubicBezTo>
                  <a:pt x="2433623" y="1302007"/>
                  <a:pt x="2219597" y="1152490"/>
                  <a:pt x="2067416" y="1000399"/>
                </a:cubicBezTo>
                <a:cubicBezTo>
                  <a:pt x="1755379" y="975332"/>
                  <a:pt x="1674533" y="1029940"/>
                  <a:pt x="1414850" y="1000399"/>
                </a:cubicBezTo>
                <a:cubicBezTo>
                  <a:pt x="1155167" y="970858"/>
                  <a:pt x="1052543" y="1026380"/>
                  <a:pt x="819303" y="1000399"/>
                </a:cubicBezTo>
                <a:cubicBezTo>
                  <a:pt x="586063" y="974418"/>
                  <a:pt x="302482" y="970588"/>
                  <a:pt x="166737" y="1000399"/>
                </a:cubicBezTo>
                <a:cubicBezTo>
                  <a:pt x="64063" y="999800"/>
                  <a:pt x="11663" y="935790"/>
                  <a:pt x="0" y="833662"/>
                </a:cubicBezTo>
                <a:lnTo>
                  <a:pt x="0" y="833666"/>
                </a:lnTo>
                <a:cubicBezTo>
                  <a:pt x="-1736" y="725302"/>
                  <a:pt x="6583" y="663830"/>
                  <a:pt x="0" y="583566"/>
                </a:cubicBezTo>
                <a:lnTo>
                  <a:pt x="0" y="583566"/>
                </a:lnTo>
                <a:cubicBezTo>
                  <a:pt x="-4853" y="449002"/>
                  <a:pt x="16545" y="355274"/>
                  <a:pt x="0" y="166737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wedgeRoundRectCallout">
                    <a:avLst>
                      <a:gd name="adj1" fmla="val 35617"/>
                      <a:gd name="adj2" fmla="val 129622"/>
                      <a:gd name="adj3" fmla="val 1666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800" dirty="0" err="1">
                <a:solidFill>
                  <a:schemeClr val="tx1"/>
                </a:solidFill>
                <a:latin typeface="+mj-lt"/>
              </a:rPr>
              <a:t>Parakrina</a:t>
            </a:r>
            <a:r>
              <a:rPr lang="hr-HR" sz="2800" dirty="0">
                <a:solidFill>
                  <a:schemeClr val="tx1"/>
                </a:solidFill>
                <a:latin typeface="+mj-lt"/>
              </a:rPr>
              <a:t> krina regulacija</a:t>
            </a:r>
          </a:p>
        </p:txBody>
      </p:sp>
      <p:sp>
        <p:nvSpPr>
          <p:cNvPr id="32" name="Oblačić za govor: pravokutnik sa zaobljenim kutovima 20">
            <a:extLst>
              <a:ext uri="{FF2B5EF4-FFF2-40B4-BE49-F238E27FC236}">
                <a16:creationId xmlns:a16="http://schemas.microsoft.com/office/drawing/2014/main" id="{C632405F-B77E-492C-A910-D0E3CC29EBA5}"/>
              </a:ext>
            </a:extLst>
          </p:cNvPr>
          <p:cNvSpPr/>
          <p:nvPr/>
        </p:nvSpPr>
        <p:spPr>
          <a:xfrm>
            <a:off x="6961664" y="618903"/>
            <a:ext cx="3544142" cy="1000399"/>
          </a:xfrm>
          <a:custGeom>
            <a:avLst/>
            <a:gdLst>
              <a:gd name="connsiteX0" fmla="*/ 0 w 3544142"/>
              <a:gd name="connsiteY0" fmla="*/ 166737 h 1000399"/>
              <a:gd name="connsiteX1" fmla="*/ 166737 w 3544142"/>
              <a:gd name="connsiteY1" fmla="*/ 0 h 1000399"/>
              <a:gd name="connsiteX2" fmla="*/ 838310 w 3544142"/>
              <a:gd name="connsiteY2" fmla="*/ 0 h 1000399"/>
              <a:gd name="connsiteX3" fmla="*/ 1452863 w 3544142"/>
              <a:gd name="connsiteY3" fmla="*/ 0 h 1000399"/>
              <a:gd name="connsiteX4" fmla="*/ 2067416 w 3544142"/>
              <a:gd name="connsiteY4" fmla="*/ 0 h 1000399"/>
              <a:gd name="connsiteX5" fmla="*/ 2067416 w 3544142"/>
              <a:gd name="connsiteY5" fmla="*/ 0 h 1000399"/>
              <a:gd name="connsiteX6" fmla="*/ 2519294 w 3544142"/>
              <a:gd name="connsiteY6" fmla="*/ 0 h 1000399"/>
              <a:gd name="connsiteX7" fmla="*/ 2953452 w 3544142"/>
              <a:gd name="connsiteY7" fmla="*/ 0 h 1000399"/>
              <a:gd name="connsiteX8" fmla="*/ 3377405 w 3544142"/>
              <a:gd name="connsiteY8" fmla="*/ 0 h 1000399"/>
              <a:gd name="connsiteX9" fmla="*/ 3544142 w 3544142"/>
              <a:gd name="connsiteY9" fmla="*/ 166737 h 1000399"/>
              <a:gd name="connsiteX10" fmla="*/ 3544142 w 3544142"/>
              <a:gd name="connsiteY10" fmla="*/ 583566 h 1000399"/>
              <a:gd name="connsiteX11" fmla="*/ 3544142 w 3544142"/>
              <a:gd name="connsiteY11" fmla="*/ 583566 h 1000399"/>
              <a:gd name="connsiteX12" fmla="*/ 3544142 w 3544142"/>
              <a:gd name="connsiteY12" fmla="*/ 833666 h 1000399"/>
              <a:gd name="connsiteX13" fmla="*/ 3544142 w 3544142"/>
              <a:gd name="connsiteY13" fmla="*/ 833662 h 1000399"/>
              <a:gd name="connsiteX14" fmla="*/ 3377405 w 3544142"/>
              <a:gd name="connsiteY14" fmla="*/ 1000399 h 1000399"/>
              <a:gd name="connsiteX15" fmla="*/ 2953452 w 3544142"/>
              <a:gd name="connsiteY15" fmla="*/ 1000399 h 1000399"/>
              <a:gd name="connsiteX16" fmla="*/ 3120342 w 3544142"/>
              <a:gd name="connsiteY16" fmla="*/ 1530734 h 1000399"/>
              <a:gd name="connsiteX17" fmla="*/ 3282225 w 3544142"/>
              <a:gd name="connsiteY17" fmla="*/ 2045159 h 1000399"/>
              <a:gd name="connsiteX18" fmla="*/ 3454121 w 3544142"/>
              <a:gd name="connsiteY18" fmla="*/ 2591404 h 1000399"/>
              <a:gd name="connsiteX19" fmla="*/ 3135179 w 3544142"/>
              <a:gd name="connsiteY19" fmla="*/ 2225473 h 1000399"/>
              <a:gd name="connsiteX20" fmla="*/ 2774636 w 3544142"/>
              <a:gd name="connsiteY20" fmla="*/ 1811812 h 1000399"/>
              <a:gd name="connsiteX21" fmla="*/ 2441826 w 3544142"/>
              <a:gd name="connsiteY21" fmla="*/ 1429970 h 1000399"/>
              <a:gd name="connsiteX22" fmla="*/ 2067416 w 3544142"/>
              <a:gd name="connsiteY22" fmla="*/ 1000399 h 1000399"/>
              <a:gd name="connsiteX23" fmla="*/ 1414850 w 3544142"/>
              <a:gd name="connsiteY23" fmla="*/ 1000399 h 1000399"/>
              <a:gd name="connsiteX24" fmla="*/ 838310 w 3544142"/>
              <a:gd name="connsiteY24" fmla="*/ 1000399 h 1000399"/>
              <a:gd name="connsiteX25" fmla="*/ 166737 w 3544142"/>
              <a:gd name="connsiteY25" fmla="*/ 1000399 h 1000399"/>
              <a:gd name="connsiteX26" fmla="*/ 0 w 3544142"/>
              <a:gd name="connsiteY26" fmla="*/ 833662 h 1000399"/>
              <a:gd name="connsiteX27" fmla="*/ 0 w 3544142"/>
              <a:gd name="connsiteY27" fmla="*/ 833666 h 1000399"/>
              <a:gd name="connsiteX28" fmla="*/ 0 w 3544142"/>
              <a:gd name="connsiteY28" fmla="*/ 583566 h 1000399"/>
              <a:gd name="connsiteX29" fmla="*/ 0 w 3544142"/>
              <a:gd name="connsiteY29" fmla="*/ 583566 h 1000399"/>
              <a:gd name="connsiteX30" fmla="*/ 0 w 3544142"/>
              <a:gd name="connsiteY30" fmla="*/ 166737 h 10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544142" h="1000399" extrusionOk="0">
                <a:moveTo>
                  <a:pt x="0" y="166737"/>
                </a:moveTo>
                <a:cubicBezTo>
                  <a:pt x="-10816" y="67979"/>
                  <a:pt x="56741" y="6722"/>
                  <a:pt x="166737" y="0"/>
                </a:cubicBezTo>
                <a:cubicBezTo>
                  <a:pt x="487247" y="-21268"/>
                  <a:pt x="522463" y="2546"/>
                  <a:pt x="838310" y="0"/>
                </a:cubicBezTo>
                <a:cubicBezTo>
                  <a:pt x="1154157" y="-2546"/>
                  <a:pt x="1173911" y="28301"/>
                  <a:pt x="1452863" y="0"/>
                </a:cubicBezTo>
                <a:cubicBezTo>
                  <a:pt x="1731815" y="-28301"/>
                  <a:pt x="1941039" y="28417"/>
                  <a:pt x="2067416" y="0"/>
                </a:cubicBezTo>
                <a:lnTo>
                  <a:pt x="2067416" y="0"/>
                </a:lnTo>
                <a:cubicBezTo>
                  <a:pt x="2226329" y="-19657"/>
                  <a:pt x="2379666" y="-4214"/>
                  <a:pt x="2519294" y="0"/>
                </a:cubicBezTo>
                <a:cubicBezTo>
                  <a:pt x="2658922" y="4214"/>
                  <a:pt x="2818006" y="-4969"/>
                  <a:pt x="2953452" y="0"/>
                </a:cubicBezTo>
                <a:cubicBezTo>
                  <a:pt x="3053745" y="-8435"/>
                  <a:pt x="3206695" y="-1812"/>
                  <a:pt x="3377405" y="0"/>
                </a:cubicBezTo>
                <a:cubicBezTo>
                  <a:pt x="3476924" y="4161"/>
                  <a:pt x="3552785" y="76729"/>
                  <a:pt x="3544142" y="166737"/>
                </a:cubicBezTo>
                <a:cubicBezTo>
                  <a:pt x="3549685" y="347167"/>
                  <a:pt x="3530005" y="441938"/>
                  <a:pt x="3544142" y="583566"/>
                </a:cubicBezTo>
                <a:lnTo>
                  <a:pt x="3544142" y="583566"/>
                </a:lnTo>
                <a:cubicBezTo>
                  <a:pt x="3543383" y="689953"/>
                  <a:pt x="3543079" y="771032"/>
                  <a:pt x="3544142" y="833666"/>
                </a:cubicBezTo>
                <a:lnTo>
                  <a:pt x="3544142" y="833662"/>
                </a:lnTo>
                <a:cubicBezTo>
                  <a:pt x="3557950" y="942662"/>
                  <a:pt x="3478603" y="992421"/>
                  <a:pt x="3377405" y="1000399"/>
                </a:cubicBezTo>
                <a:cubicBezTo>
                  <a:pt x="3226384" y="1012343"/>
                  <a:pt x="3081509" y="985705"/>
                  <a:pt x="2953452" y="1000399"/>
                </a:cubicBezTo>
                <a:cubicBezTo>
                  <a:pt x="3010266" y="1120516"/>
                  <a:pt x="3020058" y="1274366"/>
                  <a:pt x="3120342" y="1530734"/>
                </a:cubicBezTo>
                <a:cubicBezTo>
                  <a:pt x="3220625" y="1787102"/>
                  <a:pt x="3241955" y="1858294"/>
                  <a:pt x="3282225" y="2045159"/>
                </a:cubicBezTo>
                <a:cubicBezTo>
                  <a:pt x="3322495" y="2232024"/>
                  <a:pt x="3401979" y="2383214"/>
                  <a:pt x="3454121" y="2591404"/>
                </a:cubicBezTo>
                <a:cubicBezTo>
                  <a:pt x="3352662" y="2472570"/>
                  <a:pt x="3289173" y="2397641"/>
                  <a:pt x="3135179" y="2225473"/>
                </a:cubicBezTo>
                <a:cubicBezTo>
                  <a:pt x="2981185" y="2053305"/>
                  <a:pt x="2912566" y="1970024"/>
                  <a:pt x="2774636" y="1811812"/>
                </a:cubicBezTo>
                <a:cubicBezTo>
                  <a:pt x="2636706" y="1653600"/>
                  <a:pt x="2593835" y="1584481"/>
                  <a:pt x="2441826" y="1429970"/>
                </a:cubicBezTo>
                <a:cubicBezTo>
                  <a:pt x="2289817" y="1275459"/>
                  <a:pt x="2159919" y="1139638"/>
                  <a:pt x="2067416" y="1000399"/>
                </a:cubicBezTo>
                <a:cubicBezTo>
                  <a:pt x="1749395" y="998025"/>
                  <a:pt x="1728614" y="974697"/>
                  <a:pt x="1414850" y="1000399"/>
                </a:cubicBezTo>
                <a:cubicBezTo>
                  <a:pt x="1101086" y="1026101"/>
                  <a:pt x="969300" y="1014748"/>
                  <a:pt x="838310" y="1000399"/>
                </a:cubicBezTo>
                <a:cubicBezTo>
                  <a:pt x="707320" y="986050"/>
                  <a:pt x="463135" y="1012428"/>
                  <a:pt x="166737" y="1000399"/>
                </a:cubicBezTo>
                <a:cubicBezTo>
                  <a:pt x="89320" y="1005533"/>
                  <a:pt x="5378" y="943864"/>
                  <a:pt x="0" y="833662"/>
                </a:cubicBezTo>
                <a:lnTo>
                  <a:pt x="0" y="833666"/>
                </a:lnTo>
                <a:cubicBezTo>
                  <a:pt x="2208" y="766056"/>
                  <a:pt x="363" y="680277"/>
                  <a:pt x="0" y="583566"/>
                </a:cubicBezTo>
                <a:lnTo>
                  <a:pt x="0" y="583566"/>
                </a:lnTo>
                <a:cubicBezTo>
                  <a:pt x="17786" y="386866"/>
                  <a:pt x="-2451" y="322456"/>
                  <a:pt x="0" y="166737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wedgeRoundRectCallout">
                    <a:avLst>
                      <a:gd name="adj1" fmla="val 47460"/>
                      <a:gd name="adj2" fmla="val 209037"/>
                      <a:gd name="adj3" fmla="val 1666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800" dirty="0">
                <a:solidFill>
                  <a:schemeClr val="tx1"/>
                </a:solidFill>
                <a:latin typeface="+mj-lt"/>
              </a:rPr>
              <a:t>Endokrina regulacija </a:t>
            </a:r>
          </a:p>
        </p:txBody>
      </p:sp>
      <p:sp>
        <p:nvSpPr>
          <p:cNvPr id="34" name="Elipsa 3">
            <a:extLst>
              <a:ext uri="{FF2B5EF4-FFF2-40B4-BE49-F238E27FC236}">
                <a16:creationId xmlns:a16="http://schemas.microsoft.com/office/drawing/2014/main" id="{D5A0D3B7-074C-41E5-94D1-0FA35E7083A4}"/>
              </a:ext>
            </a:extLst>
          </p:cNvPr>
          <p:cNvSpPr/>
          <p:nvPr/>
        </p:nvSpPr>
        <p:spPr>
          <a:xfrm>
            <a:off x="8914942" y="3229338"/>
            <a:ext cx="2558143" cy="2329543"/>
          </a:xfrm>
          <a:custGeom>
            <a:avLst/>
            <a:gdLst>
              <a:gd name="connsiteX0" fmla="*/ 0 w 2558143"/>
              <a:gd name="connsiteY0" fmla="*/ 1164772 h 2329543"/>
              <a:gd name="connsiteX1" fmla="*/ 1279072 w 2558143"/>
              <a:gd name="connsiteY1" fmla="*/ 0 h 2329543"/>
              <a:gd name="connsiteX2" fmla="*/ 2558144 w 2558143"/>
              <a:gd name="connsiteY2" fmla="*/ 1164772 h 2329543"/>
              <a:gd name="connsiteX3" fmla="*/ 1279072 w 2558143"/>
              <a:gd name="connsiteY3" fmla="*/ 2329544 h 2329543"/>
              <a:gd name="connsiteX4" fmla="*/ 0 w 2558143"/>
              <a:gd name="connsiteY4" fmla="*/ 1164772 h 232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8143" h="2329543" fill="none" extrusionOk="0">
                <a:moveTo>
                  <a:pt x="0" y="1164772"/>
                </a:moveTo>
                <a:cubicBezTo>
                  <a:pt x="76430" y="585358"/>
                  <a:pt x="484786" y="-110198"/>
                  <a:pt x="1279072" y="0"/>
                </a:cubicBezTo>
                <a:cubicBezTo>
                  <a:pt x="1920535" y="4078"/>
                  <a:pt x="2551898" y="546727"/>
                  <a:pt x="2558144" y="1164772"/>
                </a:cubicBezTo>
                <a:cubicBezTo>
                  <a:pt x="2558203" y="1790470"/>
                  <a:pt x="1887425" y="2363102"/>
                  <a:pt x="1279072" y="2329544"/>
                </a:cubicBezTo>
                <a:cubicBezTo>
                  <a:pt x="538330" y="2285125"/>
                  <a:pt x="109996" y="1746365"/>
                  <a:pt x="0" y="1164772"/>
                </a:cubicBezTo>
                <a:close/>
              </a:path>
              <a:path w="2558143" h="2329543" stroke="0" extrusionOk="0">
                <a:moveTo>
                  <a:pt x="0" y="1164772"/>
                </a:moveTo>
                <a:cubicBezTo>
                  <a:pt x="-82097" y="370096"/>
                  <a:pt x="675106" y="-45686"/>
                  <a:pt x="1279072" y="0"/>
                </a:cubicBezTo>
                <a:cubicBezTo>
                  <a:pt x="2052124" y="141272"/>
                  <a:pt x="2465951" y="564470"/>
                  <a:pt x="2558144" y="1164772"/>
                </a:cubicBezTo>
                <a:cubicBezTo>
                  <a:pt x="2540457" y="1792710"/>
                  <a:pt x="2001330" y="2323655"/>
                  <a:pt x="1279072" y="2329544"/>
                </a:cubicBezTo>
                <a:cubicBezTo>
                  <a:pt x="546591" y="2302374"/>
                  <a:pt x="85822" y="1873090"/>
                  <a:pt x="0" y="1164772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824804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6" name="TekstniOkvir 8">
            <a:extLst>
              <a:ext uri="{FF2B5EF4-FFF2-40B4-BE49-F238E27FC236}">
                <a16:creationId xmlns:a16="http://schemas.microsoft.com/office/drawing/2014/main" id="{1A495638-EC38-4013-B2A8-ADBA9814D07F}"/>
              </a:ext>
            </a:extLst>
          </p:cNvPr>
          <p:cNvSpPr txBox="1"/>
          <p:nvPr/>
        </p:nvSpPr>
        <p:spPr>
          <a:xfrm>
            <a:off x="9339345" y="5728636"/>
            <a:ext cx="2471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ciljna stanica</a:t>
            </a:r>
          </a:p>
        </p:txBody>
      </p:sp>
      <p:sp>
        <p:nvSpPr>
          <p:cNvPr id="38" name="Dijagram toka: Spremljeni podaci 11">
            <a:extLst>
              <a:ext uri="{FF2B5EF4-FFF2-40B4-BE49-F238E27FC236}">
                <a16:creationId xmlns:a16="http://schemas.microsoft.com/office/drawing/2014/main" id="{23D23D82-BE48-4923-A66F-D074DDA44094}"/>
              </a:ext>
            </a:extLst>
          </p:cNvPr>
          <p:cNvSpPr/>
          <p:nvPr/>
        </p:nvSpPr>
        <p:spPr>
          <a:xfrm rot="14165981">
            <a:off x="9044773" y="3079060"/>
            <a:ext cx="411839" cy="424542"/>
          </a:xfrm>
          <a:prstGeom prst="flowChartOnlineStorage">
            <a:avLst/>
          </a:prstGeom>
          <a:solidFill>
            <a:srgbClr val="9BD5C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39" name="Grafika 30" descr="Strelica dolje">
            <a:extLst>
              <a:ext uri="{FF2B5EF4-FFF2-40B4-BE49-F238E27FC236}">
                <a16:creationId xmlns:a16="http://schemas.microsoft.com/office/drawing/2014/main" id="{7ABE8E09-5A78-480A-878A-BDA8E579B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77473" y="4397705"/>
            <a:ext cx="483438" cy="483438"/>
          </a:xfrm>
          <a:prstGeom prst="rect">
            <a:avLst/>
          </a:prstGeom>
        </p:spPr>
      </p:pic>
      <p:sp>
        <p:nvSpPr>
          <p:cNvPr id="40" name="TekstniOkvir 32">
            <a:extLst>
              <a:ext uri="{FF2B5EF4-FFF2-40B4-BE49-F238E27FC236}">
                <a16:creationId xmlns:a16="http://schemas.microsoft.com/office/drawing/2014/main" id="{D1C40BDF-6C66-47EA-90A3-647C225E9960}"/>
              </a:ext>
            </a:extLst>
          </p:cNvPr>
          <p:cNvSpPr txBox="1"/>
          <p:nvPr/>
        </p:nvSpPr>
        <p:spPr>
          <a:xfrm>
            <a:off x="9098431" y="4881143"/>
            <a:ext cx="1974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000" dirty="0">
                <a:latin typeface="Comic Sans MS" panose="030F0702030302020204" pitchFamily="66" charset="0"/>
              </a:rPr>
              <a:t>stanični odgovor</a:t>
            </a:r>
          </a:p>
        </p:txBody>
      </p:sp>
      <p:sp>
        <p:nvSpPr>
          <p:cNvPr id="42" name="TekstniOkvir 40">
            <a:extLst>
              <a:ext uri="{FF2B5EF4-FFF2-40B4-BE49-F238E27FC236}">
                <a16:creationId xmlns:a16="http://schemas.microsoft.com/office/drawing/2014/main" id="{18F5271B-DB08-4CED-9169-4E31739DC1E3}"/>
              </a:ext>
            </a:extLst>
          </p:cNvPr>
          <p:cNvSpPr txBox="1"/>
          <p:nvPr/>
        </p:nvSpPr>
        <p:spPr>
          <a:xfrm>
            <a:off x="9406986" y="2445086"/>
            <a:ext cx="1480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receptor</a:t>
            </a:r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249D9A4D-643E-4EA7-83E6-7EE69A538C49}"/>
              </a:ext>
            </a:extLst>
          </p:cNvPr>
          <p:cNvSpPr/>
          <p:nvPr/>
        </p:nvSpPr>
        <p:spPr>
          <a:xfrm flipV="1">
            <a:off x="3802811" y="5027310"/>
            <a:ext cx="5280264" cy="1497715"/>
          </a:xfrm>
          <a:custGeom>
            <a:avLst/>
            <a:gdLst>
              <a:gd name="connsiteX0" fmla="*/ 18582 w 5280264"/>
              <a:gd name="connsiteY0" fmla="*/ 837549 h 1497715"/>
              <a:gd name="connsiteX1" fmla="*/ 2191584 w 5280264"/>
              <a:gd name="connsiteY1" fmla="*/ 10887 h 1497715"/>
              <a:gd name="connsiteX2" fmla="*/ 3056043 w 5280264"/>
              <a:gd name="connsiteY2" fmla="*/ 9351 h 1497715"/>
              <a:gd name="connsiteX3" fmla="*/ 5280264 w 5280264"/>
              <a:gd name="connsiteY3" fmla="*/ 748858 h 1497715"/>
              <a:gd name="connsiteX4" fmla="*/ 4905835 w 5280264"/>
              <a:gd name="connsiteY4" fmla="*/ 748858 h 1497715"/>
              <a:gd name="connsiteX5" fmla="*/ 2849813 w 5280264"/>
              <a:gd name="connsiteY5" fmla="*/ 376036 h 1497715"/>
              <a:gd name="connsiteX6" fmla="*/ 2413688 w 5280264"/>
              <a:gd name="connsiteY6" fmla="*/ 376304 h 1497715"/>
              <a:gd name="connsiteX7" fmla="*/ 420463 w 5280264"/>
              <a:gd name="connsiteY7" fmla="*/ 823953 h 1497715"/>
              <a:gd name="connsiteX8" fmla="*/ 18582 w 5280264"/>
              <a:gd name="connsiteY8" fmla="*/ 837549 h 1497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80264" h="1497715" fill="none" extrusionOk="0">
                <a:moveTo>
                  <a:pt x="18582" y="837549"/>
                </a:moveTo>
                <a:cubicBezTo>
                  <a:pt x="-289397" y="418996"/>
                  <a:pt x="817122" y="86662"/>
                  <a:pt x="2191584" y="10887"/>
                </a:cubicBezTo>
                <a:cubicBezTo>
                  <a:pt x="2498055" y="27531"/>
                  <a:pt x="2774819" y="50956"/>
                  <a:pt x="3056043" y="9351"/>
                </a:cubicBezTo>
                <a:cubicBezTo>
                  <a:pt x="4349750" y="86370"/>
                  <a:pt x="5295566" y="399560"/>
                  <a:pt x="5280264" y="748858"/>
                </a:cubicBezTo>
                <a:cubicBezTo>
                  <a:pt x="5195158" y="766114"/>
                  <a:pt x="4949651" y="749322"/>
                  <a:pt x="4905835" y="748858"/>
                </a:cubicBezTo>
                <a:cubicBezTo>
                  <a:pt x="4777897" y="576501"/>
                  <a:pt x="3912928" y="323595"/>
                  <a:pt x="2849813" y="376036"/>
                </a:cubicBezTo>
                <a:cubicBezTo>
                  <a:pt x="2700831" y="373531"/>
                  <a:pt x="2556542" y="369554"/>
                  <a:pt x="2413688" y="376304"/>
                </a:cubicBezTo>
                <a:cubicBezTo>
                  <a:pt x="1078764" y="388514"/>
                  <a:pt x="108118" y="631797"/>
                  <a:pt x="420463" y="823953"/>
                </a:cubicBezTo>
                <a:cubicBezTo>
                  <a:pt x="370922" y="839198"/>
                  <a:pt x="107436" y="860896"/>
                  <a:pt x="18582" y="837549"/>
                </a:cubicBezTo>
                <a:close/>
              </a:path>
              <a:path w="5280264" h="1497715" stroke="0" extrusionOk="0">
                <a:moveTo>
                  <a:pt x="18582" y="837549"/>
                </a:moveTo>
                <a:cubicBezTo>
                  <a:pt x="-172665" y="426558"/>
                  <a:pt x="722662" y="110326"/>
                  <a:pt x="2191584" y="10887"/>
                </a:cubicBezTo>
                <a:cubicBezTo>
                  <a:pt x="2523674" y="6631"/>
                  <a:pt x="2723716" y="-2156"/>
                  <a:pt x="3056043" y="9351"/>
                </a:cubicBezTo>
                <a:cubicBezTo>
                  <a:pt x="4317133" y="87111"/>
                  <a:pt x="5276999" y="398862"/>
                  <a:pt x="5280264" y="748858"/>
                </a:cubicBezTo>
                <a:cubicBezTo>
                  <a:pt x="5130191" y="741504"/>
                  <a:pt x="5092815" y="742508"/>
                  <a:pt x="4905835" y="748858"/>
                </a:cubicBezTo>
                <a:cubicBezTo>
                  <a:pt x="4923003" y="557529"/>
                  <a:pt x="4071926" y="276505"/>
                  <a:pt x="2849813" y="376036"/>
                </a:cubicBezTo>
                <a:cubicBezTo>
                  <a:pt x="2676682" y="369513"/>
                  <a:pt x="2553481" y="378785"/>
                  <a:pt x="2413688" y="376304"/>
                </a:cubicBezTo>
                <a:cubicBezTo>
                  <a:pt x="1071216" y="333516"/>
                  <a:pt x="119688" y="650465"/>
                  <a:pt x="420463" y="823953"/>
                </a:cubicBezTo>
                <a:cubicBezTo>
                  <a:pt x="269863" y="863089"/>
                  <a:pt x="165492" y="833867"/>
                  <a:pt x="18582" y="837549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blockArc">
                    <a:avLst>
                      <a:gd name="adj1" fmla="val 10683740"/>
                      <a:gd name="adj2" fmla="val 0"/>
                      <a:gd name="adj3" fmla="val 2500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Dijagram toka: Odgoda 18">
            <a:extLst>
              <a:ext uri="{FF2B5EF4-FFF2-40B4-BE49-F238E27FC236}">
                <a16:creationId xmlns:a16="http://schemas.microsoft.com/office/drawing/2014/main" id="{0073154E-0744-42B0-A240-66F1A4AAC712}"/>
              </a:ext>
            </a:extLst>
          </p:cNvPr>
          <p:cNvSpPr/>
          <p:nvPr/>
        </p:nvSpPr>
        <p:spPr>
          <a:xfrm rot="7217921">
            <a:off x="6460135" y="6146263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45" name="Dijagram toka: Odgoda 18">
            <a:extLst>
              <a:ext uri="{FF2B5EF4-FFF2-40B4-BE49-F238E27FC236}">
                <a16:creationId xmlns:a16="http://schemas.microsoft.com/office/drawing/2014/main" id="{F20C00DD-D142-47F7-8D84-2E026096603B}"/>
              </a:ext>
            </a:extLst>
          </p:cNvPr>
          <p:cNvSpPr/>
          <p:nvPr/>
        </p:nvSpPr>
        <p:spPr>
          <a:xfrm rot="7217921">
            <a:off x="8540452" y="4587590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47" name="Grafika 20" descr="Strelica: krivulja u smjeru kretanja kazaljke na satu">
            <a:extLst>
              <a:ext uri="{FF2B5EF4-FFF2-40B4-BE49-F238E27FC236}">
                <a16:creationId xmlns:a16="http://schemas.microsoft.com/office/drawing/2014/main" id="{D88163C2-182C-4D75-9B99-4832C9FE7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82019">
            <a:off x="8100388" y="3280323"/>
            <a:ext cx="1145129" cy="1145129"/>
          </a:xfrm>
          <a:prstGeom prst="rect">
            <a:avLst/>
          </a:prstGeom>
        </p:spPr>
      </p:pic>
      <p:sp>
        <p:nvSpPr>
          <p:cNvPr id="46" name="Dijagram toka: Odgoda 18">
            <a:extLst>
              <a:ext uri="{FF2B5EF4-FFF2-40B4-BE49-F238E27FC236}">
                <a16:creationId xmlns:a16="http://schemas.microsoft.com/office/drawing/2014/main" id="{EC0082FB-A4D5-492F-A3D0-9F3E75B7EFE8}"/>
              </a:ext>
            </a:extLst>
          </p:cNvPr>
          <p:cNvSpPr/>
          <p:nvPr/>
        </p:nvSpPr>
        <p:spPr>
          <a:xfrm rot="3278198">
            <a:off x="8964420" y="2892048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9923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/>
      <p:bldP spid="9" grpId="0"/>
      <p:bldP spid="12" grpId="0" animBg="1"/>
      <p:bldP spid="13" grpId="0" animBg="1"/>
      <p:bldP spid="15" grpId="0" animBg="1"/>
      <p:bldP spid="17" grpId="0" animBg="1"/>
      <p:bldP spid="19" grpId="0" animBg="1"/>
      <p:bldP spid="25" grpId="0" animBg="1"/>
      <p:bldP spid="33" grpId="0"/>
      <p:bldP spid="41" grpId="0"/>
      <p:bldP spid="43" grpId="0"/>
      <p:bldP spid="50" grpId="0"/>
      <p:bldP spid="30" grpId="0" animBg="1"/>
      <p:bldP spid="32" grpId="0" animBg="1"/>
      <p:bldP spid="34" grpId="0" animBg="1"/>
      <p:bldP spid="36" grpId="0"/>
      <p:bldP spid="38" grpId="0" animBg="1"/>
      <p:bldP spid="40" grpId="0"/>
      <p:bldP spid="42" grpId="0"/>
      <p:bldP spid="5" grpId="0" animBg="1"/>
      <p:bldP spid="44" grpId="0" animBg="1"/>
      <p:bldP spid="45" grpId="0" animBg="1"/>
      <p:bldP spid="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11446A-D244-4386-89BC-B88CF61C0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2624" y="432434"/>
            <a:ext cx="5472000" cy="432000"/>
          </a:xfrm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hr-HR" sz="4800" b="1" dirty="0"/>
              <a:t>H</a:t>
            </a:r>
            <a:r>
              <a:rPr lang="en-US" sz="4800" b="1" kern="1200" dirty="0"/>
              <a:t>ORMONI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39127DF-B08E-41C0-9A5F-8A524D32F2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5129227"/>
              </p:ext>
            </p:extLst>
          </p:nvPr>
        </p:nvGraphicFramePr>
        <p:xfrm>
          <a:off x="6816245" y="1768839"/>
          <a:ext cx="5056757" cy="4216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" name="Oblačić za govor: pravokutnik sa zaobljenim kutovima 18">
            <a:extLst>
              <a:ext uri="{FF2B5EF4-FFF2-40B4-BE49-F238E27FC236}">
                <a16:creationId xmlns:a16="http://schemas.microsoft.com/office/drawing/2014/main" id="{F2B8F4CA-2D62-4821-9C5A-9565190B78E1}"/>
              </a:ext>
            </a:extLst>
          </p:cNvPr>
          <p:cNvSpPr/>
          <p:nvPr/>
        </p:nvSpPr>
        <p:spPr>
          <a:xfrm>
            <a:off x="654516" y="1768839"/>
            <a:ext cx="5841143" cy="3162925"/>
          </a:xfrm>
          <a:custGeom>
            <a:avLst/>
            <a:gdLst>
              <a:gd name="connsiteX0" fmla="*/ 0 w 5841143"/>
              <a:gd name="connsiteY0" fmla="*/ 527165 h 3162925"/>
              <a:gd name="connsiteX1" fmla="*/ 527165 w 5841143"/>
              <a:gd name="connsiteY1" fmla="*/ 0 h 3162925"/>
              <a:gd name="connsiteX2" fmla="*/ 1160802 w 5841143"/>
              <a:gd name="connsiteY2" fmla="*/ 0 h 3162925"/>
              <a:gd name="connsiteX3" fmla="*/ 1708034 w 5841143"/>
              <a:gd name="connsiteY3" fmla="*/ 0 h 3162925"/>
              <a:gd name="connsiteX4" fmla="*/ 2226464 w 5841143"/>
              <a:gd name="connsiteY4" fmla="*/ 0 h 3162925"/>
              <a:gd name="connsiteX5" fmla="*/ 2831299 w 5841143"/>
              <a:gd name="connsiteY5" fmla="*/ 0 h 3162925"/>
              <a:gd name="connsiteX6" fmla="*/ 3407333 w 5841143"/>
              <a:gd name="connsiteY6" fmla="*/ 0 h 3162925"/>
              <a:gd name="connsiteX7" fmla="*/ 3955247 w 5841143"/>
              <a:gd name="connsiteY7" fmla="*/ -192541 h 3162925"/>
              <a:gd name="connsiteX8" fmla="*/ 4503161 w 5841143"/>
              <a:gd name="connsiteY8" fmla="*/ -385081 h 3162925"/>
              <a:gd name="connsiteX9" fmla="*/ 5436644 w 5841143"/>
              <a:gd name="connsiteY9" fmla="*/ -713113 h 3162925"/>
              <a:gd name="connsiteX10" fmla="*/ 5140751 w 5841143"/>
              <a:gd name="connsiteY10" fmla="*/ -342294 h 3162925"/>
              <a:gd name="connsiteX11" fmla="*/ 4867619 w 5841143"/>
              <a:gd name="connsiteY11" fmla="*/ 0 h 3162925"/>
              <a:gd name="connsiteX12" fmla="*/ 5313978 w 5841143"/>
              <a:gd name="connsiteY12" fmla="*/ 0 h 3162925"/>
              <a:gd name="connsiteX13" fmla="*/ 5841143 w 5841143"/>
              <a:gd name="connsiteY13" fmla="*/ 527165 h 3162925"/>
              <a:gd name="connsiteX14" fmla="*/ 5841143 w 5841143"/>
              <a:gd name="connsiteY14" fmla="*/ 527154 h 3162925"/>
              <a:gd name="connsiteX15" fmla="*/ 5841143 w 5841143"/>
              <a:gd name="connsiteY15" fmla="*/ 527154 h 3162925"/>
              <a:gd name="connsiteX16" fmla="*/ 5841143 w 5841143"/>
              <a:gd name="connsiteY16" fmla="*/ 938334 h 3162925"/>
              <a:gd name="connsiteX17" fmla="*/ 5841143 w 5841143"/>
              <a:gd name="connsiteY17" fmla="*/ 1317885 h 3162925"/>
              <a:gd name="connsiteX18" fmla="*/ 5841143 w 5841143"/>
              <a:gd name="connsiteY18" fmla="*/ 1950465 h 3162925"/>
              <a:gd name="connsiteX19" fmla="*/ 5841143 w 5841143"/>
              <a:gd name="connsiteY19" fmla="*/ 2635760 h 3162925"/>
              <a:gd name="connsiteX20" fmla="*/ 5313978 w 5841143"/>
              <a:gd name="connsiteY20" fmla="*/ 3162925 h 3162925"/>
              <a:gd name="connsiteX21" fmla="*/ 4867619 w 5841143"/>
              <a:gd name="connsiteY21" fmla="*/ 3162925 h 3162925"/>
              <a:gd name="connsiteX22" fmla="*/ 4380857 w 5841143"/>
              <a:gd name="connsiteY22" fmla="*/ 3162925 h 3162925"/>
              <a:gd name="connsiteX23" fmla="*/ 3894095 w 5841143"/>
              <a:gd name="connsiteY23" fmla="*/ 3162925 h 3162925"/>
              <a:gd name="connsiteX24" fmla="*/ 3407333 w 5841143"/>
              <a:gd name="connsiteY24" fmla="*/ 3162925 h 3162925"/>
              <a:gd name="connsiteX25" fmla="*/ 3407333 w 5841143"/>
              <a:gd name="connsiteY25" fmla="*/ 3162925 h 3162925"/>
              <a:gd name="connsiteX26" fmla="*/ 2802498 w 5841143"/>
              <a:gd name="connsiteY26" fmla="*/ 3162925 h 3162925"/>
              <a:gd name="connsiteX27" fmla="*/ 2255266 w 5841143"/>
              <a:gd name="connsiteY27" fmla="*/ 3162925 h 3162925"/>
              <a:gd name="connsiteX28" fmla="*/ 1765637 w 5841143"/>
              <a:gd name="connsiteY28" fmla="*/ 3162925 h 3162925"/>
              <a:gd name="connsiteX29" fmla="*/ 1160802 w 5841143"/>
              <a:gd name="connsiteY29" fmla="*/ 3162925 h 3162925"/>
              <a:gd name="connsiteX30" fmla="*/ 527165 w 5841143"/>
              <a:gd name="connsiteY30" fmla="*/ 3162925 h 3162925"/>
              <a:gd name="connsiteX31" fmla="*/ 0 w 5841143"/>
              <a:gd name="connsiteY31" fmla="*/ 2635760 h 3162925"/>
              <a:gd name="connsiteX32" fmla="*/ 0 w 5841143"/>
              <a:gd name="connsiteY32" fmla="*/ 2003180 h 3162925"/>
              <a:gd name="connsiteX33" fmla="*/ 0 w 5841143"/>
              <a:gd name="connsiteY33" fmla="*/ 1317885 h 3162925"/>
              <a:gd name="connsiteX34" fmla="*/ 0 w 5841143"/>
              <a:gd name="connsiteY34" fmla="*/ 938334 h 3162925"/>
              <a:gd name="connsiteX35" fmla="*/ 0 w 5841143"/>
              <a:gd name="connsiteY35" fmla="*/ 527154 h 3162925"/>
              <a:gd name="connsiteX36" fmla="*/ 0 w 5841143"/>
              <a:gd name="connsiteY36" fmla="*/ 527154 h 3162925"/>
              <a:gd name="connsiteX37" fmla="*/ 0 w 5841143"/>
              <a:gd name="connsiteY37" fmla="*/ 527165 h 316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841143" h="3162925" extrusionOk="0">
                <a:moveTo>
                  <a:pt x="0" y="527165"/>
                </a:moveTo>
                <a:cubicBezTo>
                  <a:pt x="-35346" y="214218"/>
                  <a:pt x="221330" y="5514"/>
                  <a:pt x="527165" y="0"/>
                </a:cubicBezTo>
                <a:cubicBezTo>
                  <a:pt x="705688" y="14556"/>
                  <a:pt x="971100" y="32"/>
                  <a:pt x="1160802" y="0"/>
                </a:cubicBezTo>
                <a:cubicBezTo>
                  <a:pt x="1350504" y="-32"/>
                  <a:pt x="1511002" y="22682"/>
                  <a:pt x="1708034" y="0"/>
                </a:cubicBezTo>
                <a:cubicBezTo>
                  <a:pt x="1905066" y="-22682"/>
                  <a:pt x="2081022" y="-16302"/>
                  <a:pt x="2226464" y="0"/>
                </a:cubicBezTo>
                <a:cubicBezTo>
                  <a:pt x="2371906" y="16302"/>
                  <a:pt x="2646717" y="24370"/>
                  <a:pt x="2831299" y="0"/>
                </a:cubicBezTo>
                <a:cubicBezTo>
                  <a:pt x="3015881" y="-24370"/>
                  <a:pt x="3252779" y="17386"/>
                  <a:pt x="3407333" y="0"/>
                </a:cubicBezTo>
                <a:cubicBezTo>
                  <a:pt x="3572851" y="-66738"/>
                  <a:pt x="3707461" y="-81620"/>
                  <a:pt x="3955247" y="-192541"/>
                </a:cubicBezTo>
                <a:cubicBezTo>
                  <a:pt x="4203033" y="-303462"/>
                  <a:pt x="4342203" y="-323491"/>
                  <a:pt x="4503161" y="-385081"/>
                </a:cubicBezTo>
                <a:cubicBezTo>
                  <a:pt x="4664119" y="-446672"/>
                  <a:pt x="5163253" y="-618242"/>
                  <a:pt x="5436644" y="-713113"/>
                </a:cubicBezTo>
                <a:cubicBezTo>
                  <a:pt x="5380501" y="-610946"/>
                  <a:pt x="5241484" y="-443353"/>
                  <a:pt x="5140751" y="-342294"/>
                </a:cubicBezTo>
                <a:cubicBezTo>
                  <a:pt x="5040018" y="-241235"/>
                  <a:pt x="4976924" y="-169500"/>
                  <a:pt x="4867619" y="0"/>
                </a:cubicBezTo>
                <a:cubicBezTo>
                  <a:pt x="5001325" y="2770"/>
                  <a:pt x="5137966" y="-716"/>
                  <a:pt x="5313978" y="0"/>
                </a:cubicBezTo>
                <a:cubicBezTo>
                  <a:pt x="5643123" y="-47174"/>
                  <a:pt x="5819238" y="227552"/>
                  <a:pt x="5841143" y="527165"/>
                </a:cubicBezTo>
                <a:cubicBezTo>
                  <a:pt x="5841143" y="527159"/>
                  <a:pt x="5841143" y="527159"/>
                  <a:pt x="5841143" y="527154"/>
                </a:cubicBezTo>
                <a:lnTo>
                  <a:pt x="5841143" y="527154"/>
                </a:lnTo>
                <a:cubicBezTo>
                  <a:pt x="5857842" y="706185"/>
                  <a:pt x="5822302" y="821763"/>
                  <a:pt x="5841143" y="938334"/>
                </a:cubicBezTo>
                <a:cubicBezTo>
                  <a:pt x="5859984" y="1054905"/>
                  <a:pt x="5827391" y="1179133"/>
                  <a:pt x="5841143" y="1317885"/>
                </a:cubicBezTo>
                <a:cubicBezTo>
                  <a:pt x="5862439" y="1499769"/>
                  <a:pt x="5813139" y="1766558"/>
                  <a:pt x="5841143" y="1950465"/>
                </a:cubicBezTo>
                <a:cubicBezTo>
                  <a:pt x="5869147" y="2134372"/>
                  <a:pt x="5808672" y="2410463"/>
                  <a:pt x="5841143" y="2635760"/>
                </a:cubicBezTo>
                <a:cubicBezTo>
                  <a:pt x="5792419" y="2929503"/>
                  <a:pt x="5608230" y="3169076"/>
                  <a:pt x="5313978" y="3162925"/>
                </a:cubicBezTo>
                <a:cubicBezTo>
                  <a:pt x="5158130" y="3179142"/>
                  <a:pt x="4978445" y="3147875"/>
                  <a:pt x="4867619" y="3162925"/>
                </a:cubicBezTo>
                <a:cubicBezTo>
                  <a:pt x="4673356" y="3157806"/>
                  <a:pt x="4584086" y="3163089"/>
                  <a:pt x="4380857" y="3162925"/>
                </a:cubicBezTo>
                <a:cubicBezTo>
                  <a:pt x="4177628" y="3162761"/>
                  <a:pt x="4035058" y="3157540"/>
                  <a:pt x="3894095" y="3162925"/>
                </a:cubicBezTo>
                <a:cubicBezTo>
                  <a:pt x="3753132" y="3168310"/>
                  <a:pt x="3560604" y="3175127"/>
                  <a:pt x="3407333" y="3162925"/>
                </a:cubicBezTo>
                <a:lnTo>
                  <a:pt x="3407333" y="3162925"/>
                </a:lnTo>
                <a:cubicBezTo>
                  <a:pt x="3126802" y="3187781"/>
                  <a:pt x="2968831" y="3180448"/>
                  <a:pt x="2802498" y="3162925"/>
                </a:cubicBezTo>
                <a:cubicBezTo>
                  <a:pt x="2636166" y="3145402"/>
                  <a:pt x="2392290" y="3185547"/>
                  <a:pt x="2255266" y="3162925"/>
                </a:cubicBezTo>
                <a:cubicBezTo>
                  <a:pt x="2118242" y="3140303"/>
                  <a:pt x="1924437" y="3175238"/>
                  <a:pt x="1765637" y="3162925"/>
                </a:cubicBezTo>
                <a:cubicBezTo>
                  <a:pt x="1606837" y="3150612"/>
                  <a:pt x="1356845" y="3149585"/>
                  <a:pt x="1160802" y="3162925"/>
                </a:cubicBezTo>
                <a:cubicBezTo>
                  <a:pt x="964760" y="3176265"/>
                  <a:pt x="707751" y="3178795"/>
                  <a:pt x="527165" y="3162925"/>
                </a:cubicBezTo>
                <a:cubicBezTo>
                  <a:pt x="284922" y="3133686"/>
                  <a:pt x="-5451" y="2975335"/>
                  <a:pt x="0" y="2635760"/>
                </a:cubicBezTo>
                <a:cubicBezTo>
                  <a:pt x="-14725" y="2384365"/>
                  <a:pt x="8242" y="2298318"/>
                  <a:pt x="0" y="2003180"/>
                </a:cubicBezTo>
                <a:cubicBezTo>
                  <a:pt x="-8242" y="1708042"/>
                  <a:pt x="10522" y="1614699"/>
                  <a:pt x="0" y="1317885"/>
                </a:cubicBezTo>
                <a:cubicBezTo>
                  <a:pt x="-1620" y="1154365"/>
                  <a:pt x="-2336" y="1083179"/>
                  <a:pt x="0" y="938334"/>
                </a:cubicBezTo>
                <a:cubicBezTo>
                  <a:pt x="2336" y="793489"/>
                  <a:pt x="12929" y="659281"/>
                  <a:pt x="0" y="527154"/>
                </a:cubicBezTo>
                <a:lnTo>
                  <a:pt x="0" y="527154"/>
                </a:lnTo>
                <a:cubicBezTo>
                  <a:pt x="0" y="527159"/>
                  <a:pt x="0" y="527161"/>
                  <a:pt x="0" y="527165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wedgeRoundRectCallout">
                    <a:avLst>
                      <a:gd name="adj1" fmla="val 43075"/>
                      <a:gd name="adj2" fmla="val -72546"/>
                      <a:gd name="adj3" fmla="val 1666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r-HR" sz="2800" dirty="0">
                <a:solidFill>
                  <a:schemeClr val="tx1"/>
                </a:solidFill>
                <a:latin typeface="+mj-lt"/>
              </a:rPr>
              <a:t>Reguliraju rad pojedinih stanica, tkiva, organa ili cijeloga organizma</a:t>
            </a:r>
          </a:p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r-HR" sz="2800" dirty="0">
                <a:solidFill>
                  <a:schemeClr val="tx1"/>
                </a:solidFill>
                <a:latin typeface="+mj-lt"/>
              </a:rPr>
              <a:t>Kemijski glasnici </a:t>
            </a:r>
          </a:p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r-HR" sz="2800" dirty="0">
                <a:solidFill>
                  <a:schemeClr val="tx1"/>
                </a:solidFill>
                <a:latin typeface="+mj-lt"/>
              </a:rPr>
              <a:t>Proizvod </a:t>
            </a:r>
            <a:r>
              <a:rPr lang="hr-HR" sz="2800" b="1" dirty="0">
                <a:solidFill>
                  <a:schemeClr val="tx1"/>
                </a:solidFill>
                <a:latin typeface="+mj-lt"/>
              </a:rPr>
              <a:t>endokrinih žlijezda </a:t>
            </a:r>
          </a:p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r-HR" sz="2800" b="1" dirty="0">
                <a:solidFill>
                  <a:schemeClr val="tx1"/>
                </a:solidFill>
                <a:latin typeface="+mj-lt"/>
              </a:rPr>
              <a:t>Putem </a:t>
            </a:r>
            <a:r>
              <a:rPr lang="hr-HR" sz="2800" b="1" dirty="0">
                <a:solidFill>
                  <a:srgbClr val="FF0000"/>
                </a:solidFill>
                <a:latin typeface="+mj-lt"/>
              </a:rPr>
              <a:t>krvi</a:t>
            </a:r>
            <a:endParaRPr lang="en-US" sz="2800" b="1" dirty="0">
              <a:solidFill>
                <a:srgbClr val="FF0000"/>
              </a:solidFill>
              <a:latin typeface="+mj-lt"/>
            </a:endParaRPr>
          </a:p>
          <a:p>
            <a:pPr algn="ctr"/>
            <a:endParaRPr lang="hr-HR" sz="2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8" name="Dijagram toka: Odgoda 18">
            <a:extLst>
              <a:ext uri="{FF2B5EF4-FFF2-40B4-BE49-F238E27FC236}">
                <a16:creationId xmlns:a16="http://schemas.microsoft.com/office/drawing/2014/main" id="{A0D79BCF-C31C-4F92-9C21-7E60A5D34C63}"/>
              </a:ext>
            </a:extLst>
          </p:cNvPr>
          <p:cNvSpPr/>
          <p:nvPr/>
        </p:nvSpPr>
        <p:spPr>
          <a:xfrm rot="7217921">
            <a:off x="2319991" y="1117259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9" name="Dijagram toka: Odgoda 18">
            <a:extLst>
              <a:ext uri="{FF2B5EF4-FFF2-40B4-BE49-F238E27FC236}">
                <a16:creationId xmlns:a16="http://schemas.microsoft.com/office/drawing/2014/main" id="{1863D520-E7B5-4E75-B025-71F93C46DB29}"/>
              </a:ext>
            </a:extLst>
          </p:cNvPr>
          <p:cNvSpPr/>
          <p:nvPr/>
        </p:nvSpPr>
        <p:spPr>
          <a:xfrm rot="7217921">
            <a:off x="5206097" y="3047214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0" name="Dijagram toka: Odgoda 18">
            <a:extLst>
              <a:ext uri="{FF2B5EF4-FFF2-40B4-BE49-F238E27FC236}">
                <a16:creationId xmlns:a16="http://schemas.microsoft.com/office/drawing/2014/main" id="{3B31567A-41E3-4E0B-A03D-23469FC22588}"/>
              </a:ext>
            </a:extLst>
          </p:cNvPr>
          <p:cNvSpPr/>
          <p:nvPr/>
        </p:nvSpPr>
        <p:spPr>
          <a:xfrm rot="7217921">
            <a:off x="4620870" y="4184569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1" name="Dijagram toka: Odgoda 18">
            <a:extLst>
              <a:ext uri="{FF2B5EF4-FFF2-40B4-BE49-F238E27FC236}">
                <a16:creationId xmlns:a16="http://schemas.microsoft.com/office/drawing/2014/main" id="{74826A6B-96D5-4B7D-AFBB-30F0D07EEDDD}"/>
              </a:ext>
            </a:extLst>
          </p:cNvPr>
          <p:cNvSpPr/>
          <p:nvPr/>
        </p:nvSpPr>
        <p:spPr>
          <a:xfrm rot="7217921">
            <a:off x="8769355" y="1545004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2" name="Dijagram toka: Odgoda 18">
            <a:extLst>
              <a:ext uri="{FF2B5EF4-FFF2-40B4-BE49-F238E27FC236}">
                <a16:creationId xmlns:a16="http://schemas.microsoft.com/office/drawing/2014/main" id="{986B15BE-BD9A-4ACD-BDF0-1FE0B65B1540}"/>
              </a:ext>
            </a:extLst>
          </p:cNvPr>
          <p:cNvSpPr/>
          <p:nvPr/>
        </p:nvSpPr>
        <p:spPr>
          <a:xfrm rot="7217921">
            <a:off x="3600553" y="1134780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3" name="Dijagram toka: Odgoda 18">
            <a:extLst>
              <a:ext uri="{FF2B5EF4-FFF2-40B4-BE49-F238E27FC236}">
                <a16:creationId xmlns:a16="http://schemas.microsoft.com/office/drawing/2014/main" id="{A354F06D-7205-4913-8D5A-9E10AF52D78D}"/>
              </a:ext>
            </a:extLst>
          </p:cNvPr>
          <p:cNvSpPr/>
          <p:nvPr/>
        </p:nvSpPr>
        <p:spPr>
          <a:xfrm rot="7217921">
            <a:off x="6714128" y="2786014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4" name="Dijagram toka: Odgoda 18">
            <a:extLst>
              <a:ext uri="{FF2B5EF4-FFF2-40B4-BE49-F238E27FC236}">
                <a16:creationId xmlns:a16="http://schemas.microsoft.com/office/drawing/2014/main" id="{B3941436-696E-44EB-A087-B35D76AA34C9}"/>
              </a:ext>
            </a:extLst>
          </p:cNvPr>
          <p:cNvSpPr/>
          <p:nvPr/>
        </p:nvSpPr>
        <p:spPr>
          <a:xfrm rot="7217921">
            <a:off x="866565" y="5167071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5" name="Dijagram toka: Odgoda 18">
            <a:extLst>
              <a:ext uri="{FF2B5EF4-FFF2-40B4-BE49-F238E27FC236}">
                <a16:creationId xmlns:a16="http://schemas.microsoft.com/office/drawing/2014/main" id="{8AD057C1-FE64-4307-ACA3-F8BD3B482DF5}"/>
              </a:ext>
            </a:extLst>
          </p:cNvPr>
          <p:cNvSpPr/>
          <p:nvPr/>
        </p:nvSpPr>
        <p:spPr>
          <a:xfrm rot="7217921">
            <a:off x="3793569" y="5499328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6" name="Dijagram toka: Odgoda 18">
            <a:extLst>
              <a:ext uri="{FF2B5EF4-FFF2-40B4-BE49-F238E27FC236}">
                <a16:creationId xmlns:a16="http://schemas.microsoft.com/office/drawing/2014/main" id="{9BA4F8BF-24D2-439D-A78E-3D29C330FA3A}"/>
              </a:ext>
            </a:extLst>
          </p:cNvPr>
          <p:cNvSpPr/>
          <p:nvPr/>
        </p:nvSpPr>
        <p:spPr>
          <a:xfrm rot="7217921">
            <a:off x="7792272" y="2188352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7" name="Dijagram toka: Odgoda 18">
            <a:extLst>
              <a:ext uri="{FF2B5EF4-FFF2-40B4-BE49-F238E27FC236}">
                <a16:creationId xmlns:a16="http://schemas.microsoft.com/office/drawing/2014/main" id="{A993051F-CBF6-4339-AC45-3DF36DC3BF06}"/>
              </a:ext>
            </a:extLst>
          </p:cNvPr>
          <p:cNvSpPr/>
          <p:nvPr/>
        </p:nvSpPr>
        <p:spPr>
          <a:xfrm rot="7217921">
            <a:off x="2319991" y="5459380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8" name="Dijagram toka: Odgoda 18">
            <a:extLst>
              <a:ext uri="{FF2B5EF4-FFF2-40B4-BE49-F238E27FC236}">
                <a16:creationId xmlns:a16="http://schemas.microsoft.com/office/drawing/2014/main" id="{6289246A-9045-4D0E-9EA3-73C0A3C1B797}"/>
              </a:ext>
            </a:extLst>
          </p:cNvPr>
          <p:cNvSpPr/>
          <p:nvPr/>
        </p:nvSpPr>
        <p:spPr>
          <a:xfrm rot="7217921">
            <a:off x="6740603" y="1333968"/>
            <a:ext cx="268986" cy="398755"/>
          </a:xfrm>
          <a:prstGeom prst="flowChartDelay">
            <a:avLst/>
          </a:prstGeom>
          <a:solidFill>
            <a:srgbClr val="C4AA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4" name="Picture 3" descr="A picture containing text, outdoor object, night sky&#10;&#10;Description automatically generated">
            <a:extLst>
              <a:ext uri="{FF2B5EF4-FFF2-40B4-BE49-F238E27FC236}">
                <a16:creationId xmlns:a16="http://schemas.microsoft.com/office/drawing/2014/main" id="{A1854D04-0104-433D-B295-E26EEC3E34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595" y="4201944"/>
            <a:ext cx="2381250" cy="1526153"/>
          </a:xfrm>
          <a:prstGeom prst="rect">
            <a:avLst/>
          </a:prstGeom>
        </p:spPr>
      </p:pic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5CA855AA-1876-42B8-A844-7A081EBD95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325" y="5044622"/>
            <a:ext cx="976394" cy="683475"/>
          </a:xfrm>
          <a:prstGeom prst="rect">
            <a:avLst/>
          </a:prstGeom>
        </p:spPr>
      </p:pic>
      <p:pic>
        <p:nvPicPr>
          <p:cNvPr id="9" name="Picture 8" descr="A picture containing scatter chart&#10;&#10;Description automatically generated">
            <a:extLst>
              <a:ext uri="{FF2B5EF4-FFF2-40B4-BE49-F238E27FC236}">
                <a16:creationId xmlns:a16="http://schemas.microsoft.com/office/drawing/2014/main" id="{E4447F26-AEC1-475B-934B-E8ECC581643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13741" r="21371" b="13325"/>
          <a:stretch/>
        </p:blipFill>
        <p:spPr>
          <a:xfrm>
            <a:off x="10563773" y="4614199"/>
            <a:ext cx="624935" cy="6857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966320-4E95-4B63-8C2F-C7C7EC88E3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941081">
            <a:off x="11027103" y="5090407"/>
            <a:ext cx="904923" cy="509019"/>
          </a:xfrm>
          <a:prstGeom prst="rect">
            <a:avLst/>
          </a:prstGeom>
        </p:spPr>
      </p:pic>
      <p:sp>
        <p:nvSpPr>
          <p:cNvPr id="20" name="Pravokutnik 1">
            <a:extLst>
              <a:ext uri="{FF2B5EF4-FFF2-40B4-BE49-F238E27FC236}">
                <a16:creationId xmlns:a16="http://schemas.microsoft.com/office/drawing/2014/main" id="{B1C12C3E-6916-43A7-95F5-1BDE0C8D6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6986" y="545160"/>
            <a:ext cx="883444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sr-Latn-R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r-HR" altLang="sr-Latn-RS" sz="6600" dirty="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  <a:sym typeface="Wingdings" panose="05000000000000000000" pitchFamily="2" charset="2"/>
              </a:rPr>
              <a:t></a:t>
            </a:r>
            <a:endParaRPr lang="hr-HR" altLang="sr-Latn-RS" sz="6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96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1B73A0-7C11-4BB1-945C-B9D09D2E1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4000" dirty="0"/>
              <a:t>Djelovanje hormona </a:t>
            </a:r>
          </a:p>
        </p:txBody>
      </p:sp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BDBF1FA0-90EC-4876-B658-3A1BAF160DA3}"/>
              </a:ext>
            </a:extLst>
          </p:cNvPr>
          <p:cNvSpPr/>
          <p:nvPr/>
        </p:nvSpPr>
        <p:spPr>
          <a:xfrm>
            <a:off x="4454752" y="-252973"/>
            <a:ext cx="7737248" cy="4257462"/>
          </a:xfrm>
          <a:prstGeom prst="cloudCallout">
            <a:avLst>
              <a:gd name="adj1" fmla="val -74508"/>
              <a:gd name="adj2" fmla="val 42073"/>
            </a:avLst>
          </a:prstGeom>
          <a:noFill/>
          <a:ln>
            <a:solidFill>
              <a:schemeClr val="bg1">
                <a:lumMod val="50000"/>
                <a:alpha val="9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r-HR" sz="2400" b="1" dirty="0">
                <a:solidFill>
                  <a:schemeClr val="tx1"/>
                </a:solidFill>
                <a:latin typeface="+mj-lt"/>
              </a:rPr>
              <a:t>Prouči video i zabilježi sljedeće </a:t>
            </a:r>
          </a:p>
          <a:p>
            <a:endParaRPr lang="hr-HR" sz="2400" b="1" dirty="0">
              <a:solidFill>
                <a:schemeClr val="tx1"/>
              </a:solidFill>
              <a:latin typeface="+mj-lt"/>
            </a:endParaRPr>
          </a:p>
          <a:p>
            <a:pPr marL="342900" indent="-342900">
              <a:buAutoNum type="arabicPeriod"/>
            </a:pPr>
            <a:r>
              <a:rPr lang="hr-HR" sz="2400" b="1" dirty="0">
                <a:solidFill>
                  <a:schemeClr val="tx1"/>
                </a:solidFill>
                <a:latin typeface="+mj-lt"/>
              </a:rPr>
              <a:t>Kako djeluju steroidni hormoni</a:t>
            </a:r>
          </a:p>
          <a:p>
            <a:pPr marL="342900" indent="-342900">
              <a:buAutoNum type="arabicPeriod"/>
            </a:pPr>
            <a:r>
              <a:rPr lang="hr-HR" sz="2400" b="1" dirty="0">
                <a:solidFill>
                  <a:schemeClr val="tx1"/>
                </a:solidFill>
                <a:latin typeface="+mj-lt"/>
              </a:rPr>
              <a:t>Kako djeluju </a:t>
            </a:r>
            <a:r>
              <a:rPr lang="hr-HR" sz="2400" b="1" dirty="0" err="1">
                <a:solidFill>
                  <a:schemeClr val="tx1"/>
                </a:solidFill>
                <a:latin typeface="+mj-lt"/>
              </a:rPr>
              <a:t>nesteroidni</a:t>
            </a:r>
            <a:r>
              <a:rPr lang="hr-HR" sz="2400" b="1" dirty="0">
                <a:solidFill>
                  <a:schemeClr val="tx1"/>
                </a:solidFill>
                <a:latin typeface="+mj-lt"/>
              </a:rPr>
              <a:t> hormoni </a:t>
            </a:r>
          </a:p>
        </p:txBody>
      </p:sp>
      <p:pic>
        <p:nvPicPr>
          <p:cNvPr id="14" name="Content Placeholder 13" descr="Presentation with media">
            <a:hlinkClick r:id="rId2"/>
            <a:extLst>
              <a:ext uri="{FF2B5EF4-FFF2-40B4-BE49-F238E27FC236}">
                <a16:creationId xmlns:a16="http://schemas.microsoft.com/office/drawing/2014/main" id="{C6EC15F3-8191-4486-81F6-896CBCE193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801" y="2093384"/>
            <a:ext cx="5664199" cy="5664199"/>
          </a:xfrm>
        </p:spPr>
      </p:pic>
      <p:sp>
        <p:nvSpPr>
          <p:cNvPr id="4" name="Rectangle 3">
            <a:hlinkClick r:id="rId5"/>
            <a:extLst>
              <a:ext uri="{FF2B5EF4-FFF2-40B4-BE49-F238E27FC236}">
                <a16:creationId xmlns:a16="http://schemas.microsoft.com/office/drawing/2014/main" id="{C6FC1785-8D96-48F2-BB5F-87F8194FD4E9}"/>
              </a:ext>
            </a:extLst>
          </p:cNvPr>
          <p:cNvSpPr/>
          <p:nvPr/>
        </p:nvSpPr>
        <p:spPr>
          <a:xfrm>
            <a:off x="1580826" y="3393519"/>
            <a:ext cx="3347634" cy="122566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b="1" dirty="0">
                <a:solidFill>
                  <a:schemeClr val="tx1"/>
                </a:solidFill>
                <a:latin typeface="+mj-lt"/>
              </a:rPr>
              <a:t>Steroidni hormoni</a:t>
            </a:r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5">
            <a:hlinkClick r:id="rId6"/>
            <a:extLst>
              <a:ext uri="{FF2B5EF4-FFF2-40B4-BE49-F238E27FC236}">
                <a16:creationId xmlns:a16="http://schemas.microsoft.com/office/drawing/2014/main" id="{A5C54298-AA0B-408B-B148-60A9205CF89A}"/>
              </a:ext>
            </a:extLst>
          </p:cNvPr>
          <p:cNvSpPr/>
          <p:nvPr/>
        </p:nvSpPr>
        <p:spPr>
          <a:xfrm>
            <a:off x="1580826" y="4619181"/>
            <a:ext cx="3347635" cy="914400"/>
          </a:xfrm>
          <a:prstGeom prst="rect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Nesteroidni</a:t>
            </a:r>
            <a:r>
              <a:rPr lang="hr-H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hormoni 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7" name="Pravokutnik 1">
            <a:extLst>
              <a:ext uri="{FF2B5EF4-FFF2-40B4-BE49-F238E27FC236}">
                <a16:creationId xmlns:a16="http://schemas.microsoft.com/office/drawing/2014/main" id="{F0F334A3-9C3A-4395-9D40-FE7B1E722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9634" y="985388"/>
            <a:ext cx="883444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sr-Latn-R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r-HR" altLang="sr-Latn-RS" sz="6600" dirty="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  <a:sym typeface="Wingdings" panose="05000000000000000000" pitchFamily="2" charset="2"/>
              </a:rPr>
              <a:t></a:t>
            </a:r>
            <a:endParaRPr lang="hr-HR" altLang="sr-Latn-RS" sz="6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7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niOkvir 6">
            <a:extLst>
              <a:ext uri="{FF2B5EF4-FFF2-40B4-BE49-F238E27FC236}">
                <a16:creationId xmlns:a16="http://schemas.microsoft.com/office/drawing/2014/main" id="{0CF8F10C-2EB8-46F0-B4B8-BC6FAAED299E}"/>
              </a:ext>
            </a:extLst>
          </p:cNvPr>
          <p:cNvSpPr txBox="1"/>
          <p:nvPr/>
        </p:nvSpPr>
        <p:spPr>
          <a:xfrm>
            <a:off x="797865" y="850703"/>
            <a:ext cx="3882021" cy="544830"/>
          </a:xfrm>
          <a:prstGeom prst="roundRect">
            <a:avLst/>
          </a:prstGeom>
          <a:solidFill>
            <a:srgbClr val="DCFCE8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hr-HR" sz="2600" b="1" dirty="0">
                <a:latin typeface="+mj-lt"/>
              </a:rPr>
              <a:t>organizam u homeostazi</a:t>
            </a:r>
          </a:p>
        </p:txBody>
      </p:sp>
      <p:cxnSp>
        <p:nvCxnSpPr>
          <p:cNvPr id="9" name="Ravni poveznik sa strelicom 8">
            <a:extLst>
              <a:ext uri="{FF2B5EF4-FFF2-40B4-BE49-F238E27FC236}">
                <a16:creationId xmlns:a16="http://schemas.microsoft.com/office/drawing/2014/main" id="{4CE37B37-9958-437E-B0EA-4C1009D5ACA2}"/>
              </a:ext>
            </a:extLst>
          </p:cNvPr>
          <p:cNvCxnSpPr>
            <a:cxnSpLocks/>
          </p:cNvCxnSpPr>
          <p:nvPr/>
        </p:nvCxnSpPr>
        <p:spPr>
          <a:xfrm flipH="1">
            <a:off x="1314450" y="1507758"/>
            <a:ext cx="705727" cy="5692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avni poveznik sa strelicom 9">
            <a:extLst>
              <a:ext uri="{FF2B5EF4-FFF2-40B4-BE49-F238E27FC236}">
                <a16:creationId xmlns:a16="http://schemas.microsoft.com/office/drawing/2014/main" id="{19E8673C-F68C-4637-A0DA-F8BEE4EFF620}"/>
              </a:ext>
            </a:extLst>
          </p:cNvPr>
          <p:cNvCxnSpPr>
            <a:cxnSpLocks/>
          </p:cNvCxnSpPr>
          <p:nvPr/>
        </p:nvCxnSpPr>
        <p:spPr>
          <a:xfrm>
            <a:off x="3588038" y="1510650"/>
            <a:ext cx="717262" cy="544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A5E510CD-9BFD-45E1-927A-A1888FFE9AF1}"/>
              </a:ext>
            </a:extLst>
          </p:cNvPr>
          <p:cNvSpPr txBox="1"/>
          <p:nvPr/>
        </p:nvSpPr>
        <p:spPr>
          <a:xfrm>
            <a:off x="1486776" y="1557908"/>
            <a:ext cx="2504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400" b="1" dirty="0">
                <a:latin typeface="+mj-lt"/>
              </a:rPr>
              <a:t>promjena</a:t>
            </a:r>
          </a:p>
        </p:txBody>
      </p:sp>
      <p:sp>
        <p:nvSpPr>
          <p:cNvPr id="16" name="TekstniOkvir 15">
            <a:extLst>
              <a:ext uri="{FF2B5EF4-FFF2-40B4-BE49-F238E27FC236}">
                <a16:creationId xmlns:a16="http://schemas.microsoft.com/office/drawing/2014/main" id="{657549E7-A99B-4CB6-B8BF-9C1E4D6A91A7}"/>
              </a:ext>
            </a:extLst>
          </p:cNvPr>
          <p:cNvSpPr txBox="1"/>
          <p:nvPr/>
        </p:nvSpPr>
        <p:spPr>
          <a:xfrm>
            <a:off x="238223" y="2275489"/>
            <a:ext cx="2824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unutar organizma</a:t>
            </a:r>
          </a:p>
        </p:txBody>
      </p:sp>
      <p:sp>
        <p:nvSpPr>
          <p:cNvPr id="18" name="TekstniOkvir 17">
            <a:extLst>
              <a:ext uri="{FF2B5EF4-FFF2-40B4-BE49-F238E27FC236}">
                <a16:creationId xmlns:a16="http://schemas.microsoft.com/office/drawing/2014/main" id="{4FFC0BD5-3F64-4CC4-89A9-6E4A068B1FFB}"/>
              </a:ext>
            </a:extLst>
          </p:cNvPr>
          <p:cNvSpPr txBox="1"/>
          <p:nvPr/>
        </p:nvSpPr>
        <p:spPr>
          <a:xfrm>
            <a:off x="3444524" y="2258674"/>
            <a:ext cx="1857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400" dirty="0">
                <a:latin typeface="Comic Sans MS" panose="030F0702030302020204" pitchFamily="66" charset="0"/>
              </a:rPr>
              <a:t>u okolišu</a:t>
            </a:r>
          </a:p>
        </p:txBody>
      </p:sp>
      <p:sp>
        <p:nvSpPr>
          <p:cNvPr id="19" name="Desna vitičasta zagrada 18">
            <a:extLst>
              <a:ext uri="{FF2B5EF4-FFF2-40B4-BE49-F238E27FC236}">
                <a16:creationId xmlns:a16="http://schemas.microsoft.com/office/drawing/2014/main" id="{B2A838DB-95B2-4709-BA94-3D8E845EFFAC}"/>
              </a:ext>
            </a:extLst>
          </p:cNvPr>
          <p:cNvSpPr/>
          <p:nvPr/>
        </p:nvSpPr>
        <p:spPr>
          <a:xfrm>
            <a:off x="4732869" y="2992651"/>
            <a:ext cx="647700" cy="1787213"/>
          </a:xfrm>
          <a:prstGeom prst="rightBrace">
            <a:avLst>
              <a:gd name="adj1" fmla="val 62745"/>
              <a:gd name="adj2" fmla="val 4839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1" name="TekstniOkvir 20">
            <a:extLst>
              <a:ext uri="{FF2B5EF4-FFF2-40B4-BE49-F238E27FC236}">
                <a16:creationId xmlns:a16="http://schemas.microsoft.com/office/drawing/2014/main" id="{BFDAFD78-8CCE-4D3F-BA61-5FCDCD932793}"/>
              </a:ext>
            </a:extLst>
          </p:cNvPr>
          <p:cNvSpPr txBox="1"/>
          <p:nvPr/>
        </p:nvSpPr>
        <p:spPr>
          <a:xfrm>
            <a:off x="477306" y="3163550"/>
            <a:ext cx="4579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400" b="1" dirty="0">
                <a:solidFill>
                  <a:srgbClr val="9966AB"/>
                </a:solidFill>
                <a:latin typeface="+mj-lt"/>
              </a:rPr>
              <a:t>slanje i primanje informacija</a:t>
            </a:r>
          </a:p>
        </p:txBody>
      </p:sp>
      <p:sp>
        <p:nvSpPr>
          <p:cNvPr id="22" name="Strelica: prema dolje 21">
            <a:extLst>
              <a:ext uri="{FF2B5EF4-FFF2-40B4-BE49-F238E27FC236}">
                <a16:creationId xmlns:a16="http://schemas.microsoft.com/office/drawing/2014/main" id="{77D298B8-A291-4BA8-8672-EA7FF355DABB}"/>
              </a:ext>
            </a:extLst>
          </p:cNvPr>
          <p:cNvSpPr/>
          <p:nvPr/>
        </p:nvSpPr>
        <p:spPr>
          <a:xfrm>
            <a:off x="2565702" y="3769699"/>
            <a:ext cx="271025" cy="466725"/>
          </a:xfrm>
          <a:custGeom>
            <a:avLst/>
            <a:gdLst>
              <a:gd name="connsiteX0" fmla="*/ 0 w 271025"/>
              <a:gd name="connsiteY0" fmla="*/ 331213 h 466725"/>
              <a:gd name="connsiteX1" fmla="*/ 67756 w 271025"/>
              <a:gd name="connsiteY1" fmla="*/ 331213 h 466725"/>
              <a:gd name="connsiteX2" fmla="*/ 67756 w 271025"/>
              <a:gd name="connsiteY2" fmla="*/ 0 h 466725"/>
              <a:gd name="connsiteX3" fmla="*/ 203269 w 271025"/>
              <a:gd name="connsiteY3" fmla="*/ 0 h 466725"/>
              <a:gd name="connsiteX4" fmla="*/ 203269 w 271025"/>
              <a:gd name="connsiteY4" fmla="*/ 331213 h 466725"/>
              <a:gd name="connsiteX5" fmla="*/ 271025 w 271025"/>
              <a:gd name="connsiteY5" fmla="*/ 331213 h 466725"/>
              <a:gd name="connsiteX6" fmla="*/ 135513 w 271025"/>
              <a:gd name="connsiteY6" fmla="*/ 466725 h 466725"/>
              <a:gd name="connsiteX7" fmla="*/ 0 w 271025"/>
              <a:gd name="connsiteY7" fmla="*/ 331213 h 46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025" h="466725" fill="none" extrusionOk="0">
                <a:moveTo>
                  <a:pt x="0" y="331213"/>
                </a:moveTo>
                <a:cubicBezTo>
                  <a:pt x="22720" y="331517"/>
                  <a:pt x="43941" y="333663"/>
                  <a:pt x="67756" y="331213"/>
                </a:cubicBezTo>
                <a:cubicBezTo>
                  <a:pt x="53264" y="217924"/>
                  <a:pt x="80126" y="105726"/>
                  <a:pt x="67756" y="0"/>
                </a:cubicBezTo>
                <a:cubicBezTo>
                  <a:pt x="95667" y="-447"/>
                  <a:pt x="159182" y="5951"/>
                  <a:pt x="203269" y="0"/>
                </a:cubicBezTo>
                <a:cubicBezTo>
                  <a:pt x="197055" y="133361"/>
                  <a:pt x="217672" y="263282"/>
                  <a:pt x="203269" y="331213"/>
                </a:cubicBezTo>
                <a:cubicBezTo>
                  <a:pt x="226783" y="330233"/>
                  <a:pt x="244753" y="333745"/>
                  <a:pt x="271025" y="331213"/>
                </a:cubicBezTo>
                <a:cubicBezTo>
                  <a:pt x="228329" y="364821"/>
                  <a:pt x="158299" y="430892"/>
                  <a:pt x="135513" y="466725"/>
                </a:cubicBezTo>
                <a:cubicBezTo>
                  <a:pt x="112093" y="430063"/>
                  <a:pt x="64233" y="387628"/>
                  <a:pt x="0" y="331213"/>
                </a:cubicBezTo>
                <a:close/>
              </a:path>
              <a:path w="271025" h="466725" stroke="0" extrusionOk="0">
                <a:moveTo>
                  <a:pt x="0" y="331213"/>
                </a:moveTo>
                <a:cubicBezTo>
                  <a:pt x="33234" y="328809"/>
                  <a:pt x="52773" y="332978"/>
                  <a:pt x="67756" y="331213"/>
                </a:cubicBezTo>
                <a:cubicBezTo>
                  <a:pt x="67203" y="199419"/>
                  <a:pt x="51461" y="163272"/>
                  <a:pt x="67756" y="0"/>
                </a:cubicBezTo>
                <a:cubicBezTo>
                  <a:pt x="125842" y="-362"/>
                  <a:pt x="143642" y="585"/>
                  <a:pt x="203269" y="0"/>
                </a:cubicBezTo>
                <a:cubicBezTo>
                  <a:pt x="188911" y="118998"/>
                  <a:pt x="198645" y="212336"/>
                  <a:pt x="203269" y="331213"/>
                </a:cubicBezTo>
                <a:cubicBezTo>
                  <a:pt x="221512" y="329426"/>
                  <a:pt x="254070" y="328579"/>
                  <a:pt x="271025" y="331213"/>
                </a:cubicBezTo>
                <a:cubicBezTo>
                  <a:pt x="216100" y="392051"/>
                  <a:pt x="193185" y="407397"/>
                  <a:pt x="135513" y="466725"/>
                </a:cubicBezTo>
                <a:cubicBezTo>
                  <a:pt x="75985" y="405509"/>
                  <a:pt x="32926" y="369085"/>
                  <a:pt x="0" y="331213"/>
                </a:cubicBezTo>
                <a:close/>
              </a:path>
            </a:pathLst>
          </a:custGeom>
          <a:solidFill>
            <a:srgbClr val="9966AB"/>
          </a:solidFill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41164742">
                  <a:prstGeom prst="down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4" name="TekstniOkvir 23">
            <a:extLst>
              <a:ext uri="{FF2B5EF4-FFF2-40B4-BE49-F238E27FC236}">
                <a16:creationId xmlns:a16="http://schemas.microsoft.com/office/drawing/2014/main" id="{58ECAE01-34DF-49CF-AB34-9D3F10EE8518}"/>
              </a:ext>
            </a:extLst>
          </p:cNvPr>
          <p:cNvSpPr txBox="1"/>
          <p:nvPr/>
        </p:nvSpPr>
        <p:spPr>
          <a:xfrm>
            <a:off x="1217427" y="4318199"/>
            <a:ext cx="2967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400" b="1" dirty="0">
                <a:solidFill>
                  <a:srgbClr val="9966AB"/>
                </a:solidFill>
                <a:latin typeface="+mj-lt"/>
              </a:rPr>
              <a:t>ODGOVOR</a:t>
            </a:r>
          </a:p>
        </p:txBody>
      </p:sp>
      <p:sp>
        <p:nvSpPr>
          <p:cNvPr id="26" name="Strelica: prema dolje 25">
            <a:extLst>
              <a:ext uri="{FF2B5EF4-FFF2-40B4-BE49-F238E27FC236}">
                <a16:creationId xmlns:a16="http://schemas.microsoft.com/office/drawing/2014/main" id="{EA449760-91B7-4449-A0EB-46CBD1BF7B31}"/>
              </a:ext>
            </a:extLst>
          </p:cNvPr>
          <p:cNvSpPr/>
          <p:nvPr/>
        </p:nvSpPr>
        <p:spPr>
          <a:xfrm>
            <a:off x="2565701" y="4916588"/>
            <a:ext cx="271025" cy="466725"/>
          </a:xfrm>
          <a:custGeom>
            <a:avLst/>
            <a:gdLst>
              <a:gd name="connsiteX0" fmla="*/ 0 w 271025"/>
              <a:gd name="connsiteY0" fmla="*/ 331213 h 466725"/>
              <a:gd name="connsiteX1" fmla="*/ 67756 w 271025"/>
              <a:gd name="connsiteY1" fmla="*/ 331213 h 466725"/>
              <a:gd name="connsiteX2" fmla="*/ 67756 w 271025"/>
              <a:gd name="connsiteY2" fmla="*/ 0 h 466725"/>
              <a:gd name="connsiteX3" fmla="*/ 203269 w 271025"/>
              <a:gd name="connsiteY3" fmla="*/ 0 h 466725"/>
              <a:gd name="connsiteX4" fmla="*/ 203269 w 271025"/>
              <a:gd name="connsiteY4" fmla="*/ 331213 h 466725"/>
              <a:gd name="connsiteX5" fmla="*/ 271025 w 271025"/>
              <a:gd name="connsiteY5" fmla="*/ 331213 h 466725"/>
              <a:gd name="connsiteX6" fmla="*/ 135513 w 271025"/>
              <a:gd name="connsiteY6" fmla="*/ 466725 h 466725"/>
              <a:gd name="connsiteX7" fmla="*/ 0 w 271025"/>
              <a:gd name="connsiteY7" fmla="*/ 331213 h 46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025" h="466725" fill="none" extrusionOk="0">
                <a:moveTo>
                  <a:pt x="0" y="331213"/>
                </a:moveTo>
                <a:cubicBezTo>
                  <a:pt x="22720" y="331517"/>
                  <a:pt x="43941" y="333663"/>
                  <a:pt x="67756" y="331213"/>
                </a:cubicBezTo>
                <a:cubicBezTo>
                  <a:pt x="53264" y="217924"/>
                  <a:pt x="80126" y="105726"/>
                  <a:pt x="67756" y="0"/>
                </a:cubicBezTo>
                <a:cubicBezTo>
                  <a:pt x="95667" y="-447"/>
                  <a:pt x="159182" y="5951"/>
                  <a:pt x="203269" y="0"/>
                </a:cubicBezTo>
                <a:cubicBezTo>
                  <a:pt x="197055" y="133361"/>
                  <a:pt x="217672" y="263282"/>
                  <a:pt x="203269" y="331213"/>
                </a:cubicBezTo>
                <a:cubicBezTo>
                  <a:pt x="226783" y="330233"/>
                  <a:pt x="244753" y="333745"/>
                  <a:pt x="271025" y="331213"/>
                </a:cubicBezTo>
                <a:cubicBezTo>
                  <a:pt x="228329" y="364821"/>
                  <a:pt x="158299" y="430892"/>
                  <a:pt x="135513" y="466725"/>
                </a:cubicBezTo>
                <a:cubicBezTo>
                  <a:pt x="112093" y="430063"/>
                  <a:pt x="64233" y="387628"/>
                  <a:pt x="0" y="331213"/>
                </a:cubicBezTo>
                <a:close/>
              </a:path>
              <a:path w="271025" h="466725" stroke="0" extrusionOk="0">
                <a:moveTo>
                  <a:pt x="0" y="331213"/>
                </a:moveTo>
                <a:cubicBezTo>
                  <a:pt x="33234" y="328809"/>
                  <a:pt x="52773" y="332978"/>
                  <a:pt x="67756" y="331213"/>
                </a:cubicBezTo>
                <a:cubicBezTo>
                  <a:pt x="67203" y="199419"/>
                  <a:pt x="51461" y="163272"/>
                  <a:pt x="67756" y="0"/>
                </a:cubicBezTo>
                <a:cubicBezTo>
                  <a:pt x="125842" y="-362"/>
                  <a:pt x="143642" y="585"/>
                  <a:pt x="203269" y="0"/>
                </a:cubicBezTo>
                <a:cubicBezTo>
                  <a:pt x="188911" y="118998"/>
                  <a:pt x="198645" y="212336"/>
                  <a:pt x="203269" y="331213"/>
                </a:cubicBezTo>
                <a:cubicBezTo>
                  <a:pt x="221512" y="329426"/>
                  <a:pt x="254070" y="328579"/>
                  <a:pt x="271025" y="331213"/>
                </a:cubicBezTo>
                <a:cubicBezTo>
                  <a:pt x="216100" y="392051"/>
                  <a:pt x="193185" y="407397"/>
                  <a:pt x="135513" y="466725"/>
                </a:cubicBezTo>
                <a:cubicBezTo>
                  <a:pt x="75985" y="405509"/>
                  <a:pt x="32926" y="369085"/>
                  <a:pt x="0" y="331213"/>
                </a:cubicBezTo>
                <a:close/>
              </a:path>
            </a:pathLst>
          </a:custGeom>
          <a:solidFill>
            <a:srgbClr val="9966AB"/>
          </a:solidFill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41164742">
                  <a:prstGeom prst="down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8" name="TekstniOkvir 27">
            <a:extLst>
              <a:ext uri="{FF2B5EF4-FFF2-40B4-BE49-F238E27FC236}">
                <a16:creationId xmlns:a16="http://schemas.microsoft.com/office/drawing/2014/main" id="{1265ED18-967A-4534-B248-3389B8087647}"/>
              </a:ext>
            </a:extLst>
          </p:cNvPr>
          <p:cNvSpPr txBox="1"/>
          <p:nvPr/>
        </p:nvSpPr>
        <p:spPr>
          <a:xfrm>
            <a:off x="797864" y="5485852"/>
            <a:ext cx="3882021" cy="544830"/>
          </a:xfrm>
          <a:prstGeom prst="roundRect">
            <a:avLst/>
          </a:prstGeom>
          <a:solidFill>
            <a:srgbClr val="DCFCE8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hr-HR" sz="2600" b="1" dirty="0">
                <a:latin typeface="+mj-lt"/>
              </a:rPr>
              <a:t>organizam u homeostazi</a:t>
            </a:r>
          </a:p>
        </p:txBody>
      </p:sp>
      <p:sp>
        <p:nvSpPr>
          <p:cNvPr id="29" name="Oblačić: strelica udesno 28">
            <a:extLst>
              <a:ext uri="{FF2B5EF4-FFF2-40B4-BE49-F238E27FC236}">
                <a16:creationId xmlns:a16="http://schemas.microsoft.com/office/drawing/2014/main" id="{1BB3C8C5-95F0-45D3-96B2-DA354904481D}"/>
              </a:ext>
            </a:extLst>
          </p:cNvPr>
          <p:cNvSpPr/>
          <p:nvPr/>
        </p:nvSpPr>
        <p:spPr>
          <a:xfrm rot="5400000">
            <a:off x="2242608" y="304512"/>
            <a:ext cx="904875" cy="4723344"/>
          </a:xfrm>
          <a:prstGeom prst="rightArrowCallout">
            <a:avLst>
              <a:gd name="adj1" fmla="val 20789"/>
              <a:gd name="adj2" fmla="val 19737"/>
              <a:gd name="adj3" fmla="val 25000"/>
              <a:gd name="adj4" fmla="val 6497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b="1">
              <a:latin typeface="+mj-lt"/>
            </a:endParaRPr>
          </a:p>
        </p:txBody>
      </p:sp>
      <p:sp>
        <p:nvSpPr>
          <p:cNvPr id="31" name="TekstniOkvir 30">
            <a:extLst>
              <a:ext uri="{FF2B5EF4-FFF2-40B4-BE49-F238E27FC236}">
                <a16:creationId xmlns:a16="http://schemas.microsoft.com/office/drawing/2014/main" id="{4BBF1ADD-2968-485B-BA8B-7193C2C4E812}"/>
              </a:ext>
            </a:extLst>
          </p:cNvPr>
          <p:cNvSpPr txBox="1"/>
          <p:nvPr/>
        </p:nvSpPr>
        <p:spPr>
          <a:xfrm>
            <a:off x="5544962" y="3581400"/>
            <a:ext cx="5791199" cy="492443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hr-HR" sz="2600" b="1" dirty="0">
                <a:solidFill>
                  <a:srgbClr val="9966AB"/>
                </a:solidFill>
                <a:latin typeface="+mj-lt"/>
              </a:rPr>
              <a:t>MEHANIZAM POVRATNE SPREGE</a:t>
            </a:r>
          </a:p>
        </p:txBody>
      </p:sp>
      <p:cxnSp>
        <p:nvCxnSpPr>
          <p:cNvPr id="32" name="Ravni poveznik sa strelicom 31">
            <a:extLst>
              <a:ext uri="{FF2B5EF4-FFF2-40B4-BE49-F238E27FC236}">
                <a16:creationId xmlns:a16="http://schemas.microsoft.com/office/drawing/2014/main" id="{F66BB9EF-06C6-47B7-87C9-1768DF58366B}"/>
              </a:ext>
            </a:extLst>
          </p:cNvPr>
          <p:cNvCxnSpPr>
            <a:cxnSpLocks/>
          </p:cNvCxnSpPr>
          <p:nvPr/>
        </p:nvCxnSpPr>
        <p:spPr>
          <a:xfrm flipH="1" flipV="1">
            <a:off x="7625883" y="3107409"/>
            <a:ext cx="2" cy="405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avni poveznik sa strelicom 33">
            <a:extLst>
              <a:ext uri="{FF2B5EF4-FFF2-40B4-BE49-F238E27FC236}">
                <a16:creationId xmlns:a16="http://schemas.microsoft.com/office/drawing/2014/main" id="{51CC9351-EFD8-4E40-84E8-595E13234AD6}"/>
              </a:ext>
            </a:extLst>
          </p:cNvPr>
          <p:cNvCxnSpPr>
            <a:cxnSpLocks/>
          </p:cNvCxnSpPr>
          <p:nvPr/>
        </p:nvCxnSpPr>
        <p:spPr>
          <a:xfrm flipH="1">
            <a:off x="7643632" y="4134237"/>
            <a:ext cx="1" cy="4389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niOkvir 35">
            <a:extLst>
              <a:ext uri="{FF2B5EF4-FFF2-40B4-BE49-F238E27FC236}">
                <a16:creationId xmlns:a16="http://schemas.microsoft.com/office/drawing/2014/main" id="{6535139B-09A2-4D90-B4A4-5BEE09B00F34}"/>
              </a:ext>
            </a:extLst>
          </p:cNvPr>
          <p:cNvSpPr txBox="1"/>
          <p:nvPr/>
        </p:nvSpPr>
        <p:spPr>
          <a:xfrm>
            <a:off x="6644637" y="2640330"/>
            <a:ext cx="24348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800" b="1" dirty="0">
                <a:latin typeface="+mj-lt"/>
              </a:rPr>
              <a:t>NEGATIVNA</a:t>
            </a:r>
          </a:p>
        </p:txBody>
      </p:sp>
      <p:sp>
        <p:nvSpPr>
          <p:cNvPr id="40" name="TekstniOkvir 39">
            <a:extLst>
              <a:ext uri="{FF2B5EF4-FFF2-40B4-BE49-F238E27FC236}">
                <a16:creationId xmlns:a16="http://schemas.microsoft.com/office/drawing/2014/main" id="{9CFDB33E-7336-4D05-A2AA-CB39BFCA101E}"/>
              </a:ext>
            </a:extLst>
          </p:cNvPr>
          <p:cNvSpPr txBox="1"/>
          <p:nvPr/>
        </p:nvSpPr>
        <p:spPr>
          <a:xfrm>
            <a:off x="6551142" y="4657837"/>
            <a:ext cx="2556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800" b="1" dirty="0">
                <a:latin typeface="+mj-lt"/>
              </a:rPr>
              <a:t>POZITIVNA</a:t>
            </a:r>
          </a:p>
        </p:txBody>
      </p:sp>
      <p:pic>
        <p:nvPicPr>
          <p:cNvPr id="42" name="Grafika 41" descr="Značka Prati">
            <a:extLst>
              <a:ext uri="{FF2B5EF4-FFF2-40B4-BE49-F238E27FC236}">
                <a16:creationId xmlns:a16="http://schemas.microsoft.com/office/drawing/2014/main" id="{26BEB4D6-18B9-4B65-9B25-79ED9AF41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64" y="4680442"/>
            <a:ext cx="443982" cy="443982"/>
          </a:xfrm>
          <a:prstGeom prst="rect">
            <a:avLst/>
          </a:prstGeom>
        </p:spPr>
      </p:pic>
      <p:pic>
        <p:nvPicPr>
          <p:cNvPr id="44" name="Grafika 43" descr="Značka prestani pratiti">
            <a:extLst>
              <a:ext uri="{FF2B5EF4-FFF2-40B4-BE49-F238E27FC236}">
                <a16:creationId xmlns:a16="http://schemas.microsoft.com/office/drawing/2014/main" id="{E04DD500-1339-4DF7-8280-49FE2AA8C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79530" y="2681724"/>
            <a:ext cx="457200" cy="457200"/>
          </a:xfrm>
          <a:prstGeom prst="rect">
            <a:avLst/>
          </a:prstGeom>
        </p:spPr>
      </p:pic>
      <p:sp>
        <p:nvSpPr>
          <p:cNvPr id="52" name="TekstniOkvir 51">
            <a:extLst>
              <a:ext uri="{FF2B5EF4-FFF2-40B4-BE49-F238E27FC236}">
                <a16:creationId xmlns:a16="http://schemas.microsoft.com/office/drawing/2014/main" id="{BFD40AFD-5E18-4D63-931B-A90C851D93A5}"/>
              </a:ext>
            </a:extLst>
          </p:cNvPr>
          <p:cNvSpPr txBox="1"/>
          <p:nvPr/>
        </p:nvSpPr>
        <p:spPr>
          <a:xfrm>
            <a:off x="10001256" y="2450593"/>
            <a:ext cx="1857371" cy="649188"/>
          </a:xfrm>
          <a:prstGeom prst="ellipse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hr-HR" sz="2400" b="1" dirty="0">
                <a:latin typeface="+mj-lt"/>
              </a:rPr>
              <a:t>hormoni</a:t>
            </a:r>
          </a:p>
        </p:txBody>
      </p:sp>
      <p:sp>
        <p:nvSpPr>
          <p:cNvPr id="54" name="TekstniOkvir 53">
            <a:extLst>
              <a:ext uri="{FF2B5EF4-FFF2-40B4-BE49-F238E27FC236}">
                <a16:creationId xmlns:a16="http://schemas.microsoft.com/office/drawing/2014/main" id="{E4C89450-F5E9-414C-A16E-003829FAE1B2}"/>
              </a:ext>
            </a:extLst>
          </p:cNvPr>
          <p:cNvSpPr txBox="1"/>
          <p:nvPr/>
        </p:nvSpPr>
        <p:spPr>
          <a:xfrm>
            <a:off x="6551142" y="1641192"/>
            <a:ext cx="42488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Comic Sans MS" panose="030F0702030302020204" pitchFamily="66" charset="0"/>
              <a:buChar char="X"/>
            </a:pPr>
            <a:r>
              <a:rPr lang="hr-HR" sz="2400" b="1" dirty="0">
                <a:latin typeface="+mj-lt"/>
              </a:rPr>
              <a:t>zaustavlja ili smanjuje učinak podražaja</a:t>
            </a:r>
          </a:p>
        </p:txBody>
      </p:sp>
      <p:sp>
        <p:nvSpPr>
          <p:cNvPr id="56" name="TekstniOkvir 55">
            <a:extLst>
              <a:ext uri="{FF2B5EF4-FFF2-40B4-BE49-F238E27FC236}">
                <a16:creationId xmlns:a16="http://schemas.microsoft.com/office/drawing/2014/main" id="{81ADCCF7-11D4-4BF9-A999-DD7AF1EF5995}"/>
              </a:ext>
            </a:extLst>
          </p:cNvPr>
          <p:cNvSpPr txBox="1"/>
          <p:nvPr/>
        </p:nvSpPr>
        <p:spPr>
          <a:xfrm>
            <a:off x="6601012" y="5303386"/>
            <a:ext cx="4570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hr-HR" sz="2400" b="1" dirty="0">
                <a:latin typeface="+mj-lt"/>
              </a:rPr>
              <a:t>pojačava učinak podražaja</a:t>
            </a:r>
          </a:p>
        </p:txBody>
      </p:sp>
    </p:spTree>
    <p:extLst>
      <p:ext uri="{BB962C8B-B14F-4D97-AF65-F5344CB8AC3E}">
        <p14:creationId xmlns:p14="http://schemas.microsoft.com/office/powerpoint/2010/main" val="3988521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8" grpId="0"/>
      <p:bldP spid="19" grpId="0" animBg="1"/>
      <p:bldP spid="21" grpId="0"/>
      <p:bldP spid="22" grpId="0" animBg="1"/>
      <p:bldP spid="24" grpId="0"/>
      <p:bldP spid="26" grpId="0" animBg="1"/>
      <p:bldP spid="28" grpId="0" animBg="1"/>
      <p:bldP spid="29" grpId="0" animBg="1"/>
      <p:bldP spid="31" grpId="0" animBg="1"/>
      <p:bldP spid="36" grpId="0"/>
      <p:bldP spid="40" grpId="0"/>
      <p:bldP spid="52" grpId="0" animBg="1"/>
      <p:bldP spid="54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85000"/>
            <a:alpha val="8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pile of red and white marshmallows&#10;&#10;Description automatically generated with medium confidence">
            <a:extLst>
              <a:ext uri="{FF2B5EF4-FFF2-40B4-BE49-F238E27FC236}">
                <a16:creationId xmlns:a16="http://schemas.microsoft.com/office/drawing/2014/main" id="{67AC930C-817E-4464-896A-EB918787577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1" b="2641"/>
          <a:stretch>
            <a:fillRect/>
          </a:stretch>
        </p:blipFill>
        <p:spPr>
          <a:xfrm>
            <a:off x="-158942" y="709523"/>
            <a:ext cx="7945362" cy="687508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EEAD9-81FA-4BCA-8B03-80C6C72026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FF11E-6452-45D8-9F6D-4AC13B44DA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06ACAF-E9D6-42E8-8104-DDA294C905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68A90A-4CF1-414A-AA6D-19B70D9403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D3B4910D-F151-40EF-9708-67DC83BE31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90" y="4147066"/>
            <a:ext cx="3851848" cy="2566135"/>
          </a:xfrm>
          <a:prstGeom prst="rect">
            <a:avLst/>
          </a:prstGeom>
        </p:spPr>
      </p:pic>
      <p:sp>
        <p:nvSpPr>
          <p:cNvPr id="14" name="Thought Bubble: Cloud 13">
            <a:extLst>
              <a:ext uri="{FF2B5EF4-FFF2-40B4-BE49-F238E27FC236}">
                <a16:creationId xmlns:a16="http://schemas.microsoft.com/office/drawing/2014/main" id="{9A33B5F1-9F9C-44E9-BF52-69181A01B991}"/>
              </a:ext>
            </a:extLst>
          </p:cNvPr>
          <p:cNvSpPr/>
          <p:nvPr/>
        </p:nvSpPr>
        <p:spPr>
          <a:xfrm>
            <a:off x="5470902" y="-125001"/>
            <a:ext cx="8994606" cy="5671870"/>
          </a:xfrm>
          <a:prstGeom prst="cloudCallout">
            <a:avLst>
              <a:gd name="adj1" fmla="val -48749"/>
              <a:gd name="adj2" fmla="val 10059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r-HR" sz="2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algn="ctr"/>
            <a:r>
              <a:rPr lang="hr-H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Pronađite referentnu vrijednost koncentracije glukoze u krvi za zdravog  čovjeka  </a:t>
            </a:r>
          </a:p>
          <a:p>
            <a:r>
              <a:rPr lang="hr-H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      </a:t>
            </a:r>
          </a:p>
          <a:p>
            <a:r>
              <a:rPr lang="hr-HR" sz="2400" b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                           </a:t>
            </a:r>
            <a:r>
              <a:rPr lang="hr-H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Gdje sam tu ja ?</a:t>
            </a:r>
          </a:p>
          <a:p>
            <a:endParaRPr lang="hr-HR" sz="2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r>
              <a:rPr lang="hr-H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         Što se događa ako je koncentracija  </a:t>
            </a:r>
          </a:p>
          <a:p>
            <a:r>
              <a:rPr lang="hr-H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                                  glukoze          </a:t>
            </a:r>
          </a:p>
          <a:p>
            <a:r>
              <a:rPr lang="hr-HR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                      previsoka ili preniska ?</a:t>
            </a:r>
          </a:p>
          <a:p>
            <a:pPr marL="457200" indent="-457200">
              <a:buAutoNum type="arabicPeriod"/>
            </a:pPr>
            <a:endParaRPr lang="hr-HR" sz="2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457200" indent="-457200">
              <a:buAutoNum type="arabicPeriod"/>
            </a:pPr>
            <a:endParaRPr lang="hr-HR" sz="2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674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A936937-1AA6-47BE-979B-9C398E52D8AA}"/>
              </a:ext>
            </a:extLst>
          </p:cNvPr>
          <p:cNvSpPr txBox="1">
            <a:spLocks noChangeArrowheads="1"/>
          </p:cNvSpPr>
          <p:nvPr/>
        </p:nvSpPr>
        <p:spPr>
          <a:xfrm>
            <a:off x="129690" y="385087"/>
            <a:ext cx="4883867" cy="6531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hr-HR" altLang="sr-Latn-RS" sz="3200" b="1" dirty="0">
                <a:cs typeface="Times New Roman" panose="02020603050405020304" pitchFamily="18" charset="0"/>
              </a:rPr>
              <a:t>Regulacija glukoze u krvi</a:t>
            </a:r>
            <a:endParaRPr lang="en-GB" altLang="sr-Latn-RS" sz="3200" b="1" dirty="0">
              <a:cs typeface="Times New Roman" panose="02020603050405020304" pitchFamily="18" charset="0"/>
            </a:endParaRPr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93019559-B45E-4B60-B836-7E1DBB503F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47" t="16528" r="51250" b="18056"/>
          <a:stretch/>
        </p:blipFill>
        <p:spPr>
          <a:xfrm>
            <a:off x="6493965" y="0"/>
            <a:ext cx="5371256" cy="7007929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37C389CE-4153-4704-87C0-A7B0CE7D9072}"/>
              </a:ext>
            </a:extLst>
          </p:cNvPr>
          <p:cNvSpPr txBox="1">
            <a:spLocks noChangeArrowheads="1"/>
          </p:cNvSpPr>
          <p:nvPr/>
        </p:nvSpPr>
        <p:spPr>
          <a:xfrm>
            <a:off x="900621" y="3527777"/>
            <a:ext cx="2398707" cy="112420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defRPr/>
            </a:pPr>
            <a:r>
              <a:rPr lang="hr-HR" altLang="sr-Latn-RS" sz="2800" dirty="0" err="1">
                <a:cs typeface="Times New Roman" panose="02020603050405020304" pitchFamily="18" charset="0"/>
              </a:rPr>
              <a:t>glukagon</a:t>
            </a:r>
            <a:endParaRPr lang="en-GB" altLang="sr-Latn-RS" sz="2800" dirty="0">
              <a:cs typeface="Times New Roman" panose="02020603050405020304" pitchFamily="18" charset="0"/>
            </a:endParaRPr>
          </a:p>
        </p:txBody>
      </p:sp>
      <p:sp>
        <p:nvSpPr>
          <p:cNvPr id="3" name="Jednakokračni trokut 2">
            <a:extLst>
              <a:ext uri="{FF2B5EF4-FFF2-40B4-BE49-F238E27FC236}">
                <a16:creationId xmlns:a16="http://schemas.microsoft.com/office/drawing/2014/main" id="{3C3EFB83-4975-46AC-97A2-9F7F7DC04E0B}"/>
              </a:ext>
            </a:extLst>
          </p:cNvPr>
          <p:cNvSpPr/>
          <p:nvPr/>
        </p:nvSpPr>
        <p:spPr>
          <a:xfrm>
            <a:off x="2571624" y="3935621"/>
            <a:ext cx="623566" cy="390586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cxnSp>
        <p:nvCxnSpPr>
          <p:cNvPr id="8" name="Ravni poveznik 7">
            <a:extLst>
              <a:ext uri="{FF2B5EF4-FFF2-40B4-BE49-F238E27FC236}">
                <a16:creationId xmlns:a16="http://schemas.microsoft.com/office/drawing/2014/main" id="{DB1D6F6F-CC1F-49A2-B28D-30D2ED08F274}"/>
              </a:ext>
            </a:extLst>
          </p:cNvPr>
          <p:cNvCxnSpPr>
            <a:cxnSpLocks/>
          </p:cNvCxnSpPr>
          <p:nvPr/>
        </p:nvCxnSpPr>
        <p:spPr>
          <a:xfrm>
            <a:off x="900621" y="3935621"/>
            <a:ext cx="396557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2">
            <a:extLst>
              <a:ext uri="{FF2B5EF4-FFF2-40B4-BE49-F238E27FC236}">
                <a16:creationId xmlns:a16="http://schemas.microsoft.com/office/drawing/2014/main" id="{BC79277F-1D3B-409C-9FBF-5E02667B7478}"/>
              </a:ext>
            </a:extLst>
          </p:cNvPr>
          <p:cNvSpPr txBox="1">
            <a:spLocks noChangeArrowheads="1"/>
          </p:cNvSpPr>
          <p:nvPr/>
        </p:nvSpPr>
        <p:spPr>
          <a:xfrm>
            <a:off x="3697293" y="3541313"/>
            <a:ext cx="2398707" cy="112420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defRPr/>
            </a:pPr>
            <a:r>
              <a:rPr lang="hr-HR" altLang="sr-Latn-RS" sz="2800" dirty="0">
                <a:cs typeface="Times New Roman" panose="02020603050405020304" pitchFamily="18" charset="0"/>
              </a:rPr>
              <a:t>inzulin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-GB" altLang="sr-Latn-R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922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vokutnik 1">
            <a:extLst>
              <a:ext uri="{FF2B5EF4-FFF2-40B4-BE49-F238E27FC236}">
                <a16:creationId xmlns:a16="http://schemas.microsoft.com/office/drawing/2014/main" id="{82A6AE1D-43FE-48A4-9035-A88D6A056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0146" y="1247705"/>
            <a:ext cx="883444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sr-Latn-R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r-HR" altLang="sr-Latn-RS" sz="6600" dirty="0">
                <a:solidFill>
                  <a:srgbClr val="000000"/>
                </a:solidFill>
                <a:latin typeface="Comic Sans MS" panose="030F0702030302020204" pitchFamily="66" charset="0"/>
                <a:cs typeface="Arial" panose="020B0604020202020204" pitchFamily="34" charset="0"/>
                <a:sym typeface="Wingdings" panose="05000000000000000000" pitchFamily="2" charset="2"/>
              </a:rPr>
              <a:t></a:t>
            </a:r>
            <a:endParaRPr lang="hr-HR" altLang="sr-Latn-RS" sz="6600" dirty="0">
              <a:cs typeface="Arial" panose="020B0604020202020204" pitchFamily="34" charset="0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B68CF483-F72E-49DB-BB0D-CE982FBCB68F}"/>
              </a:ext>
            </a:extLst>
          </p:cNvPr>
          <p:cNvSpPr txBox="1"/>
          <p:nvPr/>
        </p:nvSpPr>
        <p:spPr>
          <a:xfrm>
            <a:off x="4872522" y="2844272"/>
            <a:ext cx="2307548" cy="510778"/>
          </a:xfrm>
          <a:prstGeom prst="round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hr-HR" sz="2400" b="1" dirty="0">
                <a:latin typeface="+mj-lt"/>
              </a:rPr>
              <a:t>HIPOTALAMUS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8255BA00-8216-494C-9F3E-484D64AC1D68}"/>
              </a:ext>
            </a:extLst>
          </p:cNvPr>
          <p:cNvSpPr txBox="1"/>
          <p:nvPr/>
        </p:nvSpPr>
        <p:spPr>
          <a:xfrm>
            <a:off x="6102415" y="3453552"/>
            <a:ext cx="36936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>
                <a:latin typeface="+mj-lt"/>
              </a:rPr>
              <a:t>hormonska ili živčana regulacija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7E583229-B6A8-4858-887B-5FE56E2C5163}"/>
              </a:ext>
            </a:extLst>
          </p:cNvPr>
          <p:cNvSpPr txBox="1"/>
          <p:nvPr/>
        </p:nvSpPr>
        <p:spPr>
          <a:xfrm>
            <a:off x="5184876" y="3911154"/>
            <a:ext cx="1570666" cy="510778"/>
          </a:xfrm>
          <a:prstGeom prst="round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hr-HR" sz="2400" b="1" dirty="0">
                <a:latin typeface="+mj-lt"/>
              </a:rPr>
              <a:t>HIPOFIZA</a:t>
            </a: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86C6DC0D-A5FF-4430-A173-AEAE1D503B46}"/>
              </a:ext>
            </a:extLst>
          </p:cNvPr>
          <p:cNvSpPr txBox="1"/>
          <p:nvPr/>
        </p:nvSpPr>
        <p:spPr>
          <a:xfrm>
            <a:off x="6059504" y="4422441"/>
            <a:ext cx="34323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 err="1">
                <a:latin typeface="+mj-lt"/>
              </a:rPr>
              <a:t>tropni</a:t>
            </a:r>
            <a:r>
              <a:rPr lang="hr-HR" sz="2000" b="1" dirty="0">
                <a:latin typeface="+mj-lt"/>
              </a:rPr>
              <a:t> (stimulirajući) hormoni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5C33AD0F-13F3-4469-944D-728D4B4F2583}"/>
              </a:ext>
            </a:extLst>
          </p:cNvPr>
          <p:cNvSpPr txBox="1"/>
          <p:nvPr/>
        </p:nvSpPr>
        <p:spPr>
          <a:xfrm>
            <a:off x="4228357" y="4904574"/>
            <a:ext cx="3336777" cy="510778"/>
          </a:xfrm>
          <a:prstGeom prst="round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hr-HR" sz="2400" b="1" dirty="0">
                <a:latin typeface="+mj-lt"/>
              </a:rPr>
              <a:t>ENDOKRINA ŽLIJEZDA</a:t>
            </a: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B5DF31C4-2693-472A-9839-17A485E43916}"/>
              </a:ext>
            </a:extLst>
          </p:cNvPr>
          <p:cNvSpPr txBox="1"/>
          <p:nvPr/>
        </p:nvSpPr>
        <p:spPr>
          <a:xfrm>
            <a:off x="6102415" y="5451070"/>
            <a:ext cx="17876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>
                <a:latin typeface="+mj-lt"/>
              </a:rPr>
              <a:t>hormoni u krvi</a:t>
            </a:r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9A10AA12-2685-479D-A36A-BCC3C1CAFAE2}"/>
              </a:ext>
            </a:extLst>
          </p:cNvPr>
          <p:cNvSpPr txBox="1"/>
          <p:nvPr/>
        </p:nvSpPr>
        <p:spPr>
          <a:xfrm>
            <a:off x="4045603" y="5950193"/>
            <a:ext cx="3855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400" b="1" dirty="0">
                <a:latin typeface="+mj-lt"/>
              </a:rPr>
              <a:t>PROMJENE U ORGANIZMU</a:t>
            </a:r>
          </a:p>
        </p:txBody>
      </p:sp>
      <p:cxnSp>
        <p:nvCxnSpPr>
          <p:cNvPr id="10" name="Ravni poveznik 9">
            <a:extLst>
              <a:ext uri="{FF2B5EF4-FFF2-40B4-BE49-F238E27FC236}">
                <a16:creationId xmlns:a16="http://schemas.microsoft.com/office/drawing/2014/main" id="{79E535AF-510D-4F7D-8DCA-934B3B0EFD67}"/>
              </a:ext>
            </a:extLst>
          </p:cNvPr>
          <p:cNvCxnSpPr>
            <a:cxnSpLocks/>
          </p:cNvCxnSpPr>
          <p:nvPr/>
        </p:nvCxnSpPr>
        <p:spPr>
          <a:xfrm flipH="1">
            <a:off x="2737612" y="6181025"/>
            <a:ext cx="1165097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avni poveznik sa strelicom 10">
            <a:extLst>
              <a:ext uri="{FF2B5EF4-FFF2-40B4-BE49-F238E27FC236}">
                <a16:creationId xmlns:a16="http://schemas.microsoft.com/office/drawing/2014/main" id="{AD9D0005-74A6-4D07-95F2-FCE0F36E532B}"/>
              </a:ext>
            </a:extLst>
          </p:cNvPr>
          <p:cNvCxnSpPr>
            <a:cxnSpLocks/>
          </p:cNvCxnSpPr>
          <p:nvPr/>
        </p:nvCxnSpPr>
        <p:spPr>
          <a:xfrm>
            <a:off x="6059504" y="3396061"/>
            <a:ext cx="0" cy="515093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avni poveznik sa strelicom 11">
            <a:extLst>
              <a:ext uri="{FF2B5EF4-FFF2-40B4-BE49-F238E27FC236}">
                <a16:creationId xmlns:a16="http://schemas.microsoft.com/office/drawing/2014/main" id="{5C42701F-B08A-46BE-8470-0427C553BEEF}"/>
              </a:ext>
            </a:extLst>
          </p:cNvPr>
          <p:cNvCxnSpPr>
            <a:cxnSpLocks/>
          </p:cNvCxnSpPr>
          <p:nvPr/>
        </p:nvCxnSpPr>
        <p:spPr>
          <a:xfrm>
            <a:off x="6059504" y="4478694"/>
            <a:ext cx="0" cy="42588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vni poveznik sa strelicom 12">
            <a:extLst>
              <a:ext uri="{FF2B5EF4-FFF2-40B4-BE49-F238E27FC236}">
                <a16:creationId xmlns:a16="http://schemas.microsoft.com/office/drawing/2014/main" id="{C9318561-A939-4F0D-B126-A16790720F18}"/>
              </a:ext>
            </a:extLst>
          </p:cNvPr>
          <p:cNvCxnSpPr>
            <a:cxnSpLocks/>
          </p:cNvCxnSpPr>
          <p:nvPr/>
        </p:nvCxnSpPr>
        <p:spPr>
          <a:xfrm>
            <a:off x="6078359" y="5444685"/>
            <a:ext cx="0" cy="43407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vni poveznik 13">
            <a:extLst>
              <a:ext uri="{FF2B5EF4-FFF2-40B4-BE49-F238E27FC236}">
                <a16:creationId xmlns:a16="http://schemas.microsoft.com/office/drawing/2014/main" id="{64EAC69B-5A43-45D8-BD96-583CFF1577FD}"/>
              </a:ext>
            </a:extLst>
          </p:cNvPr>
          <p:cNvCxnSpPr>
            <a:cxnSpLocks/>
            <a:endCxn id="16" idx="1"/>
          </p:cNvCxnSpPr>
          <p:nvPr/>
        </p:nvCxnSpPr>
        <p:spPr>
          <a:xfrm flipH="1" flipV="1">
            <a:off x="2713658" y="3100341"/>
            <a:ext cx="23954" cy="3080684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vni poveznik sa strelicom 14">
            <a:extLst>
              <a:ext uri="{FF2B5EF4-FFF2-40B4-BE49-F238E27FC236}">
                <a16:creationId xmlns:a16="http://schemas.microsoft.com/office/drawing/2014/main" id="{14B9FE91-5FBB-4C8A-B9E8-A6116FF8400C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2713658" y="3099661"/>
            <a:ext cx="2141791" cy="68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niOkvir 15">
            <a:extLst>
              <a:ext uri="{FF2B5EF4-FFF2-40B4-BE49-F238E27FC236}">
                <a16:creationId xmlns:a16="http://schemas.microsoft.com/office/drawing/2014/main" id="{526147FC-EE0D-430F-8F39-FBC84A3190EB}"/>
              </a:ext>
            </a:extLst>
          </p:cNvPr>
          <p:cNvSpPr txBox="1"/>
          <p:nvPr/>
        </p:nvSpPr>
        <p:spPr>
          <a:xfrm>
            <a:off x="2713658" y="2746398"/>
            <a:ext cx="2115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000" b="1" dirty="0">
                <a:latin typeface="+mj-lt"/>
              </a:rPr>
              <a:t>informacije iz organizma</a:t>
            </a:r>
          </a:p>
        </p:txBody>
      </p:sp>
      <p:sp>
        <p:nvSpPr>
          <p:cNvPr id="20" name="TekstniOkvir 19">
            <a:extLst>
              <a:ext uri="{FF2B5EF4-FFF2-40B4-BE49-F238E27FC236}">
                <a16:creationId xmlns:a16="http://schemas.microsoft.com/office/drawing/2014/main" id="{677AC3AF-71FA-4DF2-8326-985AB928024F}"/>
              </a:ext>
            </a:extLst>
          </p:cNvPr>
          <p:cNvSpPr txBox="1"/>
          <p:nvPr/>
        </p:nvSpPr>
        <p:spPr>
          <a:xfrm>
            <a:off x="366171" y="955777"/>
            <a:ext cx="2856359" cy="907941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hr-HR" sz="2400" dirty="0">
                <a:latin typeface="+mj-lt"/>
              </a:rPr>
              <a:t>Kontrolni sustavi:</a:t>
            </a:r>
          </a:p>
          <a:p>
            <a:pPr>
              <a:spcAft>
                <a:spcPts val="600"/>
              </a:spcAft>
            </a:pPr>
            <a:r>
              <a:rPr lang="hr-HR" sz="2400" dirty="0">
                <a:latin typeface="+mj-lt"/>
              </a:rPr>
              <a:t>ENDOKRINI SUSTAV</a:t>
            </a:r>
          </a:p>
        </p:txBody>
      </p:sp>
      <p:sp>
        <p:nvSpPr>
          <p:cNvPr id="30" name="TekstniOkvir 29">
            <a:extLst>
              <a:ext uri="{FF2B5EF4-FFF2-40B4-BE49-F238E27FC236}">
                <a16:creationId xmlns:a16="http://schemas.microsoft.com/office/drawing/2014/main" id="{860AFD67-7191-43CA-AFD1-FDAE1DAA60CD}"/>
              </a:ext>
            </a:extLst>
          </p:cNvPr>
          <p:cNvSpPr txBox="1"/>
          <p:nvPr/>
        </p:nvSpPr>
        <p:spPr>
          <a:xfrm>
            <a:off x="563634" y="369543"/>
            <a:ext cx="104129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3200" b="1" dirty="0">
                <a:latin typeface="+mj-lt"/>
              </a:rPr>
              <a:t>Mehanizmi održavanja </a:t>
            </a:r>
            <a:r>
              <a:rPr lang="hr-HR" sz="3200" b="1" dirty="0" err="1">
                <a:latin typeface="+mj-lt"/>
              </a:rPr>
              <a:t>homeostaze</a:t>
            </a:r>
            <a:endParaRPr lang="hr-HR" sz="3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36267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22D64264-126E-4D2B-B8F6-AC1EFAEFE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9092992" cy="99790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https://play.google.com/store/apps/details?id=com.afra.endocrinesystem</a:t>
            </a:r>
            <a:endParaRPr lang="hr-H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157EBA1-045A-478A-B488-D8FB97B490C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17758" t="30960" r="31291" b="35593"/>
          <a:stretch/>
        </p:blipFill>
        <p:spPr>
          <a:xfrm>
            <a:off x="449449" y="827424"/>
            <a:ext cx="11111597" cy="410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95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F5124D-4420-4BA8-8961-AEF58892E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25" y="221710"/>
            <a:ext cx="10466153" cy="738434"/>
          </a:xfrm>
        </p:spPr>
        <p:txBody>
          <a:bodyPr/>
          <a:lstStyle/>
          <a:p>
            <a:r>
              <a:rPr lang="hr-HR" sz="4000" b="1" dirty="0"/>
              <a:t>Endokrine žlijezde-</a:t>
            </a:r>
            <a:r>
              <a:rPr lang="hr-HR" sz="1200" b="1" dirty="0"/>
              <a:t> </a:t>
            </a:r>
            <a:r>
              <a:rPr lang="hr-HR" sz="1200" b="1" dirty="0">
                <a:solidFill>
                  <a:srgbClr val="FF0000"/>
                </a:solidFill>
              </a:rPr>
              <a:t>dodati link za rad u grupama na </a:t>
            </a:r>
            <a:br>
              <a:rPr lang="hr-HR" sz="1200" b="1" dirty="0">
                <a:solidFill>
                  <a:srgbClr val="FF0000"/>
                </a:solidFill>
              </a:rPr>
            </a:br>
            <a:r>
              <a:rPr lang="hr-HR" sz="1200" b="1" dirty="0">
                <a:solidFill>
                  <a:srgbClr val="FF0000"/>
                </a:solidFill>
              </a:rPr>
              <a:t>					</a:t>
            </a:r>
            <a:r>
              <a:rPr lang="hr-HR" sz="1200" b="1" dirty="0" err="1">
                <a:solidFill>
                  <a:srgbClr val="FF0000"/>
                </a:solidFill>
              </a:rPr>
              <a:t>lino</a:t>
            </a:r>
            <a:r>
              <a:rPr lang="hr-HR" sz="1200" b="1" dirty="0">
                <a:solidFill>
                  <a:srgbClr val="FF0000"/>
                </a:solidFill>
              </a:rPr>
              <a:t>, </a:t>
            </a:r>
            <a:r>
              <a:rPr lang="hr-HR" sz="1200" b="1" dirty="0" err="1">
                <a:solidFill>
                  <a:srgbClr val="FF0000"/>
                </a:solidFill>
              </a:rPr>
              <a:t>canval</a:t>
            </a:r>
            <a:r>
              <a:rPr lang="hr-HR" sz="1200" b="1" dirty="0">
                <a:solidFill>
                  <a:srgbClr val="FF0000"/>
                </a:solidFill>
              </a:rPr>
              <a:t>, </a:t>
            </a:r>
            <a:r>
              <a:rPr lang="hr-HR" sz="1200" b="1" dirty="0" err="1">
                <a:solidFill>
                  <a:srgbClr val="FF0000"/>
                </a:solidFill>
              </a:rPr>
              <a:t>jamboard</a:t>
            </a:r>
            <a:r>
              <a:rPr lang="hr-HR" sz="1200" b="1" dirty="0">
                <a:solidFill>
                  <a:srgbClr val="FF0000"/>
                </a:solidFill>
              </a:rPr>
              <a:t> </a:t>
            </a:r>
            <a:endParaRPr lang="hr-HR" sz="4000" b="1" dirty="0">
              <a:solidFill>
                <a:srgbClr val="FF0000"/>
              </a:solidFill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0226106-644A-4102-88E4-6DF6A130E379}"/>
              </a:ext>
            </a:extLst>
          </p:cNvPr>
          <p:cNvSpPr txBox="1">
            <a:spLocks/>
          </p:cNvSpPr>
          <p:nvPr/>
        </p:nvSpPr>
        <p:spPr>
          <a:xfrm>
            <a:off x="2385639" y="3964959"/>
            <a:ext cx="5472000" cy="40521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dirty="0"/>
              <a:t> </a:t>
            </a:r>
            <a:endParaRPr lang="hr-HR" sz="2800" b="1" dirty="0">
              <a:solidFill>
                <a:srgbClr val="3C0FF9"/>
              </a:solidFill>
            </a:endParaRP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0A4B6716-0CC1-45C1-B8B1-D135A0023787}"/>
              </a:ext>
            </a:extLst>
          </p:cNvPr>
          <p:cNvSpPr txBox="1">
            <a:spLocks/>
          </p:cNvSpPr>
          <p:nvPr/>
        </p:nvSpPr>
        <p:spPr>
          <a:xfrm>
            <a:off x="236825" y="1091233"/>
            <a:ext cx="5472000" cy="26257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400" b="1" dirty="0">
                <a:highlight>
                  <a:srgbClr val="FFFF00"/>
                </a:highlight>
              </a:rPr>
              <a:t>Grupa 1:.   </a:t>
            </a:r>
          </a:p>
          <a:p>
            <a:pPr marL="0" indent="0">
              <a:buNone/>
            </a:pPr>
            <a:r>
              <a:rPr lang="hr-HR" sz="2400" b="1" dirty="0">
                <a:highlight>
                  <a:srgbClr val="00FF00"/>
                </a:highlight>
              </a:rPr>
              <a:t>Grupa 2: </a:t>
            </a:r>
          </a:p>
          <a:p>
            <a:pPr marL="0" indent="0">
              <a:buNone/>
            </a:pPr>
            <a:r>
              <a:rPr lang="hr-HR" sz="2400" b="1" dirty="0">
                <a:highlight>
                  <a:srgbClr val="00FFFF"/>
                </a:highlight>
              </a:rPr>
              <a:t>Grupa 3:. </a:t>
            </a:r>
          </a:p>
          <a:p>
            <a:pPr marL="0" indent="0">
              <a:buNone/>
            </a:pPr>
            <a:r>
              <a:rPr lang="hr-HR" sz="2400" b="1" dirty="0">
                <a:highlight>
                  <a:srgbClr val="FF00FF"/>
                </a:highlight>
              </a:rPr>
              <a:t>Grupa 4:</a:t>
            </a:r>
          </a:p>
          <a:p>
            <a:pPr marL="0" indent="0">
              <a:buNone/>
            </a:pPr>
            <a:r>
              <a:rPr lang="hr-HR" sz="2400" b="1" dirty="0">
                <a:highlight>
                  <a:srgbClr val="FF0000"/>
                </a:highlight>
              </a:rPr>
              <a:t>Grupa 5:</a:t>
            </a:r>
          </a:p>
          <a:p>
            <a:pPr marL="0" indent="0">
              <a:buNone/>
            </a:pPr>
            <a:r>
              <a:rPr lang="hr-HR" sz="2400" b="1" dirty="0"/>
              <a:t>Grupa 6 :.</a:t>
            </a:r>
          </a:p>
          <a:p>
            <a:pPr marL="0" indent="0">
              <a:buNone/>
            </a:pPr>
            <a:endParaRPr lang="hr-HR" sz="2400" b="1" dirty="0"/>
          </a:p>
        </p:txBody>
      </p:sp>
      <p:sp>
        <p:nvSpPr>
          <p:cNvPr id="17" name="Arrow: Striped Right 16">
            <a:extLst>
              <a:ext uri="{FF2B5EF4-FFF2-40B4-BE49-F238E27FC236}">
                <a16:creationId xmlns:a16="http://schemas.microsoft.com/office/drawing/2014/main" id="{C7BD73DD-8242-49D1-B57B-2DFCC5870B26}"/>
              </a:ext>
            </a:extLst>
          </p:cNvPr>
          <p:cNvSpPr/>
          <p:nvPr/>
        </p:nvSpPr>
        <p:spPr>
          <a:xfrm>
            <a:off x="597998" y="3591334"/>
            <a:ext cx="5971818" cy="3509876"/>
          </a:xfrm>
          <a:prstGeom prst="stripedRightArrow">
            <a:avLst>
              <a:gd name="adj1" fmla="val 50000"/>
              <a:gd name="adj2" fmla="val 2813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hr-HR" sz="2400" b="1" dirty="0">
                <a:solidFill>
                  <a:schemeClr val="accent6"/>
                </a:solidFill>
              </a:rPr>
              <a:t>ZADATAK : istraži, prikaži , prezentiraj</a:t>
            </a:r>
            <a:r>
              <a:rPr lang="hr-HR" sz="2400" b="1" dirty="0">
                <a:solidFill>
                  <a:srgbClr val="3C0FF9"/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400" b="1" dirty="0">
                <a:solidFill>
                  <a:srgbClr val="3C0FF9"/>
                </a:solidFill>
              </a:rPr>
              <a:t>Opis žlijezde (slika)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400" b="1" dirty="0">
                <a:solidFill>
                  <a:srgbClr val="3C0FF9"/>
                </a:solidFill>
              </a:rPr>
              <a:t>Hormoni koje žlijezda izlučuje 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400" b="1" dirty="0">
                <a:solidFill>
                  <a:srgbClr val="3C0FF9"/>
                </a:solidFill>
              </a:rPr>
              <a:t>Uloga hormona </a:t>
            </a:r>
          </a:p>
          <a:p>
            <a:pPr algn="ctr"/>
            <a:endParaRPr lang="en-US" sz="2400" dirty="0"/>
          </a:p>
        </p:txBody>
      </p:sp>
      <p:pic>
        <p:nvPicPr>
          <p:cNvPr id="10" name="Picture Placeholder 9" descr="A person in a costume&#10;&#10;Description automatically generated with low confidence">
            <a:extLst>
              <a:ext uri="{FF2B5EF4-FFF2-40B4-BE49-F238E27FC236}">
                <a16:creationId xmlns:a16="http://schemas.microsoft.com/office/drawing/2014/main" id="{1C6995CC-0FD4-499A-ACA3-FF5047C1A31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17" r="23417"/>
          <a:stretch>
            <a:fillRect/>
          </a:stretch>
        </p:blipFill>
        <p:spPr>
          <a:xfrm>
            <a:off x="6096000" y="0"/>
            <a:ext cx="6546366" cy="663629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ABDCC4-952E-450C-AA9D-4C2E87F7A61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36825" y="6522638"/>
            <a:ext cx="10810632" cy="998441"/>
          </a:xfrm>
        </p:spPr>
        <p:txBody>
          <a:bodyPr/>
          <a:lstStyle/>
          <a:p>
            <a:r>
              <a:rPr lang="hr-HR" dirty="0">
                <a:hlinkClick r:id="rId3"/>
              </a:rPr>
              <a:t>Primjer rada u grupi na </a:t>
            </a:r>
            <a:r>
              <a:rPr lang="hr-HR" dirty="0" err="1">
                <a:hlinkClick r:id="rId3"/>
              </a:rPr>
              <a:t>jamboard</a:t>
            </a:r>
            <a:r>
              <a:rPr lang="hr-HR" dirty="0">
                <a:hlinkClick r:id="rId3"/>
              </a:rPr>
              <a:t> 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DAF71540-02E2-4054-9CF9-0A7337B3CA9F}"/>
              </a:ext>
            </a:extLst>
          </p:cNvPr>
          <p:cNvSpPr/>
          <p:nvPr/>
        </p:nvSpPr>
        <p:spPr>
          <a:xfrm rot="2976637">
            <a:off x="4283986" y="1267995"/>
            <a:ext cx="2038663" cy="2272194"/>
          </a:xfrm>
          <a:prstGeom prst="downArrow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Ponovimo gradivo 2.r.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602EE7-D860-4FA8-8708-F6E4B42FC09E}"/>
              </a:ext>
            </a:extLst>
          </p:cNvPr>
          <p:cNvSpPr/>
          <p:nvPr/>
        </p:nvSpPr>
        <p:spPr>
          <a:xfrm>
            <a:off x="7857639" y="891542"/>
            <a:ext cx="3610061" cy="99844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r-HR" sz="2000" b="1" dirty="0"/>
              <a:t>10 min izrada </a:t>
            </a:r>
          </a:p>
          <a:p>
            <a:r>
              <a:rPr lang="hr-HR" sz="2000" b="1" dirty="0"/>
              <a:t>  2 min. prezentacija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3955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 animBg="1"/>
      <p:bldP spid="4" grpId="0" build="p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A20BEC-B7E9-4804-B527-CE3F7EF8D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71734" cy="68580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30D3A47-2318-45C0-BE83-52C3E12E245D}"/>
              </a:ext>
            </a:extLst>
          </p:cNvPr>
          <p:cNvCxnSpPr/>
          <p:nvPr/>
        </p:nvCxnSpPr>
        <p:spPr>
          <a:xfrm>
            <a:off x="3137941" y="2008682"/>
            <a:ext cx="3912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7DA559-6073-4D2A-AEBE-BCFE748B086E}"/>
              </a:ext>
            </a:extLst>
          </p:cNvPr>
          <p:cNvCxnSpPr>
            <a:cxnSpLocks/>
          </p:cNvCxnSpPr>
          <p:nvPr/>
        </p:nvCxnSpPr>
        <p:spPr>
          <a:xfrm>
            <a:off x="3137940" y="6444535"/>
            <a:ext cx="42547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265D60-6B4F-421E-B4D2-D9AD1D2E9AF5}"/>
              </a:ext>
            </a:extLst>
          </p:cNvPr>
          <p:cNvCxnSpPr/>
          <p:nvPr/>
        </p:nvCxnSpPr>
        <p:spPr>
          <a:xfrm>
            <a:off x="2994371" y="4247213"/>
            <a:ext cx="3912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621D5E-22EC-41F9-8207-C3225B23E728}"/>
              </a:ext>
            </a:extLst>
          </p:cNvPr>
          <p:cNvCxnSpPr>
            <a:cxnSpLocks/>
          </p:cNvCxnSpPr>
          <p:nvPr/>
        </p:nvCxnSpPr>
        <p:spPr>
          <a:xfrm>
            <a:off x="2818151" y="3800008"/>
            <a:ext cx="4264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2F2467-AF34-475A-B15C-076983808AE9}"/>
              </a:ext>
            </a:extLst>
          </p:cNvPr>
          <p:cNvCxnSpPr/>
          <p:nvPr/>
        </p:nvCxnSpPr>
        <p:spPr>
          <a:xfrm>
            <a:off x="3480216" y="6018511"/>
            <a:ext cx="3912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A92BE1-82B7-43AA-8A5E-264CA2999725}"/>
              </a:ext>
            </a:extLst>
          </p:cNvPr>
          <p:cNvCxnSpPr/>
          <p:nvPr/>
        </p:nvCxnSpPr>
        <p:spPr>
          <a:xfrm>
            <a:off x="3330314" y="624157"/>
            <a:ext cx="3912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D4EAA0A-95C3-4F24-AE68-8D09DE740AB7}"/>
              </a:ext>
            </a:extLst>
          </p:cNvPr>
          <p:cNvSpPr/>
          <p:nvPr/>
        </p:nvSpPr>
        <p:spPr>
          <a:xfrm>
            <a:off x="7392649" y="300482"/>
            <a:ext cx="3087974" cy="7920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r-HR" dirty="0"/>
              <a:t>hipotalamus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994FEA-3A35-4B10-8364-2534811394DB}"/>
              </a:ext>
            </a:extLst>
          </p:cNvPr>
          <p:cNvSpPr/>
          <p:nvPr/>
        </p:nvSpPr>
        <p:spPr>
          <a:xfrm>
            <a:off x="7392649" y="1425913"/>
            <a:ext cx="3087974" cy="7920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r-HR" dirty="0"/>
              <a:t>Štitnjača 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059923-03D0-4859-A515-846E12279338}"/>
              </a:ext>
            </a:extLst>
          </p:cNvPr>
          <p:cNvSpPr/>
          <p:nvPr/>
        </p:nvSpPr>
        <p:spPr>
          <a:xfrm>
            <a:off x="7392649" y="3192874"/>
            <a:ext cx="3087974" cy="7920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r-HR" dirty="0"/>
              <a:t>Nadbubrežna žlijezda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E6F0E1-9BFB-4457-B2A5-7A5D30FA6FA1}"/>
              </a:ext>
            </a:extLst>
          </p:cNvPr>
          <p:cNvSpPr/>
          <p:nvPr/>
        </p:nvSpPr>
        <p:spPr>
          <a:xfrm>
            <a:off x="7392649" y="4034787"/>
            <a:ext cx="3087974" cy="7920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r-HR" dirty="0"/>
              <a:t>gušterača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763E7E-9BDF-4B18-BB50-97E524C05988}"/>
              </a:ext>
            </a:extLst>
          </p:cNvPr>
          <p:cNvSpPr/>
          <p:nvPr/>
        </p:nvSpPr>
        <p:spPr>
          <a:xfrm>
            <a:off x="7677636" y="5652506"/>
            <a:ext cx="3087974" cy="7920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r-HR" dirty="0"/>
              <a:t>Spolne žlijezde 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EFC5B9-CF74-4FE2-AE73-91473D709A1D}"/>
              </a:ext>
            </a:extLst>
          </p:cNvPr>
          <p:cNvSpPr/>
          <p:nvPr/>
        </p:nvSpPr>
        <p:spPr>
          <a:xfrm>
            <a:off x="10941803" y="413463"/>
            <a:ext cx="1100380" cy="12448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Ponovimo gradivo 2.r.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063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4DA0577-EFEE-43CD-9191-E1A2EE5C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11" y="5975250"/>
            <a:ext cx="11328000" cy="432000"/>
          </a:xfrm>
        </p:spPr>
        <p:txBody>
          <a:bodyPr/>
          <a:lstStyle/>
          <a:p>
            <a:r>
              <a:rPr lang="hr-HR" sz="2400" b="1" dirty="0"/>
              <a:t>1.1 </a:t>
            </a:r>
            <a:r>
              <a:rPr lang="en-US" sz="2400" b="1" dirty="0"/>
              <a:t>Koja je </a:t>
            </a:r>
            <a:r>
              <a:rPr lang="en-US" sz="2400" b="1" dirty="0" err="1"/>
              <a:t>koncentracija</a:t>
            </a:r>
            <a:r>
              <a:rPr lang="en-US" sz="2400" b="1" dirty="0"/>
              <a:t> </a:t>
            </a:r>
            <a:r>
              <a:rPr lang="en-US" sz="2400" b="1" dirty="0" err="1"/>
              <a:t>hormona</a:t>
            </a:r>
            <a:r>
              <a:rPr lang="en-US" sz="2400" b="1" dirty="0"/>
              <a:t> </a:t>
            </a:r>
            <a:r>
              <a:rPr lang="en-US" sz="2400" b="1" dirty="0" err="1"/>
              <a:t>inzulina</a:t>
            </a:r>
            <a:r>
              <a:rPr lang="en-US" sz="2400" b="1" dirty="0"/>
              <a:t> </a:t>
            </a:r>
            <a:r>
              <a:rPr lang="en-US" sz="2400" b="1" dirty="0" err="1"/>
              <a:t>kod</a:t>
            </a:r>
            <a:r>
              <a:rPr lang="en-US" sz="2400" b="1" dirty="0"/>
              <a:t> </a:t>
            </a:r>
            <a:r>
              <a:rPr lang="en-US" sz="2400" b="1" dirty="0" err="1"/>
              <a:t>Marka</a:t>
            </a:r>
            <a:r>
              <a:rPr lang="en-US" sz="2400" b="1" dirty="0"/>
              <a:t> u </a:t>
            </a:r>
            <a:r>
              <a:rPr lang="en-US" sz="2400" b="1" dirty="0" err="1"/>
              <a:t>trenutku</a:t>
            </a:r>
            <a:r>
              <a:rPr lang="en-US" sz="2400" b="1" dirty="0"/>
              <a:t> </a:t>
            </a:r>
            <a:r>
              <a:rPr lang="en-US" sz="2400" b="1" dirty="0" err="1"/>
              <a:t>kada</a:t>
            </a:r>
            <a:r>
              <a:rPr lang="en-US" sz="2400" b="1" dirty="0"/>
              <a:t> je </a:t>
            </a:r>
            <a:r>
              <a:rPr lang="en-US" sz="2400" b="1" dirty="0" err="1"/>
              <a:t>koncentracija</a:t>
            </a:r>
            <a:r>
              <a:rPr lang="en-US" sz="2400" b="1" dirty="0"/>
              <a:t> </a:t>
            </a:r>
            <a:r>
              <a:rPr lang="en-US" sz="2400" b="1" dirty="0" err="1"/>
              <a:t>glukoze</a:t>
            </a:r>
            <a:r>
              <a:rPr lang="hr-HR" sz="2400" b="1" dirty="0"/>
              <a:t> </a:t>
            </a:r>
            <a:r>
              <a:rPr lang="en-US" sz="2400" b="1" dirty="0" err="1"/>
              <a:t>bila</a:t>
            </a:r>
            <a:r>
              <a:rPr lang="en-US" sz="2400" b="1" dirty="0"/>
              <a:t> 200 mg / 100 cm3?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1CCCBDB6-2CE4-424B-8D0E-7518D2EEAFB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4849" y="0"/>
            <a:ext cx="11042865" cy="5708546"/>
            <a:chOff x="444" y="0"/>
            <a:chExt cx="6964" cy="3600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11E22D81-99DD-4420-AC79-F12F0FBA364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44" y="0"/>
              <a:ext cx="6964" cy="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3077" name="Picture 5">
              <a:extLst>
                <a:ext uri="{FF2B5EF4-FFF2-40B4-BE49-F238E27FC236}">
                  <a16:creationId xmlns:a16="http://schemas.microsoft.com/office/drawing/2014/main" id="{8A139099-DD2A-4891-90AC-38DFBC0E3C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" y="0"/>
              <a:ext cx="6971" cy="3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4342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4DA0577-EFEE-43CD-9191-E1A2EE5C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258" y="1351830"/>
            <a:ext cx="11328000" cy="4368587"/>
          </a:xfrm>
        </p:spPr>
        <p:txBody>
          <a:bodyPr/>
          <a:lstStyle/>
          <a:p>
            <a:pPr lvl="1"/>
            <a:r>
              <a:rPr lang="hr-HR" sz="2400" b="1" dirty="0">
                <a:latin typeface="+mj-lt"/>
              </a:rPr>
              <a:t>1.2. </a:t>
            </a:r>
            <a:r>
              <a:rPr lang="en-US" sz="2400" b="1" dirty="0" err="1">
                <a:latin typeface="+mj-lt"/>
              </a:rPr>
              <a:t>Predvidi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vrijeme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koje</a:t>
            </a:r>
            <a:r>
              <a:rPr lang="en-US" sz="2400" b="1" dirty="0">
                <a:latin typeface="+mj-lt"/>
              </a:rPr>
              <a:t> je </a:t>
            </a:r>
            <a:r>
              <a:rPr lang="en-US" sz="2400" b="1" dirty="0" err="1">
                <a:latin typeface="+mj-lt"/>
              </a:rPr>
              <a:t>potrebno</a:t>
            </a:r>
            <a:r>
              <a:rPr lang="en-US" sz="2400" b="1" dirty="0">
                <a:latin typeface="+mj-lt"/>
              </a:rPr>
              <a:t> da se </a:t>
            </a:r>
            <a:r>
              <a:rPr lang="en-US" sz="2400" b="1" dirty="0" err="1">
                <a:latin typeface="+mj-lt"/>
              </a:rPr>
              <a:t>koncentracija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glukoze</a:t>
            </a:r>
            <a:r>
              <a:rPr lang="en-US" sz="2400" b="1" dirty="0">
                <a:latin typeface="+mj-lt"/>
              </a:rPr>
              <a:t> u </a:t>
            </a:r>
            <a:r>
              <a:rPr lang="en-US" sz="2400" b="1" dirty="0" err="1">
                <a:latin typeface="+mj-lt"/>
              </a:rPr>
              <a:t>krvi</a:t>
            </a:r>
            <a:r>
              <a:rPr lang="en-US" sz="2400" b="1" dirty="0">
                <a:latin typeface="+mj-lt"/>
              </a:rPr>
              <a:t> </a:t>
            </a:r>
            <a:br>
              <a:rPr lang="hr-HR" sz="2400" b="1" dirty="0">
                <a:latin typeface="+mj-lt"/>
              </a:rPr>
            </a:br>
            <a:r>
              <a:rPr lang="hr-HR" sz="2400" b="1" dirty="0">
                <a:latin typeface="+mj-lt"/>
              </a:rPr>
              <a:t>      </a:t>
            </a:r>
            <a:r>
              <a:rPr lang="en-US" sz="2400" b="1" dirty="0" err="1">
                <a:latin typeface="+mj-lt"/>
              </a:rPr>
              <a:t>nakon</a:t>
            </a:r>
            <a:r>
              <a:rPr lang="en-US" sz="2400" b="1" dirty="0">
                <a:latin typeface="+mj-lt"/>
              </a:rPr>
              <a:t> 150. minute </a:t>
            </a:r>
            <a:r>
              <a:rPr lang="en-US" sz="2400" b="1" dirty="0" err="1">
                <a:latin typeface="+mj-lt"/>
              </a:rPr>
              <a:t>vrati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na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svoju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prvotnu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vrijednost</a:t>
            </a:r>
            <a:r>
              <a:rPr lang="en-US" sz="2400" b="1" dirty="0">
                <a:latin typeface="+mj-lt"/>
              </a:rPr>
              <a:t> </a:t>
            </a:r>
            <a:br>
              <a:rPr lang="hr-HR" sz="2400" b="1" dirty="0">
                <a:latin typeface="+mj-lt"/>
              </a:rPr>
            </a:br>
            <a:br>
              <a:rPr lang="hr-HR" sz="2400" b="1" dirty="0">
                <a:latin typeface="+mj-lt"/>
              </a:rPr>
            </a:br>
            <a:r>
              <a:rPr lang="hr-HR" sz="2400" b="1" dirty="0">
                <a:latin typeface="+mj-lt"/>
              </a:rPr>
              <a:t>1.3 Predvidi vrijeme koje je potrebno da se koncentracija glukoze u krvi nakon   </a:t>
            </a:r>
            <a:br>
              <a:rPr lang="hr-HR" sz="2400" b="1" dirty="0">
                <a:latin typeface="+mj-lt"/>
              </a:rPr>
            </a:br>
            <a:r>
              <a:rPr lang="hr-HR" sz="2400" b="1" dirty="0">
                <a:latin typeface="+mj-lt"/>
              </a:rPr>
              <a:t>      150-te minute vrati na svoju prvotnu vrijednost. </a:t>
            </a:r>
            <a:br>
              <a:rPr lang="en-US" sz="2400" b="1" dirty="0">
                <a:latin typeface="+mj-lt"/>
              </a:rPr>
            </a:br>
            <a:r>
              <a:rPr lang="hr-HR" sz="2400" b="1" dirty="0">
                <a:latin typeface="+mj-lt"/>
              </a:rPr>
              <a:t> </a:t>
            </a:r>
            <a:br>
              <a:rPr lang="en-US" sz="2400" b="1" dirty="0">
                <a:latin typeface="+mj-lt"/>
              </a:rPr>
            </a:br>
            <a:r>
              <a:rPr lang="hr-HR" sz="2400" b="1" dirty="0">
                <a:latin typeface="+mj-lt"/>
              </a:rPr>
              <a:t>1.4 Tijelo odrasla čovjeka u prosjeku sadrži 5 L krvi. Izračunaj ukupnu masu </a:t>
            </a:r>
            <a:br>
              <a:rPr lang="hr-HR" sz="2400" b="1" dirty="0">
                <a:latin typeface="+mj-lt"/>
              </a:rPr>
            </a:br>
            <a:r>
              <a:rPr lang="hr-HR" sz="2400" b="1" dirty="0">
                <a:latin typeface="+mj-lt"/>
              </a:rPr>
              <a:t>       glukoze u Markovu krvotoku u 60 minuti nakon oralne primjene otopine </a:t>
            </a:r>
            <a:br>
              <a:rPr lang="hr-HR" sz="2400" b="1" dirty="0">
                <a:latin typeface="+mj-lt"/>
              </a:rPr>
            </a:br>
            <a:r>
              <a:rPr lang="hr-HR" sz="2400" b="1" dirty="0">
                <a:latin typeface="+mj-lt"/>
              </a:rPr>
              <a:t>      glukoze. Prikaži račun. </a:t>
            </a:r>
            <a:br>
              <a:rPr lang="hr-HR" sz="2400" b="1" dirty="0">
                <a:latin typeface="+mj-lt"/>
              </a:rPr>
            </a:br>
            <a:br>
              <a:rPr lang="en-US" sz="1800" dirty="0">
                <a:latin typeface="+mj-lt"/>
              </a:rPr>
            </a:br>
            <a:br>
              <a:rPr lang="hr-HR" sz="1800" dirty="0">
                <a:latin typeface="+mj-lt"/>
              </a:rPr>
            </a:br>
            <a:br>
              <a:rPr lang="hr-HR" dirty="0">
                <a:latin typeface="+mj-lt"/>
              </a:rPr>
            </a:br>
            <a:br>
              <a:rPr lang="hr-HR" sz="1800" dirty="0">
                <a:latin typeface="+mj-lt"/>
              </a:rPr>
            </a:br>
            <a:endParaRPr lang="en-US" sz="4000" b="1" dirty="0">
              <a:latin typeface="+mj-lt"/>
            </a:endParaRP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C61741B6-4A3A-4ABA-A400-C6405DB49A5A}"/>
              </a:ext>
            </a:extLst>
          </p:cNvPr>
          <p:cNvSpPr txBox="1">
            <a:spLocks/>
          </p:cNvSpPr>
          <p:nvPr/>
        </p:nvSpPr>
        <p:spPr>
          <a:xfrm>
            <a:off x="704592" y="5720417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8362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hought Bubble: Cloud 13">
            <a:extLst>
              <a:ext uri="{FF2B5EF4-FFF2-40B4-BE49-F238E27FC236}">
                <a16:creationId xmlns:a16="http://schemas.microsoft.com/office/drawing/2014/main" id="{4782E2B8-50AB-488B-8230-2447F83A3107}"/>
              </a:ext>
            </a:extLst>
          </p:cNvPr>
          <p:cNvSpPr/>
          <p:nvPr/>
        </p:nvSpPr>
        <p:spPr>
          <a:xfrm>
            <a:off x="5786203" y="674557"/>
            <a:ext cx="5749335" cy="3177915"/>
          </a:xfrm>
          <a:prstGeom prst="cloudCallout">
            <a:avLst>
              <a:gd name="adj1" fmla="val -52934"/>
              <a:gd name="adj2" fmla="val 12837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3200" b="1" dirty="0">
                <a:solidFill>
                  <a:srgbClr val="CC990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Listić </a:t>
            </a:r>
            <a:endParaRPr lang="hr-HR" sz="3200" b="1" dirty="0">
              <a:solidFill>
                <a:srgbClr val="CC9900"/>
              </a:solidFill>
            </a:endParaRPr>
          </a:p>
          <a:p>
            <a:pPr algn="ctr"/>
            <a:endParaRPr lang="hr-HR" sz="3200" b="1" dirty="0">
              <a:solidFill>
                <a:srgbClr val="CC9900"/>
              </a:solidFill>
            </a:endParaRPr>
          </a:p>
          <a:p>
            <a:pPr algn="ctr"/>
            <a:endParaRPr lang="hr-HR" sz="3200" b="1" dirty="0">
              <a:solidFill>
                <a:srgbClr val="CC9900"/>
              </a:solidFill>
            </a:endParaRPr>
          </a:p>
          <a:p>
            <a:pPr algn="ctr"/>
            <a:r>
              <a:rPr lang="hr-HR" sz="3200" b="1" dirty="0">
                <a:solidFill>
                  <a:srgbClr val="CC9900"/>
                </a:solidFill>
              </a:rPr>
              <a:t>DZ: riješi zadatke 7-10 u radnoj bilježnici str 78-80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8196F8-175C-40AC-AE36-D7DA13983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90"/>
            <a:ext cx="4909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1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niOkvir 1">
            <a:extLst>
              <a:ext uri="{FF2B5EF4-FFF2-40B4-BE49-F238E27FC236}">
                <a16:creationId xmlns:a16="http://schemas.microsoft.com/office/drawing/2014/main" id="{7868F68C-FB99-4821-AA73-64F538807A2E}"/>
              </a:ext>
            </a:extLst>
          </p:cNvPr>
          <p:cNvSpPr txBox="1"/>
          <p:nvPr/>
        </p:nvSpPr>
        <p:spPr>
          <a:xfrm>
            <a:off x="838201" y="397131"/>
            <a:ext cx="2438399" cy="523220"/>
          </a:xfrm>
          <a:custGeom>
            <a:avLst/>
            <a:gdLst>
              <a:gd name="connsiteX0" fmla="*/ 0 w 2438399"/>
              <a:gd name="connsiteY0" fmla="*/ 0 h 523220"/>
              <a:gd name="connsiteX1" fmla="*/ 658368 w 2438399"/>
              <a:gd name="connsiteY1" fmla="*/ 0 h 523220"/>
              <a:gd name="connsiteX2" fmla="*/ 1219200 w 2438399"/>
              <a:gd name="connsiteY2" fmla="*/ 0 h 523220"/>
              <a:gd name="connsiteX3" fmla="*/ 1877567 w 2438399"/>
              <a:gd name="connsiteY3" fmla="*/ 0 h 523220"/>
              <a:gd name="connsiteX4" fmla="*/ 2438399 w 2438399"/>
              <a:gd name="connsiteY4" fmla="*/ 0 h 523220"/>
              <a:gd name="connsiteX5" fmla="*/ 2438399 w 2438399"/>
              <a:gd name="connsiteY5" fmla="*/ 523220 h 523220"/>
              <a:gd name="connsiteX6" fmla="*/ 1901951 w 2438399"/>
              <a:gd name="connsiteY6" fmla="*/ 523220 h 523220"/>
              <a:gd name="connsiteX7" fmla="*/ 1292351 w 2438399"/>
              <a:gd name="connsiteY7" fmla="*/ 523220 h 523220"/>
              <a:gd name="connsiteX8" fmla="*/ 658368 w 2438399"/>
              <a:gd name="connsiteY8" fmla="*/ 523220 h 523220"/>
              <a:gd name="connsiteX9" fmla="*/ 0 w 2438399"/>
              <a:gd name="connsiteY9" fmla="*/ 523220 h 523220"/>
              <a:gd name="connsiteX10" fmla="*/ 0 w 2438399"/>
              <a:gd name="connsiteY10" fmla="*/ 0 h 52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8399" h="523220" fill="none" extrusionOk="0">
                <a:moveTo>
                  <a:pt x="0" y="0"/>
                </a:moveTo>
                <a:cubicBezTo>
                  <a:pt x="309218" y="13433"/>
                  <a:pt x="457876" y="9688"/>
                  <a:pt x="658368" y="0"/>
                </a:cubicBezTo>
                <a:cubicBezTo>
                  <a:pt x="858860" y="-9688"/>
                  <a:pt x="1032476" y="-11345"/>
                  <a:pt x="1219200" y="0"/>
                </a:cubicBezTo>
                <a:cubicBezTo>
                  <a:pt x="1405924" y="11345"/>
                  <a:pt x="1568756" y="30656"/>
                  <a:pt x="1877567" y="0"/>
                </a:cubicBezTo>
                <a:cubicBezTo>
                  <a:pt x="2186378" y="-30656"/>
                  <a:pt x="2196629" y="-21358"/>
                  <a:pt x="2438399" y="0"/>
                </a:cubicBezTo>
                <a:cubicBezTo>
                  <a:pt x="2450353" y="160790"/>
                  <a:pt x="2450635" y="281909"/>
                  <a:pt x="2438399" y="523220"/>
                </a:cubicBezTo>
                <a:cubicBezTo>
                  <a:pt x="2258764" y="549265"/>
                  <a:pt x="2131977" y="497086"/>
                  <a:pt x="1901951" y="523220"/>
                </a:cubicBezTo>
                <a:cubicBezTo>
                  <a:pt x="1671925" y="549354"/>
                  <a:pt x="1588715" y="513954"/>
                  <a:pt x="1292351" y="523220"/>
                </a:cubicBezTo>
                <a:cubicBezTo>
                  <a:pt x="995987" y="532486"/>
                  <a:pt x="948293" y="535142"/>
                  <a:pt x="658368" y="523220"/>
                </a:cubicBezTo>
                <a:cubicBezTo>
                  <a:pt x="368443" y="511298"/>
                  <a:pt x="145491" y="490496"/>
                  <a:pt x="0" y="523220"/>
                </a:cubicBezTo>
                <a:cubicBezTo>
                  <a:pt x="11905" y="373575"/>
                  <a:pt x="13291" y="114845"/>
                  <a:pt x="0" y="0"/>
                </a:cubicBezTo>
                <a:close/>
              </a:path>
              <a:path w="2438399" h="523220" stroke="0" extrusionOk="0">
                <a:moveTo>
                  <a:pt x="0" y="0"/>
                </a:moveTo>
                <a:cubicBezTo>
                  <a:pt x="240297" y="21194"/>
                  <a:pt x="335576" y="-17760"/>
                  <a:pt x="560832" y="0"/>
                </a:cubicBezTo>
                <a:cubicBezTo>
                  <a:pt x="786088" y="17760"/>
                  <a:pt x="955575" y="-11630"/>
                  <a:pt x="1170432" y="0"/>
                </a:cubicBezTo>
                <a:cubicBezTo>
                  <a:pt x="1385289" y="11630"/>
                  <a:pt x="1595650" y="-21432"/>
                  <a:pt x="1804415" y="0"/>
                </a:cubicBezTo>
                <a:cubicBezTo>
                  <a:pt x="2013180" y="21432"/>
                  <a:pt x="2178571" y="28307"/>
                  <a:pt x="2438399" y="0"/>
                </a:cubicBezTo>
                <a:cubicBezTo>
                  <a:pt x="2458631" y="121779"/>
                  <a:pt x="2461465" y="364582"/>
                  <a:pt x="2438399" y="523220"/>
                </a:cubicBezTo>
                <a:cubicBezTo>
                  <a:pt x="2215813" y="547022"/>
                  <a:pt x="2033091" y="525339"/>
                  <a:pt x="1901951" y="523220"/>
                </a:cubicBezTo>
                <a:cubicBezTo>
                  <a:pt x="1770811" y="521101"/>
                  <a:pt x="1494168" y="502947"/>
                  <a:pt x="1365503" y="523220"/>
                </a:cubicBezTo>
                <a:cubicBezTo>
                  <a:pt x="1236838" y="543493"/>
                  <a:pt x="1008970" y="522172"/>
                  <a:pt x="804672" y="523220"/>
                </a:cubicBezTo>
                <a:cubicBezTo>
                  <a:pt x="600374" y="524268"/>
                  <a:pt x="192622" y="509111"/>
                  <a:pt x="0" y="523220"/>
                </a:cubicBezTo>
                <a:cubicBezTo>
                  <a:pt x="22205" y="416303"/>
                  <a:pt x="-22289" y="14057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2057729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hr-HR" sz="2800" dirty="0">
                <a:latin typeface="+mj-lt"/>
              </a:rPr>
              <a:t>REFLEKSIJA </a:t>
            </a:r>
          </a:p>
        </p:txBody>
      </p:sp>
      <p:graphicFrame>
        <p:nvGraphicFramePr>
          <p:cNvPr id="4" name="Dijagram 3">
            <a:extLst>
              <a:ext uri="{FF2B5EF4-FFF2-40B4-BE49-F238E27FC236}">
                <a16:creationId xmlns:a16="http://schemas.microsoft.com/office/drawing/2014/main" id="{7D10A4C3-EDFD-47C0-BFFA-AD21E5CC6D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3895280"/>
              </p:ext>
            </p:extLst>
          </p:nvPr>
        </p:nvGraphicFramePr>
        <p:xfrm>
          <a:off x="838201" y="2659224"/>
          <a:ext cx="10813143" cy="3265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68FF3-1B0F-4790-AD6F-6D85B2478DBA}"/>
              </a:ext>
            </a:extLst>
          </p:cNvPr>
          <p:cNvSpPr txBox="1"/>
          <p:nvPr/>
        </p:nvSpPr>
        <p:spPr>
          <a:xfrm>
            <a:off x="1022574" y="6276203"/>
            <a:ext cx="10444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https://docs.google.com/forms/d/1Al9Z7o5AMYTAG6P-WaM7D0HyImfEF5McleFgYjdCz3A/edit</a:t>
            </a:r>
          </a:p>
        </p:txBody>
      </p:sp>
    </p:spTree>
    <p:extLst>
      <p:ext uri="{BB962C8B-B14F-4D97-AF65-F5344CB8AC3E}">
        <p14:creationId xmlns:p14="http://schemas.microsoft.com/office/powerpoint/2010/main" val="209404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CE0FD3-F69F-4D82-A3BB-6A876FD04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4ACE0FD3-F69F-4D82-A3BB-6A876FD04A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18CF7BC-E7C4-46DD-999F-5350559C93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graphicEl>
                                              <a:dgm id="{518CF7BC-E7C4-46DD-999F-5350559C93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A25EB5D-BDC8-48BE-8208-8EE1238F11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graphicEl>
                                              <a:dgm id="{9A25EB5D-BDC8-48BE-8208-8EE1238F11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D5404D-209D-4B4F-ABD0-7EDDCA2659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graphicEl>
                                              <a:dgm id="{C8D5404D-209D-4B4F-ABD0-7EDDCA2659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32C2FD-CD52-48B2-8EC0-D64894BD15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9532C2FD-CD52-48B2-8EC0-D64894BD15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5ABFC39-0C44-4487-A990-68F24A4BD7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85ABFC39-0C44-4487-A990-68F24A4BD7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EAB87C8-6293-4C84-AF3F-79F03C6122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6EAB87C8-6293-4C84-AF3F-79F03C6122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7CB74D-87C0-4E28-9FD5-CB91117EFF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graphicEl>
                                              <a:dgm id="{E17CB74D-87C0-4E28-9FD5-CB91117EFF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49A455-1965-4E0A-B6D1-CCE6D2DCE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312" y="333375"/>
            <a:ext cx="8366553" cy="6191250"/>
          </a:xfrm>
          <a:prstGeom prst="rect">
            <a:avLst/>
          </a:prstGeom>
          <a:noFill/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43C9C09A-460B-40C1-AA1B-7CE82CB3F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687" y="5066452"/>
            <a:ext cx="4459766" cy="53934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Graphical user interface&#10;&#10;Description automatically generated">
            <a:extLst>
              <a:ext uri="{FF2B5EF4-FFF2-40B4-BE49-F238E27FC236}">
                <a16:creationId xmlns:a16="http://schemas.microsoft.com/office/drawing/2014/main" id="{64B75604-B0CD-4603-ABF7-F502067C50D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t="13841" b="13841"/>
          <a:stretch/>
        </p:blipFill>
        <p:spPr>
          <a:xfrm>
            <a:off x="1147566" y="68263"/>
            <a:ext cx="9498405" cy="6113462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613839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person in a costume&#10;&#10;Description automatically generated with low confidence">
            <a:extLst>
              <a:ext uri="{FF2B5EF4-FFF2-40B4-BE49-F238E27FC236}">
                <a16:creationId xmlns:a16="http://schemas.microsoft.com/office/drawing/2014/main" id="{1C6995CC-0FD4-499A-ACA3-FF5047C1A31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17" r="23417"/>
          <a:stretch>
            <a:fillRect/>
          </a:stretch>
        </p:blipFill>
        <p:spPr>
          <a:xfrm>
            <a:off x="365078" y="1049745"/>
            <a:ext cx="5059852" cy="47585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8F5124D-4420-4BA8-8961-AEF58892E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54" y="126000"/>
            <a:ext cx="10466153" cy="738434"/>
          </a:xfrm>
        </p:spPr>
        <p:txBody>
          <a:bodyPr/>
          <a:lstStyle/>
          <a:p>
            <a:r>
              <a:rPr lang="hr-HR" sz="4000" dirty="0"/>
              <a:t>Disbalans i </a:t>
            </a:r>
            <a:r>
              <a:rPr lang="hr-HR" sz="4000" dirty="0" err="1"/>
              <a:t>homeostaza</a:t>
            </a:r>
            <a:r>
              <a:rPr lang="hr-HR" sz="4000" dirty="0"/>
              <a:t>-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0226106-644A-4102-88E4-6DF6A130E379}"/>
              </a:ext>
            </a:extLst>
          </p:cNvPr>
          <p:cNvSpPr txBox="1">
            <a:spLocks/>
          </p:cNvSpPr>
          <p:nvPr/>
        </p:nvSpPr>
        <p:spPr>
          <a:xfrm>
            <a:off x="2385639" y="3964959"/>
            <a:ext cx="5472000" cy="40521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dirty="0"/>
              <a:t> </a:t>
            </a:r>
            <a:endParaRPr lang="hr-HR" sz="2800" b="1" dirty="0">
              <a:solidFill>
                <a:srgbClr val="3C0FF9"/>
              </a:solidFill>
            </a:endParaRPr>
          </a:p>
        </p:txBody>
      </p:sp>
      <p:sp>
        <p:nvSpPr>
          <p:cNvPr id="12" name="Callout: Up Arrow 11">
            <a:extLst>
              <a:ext uri="{FF2B5EF4-FFF2-40B4-BE49-F238E27FC236}">
                <a16:creationId xmlns:a16="http://schemas.microsoft.com/office/drawing/2014/main" id="{CDE62984-B4C6-4FCD-A28C-5B3E64EC1E00}"/>
              </a:ext>
            </a:extLst>
          </p:cNvPr>
          <p:cNvSpPr/>
          <p:nvPr/>
        </p:nvSpPr>
        <p:spPr>
          <a:xfrm>
            <a:off x="665849" y="2509829"/>
            <a:ext cx="4585857" cy="4052103"/>
          </a:xfrm>
          <a:prstGeom prst="upArrowCallout">
            <a:avLst>
              <a:gd name="adj1" fmla="val 6817"/>
              <a:gd name="adj2" fmla="val 9496"/>
              <a:gd name="adj3" fmla="val 13337"/>
              <a:gd name="adj4" fmla="val 4743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hr-HR" sz="2400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hr-HR" sz="2400" b="1" dirty="0">
                <a:solidFill>
                  <a:schemeClr val="accent6"/>
                </a:solidFill>
              </a:rPr>
              <a:t>ZADATAK : istraži, prikaži , prezentiraj 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400" b="1" dirty="0">
                <a:solidFill>
                  <a:srgbClr val="3C0FF9"/>
                </a:solidFill>
              </a:rPr>
              <a:t>Opis poremećaja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400" b="1" dirty="0">
                <a:solidFill>
                  <a:srgbClr val="3C0FF9"/>
                </a:solidFill>
              </a:rPr>
              <a:t>Posljedice 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400" b="1" dirty="0">
                <a:solidFill>
                  <a:srgbClr val="3C0FF9"/>
                </a:solidFill>
              </a:rPr>
              <a:t>Regulacija </a:t>
            </a:r>
          </a:p>
          <a:p>
            <a:pPr algn="ctr"/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914CC91-7721-4EF8-B71E-330AF5A72C25}"/>
              </a:ext>
            </a:extLst>
          </p:cNvPr>
          <p:cNvSpPr txBox="1">
            <a:spLocks/>
          </p:cNvSpPr>
          <p:nvPr/>
        </p:nvSpPr>
        <p:spPr>
          <a:xfrm>
            <a:off x="5505789" y="3166325"/>
            <a:ext cx="5472000" cy="26257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400" b="1" dirty="0">
                <a:highlight>
                  <a:srgbClr val="FFFF00"/>
                </a:highlight>
              </a:rPr>
              <a:t>Grupa 1:</a:t>
            </a:r>
          </a:p>
          <a:p>
            <a:pPr marL="0" indent="0">
              <a:buNone/>
            </a:pPr>
            <a:r>
              <a:rPr lang="hr-HR" sz="2400" b="1" dirty="0">
                <a:highlight>
                  <a:srgbClr val="00FF00"/>
                </a:highlight>
              </a:rPr>
              <a:t>Grupa 2:,</a:t>
            </a:r>
          </a:p>
          <a:p>
            <a:pPr marL="0" indent="0">
              <a:buNone/>
            </a:pPr>
            <a:r>
              <a:rPr lang="hr-HR" sz="2400" b="1" dirty="0">
                <a:highlight>
                  <a:srgbClr val="00FFFF"/>
                </a:highlight>
              </a:rPr>
              <a:t>Grupa 3:. </a:t>
            </a:r>
          </a:p>
          <a:p>
            <a:pPr marL="0" indent="0">
              <a:buNone/>
            </a:pPr>
            <a:r>
              <a:rPr lang="hr-HR" sz="2400" b="1" dirty="0">
                <a:highlight>
                  <a:srgbClr val="FF00FF"/>
                </a:highlight>
              </a:rPr>
              <a:t>Grupa 4:,  </a:t>
            </a:r>
          </a:p>
          <a:p>
            <a:pPr marL="0" indent="0">
              <a:buNone/>
            </a:pPr>
            <a:r>
              <a:rPr lang="hr-HR" sz="2400" b="1" dirty="0">
                <a:highlight>
                  <a:srgbClr val="FF0000"/>
                </a:highlight>
              </a:rPr>
              <a:t>Grupa 5:</a:t>
            </a:r>
          </a:p>
          <a:p>
            <a:pPr marL="0" indent="0">
              <a:buNone/>
            </a:pPr>
            <a:r>
              <a:rPr lang="hr-HR" sz="2400" b="1" dirty="0"/>
              <a:t>Grupa 6 :, </a:t>
            </a:r>
          </a:p>
          <a:p>
            <a:pPr marL="0" indent="0">
              <a:buNone/>
            </a:pPr>
            <a:endParaRPr lang="hr-HR" sz="2400" b="1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4BF85BD6-D92A-4F41-B71F-44CD15B42681}"/>
              </a:ext>
            </a:extLst>
          </p:cNvPr>
          <p:cNvSpPr/>
          <p:nvPr/>
        </p:nvSpPr>
        <p:spPr>
          <a:xfrm rot="3079578">
            <a:off x="8982885" y="1077527"/>
            <a:ext cx="2038663" cy="2272194"/>
          </a:xfrm>
          <a:prstGeom prst="downArrow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0349E1-F2A0-4B78-B819-594EDEAE5E49}"/>
              </a:ext>
            </a:extLst>
          </p:cNvPr>
          <p:cNvSpPr/>
          <p:nvPr/>
        </p:nvSpPr>
        <p:spPr>
          <a:xfrm>
            <a:off x="5724408" y="1301137"/>
            <a:ext cx="3610061" cy="99844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r-HR" sz="2000" b="1" dirty="0">
                <a:solidFill>
                  <a:srgbClr val="00B0F0"/>
                </a:solidFill>
              </a:rPr>
              <a:t>10 min izrada </a:t>
            </a:r>
          </a:p>
          <a:p>
            <a:r>
              <a:rPr lang="hr-HR" sz="2000" b="1" dirty="0">
                <a:solidFill>
                  <a:srgbClr val="00B0F0"/>
                </a:solidFill>
              </a:rPr>
              <a:t>  2 min. prezentacija</a:t>
            </a:r>
            <a:endParaRPr lang="en-US" sz="2000" b="1" dirty="0">
              <a:solidFill>
                <a:srgbClr val="00B0F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0C9956-92DD-4AB7-BD32-1F52B602E6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620080" y="434390"/>
            <a:ext cx="5472000" cy="360000"/>
          </a:xfrm>
        </p:spPr>
        <p:txBody>
          <a:bodyPr/>
          <a:lstStyle/>
          <a:p>
            <a:r>
              <a:rPr lang="hr-HR" dirty="0"/>
              <a:t>Dodaj link na interaktivnu </a:t>
            </a:r>
            <a:r>
              <a:rPr lang="hr-HR" dirty="0" err="1"/>
              <a:t>ploću</a:t>
            </a:r>
            <a:r>
              <a:rPr lang="hr-HR" dirty="0"/>
              <a:t> na internetu poput </a:t>
            </a:r>
            <a:r>
              <a:rPr lang="hr-HR" dirty="0" err="1"/>
              <a:t>lino</a:t>
            </a:r>
            <a:r>
              <a:rPr lang="hr-HR" dirty="0"/>
              <a:t>, </a:t>
            </a:r>
            <a:r>
              <a:rPr lang="hr-HR" dirty="0" err="1"/>
              <a:t>canval</a:t>
            </a:r>
            <a:r>
              <a:rPr lang="hr-HR" dirty="0"/>
              <a:t>, </a:t>
            </a:r>
            <a:r>
              <a:rPr lang="hr-HR" dirty="0" err="1"/>
              <a:t>jamboard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218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BB38DF2-CFC3-47EC-9C59-58DE7E4DE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Izvori 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1D9904-B7A2-40D4-8E19-EB68736E9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Balta V. (2021)</a:t>
            </a:r>
            <a:r>
              <a:rPr lang="en-GB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BIOLOGIJA ČOVJEKA, 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Dopuna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gradiva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pitanjima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za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maturu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prijamni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ispit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priručnik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iz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biologije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Zagreb,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Profil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Klett</a:t>
            </a:r>
            <a:endParaRPr lang="en-GB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Begić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V.Korać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P.Remenar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S.(2020.)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Biologija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3: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radna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bilježnica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iz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biologije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za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treći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razred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gimnazije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Zagreb, Alfa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d.d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Begić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V.Korać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P.Remenar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S.(2020.)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Biologija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3: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udžbenik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iz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biologije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za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treći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razred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gimnazije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Zagreb, Alfa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d.d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Čačev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T. Horvat B.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Ivandić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A.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Korač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Subaša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A. Marceljak Ilić M. 2020.,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Biologija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3,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Udžbenik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za 3.razred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gimnazije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Zagreb: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Profil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Klett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d.o.o.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Čačev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T. Horvat B.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Ivandić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A.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Korač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Subaša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A. Marceljak Ilić M. 2020.,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Biologija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3,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Radna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biljžnica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za 3.razred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gimnazije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Zagreb: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Klett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d.o.o.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2360154"/>
      </p:ext>
    </p:extLst>
  </p:cSld>
  <p:clrMapOvr>
    <a:masterClrMapping/>
  </p:clrMapOvr>
</p:sld>
</file>

<file path=ppt/theme/theme1.xml><?xml version="1.0" encoding="utf-8"?>
<a:theme xmlns:a="http://schemas.openxmlformats.org/drawingml/2006/main" name="tf16411253_win32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Geometric presentation_AAS_v3" id="{5F394A36-244E-477B-9B00-631A6705923C}" vid="{7FC6DB14-D4FF-4031-8ADB-F8536C0C40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3730</TotalTime>
  <Words>780</Words>
  <Application>Microsoft Office PowerPoint</Application>
  <PresentationFormat>Widescreen</PresentationFormat>
  <Paragraphs>161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Comic Sans MS</vt:lpstr>
      <vt:lpstr>Corbel</vt:lpstr>
      <vt:lpstr>Times New Roman</vt:lpstr>
      <vt:lpstr>Wingdings</vt:lpstr>
      <vt:lpstr>tf16411253_win32</vt:lpstr>
      <vt:lpstr>HOMEOSTAZA Endokrini sustav              Mihaela Marceljak Ilić, prof savjetnik                                                      XV. gimnazija Zagreb </vt:lpstr>
      <vt:lpstr>PowerPoint Presentation</vt:lpstr>
      <vt:lpstr>Homeostaza u regulaciji  tjelesnih tekućina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HORMONI</vt:lpstr>
      <vt:lpstr>Djelovanje hormona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Endokrine žlijezde- dodati link za rad u grupama na       lino, canval, jamboard </vt:lpstr>
      <vt:lpstr>PowerPoint Presentation</vt:lpstr>
      <vt:lpstr>1.1 Koja je koncentracija hormona inzulina kod Marka u trenutku kada je koncentracija glukoze bila 200 mg / 100 cm3?</vt:lpstr>
      <vt:lpstr>1.2. Predvidi vrijeme koje je potrebno da se koncentracija glukoze u krvi        nakon 150. minute vrati na svoju prvotnu vrijednost   1.3 Predvidi vrijeme koje je potrebno da se koncentracija glukoze u krvi nakon          150-te minute vrati na svoju prvotnu vrijednost.    1.4 Tijelo odrasla čovjeka u prosjeku sadrži 5 L krvi. Izračunaj ukupnu masu         glukoze u Markovu krvotoku u 60 minuti nakon oralne primjene otopine        glukoze. Prikaži račun.      </vt:lpstr>
      <vt:lpstr>PowerPoint Presentation</vt:lpstr>
      <vt:lpstr>PowerPoint Presentation</vt:lpstr>
      <vt:lpstr>PowerPoint Presentation</vt:lpstr>
      <vt:lpstr>PowerPoint Presentation</vt:lpstr>
      <vt:lpstr>Disbalans i homeostaza-</vt:lpstr>
      <vt:lpstr>Izvori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Živčani sustav životinja i čovjeka</dc:title>
  <dc:creator>Mihaela Marceljak Ilić</dc:creator>
  <cp:lastModifiedBy>Mihaela Marceljak Ilić</cp:lastModifiedBy>
  <cp:revision>72</cp:revision>
  <dcterms:created xsi:type="dcterms:W3CDTF">2020-12-08T15:56:48Z</dcterms:created>
  <dcterms:modified xsi:type="dcterms:W3CDTF">2022-01-05T16:03:40Z</dcterms:modified>
</cp:coreProperties>
</file>