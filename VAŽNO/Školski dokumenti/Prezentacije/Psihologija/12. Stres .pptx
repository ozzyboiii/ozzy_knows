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0" roundtripDataSignature="AMtx7mhHeaBY369jDb/1hhrvgmciS4ZL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A55EE3-AD2C-461C-8C08-64D5B586F5F5}">
  <a:tblStyle styleId="{B4A55EE3-AD2C-461C-8C08-64D5B586F5F5}" styleName="Table_0">
    <a:wholeTbl>
      <a:tcTxStyle b="off" i="off">
        <a:font>
          <a:latin typeface="Meiryo"/>
          <a:ea typeface="Meiryo"/>
          <a:cs typeface="Meiry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AE8E7"/>
          </a:solidFill>
        </a:fill>
      </a:tcStyle>
    </a:wholeTbl>
    <a:band1H>
      <a:tcTxStyle b="off" i="off"/>
      <a:tcStyle>
        <a:fill>
          <a:solidFill>
            <a:srgbClr val="F5CECC"/>
          </a:solidFill>
        </a:fill>
      </a:tcStyle>
    </a:band1H>
    <a:band2H>
      <a:tcTxStyle b="off" i="off"/>
    </a:band2H>
    <a:band1V>
      <a:tcTxStyle b="off" i="off"/>
      <a:tcStyle>
        <a:fill>
          <a:solidFill>
            <a:srgbClr val="F5CECC"/>
          </a:solidFill>
        </a:fill>
      </a:tcStyle>
    </a:band1V>
    <a:band2V>
      <a:tcTxStyle b="off" i="off"/>
    </a:band2V>
    <a:lastCol>
      <a:tcTxStyle b="on" i="off">
        <a:font>
          <a:latin typeface="Meiryo"/>
          <a:ea typeface="Meiryo"/>
          <a:cs typeface="Meiryo"/>
        </a:font>
        <a:schemeClr val="lt1"/>
      </a:tcTxStyle>
      <a:tcStyle>
        <a:fill>
          <a:solidFill>
            <a:schemeClr val="accent1"/>
          </a:solidFill>
        </a:fill>
      </a:tcStyle>
    </a:lastCol>
    <a:firstCol>
      <a:tcTxStyle b="on" i="off">
        <a:font>
          <a:latin typeface="Meiryo"/>
          <a:ea typeface="Meiryo"/>
          <a:cs typeface="Meiryo"/>
        </a:font>
        <a:schemeClr val="lt1"/>
      </a:tcTxStyle>
      <a:tcStyle>
        <a:fill>
          <a:solidFill>
            <a:schemeClr val="accent1"/>
          </a:solidFill>
        </a:fill>
      </a:tcStyle>
    </a:firstCol>
    <a:lastRow>
      <a:tcTxStyle b="on" i="off">
        <a:font>
          <a:latin typeface="Meiryo"/>
          <a:ea typeface="Meiryo"/>
          <a:cs typeface="Meiry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Meiryo"/>
          <a:ea typeface="Meiryo"/>
          <a:cs typeface="Meiry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 name="Google Shape;6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4" name="Google Shape;84;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hr"/>
              <a:t>Bitno je kako pojedinac </a:t>
            </a:r>
            <a:r>
              <a:rPr b="1" lang="hr"/>
              <a:t>procjenjuje</a:t>
            </a:r>
            <a:r>
              <a:rPr lang="hr"/>
              <a:t> svoju ugroženost u nekoj situaciji i svoje </a:t>
            </a:r>
            <a:r>
              <a:rPr b="1" lang="hr"/>
              <a:t>sposobnosti</a:t>
            </a:r>
            <a:r>
              <a:rPr lang="hr"/>
              <a:t> da se s njom nosi</a:t>
            </a:r>
            <a:endParaRPr/>
          </a:p>
          <a:p>
            <a:pPr indent="0" lvl="0" marL="0" rtl="0" algn="l">
              <a:lnSpc>
                <a:spcPct val="100000"/>
              </a:lnSpc>
              <a:spcBef>
                <a:spcPts val="0"/>
              </a:spcBef>
              <a:spcAft>
                <a:spcPts val="0"/>
              </a:spcAft>
              <a:buSzPts val="1100"/>
              <a:buNone/>
            </a:pPr>
            <a:r>
              <a:t/>
            </a:r>
            <a:endParaRPr/>
          </a:p>
        </p:txBody>
      </p:sp>
      <p:sp>
        <p:nvSpPr>
          <p:cNvPr id="85" name="Google Shape;85;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h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hr"/>
              <a:t>TORBA PRVE POMOĆI</a:t>
            </a:r>
            <a:endParaRPr/>
          </a:p>
          <a:p>
            <a:pPr indent="-133350" lvl="0" marL="171450" rtl="0" algn="l">
              <a:lnSpc>
                <a:spcPct val="90000"/>
              </a:lnSpc>
              <a:spcBef>
                <a:spcPts val="0"/>
              </a:spcBef>
              <a:spcAft>
                <a:spcPts val="0"/>
              </a:spcAft>
              <a:buClr>
                <a:schemeClr val="dk1"/>
              </a:buClr>
              <a:buSzPts val="1500"/>
              <a:buChar char="●"/>
            </a:pPr>
            <a:r>
              <a:rPr lang="hr" sz="1200">
                <a:solidFill>
                  <a:srgbClr val="595959"/>
                </a:solidFill>
              </a:rPr>
              <a:t>Budite povezani s ljudima koji su vam dragi </a:t>
            </a:r>
            <a:endParaRPr sz="1200">
              <a:solidFill>
                <a:srgbClr val="595959"/>
              </a:solidFill>
            </a:endParaRPr>
          </a:p>
          <a:p>
            <a:pPr indent="-133350" lvl="0" marL="171450" rtl="0" algn="l">
              <a:lnSpc>
                <a:spcPct val="90000"/>
              </a:lnSpc>
              <a:spcBef>
                <a:spcPts val="750"/>
              </a:spcBef>
              <a:spcAft>
                <a:spcPts val="0"/>
              </a:spcAft>
              <a:buClr>
                <a:schemeClr val="dk1"/>
              </a:buClr>
              <a:buSzPts val="1500"/>
              <a:buChar char="●"/>
            </a:pPr>
            <a:r>
              <a:rPr lang="hr" sz="1200">
                <a:solidFill>
                  <a:srgbClr val="595959"/>
                </a:solidFill>
              </a:rPr>
              <a:t>Dijelite svoje misli i osjećaje s drugima</a:t>
            </a:r>
            <a:endParaRPr sz="1200">
              <a:solidFill>
                <a:srgbClr val="595959"/>
              </a:solidFill>
            </a:endParaRPr>
          </a:p>
          <a:p>
            <a:pPr indent="-133350" lvl="0" marL="171450" rtl="0" algn="l">
              <a:lnSpc>
                <a:spcPct val="90000"/>
              </a:lnSpc>
              <a:spcBef>
                <a:spcPts val="750"/>
              </a:spcBef>
              <a:spcAft>
                <a:spcPts val="0"/>
              </a:spcAft>
              <a:buClr>
                <a:schemeClr val="dk1"/>
              </a:buClr>
              <a:buSzPts val="1500"/>
              <a:buChar char="●"/>
            </a:pPr>
            <a:r>
              <a:rPr lang="hr" sz="1200">
                <a:solidFill>
                  <a:srgbClr val="595959"/>
                </a:solidFill>
              </a:rPr>
              <a:t>Jedite raznoliko i dovoljno </a:t>
            </a:r>
            <a:endParaRPr sz="1200">
              <a:solidFill>
                <a:srgbClr val="595959"/>
              </a:solidFill>
            </a:endParaRPr>
          </a:p>
          <a:p>
            <a:pPr indent="-133350" lvl="0" marL="171450" rtl="0" algn="l">
              <a:lnSpc>
                <a:spcPct val="90000"/>
              </a:lnSpc>
              <a:spcBef>
                <a:spcPts val="750"/>
              </a:spcBef>
              <a:spcAft>
                <a:spcPts val="0"/>
              </a:spcAft>
              <a:buClr>
                <a:schemeClr val="dk1"/>
              </a:buClr>
              <a:buSzPts val="1500"/>
              <a:buChar char="●"/>
            </a:pPr>
            <a:r>
              <a:rPr lang="hr" sz="1200">
                <a:solidFill>
                  <a:srgbClr val="595959"/>
                </a:solidFill>
              </a:rPr>
              <a:t>Budite fizički aktivni – vama zabavne i ugodne fizičke aktivnosti </a:t>
            </a:r>
            <a:endParaRPr sz="1200">
              <a:solidFill>
                <a:srgbClr val="595959"/>
              </a:solidFill>
            </a:endParaRPr>
          </a:p>
          <a:p>
            <a:pPr indent="-133350" lvl="0" marL="171450" rtl="0" algn="l">
              <a:lnSpc>
                <a:spcPct val="90000"/>
              </a:lnSpc>
              <a:spcBef>
                <a:spcPts val="750"/>
              </a:spcBef>
              <a:spcAft>
                <a:spcPts val="0"/>
              </a:spcAft>
              <a:buClr>
                <a:schemeClr val="dk1"/>
              </a:buClr>
              <a:buSzPts val="1500"/>
              <a:buChar char="●"/>
            </a:pPr>
            <a:r>
              <a:rPr lang="hr" sz="1200">
                <a:solidFill>
                  <a:srgbClr val="595959"/>
                </a:solidFill>
              </a:rPr>
              <a:t>Koristite tehnike relaksacije (disanje, meditacija...)</a:t>
            </a:r>
            <a:endParaRPr sz="1200">
              <a:solidFill>
                <a:srgbClr val="595959"/>
              </a:solidFill>
            </a:endParaRPr>
          </a:p>
          <a:p>
            <a:pPr indent="-133350" lvl="0" marL="171450" rtl="0" algn="l">
              <a:lnSpc>
                <a:spcPct val="90000"/>
              </a:lnSpc>
              <a:spcBef>
                <a:spcPts val="750"/>
              </a:spcBef>
              <a:spcAft>
                <a:spcPts val="0"/>
              </a:spcAft>
              <a:buClr>
                <a:schemeClr val="dk1"/>
              </a:buClr>
              <a:buSzPts val="1500"/>
              <a:buChar char="●"/>
            </a:pPr>
            <a:r>
              <a:rPr lang="hr" sz="1200">
                <a:solidFill>
                  <a:srgbClr val="595959"/>
                </a:solidFill>
              </a:rPr>
              <a:t>Održavajte dnevnu rutinu koliko je god moguće </a:t>
            </a:r>
            <a:endParaRPr sz="1200">
              <a:solidFill>
                <a:srgbClr val="595959"/>
              </a:solidFill>
            </a:endParaRPr>
          </a:p>
          <a:p>
            <a:pPr indent="-133350" lvl="0" marL="171450" rtl="0" algn="l">
              <a:lnSpc>
                <a:spcPct val="90000"/>
              </a:lnSpc>
              <a:spcBef>
                <a:spcPts val="750"/>
              </a:spcBef>
              <a:spcAft>
                <a:spcPts val="0"/>
              </a:spcAft>
              <a:buClr>
                <a:schemeClr val="dk1"/>
              </a:buClr>
              <a:buSzPts val="1500"/>
              <a:buChar char="●"/>
            </a:pPr>
            <a:r>
              <a:rPr lang="hr" sz="1200">
                <a:solidFill>
                  <a:srgbClr val="595959"/>
                </a:solidFill>
              </a:rPr>
              <a:t>Sagledajte stvari iz druge perspective – mijenjajte način razmišljanja</a:t>
            </a:r>
            <a:endParaRPr sz="1200">
              <a:solidFill>
                <a:srgbClr val="595959"/>
              </a:solidFill>
            </a:endParaRPr>
          </a:p>
          <a:p>
            <a:pPr indent="-133350" lvl="0" marL="171450" rtl="0" algn="l">
              <a:lnSpc>
                <a:spcPct val="90000"/>
              </a:lnSpc>
              <a:spcBef>
                <a:spcPts val="750"/>
              </a:spcBef>
              <a:spcAft>
                <a:spcPts val="0"/>
              </a:spcAft>
              <a:buClr>
                <a:schemeClr val="dk1"/>
              </a:buClr>
              <a:buSzPts val="1500"/>
              <a:buChar char="●"/>
            </a:pPr>
            <a:r>
              <a:rPr lang="hr" sz="1200">
                <a:solidFill>
                  <a:srgbClr val="595959"/>
                </a:solidFill>
              </a:rPr>
              <a:t>Razlikujte što možete, a što ne možete kontrolirati  </a:t>
            </a:r>
            <a:endParaRPr sz="1200">
              <a:solidFill>
                <a:srgbClr val="595959"/>
              </a:solidFill>
            </a:endParaRPr>
          </a:p>
          <a:p>
            <a:pPr indent="-133350" lvl="0" marL="171450" rtl="0" algn="l">
              <a:lnSpc>
                <a:spcPct val="90000"/>
              </a:lnSpc>
              <a:spcBef>
                <a:spcPts val="750"/>
              </a:spcBef>
              <a:spcAft>
                <a:spcPts val="0"/>
              </a:spcAft>
              <a:buClr>
                <a:schemeClr val="dk1"/>
              </a:buClr>
              <a:buSzPts val="1500"/>
              <a:buChar char="●"/>
            </a:pPr>
            <a:r>
              <a:rPr lang="hr" sz="1200">
                <a:solidFill>
                  <a:srgbClr val="595959"/>
                </a:solidFill>
              </a:rPr>
              <a:t>Svaki oporavak zahtijeva vremena – budite strpljivi sami sa sobom. Svatko ima svoj tempo, ne uspoređujte se s drugima</a:t>
            </a:r>
            <a:endParaRPr sz="1200">
              <a:solidFill>
                <a:srgbClr val="595959"/>
              </a:solidFill>
            </a:endParaRPr>
          </a:p>
          <a:p>
            <a:pPr indent="-133350" lvl="0" marL="171450" rtl="0" algn="l">
              <a:lnSpc>
                <a:spcPct val="90000"/>
              </a:lnSpc>
              <a:spcBef>
                <a:spcPts val="750"/>
              </a:spcBef>
              <a:spcAft>
                <a:spcPts val="0"/>
              </a:spcAft>
              <a:buClr>
                <a:schemeClr val="dk1"/>
              </a:buClr>
              <a:buSzPts val="1500"/>
              <a:buChar char="●"/>
            </a:pPr>
            <a:r>
              <a:rPr lang="hr" sz="1200">
                <a:solidFill>
                  <a:srgbClr val="595959"/>
                </a:solidFill>
              </a:rPr>
              <a:t>Idite korak po korak</a:t>
            </a:r>
            <a:endParaRPr sz="500"/>
          </a:p>
        </p:txBody>
      </p:sp>
      <p:sp>
        <p:nvSpPr>
          <p:cNvPr id="230" name="Google Shape;23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aglavlje sekcije">
  <p:cSld name="SECTION_HEADER_1">
    <p:spTree>
      <p:nvGrpSpPr>
        <p:cNvPr id="9" name="Shape 9"/>
        <p:cNvGrpSpPr/>
        <p:nvPr/>
      </p:nvGrpSpPr>
      <p:grpSpPr>
        <a:xfrm>
          <a:off x="0" y="0"/>
          <a:ext cx="0" cy="0"/>
          <a:chOff x="0" y="0"/>
          <a:chExt cx="0" cy="0"/>
        </a:xfrm>
      </p:grpSpPr>
      <p:sp>
        <p:nvSpPr>
          <p:cNvPr id="10" name="Google Shape;10;p25"/>
          <p:cNvSpPr txBox="1"/>
          <p:nvPr>
            <p:ph type="title"/>
          </p:nvPr>
        </p:nvSpPr>
        <p:spPr>
          <a:xfrm>
            <a:off x="623888" y="1282304"/>
            <a:ext cx="7886700" cy="2139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25"/>
          <p:cNvSpPr txBox="1"/>
          <p:nvPr>
            <p:ph idx="1" type="body"/>
          </p:nvPr>
        </p:nvSpPr>
        <p:spPr>
          <a:xfrm>
            <a:off x="623888" y="3442098"/>
            <a:ext cx="7886700" cy="1125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1200"/>
              </a:spcBef>
              <a:spcAft>
                <a:spcPts val="0"/>
              </a:spcAft>
              <a:buClr>
                <a:srgbClr val="888888"/>
              </a:buClr>
              <a:buSzPts val="1500"/>
              <a:buNone/>
              <a:defRPr sz="1500">
                <a:solidFill>
                  <a:srgbClr val="888888"/>
                </a:solidFill>
              </a:defRPr>
            </a:lvl2pPr>
            <a:lvl3pPr indent="-228600" lvl="2" marL="1371600" algn="l">
              <a:lnSpc>
                <a:spcPct val="90000"/>
              </a:lnSpc>
              <a:spcBef>
                <a:spcPts val="1200"/>
              </a:spcBef>
              <a:spcAft>
                <a:spcPts val="0"/>
              </a:spcAft>
              <a:buClr>
                <a:srgbClr val="888888"/>
              </a:buClr>
              <a:buSzPts val="1350"/>
              <a:buNone/>
              <a:defRPr sz="1350">
                <a:solidFill>
                  <a:srgbClr val="888888"/>
                </a:solidFill>
              </a:defRPr>
            </a:lvl3pPr>
            <a:lvl4pPr indent="-228600" lvl="3" marL="1828800" algn="l">
              <a:lnSpc>
                <a:spcPct val="90000"/>
              </a:lnSpc>
              <a:spcBef>
                <a:spcPts val="1200"/>
              </a:spcBef>
              <a:spcAft>
                <a:spcPts val="0"/>
              </a:spcAft>
              <a:buClr>
                <a:srgbClr val="888888"/>
              </a:buClr>
              <a:buSzPts val="1200"/>
              <a:buNone/>
              <a:defRPr sz="1200">
                <a:solidFill>
                  <a:srgbClr val="888888"/>
                </a:solidFill>
              </a:defRPr>
            </a:lvl4pPr>
            <a:lvl5pPr indent="-228600" lvl="4" marL="2286000" algn="l">
              <a:lnSpc>
                <a:spcPct val="90000"/>
              </a:lnSpc>
              <a:spcBef>
                <a:spcPts val="1200"/>
              </a:spcBef>
              <a:spcAft>
                <a:spcPts val="0"/>
              </a:spcAft>
              <a:buClr>
                <a:srgbClr val="888888"/>
              </a:buClr>
              <a:buSzPts val="1200"/>
              <a:buNone/>
              <a:defRPr sz="1200">
                <a:solidFill>
                  <a:srgbClr val="888888"/>
                </a:solidFill>
              </a:defRPr>
            </a:lvl5pPr>
            <a:lvl6pPr indent="-228600" lvl="5" marL="2743200" algn="l">
              <a:lnSpc>
                <a:spcPct val="90000"/>
              </a:lnSpc>
              <a:spcBef>
                <a:spcPts val="1200"/>
              </a:spcBef>
              <a:spcAft>
                <a:spcPts val="0"/>
              </a:spcAft>
              <a:buClr>
                <a:srgbClr val="888888"/>
              </a:buClr>
              <a:buSzPts val="1200"/>
              <a:buNone/>
              <a:defRPr sz="1200">
                <a:solidFill>
                  <a:srgbClr val="888888"/>
                </a:solidFill>
              </a:defRPr>
            </a:lvl6pPr>
            <a:lvl7pPr indent="-228600" lvl="6" marL="3200400" algn="l">
              <a:lnSpc>
                <a:spcPct val="90000"/>
              </a:lnSpc>
              <a:spcBef>
                <a:spcPts val="1200"/>
              </a:spcBef>
              <a:spcAft>
                <a:spcPts val="0"/>
              </a:spcAft>
              <a:buClr>
                <a:srgbClr val="888888"/>
              </a:buClr>
              <a:buSzPts val="1200"/>
              <a:buNone/>
              <a:defRPr sz="1200">
                <a:solidFill>
                  <a:srgbClr val="888888"/>
                </a:solidFill>
              </a:defRPr>
            </a:lvl7pPr>
            <a:lvl8pPr indent="-228600" lvl="7" marL="3657600" algn="l">
              <a:lnSpc>
                <a:spcPct val="90000"/>
              </a:lnSpc>
              <a:spcBef>
                <a:spcPts val="1200"/>
              </a:spcBef>
              <a:spcAft>
                <a:spcPts val="0"/>
              </a:spcAft>
              <a:buClr>
                <a:srgbClr val="888888"/>
              </a:buClr>
              <a:buSzPts val="1200"/>
              <a:buNone/>
              <a:defRPr sz="1200">
                <a:solidFill>
                  <a:srgbClr val="888888"/>
                </a:solidFill>
              </a:defRPr>
            </a:lvl8pPr>
            <a:lvl9pPr indent="-228600" lvl="8" marL="4114800" algn="l">
              <a:lnSpc>
                <a:spcPct val="90000"/>
              </a:lnSpc>
              <a:spcBef>
                <a:spcPts val="1200"/>
              </a:spcBef>
              <a:spcAft>
                <a:spcPts val="1200"/>
              </a:spcAft>
              <a:buClr>
                <a:srgbClr val="888888"/>
              </a:buClr>
              <a:buSzPts val="1200"/>
              <a:buNone/>
              <a:defRPr sz="1200">
                <a:solidFill>
                  <a:srgbClr val="888888"/>
                </a:solidFill>
              </a:defRPr>
            </a:lvl9pPr>
          </a:lstStyle>
          <a:p/>
        </p:txBody>
      </p:sp>
      <p:sp>
        <p:nvSpPr>
          <p:cNvPr id="12" name="Google Shape;12;p2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25"/>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p2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slov i sadržaj" type="obj">
  <p:cSld name="OBJECT">
    <p:spTree>
      <p:nvGrpSpPr>
        <p:cNvPr id="15" name="Shape 15"/>
        <p:cNvGrpSpPr/>
        <p:nvPr/>
      </p:nvGrpSpPr>
      <p:grpSpPr>
        <a:xfrm>
          <a:off x="0" y="0"/>
          <a:ext cx="0" cy="0"/>
          <a:chOff x="0" y="0"/>
          <a:chExt cx="0" cy="0"/>
        </a:xfrm>
      </p:grpSpPr>
      <p:sp>
        <p:nvSpPr>
          <p:cNvPr id="16" name="Google Shape;16;p26"/>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26"/>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1200"/>
              </a:spcBef>
              <a:spcAft>
                <a:spcPts val="0"/>
              </a:spcAft>
              <a:buClr>
                <a:schemeClr val="dk1"/>
              </a:buClr>
              <a:buSzPts val="1800"/>
              <a:buChar char="○"/>
              <a:defRPr/>
            </a:lvl2pPr>
            <a:lvl3pPr indent="-342900" lvl="2" marL="1371600" algn="l">
              <a:lnSpc>
                <a:spcPct val="90000"/>
              </a:lnSpc>
              <a:spcBef>
                <a:spcPts val="1200"/>
              </a:spcBef>
              <a:spcAft>
                <a:spcPts val="0"/>
              </a:spcAft>
              <a:buClr>
                <a:schemeClr val="dk1"/>
              </a:buClr>
              <a:buSzPts val="1800"/>
              <a:buChar char="■"/>
              <a:defRPr/>
            </a:lvl3pPr>
            <a:lvl4pPr indent="-342900" lvl="3" marL="1828800" algn="l">
              <a:lnSpc>
                <a:spcPct val="90000"/>
              </a:lnSpc>
              <a:spcBef>
                <a:spcPts val="1200"/>
              </a:spcBef>
              <a:spcAft>
                <a:spcPts val="0"/>
              </a:spcAft>
              <a:buClr>
                <a:schemeClr val="dk1"/>
              </a:buClr>
              <a:buSzPts val="1800"/>
              <a:buChar char="●"/>
              <a:defRPr/>
            </a:lvl4pPr>
            <a:lvl5pPr indent="-342900" lvl="4" marL="2286000" algn="l">
              <a:lnSpc>
                <a:spcPct val="90000"/>
              </a:lnSpc>
              <a:spcBef>
                <a:spcPts val="1200"/>
              </a:spcBef>
              <a:spcAft>
                <a:spcPts val="0"/>
              </a:spcAft>
              <a:buClr>
                <a:schemeClr val="dk1"/>
              </a:buClr>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1200"/>
              </a:spcAft>
              <a:buClr>
                <a:schemeClr val="dk1"/>
              </a:buClr>
              <a:buSzPts val="1800"/>
              <a:buChar char="■"/>
              <a:defRPr/>
            </a:lvl9pPr>
          </a:lstStyle>
          <a:p/>
        </p:txBody>
      </p:sp>
      <p:sp>
        <p:nvSpPr>
          <p:cNvPr id="18" name="Google Shape;18;p2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p26"/>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 name="Google Shape;20;p2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3" name="Google Shape;23;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 name="Google Shape;2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1" name="Google Shape;31;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3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3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2" name="Google Shape;42;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4" name="Shape 44"/>
        <p:cNvGrpSpPr/>
        <p:nvPr/>
      </p:nvGrpSpPr>
      <p:grpSpPr>
        <a:xfrm>
          <a:off x="0" y="0"/>
          <a:ext cx="0" cy="0"/>
          <a:chOff x="0" y="0"/>
          <a:chExt cx="0" cy="0"/>
        </a:xfrm>
      </p:grpSpPr>
      <p:sp>
        <p:nvSpPr>
          <p:cNvPr id="45" name="Google Shape;45;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6" name="Google Shape;4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0" name="Google Shape;50;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 name="Google Shape;51;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2" name="Google Shape;5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5" name="Google Shape;55;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8" name="Google Shape;58;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h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jpg"/><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jpg"/><Relationship Id="rId4" Type="http://schemas.openxmlformats.org/officeDocument/2006/relationships/image" Target="../media/image12.jpg"/><Relationship Id="rId5" Type="http://schemas.openxmlformats.org/officeDocument/2006/relationships/image" Target="../media/image25.jpg"/><Relationship Id="rId6" Type="http://schemas.openxmlformats.org/officeDocument/2006/relationships/image" Target="../media/image18.jpg"/><Relationship Id="rId7" Type="http://schemas.openxmlformats.org/officeDocument/2006/relationships/image" Target="../media/image13.jpg"/><Relationship Id="rId8" Type="http://schemas.openxmlformats.org/officeDocument/2006/relationships/image" Target="../media/image2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www.ted.com/talks/kelly_mcgonigal_how_to_make_stress_your_friend" TargetMode="External"/><Relationship Id="rId4" Type="http://schemas.openxmlformats.org/officeDocument/2006/relationships/hyperlink" Target="https://krenizdravo.dnevnik.hr/zdravlje/mentalno_zdravlje/mindfulness-vjezbe-za-odrasle-i-djecu-prema-strucnjakinji" TargetMode="External"/><Relationship Id="rId5" Type="http://schemas.openxmlformats.org/officeDocument/2006/relationships/hyperlink" Target="https://www.kakosi.hr/"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 name="Shape 65"/>
        <p:cNvGrpSpPr/>
        <p:nvPr/>
      </p:nvGrpSpPr>
      <p:grpSpPr>
        <a:xfrm>
          <a:off x="0" y="0"/>
          <a:ext cx="0" cy="0"/>
          <a:chOff x="0" y="0"/>
          <a:chExt cx="0" cy="0"/>
        </a:xfrm>
      </p:grpSpPr>
      <p:sp>
        <p:nvSpPr>
          <p:cNvPr id="66" name="Google Shape;66;p1"/>
          <p:cNvSpPr/>
          <p:nvPr/>
        </p:nvSpPr>
        <p:spPr>
          <a:xfrm>
            <a:off x="0" y="0"/>
            <a:ext cx="9144000" cy="5143500"/>
          </a:xfrm>
          <a:prstGeom prst="rect">
            <a:avLst/>
          </a:prstGeom>
          <a:solidFill>
            <a:srgbClr val="66387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 name="Google Shape;67;p1"/>
          <p:cNvSpPr/>
          <p:nvPr/>
        </p:nvSpPr>
        <p:spPr>
          <a:xfrm>
            <a:off x="182880" y="192405"/>
            <a:ext cx="8778300" cy="4773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8" name="Google Shape;68;p1"/>
          <p:cNvCxnSpPr/>
          <p:nvPr/>
        </p:nvCxnSpPr>
        <p:spPr>
          <a:xfrm>
            <a:off x="2171700" y="4326153"/>
            <a:ext cx="4800600" cy="0"/>
          </a:xfrm>
          <a:prstGeom prst="straightConnector1">
            <a:avLst/>
          </a:prstGeom>
          <a:noFill/>
          <a:ln cap="flat" cmpd="sng" w="9525">
            <a:solidFill>
              <a:srgbClr val="663871"/>
            </a:solidFill>
            <a:prstDash val="solid"/>
            <a:miter lim="800000"/>
            <a:headEnd len="sm" w="sm" type="none"/>
            <a:tailEnd len="sm" w="sm" type="none"/>
          </a:ln>
        </p:spPr>
      </p:cxnSp>
      <p:sp>
        <p:nvSpPr>
          <p:cNvPr id="69" name="Google Shape;69;p1"/>
          <p:cNvSpPr txBox="1"/>
          <p:nvPr>
            <p:ph type="title"/>
          </p:nvPr>
        </p:nvSpPr>
        <p:spPr>
          <a:xfrm>
            <a:off x="832485" y="3208017"/>
            <a:ext cx="7475100" cy="11703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663871"/>
              </a:buClr>
              <a:buSzPts val="5000"/>
              <a:buFont typeface="Calibri"/>
              <a:buNone/>
            </a:pPr>
            <a:r>
              <a:rPr lang="hr" sz="5000">
                <a:solidFill>
                  <a:srgbClr val="663871"/>
                </a:solidFill>
              </a:rPr>
              <a:t>Stres</a:t>
            </a:r>
            <a:endParaRPr/>
          </a:p>
        </p:txBody>
      </p:sp>
      <p:pic>
        <p:nvPicPr>
          <p:cNvPr descr="Nine Ways Mindfulness Reduces Stress - Mindful" id="70" name="Google Shape;70;p1"/>
          <p:cNvPicPr preferRelativeResize="0"/>
          <p:nvPr/>
        </p:nvPicPr>
        <p:blipFill rotWithShape="1">
          <a:blip r:embed="rId3">
            <a:alphaModFix/>
          </a:blip>
          <a:srcRect b="15090" l="0" r="0" t="20666"/>
          <a:stretch/>
        </p:blipFill>
        <p:spPr>
          <a:xfrm>
            <a:off x="182880" y="192405"/>
            <a:ext cx="8778240" cy="282320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 name="Shape 74"/>
        <p:cNvGrpSpPr/>
        <p:nvPr/>
      </p:nvGrpSpPr>
      <p:grpSpPr>
        <a:xfrm>
          <a:off x="0" y="0"/>
          <a:ext cx="0" cy="0"/>
          <a:chOff x="0" y="0"/>
          <a:chExt cx="0" cy="0"/>
        </a:xfrm>
      </p:grpSpPr>
      <p:sp>
        <p:nvSpPr>
          <p:cNvPr id="75" name="Google Shape;75;p2"/>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 name="Google Shape;76;p2"/>
          <p:cNvSpPr/>
          <p:nvPr/>
        </p:nvSpPr>
        <p:spPr>
          <a:xfrm>
            <a:off x="418656" y="0"/>
            <a:ext cx="8375700" cy="1514100"/>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D8D8D8">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 name="Google Shape;77;p2"/>
          <p:cNvSpPr/>
          <p:nvPr/>
        </p:nvSpPr>
        <p:spPr>
          <a:xfrm>
            <a:off x="425196" y="0"/>
            <a:ext cx="8366700" cy="1509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 name="Google Shape;78;p2"/>
          <p:cNvSpPr txBox="1"/>
          <p:nvPr>
            <p:ph type="title"/>
          </p:nvPr>
        </p:nvSpPr>
        <p:spPr>
          <a:xfrm>
            <a:off x="836676" y="411480"/>
            <a:ext cx="7626000" cy="884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Calibri"/>
              <a:buNone/>
            </a:pPr>
            <a:r>
              <a:rPr lang="hr" sz="3500"/>
              <a:t>Stres</a:t>
            </a:r>
            <a:endParaRPr/>
          </a:p>
        </p:txBody>
      </p:sp>
      <p:sp>
        <p:nvSpPr>
          <p:cNvPr id="79" name="Google Shape;79;p2"/>
          <p:cNvSpPr/>
          <p:nvPr/>
        </p:nvSpPr>
        <p:spPr>
          <a:xfrm>
            <a:off x="374125" y="578099"/>
            <a:ext cx="96000" cy="52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Help, we're stressed out! Election stress and anxiety in America | king5.com" id="80" name="Google Shape;80;p2"/>
          <p:cNvPicPr preferRelativeResize="0"/>
          <p:nvPr/>
        </p:nvPicPr>
        <p:blipFill rotWithShape="1">
          <a:blip r:embed="rId3">
            <a:alphaModFix/>
          </a:blip>
          <a:srcRect b="0" l="7884" r="23485" t="0"/>
          <a:stretch/>
        </p:blipFill>
        <p:spPr>
          <a:xfrm>
            <a:off x="681228" y="1858518"/>
            <a:ext cx="4507392" cy="2770632"/>
          </a:xfrm>
          <a:prstGeom prst="rect">
            <a:avLst/>
          </a:prstGeom>
          <a:noFill/>
          <a:ln>
            <a:noFill/>
          </a:ln>
        </p:spPr>
      </p:pic>
      <p:sp>
        <p:nvSpPr>
          <p:cNvPr id="81" name="Google Shape;81;p2"/>
          <p:cNvSpPr txBox="1"/>
          <p:nvPr>
            <p:ph idx="1" type="body"/>
          </p:nvPr>
        </p:nvSpPr>
        <p:spPr>
          <a:xfrm>
            <a:off x="5558589" y="1858518"/>
            <a:ext cx="2904300" cy="2770800"/>
          </a:xfrm>
          <a:prstGeom prst="rect">
            <a:avLst/>
          </a:prstGeom>
          <a:noFill/>
          <a:ln>
            <a:noFill/>
          </a:ln>
        </p:spPr>
        <p:txBody>
          <a:bodyPr anchorCtr="0" anchor="ctr" bIns="45700" lIns="91425" spcFirstLastPara="1" rIns="91425" wrap="square" tIns="45700">
            <a:normAutofit fontScale="92500" lnSpcReduction="20000"/>
          </a:bodyPr>
          <a:lstStyle/>
          <a:p>
            <a:pPr indent="-161925" lvl="0" marL="171450" rtl="0" algn="l">
              <a:lnSpc>
                <a:spcPct val="90000"/>
              </a:lnSpc>
              <a:spcBef>
                <a:spcPts val="0"/>
              </a:spcBef>
              <a:spcAft>
                <a:spcPts val="0"/>
              </a:spcAft>
              <a:buClr>
                <a:schemeClr val="dk1"/>
              </a:buClr>
              <a:buSzPct val="100000"/>
              <a:buChar char="●"/>
            </a:pPr>
            <a:r>
              <a:rPr lang="hr" sz="2000"/>
              <a:t>Što za vas znači biti pod stresom? </a:t>
            </a:r>
            <a:endParaRPr/>
          </a:p>
          <a:p>
            <a:pPr indent="-44450" lvl="0" marL="171450" rtl="0" algn="l">
              <a:lnSpc>
                <a:spcPct val="90000"/>
              </a:lnSpc>
              <a:spcBef>
                <a:spcPts val="750"/>
              </a:spcBef>
              <a:spcAft>
                <a:spcPts val="0"/>
              </a:spcAft>
              <a:buClr>
                <a:schemeClr val="dk1"/>
              </a:buClr>
              <a:buSzPct val="100000"/>
              <a:buNone/>
            </a:pPr>
            <a:r>
              <a:t/>
            </a:r>
            <a:endParaRPr sz="2000"/>
          </a:p>
          <a:p>
            <a:pPr indent="-161925" lvl="0" marL="171450" rtl="0" algn="l">
              <a:lnSpc>
                <a:spcPct val="90000"/>
              </a:lnSpc>
              <a:spcBef>
                <a:spcPts val="750"/>
              </a:spcBef>
              <a:spcAft>
                <a:spcPts val="0"/>
              </a:spcAft>
              <a:buClr>
                <a:schemeClr val="dk1"/>
              </a:buClr>
              <a:buSzPct val="100000"/>
              <a:buChar char="●"/>
            </a:pPr>
            <a:r>
              <a:rPr lang="hr" sz="2000"/>
              <a:t>Kako znate da ste pod stresom? </a:t>
            </a:r>
            <a:endParaRPr/>
          </a:p>
          <a:p>
            <a:pPr indent="-44450" lvl="0" marL="171450" rtl="0" algn="l">
              <a:lnSpc>
                <a:spcPct val="90000"/>
              </a:lnSpc>
              <a:spcBef>
                <a:spcPts val="750"/>
              </a:spcBef>
              <a:spcAft>
                <a:spcPts val="0"/>
              </a:spcAft>
              <a:buClr>
                <a:schemeClr val="dk1"/>
              </a:buClr>
              <a:buSzPct val="100000"/>
              <a:buNone/>
            </a:pPr>
            <a:r>
              <a:t/>
            </a:r>
            <a:endParaRPr sz="2000"/>
          </a:p>
          <a:p>
            <a:pPr indent="-161925" lvl="0" marL="171450" rtl="0" algn="l">
              <a:lnSpc>
                <a:spcPct val="90000"/>
              </a:lnSpc>
              <a:spcBef>
                <a:spcPts val="750"/>
              </a:spcBef>
              <a:spcAft>
                <a:spcPts val="0"/>
              </a:spcAft>
              <a:buClr>
                <a:schemeClr val="dk1"/>
              </a:buClr>
              <a:buSzPct val="100000"/>
              <a:buChar char="●"/>
            </a:pPr>
            <a:r>
              <a:rPr lang="hr" sz="2000"/>
              <a:t>Što vam izaziva stres?</a:t>
            </a:r>
            <a:endParaRPr/>
          </a:p>
          <a:p>
            <a:pPr indent="-44450" lvl="0" marL="171450" rtl="0" algn="l">
              <a:lnSpc>
                <a:spcPct val="90000"/>
              </a:lnSpc>
              <a:spcBef>
                <a:spcPts val="750"/>
              </a:spcBef>
              <a:spcAft>
                <a:spcPts val="0"/>
              </a:spcAft>
              <a:buClr>
                <a:schemeClr val="dk1"/>
              </a:buClr>
              <a:buSzPct val="100000"/>
              <a:buNone/>
            </a:pPr>
            <a:r>
              <a:t/>
            </a:r>
            <a:endParaRPr sz="2000"/>
          </a:p>
          <a:p>
            <a:pPr indent="-69850" lvl="0" marL="171450" rtl="0" algn="l">
              <a:lnSpc>
                <a:spcPct val="90000"/>
              </a:lnSpc>
              <a:spcBef>
                <a:spcPts val="750"/>
              </a:spcBef>
              <a:spcAft>
                <a:spcPts val="0"/>
              </a:spcAft>
              <a:buClr>
                <a:schemeClr val="dk1"/>
              </a:buClr>
              <a:buSzPct val="100000"/>
              <a:buNone/>
            </a:pPr>
            <a:r>
              <a:t/>
            </a:r>
            <a:endParaRPr sz="1600"/>
          </a:p>
          <a:p>
            <a:pPr indent="-171450" lvl="0" marL="171450" rtl="0" algn="l">
              <a:lnSpc>
                <a:spcPct val="90000"/>
              </a:lnSpc>
              <a:spcBef>
                <a:spcPts val="750"/>
              </a:spcBef>
              <a:spcAft>
                <a:spcPts val="1200"/>
              </a:spcAft>
              <a:buClr>
                <a:schemeClr val="dk1"/>
              </a:buClr>
              <a:buSzPct val="100000"/>
              <a:buFont typeface="Arial"/>
              <a:buNone/>
            </a:pPr>
            <a:r>
              <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p3"/>
          <p:cNvSpPr/>
          <p:nvPr/>
        </p:nvSpPr>
        <p:spPr>
          <a:xfrm>
            <a:off x="0" y="0"/>
            <a:ext cx="9144000" cy="5143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 name="Google Shape;88;p3"/>
          <p:cNvSpPr txBox="1"/>
          <p:nvPr>
            <p:ph type="title"/>
          </p:nvPr>
        </p:nvSpPr>
        <p:spPr>
          <a:xfrm>
            <a:off x="442170" y="642135"/>
            <a:ext cx="3420300" cy="84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Calibri"/>
              <a:buNone/>
            </a:pPr>
            <a:r>
              <a:rPr b="1" lang="hr" sz="3500"/>
              <a:t>Stres</a:t>
            </a:r>
            <a:endParaRPr/>
          </a:p>
        </p:txBody>
      </p:sp>
      <p:grpSp>
        <p:nvGrpSpPr>
          <p:cNvPr id="89" name="Google Shape;89;p3"/>
          <p:cNvGrpSpPr/>
          <p:nvPr/>
        </p:nvGrpSpPr>
        <p:grpSpPr>
          <a:xfrm>
            <a:off x="0" y="812613"/>
            <a:ext cx="266431" cy="505125"/>
            <a:chOff x="0" y="823811"/>
            <a:chExt cx="355241" cy="673500"/>
          </a:xfrm>
        </p:grpSpPr>
        <p:sp>
          <p:nvSpPr>
            <p:cNvPr id="90" name="Google Shape;90;p3"/>
            <p:cNvSpPr/>
            <p:nvPr/>
          </p:nvSpPr>
          <p:spPr>
            <a:xfrm>
              <a:off x="0" y="823811"/>
              <a:ext cx="87300" cy="67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 name="Google Shape;91;p3"/>
            <p:cNvSpPr/>
            <p:nvPr/>
          </p:nvSpPr>
          <p:spPr>
            <a:xfrm>
              <a:off x="159341" y="823811"/>
              <a:ext cx="195900" cy="67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92" name="Google Shape;92;p3"/>
          <p:cNvSpPr/>
          <p:nvPr/>
        </p:nvSpPr>
        <p:spPr>
          <a:xfrm flipH="1">
            <a:off x="498873" y="1567927"/>
            <a:ext cx="3223200" cy="20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3"/>
          <p:cNvSpPr txBox="1"/>
          <p:nvPr>
            <p:ph idx="1" type="body"/>
          </p:nvPr>
        </p:nvSpPr>
        <p:spPr>
          <a:xfrm>
            <a:off x="443039" y="1747879"/>
            <a:ext cx="3419700" cy="2984700"/>
          </a:xfrm>
          <a:prstGeom prst="rect">
            <a:avLst/>
          </a:prstGeom>
          <a:noFill/>
          <a:ln>
            <a:noFill/>
          </a:ln>
        </p:spPr>
        <p:txBody>
          <a:bodyPr anchorCtr="0" anchor="ctr" bIns="45700" lIns="91425" spcFirstLastPara="1" rIns="91425" wrap="square" tIns="45700">
            <a:normAutofit fontScale="92500" lnSpcReduction="20000"/>
          </a:bodyPr>
          <a:lstStyle/>
          <a:p>
            <a:pPr indent="-161925" lvl="0" marL="171450" rtl="0" algn="l">
              <a:lnSpc>
                <a:spcPct val="90000"/>
              </a:lnSpc>
              <a:spcBef>
                <a:spcPts val="0"/>
              </a:spcBef>
              <a:spcAft>
                <a:spcPts val="0"/>
              </a:spcAft>
              <a:buClr>
                <a:schemeClr val="dk1"/>
              </a:buClr>
              <a:buSzPct val="100000"/>
              <a:buChar char="●"/>
            </a:pPr>
            <a:r>
              <a:rPr lang="hr" sz="2000"/>
              <a:t>Stanje tjelesne i psihološke </a:t>
            </a:r>
            <a:r>
              <a:rPr b="1" lang="hr" sz="2000"/>
              <a:t>pobuđenosti</a:t>
            </a:r>
            <a:r>
              <a:rPr lang="hr" sz="2000"/>
              <a:t> koje nastaje kada smo suočeni s problemom ili zahtjevima koje pred nas postavlja okolina ili mi sami, a </a:t>
            </a:r>
            <a:endParaRPr/>
          </a:p>
          <a:p>
            <a:pPr indent="-44450" lvl="0" marL="171450" rtl="0" algn="l">
              <a:lnSpc>
                <a:spcPct val="90000"/>
              </a:lnSpc>
              <a:spcBef>
                <a:spcPts val="750"/>
              </a:spcBef>
              <a:spcAft>
                <a:spcPts val="0"/>
              </a:spcAft>
              <a:buClr>
                <a:schemeClr val="dk1"/>
              </a:buClr>
              <a:buSzPct val="100000"/>
              <a:buNone/>
            </a:pPr>
            <a:r>
              <a:t/>
            </a:r>
            <a:endParaRPr sz="2000"/>
          </a:p>
          <a:p>
            <a:pPr indent="-161925" lvl="0" marL="171450" rtl="0" algn="l">
              <a:lnSpc>
                <a:spcPct val="90000"/>
              </a:lnSpc>
              <a:spcBef>
                <a:spcPts val="750"/>
              </a:spcBef>
              <a:spcAft>
                <a:spcPts val="0"/>
              </a:spcAft>
              <a:buClr>
                <a:schemeClr val="dk1"/>
              </a:buClr>
              <a:buSzPct val="100000"/>
              <a:buChar char="●"/>
            </a:pPr>
            <a:r>
              <a:rPr lang="hr" sz="2000"/>
              <a:t>za koje </a:t>
            </a:r>
            <a:r>
              <a:rPr b="1" lang="hr" sz="2000"/>
              <a:t>procjenjujemo</a:t>
            </a:r>
            <a:r>
              <a:rPr lang="hr" sz="2000"/>
              <a:t> da se ne možemo nositi s njima ili da moramo ulagati dodane napore da bismo ih svladali. </a:t>
            </a:r>
            <a:endParaRPr/>
          </a:p>
          <a:p>
            <a:pPr indent="-171450" lvl="0" marL="171450" rtl="0" algn="l">
              <a:lnSpc>
                <a:spcPct val="90000"/>
              </a:lnSpc>
              <a:spcBef>
                <a:spcPts val="750"/>
              </a:spcBef>
              <a:spcAft>
                <a:spcPts val="0"/>
              </a:spcAft>
              <a:buClr>
                <a:schemeClr val="dk1"/>
              </a:buClr>
              <a:buSzPct val="100000"/>
              <a:buFont typeface="Noto Sans Symbols"/>
              <a:buNone/>
            </a:pPr>
            <a:r>
              <a:t/>
            </a:r>
            <a:endParaRPr sz="1700"/>
          </a:p>
          <a:p>
            <a:pPr indent="-171450" lvl="0" marL="171450" rtl="0" algn="l">
              <a:lnSpc>
                <a:spcPct val="90000"/>
              </a:lnSpc>
              <a:spcBef>
                <a:spcPts val="750"/>
              </a:spcBef>
              <a:spcAft>
                <a:spcPts val="1200"/>
              </a:spcAft>
              <a:buClr>
                <a:schemeClr val="dk1"/>
              </a:buClr>
              <a:buSzPct val="100000"/>
              <a:buFont typeface="Arial"/>
              <a:buNone/>
            </a:pPr>
            <a:r>
              <a:t/>
            </a:r>
            <a:endParaRPr sz="1700"/>
          </a:p>
        </p:txBody>
      </p:sp>
      <p:sp>
        <p:nvSpPr>
          <p:cNvPr id="94" name="Google Shape;94;p3"/>
          <p:cNvSpPr/>
          <p:nvPr/>
        </p:nvSpPr>
        <p:spPr>
          <a:xfrm flipH="1">
            <a:off x="8023200" y="0"/>
            <a:ext cx="1120800" cy="514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 name="Google Shape;95;p3"/>
          <p:cNvSpPr/>
          <p:nvPr/>
        </p:nvSpPr>
        <p:spPr>
          <a:xfrm>
            <a:off x="4264357" y="385390"/>
            <a:ext cx="4506900" cy="4376100"/>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his Is Your Skin on Stress - The New York Times" id="96" name="Google Shape;96;p3"/>
          <p:cNvPicPr preferRelativeResize="0"/>
          <p:nvPr/>
        </p:nvPicPr>
        <p:blipFill rotWithShape="1">
          <a:blip r:embed="rId3">
            <a:alphaModFix/>
          </a:blip>
          <a:srcRect b="0" l="6846" r="9958" t="0"/>
          <a:stretch/>
        </p:blipFill>
        <p:spPr>
          <a:xfrm>
            <a:off x="4483341" y="599514"/>
            <a:ext cx="4069056" cy="39444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628650" y="273869"/>
            <a:ext cx="2690100" cy="446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hr">
                <a:solidFill>
                  <a:schemeClr val="dk2"/>
                </a:solidFill>
              </a:rPr>
              <a:t>Kako nastaje </a:t>
            </a:r>
            <a:br>
              <a:rPr b="1" lang="hr">
                <a:solidFill>
                  <a:schemeClr val="dk2"/>
                </a:solidFill>
              </a:rPr>
            </a:br>
            <a:r>
              <a:rPr b="1" lang="hr">
                <a:solidFill>
                  <a:schemeClr val="dk2"/>
                </a:solidFill>
              </a:rPr>
              <a:t>doživljaj stresa? </a:t>
            </a:r>
            <a:endParaRPr b="1">
              <a:solidFill>
                <a:schemeClr val="dk2"/>
              </a:solidFill>
            </a:endParaRPr>
          </a:p>
        </p:txBody>
      </p:sp>
      <p:pic>
        <p:nvPicPr>
          <p:cNvPr id="102" name="Google Shape;102;p4"/>
          <p:cNvPicPr preferRelativeResize="0"/>
          <p:nvPr/>
        </p:nvPicPr>
        <p:blipFill rotWithShape="1">
          <a:blip r:embed="rId3">
            <a:alphaModFix/>
          </a:blip>
          <a:srcRect b="0" l="0" r="0" t="0"/>
          <a:stretch/>
        </p:blipFill>
        <p:spPr>
          <a:xfrm>
            <a:off x="3749250" y="131125"/>
            <a:ext cx="4963601" cy="4881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5"/>
          <p:cNvSpPr/>
          <p:nvPr/>
        </p:nvSpPr>
        <p:spPr>
          <a:xfrm>
            <a:off x="0" y="0"/>
            <a:ext cx="9144000" cy="5143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 name="Google Shape;108;p5"/>
          <p:cNvSpPr txBox="1"/>
          <p:nvPr>
            <p:ph type="title"/>
          </p:nvPr>
        </p:nvSpPr>
        <p:spPr>
          <a:xfrm>
            <a:off x="419796" y="139798"/>
            <a:ext cx="7549500" cy="973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alibri"/>
              <a:buNone/>
            </a:pPr>
            <a:r>
              <a:rPr lang="hr" sz="4200"/>
              <a:t>Što izaziva stres? </a:t>
            </a:r>
            <a:endParaRPr sz="4200"/>
          </a:p>
        </p:txBody>
      </p:sp>
      <p:sp>
        <p:nvSpPr>
          <p:cNvPr id="109" name="Google Shape;109;p5"/>
          <p:cNvSpPr txBox="1"/>
          <p:nvPr>
            <p:ph idx="1" type="body"/>
          </p:nvPr>
        </p:nvSpPr>
        <p:spPr>
          <a:xfrm>
            <a:off x="332050" y="1557200"/>
            <a:ext cx="8280600" cy="3122700"/>
          </a:xfrm>
          <a:prstGeom prst="rect">
            <a:avLst/>
          </a:prstGeom>
          <a:noFill/>
          <a:ln>
            <a:noFill/>
          </a:ln>
        </p:spPr>
        <p:txBody>
          <a:bodyPr anchorCtr="0" anchor="ctr" bIns="45700" lIns="91425" spcFirstLastPara="1" rIns="91425" wrap="square" tIns="45700">
            <a:noAutofit/>
          </a:bodyPr>
          <a:lstStyle/>
          <a:p>
            <a:pPr indent="-171450" lvl="0" marL="171450" rtl="0" algn="l">
              <a:lnSpc>
                <a:spcPct val="130000"/>
              </a:lnSpc>
              <a:spcBef>
                <a:spcPts val="0"/>
              </a:spcBef>
              <a:spcAft>
                <a:spcPts val="0"/>
              </a:spcAft>
              <a:buClr>
                <a:schemeClr val="dk1"/>
              </a:buClr>
              <a:buSzPts val="2423"/>
              <a:buChar char="●"/>
            </a:pPr>
            <a:r>
              <a:rPr b="1" lang="hr" sz="2422"/>
              <a:t>Stresori</a:t>
            </a:r>
            <a:r>
              <a:rPr lang="hr" sz="2422"/>
              <a:t> – situacije, događaji </a:t>
            </a:r>
            <a:endParaRPr sz="2422"/>
          </a:p>
          <a:p>
            <a:pPr indent="0" lvl="0" marL="171450" rtl="0" algn="l">
              <a:lnSpc>
                <a:spcPct val="130000"/>
              </a:lnSpc>
              <a:spcBef>
                <a:spcPts val="0"/>
              </a:spcBef>
              <a:spcAft>
                <a:spcPts val="0"/>
              </a:spcAft>
              <a:buSzPts val="688"/>
              <a:buNone/>
            </a:pPr>
            <a:r>
              <a:rPr lang="hr" sz="2422"/>
              <a:t>ili podražaji koji izazivaju stres</a:t>
            </a:r>
            <a:endParaRPr sz="2422"/>
          </a:p>
          <a:p>
            <a:pPr indent="-382450" lvl="0" marL="914400" rtl="0" algn="l">
              <a:lnSpc>
                <a:spcPct val="130000"/>
              </a:lnSpc>
              <a:spcBef>
                <a:spcPts val="0"/>
              </a:spcBef>
              <a:spcAft>
                <a:spcPts val="0"/>
              </a:spcAft>
              <a:buSzPts val="2423"/>
              <a:buChar char="●"/>
            </a:pPr>
            <a:r>
              <a:rPr b="1" lang="hr" sz="2422"/>
              <a:t>unutarnji </a:t>
            </a:r>
            <a:r>
              <a:rPr lang="hr" sz="2422"/>
              <a:t>i </a:t>
            </a:r>
            <a:r>
              <a:rPr b="1" lang="hr" sz="2422"/>
              <a:t>vanjski </a:t>
            </a:r>
            <a:endParaRPr sz="2485"/>
          </a:p>
          <a:p>
            <a:pPr indent="-63500" lvl="0" marL="171450" rtl="0" algn="l">
              <a:lnSpc>
                <a:spcPct val="70000"/>
              </a:lnSpc>
              <a:spcBef>
                <a:spcPts val="750"/>
              </a:spcBef>
              <a:spcAft>
                <a:spcPts val="0"/>
              </a:spcAft>
              <a:buClr>
                <a:schemeClr val="dk1"/>
              </a:buClr>
              <a:buSzPts val="1063"/>
              <a:buNone/>
            </a:pPr>
            <a:r>
              <a:t/>
            </a:r>
            <a:endParaRPr b="1" sz="2422"/>
          </a:p>
          <a:p>
            <a:pPr indent="-171450" lvl="0" marL="171450" rtl="0" algn="l">
              <a:lnSpc>
                <a:spcPct val="70000"/>
              </a:lnSpc>
              <a:spcBef>
                <a:spcPts val="750"/>
              </a:spcBef>
              <a:spcAft>
                <a:spcPts val="0"/>
              </a:spcAft>
              <a:buClr>
                <a:schemeClr val="dk1"/>
              </a:buClr>
              <a:buSzPts val="2423"/>
              <a:buChar char="●"/>
            </a:pPr>
            <a:r>
              <a:rPr b="1" lang="hr" sz="2422"/>
              <a:t>Iste situacije ne izazivaju svim ljudima stres! </a:t>
            </a:r>
            <a:endParaRPr sz="2485"/>
          </a:p>
          <a:p>
            <a:pPr indent="-63500" lvl="0" marL="171450" rtl="0" algn="l">
              <a:lnSpc>
                <a:spcPct val="70000"/>
              </a:lnSpc>
              <a:spcBef>
                <a:spcPts val="750"/>
              </a:spcBef>
              <a:spcAft>
                <a:spcPts val="0"/>
              </a:spcAft>
              <a:buClr>
                <a:schemeClr val="dk1"/>
              </a:buClr>
              <a:buSzPts val="1063"/>
              <a:buNone/>
            </a:pPr>
            <a:r>
              <a:t/>
            </a:r>
            <a:endParaRPr b="1" sz="2422"/>
          </a:p>
          <a:p>
            <a:pPr indent="-171450" lvl="0" marL="171450" rtl="0" algn="l">
              <a:lnSpc>
                <a:spcPct val="70000"/>
              </a:lnSpc>
              <a:spcBef>
                <a:spcPts val="750"/>
              </a:spcBef>
              <a:spcAft>
                <a:spcPts val="0"/>
              </a:spcAft>
              <a:buClr>
                <a:schemeClr val="dk1"/>
              </a:buClr>
              <a:buSzPts val="2423"/>
              <a:buChar char="●"/>
            </a:pPr>
            <a:r>
              <a:rPr lang="hr" sz="2422"/>
              <a:t>Važno je kako </a:t>
            </a:r>
            <a:r>
              <a:rPr b="1" lang="hr" sz="2422"/>
              <a:t>procjenjujemo</a:t>
            </a:r>
            <a:r>
              <a:rPr lang="hr" sz="2422"/>
              <a:t> </a:t>
            </a:r>
            <a:r>
              <a:rPr b="1" lang="hr" sz="2422"/>
              <a:t>situaciju</a:t>
            </a:r>
            <a:r>
              <a:rPr lang="hr" sz="2422"/>
              <a:t> i našu </a:t>
            </a:r>
            <a:r>
              <a:rPr b="1" lang="hr" sz="2422"/>
              <a:t>sposobnost</a:t>
            </a:r>
            <a:r>
              <a:rPr lang="hr" sz="2422"/>
              <a:t> da se s njom nosimo</a:t>
            </a:r>
            <a:endParaRPr sz="1562"/>
          </a:p>
        </p:txBody>
      </p:sp>
      <p:pic>
        <p:nvPicPr>
          <p:cNvPr descr="Pin on Illustrators" id="110" name="Google Shape;110;p5"/>
          <p:cNvPicPr preferRelativeResize="0"/>
          <p:nvPr/>
        </p:nvPicPr>
        <p:blipFill rotWithShape="1">
          <a:blip r:embed="rId3">
            <a:alphaModFix/>
          </a:blip>
          <a:srcRect b="0" l="10428" r="11573" t="0"/>
          <a:stretch/>
        </p:blipFill>
        <p:spPr>
          <a:xfrm>
            <a:off x="5391626" y="446999"/>
            <a:ext cx="3436650" cy="2478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6"/>
          <p:cNvSpPr txBox="1"/>
          <p:nvPr>
            <p:ph type="title"/>
          </p:nvPr>
        </p:nvSpPr>
        <p:spPr>
          <a:xfrm>
            <a:off x="2004107" y="2164"/>
            <a:ext cx="5143200" cy="1008600"/>
          </a:xfrm>
          <a:prstGeom prst="rect">
            <a:avLst/>
          </a:prstGeom>
          <a:noFill/>
          <a:ln>
            <a:noFill/>
          </a:ln>
        </p:spPr>
        <p:txBody>
          <a:bodyPr anchorCtr="0" anchor="b" bIns="68575" lIns="82300" spcFirstLastPara="1" rIns="82300" wrap="square" tIns="82300">
            <a:normAutofit/>
          </a:bodyPr>
          <a:lstStyle/>
          <a:p>
            <a:pPr indent="0" lvl="0" marL="0" rtl="0" algn="ctr">
              <a:lnSpc>
                <a:spcPct val="120000"/>
              </a:lnSpc>
              <a:spcBef>
                <a:spcPts val="0"/>
              </a:spcBef>
              <a:spcAft>
                <a:spcPts val="0"/>
              </a:spcAft>
              <a:buClr>
                <a:schemeClr val="dk1"/>
              </a:buClr>
              <a:buSzPts val="2300"/>
              <a:buFont typeface="Meiryo"/>
              <a:buNone/>
            </a:pPr>
            <a:r>
              <a:rPr b="1" lang="hr" sz="2700">
                <a:solidFill>
                  <a:schemeClr val="dk1"/>
                </a:solidFill>
              </a:rPr>
              <a:t>Vrste stresora </a:t>
            </a:r>
            <a:endParaRPr b="1" sz="2700">
              <a:solidFill>
                <a:schemeClr val="dk1"/>
              </a:solidFill>
            </a:endParaRPr>
          </a:p>
        </p:txBody>
      </p:sp>
      <p:sp>
        <p:nvSpPr>
          <p:cNvPr id="116" name="Google Shape;116;p6"/>
          <p:cNvSpPr txBox="1"/>
          <p:nvPr>
            <p:ph idx="1" type="body"/>
          </p:nvPr>
        </p:nvSpPr>
        <p:spPr>
          <a:xfrm>
            <a:off x="1440656" y="1580322"/>
            <a:ext cx="6294000" cy="2135100"/>
          </a:xfrm>
          <a:prstGeom prst="rect">
            <a:avLst/>
          </a:prstGeom>
          <a:noFill/>
          <a:ln>
            <a:noFill/>
          </a:ln>
        </p:spPr>
        <p:txBody>
          <a:bodyPr anchorCtr="0" anchor="t" bIns="68575" lIns="82300" spcFirstLastPara="1" rIns="82300" wrap="square" tIns="82300">
            <a:normAutofit/>
          </a:bodyPr>
          <a:lstStyle/>
          <a:p>
            <a:pPr indent="0" lvl="0" marL="0" rtl="0" algn="l">
              <a:lnSpc>
                <a:spcPct val="140000"/>
              </a:lnSpc>
              <a:spcBef>
                <a:spcPts val="0"/>
              </a:spcBef>
              <a:spcAft>
                <a:spcPts val="1200"/>
              </a:spcAft>
              <a:buClr>
                <a:srgbClr val="3F3F3F"/>
              </a:buClr>
              <a:buSzPts val="1400"/>
              <a:buNone/>
            </a:pPr>
            <a:r>
              <a:rPr lang="hr"/>
              <a:t>Dskfjkds </a:t>
            </a:r>
            <a:endParaRPr/>
          </a:p>
        </p:txBody>
      </p:sp>
      <p:sp>
        <p:nvSpPr>
          <p:cNvPr id="117" name="Google Shape;117;p6"/>
          <p:cNvSpPr txBox="1"/>
          <p:nvPr/>
        </p:nvSpPr>
        <p:spPr>
          <a:xfrm>
            <a:off x="2312663" y="4554390"/>
            <a:ext cx="4567800" cy="700200"/>
          </a:xfrm>
          <a:prstGeom prst="rect">
            <a:avLst/>
          </a:prstGeom>
          <a:noFill/>
          <a:ln>
            <a:noFill/>
          </a:ln>
        </p:spPr>
        <p:txBody>
          <a:bodyPr anchorCtr="0" anchor="t" bIns="34275" lIns="68575" spcFirstLastPara="1" rIns="68575" wrap="square" tIns="34275">
            <a:spAutoFit/>
          </a:bodyPr>
          <a:lstStyle/>
          <a:p>
            <a:pPr indent="-254000" lvl="0" marL="254000" marR="0" rtl="0" algn="ctr">
              <a:lnSpc>
                <a:spcPct val="100000"/>
              </a:lnSpc>
              <a:spcBef>
                <a:spcPts val="0"/>
              </a:spcBef>
              <a:spcAft>
                <a:spcPts val="0"/>
              </a:spcAft>
              <a:buClr>
                <a:schemeClr val="dk1"/>
              </a:buClr>
              <a:buSzPts val="2300"/>
              <a:buFont typeface="Arial"/>
              <a:buChar char="•"/>
            </a:pPr>
            <a:r>
              <a:rPr b="0" i="0" lang="hr" sz="1900" u="none" cap="none" strike="noStrike">
                <a:solidFill>
                  <a:schemeClr val="dk1"/>
                </a:solidFill>
                <a:latin typeface="Arial"/>
                <a:ea typeface="Arial"/>
                <a:cs typeface="Arial"/>
                <a:sym typeface="Arial"/>
              </a:rPr>
              <a:t>vanjski  i unutarnji</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Meiryo"/>
              <a:ea typeface="Meiryo"/>
              <a:cs typeface="Meiryo"/>
              <a:sym typeface="Meiryo"/>
            </a:endParaRPr>
          </a:p>
        </p:txBody>
      </p:sp>
      <p:sp>
        <p:nvSpPr>
          <p:cNvPr id="118" name="Google Shape;118;p6"/>
          <p:cNvSpPr txBox="1"/>
          <p:nvPr/>
        </p:nvSpPr>
        <p:spPr>
          <a:xfrm>
            <a:off x="335051" y="1208399"/>
            <a:ext cx="2523300" cy="900300"/>
          </a:xfrm>
          <a:prstGeom prst="rect">
            <a:avLst/>
          </a:prstGeom>
          <a:solidFill>
            <a:srgbClr val="F5D798"/>
          </a:solidFill>
          <a:ln cap="flat" cmpd="sng" w="9525">
            <a:solidFill>
              <a:schemeClr val="accent4"/>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800"/>
              <a:buFont typeface="Arial"/>
              <a:buNone/>
            </a:pPr>
            <a:r>
              <a:rPr b="1" i="0" lang="hr" sz="1800" u="none" cap="none" strike="noStrike">
                <a:solidFill>
                  <a:schemeClr val="dk1"/>
                </a:solidFill>
                <a:latin typeface="Arial"/>
                <a:ea typeface="Arial"/>
                <a:cs typeface="Arial"/>
                <a:sym typeface="Arial"/>
              </a:rPr>
              <a:t>Svakidašnje situacije</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Meiryo"/>
              <a:ea typeface="Meiryo"/>
              <a:cs typeface="Meiryo"/>
              <a:sym typeface="Meiryo"/>
            </a:endParaRPr>
          </a:p>
        </p:txBody>
      </p:sp>
      <p:sp>
        <p:nvSpPr>
          <p:cNvPr id="119" name="Google Shape;119;p6"/>
          <p:cNvSpPr txBox="1"/>
          <p:nvPr/>
        </p:nvSpPr>
        <p:spPr>
          <a:xfrm>
            <a:off x="6331777" y="1176202"/>
            <a:ext cx="2523300" cy="792600"/>
          </a:xfrm>
          <a:prstGeom prst="rect">
            <a:avLst/>
          </a:prstGeom>
          <a:solidFill>
            <a:srgbClr val="D6CFC1"/>
          </a:solidFill>
          <a:ln cap="flat" cmpd="sng" w="9525">
            <a:solidFill>
              <a:schemeClr val="accent4"/>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br>
              <a:rPr b="0" i="0" lang="hr" sz="1800" u="none" cap="none" strike="noStrike">
                <a:solidFill>
                  <a:schemeClr val="dk1"/>
                </a:solidFill>
                <a:latin typeface="Arial"/>
                <a:ea typeface="Arial"/>
                <a:cs typeface="Arial"/>
                <a:sym typeface="Arial"/>
              </a:rPr>
            </a:br>
            <a:r>
              <a:rPr b="1" i="0" lang="hr" sz="1800" u="none" cap="none" strike="noStrike">
                <a:solidFill>
                  <a:schemeClr val="dk1"/>
                </a:solidFill>
                <a:latin typeface="Arial"/>
                <a:ea typeface="Arial"/>
                <a:cs typeface="Arial"/>
                <a:sym typeface="Arial"/>
              </a:rPr>
              <a:t>Traumatski događaji</a:t>
            </a:r>
            <a:br>
              <a:rPr b="1" i="0" lang="hr" sz="1800" u="none" cap="none" strike="noStrike">
                <a:solidFill>
                  <a:schemeClr val="dk1"/>
                </a:solidFill>
                <a:latin typeface="Arial"/>
                <a:ea typeface="Arial"/>
                <a:cs typeface="Arial"/>
                <a:sym typeface="Arial"/>
              </a:rPr>
            </a:br>
            <a:endParaRPr b="1" i="0" sz="1100" u="none" cap="none" strike="noStrike">
              <a:solidFill>
                <a:srgbClr val="000000"/>
              </a:solidFill>
              <a:latin typeface="Arial"/>
              <a:ea typeface="Arial"/>
              <a:cs typeface="Arial"/>
              <a:sym typeface="Arial"/>
            </a:endParaRPr>
          </a:p>
        </p:txBody>
      </p:sp>
      <p:sp>
        <p:nvSpPr>
          <p:cNvPr id="120" name="Google Shape;120;p6"/>
          <p:cNvSpPr txBox="1"/>
          <p:nvPr/>
        </p:nvSpPr>
        <p:spPr>
          <a:xfrm>
            <a:off x="3337450" y="1208401"/>
            <a:ext cx="2523300" cy="792600"/>
          </a:xfrm>
          <a:prstGeom prst="rect">
            <a:avLst/>
          </a:prstGeom>
          <a:solidFill>
            <a:srgbClr val="E3D5B8"/>
          </a:solidFill>
          <a:ln cap="flat" cmpd="sng" w="9525">
            <a:solidFill>
              <a:schemeClr val="accent4"/>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Meiryo"/>
              <a:ea typeface="Meiryo"/>
              <a:cs typeface="Meiryo"/>
              <a:sym typeface="Meiryo"/>
            </a:endParaRPr>
          </a:p>
          <a:p>
            <a:pPr indent="0" lvl="0" marL="0" marR="0" rtl="0" algn="ctr">
              <a:lnSpc>
                <a:spcPct val="100000"/>
              </a:lnSpc>
              <a:spcBef>
                <a:spcPts val="0"/>
              </a:spcBef>
              <a:spcAft>
                <a:spcPts val="0"/>
              </a:spcAft>
              <a:buClr>
                <a:srgbClr val="000000"/>
              </a:buClr>
              <a:buSzPts val="1800"/>
              <a:buFont typeface="Arial"/>
              <a:buNone/>
            </a:pPr>
            <a:r>
              <a:rPr b="1" i="0" lang="hr" sz="1800" u="none" cap="none" strike="noStrike">
                <a:solidFill>
                  <a:schemeClr val="dk1"/>
                </a:solidFill>
                <a:latin typeface="Arial"/>
                <a:ea typeface="Arial"/>
                <a:cs typeface="Arial"/>
                <a:sym typeface="Arial"/>
              </a:rPr>
              <a:t>Životne promjene</a:t>
            </a:r>
            <a:br>
              <a:rPr b="1" i="0" lang="hr" sz="1800" u="none" cap="none" strike="noStrike">
                <a:solidFill>
                  <a:schemeClr val="dk1"/>
                </a:solidFill>
                <a:latin typeface="Arial"/>
                <a:ea typeface="Arial"/>
                <a:cs typeface="Arial"/>
                <a:sym typeface="Arial"/>
              </a:rPr>
            </a:br>
            <a:endParaRPr b="1" i="0" sz="1100" u="none" cap="none" strike="noStrike">
              <a:solidFill>
                <a:srgbClr val="000000"/>
              </a:solidFill>
              <a:latin typeface="Arial"/>
              <a:ea typeface="Arial"/>
              <a:cs typeface="Arial"/>
              <a:sym typeface="Arial"/>
            </a:endParaRPr>
          </a:p>
        </p:txBody>
      </p:sp>
      <p:pic>
        <p:nvPicPr>
          <p:cNvPr descr="Slika na kojoj se prikazuje tekst&#10;&#10;Opis je automatski generiran" id="121" name="Google Shape;121;p6"/>
          <p:cNvPicPr preferRelativeResize="0"/>
          <p:nvPr/>
        </p:nvPicPr>
        <p:blipFill rotWithShape="1">
          <a:blip r:embed="rId3">
            <a:alphaModFix/>
          </a:blip>
          <a:srcRect b="0" l="0" r="0" t="0"/>
          <a:stretch/>
        </p:blipFill>
        <p:spPr>
          <a:xfrm>
            <a:off x="6654655" y="2346873"/>
            <a:ext cx="1871663" cy="1785937"/>
          </a:xfrm>
          <a:prstGeom prst="rect">
            <a:avLst/>
          </a:prstGeom>
          <a:noFill/>
          <a:ln>
            <a:noFill/>
          </a:ln>
        </p:spPr>
      </p:pic>
      <p:pic>
        <p:nvPicPr>
          <p:cNvPr id="122" name="Google Shape;122;p6"/>
          <p:cNvPicPr preferRelativeResize="0"/>
          <p:nvPr/>
        </p:nvPicPr>
        <p:blipFill rotWithShape="1">
          <a:blip r:embed="rId4">
            <a:alphaModFix/>
          </a:blip>
          <a:srcRect b="0" l="0" r="0" t="0"/>
          <a:stretch/>
        </p:blipFill>
        <p:spPr>
          <a:xfrm>
            <a:off x="3567448" y="2344376"/>
            <a:ext cx="2057400" cy="1726537"/>
          </a:xfrm>
          <a:prstGeom prst="rect">
            <a:avLst/>
          </a:prstGeom>
          <a:noFill/>
          <a:ln>
            <a:noFill/>
          </a:ln>
        </p:spPr>
      </p:pic>
      <p:pic>
        <p:nvPicPr>
          <p:cNvPr id="123" name="Google Shape;123;p6"/>
          <p:cNvPicPr preferRelativeResize="0"/>
          <p:nvPr/>
        </p:nvPicPr>
        <p:blipFill rotWithShape="1">
          <a:blip r:embed="rId5">
            <a:alphaModFix/>
          </a:blip>
          <a:srcRect b="0" l="0" r="0" t="0"/>
          <a:stretch/>
        </p:blipFill>
        <p:spPr>
          <a:xfrm>
            <a:off x="589208" y="2344808"/>
            <a:ext cx="1952759" cy="177396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7"/>
          <p:cNvSpPr txBox="1"/>
          <p:nvPr>
            <p:ph type="title"/>
          </p:nvPr>
        </p:nvSpPr>
        <p:spPr>
          <a:xfrm>
            <a:off x="360750" y="2814625"/>
            <a:ext cx="2468100" cy="2065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100"/>
              <a:buFont typeface="Calibri"/>
              <a:buNone/>
            </a:pPr>
            <a:r>
              <a:rPr b="1" lang="hr" sz="3100"/>
              <a:t>Vrste stresora</a:t>
            </a:r>
            <a:endParaRPr b="1" sz="3100"/>
          </a:p>
        </p:txBody>
      </p:sp>
      <p:pic>
        <p:nvPicPr>
          <p:cNvPr descr="The Hidden Stressors of Technology You Should Know" id="129" name="Google Shape;129;p7"/>
          <p:cNvPicPr preferRelativeResize="0"/>
          <p:nvPr/>
        </p:nvPicPr>
        <p:blipFill rotWithShape="1">
          <a:blip r:embed="rId3">
            <a:alphaModFix/>
          </a:blip>
          <a:srcRect b="30609" l="0" r="0" t="8596"/>
          <a:stretch/>
        </p:blipFill>
        <p:spPr>
          <a:xfrm>
            <a:off x="20" y="8"/>
            <a:ext cx="9144000" cy="2787529"/>
          </a:xfrm>
          <a:custGeom>
            <a:rect b="b" l="l" r="r" t="t"/>
            <a:pathLst>
              <a:path extrusionOk="0" h="3692092" w="12192000">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ln>
            <a:noFill/>
          </a:ln>
        </p:spPr>
      </p:pic>
      <p:sp>
        <p:nvSpPr>
          <p:cNvPr id="130" name="Google Shape;130;p7"/>
          <p:cNvSpPr txBox="1"/>
          <p:nvPr>
            <p:ph idx="1" type="body"/>
          </p:nvPr>
        </p:nvSpPr>
        <p:spPr>
          <a:xfrm>
            <a:off x="3167986" y="2814638"/>
            <a:ext cx="5614200" cy="2241600"/>
          </a:xfrm>
          <a:prstGeom prst="rect">
            <a:avLst/>
          </a:prstGeom>
          <a:noFill/>
          <a:ln>
            <a:noFill/>
          </a:ln>
        </p:spPr>
        <p:txBody>
          <a:bodyPr anchorCtr="0" anchor="ctr" bIns="45700" lIns="91425" spcFirstLastPara="1" rIns="91425" wrap="square" tIns="45700">
            <a:normAutofit lnSpcReduction="10000"/>
          </a:bodyPr>
          <a:lstStyle/>
          <a:p>
            <a:pPr indent="-457200" lvl="0" marL="457200" rtl="0" algn="l">
              <a:lnSpc>
                <a:spcPct val="90000"/>
              </a:lnSpc>
              <a:spcBef>
                <a:spcPts val="0"/>
              </a:spcBef>
              <a:spcAft>
                <a:spcPts val="0"/>
              </a:spcAft>
              <a:buClr>
                <a:schemeClr val="dk1"/>
              </a:buClr>
              <a:buSzPts val="2000"/>
              <a:buAutoNum type="arabicPeriod"/>
            </a:pPr>
            <a:r>
              <a:rPr b="1" lang="hr" sz="2000"/>
              <a:t>Svakidašnje situacije </a:t>
            </a:r>
            <a:endParaRPr/>
          </a:p>
          <a:p>
            <a:pPr indent="0" lvl="0" marL="0" rtl="0" algn="l">
              <a:lnSpc>
                <a:spcPct val="90000"/>
              </a:lnSpc>
              <a:spcBef>
                <a:spcPts val="750"/>
              </a:spcBef>
              <a:spcAft>
                <a:spcPts val="0"/>
              </a:spcAft>
              <a:buClr>
                <a:schemeClr val="dk1"/>
              </a:buClr>
              <a:buSzPts val="2000"/>
              <a:buNone/>
            </a:pPr>
            <a:r>
              <a:t/>
            </a:r>
            <a:endParaRPr sz="2000"/>
          </a:p>
          <a:p>
            <a:pPr indent="-171450" lvl="0" marL="171450" rtl="0" algn="l">
              <a:lnSpc>
                <a:spcPct val="90000"/>
              </a:lnSpc>
              <a:spcBef>
                <a:spcPts val="750"/>
              </a:spcBef>
              <a:spcAft>
                <a:spcPts val="0"/>
              </a:spcAft>
              <a:buClr>
                <a:schemeClr val="dk1"/>
              </a:buClr>
              <a:buSzPts val="2000"/>
              <a:buChar char="●"/>
            </a:pPr>
            <a:r>
              <a:rPr lang="hr" sz="2000"/>
              <a:t>Npr. gužva u prometu, neljubazni prodavači, vrućina, buka, obaveze, sukobi s bližnjima, žurba</a:t>
            </a:r>
            <a:endParaRPr sz="2000"/>
          </a:p>
          <a:p>
            <a:pPr indent="0" lvl="0" marL="0" rtl="0" algn="l">
              <a:lnSpc>
                <a:spcPct val="90000"/>
              </a:lnSpc>
              <a:spcBef>
                <a:spcPts val="750"/>
              </a:spcBef>
              <a:spcAft>
                <a:spcPts val="1200"/>
              </a:spcAft>
              <a:buClr>
                <a:schemeClr val="dk1"/>
              </a:buClr>
              <a:buSzPts val="2000"/>
              <a:buNone/>
            </a:pPr>
            <a:r>
              <a:rPr lang="hr" sz="2000"/>
              <a:t>Postaju problem kad se nagomilaju – </a:t>
            </a:r>
            <a:r>
              <a:rPr b="1" lang="hr" sz="2000"/>
              <a:t>akumulirani stres</a:t>
            </a:r>
            <a:endParaRPr b="1"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sp>
        <p:nvSpPr>
          <p:cNvPr id="135" name="Google Shape;135;p8"/>
          <p:cNvSpPr/>
          <p:nvPr/>
        </p:nvSpPr>
        <p:spPr>
          <a:xfrm>
            <a:off x="0" y="0"/>
            <a:ext cx="9144000" cy="5143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p8"/>
          <p:cNvSpPr txBox="1"/>
          <p:nvPr>
            <p:ph type="title"/>
          </p:nvPr>
        </p:nvSpPr>
        <p:spPr>
          <a:xfrm>
            <a:off x="442170" y="642135"/>
            <a:ext cx="3420300" cy="84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500"/>
              <a:buFont typeface="Calibri"/>
              <a:buNone/>
            </a:pPr>
            <a:r>
              <a:rPr b="1" lang="hr" sz="3500"/>
              <a:t>Vrste stresora</a:t>
            </a:r>
            <a:endParaRPr b="1" sz="3500"/>
          </a:p>
        </p:txBody>
      </p:sp>
      <p:grpSp>
        <p:nvGrpSpPr>
          <p:cNvPr id="137" name="Google Shape;137;p8"/>
          <p:cNvGrpSpPr/>
          <p:nvPr/>
        </p:nvGrpSpPr>
        <p:grpSpPr>
          <a:xfrm>
            <a:off x="0" y="812613"/>
            <a:ext cx="266431" cy="505125"/>
            <a:chOff x="0" y="823811"/>
            <a:chExt cx="355241" cy="673500"/>
          </a:xfrm>
        </p:grpSpPr>
        <p:sp>
          <p:nvSpPr>
            <p:cNvPr id="138" name="Google Shape;138;p8"/>
            <p:cNvSpPr/>
            <p:nvPr/>
          </p:nvSpPr>
          <p:spPr>
            <a:xfrm>
              <a:off x="0" y="823811"/>
              <a:ext cx="87300" cy="67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8"/>
            <p:cNvSpPr/>
            <p:nvPr/>
          </p:nvSpPr>
          <p:spPr>
            <a:xfrm>
              <a:off x="159341" y="823811"/>
              <a:ext cx="195900" cy="67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40" name="Google Shape;140;p8"/>
          <p:cNvSpPr/>
          <p:nvPr/>
        </p:nvSpPr>
        <p:spPr>
          <a:xfrm flipH="1">
            <a:off x="498873" y="1567927"/>
            <a:ext cx="3223200" cy="20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1" name="Google Shape;141;p8"/>
          <p:cNvSpPr txBox="1"/>
          <p:nvPr>
            <p:ph idx="1" type="body"/>
          </p:nvPr>
        </p:nvSpPr>
        <p:spPr>
          <a:xfrm>
            <a:off x="302504" y="1668242"/>
            <a:ext cx="3837300" cy="3362100"/>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b="1" lang="hr" sz="2000"/>
              <a:t>2. Životne promjene </a:t>
            </a:r>
            <a:endParaRPr/>
          </a:p>
          <a:p>
            <a:pPr indent="-44450" lvl="0" marL="171450" rtl="0" algn="l">
              <a:lnSpc>
                <a:spcPct val="90000"/>
              </a:lnSpc>
              <a:spcBef>
                <a:spcPts val="750"/>
              </a:spcBef>
              <a:spcAft>
                <a:spcPts val="0"/>
              </a:spcAft>
              <a:buClr>
                <a:schemeClr val="dk1"/>
              </a:buClr>
              <a:buSzPct val="100000"/>
              <a:buNone/>
            </a:pPr>
            <a:r>
              <a:t/>
            </a:r>
            <a:endParaRPr sz="2000"/>
          </a:p>
          <a:p>
            <a:pPr indent="-161925" lvl="0" marL="171450" rtl="0" algn="l">
              <a:lnSpc>
                <a:spcPct val="90000"/>
              </a:lnSpc>
              <a:spcBef>
                <a:spcPts val="750"/>
              </a:spcBef>
              <a:spcAft>
                <a:spcPts val="0"/>
              </a:spcAft>
              <a:buClr>
                <a:schemeClr val="dk1"/>
              </a:buClr>
              <a:buSzPct val="100000"/>
              <a:buChar char="●"/>
            </a:pPr>
            <a:r>
              <a:rPr lang="hr" sz="2000"/>
              <a:t>Zahtjevaju prilagodbu novim životnim okolnostima </a:t>
            </a:r>
            <a:endParaRPr/>
          </a:p>
          <a:p>
            <a:pPr indent="-44450" lvl="0" marL="171450" rtl="0" algn="l">
              <a:lnSpc>
                <a:spcPct val="90000"/>
              </a:lnSpc>
              <a:spcBef>
                <a:spcPts val="750"/>
              </a:spcBef>
              <a:spcAft>
                <a:spcPts val="0"/>
              </a:spcAft>
              <a:buClr>
                <a:schemeClr val="dk1"/>
              </a:buClr>
              <a:buSzPct val="100000"/>
              <a:buNone/>
            </a:pPr>
            <a:r>
              <a:t/>
            </a:r>
            <a:endParaRPr sz="2000"/>
          </a:p>
          <a:p>
            <a:pPr indent="-161925" lvl="0" marL="171450" rtl="0" algn="l">
              <a:lnSpc>
                <a:spcPct val="90000"/>
              </a:lnSpc>
              <a:spcBef>
                <a:spcPts val="750"/>
              </a:spcBef>
              <a:spcAft>
                <a:spcPts val="0"/>
              </a:spcAft>
              <a:buClr>
                <a:schemeClr val="dk1"/>
              </a:buClr>
              <a:buSzPct val="100000"/>
              <a:buChar char="●"/>
            </a:pPr>
            <a:r>
              <a:rPr lang="hr" sz="2000"/>
              <a:t>Npr. Prekid važne veze, selidba u novi grad, vjenčanje, rođenje djeteta, prelazak na novi posao, završetak školovanja...</a:t>
            </a:r>
            <a:endParaRPr/>
          </a:p>
          <a:p>
            <a:pPr indent="-44450" lvl="0" marL="171450" rtl="0" algn="l">
              <a:lnSpc>
                <a:spcPct val="90000"/>
              </a:lnSpc>
              <a:spcBef>
                <a:spcPts val="750"/>
              </a:spcBef>
              <a:spcAft>
                <a:spcPts val="0"/>
              </a:spcAft>
              <a:buClr>
                <a:schemeClr val="dk1"/>
              </a:buClr>
              <a:buSzPct val="100000"/>
              <a:buNone/>
            </a:pPr>
            <a:r>
              <a:t/>
            </a:r>
            <a:endParaRPr sz="2000"/>
          </a:p>
          <a:p>
            <a:pPr indent="-161925" lvl="0" marL="171450" rtl="0" algn="l">
              <a:lnSpc>
                <a:spcPct val="90000"/>
              </a:lnSpc>
              <a:spcBef>
                <a:spcPts val="750"/>
              </a:spcBef>
              <a:spcAft>
                <a:spcPts val="1200"/>
              </a:spcAft>
              <a:buClr>
                <a:schemeClr val="dk1"/>
              </a:buClr>
              <a:buSzPct val="100000"/>
              <a:buChar char="●"/>
            </a:pPr>
            <a:r>
              <a:rPr lang="hr" sz="2000"/>
              <a:t>Mogu biti ugodne, neugodne ili oboje istovremeno</a:t>
            </a:r>
            <a:endParaRPr sz="2000"/>
          </a:p>
        </p:txBody>
      </p:sp>
      <p:sp>
        <p:nvSpPr>
          <p:cNvPr id="142" name="Google Shape;142;p8"/>
          <p:cNvSpPr/>
          <p:nvPr/>
        </p:nvSpPr>
        <p:spPr>
          <a:xfrm flipH="1">
            <a:off x="8023200" y="0"/>
            <a:ext cx="1120800" cy="5143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8"/>
          <p:cNvSpPr/>
          <p:nvPr/>
        </p:nvSpPr>
        <p:spPr>
          <a:xfrm>
            <a:off x="4264357" y="385390"/>
            <a:ext cx="4506900" cy="4376100"/>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Why use specific baby skin care products? | BIODERMA" id="144" name="Google Shape;144;p8"/>
          <p:cNvPicPr preferRelativeResize="0"/>
          <p:nvPr/>
        </p:nvPicPr>
        <p:blipFill rotWithShape="1">
          <a:blip r:embed="rId3">
            <a:alphaModFix/>
          </a:blip>
          <a:srcRect b="0" l="36780" r="16023" t="0"/>
          <a:stretch/>
        </p:blipFill>
        <p:spPr>
          <a:xfrm>
            <a:off x="4483341" y="599514"/>
            <a:ext cx="4069058" cy="39444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9"/>
          <p:cNvSpPr/>
          <p:nvPr/>
        </p:nvSpPr>
        <p:spPr>
          <a:xfrm>
            <a:off x="0" y="0"/>
            <a:ext cx="9144000" cy="5143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 name="Google Shape;150;p9"/>
          <p:cNvSpPr txBox="1"/>
          <p:nvPr>
            <p:ph type="title"/>
          </p:nvPr>
        </p:nvSpPr>
        <p:spPr>
          <a:xfrm>
            <a:off x="606478" y="290198"/>
            <a:ext cx="6927600" cy="891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700"/>
              <a:buFont typeface="Calibri"/>
              <a:buNone/>
            </a:pPr>
            <a:r>
              <a:rPr b="1" lang="hr" sz="4700"/>
              <a:t>Vrste stresora</a:t>
            </a:r>
            <a:r>
              <a:rPr lang="hr" sz="4700"/>
              <a:t>  </a:t>
            </a:r>
            <a:endParaRPr sz="4700"/>
          </a:p>
        </p:txBody>
      </p:sp>
      <p:grpSp>
        <p:nvGrpSpPr>
          <p:cNvPr id="151" name="Google Shape;151;p9"/>
          <p:cNvGrpSpPr/>
          <p:nvPr/>
        </p:nvGrpSpPr>
        <p:grpSpPr>
          <a:xfrm>
            <a:off x="-5" y="1498776"/>
            <a:ext cx="8771316" cy="586632"/>
            <a:chOff x="-7" y="1998368"/>
            <a:chExt cx="11695088" cy="782176"/>
          </a:xfrm>
        </p:grpSpPr>
        <p:sp>
          <p:nvSpPr>
            <p:cNvPr id="152" name="Google Shape;152;p9"/>
            <p:cNvSpPr/>
            <p:nvPr/>
          </p:nvSpPr>
          <p:spPr>
            <a:xfrm rot="5400000">
              <a:off x="11227981" y="2313068"/>
              <a:ext cx="781800" cy="1524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3" name="Google Shape;153;p9"/>
            <p:cNvSpPr/>
            <p:nvPr/>
          </p:nvSpPr>
          <p:spPr>
            <a:xfrm rot="10800000">
              <a:off x="-7" y="1998744"/>
              <a:ext cx="11454600" cy="7818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54" name="Google Shape;154;p9"/>
          <p:cNvSpPr/>
          <p:nvPr/>
        </p:nvSpPr>
        <p:spPr>
          <a:xfrm>
            <a:off x="0" y="1652309"/>
            <a:ext cx="8537400" cy="3111000"/>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p9"/>
          <p:cNvSpPr txBox="1"/>
          <p:nvPr>
            <p:ph idx="1" type="body"/>
          </p:nvPr>
        </p:nvSpPr>
        <p:spPr>
          <a:xfrm>
            <a:off x="491666" y="1761661"/>
            <a:ext cx="7607700" cy="3091800"/>
          </a:xfrm>
          <a:prstGeom prst="rect">
            <a:avLst/>
          </a:prstGeom>
          <a:noFill/>
          <a:ln>
            <a:noFill/>
          </a:ln>
        </p:spPr>
        <p:txBody>
          <a:bodyPr anchorCtr="0" anchor="ctr"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00000"/>
              <a:buNone/>
            </a:pPr>
            <a:r>
              <a:rPr b="1" lang="hr" sz="2400"/>
              <a:t>3. Traumatski događaji </a:t>
            </a:r>
            <a:endParaRPr/>
          </a:p>
          <a:p>
            <a:pPr indent="0" lvl="0" marL="0" rtl="0" algn="l">
              <a:lnSpc>
                <a:spcPct val="90000"/>
              </a:lnSpc>
              <a:spcBef>
                <a:spcPts val="750"/>
              </a:spcBef>
              <a:spcAft>
                <a:spcPts val="0"/>
              </a:spcAft>
              <a:buClr>
                <a:schemeClr val="dk1"/>
              </a:buClr>
              <a:buSzPct val="100000"/>
              <a:buNone/>
            </a:pPr>
            <a:r>
              <a:t/>
            </a:r>
            <a:endParaRPr sz="2400"/>
          </a:p>
          <a:p>
            <a:pPr indent="-137160" lvl="0" marL="171450" rtl="0" algn="l">
              <a:lnSpc>
                <a:spcPct val="90000"/>
              </a:lnSpc>
              <a:spcBef>
                <a:spcPts val="750"/>
              </a:spcBef>
              <a:spcAft>
                <a:spcPts val="0"/>
              </a:spcAft>
              <a:buClr>
                <a:schemeClr val="dk1"/>
              </a:buClr>
              <a:buSzPct val="100000"/>
              <a:buChar char="●"/>
            </a:pPr>
            <a:r>
              <a:rPr lang="hr" sz="2400"/>
              <a:t>Događaji izvan uobičajenog životnog iskustva </a:t>
            </a:r>
            <a:endParaRPr/>
          </a:p>
          <a:p>
            <a:pPr indent="-137160" lvl="0" marL="171450" rtl="0" algn="l">
              <a:lnSpc>
                <a:spcPct val="90000"/>
              </a:lnSpc>
              <a:spcBef>
                <a:spcPts val="750"/>
              </a:spcBef>
              <a:spcAft>
                <a:spcPts val="0"/>
              </a:spcAft>
              <a:buClr>
                <a:schemeClr val="dk1"/>
              </a:buClr>
              <a:buSzPct val="100000"/>
              <a:buChar char="●"/>
            </a:pPr>
            <a:r>
              <a:rPr lang="hr" sz="2400"/>
              <a:t>Obično se odnose se na situacije u kojima smo životno ugroženi ili su prijetnja našoj tjelesnoj ili psihološkoj dobrobiti</a:t>
            </a:r>
            <a:endParaRPr sz="2400"/>
          </a:p>
          <a:p>
            <a:pPr indent="-137160" lvl="0" marL="171450" rtl="0" algn="l">
              <a:lnSpc>
                <a:spcPct val="90000"/>
              </a:lnSpc>
              <a:spcBef>
                <a:spcPts val="750"/>
              </a:spcBef>
              <a:spcAft>
                <a:spcPts val="0"/>
              </a:spcAft>
              <a:buClr>
                <a:schemeClr val="dk1"/>
              </a:buClr>
              <a:buSzPct val="100000"/>
              <a:buChar char="●"/>
            </a:pPr>
            <a:r>
              <a:rPr lang="hr" sz="2400"/>
              <a:t>Izazivaju snažnu emocionalnu reakciju koja može stvoriti poteškoće u svakodnevnom funkcioniranju</a:t>
            </a:r>
            <a:endParaRPr sz="2400"/>
          </a:p>
          <a:p>
            <a:pPr indent="-19050" lvl="0" marL="171450" rtl="0" algn="l">
              <a:lnSpc>
                <a:spcPct val="90000"/>
              </a:lnSpc>
              <a:spcBef>
                <a:spcPts val="750"/>
              </a:spcBef>
              <a:spcAft>
                <a:spcPts val="0"/>
              </a:spcAft>
              <a:buClr>
                <a:schemeClr val="dk1"/>
              </a:buClr>
              <a:buSzPct val="100000"/>
              <a:buNone/>
            </a:pPr>
            <a:r>
              <a:t/>
            </a:r>
            <a:endParaRPr sz="2400"/>
          </a:p>
          <a:p>
            <a:pPr indent="-137160" lvl="0" marL="171450" rtl="0" algn="l">
              <a:lnSpc>
                <a:spcPct val="90000"/>
              </a:lnSpc>
              <a:spcBef>
                <a:spcPts val="750"/>
              </a:spcBef>
              <a:spcAft>
                <a:spcPts val="0"/>
              </a:spcAft>
              <a:buClr>
                <a:schemeClr val="dk1"/>
              </a:buClr>
              <a:buSzPct val="100000"/>
              <a:buChar char="●"/>
            </a:pPr>
            <a:r>
              <a:rPr lang="hr" sz="2400"/>
              <a:t>Ne trebamo mi sami doživjeti taj događaj - saznanje za događaj, svjedočenje, događa se našem bližnjem </a:t>
            </a:r>
            <a:endParaRPr/>
          </a:p>
          <a:p>
            <a:pPr indent="-50800" lvl="0" marL="171450" rtl="0" algn="l">
              <a:lnSpc>
                <a:spcPct val="90000"/>
              </a:lnSpc>
              <a:spcBef>
                <a:spcPts val="750"/>
              </a:spcBef>
              <a:spcAft>
                <a:spcPts val="1200"/>
              </a:spcAft>
              <a:buClr>
                <a:schemeClr val="dk1"/>
              </a:buClr>
              <a:buSzPct val="100000"/>
              <a:buNone/>
            </a:pPr>
            <a:r>
              <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10"/>
          <p:cNvSpPr/>
          <p:nvPr/>
        </p:nvSpPr>
        <p:spPr>
          <a:xfrm>
            <a:off x="0" y="0"/>
            <a:ext cx="9144000" cy="5143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61" name="Google Shape;161;p10"/>
          <p:cNvGrpSpPr/>
          <p:nvPr/>
        </p:nvGrpSpPr>
        <p:grpSpPr>
          <a:xfrm>
            <a:off x="62" y="912447"/>
            <a:ext cx="548661" cy="505092"/>
            <a:chOff x="3940602" y="308034"/>
            <a:chExt cx="2116748" cy="3429000"/>
          </a:xfrm>
        </p:grpSpPr>
        <p:sp>
          <p:nvSpPr>
            <p:cNvPr id="162" name="Google Shape;162;p10"/>
            <p:cNvSpPr/>
            <p:nvPr/>
          </p:nvSpPr>
          <p:spPr>
            <a:xfrm>
              <a:off x="3940602" y="308034"/>
              <a:ext cx="566700" cy="3429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3" name="Google Shape;163;p10"/>
            <p:cNvSpPr/>
            <p:nvPr/>
          </p:nvSpPr>
          <p:spPr>
            <a:xfrm>
              <a:off x="4715626" y="308034"/>
              <a:ext cx="566700" cy="3429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p10"/>
            <p:cNvSpPr/>
            <p:nvPr/>
          </p:nvSpPr>
          <p:spPr>
            <a:xfrm>
              <a:off x="5490650" y="308034"/>
              <a:ext cx="566700" cy="3429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65" name="Google Shape;165;p10"/>
          <p:cNvSpPr/>
          <p:nvPr/>
        </p:nvSpPr>
        <p:spPr>
          <a:xfrm>
            <a:off x="480059" y="460465"/>
            <a:ext cx="8180700" cy="1420800"/>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10"/>
          <p:cNvSpPr txBox="1"/>
          <p:nvPr>
            <p:ph type="title"/>
          </p:nvPr>
        </p:nvSpPr>
        <p:spPr>
          <a:xfrm>
            <a:off x="782723" y="607424"/>
            <a:ext cx="7457100" cy="1166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alibri"/>
              <a:buNone/>
            </a:pPr>
            <a:r>
              <a:rPr lang="hr" sz="4200"/>
              <a:t>Što izaziva stres?  </a:t>
            </a:r>
            <a:endParaRPr sz="4200"/>
          </a:p>
        </p:txBody>
      </p:sp>
      <p:sp>
        <p:nvSpPr>
          <p:cNvPr id="167" name="Google Shape;167;p10"/>
          <p:cNvSpPr txBox="1"/>
          <p:nvPr>
            <p:ph idx="1" type="body"/>
          </p:nvPr>
        </p:nvSpPr>
        <p:spPr>
          <a:xfrm>
            <a:off x="783771" y="2263141"/>
            <a:ext cx="7455900" cy="2600700"/>
          </a:xfrm>
          <a:prstGeom prst="rect">
            <a:avLst/>
          </a:prstGeom>
          <a:noFill/>
          <a:ln>
            <a:noFill/>
          </a:ln>
        </p:spPr>
        <p:txBody>
          <a:bodyPr anchorCtr="0" anchor="ctr" bIns="45700" lIns="91425" spcFirstLastPara="1" rIns="91425" wrap="square" tIns="45700">
            <a:normAutofit fontScale="85000" lnSpcReduction="20000"/>
          </a:bodyPr>
          <a:lstStyle/>
          <a:p>
            <a:pPr indent="-148590" lvl="0" marL="171450" rtl="0" algn="l">
              <a:lnSpc>
                <a:spcPct val="90000"/>
              </a:lnSpc>
              <a:spcBef>
                <a:spcPts val="0"/>
              </a:spcBef>
              <a:spcAft>
                <a:spcPts val="0"/>
              </a:spcAft>
              <a:buClr>
                <a:schemeClr val="dk1"/>
              </a:buClr>
              <a:buSzPct val="100000"/>
              <a:buChar char="●"/>
            </a:pPr>
            <a:r>
              <a:rPr b="1" lang="hr" sz="2400"/>
              <a:t>Traumatski događaji </a:t>
            </a:r>
            <a:r>
              <a:rPr lang="hr" sz="2400"/>
              <a:t>teški su </a:t>
            </a:r>
            <a:r>
              <a:rPr b="1" lang="hr" sz="2400"/>
              <a:t>svim ljudima</a:t>
            </a:r>
            <a:endParaRPr b="1" sz="2400"/>
          </a:p>
          <a:p>
            <a:pPr indent="-148590" lvl="0" marL="171450" rtl="0" algn="l">
              <a:lnSpc>
                <a:spcPct val="90000"/>
              </a:lnSpc>
              <a:spcBef>
                <a:spcPts val="750"/>
              </a:spcBef>
              <a:spcAft>
                <a:spcPts val="0"/>
              </a:spcAft>
              <a:buClr>
                <a:schemeClr val="dk1"/>
              </a:buClr>
              <a:buSzPct val="100000"/>
              <a:buChar char="●"/>
            </a:pPr>
            <a:r>
              <a:rPr lang="hr" sz="2400"/>
              <a:t>Prve reakcije su obično šok, nevjerica, aktivacija simpatičkog dijela živčanog sustava, promjenjive emocije, stalne misli vezane za događaj ili disocijacija (zaboravljanje događaja, odvojenost od svega)</a:t>
            </a:r>
            <a:endParaRPr sz="2400"/>
          </a:p>
          <a:p>
            <a:pPr indent="-148590" lvl="0" marL="171450" rtl="0" algn="l">
              <a:lnSpc>
                <a:spcPct val="90000"/>
              </a:lnSpc>
              <a:spcBef>
                <a:spcPts val="750"/>
              </a:spcBef>
              <a:spcAft>
                <a:spcPts val="0"/>
              </a:spcAft>
              <a:buClr>
                <a:schemeClr val="dk1"/>
              </a:buClr>
              <a:buSzPct val="100000"/>
              <a:buChar char="●"/>
            </a:pPr>
            <a:r>
              <a:rPr lang="hr" sz="2400"/>
              <a:t>Sve reakcije su normalne</a:t>
            </a:r>
            <a:endParaRPr sz="2400"/>
          </a:p>
          <a:p>
            <a:pPr indent="-148590" lvl="0" marL="171450" rtl="0" algn="l">
              <a:lnSpc>
                <a:spcPct val="90000"/>
              </a:lnSpc>
              <a:spcBef>
                <a:spcPts val="750"/>
              </a:spcBef>
              <a:spcAft>
                <a:spcPts val="0"/>
              </a:spcAft>
              <a:buClr>
                <a:schemeClr val="dk1"/>
              </a:buClr>
              <a:buSzPct val="100000"/>
              <a:buChar char="●"/>
            </a:pPr>
            <a:r>
              <a:rPr lang="hr" sz="2400"/>
              <a:t>Obično prolaze same od sebe nakon nekog vremena</a:t>
            </a:r>
            <a:endParaRPr sz="2400"/>
          </a:p>
          <a:p>
            <a:pPr indent="-148590" lvl="0" marL="171450" rtl="0" algn="l">
              <a:lnSpc>
                <a:spcPct val="90000"/>
              </a:lnSpc>
              <a:spcBef>
                <a:spcPts val="750"/>
              </a:spcBef>
              <a:spcAft>
                <a:spcPts val="0"/>
              </a:spcAft>
              <a:buClr>
                <a:schemeClr val="dk1"/>
              </a:buClr>
              <a:buSzPct val="100000"/>
              <a:buChar char="●"/>
            </a:pPr>
            <a:r>
              <a:rPr lang="hr" sz="2400"/>
              <a:t>Ponekad je potrebna dodatna podrška</a:t>
            </a:r>
            <a:endParaRPr sz="2400"/>
          </a:p>
          <a:p>
            <a:pPr indent="-38100" lvl="0" marL="171450" rtl="0" algn="l">
              <a:lnSpc>
                <a:spcPct val="90000"/>
              </a:lnSpc>
              <a:spcBef>
                <a:spcPts val="750"/>
              </a:spcBef>
              <a:spcAft>
                <a:spcPts val="1200"/>
              </a:spcAft>
              <a:buClr>
                <a:schemeClr val="dk1"/>
              </a:buClr>
              <a:buSzPct val="116665"/>
              <a:buNone/>
            </a:pPr>
            <a:r>
              <a:t/>
            </a:r>
            <a:endParaRPr/>
          </a:p>
        </p:txBody>
      </p:sp>
      <p:cxnSp>
        <p:nvCxnSpPr>
          <p:cNvPr id="168" name="Google Shape;168;p10"/>
          <p:cNvCxnSpPr/>
          <p:nvPr/>
        </p:nvCxnSpPr>
        <p:spPr>
          <a:xfrm rot="10800000">
            <a:off x="628650" y="4863985"/>
            <a:ext cx="7886700" cy="0"/>
          </a:xfrm>
          <a:prstGeom prst="straightConnector1">
            <a:avLst/>
          </a:prstGeom>
          <a:noFill/>
          <a:ln cap="flat" cmpd="sng" w="57150">
            <a:solidFill>
              <a:schemeClr val="accent4"/>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2" name="Shape 172"/>
        <p:cNvGrpSpPr/>
        <p:nvPr/>
      </p:nvGrpSpPr>
      <p:grpSpPr>
        <a:xfrm>
          <a:off x="0" y="0"/>
          <a:ext cx="0" cy="0"/>
          <a:chOff x="0" y="0"/>
          <a:chExt cx="0" cy="0"/>
        </a:xfrm>
      </p:grpSpPr>
      <p:sp>
        <p:nvSpPr>
          <p:cNvPr id="173" name="Google Shape;173;p11"/>
          <p:cNvSpPr/>
          <p:nvPr/>
        </p:nvSpPr>
        <p:spPr>
          <a:xfrm>
            <a:off x="229" y="0"/>
            <a:ext cx="9143700" cy="51435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Meiryo"/>
              <a:buNone/>
            </a:pPr>
            <a:r>
              <a:t/>
            </a:r>
            <a:endParaRPr b="0" i="0" sz="1400" u="none" cap="none" strike="noStrike">
              <a:solidFill>
                <a:srgbClr val="FFFFFF"/>
              </a:solidFill>
              <a:latin typeface="Meiryo"/>
              <a:ea typeface="Meiryo"/>
              <a:cs typeface="Meiryo"/>
              <a:sym typeface="Meiryo"/>
            </a:endParaRPr>
          </a:p>
        </p:txBody>
      </p:sp>
      <p:sp>
        <p:nvSpPr>
          <p:cNvPr id="174" name="Google Shape;174;p11"/>
          <p:cNvSpPr txBox="1"/>
          <p:nvPr>
            <p:ph type="title"/>
          </p:nvPr>
        </p:nvSpPr>
        <p:spPr>
          <a:xfrm>
            <a:off x="744389" y="332185"/>
            <a:ext cx="3954000" cy="1230000"/>
          </a:xfrm>
          <a:prstGeom prst="rect">
            <a:avLst/>
          </a:prstGeom>
          <a:noFill/>
          <a:ln>
            <a:noFill/>
          </a:ln>
        </p:spPr>
        <p:txBody>
          <a:bodyPr anchorCtr="0" anchor="b" bIns="68575" lIns="82300" spcFirstLastPara="1" rIns="82300" wrap="square" tIns="82300">
            <a:normAutofit/>
          </a:bodyPr>
          <a:lstStyle/>
          <a:p>
            <a:pPr indent="0" lvl="0" marL="0" rtl="0" algn="l">
              <a:lnSpc>
                <a:spcPct val="120000"/>
              </a:lnSpc>
              <a:spcBef>
                <a:spcPts val="0"/>
              </a:spcBef>
              <a:spcAft>
                <a:spcPts val="0"/>
              </a:spcAft>
              <a:buClr>
                <a:srgbClr val="3F3F3F"/>
              </a:buClr>
              <a:buSzPts val="2000"/>
              <a:buFont typeface="Meiryo"/>
              <a:buNone/>
            </a:pPr>
            <a:r>
              <a:rPr lang="hr" sz="2000"/>
              <a:t>Kako možemo prepoznati da smo pod stresom? - </a:t>
            </a:r>
            <a:r>
              <a:rPr b="1" lang="hr" sz="2000"/>
              <a:t>znakovi stresa</a:t>
            </a:r>
            <a:endParaRPr b="1"/>
          </a:p>
        </p:txBody>
      </p:sp>
      <p:sp>
        <p:nvSpPr>
          <p:cNvPr id="175" name="Google Shape;175;p11"/>
          <p:cNvSpPr/>
          <p:nvPr/>
        </p:nvSpPr>
        <p:spPr>
          <a:xfrm flipH="1">
            <a:off x="5239537" y="0"/>
            <a:ext cx="3904463" cy="5143500"/>
          </a:xfrm>
          <a:custGeom>
            <a:rect b="b" l="l" r="r" t="t"/>
            <a:pathLst>
              <a:path extrusionOk="0" h="6858000" w="5205951">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eiryo"/>
              <a:ea typeface="Meiryo"/>
              <a:cs typeface="Meiryo"/>
              <a:sym typeface="Meiryo"/>
            </a:endParaRPr>
          </a:p>
        </p:txBody>
      </p:sp>
      <p:sp>
        <p:nvSpPr>
          <p:cNvPr id="176" name="Google Shape;176;p11"/>
          <p:cNvSpPr/>
          <p:nvPr/>
        </p:nvSpPr>
        <p:spPr>
          <a:xfrm flipH="1">
            <a:off x="4933114" y="0"/>
            <a:ext cx="1897292" cy="5143500"/>
          </a:xfrm>
          <a:custGeom>
            <a:rect b="b" l="l" r="r" t="t"/>
            <a:pathLst>
              <a:path extrusionOk="0" h="6858000" w="2529723">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Meiryo"/>
              <a:buNone/>
            </a:pPr>
            <a:r>
              <a:t/>
            </a:r>
            <a:endParaRPr b="0" i="0" sz="1400" u="none" cap="none" strike="noStrike">
              <a:solidFill>
                <a:srgbClr val="FFFFFF"/>
              </a:solidFill>
              <a:latin typeface="Meiryo"/>
              <a:ea typeface="Meiryo"/>
              <a:cs typeface="Meiryo"/>
              <a:sym typeface="Meiryo"/>
            </a:endParaRPr>
          </a:p>
        </p:txBody>
      </p:sp>
      <p:sp>
        <p:nvSpPr>
          <p:cNvPr id="177" name="Google Shape;177;p11"/>
          <p:cNvSpPr/>
          <p:nvPr/>
        </p:nvSpPr>
        <p:spPr>
          <a:xfrm flipH="1">
            <a:off x="5066194" y="0"/>
            <a:ext cx="1902326" cy="5143500"/>
          </a:xfrm>
          <a:custGeom>
            <a:rect b="b" l="l" r="r" t="t"/>
            <a:pathLst>
              <a:path extrusionOk="0" h="6858000" w="2536434">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Meiryo"/>
              <a:buNone/>
            </a:pPr>
            <a:r>
              <a:t/>
            </a:r>
            <a:endParaRPr b="0" i="0" sz="1400" u="none" cap="none" strike="noStrike">
              <a:solidFill>
                <a:srgbClr val="FFFFFF"/>
              </a:solidFill>
              <a:latin typeface="Meiryo"/>
              <a:ea typeface="Meiryo"/>
              <a:cs typeface="Meiryo"/>
              <a:sym typeface="Meiryo"/>
            </a:endParaRPr>
          </a:p>
        </p:txBody>
      </p:sp>
      <p:pic>
        <p:nvPicPr>
          <p:cNvPr descr="Slika na kojoj se prikazuje tekst&#10;&#10;Opis je automatski generiran" id="178" name="Google Shape;178;p11"/>
          <p:cNvPicPr preferRelativeResize="0"/>
          <p:nvPr/>
        </p:nvPicPr>
        <p:blipFill rotWithShape="1">
          <a:blip r:embed="rId3">
            <a:alphaModFix/>
          </a:blip>
          <a:srcRect b="-139" l="24559" r="32404" t="0"/>
          <a:stretch/>
        </p:blipFill>
        <p:spPr>
          <a:xfrm>
            <a:off x="6789063" y="-7415"/>
            <a:ext cx="2352850" cy="5160645"/>
          </a:xfrm>
          <a:custGeom>
            <a:rect b="b" l="l" r="r" t="t"/>
            <a:pathLst>
              <a:path extrusionOk="0" h="6858000" w="4901771">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a:noFill/>
          <a:ln>
            <a:noFill/>
          </a:ln>
        </p:spPr>
      </p:pic>
      <p:graphicFrame>
        <p:nvGraphicFramePr>
          <p:cNvPr id="179" name="Google Shape;179;p11"/>
          <p:cNvGraphicFramePr/>
          <p:nvPr/>
        </p:nvGraphicFramePr>
        <p:xfrm>
          <a:off x="393650" y="1703093"/>
          <a:ext cx="3000000" cy="3000000"/>
        </p:xfrm>
        <a:graphic>
          <a:graphicData uri="http://schemas.openxmlformats.org/drawingml/2006/table">
            <a:tbl>
              <a:tblPr bandRow="1" firstRow="1">
                <a:noFill/>
                <a:tableStyleId>{B4A55EE3-AD2C-461C-8C08-64D5B586F5F5}</a:tableStyleId>
              </a:tblPr>
              <a:tblGrid>
                <a:gridCol w="1801125"/>
                <a:gridCol w="1801125"/>
                <a:gridCol w="1734125"/>
                <a:gridCol w="1868100"/>
              </a:tblGrid>
              <a:tr h="412475">
                <a:tc>
                  <a:txBody>
                    <a:bodyPr/>
                    <a:lstStyle/>
                    <a:p>
                      <a:pPr indent="0" lvl="0" marL="0" marR="0" rtl="0" algn="ctr">
                        <a:lnSpc>
                          <a:spcPct val="100000"/>
                        </a:lnSpc>
                        <a:spcBef>
                          <a:spcPts val="0"/>
                        </a:spcBef>
                        <a:spcAft>
                          <a:spcPts val="0"/>
                        </a:spcAft>
                        <a:buClr>
                          <a:srgbClr val="000000"/>
                        </a:buClr>
                        <a:buSzPts val="1700"/>
                        <a:buFont typeface="Arial"/>
                        <a:buNone/>
                      </a:pPr>
                      <a:r>
                        <a:rPr lang="hr" sz="1700" u="none" cap="none" strike="noStrike">
                          <a:solidFill>
                            <a:schemeClr val="dk1"/>
                          </a:solidFill>
                          <a:latin typeface="Arial"/>
                          <a:ea typeface="Arial"/>
                          <a:cs typeface="Arial"/>
                          <a:sym typeface="Arial"/>
                        </a:rPr>
                        <a:t>Misaoni</a:t>
                      </a:r>
                      <a:endParaRPr sz="1700" u="none" cap="none" strike="noStrike">
                        <a:solidFill>
                          <a:schemeClr val="dk1"/>
                        </a:solidFill>
                        <a:latin typeface="Arial"/>
                        <a:ea typeface="Arial"/>
                        <a:cs typeface="Arial"/>
                        <a:sym typeface="Arial"/>
                      </a:endParaRPr>
                    </a:p>
                  </a:txBody>
                  <a:tcPr marT="34300" marB="34300" marR="68600" marL="68600">
                    <a:solidFill>
                      <a:schemeClr val="lt1"/>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hr" sz="1700" u="none" cap="none" strike="noStrike">
                          <a:solidFill>
                            <a:schemeClr val="dk1"/>
                          </a:solidFill>
                          <a:latin typeface="Arial"/>
                          <a:ea typeface="Arial"/>
                          <a:cs typeface="Arial"/>
                          <a:sym typeface="Arial"/>
                        </a:rPr>
                        <a:t>Emocionalni​</a:t>
                      </a:r>
                      <a:endParaRPr sz="1700" u="none" cap="none" strike="noStrike">
                        <a:solidFill>
                          <a:schemeClr val="dk1"/>
                        </a:solidFill>
                        <a:latin typeface="Arial"/>
                        <a:ea typeface="Arial"/>
                        <a:cs typeface="Arial"/>
                        <a:sym typeface="Arial"/>
                      </a:endParaRPr>
                    </a:p>
                  </a:txBody>
                  <a:tcPr marT="34300" marB="34300" marR="68600" marL="68600">
                    <a:solidFill>
                      <a:schemeClr val="lt1"/>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hr" sz="1700" u="none" cap="none" strike="noStrike">
                          <a:solidFill>
                            <a:schemeClr val="dk1"/>
                          </a:solidFill>
                          <a:latin typeface="Arial"/>
                          <a:ea typeface="Arial"/>
                          <a:cs typeface="Arial"/>
                          <a:sym typeface="Arial"/>
                        </a:rPr>
                        <a:t>Tjelesni ​</a:t>
                      </a:r>
                      <a:endParaRPr sz="1700" u="none" cap="none" strike="noStrike">
                        <a:solidFill>
                          <a:schemeClr val="dk1"/>
                        </a:solidFill>
                        <a:latin typeface="Arial"/>
                        <a:ea typeface="Arial"/>
                        <a:cs typeface="Arial"/>
                        <a:sym typeface="Arial"/>
                      </a:endParaRPr>
                    </a:p>
                  </a:txBody>
                  <a:tcPr marT="34300" marB="34300" marR="68600" marL="68600">
                    <a:solidFill>
                      <a:schemeClr val="lt1"/>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hr" sz="1700" u="none" cap="none" strike="noStrike">
                          <a:solidFill>
                            <a:schemeClr val="dk1"/>
                          </a:solidFill>
                          <a:latin typeface="Arial"/>
                          <a:ea typeface="Arial"/>
                          <a:cs typeface="Arial"/>
                          <a:sym typeface="Arial"/>
                        </a:rPr>
                        <a:t>Ponašajni​</a:t>
                      </a:r>
                      <a:endParaRPr sz="1700" u="none" cap="none" strike="noStrike">
                        <a:solidFill>
                          <a:schemeClr val="dk1"/>
                        </a:solidFill>
                        <a:latin typeface="Arial"/>
                        <a:ea typeface="Arial"/>
                        <a:cs typeface="Arial"/>
                        <a:sym typeface="Arial"/>
                      </a:endParaRPr>
                    </a:p>
                  </a:txBody>
                  <a:tcPr marT="34300" marB="34300" marR="68600" marL="68600">
                    <a:solidFill>
                      <a:schemeClr val="lt1"/>
                    </a:solidFill>
                  </a:tcPr>
                </a:tc>
              </a:tr>
              <a:tr h="2841825">
                <a:tc>
                  <a:txBody>
                    <a:bodyPr/>
                    <a:lstStyle/>
                    <a:p>
                      <a:pPr indent="0" lvl="0" marL="0" marR="0" rtl="0" algn="ctr">
                        <a:lnSpc>
                          <a:spcPct val="100000"/>
                        </a:lnSpc>
                        <a:spcBef>
                          <a:spcPts val="0"/>
                        </a:spcBef>
                        <a:spcAft>
                          <a:spcPts val="0"/>
                        </a:spcAft>
                        <a:buClr>
                          <a:srgbClr val="000000"/>
                        </a:buClr>
                        <a:buSzPts val="1400"/>
                        <a:buFont typeface="Arial"/>
                        <a:buNone/>
                      </a:pPr>
                      <a:r>
                        <a:rPr lang="hr" sz="1400" u="none" cap="none" strike="noStrike">
                          <a:solidFill>
                            <a:schemeClr val="dk1"/>
                          </a:solidFill>
                          <a:latin typeface="Arial"/>
                          <a:ea typeface="Arial"/>
                          <a:cs typeface="Arial"/>
                          <a:sym typeface="Arial"/>
                        </a:rPr>
                        <a:t>​</a:t>
                      </a:r>
                      <a:endParaRPr sz="1100" u="none" cap="none" strike="noStrike">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hr" sz="1400" u="none" cap="none" strike="noStrike">
                          <a:solidFill>
                            <a:schemeClr val="dk1"/>
                          </a:solidFill>
                          <a:latin typeface="Arial"/>
                          <a:ea typeface="Arial"/>
                          <a:cs typeface="Arial"/>
                          <a:sym typeface="Arial"/>
                        </a:rPr>
                        <a:t>​</a:t>
                      </a:r>
                      <a:endParaRPr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lang="hr" sz="1800" u="none" cap="none" strike="noStrike">
                          <a:solidFill>
                            <a:schemeClr val="dk1"/>
                          </a:solidFill>
                          <a:latin typeface="Arial"/>
                          <a:ea typeface="Arial"/>
                          <a:cs typeface="Arial"/>
                          <a:sym typeface="Arial"/>
                        </a:rPr>
                        <a:t>​</a:t>
                      </a:r>
                      <a:r>
                        <a:rPr lang="hr" sz="1800" u="none" cap="none" strike="noStrike">
                          <a:solidFill>
                            <a:schemeClr val="dk2"/>
                          </a:solidFill>
                          <a:latin typeface="Arial"/>
                          <a:ea typeface="Arial"/>
                          <a:cs typeface="Arial"/>
                          <a:sym typeface="Arial"/>
                        </a:rPr>
                        <a:t>Stalno razmišljanje o problemu, nemogućnost koncentriranja, slabije pamćenje, negativne misli</a:t>
                      </a:r>
                      <a:endParaRPr sz="1800" u="none" cap="none" strike="noStrike">
                        <a:solidFill>
                          <a:schemeClr val="dk1"/>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latin typeface="Arial"/>
                        <a:ea typeface="Arial"/>
                        <a:cs typeface="Arial"/>
                        <a:sym typeface="Arial"/>
                      </a:endParaRPr>
                    </a:p>
                    <a:p>
                      <a:pPr indent="0" lvl="0" marL="0" marR="0" rtl="0" algn="ctr">
                        <a:lnSpc>
                          <a:spcPct val="90000"/>
                        </a:lnSpc>
                        <a:spcBef>
                          <a:spcPts val="375"/>
                        </a:spcBef>
                        <a:spcAft>
                          <a:spcPts val="0"/>
                        </a:spcAft>
                        <a:buClr>
                          <a:srgbClr val="000000"/>
                        </a:buClr>
                        <a:buSzPts val="1800"/>
                        <a:buFont typeface="Arial"/>
                        <a:buNone/>
                      </a:pPr>
                      <a:r>
                        <a:rPr lang="hr" sz="1800" u="none" cap="none" strike="noStrike">
                          <a:solidFill>
                            <a:schemeClr val="dk2"/>
                          </a:solidFill>
                          <a:latin typeface="Arial"/>
                          <a:ea typeface="Arial"/>
                          <a:cs typeface="Arial"/>
                          <a:sym typeface="Arial"/>
                        </a:rPr>
                        <a:t>Nelagoda, anksioznost, ljutnja, tuga, bespomoćnost </a:t>
                      </a:r>
                      <a:endParaRPr sz="1800" u="none" cap="none" strike="noStrike">
                        <a:latin typeface="Arial"/>
                        <a:ea typeface="Arial"/>
                        <a:cs typeface="Arial"/>
                        <a:sym typeface="Arial"/>
                      </a:endParaRPr>
                    </a:p>
                  </a:txBody>
                  <a:tcPr marT="34300" marB="34300" marR="68600" marL="68600"/>
                </a:tc>
                <a:tc>
                  <a:txBody>
                    <a:bodyPr/>
                    <a:lstStyle/>
                    <a:p>
                      <a:pPr indent="0" lvl="0" marL="0" marR="0" rtl="0" algn="l">
                        <a:lnSpc>
                          <a:spcPct val="90000"/>
                        </a:lnSpc>
                        <a:spcBef>
                          <a:spcPts val="0"/>
                        </a:spcBef>
                        <a:spcAft>
                          <a:spcPts val="0"/>
                        </a:spcAft>
                        <a:buClr>
                          <a:srgbClr val="000000"/>
                        </a:buClr>
                        <a:buSzPts val="1400"/>
                        <a:buFont typeface="Arial"/>
                        <a:buNone/>
                      </a:pPr>
                      <a:r>
                        <a:t/>
                      </a:r>
                      <a:endParaRPr sz="1400" u="none" cap="none" strike="noStrike">
                        <a:solidFill>
                          <a:schemeClr val="dk2"/>
                        </a:solidFill>
                        <a:latin typeface="Arial"/>
                        <a:ea typeface="Arial"/>
                        <a:cs typeface="Arial"/>
                        <a:sym typeface="Arial"/>
                      </a:endParaRPr>
                    </a:p>
                    <a:p>
                      <a:pPr indent="0" lvl="0" marL="0" marR="0" rtl="0" algn="l">
                        <a:lnSpc>
                          <a:spcPct val="90000"/>
                        </a:lnSpc>
                        <a:spcBef>
                          <a:spcPts val="375"/>
                        </a:spcBef>
                        <a:spcAft>
                          <a:spcPts val="0"/>
                        </a:spcAft>
                        <a:buClr>
                          <a:srgbClr val="000000"/>
                        </a:buClr>
                        <a:buSzPts val="1400"/>
                        <a:buFont typeface="Arial"/>
                        <a:buNone/>
                      </a:pPr>
                      <a:r>
                        <a:t/>
                      </a:r>
                      <a:endParaRPr sz="1400" u="none" cap="none" strike="noStrike">
                        <a:solidFill>
                          <a:schemeClr val="dk2"/>
                        </a:solidFill>
                        <a:latin typeface="Arial"/>
                        <a:ea typeface="Arial"/>
                        <a:cs typeface="Arial"/>
                        <a:sym typeface="Arial"/>
                      </a:endParaRPr>
                    </a:p>
                    <a:p>
                      <a:pPr indent="0" lvl="0" marL="0" marR="0" rtl="0" algn="ctr">
                        <a:lnSpc>
                          <a:spcPct val="90000"/>
                        </a:lnSpc>
                        <a:spcBef>
                          <a:spcPts val="375"/>
                        </a:spcBef>
                        <a:spcAft>
                          <a:spcPts val="0"/>
                        </a:spcAft>
                        <a:buClr>
                          <a:srgbClr val="000000"/>
                        </a:buClr>
                        <a:buSzPts val="1800"/>
                        <a:buFont typeface="Arial"/>
                        <a:buNone/>
                      </a:pPr>
                      <a:r>
                        <a:rPr lang="hr" sz="1800" u="none" cap="none" strike="noStrike">
                          <a:solidFill>
                            <a:schemeClr val="dk2"/>
                          </a:solidFill>
                          <a:latin typeface="Arial"/>
                          <a:ea typeface="Arial"/>
                          <a:cs typeface="Arial"/>
                          <a:sym typeface="Arial"/>
                        </a:rPr>
                        <a:t>Pojačano znojenje, ubrzano lupanje srca i disanje, nesanica, mučnina, povraćanje, treskavica</a:t>
                      </a:r>
                      <a:endParaRPr sz="1800" u="none" cap="none" strike="noStrike">
                        <a:solidFill>
                          <a:schemeClr val="dk1"/>
                        </a:solidFill>
                        <a:latin typeface="Arial"/>
                        <a:ea typeface="Arial"/>
                        <a:cs typeface="Arial"/>
                        <a:sym typeface="Arial"/>
                      </a:endParaRPr>
                    </a:p>
                  </a:txBody>
                  <a:tcPr marT="34300" marB="34300" marR="68600" marL="68600"/>
                </a:tc>
                <a:tc>
                  <a:txBody>
                    <a:bodyPr/>
                    <a:lstStyle/>
                    <a:p>
                      <a:pPr indent="0" lvl="0" marL="0" marR="0" rtl="0" algn="l">
                        <a:lnSpc>
                          <a:spcPct val="90000"/>
                        </a:lnSpc>
                        <a:spcBef>
                          <a:spcPts val="0"/>
                        </a:spcBef>
                        <a:spcAft>
                          <a:spcPts val="0"/>
                        </a:spcAft>
                        <a:buClr>
                          <a:srgbClr val="000000"/>
                        </a:buClr>
                        <a:buSzPts val="1400"/>
                        <a:buFont typeface="Arial"/>
                        <a:buNone/>
                      </a:pPr>
                      <a:r>
                        <a:t/>
                      </a:r>
                      <a:endParaRPr sz="1400" u="none" cap="none" strike="noStrike">
                        <a:solidFill>
                          <a:schemeClr val="dk2"/>
                        </a:solidFill>
                        <a:latin typeface="Arial"/>
                        <a:ea typeface="Arial"/>
                        <a:cs typeface="Arial"/>
                        <a:sym typeface="Arial"/>
                      </a:endParaRPr>
                    </a:p>
                    <a:p>
                      <a:pPr indent="0" lvl="0" marL="0" marR="0" rtl="0" algn="ctr">
                        <a:lnSpc>
                          <a:spcPct val="90000"/>
                        </a:lnSpc>
                        <a:spcBef>
                          <a:spcPts val="1200"/>
                        </a:spcBef>
                        <a:spcAft>
                          <a:spcPts val="0"/>
                        </a:spcAft>
                        <a:buClr>
                          <a:srgbClr val="000000"/>
                        </a:buClr>
                        <a:buSzPts val="1800"/>
                        <a:buFont typeface="Arial"/>
                        <a:buNone/>
                      </a:pPr>
                      <a:r>
                        <a:rPr lang="hr" sz="1800" u="none" cap="none" strike="noStrike">
                          <a:solidFill>
                            <a:schemeClr val="dk2"/>
                          </a:solidFill>
                          <a:latin typeface="Arial"/>
                          <a:ea typeface="Arial"/>
                          <a:cs typeface="Arial"/>
                          <a:sym typeface="Arial"/>
                        </a:rPr>
                        <a:t>izbjegavanje stresne situacije, pretjerano suočavanje, pričanje o onome što nas muči, povlačenje, prokrastinacija</a:t>
                      </a:r>
                      <a:endParaRPr sz="1800" u="none" cap="none" strike="noStrike">
                        <a:solidFill>
                          <a:schemeClr val="dk1"/>
                        </a:solidFill>
                        <a:latin typeface="Arial"/>
                        <a:ea typeface="Arial"/>
                        <a:cs typeface="Arial"/>
                        <a:sym typeface="Arial"/>
                      </a:endParaRPr>
                    </a:p>
                  </a:txBody>
                  <a:tcPr marT="34300" marB="34300" marR="68600" marL="6860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hr"/>
              <a:t>Znakovi stresa – utjecaj na učinak u zadatku (trema)</a:t>
            </a:r>
            <a:endParaRPr/>
          </a:p>
        </p:txBody>
      </p:sp>
      <p:pic>
        <p:nvPicPr>
          <p:cNvPr descr="Illustration of Yerkes-Dodson law [1]. | Download Scientific Diagram" id="185" name="Google Shape;185;p12"/>
          <p:cNvPicPr preferRelativeResize="0"/>
          <p:nvPr>
            <p:ph idx="1" type="body"/>
          </p:nvPr>
        </p:nvPicPr>
        <p:blipFill rotWithShape="1">
          <a:blip r:embed="rId3">
            <a:alphaModFix/>
          </a:blip>
          <a:srcRect b="0" l="0" r="0" t="0"/>
          <a:stretch/>
        </p:blipFill>
        <p:spPr>
          <a:xfrm>
            <a:off x="1290900" y="1455648"/>
            <a:ext cx="7025100" cy="3398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3"/>
          <p:cNvSpPr txBox="1"/>
          <p:nvPr>
            <p:ph type="title"/>
          </p:nvPr>
        </p:nvSpPr>
        <p:spPr>
          <a:xfrm>
            <a:off x="374650" y="250031"/>
            <a:ext cx="8229600" cy="8574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Calibri"/>
              <a:buNone/>
            </a:pPr>
            <a:r>
              <a:rPr lang="hr" sz="2800"/>
              <a:t>Suočavanje sa stresom </a:t>
            </a:r>
            <a:endParaRPr b="1" sz="2800"/>
          </a:p>
        </p:txBody>
      </p:sp>
      <p:pic>
        <p:nvPicPr>
          <p:cNvPr descr="Why do I freak out when I'm stressed? | Kids Helpline" id="191" name="Google Shape;191;p13"/>
          <p:cNvPicPr preferRelativeResize="0"/>
          <p:nvPr/>
        </p:nvPicPr>
        <p:blipFill rotWithShape="1">
          <a:blip r:embed="rId3">
            <a:alphaModFix/>
          </a:blip>
          <a:srcRect b="0" l="0" r="0" t="0"/>
          <a:stretch/>
        </p:blipFill>
        <p:spPr>
          <a:xfrm>
            <a:off x="2030516" y="1107419"/>
            <a:ext cx="5389495" cy="3061531"/>
          </a:xfrm>
          <a:prstGeom prst="rect">
            <a:avLst/>
          </a:prstGeom>
          <a:noFill/>
          <a:ln>
            <a:noFill/>
          </a:ln>
        </p:spPr>
      </p:pic>
      <p:sp>
        <p:nvSpPr>
          <p:cNvPr id="192" name="Google Shape;192;p13"/>
          <p:cNvSpPr txBox="1"/>
          <p:nvPr/>
        </p:nvSpPr>
        <p:spPr>
          <a:xfrm>
            <a:off x="1554266" y="4399310"/>
            <a:ext cx="2448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hr" sz="2000" u="none" cap="none" strike="noStrike">
                <a:solidFill>
                  <a:schemeClr val="dk1"/>
                </a:solidFill>
                <a:latin typeface="Calibri"/>
                <a:ea typeface="Calibri"/>
                <a:cs typeface="Calibri"/>
                <a:sym typeface="Calibri"/>
              </a:rPr>
              <a:t>Borba</a:t>
            </a:r>
            <a:endParaRPr b="1" i="0" sz="1800" u="none" cap="none" strike="noStrike">
              <a:solidFill>
                <a:schemeClr val="dk1"/>
              </a:solidFill>
              <a:latin typeface="Calibri"/>
              <a:ea typeface="Calibri"/>
              <a:cs typeface="Calibri"/>
              <a:sym typeface="Calibri"/>
            </a:endParaRPr>
          </a:p>
        </p:txBody>
      </p:sp>
      <p:sp>
        <p:nvSpPr>
          <p:cNvPr id="193" name="Google Shape;193;p13"/>
          <p:cNvSpPr txBox="1"/>
          <p:nvPr/>
        </p:nvSpPr>
        <p:spPr>
          <a:xfrm>
            <a:off x="4146554" y="4461944"/>
            <a:ext cx="2448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hr" sz="2000" u="none" cap="none" strike="noStrike">
                <a:solidFill>
                  <a:schemeClr val="dk1"/>
                </a:solidFill>
                <a:latin typeface="Calibri"/>
                <a:ea typeface="Calibri"/>
                <a:cs typeface="Calibri"/>
                <a:sym typeface="Calibri"/>
              </a:rPr>
              <a:t>Bijeg</a:t>
            </a:r>
            <a:endParaRPr b="1" i="0" sz="1800" u="none" cap="none" strike="noStrike">
              <a:solidFill>
                <a:schemeClr val="dk1"/>
              </a:solidFill>
              <a:latin typeface="Calibri"/>
              <a:ea typeface="Calibri"/>
              <a:cs typeface="Calibri"/>
              <a:sym typeface="Calibri"/>
            </a:endParaRPr>
          </a:p>
        </p:txBody>
      </p:sp>
      <p:sp>
        <p:nvSpPr>
          <p:cNvPr id="194" name="Google Shape;194;p13"/>
          <p:cNvSpPr txBox="1"/>
          <p:nvPr/>
        </p:nvSpPr>
        <p:spPr>
          <a:xfrm>
            <a:off x="6394602" y="4461960"/>
            <a:ext cx="2448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hr" sz="2000" u="none" cap="none" strike="noStrike">
                <a:solidFill>
                  <a:schemeClr val="dk1"/>
                </a:solidFill>
                <a:latin typeface="Calibri"/>
                <a:ea typeface="Calibri"/>
                <a:cs typeface="Calibri"/>
                <a:sym typeface="Calibri"/>
              </a:rPr>
              <a:t>Smrzavanje</a:t>
            </a:r>
            <a:endParaRPr b="1" i="0" sz="20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14"/>
          <p:cNvSpPr txBox="1"/>
          <p:nvPr>
            <p:ph type="title"/>
          </p:nvPr>
        </p:nvSpPr>
        <p:spPr>
          <a:xfrm>
            <a:off x="606478" y="290198"/>
            <a:ext cx="6927600" cy="891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700"/>
              <a:buFont typeface="Calibri"/>
              <a:buNone/>
            </a:pPr>
            <a:r>
              <a:rPr lang="hr" sz="4700"/>
              <a:t>Suočavanje sa stresom  </a:t>
            </a:r>
            <a:endParaRPr sz="4700"/>
          </a:p>
        </p:txBody>
      </p:sp>
      <p:sp>
        <p:nvSpPr>
          <p:cNvPr id="200" name="Google Shape;200;p14"/>
          <p:cNvSpPr txBox="1"/>
          <p:nvPr>
            <p:ph idx="1" type="body"/>
          </p:nvPr>
        </p:nvSpPr>
        <p:spPr>
          <a:xfrm>
            <a:off x="107504" y="1791913"/>
            <a:ext cx="8280900" cy="2971500"/>
          </a:xfrm>
          <a:prstGeom prst="rect">
            <a:avLst/>
          </a:prstGeom>
          <a:noFill/>
          <a:ln>
            <a:noFill/>
          </a:ln>
        </p:spPr>
        <p:txBody>
          <a:bodyPr anchorCtr="0" anchor="ctr"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1800"/>
              <a:buFont typeface="Calibri"/>
              <a:buAutoNum type="arabicPeriod"/>
            </a:pPr>
            <a:r>
              <a:rPr b="1" lang="hr" sz="1800"/>
              <a:t> Suočavanje usmjereno na problem</a:t>
            </a:r>
            <a:endParaRPr b="1" sz="1800"/>
          </a:p>
          <a:p>
            <a:pPr indent="-171450" lvl="1" marL="514350" rtl="0" algn="l">
              <a:lnSpc>
                <a:spcPct val="90000"/>
              </a:lnSpc>
              <a:spcBef>
                <a:spcPts val="375"/>
              </a:spcBef>
              <a:spcAft>
                <a:spcPts val="0"/>
              </a:spcAft>
              <a:buClr>
                <a:schemeClr val="dk1"/>
              </a:buClr>
              <a:buSzPts val="1800"/>
              <a:buChar char="○"/>
            </a:pPr>
            <a:r>
              <a:rPr lang="hr"/>
              <a:t>Djelovanje na ono nad čime imamo kontrolu </a:t>
            </a:r>
            <a:endParaRPr/>
          </a:p>
          <a:p>
            <a:pPr indent="-57150" lvl="1" marL="514350" rtl="0" algn="l">
              <a:lnSpc>
                <a:spcPct val="90000"/>
              </a:lnSpc>
              <a:spcBef>
                <a:spcPts val="375"/>
              </a:spcBef>
              <a:spcAft>
                <a:spcPts val="0"/>
              </a:spcAft>
              <a:buClr>
                <a:schemeClr val="dk1"/>
              </a:buClr>
              <a:buSzPts val="1800"/>
              <a:buNone/>
            </a:pPr>
            <a:r>
              <a:t/>
            </a:r>
            <a:endParaRPr/>
          </a:p>
          <a:p>
            <a:pPr indent="-514350" lvl="0" marL="514350" rtl="0" algn="l">
              <a:lnSpc>
                <a:spcPct val="90000"/>
              </a:lnSpc>
              <a:spcBef>
                <a:spcPts val="750"/>
              </a:spcBef>
              <a:spcAft>
                <a:spcPts val="0"/>
              </a:spcAft>
              <a:buClr>
                <a:schemeClr val="dk1"/>
              </a:buClr>
              <a:buSzPts val="1800"/>
              <a:buAutoNum type="arabicPeriod"/>
            </a:pPr>
            <a:r>
              <a:rPr b="1" lang="hr" sz="1800"/>
              <a:t>Suočavanje usmjereno na emocije </a:t>
            </a:r>
            <a:endParaRPr/>
          </a:p>
          <a:p>
            <a:pPr indent="-171450" lvl="1" marL="514350" rtl="0" algn="l">
              <a:lnSpc>
                <a:spcPct val="90000"/>
              </a:lnSpc>
              <a:spcBef>
                <a:spcPts val="375"/>
              </a:spcBef>
              <a:spcAft>
                <a:spcPts val="0"/>
              </a:spcAft>
              <a:buClr>
                <a:schemeClr val="dk1"/>
              </a:buClr>
              <a:buSzPts val="1800"/>
              <a:buChar char="○"/>
            </a:pPr>
            <a:r>
              <a:rPr lang="hr"/>
              <a:t>Kada nemamo kontrolu ili vjerujemo da je nemamo, nastojimo smanjiti neugodne emocije </a:t>
            </a:r>
            <a:endParaRPr/>
          </a:p>
          <a:p>
            <a:pPr indent="-171450" lvl="1" marL="514350" rtl="0" algn="l">
              <a:lnSpc>
                <a:spcPct val="90000"/>
              </a:lnSpc>
              <a:spcBef>
                <a:spcPts val="375"/>
              </a:spcBef>
              <a:spcAft>
                <a:spcPts val="0"/>
              </a:spcAft>
              <a:buClr>
                <a:schemeClr val="dk1"/>
              </a:buClr>
              <a:buSzPts val="1800"/>
              <a:buChar char="○"/>
            </a:pPr>
            <a:r>
              <a:rPr lang="hr"/>
              <a:t>Prihvaćanje situacije takvom kakva jest</a:t>
            </a:r>
            <a:endParaRPr/>
          </a:p>
          <a:p>
            <a:pPr indent="-171450" lvl="1" marL="514350" rtl="0" algn="l">
              <a:lnSpc>
                <a:spcPct val="90000"/>
              </a:lnSpc>
              <a:spcBef>
                <a:spcPts val="375"/>
              </a:spcBef>
              <a:spcAft>
                <a:spcPts val="0"/>
              </a:spcAft>
              <a:buClr>
                <a:schemeClr val="dk1"/>
              </a:buClr>
              <a:buSzPts val="1800"/>
              <a:buChar char="○"/>
            </a:pPr>
            <a:r>
              <a:rPr lang="hr"/>
              <a:t>Socijalna podrška, ugodne aktivnosti, skretanje pažnje</a:t>
            </a:r>
            <a:endParaRPr/>
          </a:p>
          <a:p>
            <a:pPr indent="-57150" lvl="1" marL="514350" rtl="0" algn="l">
              <a:lnSpc>
                <a:spcPct val="90000"/>
              </a:lnSpc>
              <a:spcBef>
                <a:spcPts val="375"/>
              </a:spcBef>
              <a:spcAft>
                <a:spcPts val="0"/>
              </a:spcAft>
              <a:buClr>
                <a:schemeClr val="dk1"/>
              </a:buClr>
              <a:buSzPts val="1800"/>
              <a:buNone/>
            </a:pPr>
            <a:r>
              <a:t/>
            </a:r>
            <a:endParaRPr/>
          </a:p>
          <a:p>
            <a:pPr indent="-514350" lvl="0" marL="514350" rtl="0" algn="l">
              <a:lnSpc>
                <a:spcPct val="90000"/>
              </a:lnSpc>
              <a:spcBef>
                <a:spcPts val="750"/>
              </a:spcBef>
              <a:spcAft>
                <a:spcPts val="0"/>
              </a:spcAft>
              <a:buClr>
                <a:schemeClr val="dk1"/>
              </a:buClr>
              <a:buSzPts val="1800"/>
              <a:buFont typeface="Calibri"/>
              <a:buAutoNum type="arabicPeriod"/>
            </a:pPr>
            <a:r>
              <a:rPr b="1" lang="hr" sz="1800"/>
              <a:t>Izbjegavanje</a:t>
            </a:r>
            <a:endParaRPr b="1" sz="1800"/>
          </a:p>
          <a:p>
            <a:pPr indent="-171450" lvl="1" marL="514350" rtl="0" algn="l">
              <a:lnSpc>
                <a:spcPct val="90000"/>
              </a:lnSpc>
              <a:spcBef>
                <a:spcPts val="375"/>
              </a:spcBef>
              <a:spcAft>
                <a:spcPts val="0"/>
              </a:spcAft>
              <a:buClr>
                <a:schemeClr val="dk1"/>
              </a:buClr>
              <a:buSzPts val="1800"/>
              <a:buChar char="○"/>
            </a:pPr>
            <a:r>
              <a:rPr lang="hr"/>
              <a:t>Kada vjerujemo da ne možemo riješiti problem niti se utješiti</a:t>
            </a:r>
            <a:endParaRPr/>
          </a:p>
          <a:p>
            <a:pPr indent="-171450" lvl="1" marL="514350" rtl="0" algn="l">
              <a:lnSpc>
                <a:spcPct val="90000"/>
              </a:lnSpc>
              <a:spcBef>
                <a:spcPts val="375"/>
              </a:spcBef>
              <a:spcAft>
                <a:spcPts val="0"/>
              </a:spcAft>
              <a:buClr>
                <a:schemeClr val="dk1"/>
              </a:buClr>
              <a:buSzPts val="1800"/>
              <a:buChar char="○"/>
            </a:pPr>
            <a:r>
              <a:rPr lang="hr"/>
              <a:t>Kratkoročno olakšanje</a:t>
            </a:r>
            <a:endParaRPr/>
          </a:p>
          <a:p>
            <a:pPr indent="-171450" lvl="1" marL="514350" rtl="0" algn="l">
              <a:lnSpc>
                <a:spcPct val="90000"/>
              </a:lnSpc>
              <a:spcBef>
                <a:spcPts val="375"/>
              </a:spcBef>
              <a:spcAft>
                <a:spcPts val="1200"/>
              </a:spcAft>
              <a:buClr>
                <a:schemeClr val="dk1"/>
              </a:buClr>
              <a:buSzPts val="1800"/>
              <a:buChar char="○"/>
            </a:pPr>
            <a:r>
              <a:rPr lang="hr"/>
              <a:t>Dugoročno potkrepljujemo ponašanje koje nas vodi još većem izbjegavanju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5"/>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hr"/>
              <a:t>Suočavanje sa stresom  </a:t>
            </a:r>
            <a:endParaRPr/>
          </a:p>
        </p:txBody>
      </p:sp>
      <p:sp>
        <p:nvSpPr>
          <p:cNvPr id="206" name="Google Shape;206;p15"/>
          <p:cNvSpPr txBox="1"/>
          <p:nvPr>
            <p:ph idx="1" type="body"/>
          </p:nvPr>
        </p:nvSpPr>
        <p:spPr>
          <a:xfrm>
            <a:off x="628650" y="1268018"/>
            <a:ext cx="7886700" cy="3788100"/>
          </a:xfrm>
          <a:prstGeom prst="rect">
            <a:avLst/>
          </a:prstGeom>
          <a:noFill/>
          <a:ln>
            <a:noFill/>
          </a:ln>
        </p:spPr>
        <p:txBody>
          <a:bodyPr anchorCtr="0" anchor="t" bIns="45700" lIns="91425" spcFirstLastPara="1" rIns="91425" wrap="square" tIns="45700">
            <a:normAutofit fontScale="92500" lnSpcReduction="20000"/>
          </a:bodyPr>
          <a:lstStyle/>
          <a:p>
            <a:pPr indent="-445769" lvl="0" marL="457200" rtl="0" algn="l">
              <a:lnSpc>
                <a:spcPct val="90000"/>
              </a:lnSpc>
              <a:spcBef>
                <a:spcPts val="0"/>
              </a:spcBef>
              <a:spcAft>
                <a:spcPts val="0"/>
              </a:spcAft>
              <a:buClr>
                <a:schemeClr val="dk1"/>
              </a:buClr>
              <a:buSzPct val="100000"/>
              <a:buFont typeface="Calibri"/>
              <a:buAutoNum type="arabicPeriod"/>
            </a:pPr>
            <a:r>
              <a:rPr b="1" lang="hr" sz="2400"/>
              <a:t> Suočavanje usmjereno na problem</a:t>
            </a:r>
            <a:endParaRPr b="1" sz="2400"/>
          </a:p>
          <a:p>
            <a:pPr indent="-161479" lvl="1" marL="514350" rtl="0" algn="l">
              <a:lnSpc>
                <a:spcPct val="90000"/>
              </a:lnSpc>
              <a:spcBef>
                <a:spcPts val="375"/>
              </a:spcBef>
              <a:spcAft>
                <a:spcPts val="0"/>
              </a:spcAft>
              <a:buClr>
                <a:schemeClr val="dk1"/>
              </a:buClr>
              <a:buSzPct val="100000"/>
              <a:buChar char="○"/>
            </a:pPr>
            <a:r>
              <a:rPr lang="hr" sz="2100"/>
              <a:t>Učimo za test, prijavljujemo se za novi posao, selimo, tražimo nove prijatelje...</a:t>
            </a:r>
            <a:endParaRPr/>
          </a:p>
          <a:p>
            <a:pPr indent="-38100" lvl="1" marL="514350" rtl="0" algn="l">
              <a:lnSpc>
                <a:spcPct val="90000"/>
              </a:lnSpc>
              <a:spcBef>
                <a:spcPts val="375"/>
              </a:spcBef>
              <a:spcAft>
                <a:spcPts val="0"/>
              </a:spcAft>
              <a:buClr>
                <a:schemeClr val="dk1"/>
              </a:buClr>
              <a:buSzPct val="100000"/>
              <a:buNone/>
            </a:pPr>
            <a:r>
              <a:t/>
            </a:r>
            <a:endParaRPr sz="2100"/>
          </a:p>
          <a:p>
            <a:pPr indent="-502919" lvl="0" marL="514350" rtl="0" algn="l">
              <a:lnSpc>
                <a:spcPct val="90000"/>
              </a:lnSpc>
              <a:spcBef>
                <a:spcPts val="750"/>
              </a:spcBef>
              <a:spcAft>
                <a:spcPts val="0"/>
              </a:spcAft>
              <a:buClr>
                <a:schemeClr val="dk1"/>
              </a:buClr>
              <a:buSzPct val="100000"/>
              <a:buAutoNum type="arabicPeriod"/>
            </a:pPr>
            <a:r>
              <a:rPr b="1" lang="hr" sz="2400"/>
              <a:t>Suočavanje usmjereno na emocije </a:t>
            </a:r>
            <a:endParaRPr/>
          </a:p>
          <a:p>
            <a:pPr indent="-161479" lvl="1" marL="514350" rtl="0" algn="l">
              <a:lnSpc>
                <a:spcPct val="90000"/>
              </a:lnSpc>
              <a:spcBef>
                <a:spcPts val="375"/>
              </a:spcBef>
              <a:spcAft>
                <a:spcPts val="0"/>
              </a:spcAft>
              <a:buClr>
                <a:schemeClr val="dk1"/>
              </a:buClr>
              <a:buSzPct val="100000"/>
              <a:buChar char="○"/>
            </a:pPr>
            <a:r>
              <a:rPr lang="hr" sz="2100"/>
              <a:t>Razgovor s prijateljima, meditacija, fizičko vježbanje, prihvaćanje da sada ne možemo više ništa oko situacije, bavljenje kućnim ljubimcima, hobiji...</a:t>
            </a:r>
            <a:endParaRPr/>
          </a:p>
          <a:p>
            <a:pPr indent="-38100" lvl="1" marL="514350" rtl="0" algn="l">
              <a:lnSpc>
                <a:spcPct val="90000"/>
              </a:lnSpc>
              <a:spcBef>
                <a:spcPts val="375"/>
              </a:spcBef>
              <a:spcAft>
                <a:spcPts val="0"/>
              </a:spcAft>
              <a:buClr>
                <a:schemeClr val="dk1"/>
              </a:buClr>
              <a:buSzPct val="100000"/>
              <a:buNone/>
            </a:pPr>
            <a:r>
              <a:t/>
            </a:r>
            <a:endParaRPr sz="2100"/>
          </a:p>
          <a:p>
            <a:pPr indent="-502919" lvl="0" marL="514350" rtl="0" algn="l">
              <a:lnSpc>
                <a:spcPct val="90000"/>
              </a:lnSpc>
              <a:spcBef>
                <a:spcPts val="750"/>
              </a:spcBef>
              <a:spcAft>
                <a:spcPts val="0"/>
              </a:spcAft>
              <a:buClr>
                <a:schemeClr val="dk1"/>
              </a:buClr>
              <a:buSzPct val="100000"/>
              <a:buFont typeface="Calibri"/>
              <a:buAutoNum type="arabicPeriod"/>
            </a:pPr>
            <a:r>
              <a:rPr b="1" lang="hr" sz="2400"/>
              <a:t>Izbjegavanje</a:t>
            </a:r>
            <a:endParaRPr b="1" sz="2400"/>
          </a:p>
          <a:p>
            <a:pPr indent="-161479" lvl="1" marL="514350" rtl="0" algn="l">
              <a:lnSpc>
                <a:spcPct val="90000"/>
              </a:lnSpc>
              <a:spcBef>
                <a:spcPts val="375"/>
              </a:spcBef>
              <a:spcAft>
                <a:spcPts val="1200"/>
              </a:spcAft>
              <a:buClr>
                <a:schemeClr val="dk1"/>
              </a:buClr>
              <a:buSzPct val="100000"/>
              <a:buChar char="○"/>
            </a:pPr>
            <a:r>
              <a:rPr lang="hr" sz="2100"/>
              <a:t>Ne odlazak na ispit zbog straha od loše ocjene, ne javljanje nekome tko nam se sviđa zbog straha od odbijanja, ne prijavljivanje za posao zbog straha od odbijenice, izbjegavanje razgovora s nekim jer nam je neugodno, izbjegavanje neugodnih osoba iz naše okoline...</a:t>
            </a:r>
            <a:endParaRPr sz="2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 name="Shape 210"/>
        <p:cNvGrpSpPr/>
        <p:nvPr/>
      </p:nvGrpSpPr>
      <p:grpSpPr>
        <a:xfrm>
          <a:off x="0" y="0"/>
          <a:ext cx="0" cy="0"/>
          <a:chOff x="0" y="0"/>
          <a:chExt cx="0" cy="0"/>
        </a:xfrm>
      </p:grpSpPr>
      <p:sp>
        <p:nvSpPr>
          <p:cNvPr id="211" name="Google Shape;211;p16"/>
          <p:cNvSpPr/>
          <p:nvPr/>
        </p:nvSpPr>
        <p:spPr>
          <a:xfrm>
            <a:off x="0" y="0"/>
            <a:ext cx="9144000" cy="5143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 name="Google Shape;212;p16"/>
          <p:cNvSpPr txBox="1"/>
          <p:nvPr>
            <p:ph type="title"/>
          </p:nvPr>
        </p:nvSpPr>
        <p:spPr>
          <a:xfrm>
            <a:off x="595246" y="290198"/>
            <a:ext cx="7549500" cy="973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alibri"/>
              <a:buNone/>
            </a:pPr>
            <a:r>
              <a:rPr lang="hr" sz="4200"/>
              <a:t>Suočavanje sa stresom </a:t>
            </a:r>
            <a:endParaRPr/>
          </a:p>
        </p:txBody>
      </p:sp>
      <p:sp>
        <p:nvSpPr>
          <p:cNvPr id="213" name="Google Shape;213;p16"/>
          <p:cNvSpPr/>
          <p:nvPr/>
        </p:nvSpPr>
        <p:spPr>
          <a:xfrm rot="10800000">
            <a:off x="144" y="1498908"/>
            <a:ext cx="8590800" cy="5865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4" name="Google Shape;214;p16"/>
          <p:cNvSpPr/>
          <p:nvPr/>
        </p:nvSpPr>
        <p:spPr>
          <a:xfrm>
            <a:off x="0" y="1652309"/>
            <a:ext cx="8537400" cy="3201000"/>
          </a:xfrm>
          <a:prstGeom prst="rect">
            <a:avLst/>
          </a:prstGeom>
          <a:solidFill>
            <a:schemeClr val="lt1"/>
          </a:solidFill>
          <a:ln>
            <a:noFill/>
          </a:ln>
          <a:effectLst>
            <a:outerShdw blurRad="139700" rotWithShape="0" algn="t" dir="5400000" dist="127000">
              <a:srgbClr val="000000">
                <a:alpha val="1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p16"/>
          <p:cNvSpPr txBox="1"/>
          <p:nvPr>
            <p:ph idx="1" type="body"/>
          </p:nvPr>
        </p:nvSpPr>
        <p:spPr>
          <a:xfrm>
            <a:off x="251521" y="1949632"/>
            <a:ext cx="3464400" cy="2699400"/>
          </a:xfrm>
          <a:prstGeom prst="rect">
            <a:avLst/>
          </a:prstGeom>
          <a:noFill/>
          <a:ln>
            <a:noFill/>
          </a:ln>
        </p:spPr>
        <p:txBody>
          <a:bodyPr anchorCtr="0" anchor="ctr" bIns="45700" lIns="91425" spcFirstLastPara="1" rIns="91425" wrap="square" tIns="45700">
            <a:normAutofit fontScale="92500" lnSpcReduction="20000"/>
          </a:bodyPr>
          <a:lstStyle/>
          <a:p>
            <a:pPr indent="-161925" lvl="0" marL="171450" rtl="0" algn="l">
              <a:lnSpc>
                <a:spcPct val="90000"/>
              </a:lnSpc>
              <a:spcBef>
                <a:spcPts val="0"/>
              </a:spcBef>
              <a:spcAft>
                <a:spcPts val="0"/>
              </a:spcAft>
              <a:buClr>
                <a:schemeClr val="dk1"/>
              </a:buClr>
              <a:buSzPct val="100000"/>
              <a:buChar char="●"/>
            </a:pPr>
            <a:r>
              <a:rPr lang="hr" sz="2000"/>
              <a:t>Sve strategije mogu nekada biti korisne, nekada ne </a:t>
            </a:r>
            <a:endParaRPr/>
          </a:p>
          <a:p>
            <a:pPr indent="-44450" lvl="0" marL="171450" rtl="0" algn="l">
              <a:lnSpc>
                <a:spcPct val="90000"/>
              </a:lnSpc>
              <a:spcBef>
                <a:spcPts val="750"/>
              </a:spcBef>
              <a:spcAft>
                <a:spcPts val="0"/>
              </a:spcAft>
              <a:buClr>
                <a:schemeClr val="dk1"/>
              </a:buClr>
              <a:buSzPct val="100000"/>
              <a:buNone/>
            </a:pPr>
            <a:r>
              <a:t/>
            </a:r>
            <a:endParaRPr sz="2000"/>
          </a:p>
          <a:p>
            <a:pPr indent="-44450" lvl="0" marL="171450" rtl="0" algn="l">
              <a:lnSpc>
                <a:spcPct val="90000"/>
              </a:lnSpc>
              <a:spcBef>
                <a:spcPts val="750"/>
              </a:spcBef>
              <a:spcAft>
                <a:spcPts val="0"/>
              </a:spcAft>
              <a:buClr>
                <a:schemeClr val="dk1"/>
              </a:buClr>
              <a:buSzPct val="100000"/>
              <a:buNone/>
            </a:pPr>
            <a:r>
              <a:t/>
            </a:r>
            <a:endParaRPr sz="2000"/>
          </a:p>
          <a:p>
            <a:pPr indent="-161925" lvl="0" marL="171450" rtl="0" algn="l">
              <a:lnSpc>
                <a:spcPct val="90000"/>
              </a:lnSpc>
              <a:spcBef>
                <a:spcPts val="750"/>
              </a:spcBef>
              <a:spcAft>
                <a:spcPts val="0"/>
              </a:spcAft>
              <a:buClr>
                <a:schemeClr val="dk1"/>
              </a:buClr>
              <a:buSzPct val="100000"/>
              <a:buChar char="●"/>
            </a:pPr>
            <a:r>
              <a:rPr lang="hr" sz="2000"/>
              <a:t>Važno je da nas dugoročno vode nečemu što nam je važno, a da nas pri tome ne vode još većim tešoćama </a:t>
            </a:r>
            <a:endParaRPr/>
          </a:p>
          <a:p>
            <a:pPr indent="-19050" lvl="0" marL="171450" rtl="0" algn="l">
              <a:lnSpc>
                <a:spcPct val="90000"/>
              </a:lnSpc>
              <a:spcBef>
                <a:spcPts val="750"/>
              </a:spcBef>
              <a:spcAft>
                <a:spcPts val="0"/>
              </a:spcAft>
              <a:buClr>
                <a:schemeClr val="dk1"/>
              </a:buClr>
              <a:buSzPct val="100000"/>
              <a:buNone/>
            </a:pPr>
            <a:r>
              <a:t/>
            </a:r>
            <a:endParaRPr sz="2400"/>
          </a:p>
          <a:p>
            <a:pPr indent="0" lvl="0" marL="0" rtl="0" algn="l">
              <a:lnSpc>
                <a:spcPct val="90000"/>
              </a:lnSpc>
              <a:spcBef>
                <a:spcPts val="750"/>
              </a:spcBef>
              <a:spcAft>
                <a:spcPts val="1200"/>
              </a:spcAft>
              <a:buClr>
                <a:schemeClr val="dk1"/>
              </a:buClr>
              <a:buSzPct val="100000"/>
              <a:buNone/>
            </a:pPr>
            <a:r>
              <a:t/>
            </a:r>
            <a:endParaRPr sz="1700"/>
          </a:p>
        </p:txBody>
      </p:sp>
      <p:pic>
        <p:nvPicPr>
          <p:cNvPr descr="13581236346101781_GViCHWF5_c.jpg" id="216" name="Google Shape;216;p16"/>
          <p:cNvPicPr preferRelativeResize="0"/>
          <p:nvPr/>
        </p:nvPicPr>
        <p:blipFill rotWithShape="1">
          <a:blip r:embed="rId3">
            <a:alphaModFix/>
          </a:blip>
          <a:srcRect b="0" l="2742" r="12611" t="0"/>
          <a:stretch/>
        </p:blipFill>
        <p:spPr>
          <a:xfrm>
            <a:off x="4064069" y="1919285"/>
            <a:ext cx="2056354" cy="2729589"/>
          </a:xfrm>
          <a:prstGeom prst="rect">
            <a:avLst/>
          </a:prstGeom>
          <a:noFill/>
          <a:ln>
            <a:noFill/>
          </a:ln>
        </p:spPr>
      </p:pic>
      <p:pic>
        <p:nvPicPr>
          <p:cNvPr descr="326518258_Aijxa2BB_c.jpg" id="217" name="Google Shape;217;p16"/>
          <p:cNvPicPr preferRelativeResize="0"/>
          <p:nvPr/>
        </p:nvPicPr>
        <p:blipFill rotWithShape="1">
          <a:blip r:embed="rId4">
            <a:alphaModFix/>
          </a:blip>
          <a:srcRect b="0" l="25067" r="18396" t="0"/>
          <a:stretch/>
        </p:blipFill>
        <p:spPr>
          <a:xfrm>
            <a:off x="6309462" y="1919285"/>
            <a:ext cx="2057715" cy="2729589"/>
          </a:xfrm>
          <a:prstGeom prst="rect">
            <a:avLst/>
          </a:prstGeom>
          <a:noFill/>
          <a:ln>
            <a:noFill/>
          </a:ln>
        </p:spPr>
      </p:pic>
      <p:sp>
        <p:nvSpPr>
          <p:cNvPr id="218" name="Google Shape;218;p16"/>
          <p:cNvSpPr/>
          <p:nvPr/>
        </p:nvSpPr>
        <p:spPr>
          <a:xfrm rot="5400000">
            <a:off x="8420912" y="1734876"/>
            <a:ext cx="586500" cy="1143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17"/>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4" name="Google Shape;224;p17"/>
          <p:cNvSpPr txBox="1"/>
          <p:nvPr>
            <p:ph type="title"/>
          </p:nvPr>
        </p:nvSpPr>
        <p:spPr>
          <a:xfrm>
            <a:off x="473202" y="480060"/>
            <a:ext cx="3614100" cy="11112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hr" sz="2900"/>
              <a:t>Suočavanje sa stresom i neugodnim emocijama</a:t>
            </a:r>
            <a:endParaRPr sz="2900"/>
          </a:p>
        </p:txBody>
      </p:sp>
      <p:sp>
        <p:nvSpPr>
          <p:cNvPr id="225" name="Google Shape;225;p17"/>
          <p:cNvSpPr/>
          <p:nvPr/>
        </p:nvSpPr>
        <p:spPr>
          <a:xfrm>
            <a:off x="482458" y="1779651"/>
            <a:ext cx="2441321" cy="13716"/>
          </a:xfrm>
          <a:custGeom>
            <a:rect b="b" l="l" r="r" t="t"/>
            <a:pathLst>
              <a:path extrusionOk="0" fill="none" h="18288" w="2441321">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extrusionOk="0" h="18288" w="2441321">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extrusionOk="0" fill="none" h="18288" w="2441321">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6" name="Google Shape;226;p17"/>
          <p:cNvSpPr txBox="1"/>
          <p:nvPr>
            <p:ph idx="1" type="body"/>
          </p:nvPr>
        </p:nvSpPr>
        <p:spPr>
          <a:xfrm>
            <a:off x="310275" y="1981775"/>
            <a:ext cx="3614100" cy="2973600"/>
          </a:xfrm>
          <a:prstGeom prst="rect">
            <a:avLst/>
          </a:prstGeom>
          <a:noFill/>
          <a:ln>
            <a:noFill/>
          </a:ln>
        </p:spPr>
        <p:txBody>
          <a:bodyPr anchorCtr="0" anchor="t" bIns="45700" lIns="91425" spcFirstLastPara="1" rIns="91425" wrap="square" tIns="45700">
            <a:normAutofit fontScale="92500" lnSpcReduction="10000"/>
          </a:bodyPr>
          <a:lstStyle/>
          <a:p>
            <a:pPr indent="-447675" lvl="0" marL="457200" rtl="0" algn="l">
              <a:lnSpc>
                <a:spcPct val="90000"/>
              </a:lnSpc>
              <a:spcBef>
                <a:spcPts val="0"/>
              </a:spcBef>
              <a:spcAft>
                <a:spcPts val="0"/>
              </a:spcAft>
              <a:buClr>
                <a:schemeClr val="dk1"/>
              </a:buClr>
              <a:buSzPct val="100000"/>
              <a:buFont typeface="Calibri"/>
              <a:buAutoNum type="arabicPeriod"/>
            </a:pPr>
            <a:r>
              <a:rPr lang="hr" sz="2000"/>
              <a:t>Prepoznati da nam je teško i dopustiti si imati te osjećaje</a:t>
            </a:r>
            <a:endParaRPr sz="2000"/>
          </a:p>
          <a:p>
            <a:pPr indent="0" lvl="0" marL="171450" rtl="0" algn="l">
              <a:lnSpc>
                <a:spcPct val="90000"/>
              </a:lnSpc>
              <a:spcBef>
                <a:spcPts val="0"/>
              </a:spcBef>
              <a:spcAft>
                <a:spcPts val="0"/>
              </a:spcAft>
              <a:buSzPct val="97297"/>
              <a:buNone/>
            </a:pPr>
            <a:r>
              <a:t/>
            </a:r>
            <a:endParaRPr sz="2000"/>
          </a:p>
          <a:p>
            <a:pPr indent="-447675" lvl="0" marL="457200" rtl="0" algn="l">
              <a:lnSpc>
                <a:spcPct val="90000"/>
              </a:lnSpc>
              <a:spcBef>
                <a:spcPts val="750"/>
              </a:spcBef>
              <a:spcAft>
                <a:spcPts val="0"/>
              </a:spcAft>
              <a:buClr>
                <a:schemeClr val="dk1"/>
              </a:buClr>
              <a:buSzPct val="100000"/>
              <a:buFont typeface="Calibri"/>
              <a:buAutoNum type="arabicPeriod"/>
            </a:pPr>
            <a:r>
              <a:rPr lang="hr" sz="2000"/>
              <a:t>Osvijestiti zbog čega se osjećamo loše</a:t>
            </a:r>
            <a:endParaRPr sz="2000"/>
          </a:p>
          <a:p>
            <a:pPr indent="0" lvl="0" marL="171450" rtl="0" algn="l">
              <a:lnSpc>
                <a:spcPct val="90000"/>
              </a:lnSpc>
              <a:spcBef>
                <a:spcPts val="750"/>
              </a:spcBef>
              <a:spcAft>
                <a:spcPts val="0"/>
              </a:spcAft>
              <a:buSzPct val="97297"/>
              <a:buNone/>
            </a:pPr>
            <a:r>
              <a:t/>
            </a:r>
            <a:endParaRPr sz="2000"/>
          </a:p>
          <a:p>
            <a:pPr indent="-447675" lvl="0" marL="457200" rtl="0" algn="l">
              <a:lnSpc>
                <a:spcPct val="90000"/>
              </a:lnSpc>
              <a:spcBef>
                <a:spcPts val="750"/>
              </a:spcBef>
              <a:spcAft>
                <a:spcPts val="0"/>
              </a:spcAft>
              <a:buClr>
                <a:schemeClr val="dk1"/>
              </a:buClr>
              <a:buSzPct val="100000"/>
              <a:buFont typeface="Calibri"/>
              <a:buAutoNum type="arabicPeriod"/>
            </a:pPr>
            <a:r>
              <a:rPr lang="hr" sz="2000"/>
              <a:t>Odrediti što nam je potrebno i krenuti prema tome</a:t>
            </a:r>
            <a:endParaRPr/>
          </a:p>
          <a:p>
            <a:pPr indent="-50800" lvl="0" marL="171450" rtl="0" algn="l">
              <a:lnSpc>
                <a:spcPct val="90000"/>
              </a:lnSpc>
              <a:spcBef>
                <a:spcPts val="750"/>
              </a:spcBef>
              <a:spcAft>
                <a:spcPts val="0"/>
              </a:spcAft>
              <a:buClr>
                <a:schemeClr val="dk1"/>
              </a:buClr>
              <a:buSzPct val="100000"/>
              <a:buNone/>
            </a:pPr>
            <a:r>
              <a:t/>
            </a:r>
            <a:endParaRPr sz="1900"/>
          </a:p>
          <a:p>
            <a:pPr indent="-50800" lvl="0" marL="171450" rtl="0" algn="l">
              <a:lnSpc>
                <a:spcPct val="90000"/>
              </a:lnSpc>
              <a:spcBef>
                <a:spcPts val="750"/>
              </a:spcBef>
              <a:spcAft>
                <a:spcPts val="1200"/>
              </a:spcAft>
              <a:buClr>
                <a:schemeClr val="dk1"/>
              </a:buClr>
              <a:buSzPct val="100000"/>
              <a:buNone/>
            </a:pPr>
            <a:r>
              <a:t/>
            </a:r>
            <a:endParaRPr sz="1900"/>
          </a:p>
        </p:txBody>
      </p:sp>
      <p:pic>
        <p:nvPicPr>
          <p:cNvPr id="227" name="Google Shape;227;p17"/>
          <p:cNvPicPr preferRelativeResize="0"/>
          <p:nvPr/>
        </p:nvPicPr>
        <p:blipFill rotWithShape="1">
          <a:blip r:embed="rId3">
            <a:alphaModFix/>
          </a:blip>
          <a:srcRect b="0" l="0" r="0" t="0"/>
          <a:stretch/>
        </p:blipFill>
        <p:spPr>
          <a:xfrm>
            <a:off x="4087298" y="127404"/>
            <a:ext cx="4888650" cy="4888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18"/>
          <p:cNvSpPr txBox="1"/>
          <p:nvPr>
            <p:ph type="title"/>
          </p:nvPr>
        </p:nvSpPr>
        <p:spPr>
          <a:xfrm>
            <a:off x="6012940" y="394079"/>
            <a:ext cx="2502300" cy="1243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hr" sz="3100">
                <a:solidFill>
                  <a:schemeClr val="dk1"/>
                </a:solidFill>
                <a:latin typeface="Calibri"/>
                <a:ea typeface="Calibri"/>
                <a:cs typeface="Calibri"/>
                <a:sym typeface="Calibri"/>
              </a:rPr>
              <a:t>„TORBA PRVE POMOĆI”</a:t>
            </a:r>
            <a:endParaRPr/>
          </a:p>
        </p:txBody>
      </p:sp>
      <p:pic>
        <p:nvPicPr>
          <p:cNvPr descr="Slikovni rezultat za torba prve pomoći" id="233" name="Google Shape;233;p18"/>
          <p:cNvPicPr preferRelativeResize="0"/>
          <p:nvPr>
            <p:ph idx="1" type="body"/>
          </p:nvPr>
        </p:nvPicPr>
        <p:blipFill rotWithShape="1">
          <a:blip r:embed="rId3">
            <a:alphaModFix/>
          </a:blip>
          <a:srcRect b="0" l="0" r="0" t="0"/>
          <a:stretch/>
        </p:blipFill>
        <p:spPr>
          <a:xfrm>
            <a:off x="301956" y="622809"/>
            <a:ext cx="2203800" cy="2203800"/>
          </a:xfrm>
          <a:prstGeom prst="rect">
            <a:avLst/>
          </a:prstGeom>
          <a:noFill/>
          <a:ln>
            <a:noFill/>
          </a:ln>
        </p:spPr>
      </p:pic>
      <p:pic>
        <p:nvPicPr>
          <p:cNvPr descr="Slikovni rezultat za ručna torba" id="234" name="Google Shape;234;p18"/>
          <p:cNvPicPr preferRelativeResize="0"/>
          <p:nvPr/>
        </p:nvPicPr>
        <p:blipFill rotWithShape="1">
          <a:blip r:embed="rId4">
            <a:alphaModFix/>
          </a:blip>
          <a:srcRect b="0" l="0" r="0" t="0"/>
          <a:stretch/>
        </p:blipFill>
        <p:spPr>
          <a:xfrm>
            <a:off x="3679777" y="407195"/>
            <a:ext cx="1478411" cy="991798"/>
          </a:xfrm>
          <a:prstGeom prst="rect">
            <a:avLst/>
          </a:prstGeom>
          <a:noFill/>
          <a:ln>
            <a:noFill/>
          </a:ln>
        </p:spPr>
      </p:pic>
      <p:pic>
        <p:nvPicPr>
          <p:cNvPr descr="Slikovni rezultat za ručna torba" id="235" name="Google Shape;235;p18"/>
          <p:cNvPicPr preferRelativeResize="0"/>
          <p:nvPr/>
        </p:nvPicPr>
        <p:blipFill rotWithShape="1">
          <a:blip r:embed="rId5">
            <a:alphaModFix/>
          </a:blip>
          <a:srcRect b="0" l="0" r="0" t="0"/>
          <a:stretch/>
        </p:blipFill>
        <p:spPr>
          <a:xfrm>
            <a:off x="3676989" y="1967208"/>
            <a:ext cx="1478411" cy="1052022"/>
          </a:xfrm>
          <a:prstGeom prst="rect">
            <a:avLst/>
          </a:prstGeom>
          <a:noFill/>
          <a:ln>
            <a:noFill/>
          </a:ln>
        </p:spPr>
      </p:pic>
      <p:pic>
        <p:nvPicPr>
          <p:cNvPr descr="Slikovni rezultat za ručna torba" id="236" name="Google Shape;236;p18"/>
          <p:cNvPicPr preferRelativeResize="0"/>
          <p:nvPr/>
        </p:nvPicPr>
        <p:blipFill rotWithShape="1">
          <a:blip r:embed="rId6">
            <a:alphaModFix/>
          </a:blip>
          <a:srcRect b="0" l="0" r="0" t="0"/>
          <a:stretch/>
        </p:blipFill>
        <p:spPr>
          <a:xfrm>
            <a:off x="301957" y="3760864"/>
            <a:ext cx="932036" cy="932035"/>
          </a:xfrm>
          <a:prstGeom prst="rect">
            <a:avLst/>
          </a:prstGeom>
          <a:noFill/>
          <a:ln>
            <a:noFill/>
          </a:ln>
        </p:spPr>
      </p:pic>
      <p:pic>
        <p:nvPicPr>
          <p:cNvPr descr="Slikovni rezultat za ručna torba" id="237" name="Google Shape;237;p18"/>
          <p:cNvPicPr preferRelativeResize="0"/>
          <p:nvPr/>
        </p:nvPicPr>
        <p:blipFill rotWithShape="1">
          <a:blip r:embed="rId7">
            <a:alphaModFix/>
          </a:blip>
          <a:srcRect b="0" l="0" r="0" t="0"/>
          <a:stretch/>
        </p:blipFill>
        <p:spPr>
          <a:xfrm>
            <a:off x="1988215" y="3885372"/>
            <a:ext cx="939158" cy="683023"/>
          </a:xfrm>
          <a:prstGeom prst="rect">
            <a:avLst/>
          </a:prstGeom>
          <a:noFill/>
          <a:ln>
            <a:noFill/>
          </a:ln>
        </p:spPr>
      </p:pic>
      <p:pic>
        <p:nvPicPr>
          <p:cNvPr descr="Slikovni rezultat za ručna torba" id="238" name="Google Shape;238;p18"/>
          <p:cNvPicPr preferRelativeResize="0"/>
          <p:nvPr/>
        </p:nvPicPr>
        <p:blipFill rotWithShape="1">
          <a:blip r:embed="rId8">
            <a:alphaModFix/>
          </a:blip>
          <a:srcRect b="0" l="0" r="0" t="0"/>
          <a:stretch/>
        </p:blipFill>
        <p:spPr>
          <a:xfrm>
            <a:off x="3682566" y="3753937"/>
            <a:ext cx="1478411" cy="946183"/>
          </a:xfrm>
          <a:prstGeom prst="rect">
            <a:avLst/>
          </a:prstGeom>
          <a:noFill/>
          <a:ln>
            <a:noFill/>
          </a:ln>
        </p:spPr>
      </p:pic>
      <p:sp>
        <p:nvSpPr>
          <p:cNvPr id="239" name="Google Shape;239;p18"/>
          <p:cNvSpPr/>
          <p:nvPr/>
        </p:nvSpPr>
        <p:spPr>
          <a:xfrm>
            <a:off x="6012939" y="1705868"/>
            <a:ext cx="2829000" cy="2926800"/>
          </a:xfrm>
          <a:prstGeom prst="rect">
            <a:avLst/>
          </a:prstGeom>
          <a:noFill/>
          <a:ln>
            <a:noFill/>
          </a:ln>
        </p:spPr>
        <p:txBody>
          <a:bodyPr anchorCtr="0" anchor="t" bIns="45700" lIns="91425" spcFirstLastPara="1" rIns="91425" wrap="square" tIns="45700">
            <a:noAutofit/>
          </a:bodyPr>
          <a:lstStyle/>
          <a:p>
            <a:pPr indent="-127000" lvl="0" marL="0" marR="0" rtl="0" algn="l">
              <a:lnSpc>
                <a:spcPct val="90000"/>
              </a:lnSpc>
              <a:spcBef>
                <a:spcPts val="0"/>
              </a:spcBef>
              <a:spcAft>
                <a:spcPts val="0"/>
              </a:spcAft>
              <a:buClr>
                <a:schemeClr val="dk1"/>
              </a:buClr>
              <a:buSzPts val="2000"/>
              <a:buFont typeface="Arial"/>
              <a:buChar char="•"/>
            </a:pPr>
            <a:r>
              <a:rPr b="0" i="0" lang="hr" sz="2000" u="none" cap="none" strike="noStrike">
                <a:solidFill>
                  <a:schemeClr val="dk1"/>
                </a:solidFill>
                <a:latin typeface="Calibri"/>
                <a:ea typeface="Calibri"/>
                <a:cs typeface="Calibri"/>
                <a:sym typeface="Calibri"/>
              </a:rPr>
              <a:t>SVE ŠTO </a:t>
            </a:r>
            <a:r>
              <a:rPr b="1" i="0" lang="hr" sz="2000" u="none" cap="none" strike="noStrike">
                <a:solidFill>
                  <a:schemeClr val="dk1"/>
                </a:solidFill>
                <a:latin typeface="Calibri"/>
                <a:ea typeface="Calibri"/>
                <a:cs typeface="Calibri"/>
                <a:sym typeface="Calibri"/>
              </a:rPr>
              <a:t>MENI POMAŽE</a:t>
            </a:r>
            <a:r>
              <a:rPr b="0" i="0" lang="hr" sz="2000" u="none" cap="none" strike="noStrike">
                <a:solidFill>
                  <a:schemeClr val="dk1"/>
                </a:solidFill>
                <a:latin typeface="Calibri"/>
                <a:ea typeface="Calibri"/>
                <a:cs typeface="Calibri"/>
                <a:sym typeface="Calibri"/>
              </a:rPr>
              <a:t>, A NE ŠTETI NI MENI (npr alkohol, droga) NI DRUGIM LJUDIMA (npr. Izderem se na kolegicu pa mi je lakše)</a:t>
            </a:r>
            <a:endParaRPr b="0" i="0" sz="1400" u="none" cap="none" strike="noStrike">
              <a:solidFill>
                <a:srgbClr val="000000"/>
              </a:solidFill>
              <a:latin typeface="Arial"/>
              <a:ea typeface="Arial"/>
              <a:cs typeface="Arial"/>
              <a:sym typeface="Arial"/>
            </a:endParaRPr>
          </a:p>
          <a:p>
            <a:pPr indent="127000" lvl="0" marL="0" marR="0" rtl="0" algn="l">
              <a:lnSpc>
                <a:spcPct val="90000"/>
              </a:lnSpc>
              <a:spcBef>
                <a:spcPts val="6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90000"/>
              </a:lnSpc>
              <a:spcBef>
                <a:spcPts val="600"/>
              </a:spcBef>
              <a:spcAft>
                <a:spcPts val="0"/>
              </a:spcAft>
              <a:buClr>
                <a:schemeClr val="dk1"/>
              </a:buClr>
              <a:buSzPts val="2000"/>
              <a:buFont typeface="Arial"/>
              <a:buChar char="•"/>
            </a:pPr>
            <a:r>
              <a:rPr b="0" i="0" lang="hr" sz="2000" u="none" cap="none" strike="noStrike">
                <a:solidFill>
                  <a:schemeClr val="dk1"/>
                </a:solidFill>
                <a:latin typeface="Calibri"/>
                <a:ea typeface="Calibri"/>
                <a:cs typeface="Calibri"/>
                <a:sym typeface="Calibri"/>
              </a:rPr>
              <a:t>Svaka torba je individualizirana, unikatna, neponovljiva jer svakome pomažu različite stvari</a:t>
            </a:r>
            <a:endParaRPr b="0" i="0" sz="2000" u="none" cap="none" strike="noStrike">
              <a:solidFill>
                <a:schemeClr val="dk1"/>
              </a:solidFill>
              <a:latin typeface="Calibri"/>
              <a:ea typeface="Calibri"/>
              <a:cs typeface="Calibri"/>
              <a:sym typeface="Calibri"/>
            </a:endParaRPr>
          </a:p>
          <a:p>
            <a:pPr indent="107950" lvl="0" marL="0" marR="0" rtl="0" algn="l">
              <a:lnSpc>
                <a:spcPct val="90000"/>
              </a:lnSpc>
              <a:spcBef>
                <a:spcPts val="600"/>
              </a:spcBef>
              <a:spcAft>
                <a:spcPts val="0"/>
              </a:spcAft>
              <a:buClr>
                <a:schemeClr val="dk1"/>
              </a:buClr>
              <a:buSzPts val="1700"/>
              <a:buFont typeface="Arial"/>
              <a:buNone/>
            </a:pPr>
            <a:r>
              <a:t/>
            </a:r>
            <a:endParaRPr b="0" i="0" sz="1700" u="none" cap="none" strike="noStrike">
              <a:solidFill>
                <a:schemeClr val="dk1"/>
              </a:solidFill>
              <a:latin typeface="Calibri"/>
              <a:ea typeface="Calibri"/>
              <a:cs typeface="Calibri"/>
              <a:sym typeface="Calibri"/>
            </a:endParaRPr>
          </a:p>
        </p:txBody>
      </p:sp>
      <p:cxnSp>
        <p:nvCxnSpPr>
          <p:cNvPr id="240" name="Google Shape;240;p18"/>
          <p:cNvCxnSpPr/>
          <p:nvPr/>
        </p:nvCxnSpPr>
        <p:spPr>
          <a:xfrm>
            <a:off x="3490220" y="-1"/>
            <a:ext cx="0" cy="5143500"/>
          </a:xfrm>
          <a:prstGeom prst="straightConnector1">
            <a:avLst/>
          </a:prstGeom>
          <a:noFill/>
          <a:ln cap="sq" cmpd="sng" w="38100">
            <a:solidFill>
              <a:srgbClr val="3F3F3F"/>
            </a:solidFill>
            <a:prstDash val="solid"/>
            <a:miter lim="800000"/>
            <a:headEnd len="sm" w="sm" type="none"/>
            <a:tailEnd len="sm" w="sm" type="none"/>
          </a:ln>
        </p:spPr>
      </p:cxnSp>
      <p:cxnSp>
        <p:nvCxnSpPr>
          <p:cNvPr id="241" name="Google Shape;241;p18"/>
          <p:cNvCxnSpPr/>
          <p:nvPr/>
        </p:nvCxnSpPr>
        <p:spPr>
          <a:xfrm>
            <a:off x="3490220" y="1671578"/>
            <a:ext cx="2157900" cy="0"/>
          </a:xfrm>
          <a:prstGeom prst="straightConnector1">
            <a:avLst/>
          </a:prstGeom>
          <a:noFill/>
          <a:ln cap="flat" cmpd="sng" w="38100">
            <a:solidFill>
              <a:srgbClr val="3F3F3F"/>
            </a:solidFill>
            <a:prstDash val="solid"/>
            <a:miter lim="800000"/>
            <a:headEnd len="sm" w="sm" type="none"/>
            <a:tailEnd len="sm" w="sm" type="none"/>
          </a:ln>
        </p:spPr>
      </p:cxnSp>
      <p:cxnSp>
        <p:nvCxnSpPr>
          <p:cNvPr id="242" name="Google Shape;242;p18"/>
          <p:cNvCxnSpPr/>
          <p:nvPr/>
        </p:nvCxnSpPr>
        <p:spPr>
          <a:xfrm>
            <a:off x="0" y="3425929"/>
            <a:ext cx="5648100" cy="0"/>
          </a:xfrm>
          <a:prstGeom prst="straightConnector1">
            <a:avLst/>
          </a:prstGeom>
          <a:noFill/>
          <a:ln cap="flat" cmpd="sng" w="38100">
            <a:solidFill>
              <a:srgbClr val="3F3F3F"/>
            </a:solidFill>
            <a:prstDash val="solid"/>
            <a:miter lim="800000"/>
            <a:headEnd len="sm" w="sm" type="none"/>
            <a:tailEnd len="sm" w="sm" type="none"/>
          </a:ln>
        </p:spPr>
      </p:cxnSp>
      <p:cxnSp>
        <p:nvCxnSpPr>
          <p:cNvPr id="243" name="Google Shape;243;p18"/>
          <p:cNvCxnSpPr/>
          <p:nvPr/>
        </p:nvCxnSpPr>
        <p:spPr>
          <a:xfrm rot="-5400000">
            <a:off x="913943" y="4280109"/>
            <a:ext cx="1714500" cy="0"/>
          </a:xfrm>
          <a:prstGeom prst="straightConnector1">
            <a:avLst/>
          </a:prstGeom>
          <a:noFill/>
          <a:ln cap="flat" cmpd="sng" w="38100">
            <a:solidFill>
              <a:srgbClr val="3F3F3F"/>
            </a:solidFill>
            <a:prstDash val="solid"/>
            <a:miter lim="800000"/>
            <a:headEnd len="sm" w="sm" type="none"/>
            <a:tailEnd len="sm" w="sm" type="none"/>
          </a:ln>
        </p:spPr>
      </p:cxnSp>
      <p:sp>
        <p:nvSpPr>
          <p:cNvPr descr="Slikovni rezultat za ručna torba" id="244" name="Google Shape;244;p18"/>
          <p:cNvSpPr/>
          <p:nvPr/>
        </p:nvSpPr>
        <p:spPr>
          <a:xfrm>
            <a:off x="116681" y="561677"/>
            <a:ext cx="228600" cy="17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
        <p:nvSpPr>
          <p:cNvPr descr="Slikovni rezultat za ručna torba" id="245" name="Google Shape;245;p18"/>
          <p:cNvSpPr/>
          <p:nvPr/>
        </p:nvSpPr>
        <p:spPr>
          <a:xfrm>
            <a:off x="230981" y="647402"/>
            <a:ext cx="228600" cy="17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50"/>
              <a:buFont typeface="Arial"/>
              <a:buNone/>
            </a:pPr>
            <a:r>
              <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hr" sz="3600"/>
              <a:t>Brige</a:t>
            </a:r>
            <a:endParaRPr/>
          </a:p>
        </p:txBody>
      </p:sp>
      <p:pic>
        <p:nvPicPr>
          <p:cNvPr id="251" name="Google Shape;251;p19"/>
          <p:cNvPicPr preferRelativeResize="0"/>
          <p:nvPr/>
        </p:nvPicPr>
        <p:blipFill rotWithShape="1">
          <a:blip r:embed="rId3">
            <a:alphaModFix/>
          </a:blip>
          <a:srcRect b="0" l="0" r="0" t="0"/>
          <a:stretch/>
        </p:blipFill>
        <p:spPr>
          <a:xfrm>
            <a:off x="2772476" y="3143323"/>
            <a:ext cx="3170625" cy="1672525"/>
          </a:xfrm>
          <a:prstGeom prst="rect">
            <a:avLst/>
          </a:prstGeom>
          <a:noFill/>
          <a:ln>
            <a:noFill/>
          </a:ln>
        </p:spPr>
      </p:pic>
      <p:sp>
        <p:nvSpPr>
          <p:cNvPr id="252" name="Google Shape;252;p19"/>
          <p:cNvSpPr txBox="1"/>
          <p:nvPr>
            <p:ph idx="1" type="body"/>
          </p:nvPr>
        </p:nvSpPr>
        <p:spPr>
          <a:xfrm>
            <a:off x="527027" y="1035338"/>
            <a:ext cx="7886700" cy="326340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hr"/>
              <a:t>Dugotrajno i opetovano razmišljanje o problemima i potencijalnim stresorima </a:t>
            </a:r>
            <a:endParaRPr/>
          </a:p>
          <a:p>
            <a:pPr indent="-171450" lvl="0" marL="171450" rtl="0" algn="l">
              <a:lnSpc>
                <a:spcPct val="90000"/>
              </a:lnSpc>
              <a:spcBef>
                <a:spcPts val="750"/>
              </a:spcBef>
              <a:spcAft>
                <a:spcPts val="0"/>
              </a:spcAft>
              <a:buClr>
                <a:schemeClr val="dk1"/>
              </a:buClr>
              <a:buSzPts val="2100"/>
              <a:buChar char="●"/>
            </a:pPr>
            <a:r>
              <a:rPr lang="hr"/>
              <a:t>Započinju pitanjem: “Što ako...?”</a:t>
            </a:r>
            <a:endParaRPr/>
          </a:p>
          <a:p>
            <a:pPr indent="-171450" lvl="0" marL="171450" rtl="0" algn="l">
              <a:lnSpc>
                <a:spcPct val="90000"/>
              </a:lnSpc>
              <a:spcBef>
                <a:spcPts val="750"/>
              </a:spcBef>
              <a:spcAft>
                <a:spcPts val="0"/>
              </a:spcAft>
              <a:buClr>
                <a:schemeClr val="dk1"/>
              </a:buClr>
              <a:buSzPts val="2100"/>
              <a:buChar char="●"/>
            </a:pPr>
            <a:r>
              <a:rPr lang="hr"/>
              <a:t>Iscrpljujuća kognitivna aktivnost</a:t>
            </a:r>
            <a:endParaRPr/>
          </a:p>
          <a:p>
            <a:pPr indent="-171450" lvl="0" marL="171450" rtl="0" algn="l">
              <a:lnSpc>
                <a:spcPct val="90000"/>
              </a:lnSpc>
              <a:spcBef>
                <a:spcPts val="750"/>
              </a:spcBef>
              <a:spcAft>
                <a:spcPts val="1200"/>
              </a:spcAft>
              <a:buClr>
                <a:schemeClr val="dk1"/>
              </a:buClr>
              <a:buSzPts val="2100"/>
              <a:buChar char="●"/>
            </a:pPr>
            <a:r>
              <a:rPr lang="hr"/>
              <a:t>Vjerovanje da su nam u nečemu korisne – zapravo najčešće nisu</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0"/>
          <p:cNvSpPr txBox="1"/>
          <p:nvPr>
            <p:ph type="title"/>
          </p:nvPr>
        </p:nvSpPr>
        <p:spPr>
          <a:xfrm>
            <a:off x="202550" y="243407"/>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hr"/>
              <a:t>Kako se nositi s brigama?</a:t>
            </a:r>
            <a:endParaRPr/>
          </a:p>
        </p:txBody>
      </p:sp>
      <p:sp>
        <p:nvSpPr>
          <p:cNvPr id="258" name="Google Shape;258;p20"/>
          <p:cNvSpPr txBox="1"/>
          <p:nvPr>
            <p:ph idx="1" type="body"/>
          </p:nvPr>
        </p:nvSpPr>
        <p:spPr>
          <a:xfrm>
            <a:off x="389175" y="1079288"/>
            <a:ext cx="3949800" cy="382080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500"/>
              <a:buChar char="●"/>
            </a:pPr>
            <a:r>
              <a:rPr lang="hr" sz="2200"/>
              <a:t>Ključ u efikasnom nošenju s brigama je raditi na onome nad čim </a:t>
            </a:r>
            <a:r>
              <a:rPr b="1" lang="hr" sz="2200"/>
              <a:t>imamo kontrolu </a:t>
            </a:r>
            <a:r>
              <a:rPr lang="hr" sz="2200"/>
              <a:t>(kako učimo, što učimo, koliko treniramo, koliko radimo, kako komuniciramo...) i ne brinuti o onome što </a:t>
            </a:r>
            <a:r>
              <a:rPr b="1" lang="hr" sz="2200"/>
              <a:t>ne možemo kontrolirati</a:t>
            </a:r>
            <a:r>
              <a:rPr lang="hr" sz="2200"/>
              <a:t> (koja će pitanja biti u testu, kakvo će vrijeme biti, što drugi misle o nama itd.)</a:t>
            </a:r>
            <a:endParaRPr sz="2200"/>
          </a:p>
        </p:txBody>
      </p:sp>
      <p:pic>
        <p:nvPicPr>
          <p:cNvPr descr="May be an image of text that says &quot;ICANNOT CONTROL (So, I can LET GO of these things.) IFOTHERS FOLLOW RULES SOCIAL DISTANCING THE AMOUNT OF TOILET PAPERA AT THE STORE ICAN CONTROL (So, I will focus on these things.) THE ACTIONS OF OTHERS YPOSITIV ATTITUDE TURNING THE NEWS HOWIFOLLOW CDC RECOMMENDATIONS THINGS TODO HOME HOW LONG THIS WILL LAST MY YOWNSOCIAL DISTANCING LIMITING MY SOCIAL MEDIA PREDICTING PREDICT ING WHAT HAPPEN HAPPEN INDNS&amp; GRACE OTHER PEOPLE'S MOTIVES HOW OTHERS REACT Clipart: Stephens Counselin eacher .com&quot;" id="259" name="Google Shape;259;p20"/>
          <p:cNvPicPr preferRelativeResize="0"/>
          <p:nvPr/>
        </p:nvPicPr>
        <p:blipFill rotWithShape="1">
          <a:blip r:embed="rId3">
            <a:alphaModFix/>
          </a:blip>
          <a:srcRect b="0" l="0" r="0" t="0"/>
          <a:stretch/>
        </p:blipFill>
        <p:spPr>
          <a:xfrm>
            <a:off x="4664750" y="532875"/>
            <a:ext cx="4311300" cy="4347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1"/>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hr"/>
              <a:t>Brige</a:t>
            </a:r>
            <a:endParaRPr/>
          </a:p>
        </p:txBody>
      </p:sp>
      <p:sp>
        <p:nvSpPr>
          <p:cNvPr id="265" name="Google Shape;265;p21"/>
          <p:cNvSpPr txBox="1"/>
          <p:nvPr>
            <p:ph idx="1" type="body"/>
          </p:nvPr>
        </p:nvSpPr>
        <p:spPr>
          <a:xfrm>
            <a:off x="628650" y="1167594"/>
            <a:ext cx="7886700" cy="3465300"/>
          </a:xfrm>
          <a:prstGeom prst="rect">
            <a:avLst/>
          </a:prstGeom>
          <a:noFill/>
          <a:ln>
            <a:noFill/>
          </a:ln>
        </p:spPr>
        <p:txBody>
          <a:bodyPr anchorCtr="0" anchor="t" bIns="45700" lIns="91425" spcFirstLastPara="1" rIns="91425" wrap="square" tIns="45700">
            <a:normAutofit/>
          </a:bodyPr>
          <a:lstStyle/>
          <a:p>
            <a:pPr indent="-38100" lvl="0" marL="171450" rtl="0" algn="l">
              <a:lnSpc>
                <a:spcPct val="90000"/>
              </a:lnSpc>
              <a:spcBef>
                <a:spcPts val="0"/>
              </a:spcBef>
              <a:spcAft>
                <a:spcPts val="1200"/>
              </a:spcAft>
              <a:buClr>
                <a:schemeClr val="dk1"/>
              </a:buClr>
              <a:buSzPts val="2100"/>
              <a:buNone/>
            </a:pPr>
            <a:r>
              <a:t/>
            </a:r>
            <a:endParaRPr/>
          </a:p>
        </p:txBody>
      </p:sp>
      <p:pic>
        <p:nvPicPr>
          <p:cNvPr id="266" name="Google Shape;266;p21"/>
          <p:cNvPicPr preferRelativeResize="0"/>
          <p:nvPr/>
        </p:nvPicPr>
        <p:blipFill rotWithShape="1">
          <a:blip r:embed="rId3">
            <a:alphaModFix/>
          </a:blip>
          <a:srcRect b="0" l="0" r="0" t="0"/>
          <a:stretch/>
        </p:blipFill>
        <p:spPr>
          <a:xfrm>
            <a:off x="971600" y="1644482"/>
            <a:ext cx="4536505" cy="25959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2"/>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hr"/>
              <a:t>Linkovi: </a:t>
            </a:r>
            <a:endParaRPr/>
          </a:p>
        </p:txBody>
      </p:sp>
      <p:sp>
        <p:nvSpPr>
          <p:cNvPr id="272" name="Google Shape;272;p22"/>
          <p:cNvSpPr txBox="1"/>
          <p:nvPr>
            <p:ph idx="1" type="body"/>
          </p:nvPr>
        </p:nvSpPr>
        <p:spPr>
          <a:xfrm>
            <a:off x="628651" y="1268018"/>
            <a:ext cx="7886700" cy="360150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hr"/>
              <a:t>Kako stres može biti prijatelj </a:t>
            </a:r>
            <a:r>
              <a:rPr lang="hr" u="sng">
                <a:solidFill>
                  <a:schemeClr val="hlink"/>
                </a:solidFill>
                <a:hlinkClick r:id="rId3"/>
              </a:rPr>
              <a:t>https://www.ted.com/talks/kelly_mcgonigal_how_to_make_stress_your_friend</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hr"/>
              <a:t>Kratke vježbe </a:t>
            </a:r>
            <a:endParaRPr/>
          </a:p>
          <a:p>
            <a:pPr indent="0" lvl="0" marL="0" rtl="0" algn="l">
              <a:lnSpc>
                <a:spcPct val="90000"/>
              </a:lnSpc>
              <a:spcBef>
                <a:spcPts val="750"/>
              </a:spcBef>
              <a:spcAft>
                <a:spcPts val="0"/>
              </a:spcAft>
              <a:buNone/>
            </a:pPr>
            <a:r>
              <a:rPr lang="hr" u="sng">
                <a:solidFill>
                  <a:schemeClr val="hlink"/>
                </a:solidFill>
                <a:hlinkClick r:id="rId4"/>
              </a:rPr>
              <a:t>https://krenizdravo.dnevnik.hr/zdravlje/mentalno_zdravlje/mindfulness-vjezbe-za-odrasle-i-djecu-prema-strucnjakinji</a:t>
            </a:r>
            <a:r>
              <a:rPr lang="hr"/>
              <a:t> </a:t>
            </a:r>
            <a:endParaRPr/>
          </a:p>
          <a:p>
            <a:pPr indent="0" lvl="0" marL="0" rtl="0" algn="l">
              <a:lnSpc>
                <a:spcPct val="90000"/>
              </a:lnSpc>
              <a:spcBef>
                <a:spcPts val="750"/>
              </a:spcBef>
              <a:spcAft>
                <a:spcPts val="0"/>
              </a:spcAft>
              <a:buClr>
                <a:schemeClr val="dk1"/>
              </a:buClr>
              <a:buSzPts val="2100"/>
              <a:buNone/>
            </a:pPr>
            <a:r>
              <a:t/>
            </a:r>
            <a:endParaRPr/>
          </a:p>
          <a:p>
            <a:pPr indent="0" lvl="0" marL="0" rtl="0" algn="l">
              <a:lnSpc>
                <a:spcPct val="90000"/>
              </a:lnSpc>
              <a:spcBef>
                <a:spcPts val="750"/>
              </a:spcBef>
              <a:spcAft>
                <a:spcPts val="0"/>
              </a:spcAft>
              <a:buClr>
                <a:schemeClr val="dk1"/>
              </a:buClr>
              <a:buSzPts val="2100"/>
              <a:buNone/>
            </a:pPr>
            <a:r>
              <a:rPr lang="hr"/>
              <a:t>Članci na razne teme iz područja emocija i nošenja s njima:</a:t>
            </a:r>
            <a:endParaRPr/>
          </a:p>
          <a:p>
            <a:pPr indent="0" lvl="0" marL="0" rtl="0" algn="l">
              <a:lnSpc>
                <a:spcPct val="90000"/>
              </a:lnSpc>
              <a:spcBef>
                <a:spcPts val="750"/>
              </a:spcBef>
              <a:spcAft>
                <a:spcPts val="1200"/>
              </a:spcAft>
              <a:buClr>
                <a:schemeClr val="dk1"/>
              </a:buClr>
              <a:buSzPts val="2100"/>
              <a:buNone/>
            </a:pPr>
            <a:r>
              <a:rPr lang="hr" u="sng">
                <a:solidFill>
                  <a:schemeClr val="hlink"/>
                </a:solidFill>
                <a:hlinkClick r:id="rId5"/>
              </a:rPr>
              <a:t>https://www.kakosi.hr/</a:t>
            </a:r>
            <a:r>
              <a:rPr lang="h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3"/>
          <p:cNvSpPr txBox="1"/>
          <p:nvPr>
            <p:ph type="title"/>
          </p:nvPr>
        </p:nvSpPr>
        <p:spPr>
          <a:xfrm>
            <a:off x="467544" y="411510"/>
            <a:ext cx="8229600" cy="857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hr"/>
              <a:t>Hvala na pažnji!</a:t>
            </a:r>
            <a:endParaRPr/>
          </a:p>
        </p:txBody>
      </p:sp>
      <p:pic>
        <p:nvPicPr>
          <p:cNvPr id="278" name="Google Shape;278;p23"/>
          <p:cNvPicPr preferRelativeResize="0"/>
          <p:nvPr>
            <p:ph idx="1" type="body"/>
          </p:nvPr>
        </p:nvPicPr>
        <p:blipFill rotWithShape="1">
          <a:blip r:embed="rId3">
            <a:alphaModFix/>
          </a:blip>
          <a:srcRect b="0" l="0" r="0" t="0"/>
          <a:stretch/>
        </p:blipFill>
        <p:spPr>
          <a:xfrm>
            <a:off x="2195736" y="1167594"/>
            <a:ext cx="3695400" cy="3695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