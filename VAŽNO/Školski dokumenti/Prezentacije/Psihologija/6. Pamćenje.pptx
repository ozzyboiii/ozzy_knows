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8" roundtripDataSignature="AMtx7migkGbQKEQBVrA3hHNqz2za19tFx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customschemas.google.com/relationships/presentationmetadata" Target="meta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 name="Google Shape;9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 name="Google Shape;10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 name="Google Shape;128;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One informacije koje pridobiju našu pozornost prelaze u kratkoročno pamćenje</a:t>
            </a:r>
            <a:endParaRPr/>
          </a:p>
          <a:p>
            <a:pPr indent="0" lvl="0" marL="0" rtl="0" algn="l">
              <a:lnSpc>
                <a:spcPct val="100000"/>
              </a:lnSpc>
              <a:spcBef>
                <a:spcPts val="0"/>
              </a:spcBef>
              <a:spcAft>
                <a:spcPts val="0"/>
              </a:spcAft>
              <a:buSzPts val="1400"/>
              <a:buNone/>
            </a:pPr>
            <a:r>
              <a:t/>
            </a:r>
            <a:endParaRPr/>
          </a:p>
        </p:txBody>
      </p:sp>
      <p:sp>
        <p:nvSpPr>
          <p:cNvPr id="136" name="Google Shape;136;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To znači da se odjednom može zapamtiti, primjerice, toliko nepovezanih brojeva. Međutim, grupiranjem možemo znatno povećati kapacitet kratkoročnog pamćenja. Npr. niz brojeva 1573 možemo zapamtiti ne kao niz od četiri čestice već kao jedan broj, godinu kada se desila Seljačka buna.</a:t>
            </a:r>
            <a:endParaRPr/>
          </a:p>
          <a:p>
            <a:pPr indent="0" lvl="0" marL="0" rtl="0" algn="l">
              <a:lnSpc>
                <a:spcPct val="100000"/>
              </a:lnSpc>
              <a:spcBef>
                <a:spcPts val="0"/>
              </a:spcBef>
              <a:spcAft>
                <a:spcPts val="0"/>
              </a:spcAft>
              <a:buSzPts val="1400"/>
              <a:buNone/>
            </a:pPr>
            <a:r>
              <a:t/>
            </a:r>
            <a:endParaRPr/>
          </a:p>
          <a:p>
            <a:pPr indent="0" lvl="0" marL="0" marR="0" rtl="0" algn="l">
              <a:lnSpc>
                <a:spcPct val="100000"/>
              </a:lnSpc>
              <a:spcBef>
                <a:spcPts val="0"/>
              </a:spcBef>
              <a:spcAft>
                <a:spcPts val="0"/>
              </a:spcAft>
              <a:buClr>
                <a:schemeClr val="dk1"/>
              </a:buClr>
              <a:buSzPts val="1200"/>
              <a:buFont typeface="Calibri"/>
              <a:buNone/>
            </a:pPr>
            <a:r>
              <a:rPr lang="en-US"/>
              <a:t>Na kratkoročno pamćenje mogu utjecati distraktori, podražaji iz okoline koji mogu otežati proces kratkoročnog pamćenja.</a:t>
            </a:r>
            <a:endParaRPr/>
          </a:p>
          <a:p>
            <a:pPr indent="0" lvl="0" marL="0" rtl="0" algn="l">
              <a:lnSpc>
                <a:spcPct val="100000"/>
              </a:lnSpc>
              <a:spcBef>
                <a:spcPts val="0"/>
              </a:spcBef>
              <a:spcAft>
                <a:spcPts val="0"/>
              </a:spcAft>
              <a:buSzPts val="1400"/>
              <a:buNone/>
            </a:pPr>
            <a:r>
              <a:t/>
            </a:r>
            <a:endParaRPr/>
          </a:p>
        </p:txBody>
      </p:sp>
      <p:sp>
        <p:nvSpPr>
          <p:cNvPr id="155" name="Google Shape;155;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Neki psiholozi kažu da kapacitet kratkoročnog pamćenja predstavlja magičan broj</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rPr lang="en-US"/>
              <a:t>Kapacitet kratkoročnog pamćenja ovisi o inteligenciji, motivaciji, koncentraciji, utjecaju distraktora, vrsti materijala…</a:t>
            </a:r>
            <a:endParaRPr/>
          </a:p>
          <a:p>
            <a:pPr indent="0" lvl="0" marL="0" marR="0" rtl="0" algn="l">
              <a:lnSpc>
                <a:spcPct val="100000"/>
              </a:lnSpc>
              <a:spcBef>
                <a:spcPts val="0"/>
              </a:spcBef>
              <a:spcAft>
                <a:spcPts val="0"/>
              </a:spcAft>
              <a:buClr>
                <a:schemeClr val="dk1"/>
              </a:buClr>
              <a:buSzPts val="1200"/>
              <a:buFont typeface="Calibri"/>
              <a:buNone/>
            </a:pPr>
            <a:r>
              <a:rPr lang="en-US"/>
              <a:t>Primjerice, lakše pamtimo konkretne nego apstraktne pojmove. Kod pamćenja konkretnih pojmova stvaramo predodžbe, tj. vizualiziramo sadržaje. Osim verbalnog traga ostaje i slikovni „trag“.</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marR="0" rtl="0" algn="l">
              <a:lnSpc>
                <a:spcPct val="100000"/>
              </a:lnSpc>
              <a:spcBef>
                <a:spcPts val="0"/>
              </a:spcBef>
              <a:spcAft>
                <a:spcPts val="0"/>
              </a:spcAft>
              <a:buClr>
                <a:schemeClr val="dk1"/>
              </a:buClr>
              <a:buSzPts val="1200"/>
              <a:buFont typeface="Calibri"/>
              <a:buNone/>
            </a:pPr>
            <a:r>
              <a:t/>
            </a:r>
            <a:endParaRPr/>
          </a:p>
          <a:p>
            <a:pPr indent="0" lvl="0" marL="0" rtl="0" algn="l">
              <a:lnSpc>
                <a:spcPct val="100000"/>
              </a:lnSpc>
              <a:spcBef>
                <a:spcPts val="0"/>
              </a:spcBef>
              <a:spcAft>
                <a:spcPts val="0"/>
              </a:spcAft>
              <a:buSzPts val="1400"/>
              <a:buNone/>
            </a:pPr>
            <a:r>
              <a:t/>
            </a:r>
            <a:endParaRPr/>
          </a:p>
        </p:txBody>
      </p:sp>
      <p:sp>
        <p:nvSpPr>
          <p:cNvPr id="185" name="Google Shape;185;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8" name="Google Shape;198;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6" name="Google Shape;22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Ukoliko više puta ponovimo istu informaciju dolazi do stvaranja jačih veza. Kada se informacija pohranjuje u dugoročno pamćenje nastaju proteini koji jačaju sinapse tj. veze među živčanim stanicama.</a:t>
            </a:r>
            <a:endParaRPr/>
          </a:p>
          <a:p>
            <a:pPr indent="0" lvl="0" marL="0" rtl="0" algn="l">
              <a:lnSpc>
                <a:spcPct val="100000"/>
              </a:lnSpc>
              <a:spcBef>
                <a:spcPts val="0"/>
              </a:spcBef>
              <a:spcAft>
                <a:spcPts val="0"/>
              </a:spcAft>
              <a:buSzPts val="1400"/>
              <a:buNone/>
            </a:pPr>
            <a:r>
              <a:t/>
            </a:r>
            <a:endParaRPr/>
          </a:p>
        </p:txBody>
      </p:sp>
      <p:sp>
        <p:nvSpPr>
          <p:cNvPr id="227" name="Google Shape;227;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9" name="Google Shape;249;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7" name="Google Shape;31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Proceduralno pamćenje nije prisutno samo kod usvajanja motornih vještina. Primjerice, kod množenja troznamenkasti brojeva pamtimo redoslijed postupaka ili proceduru množenja.</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t/>
            </a:r>
            <a:endParaRPr/>
          </a:p>
        </p:txBody>
      </p:sp>
      <p:sp>
        <p:nvSpPr>
          <p:cNvPr id="318" name="Google Shape;31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Vještina usvojena do zadnje faze ne zaboravlja se i vrlo duge stanke malo ili nimalo ne štete njezinu izvođenju</a:t>
            </a:r>
            <a:endParaRPr/>
          </a:p>
        </p:txBody>
      </p:sp>
      <p:sp>
        <p:nvSpPr>
          <p:cNvPr id="327" name="Google Shape;327;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motivirano zaboravljanje sadržaja koji su nam neugodni ili ih se plašimo (represija, postiskivanje)  - npr. lakše zaboravljamo imena ljudi koji  nam se ne sviđaju</a:t>
            </a:r>
            <a:endParaRPr/>
          </a:p>
        </p:txBody>
      </p:sp>
      <p:sp>
        <p:nvSpPr>
          <p:cNvPr id="338" name="Google Shape;338;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2" name="Google Shape;352;p5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5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4" name="Google Shape;24;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0" name="Google Shape;30;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5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0"/>
          <p:cNvSpPr/>
          <p:nvPr>
            <p:ph idx="2" type="pic"/>
          </p:nvPr>
        </p:nvSpPr>
        <p:spPr>
          <a:xfrm>
            <a:off x="1792288" y="612775"/>
            <a:ext cx="5486400" cy="4114800"/>
          </a:xfrm>
          <a:prstGeom prst="rect">
            <a:avLst/>
          </a:prstGeom>
          <a:noFill/>
          <a:ln>
            <a:noFill/>
          </a:ln>
        </p:spPr>
      </p:sp>
      <p:sp>
        <p:nvSpPr>
          <p:cNvPr id="68" name="Google Shape;68;p6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www.ted.com/talks/elizabeth_loftus_how_reliable_is_your_memory?language=en" TargetMode="External"/><Relationship Id="rId4"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jp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9.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6.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5.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0.png"/><Relationship Id="rId4" Type="http://schemas.openxmlformats.org/officeDocument/2006/relationships/image" Target="../media/image11.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9.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609600" y="1600200"/>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800"/>
              <a:buFont typeface="Calibri"/>
              <a:buNone/>
            </a:pPr>
            <a:r>
              <a:rPr b="1" lang="en-US" sz="4800"/>
              <a:t>Pamćenje</a:t>
            </a:r>
            <a:endParaRPr/>
          </a:p>
        </p:txBody>
      </p:sp>
      <p:pic>
        <p:nvPicPr>
          <p:cNvPr id="89" name="Google Shape;89;p1"/>
          <p:cNvPicPr preferRelativeResize="0"/>
          <p:nvPr/>
        </p:nvPicPr>
        <p:blipFill rotWithShape="1">
          <a:blip r:embed="rId3">
            <a:alphaModFix/>
          </a:blip>
          <a:srcRect b="3262" l="0" r="0" t="0"/>
          <a:stretch/>
        </p:blipFill>
        <p:spPr>
          <a:xfrm>
            <a:off x="2286000" y="2895600"/>
            <a:ext cx="4335485" cy="3276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3" name="Shape 93"/>
        <p:cNvGrpSpPr/>
        <p:nvPr/>
      </p:nvGrpSpPr>
      <p:grpSpPr>
        <a:xfrm>
          <a:off x="0" y="0"/>
          <a:ext cx="0" cy="0"/>
          <a:chOff x="0" y="0"/>
          <a:chExt cx="0" cy="0"/>
        </a:xfrm>
      </p:grpSpPr>
      <p:sp>
        <p:nvSpPr>
          <p:cNvPr id="94" name="Google Shape;94;p2"/>
          <p:cNvSpPr/>
          <p:nvPr/>
        </p:nvSpPr>
        <p:spPr>
          <a:xfrm>
            <a:off x="0" y="2917370"/>
            <a:ext cx="9143999" cy="3940629"/>
          </a:xfrm>
          <a:prstGeom prst="rect">
            <a:avLst/>
          </a:prstGeom>
          <a:solidFill>
            <a:srgbClr val="3F3F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 name="Google Shape;95;p2"/>
          <p:cNvSpPr txBox="1"/>
          <p:nvPr>
            <p:ph type="title"/>
          </p:nvPr>
        </p:nvSpPr>
        <p:spPr>
          <a:xfrm>
            <a:off x="487836" y="4559523"/>
            <a:ext cx="8176104" cy="123644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lt1"/>
              </a:buClr>
              <a:buSzPts val="6000"/>
              <a:buFont typeface="Calibri"/>
              <a:buNone/>
            </a:pPr>
            <a:r>
              <a:rPr lang="en-US" sz="6000">
                <a:solidFill>
                  <a:schemeClr val="lt1"/>
                </a:solidFill>
              </a:rPr>
              <a:t>TEST VAŠEG PAMĆENJA</a:t>
            </a:r>
            <a:endParaRPr sz="6000">
              <a:solidFill>
                <a:schemeClr val="lt1"/>
              </a:solidFill>
            </a:endParaRPr>
          </a:p>
        </p:txBody>
      </p:sp>
      <p:sp>
        <p:nvSpPr>
          <p:cNvPr id="96" name="Google Shape;96;p2"/>
          <p:cNvSpPr txBox="1"/>
          <p:nvPr>
            <p:ph idx="1" type="body"/>
          </p:nvPr>
        </p:nvSpPr>
        <p:spPr>
          <a:xfrm>
            <a:off x="487836" y="5795963"/>
            <a:ext cx="8176104" cy="560388"/>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888888"/>
              </a:buClr>
              <a:buSzPts val="2400"/>
              <a:buNone/>
            </a:pPr>
            <a:r>
              <a:t/>
            </a:r>
            <a:endParaRPr sz="2400">
              <a:solidFill>
                <a:schemeClr val="lt1"/>
              </a:solidFill>
            </a:endParaRPr>
          </a:p>
        </p:txBody>
      </p:sp>
      <p:pic>
        <p:nvPicPr>
          <p:cNvPr descr="Test Your Memory At Home | Prevention" id="97" name="Google Shape;97;p2"/>
          <p:cNvPicPr preferRelativeResize="0"/>
          <p:nvPr/>
        </p:nvPicPr>
        <p:blipFill rotWithShape="1">
          <a:blip r:embed="rId3">
            <a:alphaModFix/>
          </a:blip>
          <a:srcRect b="19219" l="0" r="0" t="7768"/>
          <a:stretch/>
        </p:blipFill>
        <p:spPr>
          <a:xfrm>
            <a:off x="21" y="0"/>
            <a:ext cx="9143979" cy="423948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103" name="Google Shape;103;p4"/>
          <p:cNvPicPr preferRelativeResize="0"/>
          <p:nvPr>
            <p:ph idx="1" type="body"/>
          </p:nvPr>
        </p:nvPicPr>
        <p:blipFill rotWithShape="1">
          <a:blip r:embed="rId3">
            <a:alphaModFix/>
          </a:blip>
          <a:srcRect b="0" l="0" r="0" t="0"/>
          <a:stretch/>
        </p:blipFill>
        <p:spPr>
          <a:xfrm>
            <a:off x="1676400" y="1600200"/>
            <a:ext cx="6076950" cy="483858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Pamćenje</a:t>
            </a:r>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Što je pamćenje i zašto je važno?</a:t>
            </a:r>
            <a:endParaRPr/>
          </a:p>
          <a:p>
            <a:pPr indent="-285750" lvl="1" marL="742950" rtl="0" algn="l">
              <a:lnSpc>
                <a:spcPct val="100000"/>
              </a:lnSpc>
              <a:spcBef>
                <a:spcPts val="560"/>
              </a:spcBef>
              <a:spcAft>
                <a:spcPts val="0"/>
              </a:spcAft>
              <a:buClr>
                <a:schemeClr val="dk1"/>
              </a:buClr>
              <a:buSzPts val="2800"/>
              <a:buChar char="–"/>
            </a:pPr>
            <a:r>
              <a:rPr lang="en-US"/>
              <a:t>Pamćenje je </a:t>
            </a:r>
            <a:r>
              <a:rPr b="1" lang="en-US"/>
              <a:t>proces</a:t>
            </a:r>
            <a:r>
              <a:rPr lang="en-US"/>
              <a:t> usvajanja, zadržavanja i korištenja informacija.</a:t>
            </a:r>
            <a:endParaRPr/>
          </a:p>
          <a:p>
            <a:pPr indent="-285750" lvl="1" marL="742950" rtl="0" algn="l">
              <a:lnSpc>
                <a:spcPct val="100000"/>
              </a:lnSpc>
              <a:spcBef>
                <a:spcPts val="560"/>
              </a:spcBef>
              <a:spcAft>
                <a:spcPts val="0"/>
              </a:spcAft>
              <a:buClr>
                <a:schemeClr val="dk1"/>
              </a:buClr>
              <a:buSzPts val="2800"/>
              <a:buChar char="–"/>
            </a:pPr>
            <a:r>
              <a:rPr lang="en-US"/>
              <a:t>Neraskidivo povezano s procesom </a:t>
            </a:r>
            <a:r>
              <a:rPr b="1" lang="en-US"/>
              <a:t>učenja</a:t>
            </a:r>
            <a:endParaRPr b="1"/>
          </a:p>
          <a:p>
            <a:pPr indent="-342900" lvl="0" marL="342900" rtl="0" algn="l">
              <a:lnSpc>
                <a:spcPct val="100000"/>
              </a:lnSpc>
              <a:spcBef>
                <a:spcPts val="640"/>
              </a:spcBef>
              <a:spcAft>
                <a:spcPts val="0"/>
              </a:spcAft>
              <a:buClr>
                <a:schemeClr val="dk1"/>
              </a:buClr>
              <a:buSzPts val="3200"/>
              <a:buChar char="•"/>
            </a:pPr>
            <a:r>
              <a:rPr lang="en-US"/>
              <a:t>Kako pamtite? Kako izgleda taj proces?</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110" name="Google Shape;110;p5"/>
          <p:cNvPicPr preferRelativeResize="0"/>
          <p:nvPr/>
        </p:nvPicPr>
        <p:blipFill rotWithShape="1">
          <a:blip r:embed="rId3">
            <a:alphaModFix/>
          </a:blip>
          <a:srcRect b="0" l="0" r="0" t="0"/>
          <a:stretch/>
        </p:blipFill>
        <p:spPr>
          <a:xfrm>
            <a:off x="3124200" y="4226333"/>
            <a:ext cx="2438400" cy="259958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457200" y="519279"/>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Tri kontrolna procesa pamćenja</a:t>
            </a:r>
            <a:endParaRPr/>
          </a:p>
        </p:txBody>
      </p:sp>
      <p:sp>
        <p:nvSpPr>
          <p:cNvPr id="116" name="Google Shape;116;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139700" lvl="0" marL="342900" rtl="0" algn="l">
              <a:lnSpc>
                <a:spcPct val="100000"/>
              </a:lnSpc>
              <a:spcBef>
                <a:spcPts val="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Međusobno povezani i nezavisni procesi </a:t>
            </a:r>
            <a:endParaRPr/>
          </a:p>
          <a:p>
            <a:pPr indent="-139700" lvl="0" marL="342900" rtl="0" algn="l">
              <a:lnSpc>
                <a:spcPct val="100000"/>
              </a:lnSpc>
              <a:spcBef>
                <a:spcPts val="640"/>
              </a:spcBef>
              <a:spcAft>
                <a:spcPts val="0"/>
              </a:spcAft>
              <a:buClr>
                <a:schemeClr val="dk1"/>
              </a:buClr>
              <a:buSzPts val="3200"/>
              <a:buNone/>
            </a:pPr>
            <a:r>
              <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117" name="Google Shape;117;p6"/>
          <p:cNvPicPr preferRelativeResize="0"/>
          <p:nvPr/>
        </p:nvPicPr>
        <p:blipFill rotWithShape="1">
          <a:blip r:embed="rId3">
            <a:alphaModFix/>
          </a:blip>
          <a:srcRect b="33703" l="36666" r="9165" t="26296"/>
          <a:stretch/>
        </p:blipFill>
        <p:spPr>
          <a:xfrm>
            <a:off x="1295400" y="1828800"/>
            <a:ext cx="6821440" cy="283352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sp>
        <p:nvSpPr>
          <p:cNvPr id="122" name="Google Shape;122;p7"/>
          <p:cNvSpPr txBox="1"/>
          <p:nvPr>
            <p:ph type="title"/>
          </p:nvPr>
        </p:nvSpPr>
        <p:spPr>
          <a:xfrm>
            <a:off x="3724072" y="629268"/>
            <a:ext cx="4939868" cy="128616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100"/>
              <a:buFont typeface="Calibri"/>
              <a:buNone/>
            </a:pPr>
            <a:r>
              <a:rPr lang="en-US" sz="4100"/>
              <a:t>Pouzdanost pamćenja </a:t>
            </a:r>
            <a:endParaRPr sz="4100"/>
          </a:p>
        </p:txBody>
      </p:sp>
      <p:sp>
        <p:nvSpPr>
          <p:cNvPr id="123" name="Google Shape;123;p7"/>
          <p:cNvSpPr txBox="1"/>
          <p:nvPr>
            <p:ph idx="1" type="body"/>
          </p:nvPr>
        </p:nvSpPr>
        <p:spPr>
          <a:xfrm>
            <a:off x="3724073" y="2438400"/>
            <a:ext cx="4939867" cy="42672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100000"/>
              </a:lnSpc>
              <a:spcBef>
                <a:spcPts val="0"/>
              </a:spcBef>
              <a:spcAft>
                <a:spcPts val="0"/>
              </a:spcAft>
              <a:buClr>
                <a:schemeClr val="dk1"/>
              </a:buClr>
              <a:buSzPts val="2400"/>
              <a:buChar char="•"/>
            </a:pPr>
            <a:r>
              <a:rPr lang="en-US" sz="2400" u="sng">
                <a:solidFill>
                  <a:schemeClr val="hlink"/>
                </a:solidFill>
                <a:hlinkClick r:id="rId3"/>
              </a:rPr>
              <a:t>https://www.ted.com/talks/elizabeth_loftus_how_reliable_is_your_memory?language=en</a:t>
            </a:r>
            <a:endParaRPr sz="2400"/>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Char char="•"/>
            </a:pPr>
            <a:r>
              <a:rPr lang="en-US" sz="2400"/>
              <a:t>Pamćenje </a:t>
            </a:r>
            <a:r>
              <a:rPr b="1" lang="en-US" sz="2400"/>
              <a:t>nije</a:t>
            </a:r>
            <a:r>
              <a:rPr lang="en-US" sz="2400"/>
              <a:t> poput snimke događaja koje smo doživjeli – mi </a:t>
            </a:r>
            <a:r>
              <a:rPr b="1" lang="en-US" sz="2400"/>
              <a:t>interpretiramo</a:t>
            </a:r>
            <a:r>
              <a:rPr lang="en-US" sz="2400"/>
              <a:t> i </a:t>
            </a:r>
            <a:r>
              <a:rPr b="1" lang="en-US" sz="2400"/>
              <a:t>ispunjavamo praznine </a:t>
            </a:r>
            <a:r>
              <a:rPr lang="en-US" sz="2400"/>
              <a:t>ukoliko ih nađemo </a:t>
            </a:r>
            <a:endParaRPr/>
          </a:p>
          <a:p>
            <a:pPr indent="-190500" lvl="0" marL="342900" rtl="0" algn="l">
              <a:lnSpc>
                <a:spcPct val="100000"/>
              </a:lnSpc>
              <a:spcBef>
                <a:spcPts val="480"/>
              </a:spcBef>
              <a:spcAft>
                <a:spcPts val="0"/>
              </a:spcAft>
              <a:buClr>
                <a:schemeClr val="dk1"/>
              </a:buClr>
              <a:buSzPts val="2400"/>
              <a:buNone/>
            </a:pPr>
            <a:r>
              <a:t/>
            </a:r>
            <a:endParaRPr sz="2400"/>
          </a:p>
          <a:p>
            <a:pPr indent="-342900" lvl="0" marL="342900" rtl="0" algn="l">
              <a:lnSpc>
                <a:spcPct val="100000"/>
              </a:lnSpc>
              <a:spcBef>
                <a:spcPts val="480"/>
              </a:spcBef>
              <a:spcAft>
                <a:spcPts val="0"/>
              </a:spcAft>
              <a:buClr>
                <a:schemeClr val="dk1"/>
              </a:buClr>
              <a:buSzPts val="2400"/>
              <a:buChar char="•"/>
            </a:pPr>
            <a:r>
              <a:rPr lang="en-US" sz="2400"/>
              <a:t>Problem </a:t>
            </a:r>
            <a:r>
              <a:rPr b="1" lang="en-US" sz="2400"/>
              <a:t>lažnih sjećanja</a:t>
            </a:r>
            <a:r>
              <a:rPr lang="en-US" sz="2400"/>
              <a:t>  (str. 68 udžb.)</a:t>
            </a:r>
            <a:endParaRPr sz="2400"/>
          </a:p>
        </p:txBody>
      </p:sp>
      <p:pic>
        <p:nvPicPr>
          <p:cNvPr descr="The science of false memories - Business Insider" id="124" name="Google Shape;124;p7"/>
          <p:cNvPicPr preferRelativeResize="0"/>
          <p:nvPr/>
        </p:nvPicPr>
        <p:blipFill rotWithShape="1">
          <a:blip r:embed="rId4">
            <a:alphaModFix/>
          </a:blip>
          <a:srcRect b="0" l="31822" r="30156" t="0"/>
          <a:stretch/>
        </p:blipFill>
        <p:spPr>
          <a:xfrm>
            <a:off x="20" y="10"/>
            <a:ext cx="3476673" cy="6857990"/>
          </a:xfrm>
          <a:prstGeom prst="rect">
            <a:avLst/>
          </a:prstGeom>
          <a:noFill/>
          <a:ln>
            <a:noFill/>
          </a:ln>
        </p:spPr>
      </p:pic>
      <p:cxnSp>
        <p:nvCxnSpPr>
          <p:cNvPr id="125" name="Google Shape;125;p7"/>
          <p:cNvCxnSpPr/>
          <p:nvPr/>
        </p:nvCxnSpPr>
        <p:spPr>
          <a:xfrm>
            <a:off x="3810700" y="2115117"/>
            <a:ext cx="4732020" cy="0"/>
          </a:xfrm>
          <a:prstGeom prst="straightConnector1">
            <a:avLst/>
          </a:prstGeom>
          <a:noFill/>
          <a:ln cap="flat" cmpd="sng" w="19050">
            <a:solidFill>
              <a:srgbClr val="D08571"/>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131" name="Google Shape;131;p8"/>
          <p:cNvSpPr txBox="1"/>
          <p:nvPr>
            <p:ph idx="1" type="body"/>
          </p:nvPr>
        </p:nvSpPr>
        <p:spPr>
          <a:xfrm>
            <a:off x="533400" y="1639622"/>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Postoje </a:t>
            </a:r>
            <a:r>
              <a:rPr b="1" lang="en-US"/>
              <a:t>tri faze pamćenja </a:t>
            </a:r>
            <a:r>
              <a:rPr lang="en-US"/>
              <a:t>kroz koje informacije prolaze: </a:t>
            </a:r>
            <a:endParaRPr/>
          </a:p>
          <a:p>
            <a:pPr indent="-514350" lvl="0" marL="514350" rtl="0" algn="l">
              <a:lnSpc>
                <a:spcPct val="100000"/>
              </a:lnSpc>
              <a:spcBef>
                <a:spcPts val="640"/>
              </a:spcBef>
              <a:spcAft>
                <a:spcPts val="0"/>
              </a:spcAft>
              <a:buClr>
                <a:schemeClr val="dk1"/>
              </a:buClr>
              <a:buSzPts val="3200"/>
              <a:buAutoNum type="arabicPeriod"/>
            </a:pPr>
            <a:r>
              <a:rPr lang="en-US"/>
              <a:t>Senzorno</a:t>
            </a:r>
            <a:endParaRPr/>
          </a:p>
          <a:p>
            <a:pPr indent="-514350" lvl="0" marL="514350" rtl="0" algn="l">
              <a:lnSpc>
                <a:spcPct val="100000"/>
              </a:lnSpc>
              <a:spcBef>
                <a:spcPts val="640"/>
              </a:spcBef>
              <a:spcAft>
                <a:spcPts val="0"/>
              </a:spcAft>
              <a:buClr>
                <a:schemeClr val="dk1"/>
              </a:buClr>
              <a:buSzPts val="3200"/>
              <a:buAutoNum type="arabicPeriod"/>
            </a:pPr>
            <a:r>
              <a:rPr lang="en-US"/>
              <a:t>Kratkoročno </a:t>
            </a:r>
            <a:endParaRPr/>
          </a:p>
          <a:p>
            <a:pPr indent="-514350" lvl="0" marL="514350" rtl="0" algn="l">
              <a:lnSpc>
                <a:spcPct val="100000"/>
              </a:lnSpc>
              <a:spcBef>
                <a:spcPts val="640"/>
              </a:spcBef>
              <a:spcAft>
                <a:spcPts val="0"/>
              </a:spcAft>
              <a:buClr>
                <a:schemeClr val="dk1"/>
              </a:buClr>
              <a:buSzPts val="3200"/>
              <a:buAutoNum type="arabicPeriod"/>
            </a:pPr>
            <a:r>
              <a:rPr lang="en-US"/>
              <a:t>Dugoročno pamćenje</a:t>
            </a:r>
            <a:endParaRPr/>
          </a:p>
          <a:p>
            <a:pPr indent="-311150" lvl="0" marL="514350" rtl="0" algn="l">
              <a:lnSpc>
                <a:spcPct val="100000"/>
              </a:lnSpc>
              <a:spcBef>
                <a:spcPts val="640"/>
              </a:spcBef>
              <a:spcAft>
                <a:spcPts val="0"/>
              </a:spcAft>
              <a:buClr>
                <a:schemeClr val="dk1"/>
              </a:buClr>
              <a:buSzPts val="3200"/>
              <a:buNone/>
            </a:pPr>
            <a:r>
              <a:t/>
            </a:r>
            <a:endParaRPr/>
          </a:p>
          <a:p>
            <a:pPr indent="-342900" lvl="0" marL="342900" rtl="0" algn="l">
              <a:lnSpc>
                <a:spcPct val="100000"/>
              </a:lnSpc>
              <a:spcBef>
                <a:spcPts val="640"/>
              </a:spcBef>
              <a:spcAft>
                <a:spcPts val="0"/>
              </a:spcAft>
              <a:buClr>
                <a:schemeClr val="dk1"/>
              </a:buClr>
              <a:buSzPts val="3200"/>
              <a:buChar char="•"/>
            </a:pPr>
            <a:r>
              <a:rPr lang="en-US"/>
              <a:t>Što mislite, koliki je naš</a:t>
            </a:r>
            <a:br>
              <a:rPr lang="en-US"/>
            </a:br>
            <a:r>
              <a:rPr lang="en-US"/>
              <a:t>kapacitet pamćenja?</a:t>
            </a:r>
            <a:endParaRPr/>
          </a:p>
          <a:p>
            <a:pPr indent="-139700" lvl="0" marL="342900" rtl="0" algn="l">
              <a:lnSpc>
                <a:spcPct val="100000"/>
              </a:lnSpc>
              <a:spcBef>
                <a:spcPts val="640"/>
              </a:spcBef>
              <a:spcAft>
                <a:spcPts val="0"/>
              </a:spcAft>
              <a:buClr>
                <a:schemeClr val="dk1"/>
              </a:buClr>
              <a:buSzPts val="3200"/>
              <a:buNone/>
            </a:pPr>
            <a:r>
              <a:t/>
            </a:r>
            <a:endParaRPr/>
          </a:p>
        </p:txBody>
      </p:sp>
      <p:pic>
        <p:nvPicPr>
          <p:cNvPr id="132" name="Google Shape;132;p8"/>
          <p:cNvPicPr preferRelativeResize="0"/>
          <p:nvPr/>
        </p:nvPicPr>
        <p:blipFill rotWithShape="1">
          <a:blip r:embed="rId3">
            <a:alphaModFix/>
          </a:blip>
          <a:srcRect b="0" l="0" r="0" t="0"/>
          <a:stretch/>
        </p:blipFill>
        <p:spPr>
          <a:xfrm>
            <a:off x="5562600" y="2362200"/>
            <a:ext cx="3057144" cy="381762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9"/>
          <p:cNvPicPr preferRelativeResize="0"/>
          <p:nvPr/>
        </p:nvPicPr>
        <p:blipFill rotWithShape="1">
          <a:blip r:embed="rId3">
            <a:alphaModFix/>
          </a:blip>
          <a:srcRect b="0" l="0" r="0" t="0"/>
          <a:stretch/>
        </p:blipFill>
        <p:spPr>
          <a:xfrm>
            <a:off x="6248400" y="364312"/>
            <a:ext cx="2143125" cy="2143125"/>
          </a:xfrm>
          <a:prstGeom prst="rect">
            <a:avLst/>
          </a:prstGeom>
          <a:noFill/>
          <a:ln>
            <a:noFill/>
          </a:ln>
        </p:spPr>
      </p:pic>
      <p:sp>
        <p:nvSpPr>
          <p:cNvPr id="139" name="Google Shape;139;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140" name="Google Shape;140;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400"/>
              <a:buNone/>
            </a:pPr>
            <a:r>
              <a:rPr b="1" lang="en-US" sz="2400"/>
              <a:t>SENZORNO PAMĆENJE</a:t>
            </a:r>
            <a:endParaRPr b="1" sz="2400"/>
          </a:p>
          <a:p>
            <a:pPr indent="-342900" lvl="0" marL="342900" rtl="0" algn="l">
              <a:lnSpc>
                <a:spcPct val="100000"/>
              </a:lnSpc>
              <a:spcBef>
                <a:spcPts val="480"/>
              </a:spcBef>
              <a:spcAft>
                <a:spcPts val="0"/>
              </a:spcAft>
              <a:buClr>
                <a:schemeClr val="dk1"/>
              </a:buClr>
              <a:buSzPts val="2400"/>
              <a:buChar char="•"/>
            </a:pPr>
            <a:r>
              <a:rPr lang="en-US" sz="2400"/>
              <a:t>kapacitet</a:t>
            </a:r>
            <a:r>
              <a:rPr b="1" lang="en-US" sz="2400"/>
              <a:t> golem</a:t>
            </a:r>
            <a:endParaRPr/>
          </a:p>
          <a:p>
            <a:pPr indent="-342900" lvl="0" marL="342900" rtl="0" algn="l">
              <a:lnSpc>
                <a:spcPct val="100000"/>
              </a:lnSpc>
              <a:spcBef>
                <a:spcPts val="480"/>
              </a:spcBef>
              <a:spcAft>
                <a:spcPts val="0"/>
              </a:spcAft>
              <a:buClr>
                <a:schemeClr val="dk1"/>
              </a:buClr>
              <a:buSzPts val="2400"/>
              <a:buChar char="•"/>
            </a:pPr>
            <a:r>
              <a:rPr lang="en-US" sz="2400"/>
              <a:t>omogućuje nam kontinuitet doživljaja (paosjet)</a:t>
            </a:r>
            <a:endParaRPr/>
          </a:p>
          <a:p>
            <a:pPr indent="-342900" lvl="0" marL="342900" rtl="0" algn="l">
              <a:lnSpc>
                <a:spcPct val="100000"/>
              </a:lnSpc>
              <a:spcBef>
                <a:spcPts val="480"/>
              </a:spcBef>
              <a:spcAft>
                <a:spcPts val="0"/>
              </a:spcAft>
              <a:buClr>
                <a:schemeClr val="dk1"/>
              </a:buClr>
              <a:buSzPts val="2400"/>
              <a:buChar char="•"/>
            </a:pPr>
            <a:r>
              <a:rPr lang="en-US" sz="2400"/>
              <a:t>informacije se tu zadržavaju </a:t>
            </a:r>
            <a:r>
              <a:rPr b="1" lang="en-US" sz="2400"/>
              <a:t>vrlo kratko </a:t>
            </a:r>
            <a:r>
              <a:rPr lang="en-US" sz="2400"/>
              <a:t>npr. u vidnom sustavu samo oko dvije sekunde, a u slušnom tri do četiri sekunde. </a:t>
            </a:r>
            <a:endParaRPr/>
          </a:p>
          <a:p>
            <a:pPr indent="-190500" lvl="0" marL="342900" rtl="0" algn="l">
              <a:lnSpc>
                <a:spcPct val="100000"/>
              </a:lnSpc>
              <a:spcBef>
                <a:spcPts val="480"/>
              </a:spcBef>
              <a:spcAft>
                <a:spcPts val="0"/>
              </a:spcAft>
              <a:buClr>
                <a:schemeClr val="dk1"/>
              </a:buClr>
              <a:buSzPts val="2400"/>
              <a:buNone/>
            </a:pPr>
            <a:r>
              <a:t/>
            </a:r>
            <a:endParaRPr sz="2400"/>
          </a:p>
        </p:txBody>
      </p:sp>
      <p:pic>
        <p:nvPicPr>
          <p:cNvPr id="141" name="Google Shape;141;p9"/>
          <p:cNvPicPr preferRelativeResize="0"/>
          <p:nvPr/>
        </p:nvPicPr>
        <p:blipFill rotWithShape="1">
          <a:blip r:embed="rId4">
            <a:alphaModFix/>
          </a:blip>
          <a:srcRect b="0" l="0" r="0" t="0"/>
          <a:stretch/>
        </p:blipFill>
        <p:spPr>
          <a:xfrm>
            <a:off x="8402919" y="914400"/>
            <a:ext cx="719960" cy="1197934"/>
          </a:xfrm>
          <a:prstGeom prst="rect">
            <a:avLst/>
          </a:prstGeom>
          <a:noFill/>
          <a:ln>
            <a:noFill/>
          </a:ln>
        </p:spPr>
      </p:pic>
      <p:grpSp>
        <p:nvGrpSpPr>
          <p:cNvPr id="142" name="Google Shape;142;p9"/>
          <p:cNvGrpSpPr/>
          <p:nvPr/>
        </p:nvGrpSpPr>
        <p:grpSpPr>
          <a:xfrm>
            <a:off x="1525071" y="4132728"/>
            <a:ext cx="5485328" cy="2546914"/>
            <a:chOff x="1525071" y="4082486"/>
            <a:chExt cx="5485328" cy="2546914"/>
          </a:xfrm>
        </p:grpSpPr>
        <p:grpSp>
          <p:nvGrpSpPr>
            <p:cNvPr id="143" name="Google Shape;143;p9"/>
            <p:cNvGrpSpPr/>
            <p:nvPr/>
          </p:nvGrpSpPr>
          <p:grpSpPr>
            <a:xfrm>
              <a:off x="1525071" y="4082486"/>
              <a:ext cx="5485328" cy="1381429"/>
              <a:chOff x="1071" y="1058839"/>
              <a:chExt cx="5485328" cy="1381429"/>
            </a:xfrm>
          </p:grpSpPr>
          <p:sp>
            <p:nvSpPr>
              <p:cNvPr id="144" name="Google Shape;144;p9"/>
              <p:cNvSpPr/>
              <p:nvPr/>
            </p:nvSpPr>
            <p:spPr>
              <a:xfrm>
                <a:off x="1071" y="1069204"/>
                <a:ext cx="2285107" cy="137106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9"/>
              <p:cNvSpPr txBox="1"/>
              <p:nvPr/>
            </p:nvSpPr>
            <p:spPr>
              <a:xfrm>
                <a:off x="41228" y="1109361"/>
                <a:ext cx="2204793" cy="129075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Podražaj</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70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(čujemo zvuk)</a:t>
                </a:r>
                <a:endParaRPr b="0" i="0" sz="2000" u="none" cap="none" strike="noStrike">
                  <a:solidFill>
                    <a:schemeClr val="lt1"/>
                  </a:solidFill>
                  <a:latin typeface="Calibri"/>
                  <a:ea typeface="Calibri"/>
                  <a:cs typeface="Calibri"/>
                  <a:sym typeface="Calibri"/>
                </a:endParaRPr>
              </a:p>
            </p:txBody>
          </p:sp>
          <p:sp>
            <p:nvSpPr>
              <p:cNvPr id="146" name="Google Shape;146;p9"/>
              <p:cNvSpPr/>
              <p:nvPr/>
            </p:nvSpPr>
            <p:spPr>
              <a:xfrm rot="-11135">
                <a:off x="2562070" y="1321118"/>
                <a:ext cx="485013" cy="566706"/>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9"/>
              <p:cNvSpPr txBox="1"/>
              <p:nvPr/>
            </p:nvSpPr>
            <p:spPr>
              <a:xfrm rot="-11135">
                <a:off x="2562070" y="1434695"/>
                <a:ext cx="339509" cy="34002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600"/>
                  <a:buFont typeface="Calibri"/>
                  <a:buNone/>
                </a:pPr>
                <a:r>
                  <a:t/>
                </a:r>
                <a:endParaRPr b="0" i="0" sz="1600" u="none" cap="none" strike="noStrike">
                  <a:solidFill>
                    <a:schemeClr val="lt1"/>
                  </a:solidFill>
                  <a:latin typeface="Calibri"/>
                  <a:ea typeface="Calibri"/>
                  <a:cs typeface="Calibri"/>
                  <a:sym typeface="Calibri"/>
                </a:endParaRPr>
              </a:p>
            </p:txBody>
          </p:sp>
          <p:sp>
            <p:nvSpPr>
              <p:cNvPr id="148" name="Google Shape;148;p9"/>
              <p:cNvSpPr/>
              <p:nvPr/>
            </p:nvSpPr>
            <p:spPr>
              <a:xfrm>
                <a:off x="3201292" y="1058839"/>
                <a:ext cx="2285107" cy="1371064"/>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9"/>
              <p:cNvSpPr txBox="1"/>
              <p:nvPr/>
            </p:nvSpPr>
            <p:spPr>
              <a:xfrm>
                <a:off x="3241449" y="1098996"/>
                <a:ext cx="2204793" cy="1290750"/>
              </a:xfrm>
              <a:prstGeom prst="rect">
                <a:avLst/>
              </a:prstGeom>
              <a:noFill/>
              <a:ln>
                <a:noFill/>
              </a:ln>
            </p:spPr>
            <p:txBody>
              <a:bodyPr anchorCtr="0" anchor="ctr" bIns="76200" lIns="76200" spcFirstLastPara="1" rIns="76200" wrap="square" tIns="76200">
                <a:noAutofit/>
              </a:bodyPr>
              <a:lstStyle/>
              <a:p>
                <a:pPr indent="0" lvl="0" marL="0" marR="0" rtl="0" algn="ctr">
                  <a:lnSpc>
                    <a:spcPct val="90000"/>
                  </a:lnSpc>
                  <a:spcBef>
                    <a:spcPts val="0"/>
                  </a:spcBef>
                  <a:spcAft>
                    <a:spcPts val="0"/>
                  </a:spcAft>
                  <a:buClr>
                    <a:schemeClr val="lt1"/>
                  </a:buClr>
                  <a:buSzPts val="2000"/>
                  <a:buFont typeface="Calibri"/>
                  <a:buNone/>
                </a:pPr>
                <a:r>
                  <a:rPr b="0" i="0" lang="en-US" sz="2000" u="none" cap="none" strike="noStrike">
                    <a:solidFill>
                      <a:schemeClr val="lt1"/>
                    </a:solidFill>
                    <a:latin typeface="Calibri"/>
                    <a:ea typeface="Calibri"/>
                    <a:cs typeface="Calibri"/>
                    <a:sym typeface="Calibri"/>
                  </a:rPr>
                  <a:t>Senzorno pamćenje (vrlo kratko zvuk ostaje u uhu)</a:t>
                </a:r>
                <a:endParaRPr b="0" i="0" sz="2000" u="none" cap="none" strike="noStrike">
                  <a:solidFill>
                    <a:schemeClr val="lt1"/>
                  </a:solidFill>
                  <a:latin typeface="Calibri"/>
                  <a:ea typeface="Calibri"/>
                  <a:cs typeface="Calibri"/>
                  <a:sym typeface="Calibri"/>
                </a:endParaRPr>
              </a:p>
            </p:txBody>
          </p:sp>
        </p:grpSp>
        <p:sp>
          <p:nvSpPr>
            <p:cNvPr id="150" name="Google Shape;150;p9"/>
            <p:cNvSpPr/>
            <p:nvPr/>
          </p:nvSpPr>
          <p:spPr>
            <a:xfrm>
              <a:off x="3581400" y="5943600"/>
              <a:ext cx="1371600" cy="6858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PAŽNJA</a:t>
              </a:r>
              <a:endParaRPr b="1" i="0" sz="1800" u="none" cap="none" strike="noStrike">
                <a:solidFill>
                  <a:schemeClr val="lt1"/>
                </a:solidFill>
                <a:latin typeface="Calibri"/>
                <a:ea typeface="Calibri"/>
                <a:cs typeface="Calibri"/>
                <a:sym typeface="Calibri"/>
              </a:endParaRPr>
            </a:p>
          </p:txBody>
        </p:sp>
        <p:sp>
          <p:nvSpPr>
            <p:cNvPr id="151" name="Google Shape;151;p9"/>
            <p:cNvSpPr/>
            <p:nvPr/>
          </p:nvSpPr>
          <p:spPr>
            <a:xfrm>
              <a:off x="4038600" y="5181600"/>
              <a:ext cx="457200" cy="762000"/>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10"/>
          <p:cNvPicPr preferRelativeResize="0"/>
          <p:nvPr/>
        </p:nvPicPr>
        <p:blipFill rotWithShape="1">
          <a:blip r:embed="rId3">
            <a:alphaModFix/>
          </a:blip>
          <a:srcRect b="0" l="0" r="0" t="0"/>
          <a:stretch/>
        </p:blipFill>
        <p:spPr>
          <a:xfrm>
            <a:off x="6997134" y="-16042"/>
            <a:ext cx="2133600" cy="2133600"/>
          </a:xfrm>
          <a:prstGeom prst="rect">
            <a:avLst/>
          </a:prstGeom>
          <a:noFill/>
          <a:ln>
            <a:noFill/>
          </a:ln>
        </p:spPr>
      </p:pic>
      <p:sp>
        <p:nvSpPr>
          <p:cNvPr id="158" name="Google Shape;158;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159" name="Google Shape;159;p10"/>
          <p:cNvSpPr txBox="1"/>
          <p:nvPr>
            <p:ph idx="1" type="body"/>
          </p:nvPr>
        </p:nvSpPr>
        <p:spPr>
          <a:xfrm>
            <a:off x="275492" y="1828800"/>
            <a:ext cx="8229600" cy="48307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4000"/>
              <a:buNone/>
            </a:pPr>
            <a:r>
              <a:rPr b="1" lang="en-US" sz="4000"/>
              <a:t>KRATKOROČNO – RADNO PAMĆENJE</a:t>
            </a:r>
            <a:endParaRPr b="1" sz="4000"/>
          </a:p>
          <a:p>
            <a:pPr indent="-342900" lvl="0" marL="342900" rtl="0" algn="l">
              <a:lnSpc>
                <a:spcPct val="100000"/>
              </a:lnSpc>
              <a:spcBef>
                <a:spcPts val="800"/>
              </a:spcBef>
              <a:spcAft>
                <a:spcPts val="0"/>
              </a:spcAft>
              <a:buClr>
                <a:schemeClr val="dk1"/>
              </a:buClr>
              <a:buSzPts val="4000"/>
              <a:buChar char="•"/>
            </a:pPr>
            <a:r>
              <a:rPr lang="en-US" sz="4000"/>
              <a:t>Obuhvaća one informacije kojih smo u određenom trenutku </a:t>
            </a:r>
            <a:r>
              <a:rPr b="1" lang="en-US" sz="4000"/>
              <a:t>svjesni</a:t>
            </a:r>
            <a:r>
              <a:rPr lang="en-US" sz="4000"/>
              <a:t> i s kojima nešto </a:t>
            </a:r>
            <a:r>
              <a:rPr b="1" lang="en-US" sz="4000"/>
              <a:t>radimo</a:t>
            </a:r>
            <a:endParaRPr b="1" sz="4000"/>
          </a:p>
          <a:p>
            <a:pPr indent="-88900" lvl="0" marL="342900" rtl="0" algn="l">
              <a:lnSpc>
                <a:spcPct val="100000"/>
              </a:lnSpc>
              <a:spcBef>
                <a:spcPts val="800"/>
              </a:spcBef>
              <a:spcAft>
                <a:spcPts val="0"/>
              </a:spcAft>
              <a:buClr>
                <a:schemeClr val="dk1"/>
              </a:buClr>
              <a:buSzPts val="4000"/>
              <a:buNone/>
            </a:pPr>
            <a:r>
              <a:t/>
            </a:r>
            <a:endParaRPr sz="4000"/>
          </a:p>
          <a:p>
            <a:pPr indent="-342900" lvl="0" marL="342900" rtl="0" algn="l">
              <a:lnSpc>
                <a:spcPct val="100000"/>
              </a:lnSpc>
              <a:spcBef>
                <a:spcPts val="800"/>
              </a:spcBef>
              <a:spcAft>
                <a:spcPts val="0"/>
              </a:spcAft>
              <a:buClr>
                <a:schemeClr val="dk1"/>
              </a:buClr>
              <a:buSzPts val="4000"/>
              <a:buChar char="•"/>
            </a:pPr>
            <a:r>
              <a:rPr lang="en-US" sz="4000"/>
              <a:t>Kapacitet je ograničen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165" name="Google Shape;165;p11"/>
          <p:cNvSpPr txBox="1"/>
          <p:nvPr>
            <p:ph idx="1" type="body"/>
          </p:nvPr>
        </p:nvSpPr>
        <p:spPr>
          <a:xfrm>
            <a:off x="457200" y="1950648"/>
            <a:ext cx="8229600" cy="4525963"/>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chemeClr val="dk1"/>
              </a:buClr>
              <a:buSzPts val="3200"/>
              <a:buNone/>
            </a:pPr>
            <a:r>
              <a:rPr lang="en-US"/>
              <a:t>KRATKOROČNO - RADNO PAMĆENJE</a:t>
            </a:r>
            <a:endParaRPr/>
          </a:p>
          <a:p>
            <a:pPr indent="0" lvl="0" marL="0" rtl="0" algn="l">
              <a:lnSpc>
                <a:spcPct val="100000"/>
              </a:lnSpc>
              <a:spcBef>
                <a:spcPts val="640"/>
              </a:spcBef>
              <a:spcAft>
                <a:spcPts val="0"/>
              </a:spcAft>
              <a:buClr>
                <a:schemeClr val="dk1"/>
              </a:buClr>
              <a:buSzPts val="3200"/>
              <a:buNone/>
            </a:pPr>
            <a:r>
              <a:t/>
            </a:r>
            <a:endParaRPr/>
          </a:p>
        </p:txBody>
      </p:sp>
      <p:grpSp>
        <p:nvGrpSpPr>
          <p:cNvPr id="166" name="Google Shape;166;p11"/>
          <p:cNvGrpSpPr/>
          <p:nvPr/>
        </p:nvGrpSpPr>
        <p:grpSpPr>
          <a:xfrm>
            <a:off x="838200" y="3054341"/>
            <a:ext cx="8408891" cy="2382394"/>
            <a:chOff x="1143000" y="3888163"/>
            <a:chExt cx="7156503" cy="2820064"/>
          </a:xfrm>
        </p:grpSpPr>
        <p:grpSp>
          <p:nvGrpSpPr>
            <p:cNvPr id="167" name="Google Shape;167;p11"/>
            <p:cNvGrpSpPr/>
            <p:nvPr/>
          </p:nvGrpSpPr>
          <p:grpSpPr>
            <a:xfrm>
              <a:off x="1143000" y="3888163"/>
              <a:ext cx="7156503" cy="1244157"/>
              <a:chOff x="0" y="1089890"/>
              <a:chExt cx="7156503" cy="1244157"/>
            </a:xfrm>
          </p:grpSpPr>
          <p:sp>
            <p:nvSpPr>
              <p:cNvPr id="168" name="Google Shape;168;p11"/>
              <p:cNvSpPr/>
              <p:nvPr/>
            </p:nvSpPr>
            <p:spPr>
              <a:xfrm>
                <a:off x="0" y="1091890"/>
                <a:ext cx="1881633" cy="1234822"/>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1"/>
              <p:cNvSpPr txBox="1"/>
              <p:nvPr/>
            </p:nvSpPr>
            <p:spPr>
              <a:xfrm>
                <a:off x="36167" y="1128057"/>
                <a:ext cx="1809299" cy="116248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Podražaj</a:t>
                </a:r>
                <a:endParaRPr b="0" i="0" sz="1400" u="none" cap="none" strike="noStrike">
                  <a:solidFill>
                    <a:srgbClr val="000000"/>
                  </a:solidFill>
                  <a:latin typeface="Arial"/>
                  <a:ea typeface="Arial"/>
                  <a:cs typeface="Arial"/>
                  <a:sym typeface="Arial"/>
                </a:endParaRPr>
              </a:p>
              <a:p>
                <a:pPr indent="0" lvl="0" marL="0" marR="0" rtl="0" algn="ctr">
                  <a:lnSpc>
                    <a:spcPct val="90000"/>
                  </a:lnSpc>
                  <a:spcBef>
                    <a:spcPts val="63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(čujemo zvuk)</a:t>
                </a:r>
                <a:endParaRPr b="0" i="0" sz="1800" u="none" cap="none" strike="noStrike">
                  <a:solidFill>
                    <a:schemeClr val="lt1"/>
                  </a:solidFill>
                  <a:latin typeface="Calibri"/>
                  <a:ea typeface="Calibri"/>
                  <a:cs typeface="Calibri"/>
                  <a:sym typeface="Calibri"/>
                </a:endParaRPr>
              </a:p>
            </p:txBody>
          </p:sp>
          <p:sp>
            <p:nvSpPr>
              <p:cNvPr id="170" name="Google Shape;170;p11"/>
              <p:cNvSpPr/>
              <p:nvPr/>
            </p:nvSpPr>
            <p:spPr>
              <a:xfrm rot="-2560">
                <a:off x="2082738" y="1474969"/>
                <a:ext cx="426341" cy="466645"/>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1"/>
              <p:cNvSpPr txBox="1"/>
              <p:nvPr/>
            </p:nvSpPr>
            <p:spPr>
              <a:xfrm rot="-2560">
                <a:off x="2082738" y="1568346"/>
                <a:ext cx="298439" cy="2799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Calibri"/>
                  <a:buNone/>
                </a:pPr>
                <a:r>
                  <a:t/>
                </a:r>
                <a:endParaRPr b="0" i="0" sz="1400" u="none" cap="none" strike="noStrike">
                  <a:solidFill>
                    <a:schemeClr val="lt1"/>
                  </a:solidFill>
                  <a:latin typeface="Calibri"/>
                  <a:ea typeface="Calibri"/>
                  <a:cs typeface="Calibri"/>
                  <a:sym typeface="Calibri"/>
                </a:endParaRPr>
              </a:p>
            </p:txBody>
          </p:sp>
          <p:sp>
            <p:nvSpPr>
              <p:cNvPr id="172" name="Google Shape;172;p11"/>
              <p:cNvSpPr/>
              <p:nvPr/>
            </p:nvSpPr>
            <p:spPr>
              <a:xfrm>
                <a:off x="2686050" y="1089890"/>
                <a:ext cx="1881633" cy="1234822"/>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1"/>
              <p:cNvSpPr txBox="1"/>
              <p:nvPr/>
            </p:nvSpPr>
            <p:spPr>
              <a:xfrm>
                <a:off x="2722217" y="1126057"/>
                <a:ext cx="1809299" cy="116248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Senzorno pamćenje (vrlo kratko zvuk ostaje u uhu)</a:t>
                </a:r>
                <a:endParaRPr b="0" i="0" sz="1800" u="none" cap="none" strike="noStrike">
                  <a:solidFill>
                    <a:schemeClr val="lt1"/>
                  </a:solidFill>
                  <a:latin typeface="Calibri"/>
                  <a:ea typeface="Calibri"/>
                  <a:cs typeface="Calibri"/>
                  <a:sym typeface="Calibri"/>
                </a:endParaRPr>
              </a:p>
            </p:txBody>
          </p:sp>
          <p:sp>
            <p:nvSpPr>
              <p:cNvPr id="174" name="Google Shape;174;p11"/>
              <p:cNvSpPr/>
              <p:nvPr/>
            </p:nvSpPr>
            <p:spPr>
              <a:xfrm rot="12396">
                <a:off x="4744480" y="1478684"/>
                <a:ext cx="374810" cy="466645"/>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1"/>
              <p:cNvSpPr txBox="1"/>
              <p:nvPr/>
            </p:nvSpPr>
            <p:spPr>
              <a:xfrm rot="12396">
                <a:off x="4744480" y="1571810"/>
                <a:ext cx="262367" cy="279987"/>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400"/>
                  <a:buFont typeface="Calibri"/>
                  <a:buNone/>
                </a:pPr>
                <a:r>
                  <a:t/>
                </a:r>
                <a:endParaRPr b="0" i="0" sz="1400" u="none" cap="none" strike="noStrike">
                  <a:solidFill>
                    <a:schemeClr val="lt1"/>
                  </a:solidFill>
                  <a:latin typeface="Calibri"/>
                  <a:ea typeface="Calibri"/>
                  <a:cs typeface="Calibri"/>
                  <a:sym typeface="Calibri"/>
                </a:endParaRPr>
              </a:p>
            </p:txBody>
          </p:sp>
          <p:sp>
            <p:nvSpPr>
              <p:cNvPr id="176" name="Google Shape;176;p11"/>
              <p:cNvSpPr/>
              <p:nvPr/>
            </p:nvSpPr>
            <p:spPr>
              <a:xfrm>
                <a:off x="5274870" y="1099225"/>
                <a:ext cx="1881633" cy="1234822"/>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1"/>
              <p:cNvSpPr txBox="1"/>
              <p:nvPr/>
            </p:nvSpPr>
            <p:spPr>
              <a:xfrm>
                <a:off x="5311037" y="1135392"/>
                <a:ext cx="1809299" cy="1162488"/>
              </a:xfrm>
              <a:prstGeom prst="rect">
                <a:avLst/>
              </a:prstGeom>
              <a:noFill/>
              <a:ln>
                <a:noFill/>
              </a:ln>
            </p:spPr>
            <p:txBody>
              <a:bodyPr anchorCtr="0" anchor="ctr" bIns="68575" lIns="68575" spcFirstLastPara="1" rIns="68575" wrap="square" tIns="68575">
                <a:noAutofit/>
              </a:bodyPr>
              <a:lstStyle/>
              <a:p>
                <a:pPr indent="0" lvl="0" marL="0" marR="0" rtl="0" algn="ctr">
                  <a:lnSpc>
                    <a:spcPct val="90000"/>
                  </a:lnSpc>
                  <a:spcBef>
                    <a:spcPts val="0"/>
                  </a:spcBef>
                  <a:spcAft>
                    <a:spcPts val="0"/>
                  </a:spcAft>
                  <a:buClr>
                    <a:schemeClr val="lt1"/>
                  </a:buClr>
                  <a:buSzPts val="1800"/>
                  <a:buFont typeface="Calibri"/>
                  <a:buNone/>
                </a:pPr>
                <a:r>
                  <a:rPr b="0" i="0" lang="en-US" sz="1800" u="none" cap="none" strike="noStrike">
                    <a:solidFill>
                      <a:schemeClr val="lt1"/>
                    </a:solidFill>
                    <a:latin typeface="Calibri"/>
                    <a:ea typeface="Calibri"/>
                    <a:cs typeface="Calibri"/>
                    <a:sym typeface="Calibri"/>
                  </a:rPr>
                  <a:t>Kratkoročno pamćenje (ponavljamo si broj u glavi)</a:t>
                </a:r>
                <a:endParaRPr b="0" i="0" sz="1800" u="none" cap="none" strike="noStrike">
                  <a:solidFill>
                    <a:schemeClr val="lt1"/>
                  </a:solidFill>
                  <a:latin typeface="Calibri"/>
                  <a:ea typeface="Calibri"/>
                  <a:cs typeface="Calibri"/>
                  <a:sym typeface="Calibri"/>
                </a:endParaRPr>
              </a:p>
            </p:txBody>
          </p:sp>
        </p:grpSp>
        <p:sp>
          <p:nvSpPr>
            <p:cNvPr id="178" name="Google Shape;178;p11"/>
            <p:cNvSpPr/>
            <p:nvPr/>
          </p:nvSpPr>
          <p:spPr>
            <a:xfrm>
              <a:off x="2393462" y="6022426"/>
              <a:ext cx="1371600" cy="685801"/>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PAŽNJA</a:t>
              </a:r>
              <a:endParaRPr b="1" i="0" sz="1800" u="none" cap="none" strike="noStrike">
                <a:solidFill>
                  <a:schemeClr val="lt1"/>
                </a:solidFill>
                <a:latin typeface="Calibri"/>
                <a:ea typeface="Calibri"/>
                <a:cs typeface="Calibri"/>
                <a:sym typeface="Calibri"/>
              </a:endParaRPr>
            </a:p>
          </p:txBody>
        </p:sp>
        <p:sp>
          <p:nvSpPr>
            <p:cNvPr id="179" name="Google Shape;179;p11"/>
            <p:cNvSpPr/>
            <p:nvPr/>
          </p:nvSpPr>
          <p:spPr>
            <a:xfrm>
              <a:off x="2850662" y="5260425"/>
              <a:ext cx="457200" cy="762000"/>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80" name="Google Shape;180;p11"/>
          <p:cNvSpPr/>
          <p:nvPr/>
        </p:nvSpPr>
        <p:spPr>
          <a:xfrm>
            <a:off x="5491076" y="4080350"/>
            <a:ext cx="508000" cy="777019"/>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11"/>
          <p:cNvSpPr/>
          <p:nvPr/>
        </p:nvSpPr>
        <p:spPr>
          <a:xfrm>
            <a:off x="5029200" y="4737417"/>
            <a:ext cx="1524000" cy="699318"/>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PAŽNJA</a:t>
            </a:r>
            <a:endParaRPr b="1"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188" name="Google Shape;188;p12"/>
          <p:cNvSpPr txBox="1"/>
          <p:nvPr>
            <p:ph idx="1" type="body"/>
          </p:nvPr>
        </p:nvSpPr>
        <p:spPr>
          <a:xfrm>
            <a:off x="457200" y="1143000"/>
            <a:ext cx="8229600" cy="4876799"/>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Char char="•"/>
            </a:pPr>
            <a:r>
              <a:rPr lang="en-US"/>
              <a:t>Mjerenje kapaciteta kratkoročnog pamćenja- kako?</a:t>
            </a:r>
            <a:endParaRPr/>
          </a:p>
          <a:p>
            <a:pPr indent="-342900" lvl="0" marL="342900" rtl="0" algn="l">
              <a:lnSpc>
                <a:spcPct val="100000"/>
              </a:lnSpc>
              <a:spcBef>
                <a:spcPts val="640"/>
              </a:spcBef>
              <a:spcAft>
                <a:spcPts val="0"/>
              </a:spcAft>
              <a:buClr>
                <a:schemeClr val="dk1"/>
              </a:buClr>
              <a:buSzPts val="3200"/>
              <a:buChar char="•"/>
            </a:pPr>
            <a:r>
              <a:rPr lang="en-US"/>
              <a:t>Maksimalan broj vrlo sličan kod većine ljudi i obično varira između </a:t>
            </a:r>
            <a:r>
              <a:rPr b="1" lang="en-US"/>
              <a:t>5 i 9 (7+/-2)</a:t>
            </a:r>
            <a:r>
              <a:rPr lang="en-US"/>
              <a:t>. </a:t>
            </a:r>
            <a:endParaRPr/>
          </a:p>
          <a:p>
            <a:pPr indent="-342900" lvl="0" marL="342900" rtl="0" algn="l">
              <a:lnSpc>
                <a:spcPct val="100000"/>
              </a:lnSpc>
              <a:spcBef>
                <a:spcPts val="640"/>
              </a:spcBef>
              <a:spcAft>
                <a:spcPts val="0"/>
              </a:spcAft>
              <a:buClr>
                <a:schemeClr val="dk1"/>
              </a:buClr>
              <a:buSzPts val="3200"/>
              <a:buChar char="•"/>
            </a:pPr>
            <a:r>
              <a:rPr lang="en-US"/>
              <a:t>Kakve pojmove lakše</a:t>
            </a:r>
            <a:br>
              <a:rPr lang="en-US"/>
            </a:br>
            <a:r>
              <a:rPr lang="en-US"/>
              <a:t>pamtimo?</a:t>
            </a:r>
            <a:endParaRPr/>
          </a:p>
          <a:p>
            <a:pPr indent="-342900" lvl="0" marL="342900" rtl="0" algn="l">
              <a:lnSpc>
                <a:spcPct val="100000"/>
              </a:lnSpc>
              <a:spcBef>
                <a:spcPts val="640"/>
              </a:spcBef>
              <a:spcAft>
                <a:spcPts val="0"/>
              </a:spcAft>
              <a:buClr>
                <a:schemeClr val="dk1"/>
              </a:buClr>
              <a:buSzPts val="3200"/>
              <a:buChar char="•"/>
            </a:pPr>
            <a:r>
              <a:rPr lang="en-US"/>
              <a:t>Lakše konkretne nego apstraktne</a:t>
            </a:r>
            <a:endParaRPr/>
          </a:p>
          <a:p>
            <a:pPr indent="-342900" lvl="0" marL="342900" rtl="0" algn="l">
              <a:lnSpc>
                <a:spcPct val="100000"/>
              </a:lnSpc>
              <a:spcBef>
                <a:spcPts val="640"/>
              </a:spcBef>
              <a:spcAft>
                <a:spcPts val="0"/>
              </a:spcAft>
              <a:buClr>
                <a:schemeClr val="dk1"/>
              </a:buClr>
              <a:buSzPts val="3200"/>
              <a:buChar char="•"/>
            </a:pPr>
            <a:r>
              <a:rPr b="1" lang="en-US"/>
              <a:t>Smislene</a:t>
            </a:r>
            <a:r>
              <a:rPr lang="en-US"/>
              <a:t> sadržaje pamtimo mnogo lakše od besmislenih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DOMAĆA ZADAĆA</a:t>
            </a:r>
            <a:endParaRPr/>
          </a:p>
        </p:txBody>
      </p:sp>
      <p:sp>
        <p:nvSpPr>
          <p:cNvPr id="194" name="Google Shape;194;p1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40"/>
              </a:spcBef>
              <a:spcAft>
                <a:spcPts val="0"/>
              </a:spcAft>
              <a:buNone/>
            </a:pPr>
            <a:r>
              <a:rPr b="1" lang="en-US"/>
              <a:t>Zadatak za kod kuće</a:t>
            </a:r>
            <a:r>
              <a:rPr lang="en-US"/>
              <a:t>: napravite test pamćenja na stranici 72. i odgovorite na pitanja. Odgovore mi šaljite na mail. </a:t>
            </a:r>
            <a:endParaRPr/>
          </a:p>
        </p:txBody>
      </p:sp>
      <p:pic>
        <p:nvPicPr>
          <p:cNvPr descr="Marijuana Can Create False Memories In Users, Study Finds - The Fresh Toast" id="195" name="Google Shape;195;p13"/>
          <p:cNvPicPr preferRelativeResize="0"/>
          <p:nvPr/>
        </p:nvPicPr>
        <p:blipFill rotWithShape="1">
          <a:blip r:embed="rId3">
            <a:alphaModFix/>
          </a:blip>
          <a:srcRect b="0" l="0" r="0" t="0"/>
          <a:stretch/>
        </p:blipFill>
        <p:spPr>
          <a:xfrm>
            <a:off x="2362200" y="3429007"/>
            <a:ext cx="3817889" cy="207338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4"/>
          <p:cNvSpPr txBox="1"/>
          <p:nvPr>
            <p:ph type="title"/>
          </p:nvPr>
        </p:nvSpPr>
        <p:spPr>
          <a:xfrm>
            <a:off x="457200" y="5794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Pamćenje</a:t>
            </a:r>
            <a:endParaRPr/>
          </a:p>
        </p:txBody>
      </p:sp>
      <p:grpSp>
        <p:nvGrpSpPr>
          <p:cNvPr id="201" name="Google Shape;201;p14"/>
          <p:cNvGrpSpPr/>
          <p:nvPr/>
        </p:nvGrpSpPr>
        <p:grpSpPr>
          <a:xfrm>
            <a:off x="143317" y="1962274"/>
            <a:ext cx="8790947" cy="3048323"/>
            <a:chOff x="155401" y="1908026"/>
            <a:chExt cx="8790947" cy="3048323"/>
          </a:xfrm>
        </p:grpSpPr>
        <p:grpSp>
          <p:nvGrpSpPr>
            <p:cNvPr id="202" name="Google Shape;202;p14"/>
            <p:cNvGrpSpPr/>
            <p:nvPr/>
          </p:nvGrpSpPr>
          <p:grpSpPr>
            <a:xfrm>
              <a:off x="2202406" y="1908026"/>
              <a:ext cx="6743942" cy="1121419"/>
              <a:chOff x="145006" y="1831826"/>
              <a:chExt cx="6743942" cy="1121419"/>
            </a:xfrm>
          </p:grpSpPr>
          <p:sp>
            <p:nvSpPr>
              <p:cNvPr id="203" name="Google Shape;203;p14"/>
              <p:cNvSpPr/>
              <p:nvPr/>
            </p:nvSpPr>
            <p:spPr>
              <a:xfrm>
                <a:off x="145006" y="1848595"/>
                <a:ext cx="1841084" cy="110465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4"/>
              <p:cNvSpPr txBox="1"/>
              <p:nvPr/>
            </p:nvSpPr>
            <p:spPr>
              <a:xfrm>
                <a:off x="177360" y="1880949"/>
                <a:ext cx="1776376" cy="1039942"/>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Senzorno pamćenje</a:t>
                </a:r>
                <a:endParaRPr b="0" i="0" sz="1400" u="none" cap="none" strike="noStrike">
                  <a:solidFill>
                    <a:srgbClr val="000000"/>
                  </a:solidFill>
                  <a:latin typeface="Arial"/>
                  <a:ea typeface="Arial"/>
                  <a:cs typeface="Arial"/>
                  <a:sym typeface="Arial"/>
                </a:endParaRPr>
              </a:p>
            </p:txBody>
          </p:sp>
          <p:sp>
            <p:nvSpPr>
              <p:cNvPr id="205" name="Google Shape;205;p14"/>
              <p:cNvSpPr/>
              <p:nvPr/>
            </p:nvSpPr>
            <p:spPr>
              <a:xfrm rot="-23638">
                <a:off x="2043573" y="2164180"/>
                <a:ext cx="543737" cy="456588"/>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4"/>
              <p:cNvSpPr txBox="1"/>
              <p:nvPr/>
            </p:nvSpPr>
            <p:spPr>
              <a:xfrm rot="-23638">
                <a:off x="2043575" y="2255969"/>
                <a:ext cx="406761" cy="27395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300"/>
                  <a:buFont typeface="Calibri"/>
                  <a:buNone/>
                </a:pPr>
                <a:r>
                  <a:t/>
                </a:r>
                <a:endParaRPr b="0" i="0" sz="1300" u="none" cap="none" strike="noStrike">
                  <a:solidFill>
                    <a:schemeClr val="lt1"/>
                  </a:solidFill>
                  <a:latin typeface="Calibri"/>
                  <a:ea typeface="Calibri"/>
                  <a:cs typeface="Calibri"/>
                  <a:sym typeface="Calibri"/>
                </a:endParaRPr>
              </a:p>
            </p:txBody>
          </p:sp>
          <p:sp>
            <p:nvSpPr>
              <p:cNvPr id="207" name="Google Shape;207;p14"/>
              <p:cNvSpPr/>
              <p:nvPr/>
            </p:nvSpPr>
            <p:spPr>
              <a:xfrm>
                <a:off x="2583677" y="1831826"/>
                <a:ext cx="1841084" cy="110465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14"/>
              <p:cNvSpPr txBox="1"/>
              <p:nvPr/>
            </p:nvSpPr>
            <p:spPr>
              <a:xfrm>
                <a:off x="2616031" y="1864180"/>
                <a:ext cx="1776376" cy="1039942"/>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Radno/kratkoročno pamćenje</a:t>
                </a:r>
                <a:endParaRPr b="0" i="0" sz="1400" u="none" cap="none" strike="noStrike">
                  <a:solidFill>
                    <a:srgbClr val="000000"/>
                  </a:solidFill>
                  <a:latin typeface="Arial"/>
                  <a:ea typeface="Arial"/>
                  <a:cs typeface="Arial"/>
                  <a:sym typeface="Arial"/>
                </a:endParaRPr>
              </a:p>
            </p:txBody>
          </p:sp>
          <p:sp>
            <p:nvSpPr>
              <p:cNvPr id="209" name="Google Shape;209;p14"/>
              <p:cNvSpPr/>
              <p:nvPr/>
            </p:nvSpPr>
            <p:spPr>
              <a:xfrm rot="23393">
                <a:off x="4497348" y="2164949"/>
                <a:ext cx="560275" cy="456588"/>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4"/>
              <p:cNvSpPr txBox="1"/>
              <p:nvPr/>
            </p:nvSpPr>
            <p:spPr>
              <a:xfrm rot="23393">
                <a:off x="4497350" y="2255801"/>
                <a:ext cx="423299" cy="273952"/>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300"/>
                  <a:buFont typeface="Calibri"/>
                  <a:buNone/>
                </a:pPr>
                <a:r>
                  <a:t/>
                </a:r>
                <a:endParaRPr b="0" i="0" sz="1300" u="none" cap="none" strike="noStrike">
                  <a:solidFill>
                    <a:schemeClr val="lt1"/>
                  </a:solidFill>
                  <a:latin typeface="Calibri"/>
                  <a:ea typeface="Calibri"/>
                  <a:cs typeface="Calibri"/>
                  <a:sym typeface="Calibri"/>
                </a:endParaRPr>
              </a:p>
            </p:txBody>
          </p:sp>
          <p:sp>
            <p:nvSpPr>
              <p:cNvPr id="211" name="Google Shape;211;p14"/>
              <p:cNvSpPr/>
              <p:nvPr/>
            </p:nvSpPr>
            <p:spPr>
              <a:xfrm>
                <a:off x="5047864" y="1848595"/>
                <a:ext cx="1841084" cy="1104650"/>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14"/>
              <p:cNvSpPr txBox="1"/>
              <p:nvPr/>
            </p:nvSpPr>
            <p:spPr>
              <a:xfrm>
                <a:off x="5080218" y="1880949"/>
                <a:ext cx="1776376" cy="1039942"/>
              </a:xfrm>
              <a:prstGeom prst="rect">
                <a:avLst/>
              </a:prstGeom>
              <a:noFill/>
              <a:ln>
                <a:noFill/>
              </a:ln>
            </p:spPr>
            <p:txBody>
              <a:bodyPr anchorCtr="0" anchor="ctr" bIns="60950" lIns="60950" spcFirstLastPara="1" rIns="60950" wrap="square" tIns="60950">
                <a:noAutofit/>
              </a:bodyPr>
              <a:lstStyle/>
              <a:p>
                <a:pPr indent="0" lvl="0" marL="0" marR="0" rtl="0" algn="ctr">
                  <a:lnSpc>
                    <a:spcPct val="90000"/>
                  </a:lnSpc>
                  <a:spcBef>
                    <a:spcPts val="0"/>
                  </a:spcBef>
                  <a:spcAft>
                    <a:spcPts val="0"/>
                  </a:spcAft>
                  <a:buClr>
                    <a:schemeClr val="lt1"/>
                  </a:buClr>
                  <a:buSzPts val="1600"/>
                  <a:buFont typeface="Calibri"/>
                  <a:buNone/>
                </a:pPr>
                <a:r>
                  <a:rPr b="1" i="0" lang="en-US" sz="1600" u="none" cap="none" strike="noStrike">
                    <a:solidFill>
                      <a:schemeClr val="lt1"/>
                    </a:solidFill>
                    <a:latin typeface="Calibri"/>
                    <a:ea typeface="Calibri"/>
                    <a:cs typeface="Calibri"/>
                    <a:sym typeface="Calibri"/>
                  </a:rPr>
                  <a:t>Dugoročno pamćenje</a:t>
                </a:r>
                <a:endParaRPr b="0" i="0" sz="1400" u="none" cap="none" strike="noStrike">
                  <a:solidFill>
                    <a:srgbClr val="000000"/>
                  </a:solidFill>
                  <a:latin typeface="Arial"/>
                  <a:ea typeface="Arial"/>
                  <a:cs typeface="Arial"/>
                  <a:sym typeface="Arial"/>
                </a:endParaRPr>
              </a:p>
            </p:txBody>
          </p:sp>
        </p:grpSp>
        <p:cxnSp>
          <p:nvCxnSpPr>
            <p:cNvPr id="213" name="Google Shape;213;p14"/>
            <p:cNvCxnSpPr/>
            <p:nvPr/>
          </p:nvCxnSpPr>
          <p:spPr>
            <a:xfrm rot="10800000">
              <a:off x="4343400" y="2615133"/>
              <a:ext cx="0" cy="1296144"/>
            </a:xfrm>
            <a:prstGeom prst="straightConnector1">
              <a:avLst/>
            </a:prstGeom>
            <a:noFill/>
            <a:ln cap="flat" cmpd="sng" w="38100">
              <a:solidFill>
                <a:srgbClr val="4A7DBA"/>
              </a:solidFill>
              <a:prstDash val="solid"/>
              <a:round/>
              <a:headEnd len="sm" w="sm" type="none"/>
              <a:tailEnd len="med" w="med" type="stealth"/>
            </a:ln>
          </p:spPr>
        </p:cxnSp>
        <p:cxnSp>
          <p:nvCxnSpPr>
            <p:cNvPr id="214" name="Google Shape;214;p14"/>
            <p:cNvCxnSpPr/>
            <p:nvPr/>
          </p:nvCxnSpPr>
          <p:spPr>
            <a:xfrm rot="10800000">
              <a:off x="6787480" y="2615133"/>
              <a:ext cx="0" cy="1296144"/>
            </a:xfrm>
            <a:prstGeom prst="straightConnector1">
              <a:avLst/>
            </a:prstGeom>
            <a:noFill/>
            <a:ln cap="flat" cmpd="sng" w="38100">
              <a:solidFill>
                <a:srgbClr val="4A7DBA"/>
              </a:solidFill>
              <a:prstDash val="solid"/>
              <a:round/>
              <a:headEnd len="sm" w="sm" type="none"/>
              <a:tailEnd len="med" w="med" type="stealth"/>
            </a:ln>
          </p:spPr>
        </p:cxnSp>
        <p:cxnSp>
          <p:nvCxnSpPr>
            <p:cNvPr id="215" name="Google Shape;215;p14"/>
            <p:cNvCxnSpPr/>
            <p:nvPr/>
          </p:nvCxnSpPr>
          <p:spPr>
            <a:xfrm>
              <a:off x="1480170" y="2240136"/>
              <a:ext cx="798959" cy="0"/>
            </a:xfrm>
            <a:prstGeom prst="straightConnector1">
              <a:avLst/>
            </a:prstGeom>
            <a:noFill/>
            <a:ln cap="flat" cmpd="sng" w="28575">
              <a:solidFill>
                <a:srgbClr val="4A7DBA"/>
              </a:solidFill>
              <a:prstDash val="solid"/>
              <a:round/>
              <a:headEnd len="sm" w="sm" type="none"/>
              <a:tailEnd len="med" w="med" type="stealth"/>
            </a:ln>
          </p:spPr>
        </p:cxnSp>
        <p:cxnSp>
          <p:nvCxnSpPr>
            <p:cNvPr id="216" name="Google Shape;216;p14"/>
            <p:cNvCxnSpPr/>
            <p:nvPr/>
          </p:nvCxnSpPr>
          <p:spPr>
            <a:xfrm>
              <a:off x="1480170" y="2392536"/>
              <a:ext cx="798959" cy="0"/>
            </a:xfrm>
            <a:prstGeom prst="straightConnector1">
              <a:avLst/>
            </a:prstGeom>
            <a:noFill/>
            <a:ln cap="flat" cmpd="sng" w="28575">
              <a:solidFill>
                <a:srgbClr val="4A7DBA"/>
              </a:solidFill>
              <a:prstDash val="solid"/>
              <a:round/>
              <a:headEnd len="sm" w="sm" type="none"/>
              <a:tailEnd len="med" w="med" type="stealth"/>
            </a:ln>
          </p:spPr>
        </p:cxnSp>
        <p:cxnSp>
          <p:nvCxnSpPr>
            <p:cNvPr id="217" name="Google Shape;217;p14"/>
            <p:cNvCxnSpPr/>
            <p:nvPr/>
          </p:nvCxnSpPr>
          <p:spPr>
            <a:xfrm>
              <a:off x="1487041" y="2544936"/>
              <a:ext cx="798959" cy="0"/>
            </a:xfrm>
            <a:prstGeom prst="straightConnector1">
              <a:avLst/>
            </a:prstGeom>
            <a:noFill/>
            <a:ln cap="flat" cmpd="sng" w="28575">
              <a:solidFill>
                <a:srgbClr val="4A7DBA"/>
              </a:solidFill>
              <a:prstDash val="solid"/>
              <a:round/>
              <a:headEnd len="sm" w="sm" type="none"/>
              <a:tailEnd len="med" w="med" type="stealth"/>
            </a:ln>
          </p:spPr>
        </p:cxnSp>
        <p:cxnSp>
          <p:nvCxnSpPr>
            <p:cNvPr id="218" name="Google Shape;218;p14"/>
            <p:cNvCxnSpPr/>
            <p:nvPr/>
          </p:nvCxnSpPr>
          <p:spPr>
            <a:xfrm>
              <a:off x="1487041" y="2672184"/>
              <a:ext cx="798959" cy="0"/>
            </a:xfrm>
            <a:prstGeom prst="straightConnector1">
              <a:avLst/>
            </a:prstGeom>
            <a:noFill/>
            <a:ln cap="flat" cmpd="sng" w="28575">
              <a:solidFill>
                <a:srgbClr val="4A7DBA"/>
              </a:solidFill>
              <a:prstDash val="solid"/>
              <a:round/>
              <a:headEnd len="sm" w="sm" type="none"/>
              <a:tailEnd len="med" w="med" type="stealth"/>
            </a:ln>
          </p:spPr>
        </p:cxnSp>
        <p:sp>
          <p:nvSpPr>
            <p:cNvPr id="219" name="Google Shape;219;p14"/>
            <p:cNvSpPr/>
            <p:nvPr/>
          </p:nvSpPr>
          <p:spPr>
            <a:xfrm>
              <a:off x="155401" y="2049264"/>
              <a:ext cx="1324769" cy="864096"/>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Informacije iz okoline</a:t>
              </a:r>
              <a:endParaRPr b="0" i="0" sz="1400" u="none" cap="none" strike="noStrike">
                <a:solidFill>
                  <a:srgbClr val="000000"/>
                </a:solidFill>
                <a:latin typeface="Arial"/>
                <a:ea typeface="Arial"/>
                <a:cs typeface="Arial"/>
                <a:sym typeface="Arial"/>
              </a:endParaRPr>
            </a:p>
          </p:txBody>
        </p:sp>
        <p:sp>
          <p:nvSpPr>
            <p:cNvPr id="220" name="Google Shape;220;p14"/>
            <p:cNvSpPr/>
            <p:nvPr/>
          </p:nvSpPr>
          <p:spPr>
            <a:xfrm>
              <a:off x="3657600" y="3797799"/>
              <a:ext cx="1368152" cy="635198"/>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Pažnja</a:t>
              </a:r>
              <a:endParaRPr b="0" i="0" sz="1400" u="none" cap="none" strike="noStrike">
                <a:solidFill>
                  <a:srgbClr val="000000"/>
                </a:solidFill>
                <a:latin typeface="Arial"/>
                <a:ea typeface="Arial"/>
                <a:cs typeface="Arial"/>
                <a:sym typeface="Arial"/>
              </a:endParaRPr>
            </a:p>
          </p:txBody>
        </p:sp>
        <p:sp>
          <p:nvSpPr>
            <p:cNvPr id="221" name="Google Shape;221;p14"/>
            <p:cNvSpPr/>
            <p:nvPr/>
          </p:nvSpPr>
          <p:spPr>
            <a:xfrm>
              <a:off x="5863338" y="3909644"/>
              <a:ext cx="1759004" cy="1046705"/>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Pohrana (kodiranje) i dozivanje</a:t>
              </a:r>
              <a:endParaRPr b="0" i="0" sz="1400" u="none" cap="none" strike="noStrike">
                <a:solidFill>
                  <a:srgbClr val="000000"/>
                </a:solidFill>
                <a:latin typeface="Arial"/>
                <a:ea typeface="Arial"/>
                <a:cs typeface="Arial"/>
                <a:sym typeface="Arial"/>
              </a:endParaRPr>
            </a:p>
          </p:txBody>
        </p:sp>
      </p:grpSp>
      <p:sp>
        <p:nvSpPr>
          <p:cNvPr id="222" name="Google Shape;222;p14"/>
          <p:cNvSpPr/>
          <p:nvPr/>
        </p:nvSpPr>
        <p:spPr>
          <a:xfrm>
            <a:off x="1493968" y="5410200"/>
            <a:ext cx="6209138" cy="914400"/>
          </a:xfrm>
          <a:prstGeom prst="roundRect">
            <a:avLst>
              <a:gd fmla="val 16667" name="adj"/>
            </a:avLst>
          </a:prstGeom>
          <a:solidFill>
            <a:schemeClr val="lt1"/>
          </a:solidFill>
          <a:ln cap="flat" cmpd="sng" w="2540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Grafički prikaz procesa pamćenja </a:t>
            </a:r>
            <a:endParaRPr b="0" i="0" sz="1400" u="none" cap="none" strike="noStrike">
              <a:solidFill>
                <a:srgbClr val="000000"/>
              </a:solidFill>
              <a:latin typeface="Arial"/>
              <a:ea typeface="Arial"/>
              <a:cs typeface="Arial"/>
              <a:sym typeface="Arial"/>
            </a:endParaRPr>
          </a:p>
        </p:txBody>
      </p:sp>
      <p:sp>
        <p:nvSpPr>
          <p:cNvPr id="223" name="Google Shape;223;p14"/>
          <p:cNvSpPr/>
          <p:nvPr/>
        </p:nvSpPr>
        <p:spPr>
          <a:xfrm flipH="1">
            <a:off x="6172200" y="1295400"/>
            <a:ext cx="1219200" cy="1219200"/>
          </a:xfrm>
          <a:custGeom>
            <a:rect b="b" l="l" r="r" t="t"/>
            <a:pathLst>
              <a:path extrusionOk="0" h="120000" w="120000">
                <a:moveTo>
                  <a:pt x="7500" y="60000"/>
                </a:moveTo>
                <a:lnTo>
                  <a:pt x="7500" y="60000"/>
                </a:lnTo>
                <a:cubicBezTo>
                  <a:pt x="7500" y="33869"/>
                  <a:pt x="26717" y="11716"/>
                  <a:pt x="52586" y="8026"/>
                </a:cubicBezTo>
                <a:cubicBezTo>
                  <a:pt x="78455" y="4336"/>
                  <a:pt x="103100" y="20232"/>
                  <a:pt x="110406" y="45321"/>
                </a:cubicBezTo>
                <a:lnTo>
                  <a:pt x="117538" y="45321"/>
                </a:lnTo>
                <a:lnTo>
                  <a:pt x="105000" y="60000"/>
                </a:lnTo>
                <a:lnTo>
                  <a:pt x="87538" y="45321"/>
                </a:lnTo>
                <a:lnTo>
                  <a:pt x="94508" y="45321"/>
                </a:lnTo>
                <a:lnTo>
                  <a:pt x="94508" y="45321"/>
                </a:lnTo>
                <a:cubicBezTo>
                  <a:pt x="87531" y="28920"/>
                  <a:pt x="69974" y="19696"/>
                  <a:pt x="52509" y="23256"/>
                </a:cubicBezTo>
                <a:cubicBezTo>
                  <a:pt x="35045" y="26816"/>
                  <a:pt x="22500" y="42177"/>
                  <a:pt x="22500" y="60000"/>
                </a:cubicBezTo>
                <a:close/>
              </a:path>
            </a:pathLst>
          </a:cu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8" name="Shape 228"/>
        <p:cNvGrpSpPr/>
        <p:nvPr/>
      </p:nvGrpSpPr>
      <p:grpSpPr>
        <a:xfrm>
          <a:off x="0" y="0"/>
          <a:ext cx="0" cy="0"/>
          <a:chOff x="0" y="0"/>
          <a:chExt cx="0" cy="0"/>
        </a:xfrm>
      </p:grpSpPr>
      <p:sp>
        <p:nvSpPr>
          <p:cNvPr id="229" name="Google Shape;229;p15"/>
          <p:cNvSpPr/>
          <p:nvPr/>
        </p:nvSpPr>
        <p:spPr>
          <a:xfrm>
            <a:off x="0" y="0"/>
            <a:ext cx="9141713"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30" name="Google Shape;230;p15"/>
          <p:cNvSpPr txBox="1"/>
          <p:nvPr>
            <p:ph type="title"/>
          </p:nvPr>
        </p:nvSpPr>
        <p:spPr>
          <a:xfrm>
            <a:off x="486696" y="557190"/>
            <a:ext cx="3878139" cy="1671564"/>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500"/>
              <a:buFont typeface="Calibri"/>
              <a:buNone/>
            </a:pPr>
            <a:r>
              <a:rPr lang="en-US" sz="3500"/>
              <a:t>Faze pamćenja</a:t>
            </a:r>
            <a:endParaRPr/>
          </a:p>
        </p:txBody>
      </p:sp>
      <p:sp>
        <p:nvSpPr>
          <p:cNvPr id="231" name="Google Shape;231;p15"/>
          <p:cNvSpPr txBox="1"/>
          <p:nvPr>
            <p:ph idx="1" type="body"/>
          </p:nvPr>
        </p:nvSpPr>
        <p:spPr>
          <a:xfrm>
            <a:off x="407282" y="2057400"/>
            <a:ext cx="3957553" cy="4495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b="1" lang="en-US" sz="2800"/>
              <a:t>DUGOROČNO PAMĆENJE</a:t>
            </a:r>
            <a:endParaRPr/>
          </a:p>
          <a:p>
            <a:pPr indent="-342900" lvl="0" marL="342900" rtl="0" algn="l">
              <a:lnSpc>
                <a:spcPct val="100000"/>
              </a:lnSpc>
              <a:spcBef>
                <a:spcPts val="560"/>
              </a:spcBef>
              <a:spcAft>
                <a:spcPts val="0"/>
              </a:spcAft>
              <a:buClr>
                <a:schemeClr val="dk1"/>
              </a:buClr>
              <a:buSzPts val="2800"/>
              <a:buChar char="•"/>
            </a:pPr>
            <a:r>
              <a:rPr lang="en-US" sz="2800"/>
              <a:t>Većina informacija iz senzornog i kratkoročnog pamćenja se gubi. </a:t>
            </a:r>
            <a:endParaRPr sz="2800"/>
          </a:p>
          <a:p>
            <a:pPr indent="-342900" lvl="0" marL="342900" rtl="0" algn="l">
              <a:lnSpc>
                <a:spcPct val="100000"/>
              </a:lnSpc>
              <a:spcBef>
                <a:spcPts val="560"/>
              </a:spcBef>
              <a:spcAft>
                <a:spcPts val="0"/>
              </a:spcAft>
              <a:buClr>
                <a:schemeClr val="dk1"/>
              </a:buClr>
              <a:buSzPts val="2800"/>
              <a:buChar char="•"/>
            </a:pPr>
            <a:r>
              <a:rPr lang="en-US" sz="2800"/>
              <a:t>Dio informacija odlazi u </a:t>
            </a:r>
            <a:r>
              <a:rPr b="1" lang="en-US" sz="2800"/>
              <a:t>dugoročno pamćenje</a:t>
            </a:r>
            <a:r>
              <a:rPr lang="en-US" sz="2800"/>
              <a:t>.</a:t>
            </a:r>
            <a:endParaRPr/>
          </a:p>
          <a:p>
            <a:pPr indent="-342900" lvl="0" marL="342900" rtl="0" algn="l">
              <a:lnSpc>
                <a:spcPct val="100000"/>
              </a:lnSpc>
              <a:spcBef>
                <a:spcPts val="560"/>
              </a:spcBef>
              <a:spcAft>
                <a:spcPts val="0"/>
              </a:spcAft>
              <a:buClr>
                <a:schemeClr val="dk1"/>
              </a:buClr>
              <a:buSzPts val="2800"/>
              <a:buChar char="•"/>
            </a:pPr>
            <a:r>
              <a:rPr lang="en-US" sz="2800"/>
              <a:t>Kapacitet mu je neograničen!</a:t>
            </a:r>
            <a:endParaRPr/>
          </a:p>
        </p:txBody>
      </p:sp>
      <p:pic>
        <p:nvPicPr>
          <p:cNvPr descr="Short term memory woes | Trucs drôles, Humour, Drôle" id="232" name="Google Shape;232;p15"/>
          <p:cNvPicPr preferRelativeResize="0"/>
          <p:nvPr/>
        </p:nvPicPr>
        <p:blipFill rotWithShape="1">
          <a:blip r:embed="rId3">
            <a:alphaModFix/>
          </a:blip>
          <a:srcRect b="2" l="7974" r="7405" t="0"/>
          <a:stretch/>
        </p:blipFill>
        <p:spPr>
          <a:xfrm>
            <a:off x="4858578" y="838200"/>
            <a:ext cx="3878139" cy="557189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t/>
            </a:r>
            <a:endParaRPr/>
          </a:p>
        </p:txBody>
      </p:sp>
      <p:pic>
        <p:nvPicPr>
          <p:cNvPr id="238" name="Google Shape;238;p16"/>
          <p:cNvPicPr preferRelativeResize="0"/>
          <p:nvPr>
            <p:ph idx="1" type="body"/>
          </p:nvPr>
        </p:nvPicPr>
        <p:blipFill rotWithShape="1">
          <a:blip r:embed="rId3">
            <a:alphaModFix/>
          </a:blip>
          <a:srcRect b="0" l="0" r="0" t="0"/>
          <a:stretch/>
        </p:blipFill>
        <p:spPr>
          <a:xfrm>
            <a:off x="4628261" y="900039"/>
            <a:ext cx="4261958" cy="5322121"/>
          </a:xfrm>
          <a:prstGeom prst="rect">
            <a:avLst/>
          </a:prstGeom>
          <a:noFill/>
          <a:ln>
            <a:noFill/>
          </a:ln>
        </p:spPr>
      </p:pic>
      <p:pic>
        <p:nvPicPr>
          <p:cNvPr id="239" name="Google Shape;239;p16"/>
          <p:cNvPicPr preferRelativeResize="0"/>
          <p:nvPr/>
        </p:nvPicPr>
        <p:blipFill rotWithShape="1">
          <a:blip r:embed="rId4">
            <a:alphaModFix/>
          </a:blip>
          <a:srcRect b="0" l="0" r="0" t="0"/>
          <a:stretch/>
        </p:blipFill>
        <p:spPr>
          <a:xfrm>
            <a:off x="362840" y="1072211"/>
            <a:ext cx="4261957" cy="517763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3" name="Shape 243"/>
        <p:cNvGrpSpPr/>
        <p:nvPr/>
      </p:nvGrpSpPr>
      <p:grpSpPr>
        <a:xfrm>
          <a:off x="0" y="0"/>
          <a:ext cx="0" cy="0"/>
          <a:chOff x="0" y="0"/>
          <a:chExt cx="0" cy="0"/>
        </a:xfrm>
      </p:grpSpPr>
      <p:sp>
        <p:nvSpPr>
          <p:cNvPr id="244" name="Google Shape;244;p17"/>
          <p:cNvSpPr txBox="1"/>
          <p:nvPr>
            <p:ph type="title"/>
          </p:nvPr>
        </p:nvSpPr>
        <p:spPr>
          <a:xfrm>
            <a:off x="-322340" y="3710613"/>
            <a:ext cx="2468166" cy="24526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100"/>
              <a:buFont typeface="Calibri"/>
              <a:buNone/>
            </a:pPr>
            <a:r>
              <a:rPr lang="en-US" sz="3100"/>
              <a:t>Faze pamćenja</a:t>
            </a:r>
            <a:endParaRPr sz="3100"/>
          </a:p>
        </p:txBody>
      </p:sp>
      <p:pic>
        <p:nvPicPr>
          <p:cNvPr descr="Lone female hiker walks across a field with tall green grass. Slow motion,  extreme long shot. Stock Video Footage - Storyblocks" id="245" name="Google Shape;245;p17"/>
          <p:cNvPicPr preferRelativeResize="0"/>
          <p:nvPr/>
        </p:nvPicPr>
        <p:blipFill rotWithShape="1">
          <a:blip r:embed="rId3">
            <a:alphaModFix/>
          </a:blip>
          <a:srcRect b="13285" l="0" r="0" t="9784"/>
          <a:stretch/>
        </p:blipFill>
        <p:spPr>
          <a:xfrm>
            <a:off x="20" y="10"/>
            <a:ext cx="9143980" cy="3710603"/>
          </a:xfrm>
          <a:custGeom>
            <a:rect b="b" l="l" r="r" t="t"/>
            <a:pathLst>
              <a:path extrusionOk="0" h="3692092" w="12192000">
                <a:moveTo>
                  <a:pt x="0" y="0"/>
                </a:moveTo>
                <a:lnTo>
                  <a:pt x="12192000" y="0"/>
                </a:lnTo>
                <a:lnTo>
                  <a:pt x="12192000" y="3504824"/>
                </a:lnTo>
                <a:lnTo>
                  <a:pt x="12024691" y="3517794"/>
                </a:lnTo>
                <a:cubicBezTo>
                  <a:pt x="8077523" y="3783195"/>
                  <a:pt x="4094678" y="3026959"/>
                  <a:pt x="160485" y="3663863"/>
                </a:cubicBezTo>
                <a:lnTo>
                  <a:pt x="0" y="3692092"/>
                </a:lnTo>
                <a:close/>
              </a:path>
            </a:pathLst>
          </a:custGeom>
          <a:noFill/>
          <a:ln>
            <a:noFill/>
          </a:ln>
        </p:spPr>
      </p:pic>
      <p:sp>
        <p:nvSpPr>
          <p:cNvPr id="246" name="Google Shape;246;p17"/>
          <p:cNvSpPr txBox="1"/>
          <p:nvPr>
            <p:ph idx="1" type="body"/>
          </p:nvPr>
        </p:nvSpPr>
        <p:spPr>
          <a:xfrm>
            <a:off x="2473090" y="3642787"/>
            <a:ext cx="6343646" cy="3139013"/>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l">
              <a:lnSpc>
                <a:spcPct val="100000"/>
              </a:lnSpc>
              <a:spcBef>
                <a:spcPts val="0"/>
              </a:spcBef>
              <a:spcAft>
                <a:spcPts val="0"/>
              </a:spcAft>
              <a:buClr>
                <a:schemeClr val="dk1"/>
              </a:buClr>
              <a:buSzPct val="100000"/>
              <a:buNone/>
            </a:pPr>
            <a:r>
              <a:rPr b="1" lang="en-US" sz="2400"/>
              <a:t>DUGOROČNO PAMĆENJE</a:t>
            </a:r>
            <a:endParaRPr/>
          </a:p>
          <a:p>
            <a:pPr indent="-342900" lvl="0" marL="342900" rtl="0" algn="l">
              <a:lnSpc>
                <a:spcPct val="100000"/>
              </a:lnSpc>
              <a:spcBef>
                <a:spcPts val="444"/>
              </a:spcBef>
              <a:spcAft>
                <a:spcPts val="0"/>
              </a:spcAft>
              <a:buClr>
                <a:schemeClr val="dk1"/>
              </a:buClr>
              <a:buSzPct val="100000"/>
              <a:buChar char="•"/>
            </a:pPr>
            <a:r>
              <a:rPr lang="en-US" sz="2400"/>
              <a:t>Brojne informacije ostaju </a:t>
            </a:r>
            <a:br>
              <a:rPr lang="en-US" sz="2400"/>
            </a:br>
            <a:r>
              <a:rPr lang="en-US" sz="2400"/>
              <a:t>pohranjene u dugoročnom pamćenju  </a:t>
            </a:r>
            <a:r>
              <a:rPr b="1" lang="en-US" sz="2400"/>
              <a:t>do kraja života</a:t>
            </a:r>
            <a:endParaRPr/>
          </a:p>
          <a:p>
            <a:pPr indent="-342900" lvl="0" marL="342900" rtl="0" algn="l">
              <a:lnSpc>
                <a:spcPct val="100000"/>
              </a:lnSpc>
              <a:spcBef>
                <a:spcPts val="444"/>
              </a:spcBef>
              <a:spcAft>
                <a:spcPts val="0"/>
              </a:spcAft>
              <a:buClr>
                <a:schemeClr val="dk1"/>
              </a:buClr>
              <a:buSzPct val="100000"/>
              <a:buChar char="•"/>
            </a:pPr>
            <a:r>
              <a:rPr b="1" lang="en-US" sz="2400"/>
              <a:t>Upamćivanje </a:t>
            </a:r>
            <a:r>
              <a:rPr lang="en-US" sz="2400"/>
              <a:t>dovodi do </a:t>
            </a:r>
            <a:r>
              <a:rPr b="1" lang="en-US" sz="2400"/>
              <a:t>tragova pamćenja (tzv. engrama) </a:t>
            </a:r>
            <a:r>
              <a:rPr lang="en-US" sz="2400"/>
              <a:t>koji se stvaraju između pojedinih stanica u mozgu. </a:t>
            </a:r>
            <a:endParaRPr/>
          </a:p>
          <a:p>
            <a:pPr indent="-342900" lvl="0" marL="342900" rtl="0" algn="l">
              <a:lnSpc>
                <a:spcPct val="100000"/>
              </a:lnSpc>
              <a:spcBef>
                <a:spcPts val="444"/>
              </a:spcBef>
              <a:spcAft>
                <a:spcPts val="0"/>
              </a:spcAft>
              <a:buClr>
                <a:schemeClr val="dk1"/>
              </a:buClr>
              <a:buSzPct val="100000"/>
              <a:buChar char="•"/>
            </a:pPr>
            <a:r>
              <a:rPr lang="en-US" sz="2400"/>
              <a:t>Trag pamćenja predstavlja </a:t>
            </a:r>
            <a:r>
              <a:rPr b="1" lang="en-US" sz="2400"/>
              <a:t>promjenu</a:t>
            </a:r>
            <a:r>
              <a:rPr lang="en-US" sz="2400"/>
              <a:t> u putevima kojima se prenose živčani impulsi kroz mozak. </a:t>
            </a:r>
            <a:endParaRPr/>
          </a:p>
          <a:p>
            <a:pPr indent="-248920" lvl="0" marL="342900" rtl="0" algn="l">
              <a:lnSpc>
                <a:spcPct val="100000"/>
              </a:lnSpc>
              <a:spcBef>
                <a:spcPts val="296"/>
              </a:spcBef>
              <a:spcAft>
                <a:spcPts val="0"/>
              </a:spcAft>
              <a:buClr>
                <a:schemeClr val="dk1"/>
              </a:buClr>
              <a:buSzPct val="100000"/>
              <a:buNone/>
            </a:pPr>
            <a:r>
              <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8"/>
          <p:cNvSpPr/>
          <p:nvPr/>
        </p:nvSpPr>
        <p:spPr>
          <a:xfrm>
            <a:off x="2133600" y="4000500"/>
            <a:ext cx="304800" cy="533400"/>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52" name="Google Shape;252;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sp>
        <p:nvSpPr>
          <p:cNvPr id="253" name="Google Shape;253;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3200"/>
              <a:buNone/>
            </a:pPr>
            <a:r>
              <a:rPr lang="en-US"/>
              <a:t>DUGOROČNO PAMĆENJE</a:t>
            </a:r>
            <a:endParaRPr/>
          </a:p>
          <a:p>
            <a:pPr indent="0" lvl="0" marL="0" rtl="0" algn="l">
              <a:lnSpc>
                <a:spcPct val="100000"/>
              </a:lnSpc>
              <a:spcBef>
                <a:spcPts val="640"/>
              </a:spcBef>
              <a:spcAft>
                <a:spcPts val="0"/>
              </a:spcAft>
              <a:buClr>
                <a:schemeClr val="dk1"/>
              </a:buClr>
              <a:buSzPts val="3200"/>
              <a:buNone/>
            </a:pPr>
            <a:r>
              <a:t/>
            </a:r>
            <a:endParaRPr/>
          </a:p>
        </p:txBody>
      </p:sp>
      <p:grpSp>
        <p:nvGrpSpPr>
          <p:cNvPr id="254" name="Google Shape;254;p18"/>
          <p:cNvGrpSpPr/>
          <p:nvPr/>
        </p:nvGrpSpPr>
        <p:grpSpPr>
          <a:xfrm>
            <a:off x="384650" y="3293140"/>
            <a:ext cx="8298499" cy="957519"/>
            <a:chOff x="3650" y="2226340"/>
            <a:chExt cx="8298499" cy="957519"/>
          </a:xfrm>
        </p:grpSpPr>
        <p:sp>
          <p:nvSpPr>
            <p:cNvPr id="255" name="Google Shape;255;p18"/>
            <p:cNvSpPr/>
            <p:nvPr/>
          </p:nvSpPr>
          <p:spPr>
            <a:xfrm>
              <a:off x="3650" y="2226340"/>
              <a:ext cx="1595865" cy="957519"/>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8"/>
            <p:cNvSpPr txBox="1"/>
            <p:nvPr/>
          </p:nvSpPr>
          <p:spPr>
            <a:xfrm>
              <a:off x="31695" y="2254385"/>
              <a:ext cx="1539775" cy="901429"/>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alibri"/>
                <a:buNone/>
              </a:pPr>
              <a:r>
                <a:rPr b="0" i="0" lang="en-US" sz="2100" u="none" cap="none" strike="noStrike">
                  <a:solidFill>
                    <a:schemeClr val="lt1"/>
                  </a:solidFill>
                  <a:latin typeface="Calibri"/>
                  <a:ea typeface="Calibri"/>
                  <a:cs typeface="Calibri"/>
                  <a:sym typeface="Calibri"/>
                </a:rPr>
                <a:t>Podražaj</a:t>
              </a:r>
              <a:endParaRPr b="0" i="0" sz="2100" u="none" cap="none" strike="noStrike">
                <a:solidFill>
                  <a:schemeClr val="lt1"/>
                </a:solidFill>
                <a:latin typeface="Calibri"/>
                <a:ea typeface="Calibri"/>
                <a:cs typeface="Calibri"/>
                <a:sym typeface="Calibri"/>
              </a:endParaRPr>
            </a:p>
          </p:txBody>
        </p:sp>
        <p:sp>
          <p:nvSpPr>
            <p:cNvPr id="257" name="Google Shape;257;p18"/>
            <p:cNvSpPr/>
            <p:nvPr/>
          </p:nvSpPr>
          <p:spPr>
            <a:xfrm>
              <a:off x="1759101" y="2507212"/>
              <a:ext cx="338323" cy="395774"/>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18"/>
            <p:cNvSpPr txBox="1"/>
            <p:nvPr/>
          </p:nvSpPr>
          <p:spPr>
            <a:xfrm>
              <a:off x="1759101" y="2586367"/>
              <a:ext cx="236826" cy="23746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alibri"/>
                <a:buNone/>
              </a:pPr>
              <a:r>
                <a:t/>
              </a:r>
              <a:endParaRPr b="0" i="0" sz="1700" u="none" cap="none" strike="noStrike">
                <a:solidFill>
                  <a:schemeClr val="lt1"/>
                </a:solidFill>
                <a:latin typeface="Calibri"/>
                <a:ea typeface="Calibri"/>
                <a:cs typeface="Calibri"/>
                <a:sym typeface="Calibri"/>
              </a:endParaRPr>
            </a:p>
          </p:txBody>
        </p:sp>
        <p:sp>
          <p:nvSpPr>
            <p:cNvPr id="259" name="Google Shape;259;p18"/>
            <p:cNvSpPr/>
            <p:nvPr/>
          </p:nvSpPr>
          <p:spPr>
            <a:xfrm>
              <a:off x="2237861" y="2226340"/>
              <a:ext cx="1595865" cy="957519"/>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18"/>
            <p:cNvSpPr txBox="1"/>
            <p:nvPr/>
          </p:nvSpPr>
          <p:spPr>
            <a:xfrm>
              <a:off x="2265906" y="2254385"/>
              <a:ext cx="1539775" cy="901429"/>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alibri"/>
                <a:buNone/>
              </a:pPr>
              <a:r>
                <a:rPr b="0" i="0" lang="en-US" sz="2100" u="none" cap="none" strike="noStrike">
                  <a:solidFill>
                    <a:schemeClr val="lt1"/>
                  </a:solidFill>
                  <a:latin typeface="Calibri"/>
                  <a:ea typeface="Calibri"/>
                  <a:cs typeface="Calibri"/>
                  <a:sym typeface="Calibri"/>
                </a:rPr>
                <a:t>Senzorno pamćenje</a:t>
              </a:r>
              <a:endParaRPr b="0" i="0" sz="2100" u="none" cap="none" strike="noStrike">
                <a:solidFill>
                  <a:schemeClr val="lt1"/>
                </a:solidFill>
                <a:latin typeface="Calibri"/>
                <a:ea typeface="Calibri"/>
                <a:cs typeface="Calibri"/>
                <a:sym typeface="Calibri"/>
              </a:endParaRPr>
            </a:p>
          </p:txBody>
        </p:sp>
        <p:sp>
          <p:nvSpPr>
            <p:cNvPr id="261" name="Google Shape;261;p18"/>
            <p:cNvSpPr/>
            <p:nvPr/>
          </p:nvSpPr>
          <p:spPr>
            <a:xfrm>
              <a:off x="3993313" y="2507212"/>
              <a:ext cx="338323" cy="395774"/>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p18"/>
            <p:cNvSpPr txBox="1"/>
            <p:nvPr/>
          </p:nvSpPr>
          <p:spPr>
            <a:xfrm>
              <a:off x="3993313" y="2586367"/>
              <a:ext cx="236826" cy="23746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alibri"/>
                <a:buNone/>
              </a:pPr>
              <a:r>
                <a:t/>
              </a:r>
              <a:endParaRPr b="0" i="0" sz="1700" u="none" cap="none" strike="noStrike">
                <a:solidFill>
                  <a:schemeClr val="lt1"/>
                </a:solidFill>
                <a:latin typeface="Calibri"/>
                <a:ea typeface="Calibri"/>
                <a:cs typeface="Calibri"/>
                <a:sym typeface="Calibri"/>
              </a:endParaRPr>
            </a:p>
          </p:txBody>
        </p:sp>
        <p:sp>
          <p:nvSpPr>
            <p:cNvPr id="263" name="Google Shape;263;p18"/>
            <p:cNvSpPr/>
            <p:nvPr/>
          </p:nvSpPr>
          <p:spPr>
            <a:xfrm>
              <a:off x="4472073" y="2226340"/>
              <a:ext cx="1595865" cy="957519"/>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8"/>
            <p:cNvSpPr txBox="1"/>
            <p:nvPr/>
          </p:nvSpPr>
          <p:spPr>
            <a:xfrm>
              <a:off x="4500118" y="2254385"/>
              <a:ext cx="1539775" cy="901429"/>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alibri"/>
                <a:buNone/>
              </a:pPr>
              <a:r>
                <a:rPr b="0" i="0" lang="en-US" sz="2100" u="none" cap="none" strike="noStrike">
                  <a:solidFill>
                    <a:schemeClr val="lt1"/>
                  </a:solidFill>
                  <a:latin typeface="Calibri"/>
                  <a:ea typeface="Calibri"/>
                  <a:cs typeface="Calibri"/>
                  <a:sym typeface="Calibri"/>
                </a:rPr>
                <a:t>Kratkoročno pamćenje</a:t>
              </a:r>
              <a:endParaRPr b="0" i="0" sz="2100" u="none" cap="none" strike="noStrike">
                <a:solidFill>
                  <a:schemeClr val="lt1"/>
                </a:solidFill>
                <a:latin typeface="Calibri"/>
                <a:ea typeface="Calibri"/>
                <a:cs typeface="Calibri"/>
                <a:sym typeface="Calibri"/>
              </a:endParaRPr>
            </a:p>
          </p:txBody>
        </p:sp>
        <p:sp>
          <p:nvSpPr>
            <p:cNvPr id="265" name="Google Shape;265;p18"/>
            <p:cNvSpPr/>
            <p:nvPr/>
          </p:nvSpPr>
          <p:spPr>
            <a:xfrm>
              <a:off x="6227524" y="2507212"/>
              <a:ext cx="338323" cy="395774"/>
            </a:xfrm>
            <a:prstGeom prst="rightArrow">
              <a:avLst>
                <a:gd fmla="val 60000" name="adj1"/>
                <a:gd fmla="val 50000" name="adj2"/>
              </a:avLst>
            </a:prstGeom>
            <a:solidFill>
              <a:srgbClr val="B1C0D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18"/>
            <p:cNvSpPr txBox="1"/>
            <p:nvPr/>
          </p:nvSpPr>
          <p:spPr>
            <a:xfrm>
              <a:off x="6227524" y="2586367"/>
              <a:ext cx="236826" cy="237464"/>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Clr>
                  <a:schemeClr val="dk1"/>
                </a:buClr>
                <a:buSzPts val="1700"/>
                <a:buFont typeface="Calibri"/>
                <a:buNone/>
              </a:pPr>
              <a:r>
                <a:t/>
              </a:r>
              <a:endParaRPr b="0" i="0" sz="1700" u="none" cap="none" strike="noStrike">
                <a:solidFill>
                  <a:schemeClr val="lt1"/>
                </a:solidFill>
                <a:latin typeface="Calibri"/>
                <a:ea typeface="Calibri"/>
                <a:cs typeface="Calibri"/>
                <a:sym typeface="Calibri"/>
              </a:endParaRPr>
            </a:p>
          </p:txBody>
        </p:sp>
        <p:sp>
          <p:nvSpPr>
            <p:cNvPr id="267" name="Google Shape;267;p18"/>
            <p:cNvSpPr/>
            <p:nvPr/>
          </p:nvSpPr>
          <p:spPr>
            <a:xfrm>
              <a:off x="6706284" y="2226340"/>
              <a:ext cx="1595865" cy="957519"/>
            </a:xfrm>
            <a:prstGeom prst="roundRect">
              <a:avLst>
                <a:gd fmla="val 10000" name="adj"/>
              </a:avLst>
            </a:prstGeom>
            <a:solidFill>
              <a:schemeClr val="accent1"/>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18"/>
            <p:cNvSpPr txBox="1"/>
            <p:nvPr/>
          </p:nvSpPr>
          <p:spPr>
            <a:xfrm>
              <a:off x="6734329" y="2254385"/>
              <a:ext cx="1539775" cy="901429"/>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Calibri"/>
                <a:buNone/>
              </a:pPr>
              <a:r>
                <a:rPr b="0" i="0" lang="en-US" sz="2100" u="none" cap="none" strike="noStrike">
                  <a:solidFill>
                    <a:schemeClr val="lt1"/>
                  </a:solidFill>
                  <a:latin typeface="Calibri"/>
                  <a:ea typeface="Calibri"/>
                  <a:cs typeface="Calibri"/>
                  <a:sym typeface="Calibri"/>
                </a:rPr>
                <a:t>Dugoročno pamćenje</a:t>
              </a:r>
              <a:endParaRPr b="0" i="0" sz="2100" u="none" cap="none" strike="noStrike">
                <a:solidFill>
                  <a:schemeClr val="lt1"/>
                </a:solidFill>
                <a:latin typeface="Calibri"/>
                <a:ea typeface="Calibri"/>
                <a:cs typeface="Calibri"/>
                <a:sym typeface="Calibri"/>
              </a:endParaRPr>
            </a:p>
          </p:txBody>
        </p:sp>
      </p:grpSp>
      <p:sp>
        <p:nvSpPr>
          <p:cNvPr id="269" name="Google Shape;269;p18"/>
          <p:cNvSpPr/>
          <p:nvPr/>
        </p:nvSpPr>
        <p:spPr>
          <a:xfrm>
            <a:off x="1828800" y="4495800"/>
            <a:ext cx="914400" cy="4572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Pažnja</a:t>
            </a:r>
            <a:endParaRPr b="0" i="0" sz="1800" u="none" cap="none" strike="noStrike">
              <a:solidFill>
                <a:schemeClr val="lt1"/>
              </a:solidFill>
              <a:latin typeface="Calibri"/>
              <a:ea typeface="Calibri"/>
              <a:cs typeface="Calibri"/>
              <a:sym typeface="Calibri"/>
            </a:endParaRPr>
          </a:p>
        </p:txBody>
      </p:sp>
      <p:sp>
        <p:nvSpPr>
          <p:cNvPr id="270" name="Google Shape;270;p18"/>
          <p:cNvSpPr/>
          <p:nvPr/>
        </p:nvSpPr>
        <p:spPr>
          <a:xfrm>
            <a:off x="4038600" y="4532376"/>
            <a:ext cx="914400" cy="4572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Pažnja</a:t>
            </a:r>
            <a:endParaRPr b="0" i="0" sz="1800" u="none" cap="none" strike="noStrike">
              <a:solidFill>
                <a:schemeClr val="lt1"/>
              </a:solidFill>
              <a:latin typeface="Calibri"/>
              <a:ea typeface="Calibri"/>
              <a:cs typeface="Calibri"/>
              <a:sym typeface="Calibri"/>
            </a:endParaRPr>
          </a:p>
        </p:txBody>
      </p:sp>
      <p:sp>
        <p:nvSpPr>
          <p:cNvPr id="271" name="Google Shape;271;p18"/>
          <p:cNvSpPr/>
          <p:nvPr/>
        </p:nvSpPr>
        <p:spPr>
          <a:xfrm>
            <a:off x="5943600" y="4456176"/>
            <a:ext cx="1752600" cy="533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Pažnja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Ponavljanje</a:t>
            </a:r>
            <a:endParaRPr b="0" i="0" sz="1800" u="none" cap="none" strike="noStrike">
              <a:solidFill>
                <a:schemeClr val="lt1"/>
              </a:solidFill>
              <a:latin typeface="Calibri"/>
              <a:ea typeface="Calibri"/>
              <a:cs typeface="Calibri"/>
              <a:sym typeface="Calibri"/>
            </a:endParaRPr>
          </a:p>
        </p:txBody>
      </p:sp>
      <p:sp>
        <p:nvSpPr>
          <p:cNvPr id="272" name="Google Shape;272;p18"/>
          <p:cNvSpPr/>
          <p:nvPr/>
        </p:nvSpPr>
        <p:spPr>
          <a:xfrm>
            <a:off x="4343400" y="4000500"/>
            <a:ext cx="304800" cy="533400"/>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3" name="Google Shape;273;p18"/>
          <p:cNvSpPr/>
          <p:nvPr/>
        </p:nvSpPr>
        <p:spPr>
          <a:xfrm>
            <a:off x="6629400" y="4000500"/>
            <a:ext cx="304800" cy="455676"/>
          </a:xfrm>
          <a:prstGeom prst="upArrow">
            <a:avLst>
              <a:gd fmla="val 50000" name="adj1"/>
              <a:gd fmla="val 50000" name="adj2"/>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74" name="Google Shape;274;p18"/>
          <p:cNvSpPr/>
          <p:nvPr/>
        </p:nvSpPr>
        <p:spPr>
          <a:xfrm flipH="1" rot="5400000">
            <a:off x="6438900" y="2057400"/>
            <a:ext cx="685800" cy="1752600"/>
          </a:xfrm>
          <a:prstGeom prst="curvedLeftArrow">
            <a:avLst>
              <a:gd fmla="val 25000" name="adj1"/>
              <a:gd fmla="val 50000" name="adj2"/>
              <a:gd fmla="val 25000" name="adj3"/>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Pregled ljudskog pamćenja</a:t>
            </a:r>
            <a:endParaRPr/>
          </a:p>
        </p:txBody>
      </p:sp>
      <p:grpSp>
        <p:nvGrpSpPr>
          <p:cNvPr id="280" name="Google Shape;280;p19"/>
          <p:cNvGrpSpPr/>
          <p:nvPr/>
        </p:nvGrpSpPr>
        <p:grpSpPr>
          <a:xfrm>
            <a:off x="306993" y="2171402"/>
            <a:ext cx="8453813" cy="3383556"/>
            <a:chOff x="2193" y="1028402"/>
            <a:chExt cx="8453813" cy="3383556"/>
          </a:xfrm>
        </p:grpSpPr>
        <p:sp>
          <p:nvSpPr>
            <p:cNvPr id="281" name="Google Shape;281;p19"/>
            <p:cNvSpPr/>
            <p:nvPr/>
          </p:nvSpPr>
          <p:spPr>
            <a:xfrm>
              <a:off x="2193" y="1963198"/>
              <a:ext cx="1625733" cy="812866"/>
            </a:xfrm>
            <a:prstGeom prst="roundRect">
              <a:avLst>
                <a:gd fmla="val 10000" name="adj"/>
              </a:avLst>
            </a:prstGeom>
            <a:solidFill>
              <a:schemeClr val="accent4"/>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9"/>
            <p:cNvSpPr txBox="1"/>
            <p:nvPr/>
          </p:nvSpPr>
          <p:spPr>
            <a:xfrm>
              <a:off x="26001" y="1987006"/>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Ljudsko pamćenje</a:t>
              </a:r>
              <a:endParaRPr b="0" i="0" sz="1900" u="none" cap="none" strike="noStrike">
                <a:solidFill>
                  <a:schemeClr val="lt1"/>
                </a:solidFill>
                <a:latin typeface="Calibri"/>
                <a:ea typeface="Calibri"/>
                <a:cs typeface="Calibri"/>
                <a:sym typeface="Calibri"/>
              </a:endParaRPr>
            </a:p>
          </p:txBody>
        </p:sp>
        <p:sp>
          <p:nvSpPr>
            <p:cNvPr id="283" name="Google Shape;283;p19"/>
            <p:cNvSpPr/>
            <p:nvPr/>
          </p:nvSpPr>
          <p:spPr>
            <a:xfrm rot="-3310531">
              <a:off x="1383704" y="1888786"/>
              <a:ext cx="1138738" cy="26894"/>
            </a:xfrm>
            <a:custGeom>
              <a:rect b="b" l="l" r="r" t="t"/>
              <a:pathLst>
                <a:path extrusionOk="0" h="120000" w="120000">
                  <a:moveTo>
                    <a:pt x="0" y="60000"/>
                  </a:moveTo>
                  <a:lnTo>
                    <a:pt x="120000" y="60000"/>
                  </a:lnTo>
                </a:path>
              </a:pathLst>
            </a:custGeom>
            <a:noFill/>
            <a:ln cap="flat" cmpd="sng" w="25400">
              <a:solidFill>
                <a:srgbClr val="654E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19"/>
            <p:cNvSpPr txBox="1"/>
            <p:nvPr/>
          </p:nvSpPr>
          <p:spPr>
            <a:xfrm rot="-3310531">
              <a:off x="1924605" y="1873765"/>
              <a:ext cx="56936" cy="5693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285" name="Google Shape;285;p19"/>
            <p:cNvSpPr/>
            <p:nvPr/>
          </p:nvSpPr>
          <p:spPr>
            <a:xfrm>
              <a:off x="2278220" y="1028402"/>
              <a:ext cx="1625733" cy="812866"/>
            </a:xfrm>
            <a:prstGeom prst="roundRect">
              <a:avLst>
                <a:gd fmla="val 10000" name="adj"/>
              </a:avLst>
            </a:prstGeom>
            <a:solidFill>
              <a:srgbClr val="FF00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9"/>
            <p:cNvSpPr txBox="1"/>
            <p:nvPr/>
          </p:nvSpPr>
          <p:spPr>
            <a:xfrm>
              <a:off x="2302028" y="1052210"/>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Senzorno</a:t>
              </a:r>
              <a:endParaRPr b="0" i="0" sz="1900" u="none" cap="none" strike="noStrike">
                <a:solidFill>
                  <a:schemeClr val="lt1"/>
                </a:solidFill>
                <a:latin typeface="Calibri"/>
                <a:ea typeface="Calibri"/>
                <a:cs typeface="Calibri"/>
                <a:sym typeface="Calibri"/>
              </a:endParaRPr>
            </a:p>
          </p:txBody>
        </p:sp>
        <p:sp>
          <p:nvSpPr>
            <p:cNvPr id="287" name="Google Shape;287;p19"/>
            <p:cNvSpPr/>
            <p:nvPr/>
          </p:nvSpPr>
          <p:spPr>
            <a:xfrm>
              <a:off x="1627926" y="2356185"/>
              <a:ext cx="650293" cy="26894"/>
            </a:xfrm>
            <a:custGeom>
              <a:rect b="b" l="l" r="r" t="t"/>
              <a:pathLst>
                <a:path extrusionOk="0" h="120000" w="120000">
                  <a:moveTo>
                    <a:pt x="0" y="60000"/>
                  </a:moveTo>
                  <a:lnTo>
                    <a:pt x="120000" y="60000"/>
                  </a:lnTo>
                </a:path>
              </a:pathLst>
            </a:custGeom>
            <a:noFill/>
            <a:ln cap="flat" cmpd="sng" w="25400">
              <a:solidFill>
                <a:srgbClr val="654E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19"/>
            <p:cNvSpPr txBox="1"/>
            <p:nvPr/>
          </p:nvSpPr>
          <p:spPr>
            <a:xfrm>
              <a:off x="1936816" y="2353374"/>
              <a:ext cx="32514" cy="3251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289" name="Google Shape;289;p19"/>
            <p:cNvSpPr/>
            <p:nvPr/>
          </p:nvSpPr>
          <p:spPr>
            <a:xfrm>
              <a:off x="2278220" y="1963198"/>
              <a:ext cx="1625733" cy="812866"/>
            </a:xfrm>
            <a:prstGeom prst="roundRect">
              <a:avLst>
                <a:gd fmla="val 10000" name="adj"/>
              </a:avLst>
            </a:prstGeom>
            <a:solidFill>
              <a:srgbClr val="FFC00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9"/>
            <p:cNvSpPr txBox="1"/>
            <p:nvPr/>
          </p:nvSpPr>
          <p:spPr>
            <a:xfrm>
              <a:off x="2302028" y="1987006"/>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Kratkoročno</a:t>
              </a:r>
              <a:endParaRPr b="0" i="0" sz="1900" u="none" cap="none" strike="noStrike">
                <a:solidFill>
                  <a:schemeClr val="lt1"/>
                </a:solidFill>
                <a:latin typeface="Calibri"/>
                <a:ea typeface="Calibri"/>
                <a:cs typeface="Calibri"/>
                <a:sym typeface="Calibri"/>
              </a:endParaRPr>
            </a:p>
          </p:txBody>
        </p:sp>
        <p:sp>
          <p:nvSpPr>
            <p:cNvPr id="291" name="Google Shape;291;p19"/>
            <p:cNvSpPr/>
            <p:nvPr/>
          </p:nvSpPr>
          <p:spPr>
            <a:xfrm rot="3310531">
              <a:off x="1383704" y="2823583"/>
              <a:ext cx="1138738" cy="26894"/>
            </a:xfrm>
            <a:custGeom>
              <a:rect b="b" l="l" r="r" t="t"/>
              <a:pathLst>
                <a:path extrusionOk="0" h="120000" w="120000">
                  <a:moveTo>
                    <a:pt x="0" y="60000"/>
                  </a:moveTo>
                  <a:lnTo>
                    <a:pt x="120000" y="60000"/>
                  </a:lnTo>
                </a:path>
              </a:pathLst>
            </a:custGeom>
            <a:noFill/>
            <a:ln cap="flat" cmpd="sng" w="25400">
              <a:solidFill>
                <a:srgbClr val="654E8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19"/>
            <p:cNvSpPr txBox="1"/>
            <p:nvPr/>
          </p:nvSpPr>
          <p:spPr>
            <a:xfrm rot="3310531">
              <a:off x="1924605" y="2808562"/>
              <a:ext cx="56936" cy="56936"/>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293" name="Google Shape;293;p19"/>
            <p:cNvSpPr/>
            <p:nvPr/>
          </p:nvSpPr>
          <p:spPr>
            <a:xfrm>
              <a:off x="2278220" y="2897995"/>
              <a:ext cx="1625733" cy="812866"/>
            </a:xfrm>
            <a:prstGeom prst="roundRect">
              <a:avLst>
                <a:gd fmla="val 10000" name="adj"/>
              </a:avLst>
            </a:prstGeom>
            <a:solidFill>
              <a:srgbClr val="00B05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p19"/>
            <p:cNvSpPr txBox="1"/>
            <p:nvPr/>
          </p:nvSpPr>
          <p:spPr>
            <a:xfrm>
              <a:off x="2302028" y="2921803"/>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Dugoročno</a:t>
              </a:r>
              <a:endParaRPr b="0" i="0" sz="1900" u="none" cap="none" strike="noStrike">
                <a:solidFill>
                  <a:schemeClr val="lt1"/>
                </a:solidFill>
                <a:latin typeface="Calibri"/>
                <a:ea typeface="Calibri"/>
                <a:cs typeface="Calibri"/>
                <a:sym typeface="Calibri"/>
              </a:endParaRPr>
            </a:p>
          </p:txBody>
        </p:sp>
        <p:sp>
          <p:nvSpPr>
            <p:cNvPr id="295" name="Google Shape;295;p19"/>
            <p:cNvSpPr/>
            <p:nvPr/>
          </p:nvSpPr>
          <p:spPr>
            <a:xfrm rot="-2829178">
              <a:off x="3750973" y="2940432"/>
              <a:ext cx="956252" cy="26894"/>
            </a:xfrm>
            <a:custGeom>
              <a:rect b="b" l="l" r="r" t="t"/>
              <a:pathLst>
                <a:path extrusionOk="0" h="120000" w="120000">
                  <a:moveTo>
                    <a:pt x="0" y="60000"/>
                  </a:moveTo>
                  <a:lnTo>
                    <a:pt x="120000" y="60000"/>
                  </a:lnTo>
                </a:path>
              </a:pathLst>
            </a:custGeom>
            <a:noFill/>
            <a:ln cap="flat" cmpd="sng" w="25400">
              <a:solidFill>
                <a:srgbClr val="715A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9"/>
            <p:cNvSpPr txBox="1"/>
            <p:nvPr/>
          </p:nvSpPr>
          <p:spPr>
            <a:xfrm rot="-2829178">
              <a:off x="4205193" y="2929973"/>
              <a:ext cx="47812" cy="4781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297" name="Google Shape;297;p19"/>
            <p:cNvSpPr/>
            <p:nvPr/>
          </p:nvSpPr>
          <p:spPr>
            <a:xfrm>
              <a:off x="4554246" y="2196898"/>
              <a:ext cx="1625733" cy="812866"/>
            </a:xfrm>
            <a:prstGeom prst="roundRect">
              <a:avLst>
                <a:gd fmla="val 10000" name="adj"/>
              </a:avLst>
            </a:prstGeom>
            <a:solidFill>
              <a:srgbClr val="00B0F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9"/>
            <p:cNvSpPr txBox="1"/>
            <p:nvPr/>
          </p:nvSpPr>
          <p:spPr>
            <a:xfrm>
              <a:off x="4578054" y="2220706"/>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Eksplicitno, deklarativno</a:t>
              </a:r>
              <a:endParaRPr b="0" i="0" sz="1900" u="none" cap="none" strike="noStrike">
                <a:solidFill>
                  <a:schemeClr val="lt1"/>
                </a:solidFill>
                <a:latin typeface="Calibri"/>
                <a:ea typeface="Calibri"/>
                <a:cs typeface="Calibri"/>
                <a:sym typeface="Calibri"/>
              </a:endParaRPr>
            </a:p>
          </p:txBody>
        </p:sp>
        <p:sp>
          <p:nvSpPr>
            <p:cNvPr id="299" name="Google Shape;299;p19"/>
            <p:cNvSpPr/>
            <p:nvPr/>
          </p:nvSpPr>
          <p:spPr>
            <a:xfrm rot="-2142401">
              <a:off x="6104707" y="2356185"/>
              <a:ext cx="800838" cy="26894"/>
            </a:xfrm>
            <a:custGeom>
              <a:rect b="b" l="l" r="r" t="t"/>
              <a:pathLst>
                <a:path extrusionOk="0" h="120000" w="120000">
                  <a:moveTo>
                    <a:pt x="0" y="60000"/>
                  </a:moveTo>
                  <a:lnTo>
                    <a:pt x="120000" y="60000"/>
                  </a:lnTo>
                </a:path>
              </a:pathLst>
            </a:custGeom>
            <a:noFill/>
            <a:ln cap="flat" cmpd="sng" w="25400">
              <a:solidFill>
                <a:srgbClr val="715A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9"/>
            <p:cNvSpPr txBox="1"/>
            <p:nvPr/>
          </p:nvSpPr>
          <p:spPr>
            <a:xfrm rot="-2142401">
              <a:off x="6485105" y="2349611"/>
              <a:ext cx="40041" cy="400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301" name="Google Shape;301;p19"/>
            <p:cNvSpPr/>
            <p:nvPr/>
          </p:nvSpPr>
          <p:spPr>
            <a:xfrm>
              <a:off x="6830273" y="1729499"/>
              <a:ext cx="1625733" cy="812866"/>
            </a:xfrm>
            <a:prstGeom prst="roundRect">
              <a:avLst>
                <a:gd fmla="val 10000" name="adj"/>
              </a:avLst>
            </a:prstGeom>
            <a:solidFill>
              <a:srgbClr val="00B0F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19"/>
            <p:cNvSpPr txBox="1"/>
            <p:nvPr/>
          </p:nvSpPr>
          <p:spPr>
            <a:xfrm>
              <a:off x="6854081" y="1753307"/>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Autobiografsko</a:t>
              </a:r>
              <a:endParaRPr b="0" i="0" sz="1900" u="none" cap="none" strike="noStrike">
                <a:solidFill>
                  <a:schemeClr val="lt1"/>
                </a:solidFill>
                <a:latin typeface="Calibri"/>
                <a:ea typeface="Calibri"/>
                <a:cs typeface="Calibri"/>
                <a:sym typeface="Calibri"/>
              </a:endParaRPr>
            </a:p>
          </p:txBody>
        </p:sp>
        <p:sp>
          <p:nvSpPr>
            <p:cNvPr id="303" name="Google Shape;303;p19"/>
            <p:cNvSpPr/>
            <p:nvPr/>
          </p:nvSpPr>
          <p:spPr>
            <a:xfrm rot="2142401">
              <a:off x="6104707" y="2823583"/>
              <a:ext cx="800838" cy="26894"/>
            </a:xfrm>
            <a:custGeom>
              <a:rect b="b" l="l" r="r" t="t"/>
              <a:pathLst>
                <a:path extrusionOk="0" h="120000" w="120000">
                  <a:moveTo>
                    <a:pt x="0" y="60000"/>
                  </a:moveTo>
                  <a:lnTo>
                    <a:pt x="120000" y="60000"/>
                  </a:lnTo>
                </a:path>
              </a:pathLst>
            </a:custGeom>
            <a:noFill/>
            <a:ln cap="flat" cmpd="sng" w="25400">
              <a:solidFill>
                <a:srgbClr val="715A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19"/>
            <p:cNvSpPr txBox="1"/>
            <p:nvPr/>
          </p:nvSpPr>
          <p:spPr>
            <a:xfrm rot="2142401">
              <a:off x="6485105" y="2817009"/>
              <a:ext cx="40041" cy="40041"/>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305" name="Google Shape;305;p19"/>
            <p:cNvSpPr/>
            <p:nvPr/>
          </p:nvSpPr>
          <p:spPr>
            <a:xfrm>
              <a:off x="6830273" y="2664296"/>
              <a:ext cx="1625733" cy="812866"/>
            </a:xfrm>
            <a:prstGeom prst="roundRect">
              <a:avLst>
                <a:gd fmla="val 10000" name="adj"/>
              </a:avLst>
            </a:prstGeom>
            <a:solidFill>
              <a:srgbClr val="00B0F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6" name="Google Shape;306;p19"/>
            <p:cNvSpPr txBox="1"/>
            <p:nvPr/>
          </p:nvSpPr>
          <p:spPr>
            <a:xfrm>
              <a:off x="6854081" y="2688104"/>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Semantičko (znanje)</a:t>
              </a:r>
              <a:endParaRPr b="0" i="0" sz="1900" u="none" cap="none" strike="noStrike">
                <a:solidFill>
                  <a:schemeClr val="lt1"/>
                </a:solidFill>
                <a:latin typeface="Calibri"/>
                <a:ea typeface="Calibri"/>
                <a:cs typeface="Calibri"/>
                <a:sym typeface="Calibri"/>
              </a:endParaRPr>
            </a:p>
          </p:txBody>
        </p:sp>
        <p:sp>
          <p:nvSpPr>
            <p:cNvPr id="307" name="Google Shape;307;p19"/>
            <p:cNvSpPr/>
            <p:nvPr/>
          </p:nvSpPr>
          <p:spPr>
            <a:xfrm rot="2829178">
              <a:off x="3750973" y="3641530"/>
              <a:ext cx="956252" cy="26894"/>
            </a:xfrm>
            <a:custGeom>
              <a:rect b="b" l="l" r="r" t="t"/>
              <a:pathLst>
                <a:path extrusionOk="0" h="120000" w="120000">
                  <a:moveTo>
                    <a:pt x="0" y="60000"/>
                  </a:moveTo>
                  <a:lnTo>
                    <a:pt x="120000" y="60000"/>
                  </a:lnTo>
                </a:path>
              </a:pathLst>
            </a:custGeom>
            <a:noFill/>
            <a:ln cap="flat" cmpd="sng" w="25400">
              <a:solidFill>
                <a:srgbClr val="715A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19"/>
            <p:cNvSpPr txBox="1"/>
            <p:nvPr/>
          </p:nvSpPr>
          <p:spPr>
            <a:xfrm rot="2829178">
              <a:off x="4205193" y="3631071"/>
              <a:ext cx="47812" cy="47812"/>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309" name="Google Shape;309;p19"/>
            <p:cNvSpPr/>
            <p:nvPr/>
          </p:nvSpPr>
          <p:spPr>
            <a:xfrm>
              <a:off x="4554246" y="3599092"/>
              <a:ext cx="1625733" cy="812866"/>
            </a:xfrm>
            <a:prstGeom prst="roundRect">
              <a:avLst>
                <a:gd fmla="val 10000" name="adj"/>
              </a:avLst>
            </a:prstGeom>
            <a:solidFill>
              <a:srgbClr val="0070C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9"/>
            <p:cNvSpPr txBox="1"/>
            <p:nvPr/>
          </p:nvSpPr>
          <p:spPr>
            <a:xfrm>
              <a:off x="4578054" y="3622900"/>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Implicitno, nevjesno</a:t>
              </a:r>
              <a:endParaRPr b="0" i="0" sz="1900" u="none" cap="none" strike="noStrike">
                <a:solidFill>
                  <a:schemeClr val="lt1"/>
                </a:solidFill>
                <a:latin typeface="Calibri"/>
                <a:ea typeface="Calibri"/>
                <a:cs typeface="Calibri"/>
                <a:sym typeface="Calibri"/>
              </a:endParaRPr>
            </a:p>
          </p:txBody>
        </p:sp>
        <p:sp>
          <p:nvSpPr>
            <p:cNvPr id="311" name="Google Shape;311;p19"/>
            <p:cNvSpPr/>
            <p:nvPr/>
          </p:nvSpPr>
          <p:spPr>
            <a:xfrm>
              <a:off x="6179979" y="3992079"/>
              <a:ext cx="650293" cy="26894"/>
            </a:xfrm>
            <a:custGeom>
              <a:rect b="b" l="l" r="r" t="t"/>
              <a:pathLst>
                <a:path extrusionOk="0" h="120000" w="120000">
                  <a:moveTo>
                    <a:pt x="0" y="60000"/>
                  </a:moveTo>
                  <a:lnTo>
                    <a:pt x="120000" y="60000"/>
                  </a:lnTo>
                </a:path>
              </a:pathLst>
            </a:custGeom>
            <a:noFill/>
            <a:ln cap="flat" cmpd="sng" w="25400">
              <a:solidFill>
                <a:srgbClr val="715A9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9"/>
            <p:cNvSpPr txBox="1"/>
            <p:nvPr/>
          </p:nvSpPr>
          <p:spPr>
            <a:xfrm>
              <a:off x="6488869" y="3989268"/>
              <a:ext cx="32514" cy="32514"/>
            </a:xfrm>
            <a:prstGeom prst="rect">
              <a:avLst/>
            </a:prstGeom>
            <a:noFill/>
            <a:ln>
              <a:noFill/>
            </a:ln>
          </p:spPr>
          <p:txBody>
            <a:bodyPr anchorCtr="0" anchor="ctr" bIns="0" lIns="12700" spcFirstLastPara="1" rIns="12700" wrap="square" tIns="0">
              <a:noAutofit/>
            </a:bodyPr>
            <a:lstStyle/>
            <a:p>
              <a:pPr indent="0" lvl="0" marL="0" marR="0" rtl="0" algn="ctr">
                <a:lnSpc>
                  <a:spcPct val="90000"/>
                </a:lnSpc>
                <a:spcBef>
                  <a:spcPts val="0"/>
                </a:spcBef>
                <a:spcAft>
                  <a:spcPts val="0"/>
                </a:spcAft>
                <a:buClr>
                  <a:schemeClr val="dk1"/>
                </a:buClr>
                <a:buSzPts val="500"/>
                <a:buFont typeface="Calibri"/>
                <a:buNone/>
              </a:pPr>
              <a:r>
                <a:t/>
              </a:r>
              <a:endParaRPr b="0" i="0" sz="500" u="none" cap="none" strike="noStrike">
                <a:solidFill>
                  <a:schemeClr val="dk1"/>
                </a:solidFill>
                <a:latin typeface="Calibri"/>
                <a:ea typeface="Calibri"/>
                <a:cs typeface="Calibri"/>
                <a:sym typeface="Calibri"/>
              </a:endParaRPr>
            </a:p>
          </p:txBody>
        </p:sp>
        <p:sp>
          <p:nvSpPr>
            <p:cNvPr id="313" name="Google Shape;313;p19"/>
            <p:cNvSpPr/>
            <p:nvPr/>
          </p:nvSpPr>
          <p:spPr>
            <a:xfrm>
              <a:off x="6830273" y="3599092"/>
              <a:ext cx="1625733" cy="812866"/>
            </a:xfrm>
            <a:prstGeom prst="roundRect">
              <a:avLst>
                <a:gd fmla="val 10000" name="adj"/>
              </a:avLst>
            </a:prstGeom>
            <a:solidFill>
              <a:srgbClr val="0070C0"/>
            </a:solidFill>
            <a:ln cap="flat" cmpd="sng" w="2540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9"/>
            <p:cNvSpPr txBox="1"/>
            <p:nvPr/>
          </p:nvSpPr>
          <p:spPr>
            <a:xfrm>
              <a:off x="6854081" y="3622900"/>
              <a:ext cx="1578117" cy="765250"/>
            </a:xfrm>
            <a:prstGeom prst="rect">
              <a:avLst/>
            </a:prstGeom>
            <a:noFill/>
            <a:ln>
              <a:noFill/>
            </a:ln>
          </p:spPr>
          <p:txBody>
            <a:bodyPr anchorCtr="0" anchor="ctr" bIns="12050" lIns="12050" spcFirstLastPara="1" rIns="12050" wrap="square" tIns="12050">
              <a:noAutofit/>
            </a:bodyPr>
            <a:lstStyle/>
            <a:p>
              <a:pPr indent="0" lvl="0" marL="0" marR="0" rtl="0" algn="ctr">
                <a:lnSpc>
                  <a:spcPct val="90000"/>
                </a:lnSpc>
                <a:spcBef>
                  <a:spcPts val="0"/>
                </a:spcBef>
                <a:spcAft>
                  <a:spcPts val="0"/>
                </a:spcAft>
                <a:buClr>
                  <a:schemeClr val="lt1"/>
                </a:buClr>
                <a:buSzPts val="1900"/>
                <a:buFont typeface="Calibri"/>
                <a:buNone/>
              </a:pPr>
              <a:r>
                <a:rPr b="0" i="0" lang="en-US" sz="1900" u="none" cap="none" strike="noStrike">
                  <a:solidFill>
                    <a:schemeClr val="lt1"/>
                  </a:solidFill>
                  <a:latin typeface="Calibri"/>
                  <a:ea typeface="Calibri"/>
                  <a:cs typeface="Calibri"/>
                  <a:sym typeface="Calibri"/>
                </a:rPr>
                <a:t>Proceduralno (vještine)</a:t>
              </a:r>
              <a:endParaRPr b="0" i="0" sz="1900" u="none" cap="none" strike="noStrike">
                <a:solidFill>
                  <a:schemeClr val="lt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 </a:t>
            </a:r>
            <a:endParaRPr/>
          </a:p>
        </p:txBody>
      </p:sp>
      <p:sp>
        <p:nvSpPr>
          <p:cNvPr id="321" name="Google Shape;321;p20"/>
          <p:cNvSpPr txBox="1"/>
          <p:nvPr>
            <p:ph idx="1" type="body"/>
          </p:nvPr>
        </p:nvSpPr>
        <p:spPr>
          <a:xfrm>
            <a:off x="457200" y="1219200"/>
            <a:ext cx="8229600" cy="55626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2800"/>
              <a:buNone/>
            </a:pPr>
            <a:r>
              <a:rPr b="1" lang="en-US" sz="2800"/>
              <a:t>Vrste</a:t>
            </a:r>
            <a:r>
              <a:rPr lang="en-US" sz="2800"/>
              <a:t> dugoročnog pamćenja</a:t>
            </a:r>
            <a:endParaRPr sz="2800"/>
          </a:p>
          <a:p>
            <a:pPr indent="0" lvl="0" marL="0" rtl="0" algn="l">
              <a:lnSpc>
                <a:spcPct val="100000"/>
              </a:lnSpc>
              <a:spcBef>
                <a:spcPts val="560"/>
              </a:spcBef>
              <a:spcAft>
                <a:spcPts val="0"/>
              </a:spcAft>
              <a:buClr>
                <a:schemeClr val="dk1"/>
              </a:buClr>
              <a:buSzPts val="2800"/>
              <a:buNone/>
            </a:pPr>
            <a:r>
              <a:t/>
            </a:r>
            <a:endParaRPr sz="2800"/>
          </a:p>
          <a:p>
            <a:pPr indent="0" lvl="0" marL="0" rtl="0" algn="l">
              <a:lnSpc>
                <a:spcPct val="100000"/>
              </a:lnSpc>
              <a:spcBef>
                <a:spcPts val="560"/>
              </a:spcBef>
              <a:spcAft>
                <a:spcPts val="0"/>
              </a:spcAft>
              <a:buClr>
                <a:schemeClr val="dk1"/>
              </a:buClr>
              <a:buSzPts val="2800"/>
              <a:buNone/>
            </a:pPr>
            <a:r>
              <a:rPr lang="en-US" sz="2800"/>
              <a:t>1) </a:t>
            </a:r>
            <a:r>
              <a:rPr b="1" lang="en-US" sz="2800"/>
              <a:t>Epizodičko pamćenje  </a:t>
            </a:r>
            <a:endParaRPr/>
          </a:p>
          <a:p>
            <a:pPr indent="0" lvl="0" marL="0" rtl="0" algn="l">
              <a:lnSpc>
                <a:spcPct val="100000"/>
              </a:lnSpc>
              <a:spcBef>
                <a:spcPts val="560"/>
              </a:spcBef>
              <a:spcAft>
                <a:spcPts val="0"/>
              </a:spcAft>
              <a:buClr>
                <a:schemeClr val="dk1"/>
              </a:buClr>
              <a:buSzPts val="2800"/>
              <a:buNone/>
            </a:pPr>
            <a:r>
              <a:rPr b="1" lang="en-US" sz="2800"/>
              <a:t> (autobiografsko)</a:t>
            </a:r>
            <a:endParaRPr sz="2800"/>
          </a:p>
          <a:p>
            <a:pPr indent="-285750" lvl="1" marL="742950" rtl="0" algn="l">
              <a:lnSpc>
                <a:spcPct val="100000"/>
              </a:lnSpc>
              <a:spcBef>
                <a:spcPts val="560"/>
              </a:spcBef>
              <a:spcAft>
                <a:spcPts val="0"/>
              </a:spcAft>
              <a:buClr>
                <a:schemeClr val="dk1"/>
              </a:buClr>
              <a:buSzPts val="2800"/>
              <a:buChar char="–"/>
            </a:pPr>
            <a:r>
              <a:rPr lang="en-US"/>
              <a:t>pamćenje događaja, pamtimo gdje i kada se nešto dogodilo</a:t>
            </a:r>
            <a:endParaRPr/>
          </a:p>
          <a:p>
            <a:pPr indent="-107950" lvl="1" marL="742950" rtl="0" algn="l">
              <a:lnSpc>
                <a:spcPct val="100000"/>
              </a:lnSpc>
              <a:spcBef>
                <a:spcPts val="560"/>
              </a:spcBef>
              <a:spcAft>
                <a:spcPts val="0"/>
              </a:spcAft>
              <a:buClr>
                <a:schemeClr val="dk1"/>
              </a:buClr>
              <a:buSzPts val="2800"/>
              <a:buNone/>
            </a:pPr>
            <a:r>
              <a:t/>
            </a:r>
            <a:endParaRPr/>
          </a:p>
          <a:p>
            <a:pPr indent="0" lvl="0" marL="0" rtl="0" algn="l">
              <a:lnSpc>
                <a:spcPct val="100000"/>
              </a:lnSpc>
              <a:spcBef>
                <a:spcPts val="560"/>
              </a:spcBef>
              <a:spcAft>
                <a:spcPts val="0"/>
              </a:spcAft>
              <a:buClr>
                <a:schemeClr val="dk1"/>
              </a:buClr>
              <a:buSzPts val="2800"/>
              <a:buNone/>
            </a:pPr>
            <a:r>
              <a:rPr lang="en-US" sz="2800"/>
              <a:t>2) </a:t>
            </a:r>
            <a:r>
              <a:rPr b="1" lang="en-US" sz="2800"/>
              <a:t>Semantičko pamćenje ili znanje</a:t>
            </a:r>
            <a:r>
              <a:rPr lang="en-US" sz="2800"/>
              <a:t> </a:t>
            </a:r>
            <a:endParaRPr/>
          </a:p>
          <a:p>
            <a:pPr indent="-285750" lvl="1" marL="742950" rtl="0" algn="l">
              <a:lnSpc>
                <a:spcPct val="100000"/>
              </a:lnSpc>
              <a:spcBef>
                <a:spcPts val="560"/>
              </a:spcBef>
              <a:spcAft>
                <a:spcPts val="0"/>
              </a:spcAft>
              <a:buClr>
                <a:schemeClr val="dk1"/>
              </a:buClr>
              <a:buSzPts val="2800"/>
              <a:buChar char="–"/>
            </a:pPr>
            <a:r>
              <a:rPr lang="en-US"/>
              <a:t>stvari koje jednostavno znamo, </a:t>
            </a:r>
            <a:br>
              <a:rPr lang="en-US"/>
            </a:br>
            <a:r>
              <a:rPr lang="en-US"/>
              <a:t>ne znajući kada i gdje smo ih naučili.</a:t>
            </a:r>
            <a:endParaRPr/>
          </a:p>
          <a:p>
            <a:pPr indent="-285750" lvl="1" marL="742950" rtl="0" algn="l">
              <a:lnSpc>
                <a:spcPct val="100000"/>
              </a:lnSpc>
              <a:spcBef>
                <a:spcPts val="560"/>
              </a:spcBef>
              <a:spcAft>
                <a:spcPts val="0"/>
              </a:spcAft>
              <a:buClr>
                <a:schemeClr val="dk1"/>
              </a:buClr>
              <a:buSzPts val="2800"/>
              <a:buChar char="–"/>
            </a:pPr>
            <a:r>
              <a:rPr lang="en-US"/>
              <a:t>Koji je glavni grad Walesa?</a:t>
            </a:r>
            <a:endParaRPr/>
          </a:p>
          <a:p>
            <a:pPr indent="0" lvl="0" marL="0" rtl="0" algn="l">
              <a:lnSpc>
                <a:spcPct val="100000"/>
              </a:lnSpc>
              <a:spcBef>
                <a:spcPts val="560"/>
              </a:spcBef>
              <a:spcAft>
                <a:spcPts val="0"/>
              </a:spcAft>
              <a:buClr>
                <a:schemeClr val="dk1"/>
              </a:buClr>
              <a:buSzPts val="2800"/>
              <a:buNone/>
            </a:pPr>
            <a:r>
              <a:t/>
            </a:r>
            <a:endParaRPr sz="2800"/>
          </a:p>
        </p:txBody>
      </p:sp>
      <p:pic>
        <p:nvPicPr>
          <p:cNvPr id="322" name="Google Shape;322;p20"/>
          <p:cNvPicPr preferRelativeResize="0"/>
          <p:nvPr/>
        </p:nvPicPr>
        <p:blipFill rotWithShape="1">
          <a:blip r:embed="rId3">
            <a:alphaModFix/>
          </a:blip>
          <a:srcRect b="0" l="0" r="0" t="0"/>
          <a:stretch/>
        </p:blipFill>
        <p:spPr>
          <a:xfrm>
            <a:off x="6934200" y="4505325"/>
            <a:ext cx="2162175" cy="2276475"/>
          </a:xfrm>
          <a:prstGeom prst="rect">
            <a:avLst/>
          </a:prstGeom>
          <a:noFill/>
          <a:ln>
            <a:noFill/>
          </a:ln>
        </p:spPr>
      </p:pic>
      <p:pic>
        <p:nvPicPr>
          <p:cNvPr id="323" name="Google Shape;323;p20"/>
          <p:cNvPicPr preferRelativeResize="0"/>
          <p:nvPr/>
        </p:nvPicPr>
        <p:blipFill rotWithShape="1">
          <a:blip r:embed="rId4">
            <a:alphaModFix/>
          </a:blip>
          <a:srcRect b="2423" l="0" r="0" t="0"/>
          <a:stretch/>
        </p:blipFill>
        <p:spPr>
          <a:xfrm>
            <a:off x="5369235" y="1066801"/>
            <a:ext cx="3774765" cy="220675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8" name="Shape 328"/>
        <p:cNvGrpSpPr/>
        <p:nvPr/>
      </p:nvGrpSpPr>
      <p:grpSpPr>
        <a:xfrm>
          <a:off x="0" y="0"/>
          <a:ext cx="0" cy="0"/>
          <a:chOff x="0" y="0"/>
          <a:chExt cx="0" cy="0"/>
        </a:xfrm>
      </p:grpSpPr>
      <p:sp>
        <p:nvSpPr>
          <p:cNvPr id="329" name="Google Shape;329;p21"/>
          <p:cNvSpPr/>
          <p:nvPr/>
        </p:nvSpPr>
        <p:spPr>
          <a:xfrm>
            <a:off x="0" y="0"/>
            <a:ext cx="9141714"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0" name="Google Shape;330;p21"/>
          <p:cNvSpPr txBox="1"/>
          <p:nvPr>
            <p:ph type="title"/>
          </p:nvPr>
        </p:nvSpPr>
        <p:spPr>
          <a:xfrm>
            <a:off x="4613470" y="486184"/>
            <a:ext cx="4047928" cy="1325563"/>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Faze pamćenja</a:t>
            </a:r>
            <a:endParaRPr/>
          </a:p>
        </p:txBody>
      </p:sp>
      <p:pic>
        <p:nvPicPr>
          <p:cNvPr id="331" name="Google Shape;331;p21"/>
          <p:cNvPicPr preferRelativeResize="0"/>
          <p:nvPr/>
        </p:nvPicPr>
        <p:blipFill rotWithShape="1">
          <a:blip r:embed="rId3">
            <a:alphaModFix/>
          </a:blip>
          <a:srcRect b="21852" l="46667" r="38333" t="47037"/>
          <a:stretch/>
        </p:blipFill>
        <p:spPr>
          <a:xfrm>
            <a:off x="523764" y="598677"/>
            <a:ext cx="2342835" cy="2733294"/>
          </a:xfrm>
          <a:custGeom>
            <a:rect b="b" l="l" r="r" t="t"/>
            <a:pathLst>
              <a:path extrusionOk="0" h="2733294" w="4555700">
                <a:moveTo>
                  <a:pt x="82217" y="0"/>
                </a:moveTo>
                <a:lnTo>
                  <a:pt x="4473483" y="0"/>
                </a:lnTo>
                <a:cubicBezTo>
                  <a:pt x="4518890" y="0"/>
                  <a:pt x="4555700" y="36810"/>
                  <a:pt x="4555700" y="82217"/>
                </a:cubicBezTo>
                <a:lnTo>
                  <a:pt x="4555700" y="2651077"/>
                </a:lnTo>
                <a:cubicBezTo>
                  <a:pt x="4555700" y="2696484"/>
                  <a:pt x="4518890" y="2733294"/>
                  <a:pt x="4473483" y="2733294"/>
                </a:cubicBezTo>
                <a:lnTo>
                  <a:pt x="82217" y="2733294"/>
                </a:lnTo>
                <a:cubicBezTo>
                  <a:pt x="36810" y="2733294"/>
                  <a:pt x="0" y="2696484"/>
                  <a:pt x="0" y="2651077"/>
                </a:cubicBezTo>
                <a:lnTo>
                  <a:pt x="0" y="82217"/>
                </a:lnTo>
                <a:cubicBezTo>
                  <a:pt x="0" y="36810"/>
                  <a:pt x="36810" y="0"/>
                  <a:pt x="82217" y="0"/>
                </a:cubicBezTo>
                <a:close/>
              </a:path>
            </a:pathLst>
          </a:custGeom>
          <a:noFill/>
          <a:ln>
            <a:noFill/>
          </a:ln>
        </p:spPr>
      </p:pic>
      <p:sp>
        <p:nvSpPr>
          <p:cNvPr id="332" name="Google Shape;332;p21"/>
          <p:cNvSpPr/>
          <p:nvPr/>
        </p:nvSpPr>
        <p:spPr>
          <a:xfrm flipH="1">
            <a:off x="0" y="5486400"/>
            <a:ext cx="2004647"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333" name="Google Shape;333;p21"/>
          <p:cNvPicPr preferRelativeResize="0"/>
          <p:nvPr/>
        </p:nvPicPr>
        <p:blipFill rotWithShape="1">
          <a:blip r:embed="rId4">
            <a:alphaModFix/>
          </a:blip>
          <a:srcRect b="0" l="0" r="0" t="0"/>
          <a:stretch/>
        </p:blipFill>
        <p:spPr>
          <a:xfrm>
            <a:off x="523764" y="3662636"/>
            <a:ext cx="3416775" cy="2460078"/>
          </a:xfrm>
          <a:custGeom>
            <a:rect b="b" l="l" r="r" t="t"/>
            <a:pathLst>
              <a:path extrusionOk="0" h="2323972" w="4438338">
                <a:moveTo>
                  <a:pt x="69905" y="0"/>
                </a:moveTo>
                <a:lnTo>
                  <a:pt x="4368433" y="0"/>
                </a:lnTo>
                <a:cubicBezTo>
                  <a:pt x="4407040" y="0"/>
                  <a:pt x="4438338" y="31298"/>
                  <a:pt x="4438338" y="69905"/>
                </a:cubicBezTo>
                <a:lnTo>
                  <a:pt x="4438338" y="2254067"/>
                </a:lnTo>
                <a:cubicBezTo>
                  <a:pt x="4438338" y="2292674"/>
                  <a:pt x="4407040" y="2323972"/>
                  <a:pt x="4368433" y="2323972"/>
                </a:cubicBezTo>
                <a:lnTo>
                  <a:pt x="69905" y="2323972"/>
                </a:lnTo>
                <a:cubicBezTo>
                  <a:pt x="31298" y="2323972"/>
                  <a:pt x="0" y="2292674"/>
                  <a:pt x="0" y="2254067"/>
                </a:cubicBezTo>
                <a:lnTo>
                  <a:pt x="0" y="69905"/>
                </a:lnTo>
                <a:cubicBezTo>
                  <a:pt x="0" y="31298"/>
                  <a:pt x="31298" y="0"/>
                  <a:pt x="69905" y="0"/>
                </a:cubicBezTo>
                <a:close/>
              </a:path>
            </a:pathLst>
          </a:custGeom>
          <a:noFill/>
          <a:ln>
            <a:noFill/>
          </a:ln>
        </p:spPr>
      </p:pic>
      <p:sp>
        <p:nvSpPr>
          <p:cNvPr id="334" name="Google Shape;334;p21"/>
          <p:cNvSpPr txBox="1"/>
          <p:nvPr>
            <p:ph idx="1" type="body"/>
          </p:nvPr>
        </p:nvSpPr>
        <p:spPr>
          <a:xfrm>
            <a:off x="4613470" y="1946684"/>
            <a:ext cx="4047928" cy="435133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800"/>
              <a:buNone/>
            </a:pPr>
            <a:r>
              <a:rPr b="1" lang="en-US" sz="2800"/>
              <a:t>Vrste</a:t>
            </a:r>
            <a:r>
              <a:rPr lang="en-US" sz="2800"/>
              <a:t> dugoročnog pamćenja</a:t>
            </a:r>
            <a:endParaRPr sz="2800"/>
          </a:p>
          <a:p>
            <a:pPr indent="0" lvl="0" marL="0" rtl="0" algn="l">
              <a:lnSpc>
                <a:spcPct val="90000"/>
              </a:lnSpc>
              <a:spcBef>
                <a:spcPts val="560"/>
              </a:spcBef>
              <a:spcAft>
                <a:spcPts val="0"/>
              </a:spcAft>
              <a:buClr>
                <a:schemeClr val="dk1"/>
              </a:buClr>
              <a:buSzPts val="2800"/>
              <a:buNone/>
            </a:pPr>
            <a:br>
              <a:rPr b="1" lang="en-US" sz="2800"/>
            </a:br>
            <a:r>
              <a:rPr b="1" lang="en-US" sz="2800"/>
              <a:t>3) Implicitno (nedeklarativno) </a:t>
            </a:r>
            <a:endParaRPr sz="2800"/>
          </a:p>
          <a:p>
            <a:pPr indent="-342900" lvl="0" marL="342900" rtl="0" algn="l">
              <a:lnSpc>
                <a:spcPct val="90000"/>
              </a:lnSpc>
              <a:spcBef>
                <a:spcPts val="560"/>
              </a:spcBef>
              <a:spcAft>
                <a:spcPts val="0"/>
              </a:spcAft>
              <a:buClr>
                <a:schemeClr val="dk1"/>
              </a:buClr>
              <a:buSzPts val="2800"/>
              <a:buChar char="•"/>
            </a:pPr>
            <a:r>
              <a:rPr lang="en-US" sz="2800"/>
              <a:t>Proceduralno pamćenje –  vještine  </a:t>
            </a:r>
            <a:endParaRPr/>
          </a:p>
          <a:p>
            <a:pPr indent="-342900" lvl="0" marL="342900" rtl="0" algn="l">
              <a:lnSpc>
                <a:spcPct val="90000"/>
              </a:lnSpc>
              <a:spcBef>
                <a:spcPts val="560"/>
              </a:spcBef>
              <a:spcAft>
                <a:spcPts val="0"/>
              </a:spcAft>
              <a:buClr>
                <a:schemeClr val="dk1"/>
              </a:buClr>
              <a:buSzPts val="2800"/>
              <a:buChar char="•"/>
            </a:pPr>
            <a:r>
              <a:rPr lang="en-US" sz="2800"/>
              <a:t>Pamćenje mjesta, vremena, učestalosti</a:t>
            </a:r>
            <a:endParaRPr sz="2800"/>
          </a:p>
          <a:p>
            <a:pPr indent="-342900" lvl="0" marL="342900" rtl="0" algn="l">
              <a:lnSpc>
                <a:spcPct val="90000"/>
              </a:lnSpc>
              <a:spcBef>
                <a:spcPts val="560"/>
              </a:spcBef>
              <a:spcAft>
                <a:spcPts val="0"/>
              </a:spcAft>
              <a:buClr>
                <a:schemeClr val="dk1"/>
              </a:buClr>
              <a:buSzPts val="2800"/>
              <a:buChar char="•"/>
            </a:pPr>
            <a:r>
              <a:rPr lang="en-US" sz="2800"/>
              <a:t>Pamćenje klasičnim uvjetovanjem</a:t>
            </a:r>
            <a:endParaRPr sz="2800"/>
          </a:p>
          <a:p>
            <a:pPr indent="-139700" lvl="2" marL="1143000" rtl="0" algn="l">
              <a:lnSpc>
                <a:spcPct val="90000"/>
              </a:lnSpc>
              <a:spcBef>
                <a:spcPts val="280"/>
              </a:spcBef>
              <a:spcAft>
                <a:spcPts val="0"/>
              </a:spcAft>
              <a:buClr>
                <a:schemeClr val="dk1"/>
              </a:buClr>
              <a:buSzPts val="1400"/>
              <a:buNone/>
            </a:pPr>
            <a:r>
              <a:t/>
            </a:r>
            <a:endParaRPr sz="1400"/>
          </a:p>
          <a:p>
            <a:pPr indent="-254000" lvl="0" marL="342900" rtl="0" algn="l">
              <a:lnSpc>
                <a:spcPct val="90000"/>
              </a:lnSpc>
              <a:spcBef>
                <a:spcPts val="280"/>
              </a:spcBef>
              <a:spcAft>
                <a:spcPts val="0"/>
              </a:spcAft>
              <a:buClr>
                <a:schemeClr val="dk1"/>
              </a:buClr>
              <a:buSzPts val="1400"/>
              <a:buNone/>
            </a:pPr>
            <a:r>
              <a:t/>
            </a:r>
            <a:endParaRPr sz="1400"/>
          </a:p>
        </p:txBody>
      </p:sp>
      <p:sp>
        <p:nvSpPr>
          <p:cNvPr id="335" name="Google Shape;335;p21"/>
          <p:cNvSpPr/>
          <p:nvPr/>
        </p:nvSpPr>
        <p:spPr>
          <a:xfrm rot="1095198">
            <a:off x="1154762" y="162676"/>
            <a:ext cx="3062575" cy="4083433"/>
          </a:xfrm>
          <a:prstGeom prst="arc">
            <a:avLst>
              <a:gd fmla="val 17445962" name="adj1"/>
              <a:gd fmla="val 0" name="adj2"/>
            </a:avLst>
          </a:prstGeom>
          <a:noFill/>
          <a:ln cap="rnd" cmpd="sng" w="127000">
            <a:solidFill>
              <a:schemeClr val="accent4"/>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9" name="Shape 339"/>
        <p:cNvGrpSpPr/>
        <p:nvPr/>
      </p:nvGrpSpPr>
      <p:grpSpPr>
        <a:xfrm>
          <a:off x="0" y="0"/>
          <a:ext cx="0" cy="0"/>
          <a:chOff x="0" y="0"/>
          <a:chExt cx="0" cy="0"/>
        </a:xfrm>
      </p:grpSpPr>
      <p:sp>
        <p:nvSpPr>
          <p:cNvPr id="340" name="Google Shape;340;p22"/>
          <p:cNvSpPr/>
          <p:nvPr/>
        </p:nvSpPr>
        <p:spPr>
          <a:xfrm>
            <a:off x="0" y="0"/>
            <a:ext cx="9143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1" name="Google Shape;341;p22"/>
          <p:cNvSpPr txBox="1"/>
          <p:nvPr>
            <p:ph type="title"/>
          </p:nvPr>
        </p:nvSpPr>
        <p:spPr>
          <a:xfrm>
            <a:off x="442170" y="856180"/>
            <a:ext cx="3420438" cy="1128068"/>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500"/>
              <a:buFont typeface="Calibri"/>
              <a:buNone/>
            </a:pPr>
            <a:r>
              <a:rPr lang="en-US" sz="3500"/>
              <a:t>Predrasude našeg pamćenja </a:t>
            </a:r>
            <a:endParaRPr sz="3500"/>
          </a:p>
        </p:txBody>
      </p:sp>
      <p:grpSp>
        <p:nvGrpSpPr>
          <p:cNvPr id="342" name="Google Shape;342;p22"/>
          <p:cNvGrpSpPr/>
          <p:nvPr/>
        </p:nvGrpSpPr>
        <p:grpSpPr>
          <a:xfrm>
            <a:off x="0" y="1083484"/>
            <a:ext cx="266396" cy="673460"/>
            <a:chOff x="0" y="823811"/>
            <a:chExt cx="355196" cy="673460"/>
          </a:xfrm>
        </p:grpSpPr>
        <p:sp>
          <p:nvSpPr>
            <p:cNvPr id="343" name="Google Shape;343;p22"/>
            <p:cNvSpPr/>
            <p:nvPr/>
          </p:nvSpPr>
          <p:spPr>
            <a:xfrm>
              <a:off x="0" y="823811"/>
              <a:ext cx="87363"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4" name="Google Shape;344;p22"/>
            <p:cNvSpPr/>
            <p:nvPr/>
          </p:nvSpPr>
          <p:spPr>
            <a:xfrm>
              <a:off x="159341" y="823811"/>
              <a:ext cx="195855" cy="67346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45" name="Google Shape;345;p22"/>
          <p:cNvSpPr/>
          <p:nvPr/>
        </p:nvSpPr>
        <p:spPr>
          <a:xfrm flipH="1">
            <a:off x="498813" y="2090569"/>
            <a:ext cx="3223260" cy="2743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6" name="Google Shape;346;p22"/>
          <p:cNvSpPr txBox="1"/>
          <p:nvPr>
            <p:ph idx="1" type="body"/>
          </p:nvPr>
        </p:nvSpPr>
        <p:spPr>
          <a:xfrm>
            <a:off x="443039" y="2330505"/>
            <a:ext cx="3671761" cy="3979585"/>
          </a:xfrm>
          <a:prstGeom prst="rect">
            <a:avLst/>
          </a:prstGeom>
          <a:noFill/>
          <a:ln>
            <a:noFill/>
          </a:ln>
        </p:spPr>
        <p:txBody>
          <a:bodyPr anchorCtr="0" anchor="ctr"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Lakše se sjećamo emocionalno obojenih događaja</a:t>
            </a:r>
            <a:endParaRPr sz="2000"/>
          </a:p>
          <a:p>
            <a:pPr indent="-342900" lvl="0" marL="342900" rtl="0" algn="l">
              <a:lnSpc>
                <a:spcPct val="100000"/>
              </a:lnSpc>
              <a:spcBef>
                <a:spcPts val="400"/>
              </a:spcBef>
              <a:spcAft>
                <a:spcPts val="0"/>
              </a:spcAft>
              <a:buClr>
                <a:schemeClr val="dk1"/>
              </a:buClr>
              <a:buSzPts val="2000"/>
              <a:buChar char="•"/>
            </a:pPr>
            <a:r>
              <a:rPr lang="en-US" sz="2000"/>
              <a:t>Emocionalno stanje utječe na vjerojatnost zapamćivanja nekih elemenata situacije (onih opasnih i neugodnih)</a:t>
            </a:r>
            <a:endParaRPr/>
          </a:p>
          <a:p>
            <a:pPr indent="-342900" lvl="0" marL="342900" rtl="0" algn="l">
              <a:lnSpc>
                <a:spcPct val="100000"/>
              </a:lnSpc>
              <a:spcBef>
                <a:spcPts val="400"/>
              </a:spcBef>
              <a:spcAft>
                <a:spcPts val="0"/>
              </a:spcAft>
              <a:buClr>
                <a:schemeClr val="dk1"/>
              </a:buClr>
              <a:buSzPts val="2000"/>
              <a:buChar char="•"/>
            </a:pPr>
            <a:r>
              <a:rPr lang="en-US" sz="2000"/>
              <a:t>Preuveličavanje/umanjivanje</a:t>
            </a:r>
            <a:endParaRPr sz="2000"/>
          </a:p>
          <a:p>
            <a:pPr indent="-342900" lvl="0" marL="342900" rtl="0" algn="l">
              <a:lnSpc>
                <a:spcPct val="100000"/>
              </a:lnSpc>
              <a:spcBef>
                <a:spcPts val="400"/>
              </a:spcBef>
              <a:spcAft>
                <a:spcPts val="0"/>
              </a:spcAft>
              <a:buClr>
                <a:schemeClr val="dk1"/>
              </a:buClr>
              <a:buSzPts val="2000"/>
              <a:buChar char="•"/>
            </a:pPr>
            <a:r>
              <a:rPr lang="en-US" sz="2000"/>
              <a:t>Motivirano zaboravljanje </a:t>
            </a:r>
            <a:endParaRPr sz="2000"/>
          </a:p>
        </p:txBody>
      </p:sp>
      <p:sp>
        <p:nvSpPr>
          <p:cNvPr id="347" name="Google Shape;347;p22"/>
          <p:cNvSpPr/>
          <p:nvPr/>
        </p:nvSpPr>
        <p:spPr>
          <a:xfrm flipH="1">
            <a:off x="8023252" y="0"/>
            <a:ext cx="1120748" cy="685800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48" name="Google Shape;348;p22"/>
          <p:cNvSpPr/>
          <p:nvPr/>
        </p:nvSpPr>
        <p:spPr>
          <a:xfrm>
            <a:off x="4264357" y="513853"/>
            <a:ext cx="4507025" cy="5834577"/>
          </a:xfrm>
          <a:prstGeom prst="rect">
            <a:avLst/>
          </a:prstGeom>
          <a:solidFill>
            <a:schemeClr val="lt1"/>
          </a:solidFill>
          <a:ln>
            <a:noFill/>
          </a:ln>
          <a:effectLst>
            <a:outerShdw blurRad="139700" rotWithShape="0" algn="t" dir="5400000" dist="127000">
              <a:srgbClr val="000000">
                <a:alpha val="14117"/>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descr="A classic memory: memes" id="349" name="Google Shape;349;p22"/>
          <p:cNvPicPr preferRelativeResize="0"/>
          <p:nvPr/>
        </p:nvPicPr>
        <p:blipFill rotWithShape="1">
          <a:blip r:embed="rId3">
            <a:alphaModFix/>
          </a:blip>
          <a:srcRect b="-2" l="4187" r="-1" t="0"/>
          <a:stretch/>
        </p:blipFill>
        <p:spPr>
          <a:xfrm>
            <a:off x="4483341" y="799352"/>
            <a:ext cx="4069057" cy="52592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Hvala na pažnji! </a:t>
            </a:r>
            <a:endParaRPr/>
          </a:p>
        </p:txBody>
      </p:sp>
      <p:pic>
        <p:nvPicPr>
          <p:cNvPr id="355" name="Google Shape;355;p50"/>
          <p:cNvPicPr preferRelativeResize="0"/>
          <p:nvPr>
            <p:ph idx="1" type="body"/>
          </p:nvPr>
        </p:nvPicPr>
        <p:blipFill rotWithShape="1">
          <a:blip r:embed="rId3">
            <a:alphaModFix/>
          </a:blip>
          <a:srcRect b="0" l="0" r="0" t="0"/>
          <a:stretch/>
        </p:blipFill>
        <p:spPr>
          <a:xfrm>
            <a:off x="2895600" y="1419313"/>
            <a:ext cx="3943200" cy="5152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2020-12-04T17:23:21Z</dcterms:created>
  <dc:creator>Lejla Talić</dc:creator>
</cp:coreProperties>
</file>