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jmxS5SPPOXGEWjhEQz9vl14/wx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B2BDAB-C8EC-4F38-8368-16339F3795BF}">
  <a:tblStyle styleId="{28B2BDAB-C8EC-4F38-8368-16339F3795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e372d60d6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be372d60d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2be372d60d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Emocije utječu na ponašanje, mišljenje o sebi i drugima, odnose…</a:t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be372d60d6_0_1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be372d60d6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2be372d60d6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1 - tuga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2 - radost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3 - ljutnja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4 - strah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5 - iznenađenje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6 - gađenje</a:t>
            </a:r>
            <a:endParaRPr/>
          </a:p>
        </p:txBody>
      </p:sp>
      <p:sp>
        <p:nvSpPr>
          <p:cNvPr id="188" name="Google Shape;188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be372d60d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2be372d60d6_0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be372d60d6_0_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5" name="Google Shape;275;g2be372d60d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2be372d60d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Senzorni korteks prima informacije; talamus i hipotalamus koji aktivira vegetativni ŽS; Amigdala i hipokampus koji su važni za emocionalni doživljaj ( ako amigdala i hipokampus reagiraju brzo bez povratne informacije iz korteksa  dolazi do jakih i brzih emocionalnih reakcija koje su često površne i netočne jer nastaju metodom asocijacija.</a:t>
            </a:r>
            <a:endParaRPr/>
          </a:p>
        </p:txBody>
      </p:sp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ni slajd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sadržaj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glavlje sekcij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va sadržaja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poredba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o naslov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azn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držaj s opisom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7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7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ka s opisom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7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okomiti teks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2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omiti naslov i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sadržaj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ni slajd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9" name="Google Shape;99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6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dOkyKyVFnSs" TargetMode="External"/><Relationship Id="rId4" Type="http://schemas.openxmlformats.org/officeDocument/2006/relationships/hyperlink" Target="https://www.youtube.com/watch?v=SJOjpprbfeE" TargetMode="External"/><Relationship Id="rId5" Type="http://schemas.openxmlformats.org/officeDocument/2006/relationships/hyperlink" Target="https://www.youtube.com/watch?v=t685WM5R6aM" TargetMode="External"/><Relationship Id="rId6" Type="http://schemas.openxmlformats.org/officeDocument/2006/relationships/hyperlink" Target="https://www.youtube.com/watch?v=1Evwgu369Jw&amp;t=1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Relationship Id="rId4" Type="http://schemas.openxmlformats.org/officeDocument/2006/relationships/image" Target="../media/image3.jpg"/><Relationship Id="rId5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e372d60d6_0_6"/>
          <p:cNvSpPr txBox="1"/>
          <p:nvPr>
            <p:ph type="ctrTitle"/>
          </p:nvPr>
        </p:nvSpPr>
        <p:spPr>
          <a:xfrm>
            <a:off x="1143000" y="1122387"/>
            <a:ext cx="6858000" cy="471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US"/>
              <a:t>Emocije</a:t>
            </a:r>
            <a:endParaRPr/>
          </a:p>
        </p:txBody>
      </p:sp>
      <p:pic>
        <p:nvPicPr>
          <p:cNvPr id="108" name="Google Shape;108;g2be372d60d6_0_6"/>
          <p:cNvPicPr preferRelativeResize="0"/>
          <p:nvPr/>
        </p:nvPicPr>
        <p:blipFill rotWithShape="1">
          <a:blip r:embed="rId3">
            <a:alphaModFix/>
          </a:blip>
          <a:srcRect b="0" l="5033" r="0" t="0"/>
          <a:stretch/>
        </p:blipFill>
        <p:spPr>
          <a:xfrm>
            <a:off x="1912900" y="514800"/>
            <a:ext cx="5318200" cy="419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Video materijali 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u="sng">
                <a:solidFill>
                  <a:schemeClr val="hlink"/>
                </a:solidFill>
                <a:hlinkClick r:id="rId3"/>
              </a:rPr>
              <a:t>https://www.youtube.com/watch?v=dOkyKyVFnSs</a:t>
            </a:r>
            <a:r>
              <a:rPr lang="en-US" sz="2800"/>
              <a:t> 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u="sng">
                <a:solidFill>
                  <a:schemeClr val="hlink"/>
                </a:solidFill>
                <a:hlinkClick r:id="rId4"/>
              </a:rPr>
              <a:t>https://www.youtube.com/watch?v=SJOjpprbfeE</a:t>
            </a:r>
            <a:r>
              <a:rPr lang="en-US" sz="2800"/>
              <a:t> 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https://www.youtube.com/watch?v=t685WM5R6aM</a:t>
            </a:r>
            <a:r>
              <a:rPr lang="en-US"/>
              <a:t> 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https://www.youtube.com/watch?v=1Evwgu369Jw&amp;t=1s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414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12489" l="0" r="-1" t="2939"/>
          <a:stretch/>
        </p:blipFill>
        <p:spPr>
          <a:xfrm>
            <a:off x="240030" y="320040"/>
            <a:ext cx="8661654" cy="430346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241173" y="4782312"/>
            <a:ext cx="8661654" cy="1755648"/>
          </a:xfrm>
          <a:prstGeom prst="rect">
            <a:avLst/>
          </a:prstGeom>
          <a:solidFill>
            <a:schemeClr val="lt1">
              <a:alpha val="9215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>
            <p:ph type="title"/>
          </p:nvPr>
        </p:nvSpPr>
        <p:spPr>
          <a:xfrm>
            <a:off x="630936" y="5009083"/>
            <a:ext cx="2167128" cy="1345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 početak…</a:t>
            </a:r>
            <a:endParaRPr/>
          </a:p>
        </p:txBody>
      </p:sp>
      <p:cxnSp>
        <p:nvCxnSpPr>
          <p:cNvPr id="123" name="Google Shape;123;p3"/>
          <p:cNvCxnSpPr/>
          <p:nvPr/>
        </p:nvCxnSpPr>
        <p:spPr>
          <a:xfrm rot="10800000">
            <a:off x="3044952" y="5237979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>
                <a:alpha val="8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3"/>
          <p:cNvSpPr txBox="1"/>
          <p:nvPr>
            <p:ph idx="1" type="body"/>
          </p:nvPr>
        </p:nvSpPr>
        <p:spPr>
          <a:xfrm>
            <a:off x="3131822" y="5237979"/>
            <a:ext cx="5232654" cy="1345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Zamislite da nemate emocije.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Kako bi nam život tada izgledao? </a:t>
            </a:r>
            <a:endParaRPr/>
          </a:p>
          <a:p>
            <a:pPr indent="-76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76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Emocije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457200" y="1600200"/>
            <a:ext cx="782957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… su </a:t>
            </a:r>
            <a:r>
              <a:rPr b="1" lang="en-US" sz="3200"/>
              <a:t>psihički procesi </a:t>
            </a:r>
            <a:r>
              <a:rPr lang="en-US" sz="3200"/>
              <a:t>koji odražavaju naš odnos prema nama samima, drugim ljudima te prema stvarima i događajima koji nas okružuju</a:t>
            </a:r>
            <a:endParaRPr sz="32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Čemu nam služe emocije?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pic>
        <p:nvPicPr>
          <p:cNvPr descr="Slikovni rezultat za inside out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743" y="3356992"/>
            <a:ext cx="2880320" cy="287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Emocije</a:t>
            </a:r>
            <a:br>
              <a:rPr lang="en-US"/>
            </a:br>
            <a:endParaRPr/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449262" y="1556792"/>
            <a:ext cx="8507413" cy="547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Zahvaljujući emocijama znamo: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Što nam se sviđa, što ne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Što trebamo izbjegavati</a:t>
            </a:r>
            <a:endParaRPr sz="25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Što nam izaziva nelagodu</a:t>
            </a:r>
            <a:endParaRPr sz="25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Što nam je potrebno</a:t>
            </a:r>
            <a:endParaRPr sz="2500"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Neke od njih su više, </a:t>
            </a:r>
            <a:br>
              <a:rPr lang="en-US" sz="2800"/>
            </a:br>
            <a:r>
              <a:rPr lang="en-US" sz="2800"/>
              <a:t>neke manje ugodne, </a:t>
            </a:r>
            <a:br>
              <a:rPr lang="en-US" sz="2800"/>
            </a:br>
            <a:r>
              <a:rPr lang="en-US" sz="2800"/>
              <a:t>ali su </a:t>
            </a:r>
            <a:r>
              <a:rPr b="1" lang="en-US" sz="2800"/>
              <a:t>jednako važne </a:t>
            </a:r>
            <a:br>
              <a:rPr b="1" lang="en-US" sz="2800"/>
            </a:br>
            <a:r>
              <a:rPr b="1" lang="en-US" sz="2800"/>
              <a:t>i nužne za naš život. 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https://cdn.tinybuddha.com/wp-content/uploads/2015/06/Emotions.png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0668" y="3284984"/>
            <a:ext cx="4577155" cy="303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>
            <p:ph type="title"/>
          </p:nvPr>
        </p:nvSpPr>
        <p:spPr>
          <a:xfrm>
            <a:off x="541650" y="249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 sz="3900"/>
              <a:t>Koje sve emocije možete navesti?</a:t>
            </a:r>
            <a:endParaRPr b="1" sz="3900"/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750" y="1915675"/>
            <a:ext cx="4229176" cy="3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554300" y="6008350"/>
            <a:ext cx="6597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gađenje, sreća, tuga, ljutnja, strah, iznenađenje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VRSTE EMOCIJA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395536" y="1556792"/>
            <a:ext cx="7886700" cy="500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/>
              <a:t>1. Osnovne ili primarne</a:t>
            </a:r>
            <a:endParaRPr b="1" sz="28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Javljaju su </a:t>
            </a:r>
            <a:r>
              <a:rPr b="1" lang="en-US" sz="2800"/>
              <a:t>rano</a:t>
            </a:r>
            <a:r>
              <a:rPr lang="en-US" sz="2800"/>
              <a:t> tijekom razvoja</a:t>
            </a:r>
            <a:endParaRPr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 različitim kulturama očituju se </a:t>
            </a:r>
            <a:r>
              <a:rPr b="1" lang="en-US" sz="2800"/>
              <a:t>istim</a:t>
            </a:r>
            <a:r>
              <a:rPr lang="en-US" sz="2800"/>
              <a:t> </a:t>
            </a:r>
            <a:r>
              <a:rPr b="1" lang="en-US" sz="2800"/>
              <a:t>karakterističnim</a:t>
            </a:r>
            <a:r>
              <a:rPr lang="en-US" sz="2800"/>
              <a:t> izražajima lica</a:t>
            </a:r>
            <a:endParaRPr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Izražavanje osnovnih emocija je </a:t>
            </a:r>
            <a:r>
              <a:rPr b="1" lang="en-US" sz="2800"/>
              <a:t>urođeno</a:t>
            </a:r>
            <a:endParaRPr b="1" sz="2800"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Izazivaju ih </a:t>
            </a:r>
            <a:r>
              <a:rPr b="1" lang="en-US" sz="2800"/>
              <a:t>jednostavne </a:t>
            </a:r>
            <a:r>
              <a:rPr lang="en-US" sz="2800"/>
              <a:t>situacije </a:t>
            </a:r>
            <a:endParaRPr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Intenzivne su i lako ih prepoznajemo</a:t>
            </a:r>
            <a:endParaRPr sz="28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3 Practical Ways to Help Employees Benefit from Emotions" id="152" name="Google Shape;152;p7"/>
          <p:cNvPicPr preferRelativeResize="0"/>
          <p:nvPr/>
        </p:nvPicPr>
        <p:blipFill rotWithShape="1">
          <a:blip r:embed="rId3">
            <a:alphaModFix/>
          </a:blip>
          <a:srcRect b="33024" l="0" r="0" t="27027"/>
          <a:stretch/>
        </p:blipFill>
        <p:spPr>
          <a:xfrm>
            <a:off x="1979712" y="5473897"/>
            <a:ext cx="5328592" cy="1064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VRSTE EMOCIJA</a:t>
            </a:r>
            <a:endParaRPr/>
          </a:p>
        </p:txBody>
      </p:sp>
      <p:pic>
        <p:nvPicPr>
          <p:cNvPr descr="The 6 Types of Basic Emotions" id="158" name="Google Shape;158;p8"/>
          <p:cNvPicPr preferRelativeResize="0"/>
          <p:nvPr/>
        </p:nvPicPr>
        <p:blipFill rotWithShape="1">
          <a:blip r:embed="rId3">
            <a:alphaModFix/>
          </a:blip>
          <a:srcRect b="5104" l="0" r="0" t="0"/>
          <a:stretch/>
        </p:blipFill>
        <p:spPr>
          <a:xfrm>
            <a:off x="863589" y="1470285"/>
            <a:ext cx="7416825" cy="469218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395536" y="6311899"/>
            <a:ext cx="92890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Osnovne emocije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Radost, žalost, strah, ljutnja, iznenađenje, gađenje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VRSTE EMOCIJA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758205" y="1544464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/>
              <a:t>2. Složene ili sekundarne emocije</a:t>
            </a:r>
            <a:endParaRPr b="1" sz="2800"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Složene su od dvije ili više osnovnih emocija</a:t>
            </a:r>
            <a:endParaRPr sz="24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Javljaju se kasnije tijekom razvoja (potrebno razumijevanje situacija)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 različitim kulturama  izazivaju ih različiti događaji 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 različitim kulturama različito se izražavaju (npr. Japan, Mediteran...)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Npr. ljubomora, sram, krivnja, zabrinutost...</a:t>
            </a:r>
            <a:endParaRPr/>
          </a:p>
        </p:txBody>
      </p:sp>
      <p:pic>
        <p:nvPicPr>
          <p:cNvPr descr="Manage emotions training mood concept Royalty Free Vector" id="166" name="Google Shape;166;p9"/>
          <p:cNvPicPr preferRelativeResize="0"/>
          <p:nvPr/>
        </p:nvPicPr>
        <p:blipFill rotWithShape="1">
          <a:blip r:embed="rId3">
            <a:alphaModFix/>
          </a:blip>
          <a:srcRect b="16000" l="0" r="0" t="0"/>
          <a:stretch/>
        </p:blipFill>
        <p:spPr>
          <a:xfrm>
            <a:off x="6300192" y="5015008"/>
            <a:ext cx="2690292" cy="176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628650" y="14150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VRSTE EMOCIJA – SLOŽENE EMOCIJE</a:t>
            </a:r>
            <a:endParaRPr/>
          </a:p>
        </p:txBody>
      </p:sp>
      <p:pic>
        <p:nvPicPr>
          <p:cNvPr descr="A robot's guide to emotions. A cheat sheet on how to play with… | by On  Cloud Nine | Medium" id="172" name="Google Shape;172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704" y="1194932"/>
            <a:ext cx="5544616" cy="552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8" name="Google Shape;17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7942" y="662979"/>
            <a:ext cx="6056387" cy="605638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/>
          <p:nvPr/>
        </p:nvSpPr>
        <p:spPr>
          <a:xfrm>
            <a:off x="3875100" y="3068960"/>
            <a:ext cx="1393799" cy="1202829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Složene emocije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2be372d60d6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6728" y="220126"/>
            <a:ext cx="6750534" cy="62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annabismd.com/wp-content/uploads/2019/01/mood-disorders-cbd-oil-need-to-know.jpg" id="190" name="Google Shape;1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525" y="0"/>
            <a:ext cx="3416474" cy="213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Zadatak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628650" y="1340775"/>
            <a:ext cx="7886700" cy="5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6 emocija - odabrati jednu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Opišite: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Situaciju u kojoj doživljavate ovu emociju (opišite koja je kognitivna procjena, kako ona određuje emociju, koje su tjelesne reakcije koje ju prate) 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Čemu nam služi ova emocija?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Koliko vam je lako izraziti ovu emociju i zašto?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Na kakvo vas ponašanje motivira ova emocija?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Odredi gdje bi se ta emocija nalazila prema dimenzijama (hednostički ton i pobuđenost) - prikaži grafički.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hpf-happify-marty-prod-user-uploads.happify.com/cms_uploads/en_US/img/happifiers/train-your-emotions-1.jpg" id="197" name="Google Shape;197;p12"/>
          <p:cNvPicPr preferRelativeResize="0"/>
          <p:nvPr/>
        </p:nvPicPr>
        <p:blipFill rotWithShape="1">
          <a:blip r:embed="rId3">
            <a:alphaModFix/>
          </a:blip>
          <a:srcRect b="1" l="34337" r="2995" t="0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619048" y="321176"/>
            <a:ext cx="3249230" cy="5896743"/>
          </a:xfrm>
          <a:prstGeom prst="rect">
            <a:avLst/>
          </a:prstGeom>
          <a:solidFill>
            <a:schemeClr val="lt1">
              <a:alpha val="89019"/>
            </a:schemeClr>
          </a:solidFill>
          <a:ln cap="sq" cmpd="thinThick" w="1270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/>
          <p:nvPr>
            <p:ph type="title"/>
          </p:nvPr>
        </p:nvSpPr>
        <p:spPr>
          <a:xfrm>
            <a:off x="5812488" y="640263"/>
            <a:ext cx="2819430" cy="1344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DIMENZIJE EMOCIJA</a:t>
            </a:r>
            <a:endParaRPr/>
          </a:p>
        </p:txBody>
      </p:sp>
      <p:sp>
        <p:nvSpPr>
          <p:cNvPr id="200" name="Google Shape;200;p12"/>
          <p:cNvSpPr txBox="1"/>
          <p:nvPr>
            <p:ph idx="1" type="body"/>
          </p:nvPr>
        </p:nvSpPr>
        <p:spPr>
          <a:xfrm>
            <a:off x="5811967" y="2121763"/>
            <a:ext cx="2823620" cy="4095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2400"/>
              <a:t>1. Hedonistički ton: </a:t>
            </a:r>
            <a:endParaRPr sz="2400"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1. ugodne</a:t>
            </a:r>
            <a:r>
              <a:rPr lang="en-US" sz="2400"/>
              <a:t> (radost. ljubav, divljenje...) </a:t>
            </a:r>
            <a:endParaRPr sz="2400"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2. neugodne</a:t>
            </a:r>
            <a:r>
              <a:rPr lang="en-US" sz="2400"/>
              <a:t> (žalost, sram, mržnja)</a:t>
            </a:r>
            <a:endParaRPr sz="2400"/>
          </a:p>
          <a:p>
            <a:pPr indent="-30479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Strah može biti neugodan, ali i ugodan (npr. kod ljudi koji se bave opasnim sportovima). 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re Emotions Are Felt In the Body, According to Research" id="205" name="Google Shape;205;p13"/>
          <p:cNvPicPr preferRelativeResize="0"/>
          <p:nvPr/>
        </p:nvPicPr>
        <p:blipFill rotWithShape="1">
          <a:blip r:embed="rId3">
            <a:alphaModFix/>
          </a:blip>
          <a:srcRect b="9093" l="30101" r="1792" t="0"/>
          <a:stretch/>
        </p:blipFill>
        <p:spPr>
          <a:xfrm>
            <a:off x="-19473" y="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/>
          <p:nvPr/>
        </p:nvSpPr>
        <p:spPr>
          <a:xfrm>
            <a:off x="5619048" y="321176"/>
            <a:ext cx="3249230" cy="5896743"/>
          </a:xfrm>
          <a:prstGeom prst="rect">
            <a:avLst/>
          </a:prstGeom>
          <a:solidFill>
            <a:schemeClr val="lt1">
              <a:alpha val="89019"/>
            </a:schemeClr>
          </a:solidFill>
          <a:ln cap="sq" cmpd="thinThick" w="1270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 txBox="1"/>
          <p:nvPr>
            <p:ph type="title"/>
          </p:nvPr>
        </p:nvSpPr>
        <p:spPr>
          <a:xfrm>
            <a:off x="5812488" y="640263"/>
            <a:ext cx="2819430" cy="1344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DIMENZIJE EMOCIJA</a:t>
            </a:r>
            <a:endParaRPr/>
          </a:p>
        </p:txBody>
      </p:sp>
      <p:sp>
        <p:nvSpPr>
          <p:cNvPr id="208" name="Google Shape;208;p13"/>
          <p:cNvSpPr txBox="1"/>
          <p:nvPr>
            <p:ph idx="1" type="body"/>
          </p:nvPr>
        </p:nvSpPr>
        <p:spPr>
          <a:xfrm>
            <a:off x="5664881" y="1818693"/>
            <a:ext cx="3331512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2. Pobuđenost – </a:t>
            </a:r>
            <a:r>
              <a:rPr lang="en-US" sz="1800"/>
              <a:t>stupanj u kojem neka emocija mobilizira tjelesne promjene i stvara energiju: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en-US" sz="1800"/>
              <a:t>aktiviraju</a:t>
            </a:r>
            <a:r>
              <a:rPr lang="en-US" sz="1800"/>
              <a:t> 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Npr. strah, ljutnja, iznenađenje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2.       umiruju</a:t>
            </a:r>
            <a:r>
              <a:rPr lang="en-US" sz="1800"/>
              <a:t> 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Npr. tuga, nostalgija, zadovoljstvo</a:t>
            </a:r>
            <a:endParaRPr/>
          </a:p>
          <a:p>
            <a:pPr indent="-571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Neugodne </a:t>
            </a:r>
            <a:r>
              <a:rPr lang="en-US" sz="1800"/>
              <a:t>emocije doživljavaju se dvostruko intenzivnije.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Zašto?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>
            <p:ph type="title"/>
          </p:nvPr>
        </p:nvSpPr>
        <p:spPr>
          <a:xfrm>
            <a:off x="179512" y="178594"/>
            <a:ext cx="703969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DIMENZIJE EMOCIJA</a:t>
            </a:r>
            <a:endParaRPr b="1"/>
          </a:p>
        </p:txBody>
      </p:sp>
      <p:sp>
        <p:nvSpPr>
          <p:cNvPr id="214" name="Google Shape;214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grpSp>
        <p:nvGrpSpPr>
          <p:cNvPr id="215" name="Google Shape;215;p14"/>
          <p:cNvGrpSpPr/>
          <p:nvPr/>
        </p:nvGrpSpPr>
        <p:grpSpPr>
          <a:xfrm>
            <a:off x="2309641" y="1531937"/>
            <a:ext cx="4525963" cy="4525963"/>
            <a:chOff x="1851818" y="0"/>
            <a:chExt cx="4525963" cy="4525963"/>
          </a:xfrm>
        </p:grpSpPr>
        <p:sp>
          <p:nvSpPr>
            <p:cNvPr id="216" name="Google Shape;216;p14"/>
            <p:cNvSpPr/>
            <p:nvPr/>
          </p:nvSpPr>
          <p:spPr>
            <a:xfrm>
              <a:off x="1851818" y="0"/>
              <a:ext cx="4525963" cy="4525963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146006" y="294187"/>
              <a:ext cx="1810385" cy="181038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4"/>
            <p:cNvSpPr txBox="1"/>
            <p:nvPr/>
          </p:nvSpPr>
          <p:spPr>
            <a:xfrm>
              <a:off x="2234382" y="382563"/>
              <a:ext cx="1633633" cy="163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Opuštenost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Zadovoljstvo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4273208" y="294187"/>
              <a:ext cx="1810385" cy="181038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4"/>
            <p:cNvSpPr txBox="1"/>
            <p:nvPr/>
          </p:nvSpPr>
          <p:spPr>
            <a:xfrm>
              <a:off x="4361584" y="382563"/>
              <a:ext cx="1633633" cy="163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Radost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Oduševljenje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2146006" y="2421390"/>
              <a:ext cx="1810385" cy="181038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4"/>
            <p:cNvSpPr txBox="1"/>
            <p:nvPr/>
          </p:nvSpPr>
          <p:spPr>
            <a:xfrm>
              <a:off x="2234382" y="2509766"/>
              <a:ext cx="1633633" cy="163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Tuga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4273208" y="2421390"/>
              <a:ext cx="1810385" cy="181038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4"/>
            <p:cNvSpPr txBox="1"/>
            <p:nvPr/>
          </p:nvSpPr>
          <p:spPr>
            <a:xfrm>
              <a:off x="4361584" y="2509766"/>
              <a:ext cx="1633633" cy="163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Strah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Ljutnja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Gađenje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4"/>
          <p:cNvSpPr/>
          <p:nvPr/>
        </p:nvSpPr>
        <p:spPr>
          <a:xfrm>
            <a:off x="2916238" y="800100"/>
            <a:ext cx="3168650" cy="4032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Ugodne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2987675" y="6059488"/>
            <a:ext cx="3168650" cy="4032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Neugodne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323850" y="3467100"/>
            <a:ext cx="1871663" cy="4032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Umiruju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948488" y="3378200"/>
            <a:ext cx="2016125" cy="4921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Aktiviraju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type="title"/>
          </p:nvPr>
        </p:nvSpPr>
        <p:spPr>
          <a:xfrm>
            <a:off x="495038" y="20906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EMOCIJE I RASPOLOŽENJE</a:t>
            </a:r>
            <a:endParaRPr/>
          </a:p>
        </p:txBody>
      </p:sp>
      <p:sp>
        <p:nvSpPr>
          <p:cNvPr id="234" name="Google Shape;234;p15"/>
          <p:cNvSpPr txBox="1"/>
          <p:nvPr>
            <p:ph idx="1" type="body"/>
          </p:nvPr>
        </p:nvSpPr>
        <p:spPr>
          <a:xfrm>
            <a:off x="539750" y="1557338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Prema </a:t>
            </a:r>
            <a:r>
              <a:rPr b="1" lang="en-US" sz="2000"/>
              <a:t>jačini i trajanju </a:t>
            </a:r>
            <a:r>
              <a:rPr lang="en-US" sz="2000"/>
              <a:t>emocionalni procesi mogu biti: 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Raspoloženja</a:t>
            </a:r>
            <a:r>
              <a:rPr lang="en-US" sz="2000"/>
              <a:t>: emocionalna stanja slabijeg intenziteta i dužeg trajanja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Afekti/emocije</a:t>
            </a:r>
            <a:r>
              <a:rPr lang="en-US" sz="2000"/>
              <a:t>: emocionalna stanja jakog intenziteta i kratkog trajanja</a:t>
            </a:r>
            <a:endParaRPr sz="2000"/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Razlike emocija i raspoloženja </a:t>
            </a:r>
            <a:r>
              <a:rPr lang="en-US" sz="2000"/>
              <a:t>- prema trajanju, intenzitetu i po tome znamo li što ih je izazvalo. </a:t>
            </a:r>
            <a:r>
              <a:rPr b="1" lang="en-US" sz="2000"/>
              <a:t>Emocije</a:t>
            </a:r>
            <a:r>
              <a:rPr lang="en-US" sz="2000"/>
              <a:t> su kratkotrajnije, jače i obično znamo što ih je izazvalo. </a:t>
            </a:r>
            <a:r>
              <a:rPr b="1" lang="en-US" sz="2000"/>
              <a:t>Raspoloženja</a:t>
            </a:r>
            <a:r>
              <a:rPr lang="en-US" sz="2000"/>
              <a:t> su dugotrajnija, slabija, a uzrok im je obično nepoznat, i podliježu ritmičkim promjenama (winter blues).</a:t>
            </a:r>
            <a:endParaRPr sz="2000"/>
          </a:p>
          <a:p>
            <a:pPr indent="-571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235" name="Google Shape;235;p15"/>
          <p:cNvGraphicFramePr/>
          <p:nvPr/>
        </p:nvGraphicFramePr>
        <p:xfrm>
          <a:off x="827584" y="479715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{28B2BDAB-C8EC-4F38-8368-16339F3795BF}</a:tableStyleId>
              </a:tblPr>
              <a:tblGrid>
                <a:gridCol w="1527425"/>
                <a:gridCol w="2633525"/>
                <a:gridCol w="2752600"/>
              </a:tblGrid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 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EMOCIJE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RASPOLOŽENJA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Intenzitet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Jače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Slabije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Trajanje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Kraće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Duže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Uzrok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Poznat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Nepoznat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600" marL="686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 txBox="1"/>
          <p:nvPr>
            <p:ph type="title"/>
          </p:nvPr>
        </p:nvSpPr>
        <p:spPr>
          <a:xfrm>
            <a:off x="393555" y="620392"/>
            <a:ext cx="2856201" cy="5504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</a:pPr>
            <a:r>
              <a:rPr lang="en-US" sz="5200">
                <a:solidFill>
                  <a:schemeClr val="lt1"/>
                </a:solidFill>
              </a:rPr>
              <a:t>Podjele emocija</a:t>
            </a:r>
            <a:endParaRPr/>
          </a:p>
        </p:txBody>
      </p:sp>
      <p:grpSp>
        <p:nvGrpSpPr>
          <p:cNvPr id="242" name="Google Shape;242;p16"/>
          <p:cNvGrpSpPr/>
          <p:nvPr/>
        </p:nvGrpSpPr>
        <p:grpSpPr>
          <a:xfrm>
            <a:off x="4101291" y="1371135"/>
            <a:ext cx="4697730" cy="4003200"/>
            <a:chOff x="0" y="750743"/>
            <a:chExt cx="4697730" cy="4003200"/>
          </a:xfrm>
        </p:grpSpPr>
        <p:sp>
          <p:nvSpPr>
            <p:cNvPr id="243" name="Google Shape;243;p16"/>
            <p:cNvSpPr/>
            <p:nvPr/>
          </p:nvSpPr>
          <p:spPr>
            <a:xfrm>
              <a:off x="0" y="750743"/>
              <a:ext cx="4697730" cy="1272960"/>
            </a:xfrm>
            <a:prstGeom prst="roundRect">
              <a:avLst>
                <a:gd fmla="val 16667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6"/>
            <p:cNvSpPr txBox="1"/>
            <p:nvPr/>
          </p:nvSpPr>
          <p:spPr>
            <a:xfrm>
              <a:off x="62141" y="812884"/>
              <a:ext cx="4573448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Prema hedonističkom tonu:  ugodne i neugodne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0" y="2115863"/>
              <a:ext cx="4697730" cy="1272960"/>
            </a:xfrm>
            <a:prstGeom prst="roundRect">
              <a:avLst>
                <a:gd fmla="val 16667" name="adj"/>
              </a:avLst>
            </a:prstGeom>
            <a:solidFill>
              <a:srgbClr val="44B78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6"/>
            <p:cNvSpPr txBox="1"/>
            <p:nvPr/>
          </p:nvSpPr>
          <p:spPr>
            <a:xfrm>
              <a:off x="62141" y="2178004"/>
              <a:ext cx="4573448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Prema jačini i trajanju: raspoloženja i afekti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0" y="3480983"/>
              <a:ext cx="4697730" cy="1272960"/>
            </a:xfrm>
            <a:prstGeom prst="roundRect">
              <a:avLst>
                <a:gd fmla="val 16667" name="adj"/>
              </a:avLst>
            </a:prstGeom>
            <a:solidFill>
              <a:srgbClr val="6FAA47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6"/>
            <p:cNvSpPr txBox="1"/>
            <p:nvPr/>
          </p:nvSpPr>
          <p:spPr>
            <a:xfrm>
              <a:off x="62141" y="3543124"/>
              <a:ext cx="4573448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Prema složenosti: primarne i sekundarne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Kako nastaju emocije? </a:t>
            </a:r>
            <a:endParaRPr/>
          </a:p>
        </p:txBody>
      </p:sp>
      <p:sp>
        <p:nvSpPr>
          <p:cNvPr id="254" name="Google Shape;254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Maja i Ana su prijateljice od vrtića dobro se poznaju. Jedne večeri vraćale su se iz škole kroz malu neosvijetljenu uličicu. Pred njih je iskočio pas.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Maja je pomislila: „Sigurno će nas napasti!“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Osjetila je kako joj srce ubrzano lupa, počela je disati vrlo brzo, dlanovi su joj se oznojili, svaki mišić joj se tresao. Htjela je pobjeći. Ana je pogledala Maju i vidjela da je Maja blijeda kao krpa, oči su joj izgledale veće nego inače, na licu joj je bio izraz kako kad su se u lunaparku vozile u vlaku smrti. Maja je uhvatila Anu za ruku povukla je i počela trčati.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Koju emociju je doživjela Maja?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Kako nastaju emocije? </a:t>
            </a:r>
            <a:endParaRPr/>
          </a:p>
        </p:txBody>
      </p:sp>
      <p:sp>
        <p:nvSpPr>
          <p:cNvPr id="260" name="Google Shape;260;p1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Maja i Ana su prijateljice od vrtića dobro se poznaju. Jedne večeri vraćale su se iz škole kroz malu neosvijetljenu uličicu. Pred njih je iskočio pas.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Ana je pomislila: „ Ovo je Darkov pas. Darko mi se jako sviđa valjda je i on u blizini.“ 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Osjetila je kako joj srce ubrzano lupa, počela je disati vrlo brzo, dlanovi su joj se oznojili, svaki mišić joj se tresao. 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Koju emociju je doživjela Ana?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e372d60d6_0_13"/>
          <p:cNvSpPr txBox="1"/>
          <p:nvPr>
            <p:ph type="title"/>
          </p:nvPr>
        </p:nvSpPr>
        <p:spPr>
          <a:xfrm>
            <a:off x="304800" y="285750"/>
            <a:ext cx="86868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SASTAVNICE (KOMPONENTE) EMOCIJA</a:t>
            </a:r>
            <a:endParaRPr/>
          </a:p>
        </p:txBody>
      </p:sp>
      <p:sp>
        <p:nvSpPr>
          <p:cNvPr id="266" name="Google Shape;266;g2be372d60d6_0_13"/>
          <p:cNvSpPr txBox="1"/>
          <p:nvPr>
            <p:ph idx="1" type="body"/>
          </p:nvPr>
        </p:nvSpPr>
        <p:spPr>
          <a:xfrm>
            <a:off x="418529" y="1123247"/>
            <a:ext cx="8582100" cy="53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SITUACIJA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ILI DOGAĐAJ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i="1"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</a:t>
            </a:r>
            <a:endParaRPr i="1"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1" lang="en-US" sz="1800">
                <a:latin typeface="Arial"/>
                <a:ea typeface="Arial"/>
                <a:cs typeface="Arial"/>
                <a:sym typeface="Arial"/>
              </a:rPr>
              <a:t>                                                  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Noto Sans Symbols"/>
              <a:buNone/>
            </a:pPr>
            <a:r>
              <a:rPr b="1" i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</a:t>
            </a:r>
            <a:r>
              <a:rPr b="1" lang="en-US" sz="2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IZRAŽAVANJE EMOCIJE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(npr.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						           izraz lica, stav tijela, smijeh…)			</a:t>
            </a:r>
            <a:endParaRPr/>
          </a:p>
        </p:txBody>
      </p:sp>
      <p:sp>
        <p:nvSpPr>
          <p:cNvPr id="267" name="Google Shape;267;g2be372d60d6_0_13"/>
          <p:cNvSpPr/>
          <p:nvPr/>
        </p:nvSpPr>
        <p:spPr>
          <a:xfrm>
            <a:off x="1971675" y="2608263"/>
            <a:ext cx="2286000" cy="17859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NAŠA </a:t>
            </a: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PROCJENA, TUMAČENJE </a:t>
            </a: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SITUACIJE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2be372d60d6_0_13"/>
          <p:cNvSpPr/>
          <p:nvPr/>
        </p:nvSpPr>
        <p:spPr>
          <a:xfrm>
            <a:off x="4286250" y="3357563"/>
            <a:ext cx="1000200" cy="484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008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2be372d60d6_0_13"/>
          <p:cNvSpPr/>
          <p:nvPr/>
        </p:nvSpPr>
        <p:spPr>
          <a:xfrm rot="-1582712">
            <a:off x="4270436" y="2498692"/>
            <a:ext cx="1071574" cy="500032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2be372d60d6_0_13"/>
          <p:cNvSpPr/>
          <p:nvPr/>
        </p:nvSpPr>
        <p:spPr>
          <a:xfrm rot="2137296">
            <a:off x="4267188" y="4076672"/>
            <a:ext cx="1142971" cy="500098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00B0F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2be372d60d6_0_13"/>
          <p:cNvSpPr txBox="1"/>
          <p:nvPr/>
        </p:nvSpPr>
        <p:spPr>
          <a:xfrm>
            <a:off x="5286375" y="2286000"/>
            <a:ext cx="385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DOŽIVLJAJ</a:t>
            </a:r>
            <a:r>
              <a:rPr b="1" i="1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(npr. osjećaj straha…)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2be372d60d6_0_13"/>
          <p:cNvSpPr txBox="1"/>
          <p:nvPr/>
        </p:nvSpPr>
        <p:spPr>
          <a:xfrm>
            <a:off x="5286375" y="3143250"/>
            <a:ext cx="3571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TJELESNE PROMJENE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(npr. ubrzani rad srca, ubrzano disanje…)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be372d60d6_0_24"/>
          <p:cNvSpPr txBox="1"/>
          <p:nvPr>
            <p:ph type="title"/>
          </p:nvPr>
        </p:nvSpPr>
        <p:spPr>
          <a:xfrm>
            <a:off x="557213" y="139700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1. NAŠA PROCJENA SITUACIJE (KOGNITIVNA PROCJENA</a:t>
            </a:r>
            <a:endParaRPr sz="3200"/>
          </a:p>
        </p:txBody>
      </p:sp>
      <p:sp>
        <p:nvSpPr>
          <p:cNvPr id="279" name="Google Shape;279;g2be372d60d6_0_24"/>
          <p:cNvSpPr txBox="1"/>
          <p:nvPr>
            <p:ph idx="1" type="body"/>
          </p:nvPr>
        </p:nvSpPr>
        <p:spPr>
          <a:xfrm>
            <a:off x="457200" y="1219200"/>
            <a:ext cx="8229600" cy="49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Hodajući ulicom dvoje ljudi susretne psa. </a:t>
            </a:r>
            <a:endParaRPr/>
          </a:p>
        </p:txBody>
      </p:sp>
      <p:pic>
        <p:nvPicPr>
          <p:cNvPr id="280" name="Google Shape;280;g2be372d60d6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6338" y="3775075"/>
            <a:ext cx="2239962" cy="25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2be372d60d6_0_24"/>
          <p:cNvPicPr preferRelativeResize="0"/>
          <p:nvPr/>
        </p:nvPicPr>
        <p:blipFill rotWithShape="1">
          <a:blip r:embed="rId4">
            <a:alphaModFix/>
          </a:blip>
          <a:srcRect b="0" l="0" r="19781" t="0"/>
          <a:stretch/>
        </p:blipFill>
        <p:spPr>
          <a:xfrm>
            <a:off x="1000125" y="3984625"/>
            <a:ext cx="2532063" cy="2351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2be372d60d6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6600" y="2209800"/>
            <a:ext cx="2663825" cy="21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2be372d60d6_0_24"/>
          <p:cNvSpPr/>
          <p:nvPr/>
        </p:nvSpPr>
        <p:spPr>
          <a:xfrm flipH="1">
            <a:off x="84138" y="2124075"/>
            <a:ext cx="2781300" cy="22320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Užas,  dolazi neko pseto! Tako je velik. Sigurno će me ugristi! Bolje da brzo pređem na drugu stranu ceste.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2be372d60d6_0_24"/>
          <p:cNvSpPr/>
          <p:nvPr/>
        </p:nvSpPr>
        <p:spPr>
          <a:xfrm>
            <a:off x="6256338" y="2060575"/>
            <a:ext cx="2563800" cy="20160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Pas! Idem se poigrati s njim. Kako je sladak. I ja hoću jednog!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2be372d60d6_0_24"/>
          <p:cNvSpPr/>
          <p:nvPr/>
        </p:nvSpPr>
        <p:spPr>
          <a:xfrm>
            <a:off x="457200" y="6399213"/>
            <a:ext cx="83631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Iste okolnosti ne dovode do istih misli, osjećaja i ponašanja kod svih ljudi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KAKO NASTAJU EMOCIJE?</a:t>
            </a:r>
            <a:endParaRPr b="1"/>
          </a:p>
        </p:txBody>
      </p:sp>
      <p:sp>
        <p:nvSpPr>
          <p:cNvPr id="291" name="Google Shape;291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Najčešće potaknute nekim događajem ili situacijom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Mogu ih potaknuti i uspomene, struje misli, ili nagle promjene (nešto nam padne na glavu, nagli zvuk…)</a:t>
            </a:r>
            <a:endParaRPr/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Mogu aktivirati ponašanje (i ne moraju!)  </a:t>
            </a:r>
            <a:endParaRPr sz="2000"/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grpSp>
        <p:nvGrpSpPr>
          <p:cNvPr id="292" name="Google Shape;292;p19"/>
          <p:cNvGrpSpPr/>
          <p:nvPr/>
        </p:nvGrpSpPr>
        <p:grpSpPr>
          <a:xfrm>
            <a:off x="363645" y="4397432"/>
            <a:ext cx="8416708" cy="1133702"/>
            <a:chOff x="4113" y="896424"/>
            <a:chExt cx="8416708" cy="1133702"/>
          </a:xfrm>
        </p:grpSpPr>
        <p:sp>
          <p:nvSpPr>
            <p:cNvPr id="293" name="Google Shape;293;p19"/>
            <p:cNvSpPr/>
            <p:nvPr/>
          </p:nvSpPr>
          <p:spPr>
            <a:xfrm>
              <a:off x="4113" y="1229105"/>
              <a:ext cx="1275258" cy="801021"/>
            </a:xfrm>
            <a:prstGeom prst="roundRect">
              <a:avLst>
                <a:gd fmla="val 10000" name="adj"/>
              </a:avLst>
            </a:prstGeom>
            <a:solidFill>
              <a:srgbClr val="BA8C00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27574" y="1252566"/>
              <a:ext cx="1228336" cy="754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Situacija</a:t>
              </a:r>
              <a:endParaRPr b="1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1406898" y="1471483"/>
              <a:ext cx="270354" cy="316264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3B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1406898" y="1534736"/>
              <a:ext cx="189248" cy="189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1" i="0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1789476" y="1229105"/>
              <a:ext cx="1275258" cy="801021"/>
            </a:xfrm>
            <a:prstGeom prst="roundRect">
              <a:avLst>
                <a:gd fmla="val 10000" name="adj"/>
              </a:avLst>
            </a:prstGeom>
            <a:solidFill>
              <a:srgbClr val="FFB7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9"/>
            <p:cNvSpPr txBox="1"/>
            <p:nvPr/>
          </p:nvSpPr>
          <p:spPr>
            <a:xfrm>
              <a:off x="1812937" y="1252566"/>
              <a:ext cx="1228336" cy="754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Kognitivna interpretacija (misli)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 rot="-514337">
              <a:off x="3294872" y="1303036"/>
              <a:ext cx="499384" cy="316264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FC6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9"/>
            <p:cNvSpPr txBox="1"/>
            <p:nvPr/>
          </p:nvSpPr>
          <p:spPr>
            <a:xfrm rot="-514337">
              <a:off x="3295402" y="1373360"/>
              <a:ext cx="404505" cy="189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1" i="0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3996444" y="896424"/>
              <a:ext cx="1275258" cy="801021"/>
            </a:xfrm>
            <a:prstGeom prst="roundRect">
              <a:avLst>
                <a:gd fmla="val 10000" name="adj"/>
              </a:avLst>
            </a:prstGeom>
            <a:solidFill>
              <a:srgbClr val="FFCE80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4019905" y="919885"/>
              <a:ext cx="1228336" cy="754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Tjelesne reakcije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 rot="822553">
              <a:off x="5293139" y="1305467"/>
              <a:ext cx="48279" cy="316264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FE2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9"/>
            <p:cNvSpPr txBox="1"/>
            <p:nvPr/>
          </p:nvSpPr>
          <p:spPr>
            <a:xfrm rot="822553">
              <a:off x="5293345" y="1367004"/>
              <a:ext cx="33795" cy="189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1" i="0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5360200" y="1229105"/>
              <a:ext cx="1275258" cy="801021"/>
            </a:xfrm>
            <a:prstGeom prst="roundRect">
              <a:avLst>
                <a:gd fmla="val 10000" name="adj"/>
              </a:avLst>
            </a:prstGeom>
            <a:solidFill>
              <a:srgbClr val="FFCE80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9"/>
            <p:cNvSpPr txBox="1"/>
            <p:nvPr/>
          </p:nvSpPr>
          <p:spPr>
            <a:xfrm>
              <a:off x="5383661" y="1252566"/>
              <a:ext cx="1228336" cy="754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Emocija: doživljaj i izražavanje  </a:t>
              </a:r>
              <a:endParaRPr b="1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6762985" y="1471483"/>
              <a:ext cx="270354" cy="316264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FC6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9"/>
            <p:cNvSpPr txBox="1"/>
            <p:nvPr/>
          </p:nvSpPr>
          <p:spPr>
            <a:xfrm>
              <a:off x="6762985" y="1534736"/>
              <a:ext cx="189248" cy="189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1" i="0" sz="1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7145563" y="1229105"/>
              <a:ext cx="1275258" cy="801021"/>
            </a:xfrm>
            <a:prstGeom prst="roundRect">
              <a:avLst>
                <a:gd fmla="val 10000" name="adj"/>
              </a:avLst>
            </a:prstGeom>
            <a:solidFill>
              <a:srgbClr val="FFB7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9"/>
            <p:cNvSpPr txBox="1"/>
            <p:nvPr/>
          </p:nvSpPr>
          <p:spPr>
            <a:xfrm>
              <a:off x="7169024" y="1252566"/>
              <a:ext cx="1228336" cy="754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Ponašanje</a:t>
              </a:r>
              <a:endParaRPr b="1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Primjer – utjecaj procjene događaja na emociju</a:t>
            </a:r>
            <a:endParaRPr/>
          </a:p>
        </p:txBody>
      </p:sp>
      <p:pic>
        <p:nvPicPr>
          <p:cNvPr id="316" name="Google Shape;316;p20"/>
          <p:cNvPicPr preferRelativeResize="0"/>
          <p:nvPr/>
        </p:nvPicPr>
        <p:blipFill rotWithShape="1">
          <a:blip r:embed="rId3">
            <a:alphaModFix/>
          </a:blip>
          <a:srcRect b="32966" l="0" r="0" t="31670"/>
          <a:stretch/>
        </p:blipFill>
        <p:spPr>
          <a:xfrm>
            <a:off x="398475" y="2769300"/>
            <a:ext cx="8504223" cy="159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5" y="2852737"/>
            <a:ext cx="8570913" cy="451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138" y="-360975"/>
            <a:ext cx="8454900" cy="50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307282" y="1022350"/>
            <a:ext cx="532209" cy="2095501"/>
          </a:xfrm>
          <a:custGeom>
            <a:rect b="b" l="l" r="r" t="t"/>
            <a:pathLst>
              <a:path extrusionOk="0" h="1363" w="447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E4E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07282" y="837744"/>
            <a:ext cx="302419" cy="1705431"/>
          </a:xfrm>
          <a:custGeom>
            <a:rect b="b" l="l" r="r" t="t"/>
            <a:pathLst>
              <a:path extrusionOk="0" h="1109" w="254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483495" y="640894"/>
            <a:ext cx="126206" cy="1713195"/>
          </a:xfrm>
          <a:custGeom>
            <a:rect b="b" l="l" r="r" t="t"/>
            <a:pathLst>
              <a:path extrusionOk="0" h="1114" w="106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E4E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8417402" y="635716"/>
            <a:ext cx="246459" cy="1742360"/>
          </a:xfrm>
          <a:custGeom>
            <a:rect b="b" l="l" r="r" t="t"/>
            <a:pathLst>
              <a:path extrusionOk="0" h="1114" w="207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E4E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483041" y="635715"/>
            <a:ext cx="8180897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 txBox="1"/>
          <p:nvPr>
            <p:ph type="title"/>
          </p:nvPr>
        </p:nvSpPr>
        <p:spPr>
          <a:xfrm>
            <a:off x="718879" y="800392"/>
            <a:ext cx="7698523" cy="121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lang="en-US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KOGNITIVNA INTERPRETACIJA/PROCJENA/TUMAČENJE DOGAĐAJA</a:t>
            </a:r>
            <a:endParaRPr/>
          </a:p>
        </p:txBody>
      </p:sp>
      <p:sp>
        <p:nvSpPr>
          <p:cNvPr id="330" name="Google Shape;330;p21"/>
          <p:cNvSpPr txBox="1"/>
          <p:nvPr>
            <p:ph idx="1" type="body"/>
          </p:nvPr>
        </p:nvSpPr>
        <p:spPr>
          <a:xfrm>
            <a:off x="1146772" y="2490436"/>
            <a:ext cx="7160691" cy="4106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 njoj ovisi </a:t>
            </a:r>
            <a:r>
              <a:rPr b="1" lang="en-US" sz="2400"/>
              <a:t>hoćemo</a:t>
            </a:r>
            <a:r>
              <a:rPr lang="en-US" sz="2400"/>
              <a:t> li doživjeti neku emociju ili ne te </a:t>
            </a:r>
            <a:r>
              <a:rPr b="1" lang="en-US" sz="2400"/>
              <a:t>koj</a:t>
            </a:r>
            <a:r>
              <a:rPr lang="en-US" sz="2400"/>
              <a:t>u </a:t>
            </a:r>
            <a:r>
              <a:rPr b="1" lang="en-US" sz="2400"/>
              <a:t>emociju</a:t>
            </a:r>
            <a:r>
              <a:rPr lang="en-US" sz="2400"/>
              <a:t> ćemo doživjeti</a:t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Više ljudi može </a:t>
            </a:r>
            <a:r>
              <a:rPr b="1" lang="en-US" sz="2400"/>
              <a:t>različito procijeniti</a:t>
            </a:r>
            <a:r>
              <a:rPr lang="en-US" sz="2400"/>
              <a:t> jedan te isti događaj, situaciju</a:t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Zašto?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 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Razlog: razlikujemo se po svojim iskustvima, osobinama, interesima, ciljevima…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TJELESNE PROMJENE KOD EMOCIJA</a:t>
            </a:r>
            <a:endParaRPr/>
          </a:p>
        </p:txBody>
      </p:sp>
      <p:sp>
        <p:nvSpPr>
          <p:cNvPr id="336" name="Google Shape;336;p22"/>
          <p:cNvSpPr txBox="1"/>
          <p:nvPr>
            <p:ph idx="1" type="body"/>
          </p:nvPr>
        </p:nvSpPr>
        <p:spPr>
          <a:xfrm>
            <a:off x="628650" y="1412776"/>
            <a:ext cx="7886700" cy="476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Kakvi su tjelesni znakovi intenzivnih emocija?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Povezani s aktivacijom </a:t>
            </a:r>
            <a:r>
              <a:rPr b="1" lang="en-US" sz="2400"/>
              <a:t>simpatičkog </a:t>
            </a:r>
            <a:r>
              <a:rPr lang="en-US" sz="2400"/>
              <a:t>dijela živčanog sustava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Čemu nam služe te jake tjelesne reakcije?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Daju energiju kao priprema za borbu ili bijeg u opasnim situacijama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</p:txBody>
      </p:sp>
      <p:pic>
        <p:nvPicPr>
          <p:cNvPr descr="How the Fight-or-Flight Response Works" id="337" name="Google Shape;3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1219" y="3748819"/>
            <a:ext cx="3923929" cy="261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b="1" lang="en-US">
                <a:solidFill>
                  <a:srgbClr val="FFFFFF"/>
                </a:solidFill>
              </a:rPr>
              <a:t>Tjelesne promjene kod emocija 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45" name="Google Shape;345;p23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 txBox="1"/>
          <p:nvPr>
            <p:ph idx="1" type="body"/>
          </p:nvPr>
        </p:nvSpPr>
        <p:spPr>
          <a:xfrm>
            <a:off x="3335475" y="591350"/>
            <a:ext cx="5179800" cy="59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Najčešće su: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		- ubrzani rad srca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		- ubrzano disanje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		- povišeni krvni tlak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		- pojačano znojenje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		- proširene zjenice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		- pojačan dotok krvi u mišiće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		- pojačano lučenje hormona adrenalina iz nadbubrežne žlij.</a:t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Posljedica su pojačanog rada </a:t>
            </a:r>
            <a:r>
              <a:rPr b="1" lang="en-US" sz="2400"/>
              <a:t>SIMPATIKUSA</a:t>
            </a:r>
            <a:endParaRPr b="1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Osiguravaju dodatnu energiju koja nam je potrebna za reakciju (npr. za bijeg…)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>
            <p:ph type="title"/>
          </p:nvPr>
        </p:nvSpPr>
        <p:spPr>
          <a:xfrm>
            <a:off x="628650" y="25644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TJELESNE PROMJENE KOD EMOCIJA</a:t>
            </a:r>
            <a:endParaRPr/>
          </a:p>
        </p:txBody>
      </p:sp>
      <p:pic>
        <p:nvPicPr>
          <p:cNvPr descr="Autonomic Control | BioNinja" id="352" name="Google Shape;3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556792"/>
            <a:ext cx="788670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TJELESNE PROMJENE KOD EMOCIJA</a:t>
            </a:r>
            <a:endParaRPr/>
          </a:p>
        </p:txBody>
      </p:sp>
      <p:pic>
        <p:nvPicPr>
          <p:cNvPr id="358" name="Google Shape;358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719" y="1646536"/>
            <a:ext cx="5056562" cy="4550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IZRAŽAVANJE EMOCIJA</a:t>
            </a:r>
            <a:endParaRPr/>
          </a:p>
        </p:txBody>
      </p:sp>
      <p:sp>
        <p:nvSpPr>
          <p:cNvPr id="364" name="Google Shape;364;p26"/>
          <p:cNvSpPr txBox="1"/>
          <p:nvPr>
            <p:ph idx="1" type="body"/>
          </p:nvPr>
        </p:nvSpPr>
        <p:spPr>
          <a:xfrm>
            <a:off x="477662" y="162880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Koje je emocije lakše, a koje teže izraziti? </a:t>
            </a:r>
            <a:endParaRPr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Physical Responses to Human Emotions" id="365" name="Google Shape;3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638" y="2204864"/>
            <a:ext cx="773571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IZRAŽAVANJE EMOCIJA</a:t>
            </a:r>
            <a:endParaRPr/>
          </a:p>
        </p:txBody>
      </p:sp>
      <p:sp>
        <p:nvSpPr>
          <p:cNvPr id="371" name="Google Shape;371;p27"/>
          <p:cNvSpPr txBox="1"/>
          <p:nvPr>
            <p:ph idx="1" type="body"/>
          </p:nvPr>
        </p:nvSpPr>
        <p:spPr>
          <a:xfrm>
            <a:off x="467544" y="162880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Vanjski </a:t>
            </a:r>
            <a:r>
              <a:rPr lang="en-US" sz="2600"/>
              <a:t>odraz emocija – komunikacijska uloga emocija</a:t>
            </a:r>
            <a:endParaRPr sz="2600"/>
          </a:p>
          <a:p>
            <a:pPr indent="-63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Verbalna komunikacija -</a:t>
            </a:r>
            <a:r>
              <a:rPr lang="en-US" sz="2600"/>
              <a:t> riječima opišemo emociju</a:t>
            </a:r>
            <a:br>
              <a:rPr lang="en-US" sz="2600"/>
            </a:br>
            <a:endParaRPr sz="26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Neverbalna komunikacija - </a:t>
            </a:r>
            <a:r>
              <a:rPr lang="en-US" sz="2300"/>
              <a:t>geste,  izrazi lica, pokreti tijela </a:t>
            </a:r>
            <a:br>
              <a:rPr lang="en-US" sz="2300"/>
            </a:b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Paraverbalna komunikacija </a:t>
            </a:r>
            <a:r>
              <a:rPr lang="en-US"/>
              <a:t>- </a:t>
            </a:r>
            <a:r>
              <a:rPr lang="en-US" sz="2300"/>
              <a:t>ton glasa, brzina govora, jačina glasa, stanke, naglašavanje</a:t>
            </a:r>
            <a:endParaRPr sz="2300"/>
          </a:p>
          <a:p>
            <a:pPr indent="-44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1button.co/uploads/1370097681.png" id="372" name="Google Shape;3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200" y="5182770"/>
            <a:ext cx="5331599" cy="189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IZRAŽAVANJE EMOCIJA</a:t>
            </a:r>
            <a:endParaRPr/>
          </a:p>
        </p:txBody>
      </p:sp>
      <p:sp>
        <p:nvSpPr>
          <p:cNvPr id="378" name="Google Shape;378;p28"/>
          <p:cNvSpPr txBox="1"/>
          <p:nvPr>
            <p:ph idx="1" type="body"/>
          </p:nvPr>
        </p:nvSpPr>
        <p:spPr>
          <a:xfrm>
            <a:off x="395288" y="1557338"/>
            <a:ext cx="7886700" cy="493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OSNOVNE EMOCIJE - ljudi u cijelom svijetu izražavaju vrlo slično, sličnim izrazom lica (urođeno)</a:t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1" lang="en-US" sz="2400"/>
              <a:t>ZATO: možemo prepoznati osnovne emocije kod drugih ljudi, ali složene teško prepoznajemo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Izražavanje emocija jako </a:t>
            </a:r>
            <a:r>
              <a:rPr b="1" lang="en-US" sz="2400"/>
              <a:t>ovisi o kulturi </a:t>
            </a:r>
            <a:r>
              <a:rPr lang="en-US" sz="2400"/>
              <a:t>u kojoj se nalazimo</a:t>
            </a:r>
            <a:endParaRPr sz="1800"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1" i="1" sz="1800">
              <a:latin typeface="Arial"/>
              <a:ea typeface="Arial"/>
              <a:cs typeface="Arial"/>
              <a:sym typeface="Arial"/>
            </a:endParaRPr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1" i="1" sz="1800">
              <a:latin typeface="Arial"/>
              <a:ea typeface="Arial"/>
              <a:cs typeface="Arial"/>
              <a:sym typeface="Arial"/>
            </a:endParaRPr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5 Hand Gestures That Have Different Meanings Overseas" id="379" name="Google Shape;37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848" y="4149080"/>
            <a:ext cx="3096344" cy="2628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/>
          <p:nvPr/>
        </p:nvSpPr>
        <p:spPr>
          <a:xfrm>
            <a:off x="0" y="0"/>
            <a:ext cx="914171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9"/>
          <p:cNvSpPr txBox="1"/>
          <p:nvPr>
            <p:ph type="title"/>
          </p:nvPr>
        </p:nvSpPr>
        <p:spPr>
          <a:xfrm>
            <a:off x="628650" y="365125"/>
            <a:ext cx="7886700" cy="1306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KAKO NAM EMOCIJE POMAŽU U PRILAGODBI? </a:t>
            </a:r>
            <a:endParaRPr sz="3500"/>
          </a:p>
        </p:txBody>
      </p:sp>
      <p:sp>
        <p:nvSpPr>
          <p:cNvPr id="386" name="Google Shape;386;p29"/>
          <p:cNvSpPr txBox="1"/>
          <p:nvPr>
            <p:ph idx="1" type="body"/>
          </p:nvPr>
        </p:nvSpPr>
        <p:spPr>
          <a:xfrm>
            <a:off x="342329" y="1671568"/>
            <a:ext cx="4960432" cy="4821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Emocija – pokretačka snaga – vode nas prema ugodi, i ka izbjegavanju neugode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Emocionalno rasterećenje </a:t>
            </a:r>
            <a:r>
              <a:rPr lang="en-US" sz="2400"/>
              <a:t>– višak energije koju nam daju emocije </a:t>
            </a:r>
            <a:r>
              <a:rPr b="1" lang="en-US" sz="2400"/>
              <a:t>mora se utrošiti – problem u suvremenom svijetu? </a:t>
            </a:r>
            <a:endParaRPr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Važno</a:t>
            </a:r>
            <a:r>
              <a:rPr lang="en-US" sz="2400"/>
              <a:t> – naučiti se nositi s neugodnim emocijama, pružiti si suosjećanje i dati im prostor da postoje i budu s nama bez da nužno upravljaju našim odlukama</a:t>
            </a:r>
            <a:endParaRPr sz="2400"/>
          </a:p>
        </p:txBody>
      </p:sp>
      <p:pic>
        <p:nvPicPr>
          <p:cNvPr descr="Brain Can Be Trained in Compassion, Study Shows – Association for  Psychological Science – APS" id="387" name="Google Shape;387;p29"/>
          <p:cNvPicPr preferRelativeResize="0"/>
          <p:nvPr/>
        </p:nvPicPr>
        <p:blipFill rotWithShape="1">
          <a:blip r:embed="rId3">
            <a:alphaModFix/>
          </a:blip>
          <a:srcRect b="0" l="18091" r="6602" t="0"/>
          <a:stretch/>
        </p:blipFill>
        <p:spPr>
          <a:xfrm>
            <a:off x="5302761" y="2440744"/>
            <a:ext cx="3838952" cy="3504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418656" y="0"/>
            <a:ext cx="8375586" cy="201880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1E1E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0"/>
          <p:cNvSpPr txBox="1"/>
          <p:nvPr>
            <p:ph type="title"/>
          </p:nvPr>
        </p:nvSpPr>
        <p:spPr>
          <a:xfrm>
            <a:off x="836676" y="548640"/>
            <a:ext cx="7626096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POVEZANOST EMOCIJA I DRUGIH PSIHIČKIH PROCESA</a:t>
            </a:r>
            <a:endParaRPr sz="3500"/>
          </a:p>
        </p:txBody>
      </p:sp>
      <p:sp>
        <p:nvSpPr>
          <p:cNvPr id="396" name="Google Shape;396;p30"/>
          <p:cNvSpPr/>
          <p:nvPr/>
        </p:nvSpPr>
        <p:spPr>
          <a:xfrm>
            <a:off x="374125" y="77079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w Do My Thoughts Impact My Life? - Charis Counseling Center" id="397" name="Google Shape;397;p30"/>
          <p:cNvPicPr preferRelativeResize="0"/>
          <p:nvPr/>
        </p:nvPicPr>
        <p:blipFill rotWithShape="1">
          <a:blip r:embed="rId3">
            <a:alphaModFix/>
          </a:blip>
          <a:srcRect b="-1" l="0" r="3852" t="0"/>
          <a:stretch/>
        </p:blipFill>
        <p:spPr>
          <a:xfrm>
            <a:off x="321457" y="2332008"/>
            <a:ext cx="4507391" cy="369417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/>
          <p:cNvSpPr txBox="1"/>
          <p:nvPr>
            <p:ph idx="1" type="body"/>
          </p:nvPr>
        </p:nvSpPr>
        <p:spPr>
          <a:xfrm>
            <a:off x="5150305" y="2106822"/>
            <a:ext cx="3886192" cy="4892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Kako su emocije povezane s učenjem, percepcijom i pamćenjem i ponašanjem?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Nalaze se u stalnom </a:t>
            </a:r>
            <a:r>
              <a:rPr b="1" lang="en-US" sz="2000"/>
              <a:t>međudjelovanju: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Emocije utječu na ponašanje </a:t>
            </a:r>
            <a:r>
              <a:rPr lang="en-US" sz="2000"/>
              <a:t>(npr. volimo životinje pa ih proučavamo i štitimo)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Ponašanje utječe na emocije </a:t>
            </a:r>
            <a:r>
              <a:rPr lang="en-US" sz="2000"/>
              <a:t>(npr. kontroliramo se i ne kažemo nešto grubo u svađi pa smo poslije ponosni na sebe)</a:t>
            </a:r>
            <a:endParaRPr/>
          </a:p>
          <a:p>
            <a:pPr indent="-698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399" name="Google Shape;399;p30"/>
          <p:cNvSpPr txBox="1"/>
          <p:nvPr/>
        </p:nvSpPr>
        <p:spPr>
          <a:xfrm>
            <a:off x="540623" y="6139973"/>
            <a:ext cx="4069057" cy="5259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Što od ovoga možemo svjesno kontrolirati?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 txBox="1"/>
          <p:nvPr>
            <p:ph type="title"/>
          </p:nvPr>
        </p:nvSpPr>
        <p:spPr>
          <a:xfrm>
            <a:off x="395536" y="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MITOVI O EMOCIJAMA – VAŽNO! </a:t>
            </a:r>
            <a:endParaRPr/>
          </a:p>
        </p:txBody>
      </p:sp>
      <p:sp>
        <p:nvSpPr>
          <p:cNvPr id="405" name="Google Shape;405;p32"/>
          <p:cNvSpPr txBox="1"/>
          <p:nvPr>
            <p:ph idx="1" type="body"/>
          </p:nvPr>
        </p:nvSpPr>
        <p:spPr>
          <a:xfrm>
            <a:off x="395536" y="1124744"/>
            <a:ext cx="849694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Jesu li emocije uvijek izazvane neposrednim događajima?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Sjećanja, predviđanja, zamišljanja </a:t>
            </a:r>
            <a:r>
              <a:rPr lang="en-US" sz="2000"/>
              <a:t>– također proizvode intenzivne emocije </a:t>
            </a:r>
            <a:endParaRPr/>
          </a:p>
          <a:p>
            <a:pPr indent="-44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Je li uvijek potrebna kognitivna interpretacija da bismo doživjeli emocije?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Ne, neke </a:t>
            </a:r>
            <a:r>
              <a:rPr b="1" lang="en-US" sz="2000"/>
              <a:t>jednostavne reakcije događaju se bez interpretacije </a:t>
            </a:r>
            <a:r>
              <a:rPr lang="en-US" sz="2000"/>
              <a:t>(nagli zvukovi, kukac vam padne na glavu...)</a:t>
            </a:r>
            <a:endParaRPr/>
          </a:p>
          <a:p>
            <a:pPr indent="-44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“Emocije su znak slabosti, trebamo se voditi razumom”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Emocije su normalni psihički procesi</a:t>
            </a:r>
            <a:r>
              <a:rPr lang="en-US" sz="2000"/>
              <a:t>, svi ih imamo, bez njih ne možemo preživjeti. Imamo kontrolu nad ponašanjem, nad emocijama ne. </a:t>
            </a:r>
            <a:br>
              <a:rPr lang="en-US" sz="2000"/>
            </a:b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“Žene su emocionalne, muškarci racionalni”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Toksični </a:t>
            </a:r>
            <a:r>
              <a:rPr b="1" lang="en-US" sz="2000"/>
              <a:t>stereotip koji šteti svima</a:t>
            </a:r>
            <a:r>
              <a:rPr lang="en-US" sz="2000"/>
              <a:t>. Razlikujemo se po tome kako ih izražvamo što je pod utjecajem kulture u kojoj odrastamo. Stereotip “Dečki ne plaču” proizvodi zdravstvene i psihičke probleme kod mušaraca te otežava funkcioniranje u međuljudskim odnosima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sustav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sustav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sustav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2021-02-02T11:55:30Z</dcterms:created>
  <dc:creator>Lejla Talić</dc:creator>
</cp:coreProperties>
</file>