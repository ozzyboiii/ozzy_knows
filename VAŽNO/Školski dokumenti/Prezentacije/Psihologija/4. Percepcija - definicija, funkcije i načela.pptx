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iTg4W/GdLzAWiUumjU1bt9E/Ez8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Čovjek je okružen s mnoštvo podražaja. Kako bi na njih mogao primjereno reagirati mora ih opaziti tj. percipirati.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0" name="Google Shape;27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9" name="Google Shape;279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Paosjet je osjet koji ostaje i nakon uklanjanja podražaja, a osobito je izražen u vidnom području.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6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gif"/><Relationship Id="rId4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8.jpg"/><Relationship Id="rId5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Relationship Id="rId4" Type="http://schemas.openxmlformats.org/officeDocument/2006/relationships/image" Target="../media/image27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www.youtube.com/watch?v=YismwdgMIRc" TargetMode="External"/><Relationship Id="rId4" Type="http://schemas.openxmlformats.org/officeDocument/2006/relationships/image" Target="../media/image20.jpg"/><Relationship Id="rId5" Type="http://schemas.openxmlformats.org/officeDocument/2006/relationships/image" Target="../media/image3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8.jpg"/><Relationship Id="rId4" Type="http://schemas.openxmlformats.org/officeDocument/2006/relationships/image" Target="../media/image25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240030" y="4892040"/>
            <a:ext cx="8661654" cy="16459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>
            <p:ph type="ctrTitle"/>
          </p:nvPr>
        </p:nvSpPr>
        <p:spPr>
          <a:xfrm>
            <a:off x="539014" y="5091762"/>
            <a:ext cx="5613590" cy="1264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lang="en-US" sz="4200">
                <a:solidFill>
                  <a:srgbClr val="FFFFFF"/>
                </a:solidFill>
              </a:rPr>
              <a:t>PERCEPCIJA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13357" l="0" r="-1" t="6768"/>
          <a:stretch/>
        </p:blipFill>
        <p:spPr>
          <a:xfrm>
            <a:off x="240030" y="320040"/>
            <a:ext cx="8661654" cy="446227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" name="Google Shape;91;p1"/>
          <p:cNvCxnSpPr/>
          <p:nvPr/>
        </p:nvCxnSpPr>
        <p:spPr>
          <a:xfrm rot="10800000">
            <a:off x="6290132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FFFFFF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486696" y="4675886"/>
            <a:ext cx="2763774" cy="1608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Calibri"/>
              <a:buNone/>
            </a:pPr>
            <a:r>
              <a:rPr lang="en-US" sz="3100"/>
              <a:t>Kako opažamo svijet oko sebe?</a:t>
            </a:r>
            <a:endParaRPr/>
          </a:p>
        </p:txBody>
      </p:sp>
      <p:sp>
        <p:nvSpPr>
          <p:cNvPr id="97" name="Google Shape;97;p2"/>
          <p:cNvSpPr/>
          <p:nvPr/>
        </p:nvSpPr>
        <p:spPr>
          <a:xfrm>
            <a:off x="-1" y="1"/>
            <a:ext cx="9144001" cy="4489449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544667" y="640091"/>
            <a:ext cx="6054666" cy="3550909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C8CACA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t" dir="5400000" dist="19050">
              <a:srgbClr val="000000">
                <a:alpha val="6235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9" name="Google Shape;99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6888" l="0" r="0" t="7491"/>
          <a:stretch/>
        </p:blipFill>
        <p:spPr>
          <a:xfrm>
            <a:off x="1638300" y="749300"/>
            <a:ext cx="5867400" cy="334304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2"/>
          <p:cNvSpPr txBox="1"/>
          <p:nvPr/>
        </p:nvSpPr>
        <p:spPr>
          <a:xfrm>
            <a:off x="3648075" y="4675886"/>
            <a:ext cx="5006720" cy="1605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Što je to mekano, bijelo, toplo, lagano?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0" y="0"/>
            <a:ext cx="3125454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515125" y="1153572"/>
            <a:ext cx="24003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lang="en-US">
                <a:solidFill>
                  <a:srgbClr val="FFFFFF"/>
                </a:solidFill>
              </a:rPr>
              <a:t>Kako opažamo svijet oko sebe?</a:t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 flipH="1" rot="10800000">
            <a:off x="5662801" y="2455479"/>
            <a:ext cx="3062575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3335481" y="591344"/>
            <a:ext cx="5179868" cy="59475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Što su to osjeti?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Doživljaji</a:t>
            </a:r>
            <a:r>
              <a:rPr lang="en-US"/>
              <a:t> koji nastaju kao posljedica djelovanja </a:t>
            </a:r>
            <a:r>
              <a:rPr b="1" lang="en-US"/>
              <a:t>podražaja</a:t>
            </a:r>
            <a:r>
              <a:rPr lang="en-US"/>
              <a:t> na naše </a:t>
            </a:r>
            <a:r>
              <a:rPr b="1" lang="en-US"/>
              <a:t>osjetne organe.</a:t>
            </a:r>
            <a:endParaRPr b="1"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Gotovo nikad izolirani!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Koja osjetila imamo?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Osjetilo vida, sluha, okusa, mirisa, dodira, osjetilo za ravnotežu i kinestetičke osjete. 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osjetne organe?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Osjetni sustavi</a:t>
            </a:r>
            <a:endParaRPr/>
          </a:p>
        </p:txBody>
      </p:sp>
      <p:pic>
        <p:nvPicPr>
          <p:cNvPr id="117" name="Google Shape;117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871" l="11172" r="43371" t="37039"/>
          <a:stretch/>
        </p:blipFill>
        <p:spPr>
          <a:xfrm>
            <a:off x="821020" y="1752600"/>
            <a:ext cx="7900416" cy="411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Osjetni sustav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Svaki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osjetni sustav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sastoji se od tri dijela: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osjetila, senzornog živca i senzornog dijela mozga </a:t>
            </a:r>
            <a:r>
              <a:rPr lang="en-US">
                <a:latin typeface="Calibri"/>
                <a:ea typeface="Calibri"/>
                <a:cs typeface="Calibri"/>
                <a:sym typeface="Calibri"/>
              </a:rPr>
              <a:t>u kojem nastaje osjetni doživljaj.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24" name="Google Shape;12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7000" y="3234499"/>
            <a:ext cx="3848100" cy="3604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 txBox="1"/>
          <p:nvPr>
            <p:ph type="title"/>
          </p:nvPr>
        </p:nvSpPr>
        <p:spPr>
          <a:xfrm>
            <a:off x="595246" y="386930"/>
            <a:ext cx="754959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200"/>
              <a:t>Percepcija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 rot="10800000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595245" y="2599509"/>
            <a:ext cx="3398174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Proces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kojim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integriramo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podatke iz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više osjetnih sustava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i dajemo im </a:t>
            </a:r>
            <a:r>
              <a:rPr b="1" lang="en-US" sz="2400">
                <a:latin typeface="Calibri"/>
                <a:ea typeface="Calibri"/>
                <a:cs typeface="Calibri"/>
                <a:sym typeface="Calibri"/>
              </a:rPr>
              <a:t>značenje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ackground pattern&#10;&#10;Description automatically generated" id="134" name="Google Shape;134;p6"/>
          <p:cNvPicPr preferRelativeResize="0"/>
          <p:nvPr/>
        </p:nvPicPr>
        <p:blipFill rotWithShape="1">
          <a:blip r:embed="rId3">
            <a:alphaModFix/>
          </a:blip>
          <a:srcRect b="2" l="12707" r="9294" t="0"/>
          <a:stretch/>
        </p:blipFill>
        <p:spPr>
          <a:xfrm>
            <a:off x="4433649" y="2484255"/>
            <a:ext cx="3862707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6"/>
          <p:cNvSpPr/>
          <p:nvPr/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/>
          <p:nvPr>
            <p:ph type="title"/>
          </p:nvPr>
        </p:nvSpPr>
        <p:spPr>
          <a:xfrm>
            <a:off x="442170" y="856180"/>
            <a:ext cx="3420438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Percepcija</a:t>
            </a: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43" name="Google Shape;143;p7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7"/>
          <p:cNvSpPr/>
          <p:nvPr/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443039" y="2330505"/>
            <a:ext cx="3821317" cy="397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Psihički proces </a:t>
            </a:r>
            <a:r>
              <a:rPr lang="en-US" sz="2400"/>
              <a:t>kojim se automatski organiziraju, povezuju i tumače osjetne informacije</a:t>
            </a:r>
            <a:endParaRPr sz="2400"/>
          </a:p>
          <a:p>
            <a:pPr indent="-1905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Glavne fukncije: 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/>
              <a:t>prepoznavanje</a:t>
            </a:r>
            <a:r>
              <a:rPr lang="en-US" sz="2400"/>
              <a:t> (što je to) i 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1" lang="en-US" sz="2400"/>
              <a:t>lokalizacija</a:t>
            </a:r>
            <a:r>
              <a:rPr lang="en-US" sz="2400"/>
              <a:t> (gdje je to) </a:t>
            </a:r>
            <a:endParaRPr sz="2400"/>
          </a:p>
        </p:txBody>
      </p:sp>
      <p:sp>
        <p:nvSpPr>
          <p:cNvPr id="147" name="Google Shape;147;p7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7"/>
          <p:cNvPicPr preferRelativeResize="0"/>
          <p:nvPr/>
        </p:nvPicPr>
        <p:blipFill rotWithShape="1">
          <a:blip r:embed="rId3">
            <a:alphaModFix/>
          </a:blip>
          <a:srcRect b="13723" l="0" r="1" t="0"/>
          <a:stretch/>
        </p:blipFill>
        <p:spPr>
          <a:xfrm>
            <a:off x="4483341" y="799352"/>
            <a:ext cx="4069057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Funkcije percepcije</a:t>
            </a:r>
            <a:endParaRPr/>
          </a:p>
        </p:txBody>
      </p:sp>
      <p:sp>
        <p:nvSpPr>
          <p:cNvPr id="155" name="Google Shape;155;p8"/>
          <p:cNvSpPr txBox="1"/>
          <p:nvPr>
            <p:ph idx="1" type="body"/>
          </p:nvPr>
        </p:nvSpPr>
        <p:spPr>
          <a:xfrm>
            <a:off x="666750" y="13830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Glavni zadatak percepcije: </a:t>
            </a:r>
            <a:r>
              <a:rPr b="1" lang="en-US"/>
              <a:t>prepoznati oblik </a:t>
            </a:r>
            <a:r>
              <a:rPr lang="en-US"/>
              <a:t>i </a:t>
            </a:r>
            <a:r>
              <a:rPr b="1" lang="en-US"/>
              <a:t>locirati ga u prostoru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descr="VIEWPOINT USB CUP WARMER WITH USB HUB – Gamma Computers" id="156" name="Google Shape;156;p8"/>
          <p:cNvPicPr preferRelativeResize="0"/>
          <p:nvPr/>
        </p:nvPicPr>
        <p:blipFill rotWithShape="1">
          <a:blip r:embed="rId3">
            <a:alphaModFix/>
          </a:blip>
          <a:srcRect b="45818" l="0" r="0" t="0"/>
          <a:stretch/>
        </p:blipFill>
        <p:spPr>
          <a:xfrm>
            <a:off x="1075749" y="3449782"/>
            <a:ext cx="3420051" cy="1853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VIEWPOINT USB CUP WARMER WITH USB HUB – Gamma Computers" id="157" name="Google Shape;157;p8"/>
          <p:cNvPicPr preferRelativeResize="0"/>
          <p:nvPr/>
        </p:nvPicPr>
        <p:blipFill rotWithShape="1">
          <a:blip r:embed="rId3">
            <a:alphaModFix/>
          </a:blip>
          <a:srcRect b="0" l="0" r="0" t="53576"/>
          <a:stretch/>
        </p:blipFill>
        <p:spPr>
          <a:xfrm>
            <a:off x="4904799" y="3394364"/>
            <a:ext cx="3905250" cy="18129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>
            <p:ph type="title"/>
          </p:nvPr>
        </p:nvSpPr>
        <p:spPr>
          <a:xfrm>
            <a:off x="442170" y="856180"/>
            <a:ext cx="3959556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Funkcije percepcije - prepoznavanje</a:t>
            </a:r>
            <a:endParaRPr sz="3500"/>
          </a:p>
        </p:txBody>
      </p:sp>
      <p:grpSp>
        <p:nvGrpSpPr>
          <p:cNvPr id="164" name="Google Shape;164;p9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65" name="Google Shape;165;p9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9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7" name="Google Shape;167;p9"/>
          <p:cNvSpPr/>
          <p:nvPr/>
        </p:nvSpPr>
        <p:spPr>
          <a:xfrm flipH="1">
            <a:off x="498813" y="2123821"/>
            <a:ext cx="373130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>
            <p:ph idx="1" type="body"/>
          </p:nvPr>
        </p:nvSpPr>
        <p:spPr>
          <a:xfrm>
            <a:off x="443039" y="2330505"/>
            <a:ext cx="3958549" cy="397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/>
              <a:t>Perceptivna konstantnost </a:t>
            </a:r>
            <a:r>
              <a:rPr lang="en-US" sz="2000"/>
              <a:t>je pojava koja se očituje u </a:t>
            </a:r>
            <a:r>
              <a:rPr b="1" lang="en-US" sz="2000"/>
              <a:t>nepromjenjivosti</a:t>
            </a:r>
            <a:r>
              <a:rPr lang="en-US" sz="2000"/>
              <a:t> naše percepcije usprkos velikih promjena u podražajima koji stižu do naših osjetila. </a:t>
            </a:r>
            <a:endParaRPr sz="2000"/>
          </a:p>
          <a:p>
            <a:pPr indent="-215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Ovisi o </a:t>
            </a:r>
            <a:r>
              <a:rPr b="1" lang="en-US" sz="2000"/>
              <a:t>iskustvu</a:t>
            </a:r>
            <a:endParaRPr b="1" sz="2000"/>
          </a:p>
        </p:txBody>
      </p:sp>
      <p:sp>
        <p:nvSpPr>
          <p:cNvPr id="169" name="Google Shape;169;p9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137265" y="357447"/>
            <a:ext cx="3634116" cy="29235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2567" y="1053397"/>
            <a:ext cx="3298075" cy="157574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9"/>
          <p:cNvSpPr/>
          <p:nvPr/>
        </p:nvSpPr>
        <p:spPr>
          <a:xfrm>
            <a:off x="5137265" y="3505479"/>
            <a:ext cx="3634116" cy="29235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2567" y="3835172"/>
            <a:ext cx="3296677" cy="226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Zadatak 1</a:t>
            </a:r>
            <a:endParaRPr/>
          </a:p>
        </p:txBody>
      </p:sp>
      <p:pic>
        <p:nvPicPr>
          <p:cNvPr id="179" name="Google Shape;17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7501" l="84094" r="1698" t="21887"/>
          <a:stretch/>
        </p:blipFill>
        <p:spPr>
          <a:xfrm>
            <a:off x="471055" y="967176"/>
            <a:ext cx="2590800" cy="561618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ilda Swinton: a real life chameleon - 9GAG" id="180" name="Google Shape;18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961" y="1752600"/>
            <a:ext cx="4791268" cy="4743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1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>
            <p:ph type="title"/>
          </p:nvPr>
        </p:nvSpPr>
        <p:spPr>
          <a:xfrm>
            <a:off x="442170" y="856180"/>
            <a:ext cx="3420438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Funkcije percepcije - lokalizacija</a:t>
            </a:r>
            <a:endParaRPr sz="3200"/>
          </a:p>
        </p:txBody>
      </p:sp>
      <p:grpSp>
        <p:nvGrpSpPr>
          <p:cNvPr id="187" name="Google Shape;187;p11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188" name="Google Shape;188;p11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/>
          <p:nvPr/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>
            <p:ph idx="1" type="body"/>
          </p:nvPr>
        </p:nvSpPr>
        <p:spPr>
          <a:xfrm>
            <a:off x="443039" y="2330505"/>
            <a:ext cx="3419569" cy="397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Utvrđivanje gdje se nešto nalazi zahtjeva sposobnost </a:t>
            </a:r>
            <a:r>
              <a:rPr b="1" lang="en-US" sz="2400"/>
              <a:t>razlikovanja predmeta od njegove okoline</a:t>
            </a:r>
            <a:endParaRPr b="1" sz="2400"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sp>
        <p:nvSpPr>
          <p:cNvPr id="192" name="Google Shape;192;p11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Principle of Figure-Ground | Visual Communication Design" id="194" name="Google Shape;194;p11"/>
          <p:cNvPicPr preferRelativeResize="0"/>
          <p:nvPr/>
        </p:nvPicPr>
        <p:blipFill rotWithShape="1">
          <a:blip r:embed="rId3">
            <a:alphaModFix/>
          </a:blip>
          <a:srcRect b="-2" l="5078" r="2261" t="0"/>
          <a:stretch/>
        </p:blipFill>
        <p:spPr>
          <a:xfrm>
            <a:off x="4483341" y="799352"/>
            <a:ext cx="4069057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>
            <p:ph type="title"/>
          </p:nvPr>
        </p:nvSpPr>
        <p:spPr>
          <a:xfrm>
            <a:off x="442170" y="856180"/>
            <a:ext cx="3420438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Funkcije percepcije - lokalizacija</a:t>
            </a:r>
            <a:endParaRPr sz="3200"/>
          </a:p>
        </p:txBody>
      </p:sp>
      <p:grpSp>
        <p:nvGrpSpPr>
          <p:cNvPr id="201" name="Google Shape;201;p12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02" name="Google Shape;202;p12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2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2"/>
          <p:cNvSpPr/>
          <p:nvPr/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 txBox="1"/>
          <p:nvPr>
            <p:ph idx="1" type="body"/>
          </p:nvPr>
        </p:nvSpPr>
        <p:spPr>
          <a:xfrm>
            <a:off x="443039" y="2330505"/>
            <a:ext cx="3747961" cy="39795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Načelo figure i pozadine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Koktel party fenomen</a:t>
            </a:r>
            <a:endParaRPr sz="2400"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Percepcija dubine </a:t>
            </a:r>
            <a:endParaRPr/>
          </a:p>
          <a:p>
            <a:pPr indent="-514350" lvl="0" marL="5143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lang="en-US" sz="2400"/>
              <a:t>Percepcija gibanja </a:t>
            </a:r>
            <a:endParaRPr sz="2400"/>
          </a:p>
        </p:txBody>
      </p:sp>
      <p:sp>
        <p:nvSpPr>
          <p:cNvPr id="206" name="Google Shape;206;p12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/>
          <p:nvPr/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xploring the Gestalt Principles of Design | Toptal" id="208" name="Google Shape;208;p12"/>
          <p:cNvPicPr preferRelativeResize="0"/>
          <p:nvPr/>
        </p:nvPicPr>
        <p:blipFill rotWithShape="1">
          <a:blip r:embed="rId3">
            <a:alphaModFix/>
          </a:blip>
          <a:srcRect b="-1" l="17249" r="27432" t="0"/>
          <a:stretch/>
        </p:blipFill>
        <p:spPr>
          <a:xfrm>
            <a:off x="4483341" y="799352"/>
            <a:ext cx="4069057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 txBox="1"/>
          <p:nvPr>
            <p:ph type="title"/>
          </p:nvPr>
        </p:nvSpPr>
        <p:spPr>
          <a:xfrm>
            <a:off x="442170" y="856180"/>
            <a:ext cx="3959556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US" sz="3500"/>
              <a:t>Funkcije percepcije - lokalizacija</a:t>
            </a:r>
            <a:endParaRPr sz="3500"/>
          </a:p>
        </p:txBody>
      </p:sp>
      <p:grpSp>
        <p:nvGrpSpPr>
          <p:cNvPr id="215" name="Google Shape;215;p13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16" name="Google Shape;216;p13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13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13"/>
          <p:cNvSpPr/>
          <p:nvPr/>
        </p:nvSpPr>
        <p:spPr>
          <a:xfrm flipH="1">
            <a:off x="498813" y="2123821"/>
            <a:ext cx="373130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 txBox="1"/>
          <p:nvPr>
            <p:ph idx="1" type="body"/>
          </p:nvPr>
        </p:nvSpPr>
        <p:spPr>
          <a:xfrm>
            <a:off x="2308" y="2582327"/>
            <a:ext cx="4618470" cy="11749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1) Načelo razlikovanja lika i pozadine</a:t>
            </a:r>
            <a:endParaRPr sz="2800"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sp>
        <p:nvSpPr>
          <p:cNvPr id="220" name="Google Shape;220;p13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5137265" y="357447"/>
            <a:ext cx="3634116" cy="29235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2" name="Google Shape;2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2567" y="802376"/>
            <a:ext cx="3298075" cy="2077787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13"/>
          <p:cNvSpPr/>
          <p:nvPr/>
        </p:nvSpPr>
        <p:spPr>
          <a:xfrm>
            <a:off x="5137265" y="3505479"/>
            <a:ext cx="3634116" cy="292358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3"/>
          <p:cNvPicPr preferRelativeResize="0"/>
          <p:nvPr/>
        </p:nvPicPr>
        <p:blipFill rotWithShape="1">
          <a:blip r:embed="rId4">
            <a:alphaModFix/>
          </a:blip>
          <a:srcRect b="2" l="1792" r="2" t="0"/>
          <a:stretch/>
        </p:blipFill>
        <p:spPr>
          <a:xfrm>
            <a:off x="5324493" y="3677678"/>
            <a:ext cx="3296677" cy="251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3"/>
          <p:cNvPicPr preferRelativeResize="0"/>
          <p:nvPr/>
        </p:nvPicPr>
        <p:blipFill rotWithShape="1">
          <a:blip r:embed="rId5">
            <a:alphaModFix/>
          </a:blip>
          <a:srcRect b="47036" l="10833" r="78332" t="29163"/>
          <a:stretch/>
        </p:blipFill>
        <p:spPr>
          <a:xfrm>
            <a:off x="1143000" y="3429000"/>
            <a:ext cx="2346474" cy="2899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4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 txBox="1"/>
          <p:nvPr>
            <p:ph type="title"/>
          </p:nvPr>
        </p:nvSpPr>
        <p:spPr>
          <a:xfrm>
            <a:off x="442170" y="856180"/>
            <a:ext cx="3420438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Funkcije percepcije - lokalizacija</a:t>
            </a:r>
            <a:endParaRPr sz="3200"/>
          </a:p>
        </p:txBody>
      </p:sp>
      <p:grpSp>
        <p:nvGrpSpPr>
          <p:cNvPr id="232" name="Google Shape;232;p14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33" name="Google Shape;233;p14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4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4"/>
          <p:cNvSpPr/>
          <p:nvPr/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 txBox="1"/>
          <p:nvPr>
            <p:ph idx="1" type="body"/>
          </p:nvPr>
        </p:nvSpPr>
        <p:spPr>
          <a:xfrm>
            <a:off x="443039" y="2330505"/>
            <a:ext cx="3419569" cy="445129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2) Koktel party fenomen – </a:t>
            </a:r>
            <a:br>
              <a:rPr b="1" lang="en-US" sz="2800"/>
            </a:br>
            <a:r>
              <a:rPr b="1" lang="en-US" sz="2800"/>
              <a:t>lokalizacija zvuka  </a:t>
            </a:r>
            <a:endParaRPr b="1" sz="2800"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Okrećemo se za zvukovima koji su nam veoma značajni (nagli glasan zvuk)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Isto tako – okrećemo se i određujemo gdje su zvukovi koji su nama posebno značajni – npr. naše ime u buci i žamoru kao npr. na partiju (znak da mozak cijelo vrijeme sluša i filtrira ono što je bitno za nas) </a:t>
            </a:r>
            <a:endParaRPr sz="1700"/>
          </a:p>
        </p:txBody>
      </p:sp>
      <p:sp>
        <p:nvSpPr>
          <p:cNvPr id="237" name="Google Shape;237;p14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large, group, sitting, display&#10;&#10;Description automatically generated" id="239" name="Google Shape;239;p14"/>
          <p:cNvPicPr preferRelativeResize="0"/>
          <p:nvPr/>
        </p:nvPicPr>
        <p:blipFill rotWithShape="1">
          <a:blip r:embed="rId3">
            <a:alphaModFix/>
          </a:blip>
          <a:srcRect b="0" l="23323" r="18650" t="0"/>
          <a:stretch/>
        </p:blipFill>
        <p:spPr>
          <a:xfrm>
            <a:off x="4483341" y="799352"/>
            <a:ext cx="4069057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5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5"/>
          <p:cNvSpPr txBox="1"/>
          <p:nvPr>
            <p:ph type="title"/>
          </p:nvPr>
        </p:nvSpPr>
        <p:spPr>
          <a:xfrm>
            <a:off x="468576" y="367951"/>
            <a:ext cx="3420438" cy="11280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Funkcije percepcije - lokalizacija</a:t>
            </a:r>
            <a:endParaRPr sz="3200"/>
          </a:p>
        </p:txBody>
      </p:sp>
      <p:grpSp>
        <p:nvGrpSpPr>
          <p:cNvPr id="246" name="Google Shape;246;p15"/>
          <p:cNvGrpSpPr/>
          <p:nvPr/>
        </p:nvGrpSpPr>
        <p:grpSpPr>
          <a:xfrm>
            <a:off x="0" y="1083484"/>
            <a:ext cx="266396" cy="673460"/>
            <a:chOff x="0" y="823811"/>
            <a:chExt cx="355196" cy="673460"/>
          </a:xfrm>
        </p:grpSpPr>
        <p:sp>
          <p:nvSpPr>
            <p:cNvPr id="247" name="Google Shape;247;p15"/>
            <p:cNvSpPr/>
            <p:nvPr/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5"/>
            <p:cNvSpPr/>
            <p:nvPr/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p15"/>
          <p:cNvSpPr/>
          <p:nvPr/>
        </p:nvSpPr>
        <p:spPr>
          <a:xfrm flipH="1">
            <a:off x="498813" y="2090569"/>
            <a:ext cx="32232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 txBox="1"/>
          <p:nvPr>
            <p:ph idx="1" type="body"/>
          </p:nvPr>
        </p:nvSpPr>
        <p:spPr>
          <a:xfrm>
            <a:off x="119505" y="2179034"/>
            <a:ext cx="4258156" cy="4423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3) Percepcija dubine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Slika koja se pri gledanju projicira na našoj mrežnici nije trodimenzionalna nego </a:t>
            </a:r>
            <a:r>
              <a:rPr b="1" lang="en-US" sz="2400"/>
              <a:t>dvodimenzionalna.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Znakovi koji nam omogućuju percepciju dubine su </a:t>
            </a:r>
            <a:r>
              <a:rPr b="1" lang="en-US" sz="2400"/>
              <a:t>binokularni (nužna oba oka) </a:t>
            </a:r>
            <a:r>
              <a:rPr lang="en-US" sz="2400"/>
              <a:t>i</a:t>
            </a:r>
            <a:r>
              <a:rPr b="1" lang="en-US" sz="2400"/>
              <a:t> monokularni (dovoljno jedno oko)</a:t>
            </a:r>
            <a:endParaRPr/>
          </a:p>
        </p:txBody>
      </p:sp>
      <p:sp>
        <p:nvSpPr>
          <p:cNvPr id="251" name="Google Shape;251;p15"/>
          <p:cNvSpPr/>
          <p:nvPr/>
        </p:nvSpPr>
        <p:spPr>
          <a:xfrm flipH="1">
            <a:off x="8023252" y="0"/>
            <a:ext cx="112074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4264357" y="513853"/>
            <a:ext cx="4507025" cy="583457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epth Perception, What Exactly is It? | Zenni Optical" id="253" name="Google Shape;253;p15"/>
          <p:cNvPicPr preferRelativeResize="0"/>
          <p:nvPr/>
        </p:nvPicPr>
        <p:blipFill rotWithShape="1">
          <a:blip r:embed="rId3">
            <a:alphaModFix/>
          </a:blip>
          <a:srcRect b="-2" l="2735" r="19893" t="0"/>
          <a:stretch/>
        </p:blipFill>
        <p:spPr>
          <a:xfrm>
            <a:off x="4483341" y="799352"/>
            <a:ext cx="4069057" cy="5259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Funkcije percepcije - lokalizacija</a:t>
            </a:r>
            <a:endParaRPr/>
          </a:p>
        </p:txBody>
      </p:sp>
      <p:sp>
        <p:nvSpPr>
          <p:cNvPr id="259" name="Google Shape;259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3) Percepcija dubine</a:t>
            </a:r>
            <a:endParaRPr b="1"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Binokularni znakovi dubine:</a:t>
            </a:r>
            <a:endParaRPr b="1"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različitost slika na mrežnici </a:t>
            </a:r>
            <a:r>
              <a:rPr lang="en-US"/>
              <a:t>lijevog i desnog oka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/>
              <a:t>konvergencija očiju </a:t>
            </a:r>
            <a:r>
              <a:rPr lang="en-US"/>
              <a:t>– pokretanje očiju prema unutra kada promatramo neki objekt (što je predmet bliži očima taj će pokret biti veći) </a:t>
            </a:r>
            <a:endParaRPr/>
          </a:p>
        </p:txBody>
      </p:sp>
      <p:pic>
        <p:nvPicPr>
          <p:cNvPr id="260" name="Google Shape;26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2200" y="4648200"/>
            <a:ext cx="3962400" cy="19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Zadatak 2</a:t>
            </a:r>
            <a:endParaRPr/>
          </a:p>
        </p:txBody>
      </p:sp>
      <p:pic>
        <p:nvPicPr>
          <p:cNvPr id="266" name="Google Shape;266;p1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9288" l="52841" r="15907" t="53876"/>
          <a:stretch/>
        </p:blipFill>
        <p:spPr>
          <a:xfrm>
            <a:off x="762000" y="1085272"/>
            <a:ext cx="7010400" cy="2124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7"/>
          <p:cNvPicPr preferRelativeResize="0"/>
          <p:nvPr/>
        </p:nvPicPr>
        <p:blipFill rotWithShape="1">
          <a:blip r:embed="rId4">
            <a:alphaModFix/>
          </a:blip>
          <a:srcRect b="45030" l="7500" r="60000" t="28301"/>
          <a:stretch/>
        </p:blipFill>
        <p:spPr>
          <a:xfrm>
            <a:off x="838200" y="3192318"/>
            <a:ext cx="6858000" cy="3165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"/>
          <p:cNvSpPr txBox="1"/>
          <p:nvPr>
            <p:ph type="title"/>
          </p:nvPr>
        </p:nvSpPr>
        <p:spPr>
          <a:xfrm>
            <a:off x="228600" y="7028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Funkcije percepcije – lokalizacija: Percepcija dubine</a:t>
            </a:r>
            <a:endParaRPr/>
          </a:p>
        </p:txBody>
      </p:sp>
      <p:sp>
        <p:nvSpPr>
          <p:cNvPr id="273" name="Google Shape;273;p18"/>
          <p:cNvSpPr txBox="1"/>
          <p:nvPr>
            <p:ph idx="1" type="body"/>
          </p:nvPr>
        </p:nvSpPr>
        <p:spPr>
          <a:xfrm>
            <a:off x="266700" y="1394617"/>
            <a:ext cx="86487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3) Percepcija dubine</a:t>
            </a:r>
            <a:endParaRPr b="1" sz="2800"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Monokularni znakovi</a:t>
            </a:r>
            <a:r>
              <a:rPr lang="en-US" sz="2800"/>
              <a:t>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/>
              <a:t>relativna veličina </a:t>
            </a:r>
            <a:r>
              <a:rPr lang="en-US" sz="2400"/>
              <a:t>– manje objekte opažamo kao da su udaljeniji (iskustvom znamo koliko su veliki)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/>
              <a:t>prekrivanje</a:t>
            </a:r>
            <a:r>
              <a:rPr lang="en-US" sz="2400"/>
              <a:t> – ukoliko jedan objekt prekriva drugi mi ćemo ga percipirati kao da nam je bliže 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74" name="Google Shape;2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3958937"/>
            <a:ext cx="2270700" cy="2912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0" y="3657598"/>
            <a:ext cx="2955058" cy="3052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9"/>
          <p:cNvSpPr txBox="1"/>
          <p:nvPr>
            <p:ph type="title"/>
          </p:nvPr>
        </p:nvSpPr>
        <p:spPr>
          <a:xfrm>
            <a:off x="595246" y="386930"/>
            <a:ext cx="7549592" cy="12984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US" sz="4200"/>
              <a:t>Funkcije percepcije – lokalizacija: Percepcija dubine</a:t>
            </a:r>
            <a:endParaRPr/>
          </a:p>
        </p:txBody>
      </p:sp>
      <p:sp>
        <p:nvSpPr>
          <p:cNvPr id="283" name="Google Shape;283;p19"/>
          <p:cNvSpPr/>
          <p:nvPr/>
        </p:nvSpPr>
        <p:spPr>
          <a:xfrm rot="10800000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9"/>
          <p:cNvSpPr/>
          <p:nvPr/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509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9"/>
          <p:cNvSpPr txBox="1"/>
          <p:nvPr>
            <p:ph idx="1" type="body"/>
          </p:nvPr>
        </p:nvSpPr>
        <p:spPr>
          <a:xfrm>
            <a:off x="304800" y="2361508"/>
            <a:ext cx="3717171" cy="41095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3) Percepcija dubine</a:t>
            </a:r>
            <a:endParaRPr b="1" sz="2800"/>
          </a:p>
          <a:p>
            <a:pPr indent="0" lvl="1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Monokularni znakovi</a:t>
            </a:r>
            <a:r>
              <a:rPr lang="en-US" sz="2000"/>
              <a:t>:</a:t>
            </a:r>
            <a:endParaRPr/>
          </a:p>
          <a:p>
            <a:pPr indent="0" lvl="1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1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/>
              <a:t>- Linearna perspektiva </a:t>
            </a:r>
            <a:r>
              <a:rPr lang="en-US" sz="2000"/>
              <a:t>– kada se dvije linije za koje pretpostavljamo da su paralelne jedna drugoj približavaju to interpretiramo kao znak za udaljenost </a:t>
            </a:r>
            <a:endParaRPr/>
          </a:p>
          <a:p>
            <a:pPr indent="-234950" lvl="0" marL="34290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id="286" name="Google Shape;286;p19"/>
          <p:cNvPicPr preferRelativeResize="0"/>
          <p:nvPr/>
        </p:nvPicPr>
        <p:blipFill rotWithShape="1">
          <a:blip r:embed="rId3">
            <a:alphaModFix/>
          </a:blip>
          <a:srcRect b="-1" l="27857" r="21031" t="0"/>
          <a:stretch/>
        </p:blipFill>
        <p:spPr>
          <a:xfrm>
            <a:off x="4433649" y="2484255"/>
            <a:ext cx="3862707" cy="3714244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19"/>
          <p:cNvSpPr/>
          <p:nvPr/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Funkcije percepcije – lokalizacija</a:t>
            </a:r>
            <a:endParaRPr/>
          </a:p>
        </p:txBody>
      </p:sp>
      <p:sp>
        <p:nvSpPr>
          <p:cNvPr id="294" name="Google Shape;294;p20"/>
          <p:cNvSpPr txBox="1"/>
          <p:nvPr>
            <p:ph idx="1" type="body"/>
          </p:nvPr>
        </p:nvSpPr>
        <p:spPr>
          <a:xfrm>
            <a:off x="762000" y="15240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/>
              <a:t>4) Percepcija gibanja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Inducirano gibanje – stojimo, a mislimo da se krećemo</a:t>
            </a:r>
            <a:endParaRPr/>
          </a:p>
        </p:txBody>
      </p:sp>
      <p:pic>
        <p:nvPicPr>
          <p:cNvPr descr="Which Way Is This Train Going?" id="295" name="Google Shape;2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3267796"/>
            <a:ext cx="5943600" cy="334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/>
              <a:t>Funkcije percepcije – lokalizacija </a:t>
            </a:r>
            <a:endParaRPr/>
          </a:p>
        </p:txBody>
      </p:sp>
      <p:sp>
        <p:nvSpPr>
          <p:cNvPr id="302" name="Google Shape;302;p21"/>
          <p:cNvSpPr txBox="1"/>
          <p:nvPr>
            <p:ph idx="1" type="body"/>
          </p:nvPr>
        </p:nvSpPr>
        <p:spPr>
          <a:xfrm>
            <a:off x="381000" y="1524000"/>
            <a:ext cx="8229600" cy="48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4) Percepcija gibanja</a:t>
            </a:r>
            <a:endParaRPr b="1" sz="2400"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Stroboskopsko gibanje (fi fenomen)</a:t>
            </a:r>
            <a:endParaRPr sz="2400"/>
          </a:p>
          <a:p>
            <a:pPr indent="-285750" lvl="1" marL="74295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pojava da osjet ne nestane istovremeno s prestankom podražaja nego traje još neko vrijeme pa se postepeno gubi.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>
                <a:solidFill>
                  <a:schemeClr val="hlink"/>
                </a:solidFill>
                <a:hlinkClick r:id="rId3"/>
              </a:rPr>
              <a:t>https://www.youtube.com/watch?v=YismwdgMIRc</a:t>
            </a:r>
            <a:r>
              <a:rPr lang="en-US" sz="2400"/>
              <a:t> </a:t>
            </a:r>
            <a:endParaRPr/>
          </a:p>
        </p:txBody>
      </p:sp>
      <p:pic>
        <p:nvPicPr>
          <p:cNvPr id="303" name="Google Shape;30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76800" y="4602480"/>
            <a:ext cx="3147332" cy="2096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47800" y="4602480"/>
            <a:ext cx="3144521" cy="2096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Percepcija - subjektivni doživljaj</a:t>
            </a:r>
            <a:endParaRPr/>
          </a:p>
        </p:txBody>
      </p:sp>
      <p:sp>
        <p:nvSpPr>
          <p:cNvPr id="311" name="Google Shape;311;p22"/>
          <p:cNvSpPr txBox="1"/>
          <p:nvPr>
            <p:ph idx="1" type="body"/>
          </p:nvPr>
        </p:nvSpPr>
        <p:spPr>
          <a:xfrm>
            <a:off x="762000" y="1417638"/>
            <a:ext cx="8229600" cy="498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Utjecaj iskustva na percepciju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Konstrukcija stvarnosti – percepcija ne ovisi o senzornim podatcima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Očekivanja</a:t>
            </a:r>
            <a:endParaRPr/>
          </a:p>
          <a:p>
            <a:pPr indent="-1397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12" name="Google Shape;31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54373" y="2819400"/>
            <a:ext cx="3947518" cy="3929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779144"/>
            <a:ext cx="2804218" cy="28042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Percepcija</a:t>
            </a:r>
            <a:endParaRPr/>
          </a:p>
        </p:txBody>
      </p:sp>
      <p:pic>
        <p:nvPicPr>
          <p:cNvPr id="319" name="Google Shape;319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2552" l="32006" r="21588" t="30306"/>
          <a:stretch/>
        </p:blipFill>
        <p:spPr>
          <a:xfrm>
            <a:off x="552450" y="1752600"/>
            <a:ext cx="81345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2020-10-19T18:22:11Z</dcterms:created>
  <dc:creator>Lejla Talić</dc:creator>
</cp:coreProperties>
</file>