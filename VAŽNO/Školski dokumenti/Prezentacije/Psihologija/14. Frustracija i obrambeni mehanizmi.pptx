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nQ/DTCjYfilsT5nnhsG04v/a2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9" name="Google Shape;15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Umjereno korištenje obrambenih mehanizama služi za održavanje našeg samopoštovanja. Ako ih se koristi prečesto postaju štetni za osobu i predstavljaju bijeg od stvarnosti.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2" name="Google Shape;20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4" name="Google Shape;23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ni slajd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sadržaj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ka s opisom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va sadržaja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glavlje odjeljka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poredba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o naslov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azno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držaj s opisom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 i okomiti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komiti naslov i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Relationship Id="rId4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Relationship Id="rId4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15017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Frustracija</a:t>
            </a:r>
            <a:r>
              <a:rPr lang="en-US"/>
              <a:t>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obrambeni mehanizmi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7864" y="3443061"/>
            <a:ext cx="2130552" cy="2107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4572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Kako se osjećamo kada ne možemo postići neki cilj koji nam je važan?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2207394" y="2207954"/>
            <a:ext cx="4576810" cy="4527519"/>
            <a:chOff x="1826394" y="-1846"/>
            <a:chExt cx="4576810" cy="4527519"/>
          </a:xfrm>
        </p:grpSpPr>
        <p:sp>
          <p:nvSpPr>
            <p:cNvPr id="96" name="Google Shape;96;p2"/>
            <p:cNvSpPr/>
            <p:nvPr/>
          </p:nvSpPr>
          <p:spPr>
            <a:xfrm>
              <a:off x="4695402" y="333237"/>
              <a:ext cx="1707802" cy="170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4695402" y="333237"/>
              <a:ext cx="1707802" cy="170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105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Ponašanje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097603" y="-1846"/>
              <a:ext cx="4034392" cy="4034392"/>
            </a:xfrm>
            <a:custGeom>
              <a:rect b="b" l="l" r="r" t="t"/>
              <a:pathLst>
                <a:path extrusionOk="0" h="120000" w="120000">
                  <a:moveTo>
                    <a:pt x="113391" y="60828"/>
                  </a:moveTo>
                  <a:lnTo>
                    <a:pt x="113391" y="60828"/>
                  </a:lnTo>
                  <a:cubicBezTo>
                    <a:pt x="113149" y="76404"/>
                    <a:pt x="106117" y="91098"/>
                    <a:pt x="94139" y="101058"/>
                  </a:cubicBezTo>
                  <a:lnTo>
                    <a:pt x="97510" y="106661"/>
                  </a:lnTo>
                  <a:lnTo>
                    <a:pt x="84973" y="101511"/>
                  </a:lnTo>
                  <a:lnTo>
                    <a:pt x="85596" y="86857"/>
                  </a:lnTo>
                  <a:lnTo>
                    <a:pt x="88959" y="92447"/>
                  </a:lnTo>
                  <a:cubicBezTo>
                    <a:pt x="98029" y="84352"/>
                    <a:pt x="103297" y="72830"/>
                    <a:pt x="103486" y="60675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260898" y="2817871"/>
              <a:ext cx="1707802" cy="170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3260898" y="2817871"/>
              <a:ext cx="1707802" cy="170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105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Cilj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097603" y="-1846"/>
              <a:ext cx="4034392" cy="4034392"/>
            </a:xfrm>
            <a:custGeom>
              <a:rect b="b" l="l" r="r" t="t"/>
              <a:pathLst>
                <a:path extrusionOk="0" h="120000" w="120000">
                  <a:moveTo>
                    <a:pt x="32473" y="105755"/>
                  </a:moveTo>
                  <a:lnTo>
                    <a:pt x="32473" y="105755"/>
                  </a:lnTo>
                  <a:cubicBezTo>
                    <a:pt x="19125" y="97724"/>
                    <a:pt x="9949" y="84265"/>
                    <a:pt x="7351" y="68905"/>
                  </a:cubicBezTo>
                  <a:lnTo>
                    <a:pt x="812" y="69007"/>
                  </a:lnTo>
                  <a:lnTo>
                    <a:pt x="11562" y="60751"/>
                  </a:lnTo>
                  <a:lnTo>
                    <a:pt x="23922" y="68648"/>
                  </a:lnTo>
                  <a:lnTo>
                    <a:pt x="17398" y="68750"/>
                  </a:lnTo>
                  <a:lnTo>
                    <a:pt x="17398" y="68750"/>
                  </a:lnTo>
                  <a:cubicBezTo>
                    <a:pt x="19844" y="80658"/>
                    <a:pt x="27163" y="91000"/>
                    <a:pt x="37580" y="9726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826394" y="333237"/>
              <a:ext cx="1707802" cy="170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826394" y="333237"/>
              <a:ext cx="1707802" cy="170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105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Potreba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097603" y="-1846"/>
              <a:ext cx="4034392" cy="4034392"/>
            </a:xfrm>
            <a:custGeom>
              <a:rect b="b" l="l" r="r" t="t"/>
              <a:pathLst>
                <a:path extrusionOk="0" h="120000" w="120000">
                  <a:moveTo>
                    <a:pt x="41283" y="9991"/>
                  </a:moveTo>
                  <a:lnTo>
                    <a:pt x="41283" y="9991"/>
                  </a:lnTo>
                  <a:cubicBezTo>
                    <a:pt x="50751" y="6447"/>
                    <a:pt x="61031" y="5664"/>
                    <a:pt x="70926" y="7733"/>
                  </a:cubicBezTo>
                  <a:lnTo>
                    <a:pt x="73218" y="1608"/>
                  </a:lnTo>
                  <a:lnTo>
                    <a:pt x="76980" y="14629"/>
                  </a:lnTo>
                  <a:lnTo>
                    <a:pt x="65117" y="23254"/>
                  </a:lnTo>
                  <a:lnTo>
                    <a:pt x="67404" y="17144"/>
                  </a:lnTo>
                  <a:lnTo>
                    <a:pt x="67404" y="17144"/>
                  </a:lnTo>
                  <a:cubicBezTo>
                    <a:pt x="59800" y="15830"/>
                    <a:pt x="51983" y="16563"/>
                    <a:pt x="44756" y="19268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5486400" y="4419600"/>
            <a:ext cx="762000" cy="1371600"/>
          </a:xfrm>
          <a:prstGeom prst="lightningBolt">
            <a:avLst/>
          </a:prstGeom>
          <a:solidFill>
            <a:schemeClr val="accent2"/>
          </a:solidFill>
          <a:ln cap="flat" cmpd="sng" w="25400">
            <a:solidFill>
              <a:srgbClr val="8C3A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Frustracija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81200"/>
            <a:ext cx="3130615" cy="348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1627909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Frustracija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533402" y="141985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Što je to frustracija? </a:t>
            </a:r>
            <a:endParaRPr/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Stanje emocionalne napetosti, uznemirenosti i nezadovoljstva u kojem se pojedinac nalazi kada ne može zadovoljiti svoje želje i potrebe zbog zapreka na putu do cilja.</a:t>
            </a:r>
            <a:endParaRPr/>
          </a:p>
          <a:p>
            <a:pPr indent="-1079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Izvor: percipirane u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nutarnje i vanjske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zapreke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udent Cello: Teacher Recommended | Prince Music" id="123" name="Google Shape;123;p5"/>
          <p:cNvPicPr preferRelativeResize="0"/>
          <p:nvPr/>
        </p:nvPicPr>
        <p:blipFill rotWithShape="1">
          <a:blip r:embed="rId3">
            <a:alphaModFix/>
          </a:blip>
          <a:srcRect b="-2498" l="23749" r="27950" t="650"/>
          <a:stretch/>
        </p:blipFill>
        <p:spPr>
          <a:xfrm rot="1789071">
            <a:off x="6788833" y="3478229"/>
            <a:ext cx="1538322" cy="32438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Frustracija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254722" y="1417638"/>
            <a:ext cx="5544616" cy="5227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3552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1) Vanjske zapreke</a:t>
            </a:r>
            <a:endParaRPr/>
          </a:p>
          <a:p>
            <a:pPr indent="-34290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Font typeface="Arial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</a:rPr>
              <a:t>Prirodna ili socijalna okolina </a:t>
            </a:r>
            <a:endParaRPr/>
          </a:p>
          <a:p>
            <a:pPr indent="-34290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Očekivane rodne uloge u društvu, ograničenja zbog države u kojoj smo rođeni,vanjske okolnosti (promet, internet...)</a:t>
            </a:r>
            <a:endParaRPr/>
          </a:p>
          <a:p>
            <a:pPr indent="-13970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</a:rPr>
              <a:t>2) Unutarnje zapreke</a:t>
            </a:r>
            <a:r>
              <a:rPr b="0" i="0" lang="en-US" sz="2800" u="none" cap="none" strike="noStrike">
                <a:solidFill>
                  <a:schemeClr val="dk1"/>
                </a:solidFill>
              </a:rPr>
              <a:t> – naše osobine i konflikti motiva</a:t>
            </a:r>
            <a:endParaRPr/>
          </a:p>
          <a:p>
            <a:pPr indent="-34290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Zbog neodlučnosti izgubimo neku priliku, zbog dioptrije ne možemo postati astronaut ili pilot...</a:t>
            </a:r>
            <a:endParaRPr b="0" i="0" u="none" cap="none" strike="noStrike">
              <a:solidFill>
                <a:schemeClr val="dk1"/>
              </a:solidFill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  <p:pic>
        <p:nvPicPr>
          <p:cNvPr descr="ZET uvodi novu voznu kartu, a uskoro stiže i mobilna aplikacija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977" y="1124744"/>
            <a:ext cx="3134071" cy="2002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701602" y="470298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REAGIRANJE U FRUSTRIRAJUĆIM SITUACIJAMA</a:t>
            </a:r>
            <a:endParaRPr/>
          </a:p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7 Really Effective Ways To Overcome Frustration &amp; Uneasiness" id="133" name="Google Shape;133;p13"/>
          <p:cNvPicPr preferRelativeResize="0"/>
          <p:nvPr/>
        </p:nvPicPr>
        <p:blipFill rotWithShape="1">
          <a:blip r:embed="rId3">
            <a:alphaModFix/>
          </a:blip>
          <a:srcRect b="0" l="0" r="18500" t="0"/>
          <a:stretch/>
        </p:blipFill>
        <p:spPr>
          <a:xfrm>
            <a:off x="649287" y="1430880"/>
            <a:ext cx="5544616" cy="3124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Reagiranje u frustrirajućim situacijama</a:t>
            </a:r>
            <a:endParaRPr/>
          </a:p>
        </p:txBody>
      </p:sp>
      <p:sp>
        <p:nvSpPr>
          <p:cNvPr id="139" name="Google Shape;139;p14"/>
          <p:cNvSpPr txBox="1"/>
          <p:nvPr>
            <p:ph idx="1" type="body"/>
          </p:nvPr>
        </p:nvSpPr>
        <p:spPr>
          <a:xfrm>
            <a:off x="731168" y="160019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Frustracija - izazvana najčešće raskorakom želja i mogućnosti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Individualne razlike u toleranciji na frustraciju (vještina – vježba se)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Angry Birds Anger Management | NuttyTimes.Com - Funny Pictures &amp; More |  Anger management, Psychology humor, Funny pictures"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792" y="3861048"/>
            <a:ext cx="4287507" cy="282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</a:pPr>
            <a:r>
              <a:rPr lang="en-US" sz="3700"/>
              <a:t>Reagiranje u frustrirajućim situacijama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>
            <p:ph idx="2" type="body"/>
          </p:nvPr>
        </p:nvSpPr>
        <p:spPr>
          <a:xfrm>
            <a:off x="457200" y="2174874"/>
            <a:ext cx="4040188" cy="440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arenR"/>
            </a:pPr>
            <a:r>
              <a:rPr b="1" lang="en-US" sz="2800"/>
              <a:t>Agresivno ponašanje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Izravno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Neziravno: kritiziranje, ogovaranje, pomaknuta agresija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Pasivna agresija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2) Povlačenje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/>
          </a:p>
        </p:txBody>
      </p:sp>
      <p:sp>
        <p:nvSpPr>
          <p:cNvPr id="148" name="Google Shape;1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Know someone who is passive aggressive? How I learnt to deal the 'angry  smile'" id="149" name="Google Shape;149;p15"/>
          <p:cNvPicPr preferRelativeResize="0"/>
          <p:nvPr/>
        </p:nvPicPr>
        <p:blipFill rotWithShape="1">
          <a:blip r:embed="rId3">
            <a:alphaModFix/>
          </a:blip>
          <a:srcRect b="-2" l="12713" r="23254" t="0"/>
          <a:stretch/>
        </p:blipFill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Reagiranje u frustrirajućim situacijama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457200" y="1600200"/>
            <a:ext cx="8229600" cy="456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3) Reogranizacija aktivnosti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Smišljanje novih načina da dođemo do onog što želimo </a:t>
            </a:r>
            <a:br>
              <a:rPr lang="en-US"/>
            </a:b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4) Obrambeni mehanizmi </a:t>
            </a:r>
            <a:endParaRPr/>
          </a:p>
        </p:txBody>
      </p:sp>
      <p:pic>
        <p:nvPicPr>
          <p:cNvPr descr="Two Books Teach Teens to Be Happier, More Resilient | Live Happy Magazine" id="156" name="Google Shape;1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808" y="2906361"/>
            <a:ext cx="4114801" cy="232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-108520" y="479715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 sz="4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brambeni mehanizmi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13" y="1988840"/>
            <a:ext cx="4185071" cy="3138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Obrambeni mehanizmi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457200" y="1600200"/>
            <a:ext cx="8229600" cy="4925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Obrambeni mehanizmi: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oblici ponašanja koje ljudi često koriste u frustrirajućim situacijama.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nesvjesni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procesi iskrivljavanja stvarnosti koji pojedinca brane od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osjećaja manje vrijednosti, anksioznosti i frustracije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Pojedinac ne mijenja stresnu situaciju već samo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doživljaj situacije</a:t>
            </a: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-170180" lvl="0" marL="342900" marR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Obrambene mehanizme koriste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svi ljudi </a:t>
            </a: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njihovo korištenje nije uvijek štetno, ali svi uključuju neki oblik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samozavaravanja </a:t>
            </a: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99" y="1904999"/>
            <a:ext cx="7348980" cy="24219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Obrambeni mehanizmi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457200" y="1447800"/>
            <a:ext cx="8229600" cy="4933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Racionalizacija</a:t>
            </a:r>
            <a:endParaRPr/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Opravdavanje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Omalovažavanje – kiselo grožđe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Uljepšavanje – slatki limun 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Obrambeni mehanizmi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Supstitucija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Cilj koji ne možemo ostvariti, zamijenimo sličnim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Slikar – povijest umjetnosti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Medicina – veterina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420888"/>
            <a:ext cx="2808312" cy="201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chester City-Tottenham: Cuneyt Cakir to referee at Etihad - AS.com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953" y="2330878"/>
            <a:ext cx="3744416" cy="2106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Obrambeni mehanizmi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457200" y="1600200"/>
            <a:ext cx="4330824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3) Kompenzacija 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Kako bismo nadomjestili stvaran ili zamišljeni nedostatak u nekom području, jako se trudimo u nekom drugom, nepovezanom području života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Npr. radoholičarski pristup poslu, omalovažavanje drugih kao kompenzacija vlastitog osjećaja manje vrijednosti 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What Is Narcissistic Personality Disorder? - Domus Retreat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13041" r="40759" t="0"/>
          <a:stretch/>
        </p:blipFill>
        <p:spPr>
          <a:xfrm>
            <a:off x="4726360" y="1571846"/>
            <a:ext cx="396044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Obrambeni mehanizmi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457200" y="1600200"/>
            <a:ext cx="5482952" cy="48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b="1" lang="en-US"/>
              <a:t>4)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Projekcija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Pripisivanje vlastitih osobina i postupaka drugim ljudima  kako se ne bismo suočili sa sobom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Npr. Ne sviđa nam se neka osoba pa mislimo da se mi njoj ne sviđamo i nalazimo dokaze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Ljuti smo, pitamo osobu koja nas je naljutila zašto se ljuti na nas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2"/>
          <p:cNvPicPr preferRelativeResize="0"/>
          <p:nvPr/>
        </p:nvPicPr>
        <p:blipFill rotWithShape="1">
          <a:blip r:embed="rId3">
            <a:alphaModFix/>
          </a:blip>
          <a:srcRect b="10671" l="50456" r="5994" t="32115"/>
          <a:stretch/>
        </p:blipFill>
        <p:spPr>
          <a:xfrm>
            <a:off x="5905636" y="2492896"/>
            <a:ext cx="3096519" cy="304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Obrambeni mehanizmi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5)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Regresija</a:t>
            </a:r>
            <a:endParaRPr/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Kad smo frustrirani ili nesigurni, ponašamo se onak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kako je karakteristično za ranije faze razvoja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„Kriza srednjih godina”, trubljenje bez prestanka u prometu, bacanje po podu u odrasloj dobi jer nešto nije kako smo zamislili…</a:t>
            </a:r>
            <a:endParaRPr/>
          </a:p>
        </p:txBody>
      </p:sp>
      <p:pic>
        <p:nvPicPr>
          <p:cNvPr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2303578"/>
            <a:ext cx="2728784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 rotWithShape="1">
          <a:blip r:embed="rId4">
            <a:alphaModFix/>
          </a:blip>
          <a:srcRect b="22689" l="11591" r="12498" t="7384"/>
          <a:stretch/>
        </p:blipFill>
        <p:spPr>
          <a:xfrm>
            <a:off x="3995936" y="2204864"/>
            <a:ext cx="2313710" cy="211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u="none" cap="none" strike="noStrike"/>
              <a:t>Obrambeni mehanizmi</a:t>
            </a:r>
            <a:endParaRPr/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u="none" cap="none" strike="noStrike"/>
              <a:t>6) Fiksacija</a:t>
            </a:r>
            <a:endParaRPr/>
          </a:p>
          <a:p>
            <a:pPr indent="-457200" lvl="0" marL="660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Ustrajanje u aktivnosti iako je jasno da nas ne dovodi do željenog cilja</a:t>
            </a:r>
            <a:endParaRPr/>
          </a:p>
          <a:p>
            <a:pPr indent="-457200" lvl="0" marL="660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Npr. konstantni pokušaji da „osvojimo” osobu koja je rekla ne</a:t>
            </a:r>
            <a:endParaRPr/>
          </a:p>
          <a:p>
            <a:pPr indent="-254000" lvl="0" marL="660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203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 rotWithShape="1">
          <a:blip r:embed="rId3">
            <a:alphaModFix/>
          </a:blip>
          <a:srcRect b="3864" l="7500" r="4772" t="8863"/>
          <a:stretch/>
        </p:blipFill>
        <p:spPr>
          <a:xfrm>
            <a:off x="4648200" y="1854353"/>
            <a:ext cx="4038600" cy="401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Obrambeni mehanizmi</a:t>
            </a:r>
            <a:endParaRPr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493115" y="130407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7) Negiranje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Odbijamo prihvatiti stvarnost, ne priznajemo nemogućnost zadovoljenja neke potrebe 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Npr. Neprihvaćanje kritike, neprihvaćanje očitih činjenica, odbijanje prihvaćanja pomoći iako je jasno da nam treba i sl.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In My Defense – The Piqled Mind"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712" y="4660063"/>
            <a:ext cx="23812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imate Change Denial Research: 2001-2018 | Thongchai Thailand" id="222" name="Google Shape;2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014" y="4533264"/>
            <a:ext cx="2952328" cy="204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Obrambeni mehanizmi</a:t>
            </a:r>
            <a:endParaRPr/>
          </a:p>
        </p:txBody>
      </p: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29" name="Google Shape;229;p26"/>
          <p:cNvPicPr preferRelativeResize="0"/>
          <p:nvPr/>
        </p:nvPicPr>
        <p:blipFill rotWithShape="1">
          <a:blip r:embed="rId3">
            <a:alphaModFix/>
          </a:blip>
          <a:srcRect b="10316" l="0" r="0" t="0"/>
          <a:stretch/>
        </p:blipFill>
        <p:spPr>
          <a:xfrm>
            <a:off x="457200" y="2673326"/>
            <a:ext cx="4040188" cy="264956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 txBox="1"/>
          <p:nvPr>
            <p:ph idx="3" type="body"/>
          </p:nvPr>
        </p:nvSpPr>
        <p:spPr>
          <a:xfrm>
            <a:off x="4575024" y="1298464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8. Reaktivna formacija</a:t>
            </a:r>
            <a:endParaRPr/>
          </a:p>
        </p:txBody>
      </p:sp>
      <p:sp>
        <p:nvSpPr>
          <p:cNvPr id="231" name="Google Shape;231;p26"/>
          <p:cNvSpPr txBox="1"/>
          <p:nvPr>
            <p:ph idx="4" type="body"/>
          </p:nvPr>
        </p:nvSpPr>
        <p:spPr>
          <a:xfrm>
            <a:off x="4575013" y="1938366"/>
            <a:ext cx="40419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r>
              <a:t/>
            </a:r>
            <a:endParaRPr b="1" i="0" sz="2000" u="none" cap="none" strike="noStrike"/>
          </a:p>
          <a:p>
            <a:pPr indent="-32766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Char char="•"/>
            </a:pPr>
            <a:r>
              <a:rPr lang="en-US" sz="2000"/>
              <a:t>Kada se neki osjećaj koji imamo ne uklapa u našu sliku o sebi pa ga pretvorimo u njegovu suprotnost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r>
              <a:t/>
            </a:r>
            <a:endParaRPr sz="2000"/>
          </a:p>
          <a:p>
            <a:pPr indent="-32766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Char char="•"/>
            </a:pPr>
            <a:r>
              <a:rPr lang="en-US" sz="2000"/>
              <a:t>Npr. Osjećamo privlačnost prema nekome ili nečemu koju smatramo neprihvatljivom pa ju pretvorimo u mržnju, osudu i netrpeljivost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r>
              <a:t/>
            </a:r>
            <a:endParaRPr sz="2000"/>
          </a:p>
          <a:p>
            <a:pPr indent="-32766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Char char="•"/>
            </a:pPr>
            <a:r>
              <a:rPr lang="en-US" sz="2000"/>
              <a:t>Netko nam se ne sviđa pa budemo posebno ljubazni prema njemu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None/>
            </a:pPr>
            <a:r>
              <a:t/>
            </a:r>
            <a:endParaRPr sz="2000"/>
          </a:p>
          <a:p>
            <a:pPr indent="-32766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0000"/>
              <a:buChar char="•"/>
            </a:pPr>
            <a:r>
              <a:rPr lang="en-US" sz="2000"/>
              <a:t>Pravimo se da smo super, a zapravo nismo 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Arial"/>
              <a:buNone/>
            </a:pPr>
            <a:r>
              <a:t/>
            </a:r>
            <a:endParaRPr b="0" i="0" sz="2000" u="none" cap="none" strike="noStrike"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Arial"/>
              <a:buNone/>
            </a:pPr>
            <a:r>
              <a:t/>
            </a:r>
            <a:endParaRPr b="0" i="0" sz="2000" u="none" cap="none" strike="noStrike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Hvala na pažnji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819400"/>
            <a:ext cx="8062726" cy="249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2021-02-25T17:55:11Z</dcterms:created>
  <dc:creator>Lejla Talić</dc:creator>
</cp:coreProperties>
</file>