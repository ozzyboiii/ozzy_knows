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hbrGaDXdfN7qxGWcLPkY88OZqI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B4AC9D-F7BF-451C-B300-A18F0E922363}">
  <a:tblStyle styleId="{FCB4AC9D-F7BF-451C-B300-A18F0E92236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a084459d2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a084459d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a084459d26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a084459d2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a084459d26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a084459d2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a084459d26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a084459d2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a084459d26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2a084459d26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1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youtube.com/watch?v=Eo7jcI8fAuI" TargetMode="External"/><Relationship Id="rId4" Type="http://schemas.openxmlformats.org/officeDocument/2006/relationships/hyperlink" Target="https://www.youtube.com/watch?v=qG2SwE_6uVM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2209800" y="1409601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/>
              <a:t>Učenje 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Slikovni rezultat za learning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9472" y="2847810"/>
            <a:ext cx="2933056" cy="2933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1918549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Učenje</a:t>
            </a:r>
            <a:endParaRPr/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1847528" y="1701794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Učenje</a:t>
            </a:r>
            <a:r>
              <a:rPr lang="en-US"/>
              <a:t> je relativno trajna promjena u </a:t>
            </a:r>
            <a:r>
              <a:rPr b="1" lang="en-US"/>
              <a:t>ponašanju</a:t>
            </a:r>
            <a:r>
              <a:rPr lang="en-US"/>
              <a:t> koja nastaje kao posljedica vježbe ili iskustva.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 sz="3200"/>
              <a:t>Sve ono što nije određeno biološkim nasljeđem, stečeno je </a:t>
            </a:r>
            <a:r>
              <a:rPr b="1" lang="en-US" sz="3200"/>
              <a:t>učenjem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Cjeloživotni proces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Događa se namjerno i nenamjerno, aktivno i pasivno</a:t>
            </a:r>
            <a:endParaRPr/>
          </a:p>
        </p:txBody>
      </p:sp>
      <p:pic>
        <p:nvPicPr>
          <p:cNvPr descr="Slikovni rezultat za learning"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674" y="4927103"/>
            <a:ext cx="4732150" cy="16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ctrTitle"/>
          </p:nvPr>
        </p:nvSpPr>
        <p:spPr>
          <a:xfrm>
            <a:off x="2209800" y="980729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/>
              <a:t>KLASIČNO UVJETOVANJE</a:t>
            </a:r>
            <a:endParaRPr/>
          </a:p>
        </p:txBody>
      </p:sp>
      <p:sp>
        <p:nvSpPr>
          <p:cNvPr id="99" name="Google Shape;99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Slikovni rezultat za classical conditioning" id="100" name="Google Shape;1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6687" y="2455594"/>
            <a:ext cx="5838626" cy="3892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Klasično uvjetovanje</a:t>
            </a:r>
            <a:endParaRPr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991544" y="1196753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 </a:t>
            </a:r>
            <a:r>
              <a:rPr b="1" lang="en-US"/>
              <a:t>Ivan Pavlov</a:t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2460.jpg"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3553" y="1844824"/>
            <a:ext cx="4418673" cy="45365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rie1.gif" id="108" name="Google Shape;108;p4"/>
          <p:cNvPicPr preferRelativeResize="0"/>
          <p:nvPr/>
        </p:nvPicPr>
        <p:blipFill rotWithShape="1">
          <a:blip r:embed="rId4">
            <a:alphaModFix/>
          </a:blip>
          <a:srcRect b="0" l="38670" r="0" t="54545"/>
          <a:stretch/>
        </p:blipFill>
        <p:spPr>
          <a:xfrm>
            <a:off x="6816080" y="5157192"/>
            <a:ext cx="1484658" cy="1440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Klasično uvjetovanje</a:t>
            </a:r>
            <a:endParaRPr/>
          </a:p>
        </p:txBody>
      </p:sp>
      <p:sp>
        <p:nvSpPr>
          <p:cNvPr id="114" name="Google Shape;114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https://www.youtube.com/watch?v=Eo7jcI8fAuI</a:t>
            </a:r>
            <a:r>
              <a:rPr lang="en-US"/>
              <a:t>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https://www.youtube.com/watch?v=qG2SwE_6uVM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Klasično uvjetovanje</a:t>
            </a:r>
            <a:endParaRPr/>
          </a:p>
        </p:txBody>
      </p:sp>
      <p:graphicFrame>
        <p:nvGraphicFramePr>
          <p:cNvPr id="120" name="Google Shape;120;p6"/>
          <p:cNvGraphicFramePr/>
          <p:nvPr/>
        </p:nvGraphicFramePr>
        <p:xfrm>
          <a:off x="1703511" y="15567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{FCB4AC9D-F7BF-451C-B300-A18F0E922363}</a:tableStyleId>
              </a:tblPr>
              <a:tblGrid>
                <a:gridCol w="2928325"/>
                <a:gridCol w="3739675"/>
                <a:gridCol w="2116975"/>
              </a:tblGrid>
              <a:tr h="160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PRIJE UVJETOVANJA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NEUVJETOVANI</a:t>
                      </a:r>
                      <a:r>
                        <a:rPr lang="en-US" sz="1800"/>
                        <a:t> PODRAŽAJ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(HRANA)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NEUVJETOVANA REAKCIJA (SLINA)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160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PROCES UVJETOVANJA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NEUVJETOVANI</a:t>
                      </a:r>
                      <a:r>
                        <a:rPr lang="en-US" sz="1800"/>
                        <a:t> PODRAŽAJ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(HRANA)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+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NEUTRALNI PODRAŽAJ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(ZVUK)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NEUVJETOVANA</a:t>
                      </a:r>
                      <a:r>
                        <a:rPr lang="en-US" sz="1800"/>
                        <a:t> REAKCIJA (SLINA)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160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NAKON UVJETOVANJA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UVJETOVANI</a:t>
                      </a:r>
                      <a:r>
                        <a:rPr lang="en-US" sz="1800"/>
                        <a:t> PODRAŽAJ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(ZVUK)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UVJETOVANA REAKCIJA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(SLINA)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21" name="Google Shape;121;p6"/>
          <p:cNvCxnSpPr/>
          <p:nvPr/>
        </p:nvCxnSpPr>
        <p:spPr>
          <a:xfrm>
            <a:off x="7176120" y="2492896"/>
            <a:ext cx="108012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22" name="Google Shape;122;p6"/>
          <p:cNvCxnSpPr/>
          <p:nvPr/>
        </p:nvCxnSpPr>
        <p:spPr>
          <a:xfrm>
            <a:off x="7176120" y="3501008"/>
            <a:ext cx="1080120" cy="432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23" name="Google Shape;123;p6"/>
          <p:cNvCxnSpPr/>
          <p:nvPr/>
        </p:nvCxnSpPr>
        <p:spPr>
          <a:xfrm flipH="1" rot="10800000">
            <a:off x="7104112" y="4077072"/>
            <a:ext cx="1152128" cy="36004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24" name="Google Shape;124;p6"/>
          <p:cNvCxnSpPr/>
          <p:nvPr/>
        </p:nvCxnSpPr>
        <p:spPr>
          <a:xfrm>
            <a:off x="7104112" y="5301208"/>
            <a:ext cx="108012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a084459d26_0_0"/>
          <p:cNvSpPr txBox="1"/>
          <p:nvPr>
            <p:ph idx="1" type="body"/>
          </p:nvPr>
        </p:nvSpPr>
        <p:spPr>
          <a:xfrm>
            <a:off x="838200" y="702875"/>
            <a:ext cx="10515600" cy="5474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/>
              <a:t>Nacrtajte i objasnite kako je izgledao proces uvjetovanja i označite što je bio neuvjetovani podražaj, neuvjetovana reakcija, neutralni podražaj, uvjetovani podražaj i uvjetovana reakcija za navedeni primjer:</a:t>
            </a:r>
            <a:endParaRPr sz="3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/>
              <a:t>Rano buđenje za školu izaziva nelagodu, a prije ustajanja svako jutro zvoni alarm mobitela.</a:t>
            </a:r>
            <a:endParaRPr sz="3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Klasično uvjetovanje</a:t>
            </a:r>
            <a:endParaRPr/>
          </a:p>
        </p:txBody>
      </p:sp>
      <p:graphicFrame>
        <p:nvGraphicFramePr>
          <p:cNvPr id="135" name="Google Shape;135;p7"/>
          <p:cNvGraphicFramePr/>
          <p:nvPr/>
        </p:nvGraphicFramePr>
        <p:xfrm>
          <a:off x="1703511" y="15567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{FCB4AC9D-F7BF-451C-B300-A18F0E922363}</a:tableStyleId>
              </a:tblPr>
              <a:tblGrid>
                <a:gridCol w="2928325"/>
                <a:gridCol w="3739675"/>
                <a:gridCol w="2116975"/>
              </a:tblGrid>
              <a:tr h="160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PRIJE UVJETOVANJA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NEUVJETOVANI</a:t>
                      </a:r>
                      <a:r>
                        <a:rPr lang="en-US" sz="1800"/>
                        <a:t> PODRAŽAJ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(PRERANO BUĐENJE)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NEUVJETOVANA REAKCIJA (NEUGODA, NELAGODA)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160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PROCES UVJETOVANJA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NEUVJETOVANI</a:t>
                      </a:r>
                      <a:r>
                        <a:rPr lang="en-US" sz="1800"/>
                        <a:t> PODRAŽAJ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(PRERANO BUĐENJE)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+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NEUTRALNI PODRAŽAJ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(ALARM MOBITELA)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NEUVJETOVANA</a:t>
                      </a:r>
                      <a:r>
                        <a:rPr lang="en-US" sz="1800"/>
                        <a:t> REAKCIJA (</a:t>
                      </a:r>
                      <a:r>
                        <a:rPr lang="en-US" sz="1800"/>
                        <a:t>NEUGODA, NELAGODA</a:t>
                      </a:r>
                      <a:r>
                        <a:rPr lang="en-US" sz="1800"/>
                        <a:t>)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160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NAKON UVJETOVANJA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UVJETOVANI</a:t>
                      </a:r>
                      <a:r>
                        <a:rPr lang="en-US" sz="1800"/>
                        <a:t> PODRAŽAJ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(ALARM MOBITELA)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UVJETOVANA REAKCIJA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(NEUGODA, NELAGODA)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36" name="Google Shape;136;p7"/>
          <p:cNvCxnSpPr/>
          <p:nvPr/>
        </p:nvCxnSpPr>
        <p:spPr>
          <a:xfrm>
            <a:off x="7176120" y="2492896"/>
            <a:ext cx="108012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37" name="Google Shape;137;p7"/>
          <p:cNvCxnSpPr/>
          <p:nvPr/>
        </p:nvCxnSpPr>
        <p:spPr>
          <a:xfrm>
            <a:off x="7176120" y="3501008"/>
            <a:ext cx="1080120" cy="432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38" name="Google Shape;138;p7"/>
          <p:cNvCxnSpPr/>
          <p:nvPr/>
        </p:nvCxnSpPr>
        <p:spPr>
          <a:xfrm flipH="1" rot="10800000">
            <a:off x="7104112" y="4077072"/>
            <a:ext cx="1152128" cy="36004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39" name="Google Shape;139;p7"/>
          <p:cNvCxnSpPr/>
          <p:nvPr/>
        </p:nvCxnSpPr>
        <p:spPr>
          <a:xfrm>
            <a:off x="7104112" y="5733256"/>
            <a:ext cx="108012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a084459d26_0_5"/>
          <p:cNvSpPr txBox="1"/>
          <p:nvPr>
            <p:ph idx="1" type="body"/>
          </p:nvPr>
        </p:nvSpPr>
        <p:spPr>
          <a:xfrm>
            <a:off x="838200" y="702875"/>
            <a:ext cx="10515600" cy="5474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/>
              <a:t>Nacrtajte i objasnite kako je izgledao proces uvjetovanja i označite što je bio neuvjetovani podražaj, neuvjetovana reakcija, neutralni podražaj, uvjetovani podražaj i uvjetovana reakcija</a:t>
            </a:r>
            <a:endParaRPr sz="3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/>
              <a:t>Jeste li nekad pojeli nešto (npr. pokvarena hrana) pa vam je izazvalo mučninu ili povraćanje? Kako biste se osjećali kad bi vam netko ponovno ponudio takvu hranu?</a:t>
            </a:r>
            <a:endParaRPr sz="3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Klasično uvjetovanje</a:t>
            </a:r>
            <a:endParaRPr/>
          </a:p>
        </p:txBody>
      </p:sp>
      <p:graphicFrame>
        <p:nvGraphicFramePr>
          <p:cNvPr id="150" name="Google Shape;150;p8"/>
          <p:cNvGraphicFramePr/>
          <p:nvPr/>
        </p:nvGraphicFramePr>
        <p:xfrm>
          <a:off x="1703511" y="15567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{FCB4AC9D-F7BF-451C-B300-A18F0E922363}</a:tableStyleId>
              </a:tblPr>
              <a:tblGrid>
                <a:gridCol w="3024325"/>
                <a:gridCol w="3643650"/>
                <a:gridCol w="2116975"/>
              </a:tblGrid>
              <a:tr h="160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PRIJE UVJETOVANJA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NEUVJETOVANI</a:t>
                      </a:r>
                      <a:r>
                        <a:rPr lang="en-US" sz="1800"/>
                        <a:t> PODRAŽAJ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(POKVARENA HRANA)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NEUVJETOVANA REAKCIJA (MUČNINA)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160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PROCES UVJETOVANJA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NEUVJETOVANI</a:t>
                      </a:r>
                      <a:r>
                        <a:rPr lang="en-US" sz="1800"/>
                        <a:t> PODRAŽAJ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(POKVARENA HRANA)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+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NEUTRALNI PODRAŽAJ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</a:t>
                      </a:r>
                      <a:r>
                        <a:rPr lang="en-US" sz="1800"/>
                        <a:t>HRANA</a:t>
                      </a:r>
                      <a:r>
                        <a:rPr lang="en-US" sz="1800"/>
                        <a:t>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NEUVJETOVANA</a:t>
                      </a:r>
                      <a:r>
                        <a:rPr lang="en-US" sz="1800"/>
                        <a:t> REAKCIJA (</a:t>
                      </a:r>
                      <a:r>
                        <a:rPr lang="en-US" sz="1800"/>
                        <a:t>MUČNINA</a:t>
                      </a:r>
                      <a:r>
                        <a:rPr lang="en-US" sz="1800"/>
                        <a:t>)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160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NAKON UVJETOVANJA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UVJETOVANI</a:t>
                      </a:r>
                      <a:r>
                        <a:rPr lang="en-US" sz="1800"/>
                        <a:t> PODRAŽAJ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</a:t>
                      </a:r>
                      <a:r>
                        <a:rPr lang="en-US" sz="1800"/>
                        <a:t>HRANA</a:t>
                      </a:r>
                      <a:r>
                        <a:rPr lang="en-US" sz="1800"/>
                        <a:t>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UVJETOVANA REAKCIJA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(MUČNINA)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51" name="Google Shape;151;p8"/>
          <p:cNvCxnSpPr/>
          <p:nvPr/>
        </p:nvCxnSpPr>
        <p:spPr>
          <a:xfrm>
            <a:off x="7176120" y="2492896"/>
            <a:ext cx="108012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52" name="Google Shape;152;p8"/>
          <p:cNvCxnSpPr/>
          <p:nvPr/>
        </p:nvCxnSpPr>
        <p:spPr>
          <a:xfrm>
            <a:off x="7116626" y="3450732"/>
            <a:ext cx="1080120" cy="432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53" name="Google Shape;153;p8"/>
          <p:cNvCxnSpPr/>
          <p:nvPr/>
        </p:nvCxnSpPr>
        <p:spPr>
          <a:xfrm flipH="1" rot="10800000">
            <a:off x="7104112" y="4077072"/>
            <a:ext cx="1152128" cy="36004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54" name="Google Shape;154;p8"/>
          <p:cNvCxnSpPr/>
          <p:nvPr/>
        </p:nvCxnSpPr>
        <p:spPr>
          <a:xfrm>
            <a:off x="7104112" y="5733256"/>
            <a:ext cx="108012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a084459d26_0_9"/>
          <p:cNvSpPr txBox="1"/>
          <p:nvPr>
            <p:ph idx="1" type="body"/>
          </p:nvPr>
        </p:nvSpPr>
        <p:spPr>
          <a:xfrm>
            <a:off x="838200" y="702875"/>
            <a:ext cx="10515600" cy="5474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/>
              <a:t>Nacrtajte i objasnite kako je izgledao proces uvjetovanja i označite što je bio neuvjetovani podražaj, neuvjetovana reakcija, neutralni podražaj, uvjetovani podražaj i uvjetovana reakcija:</a:t>
            </a:r>
            <a:endParaRPr sz="3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/>
              <a:t>Kako se osjećate kad se družite s dragom osobom? Ako uvijek slušate istu pjesmu, kako biste se osjećali kad biste kasnije sami slušali istu pjesmu?</a:t>
            </a:r>
            <a:endParaRPr sz="3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Klasično uvjetovanje</a:t>
            </a:r>
            <a:endParaRPr/>
          </a:p>
        </p:txBody>
      </p:sp>
      <p:graphicFrame>
        <p:nvGraphicFramePr>
          <p:cNvPr id="165" name="Google Shape;165;p9"/>
          <p:cNvGraphicFramePr/>
          <p:nvPr/>
        </p:nvGraphicFramePr>
        <p:xfrm>
          <a:off x="1703511" y="15567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{FCB4AC9D-F7BF-451C-B300-A18F0E922363}</a:tableStyleId>
              </a:tblPr>
              <a:tblGrid>
                <a:gridCol w="3024325"/>
                <a:gridCol w="3643650"/>
                <a:gridCol w="2116975"/>
              </a:tblGrid>
              <a:tr h="160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PRIJE UVJETOVANJA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NEUVJETOVANI</a:t>
                      </a:r>
                      <a:r>
                        <a:rPr lang="en-US" sz="1800"/>
                        <a:t> PODRAŽAJ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(druženje s dragom osobom)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NEUVJETOVANA REAKCIJA (ugoda)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160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PROCES UVJETOVANJA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NEUVJETOVANI</a:t>
                      </a:r>
                      <a:r>
                        <a:rPr lang="en-US" sz="1800"/>
                        <a:t> PODRAŽAJ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(druženje s dragom osobom)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+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NEUTRALNI PODRAŽAJ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(određena pjesma koja</a:t>
                      </a:r>
                      <a:br>
                        <a:rPr lang="en-US" sz="1800"/>
                      </a:br>
                      <a:r>
                        <a:rPr lang="en-US" sz="1800"/>
                        <a:t>tada svira)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NEUVJETOVANA</a:t>
                      </a:r>
                      <a:r>
                        <a:rPr lang="en-US" sz="1800"/>
                        <a:t> REAKCIJA (</a:t>
                      </a:r>
                      <a:r>
                        <a:rPr lang="en-US" sz="1800"/>
                        <a:t>ugoda</a:t>
                      </a:r>
                      <a:r>
                        <a:rPr lang="en-US" sz="1800"/>
                        <a:t>)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160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NAKON UVJETOVANJA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UVJETOVANI</a:t>
                      </a:r>
                      <a:r>
                        <a:rPr lang="en-US" sz="1800"/>
                        <a:t> PODRAŽAJ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(određena pjesma koja</a:t>
                      </a:r>
                      <a:br>
                        <a:rPr lang="en-US" sz="1800"/>
                      </a:br>
                      <a:r>
                        <a:rPr lang="en-US" sz="1800"/>
                        <a:t>je tada svirala)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UVJETOVANA REAKCIJA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(ugoda)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66" name="Google Shape;166;p9"/>
          <p:cNvCxnSpPr/>
          <p:nvPr/>
        </p:nvCxnSpPr>
        <p:spPr>
          <a:xfrm>
            <a:off x="7176120" y="2492896"/>
            <a:ext cx="108012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67" name="Google Shape;167;p9"/>
          <p:cNvCxnSpPr/>
          <p:nvPr/>
        </p:nvCxnSpPr>
        <p:spPr>
          <a:xfrm>
            <a:off x="7116626" y="3450732"/>
            <a:ext cx="1080120" cy="432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68" name="Google Shape;168;p9"/>
          <p:cNvCxnSpPr/>
          <p:nvPr/>
        </p:nvCxnSpPr>
        <p:spPr>
          <a:xfrm flipH="1" rot="10800000">
            <a:off x="7104112" y="4077072"/>
            <a:ext cx="1152128" cy="36004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69" name="Google Shape;169;p9"/>
          <p:cNvCxnSpPr/>
          <p:nvPr/>
        </p:nvCxnSpPr>
        <p:spPr>
          <a:xfrm>
            <a:off x="7104112" y="5733256"/>
            <a:ext cx="108012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a084459d26_1_1"/>
          <p:cNvSpPr txBox="1"/>
          <p:nvPr>
            <p:ph idx="1" type="body"/>
          </p:nvPr>
        </p:nvSpPr>
        <p:spPr>
          <a:xfrm>
            <a:off x="838200" y="702875"/>
            <a:ext cx="10515600" cy="5474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/>
              <a:t>Nacrtajte i objasnite kako je izgledao proces uvjetovanja i označite što je bio neuvjetovani podražaj, neuvjetovana reakcija, neutralni podražaj, uvjetovani podražaj i uvjetovana reakcija:</a:t>
            </a:r>
            <a:endParaRPr sz="3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/>
              <a:t>Kako se osjećate kad vas boli zub? Kako bi izgledao proces uvjetovanja ako svaki put kad nas boli zub odemo kod zubara?</a:t>
            </a:r>
            <a:endParaRPr sz="3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a084459d26_1_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Klasično uvjetovanje</a:t>
            </a:r>
            <a:endParaRPr/>
          </a:p>
        </p:txBody>
      </p:sp>
      <p:graphicFrame>
        <p:nvGraphicFramePr>
          <p:cNvPr id="180" name="Google Shape;180;g2a084459d26_1_5"/>
          <p:cNvGraphicFramePr/>
          <p:nvPr/>
        </p:nvGraphicFramePr>
        <p:xfrm>
          <a:off x="1703511" y="15567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{FCB4AC9D-F7BF-451C-B300-A18F0E922363}</a:tableStyleId>
              </a:tblPr>
              <a:tblGrid>
                <a:gridCol w="3024325"/>
                <a:gridCol w="3643650"/>
                <a:gridCol w="2116975"/>
              </a:tblGrid>
              <a:tr h="160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PRIJE UVJETOVANJA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NEUVJETOVANI</a:t>
                      </a:r>
                      <a:r>
                        <a:rPr lang="en-US" sz="1800"/>
                        <a:t> PODRAŽAJ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</a:t>
                      </a:r>
                      <a:r>
                        <a:rPr lang="en-US" sz="1800"/>
                        <a:t>pokvareni zub</a:t>
                      </a:r>
                      <a:r>
                        <a:rPr lang="en-US" sz="1800"/>
                        <a:t>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NEUVJETOVANA REAKCIJA (neugoa, bol, strah)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160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PROCES UVJETOVANJA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NEUVJETOVANI</a:t>
                      </a:r>
                      <a:r>
                        <a:rPr lang="en-US" sz="1800"/>
                        <a:t> PODRAŽAJ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</a:t>
                      </a:r>
                      <a:r>
                        <a:rPr lang="en-US" sz="1800"/>
                        <a:t>pokvareni zub</a:t>
                      </a:r>
                      <a:r>
                        <a:rPr lang="en-US" sz="1800"/>
                        <a:t>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+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NEUTRALNI PODRAŽAJ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</a:t>
                      </a:r>
                      <a:r>
                        <a:rPr lang="en-US" sz="1800"/>
                        <a:t>zubar</a:t>
                      </a:r>
                      <a:r>
                        <a:rPr lang="en-US" sz="1800"/>
                        <a:t>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NEUVJETOVANA</a:t>
                      </a:r>
                      <a:r>
                        <a:rPr lang="en-US" sz="1800"/>
                        <a:t> REAKCIJA (</a:t>
                      </a:r>
                      <a:r>
                        <a:rPr lang="en-US" sz="1800"/>
                        <a:t>neugoda, bol, strah</a:t>
                      </a:r>
                      <a:r>
                        <a:rPr lang="en-US" sz="1800"/>
                        <a:t>)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160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NAKON UVJETOVANJA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UVJETOVANI</a:t>
                      </a:r>
                      <a:r>
                        <a:rPr lang="en-US" sz="1800"/>
                        <a:t> PODRAŽAJ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</a:t>
                      </a:r>
                      <a:r>
                        <a:rPr lang="en-US" sz="1800"/>
                        <a:t>zubar</a:t>
                      </a:r>
                      <a:r>
                        <a:rPr lang="en-US" sz="1800"/>
                        <a:t>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UVJETOVANA REAKCIJA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(neugoda, bol, strah)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81" name="Google Shape;181;g2a084459d26_1_5"/>
          <p:cNvCxnSpPr/>
          <p:nvPr/>
        </p:nvCxnSpPr>
        <p:spPr>
          <a:xfrm>
            <a:off x="7176120" y="2492896"/>
            <a:ext cx="1080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82" name="Google Shape;182;g2a084459d26_1_5"/>
          <p:cNvCxnSpPr/>
          <p:nvPr/>
        </p:nvCxnSpPr>
        <p:spPr>
          <a:xfrm>
            <a:off x="7116626" y="3450732"/>
            <a:ext cx="1080000" cy="432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83" name="Google Shape;183;g2a084459d26_1_5"/>
          <p:cNvCxnSpPr/>
          <p:nvPr/>
        </p:nvCxnSpPr>
        <p:spPr>
          <a:xfrm flipH="1" rot="10800000">
            <a:off x="7104112" y="4077112"/>
            <a:ext cx="1152000" cy="360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84" name="Google Shape;184;g2a084459d26_1_5"/>
          <p:cNvCxnSpPr/>
          <p:nvPr/>
        </p:nvCxnSpPr>
        <p:spPr>
          <a:xfrm>
            <a:off x="7104112" y="5733256"/>
            <a:ext cx="1080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Klasično uvjetovanje</a:t>
            </a:r>
            <a:endParaRPr/>
          </a:p>
        </p:txBody>
      </p:sp>
      <p:sp>
        <p:nvSpPr>
          <p:cNvPr id="190" name="Google Shape;190;p10"/>
          <p:cNvSpPr txBox="1"/>
          <p:nvPr>
            <p:ph idx="1" type="body"/>
          </p:nvPr>
        </p:nvSpPr>
        <p:spPr>
          <a:xfrm>
            <a:off x="1981200" y="1600200"/>
            <a:ext cx="8229600" cy="51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Važno:</a:t>
            </a:r>
            <a:endParaRPr/>
          </a:p>
          <a:p>
            <a:pPr indent="-24193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Uvjetovani podražaj treba biti </a:t>
            </a:r>
            <a:r>
              <a:rPr b="1" lang="en-US"/>
              <a:t>prepoznatljiv</a:t>
            </a:r>
            <a:r>
              <a:rPr lang="en-US"/>
              <a:t> i </a:t>
            </a:r>
            <a:r>
              <a:rPr b="1" lang="en-US"/>
              <a:t>dovoljno jak </a:t>
            </a:r>
            <a:r>
              <a:rPr lang="en-US"/>
              <a:t>(zvono, a ne lagani dodir)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4193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Kratki rok </a:t>
            </a:r>
            <a:r>
              <a:rPr lang="en-US"/>
              <a:t>treba proći između podražaja  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4193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Veći broj </a:t>
            </a:r>
            <a:r>
              <a:rPr lang="en-US"/>
              <a:t>uparivanja znači veću vjerojatnost stvaranja uvjetovane reakcije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4193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Ako se uvjetovani podražaj zada sam nekoliko puta prije neuvjetovanog – manja vjerojatnost povezivanja (d</a:t>
            </a:r>
            <a:r>
              <a:rPr lang="en-US" sz="2600"/>
              <a:t>jeca i priprema za zubara – susret sa zubarom, pregled prije potrebe za liječenjem pokvarenog zuba</a:t>
            </a:r>
            <a:r>
              <a:rPr lang="en-US"/>
              <a:t>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Klasično uvjetovanje – važni pojmovi</a:t>
            </a:r>
            <a:endParaRPr/>
          </a:p>
        </p:txBody>
      </p:sp>
      <p:sp>
        <p:nvSpPr>
          <p:cNvPr id="196" name="Google Shape;196;p11"/>
          <p:cNvSpPr txBox="1"/>
          <p:nvPr>
            <p:ph idx="1" type="body"/>
          </p:nvPr>
        </p:nvSpPr>
        <p:spPr>
          <a:xfrm>
            <a:off x="2063552" y="1417638"/>
            <a:ext cx="8229600" cy="4983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</a:t>
            </a:r>
            <a:r>
              <a:rPr b="1" lang="en-US"/>
              <a:t>Generalizacija podražaja </a:t>
            </a:r>
            <a:r>
              <a:rPr lang="en-US"/>
              <a:t>– podražaji slični uvjetovanom podražaju također uzrokuju reakciju: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Npr. Bojimo se zubara, pa generaliziramo strah na sve ljude koji nose bijele kute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Ugrize nas jedan pas, počnemo se bojati svih pasa čak i ako su sasvim druge pasmine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Muka nam je nakon što smo pojeli</a:t>
            </a:r>
            <a:br>
              <a:rPr lang="en-US"/>
            </a:br>
            <a:r>
              <a:rPr lang="en-US"/>
              <a:t>hrenovku pa prestanemo</a:t>
            </a:r>
            <a:br>
              <a:rPr lang="en-US"/>
            </a:br>
            <a:r>
              <a:rPr lang="en-US"/>
              <a:t>jesti svo meso</a:t>
            </a:r>
            <a:endParaRPr/>
          </a:p>
        </p:txBody>
      </p:sp>
      <p:pic>
        <p:nvPicPr>
          <p:cNvPr id="197" name="Google Shape;1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2265" y="4700570"/>
            <a:ext cx="1252913" cy="1882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1" y="0"/>
            <a:ext cx="4167271" cy="68580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 txBox="1"/>
          <p:nvPr>
            <p:ph type="title"/>
          </p:nvPr>
        </p:nvSpPr>
        <p:spPr>
          <a:xfrm>
            <a:off x="686834" y="1153572"/>
            <a:ext cx="3200400" cy="4461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>
                <a:solidFill>
                  <a:srgbClr val="FFFFFF"/>
                </a:solidFill>
              </a:rPr>
              <a:t>Klasično uvjetovanje – važni pojmovi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05" name="Google Shape;205;p12"/>
          <p:cNvSpPr/>
          <p:nvPr/>
        </p:nvSpPr>
        <p:spPr>
          <a:xfrm flipH="1" rot="10800000">
            <a:off x="7550402" y="2455479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 txBox="1"/>
          <p:nvPr>
            <p:ph idx="1" type="body"/>
          </p:nvPr>
        </p:nvSpPr>
        <p:spPr>
          <a:xfrm>
            <a:off x="4447308" y="591344"/>
            <a:ext cx="6906491" cy="558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Diskriminacija podražaja </a:t>
            </a:r>
            <a:r>
              <a:rPr lang="en-US" sz="3200"/>
              <a:t>– učenje razlika među sličnim podražajima.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Npr. Mačka dolazi na zveckanje konzerve hrane, ali ne kad zveckate vilicom u drugu podlogu.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Bojite se velikih pasmina pasa, ali ne i malih</a:t>
            </a:r>
            <a:endParaRPr sz="2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Mačka dođe na zvuk vašeg auta, ali ne i na zvuk drugih automobila </a:t>
            </a:r>
            <a:endParaRPr sz="2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1" y="0"/>
            <a:ext cx="4167271" cy="68580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3"/>
          <p:cNvSpPr txBox="1"/>
          <p:nvPr>
            <p:ph type="title"/>
          </p:nvPr>
        </p:nvSpPr>
        <p:spPr>
          <a:xfrm>
            <a:off x="686834" y="1153572"/>
            <a:ext cx="3200400" cy="4461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>
                <a:solidFill>
                  <a:srgbClr val="FFFFFF"/>
                </a:solidFill>
              </a:rPr>
              <a:t>Klasično uvjetovanje – važni pojmovi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14" name="Google Shape;214;p13"/>
          <p:cNvSpPr/>
          <p:nvPr/>
        </p:nvSpPr>
        <p:spPr>
          <a:xfrm flipH="1" rot="10800000">
            <a:off x="7550402" y="2455479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 txBox="1"/>
          <p:nvPr>
            <p:ph idx="1" type="body"/>
          </p:nvPr>
        </p:nvSpPr>
        <p:spPr>
          <a:xfrm>
            <a:off x="4447308" y="591344"/>
            <a:ext cx="6906491" cy="558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Gašenje – </a:t>
            </a:r>
            <a:r>
              <a:rPr lang="en-US"/>
              <a:t>ako zadajemo uvjetovani podražaj bez neuvjetovanog nakon nekog vremena </a:t>
            </a:r>
            <a:r>
              <a:rPr b="1" lang="en-US"/>
              <a:t>izgubi se njihova veza.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Npr. Mačka prestane dolaziti zato jer neko vrijeme lupkate da je dozovete na mažnju, a ne dajete joj hranu.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Prestanete se bojati neke pojave, jer se ne javlja nikakvo loše iskustvo zajedno s njom  - npr. vozite se liftom, i ne zapnete u njemu ili se družite s psom i ne ugrize vas, već vam bude ugodno s njim...</a:t>
            </a:r>
            <a:endParaRPr b="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1" y="0"/>
            <a:ext cx="4167271" cy="68580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4"/>
          <p:cNvSpPr txBox="1"/>
          <p:nvPr>
            <p:ph type="title"/>
          </p:nvPr>
        </p:nvSpPr>
        <p:spPr>
          <a:xfrm>
            <a:off x="686834" y="1153572"/>
            <a:ext cx="3200400" cy="4461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>
                <a:solidFill>
                  <a:srgbClr val="FFFFFF"/>
                </a:solidFill>
              </a:rPr>
              <a:t>Klasično uvjetovanje – važni pojmovi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23" name="Google Shape;223;p14"/>
          <p:cNvSpPr/>
          <p:nvPr/>
        </p:nvSpPr>
        <p:spPr>
          <a:xfrm flipH="1" rot="10800000">
            <a:off x="7550402" y="2455479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4"/>
          <p:cNvSpPr txBox="1"/>
          <p:nvPr>
            <p:ph idx="1" type="body"/>
          </p:nvPr>
        </p:nvSpPr>
        <p:spPr>
          <a:xfrm>
            <a:off x="4447308" y="591344"/>
            <a:ext cx="6906491" cy="558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Gašenje – </a:t>
            </a:r>
            <a:r>
              <a:rPr lang="en-US"/>
              <a:t>posebno bitno za fobije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Kako se riješiti straha?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Sustavnim izlaganjem onome čega se bojimo, u malim koracima i postupno, </a:t>
            </a:r>
            <a:r>
              <a:rPr b="1" lang="en-US"/>
              <a:t>bez bijega iz situacije</a:t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Navikavamo se na osjećaj nelagode koji onda nakon nekog vremena prolazi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Teže je s emocijom gađenja, nego s emocijom straha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Klasično uvjetovanje</a:t>
            </a:r>
            <a:endParaRPr/>
          </a:p>
        </p:txBody>
      </p:sp>
      <p:pic>
        <p:nvPicPr>
          <p:cNvPr descr="Stivers 2-10-03 Pavlov's dogs.gif" id="230" name="Google Shape;230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62025" y="1600201"/>
            <a:ext cx="5667950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Klasično uvjetovanje</a:t>
            </a:r>
            <a:endParaRPr/>
          </a:p>
        </p:txBody>
      </p:sp>
      <p:pic>
        <p:nvPicPr>
          <p:cNvPr descr="epa0133l.jpg" id="236" name="Google Shape;236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1664" y="1196753"/>
            <a:ext cx="5976664" cy="5364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Zadaća</a:t>
            </a:r>
            <a:endParaRPr/>
          </a:p>
        </p:txBody>
      </p:sp>
      <p:sp>
        <p:nvSpPr>
          <p:cNvPr id="242" name="Google Shape;242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Odaberite primjer iz svog života i na njemu ilustrirajte kako dolazi do klasičnog uvjetovanja prema naučenom obrascu. Pribilježite nekoliko primjera iz svog života gdje uočavate klasično uvjetovanje.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43" name="Google Shape;2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3713" y="3199044"/>
            <a:ext cx="4878607" cy="3658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2020-12-18T10:58:51Z</dcterms:created>
  <dc:creator>Lejla Talić</dc:creator>
</cp:coreProperties>
</file>