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Nuni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36" roundtripDataSignature="AMtx7mhiYfPwuhVrzKgXMPo8eGllenM4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Nunito-bold.fntdata"/><Relationship Id="rId10" Type="http://schemas.openxmlformats.org/officeDocument/2006/relationships/slide" Target="slides/slide4.xml"/><Relationship Id="rId32" Type="http://schemas.openxmlformats.org/officeDocument/2006/relationships/font" Target="fonts/Nunito-regular.fntdata"/><Relationship Id="rId13" Type="http://schemas.openxmlformats.org/officeDocument/2006/relationships/slide" Target="slides/slide7.xml"/><Relationship Id="rId35" Type="http://schemas.openxmlformats.org/officeDocument/2006/relationships/font" Target="fonts/Nunito-boldItalic.fntdata"/><Relationship Id="rId12" Type="http://schemas.openxmlformats.org/officeDocument/2006/relationships/slide" Target="slides/slide6.xml"/><Relationship Id="rId34" Type="http://schemas.openxmlformats.org/officeDocument/2006/relationships/font" Target="fonts/Nunito-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Psihologija se razlikuje od svakodnevnog primišljanja jer se temelji na </a:t>
            </a:r>
            <a:r>
              <a:rPr b="1" lang="en-US"/>
              <a:t>znanstvenom pristupu.</a:t>
            </a:r>
            <a:endParaRPr/>
          </a:p>
        </p:txBody>
      </p:sp>
      <p:sp>
        <p:nvSpPr>
          <p:cNvPr id="113" name="Google Shape;11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Psihologija je znanost o psihičkim procesima i ponašanju te njihovim uzrocima i posljedicama.</a:t>
            </a:r>
            <a:endParaRPr/>
          </a:p>
        </p:txBody>
      </p:sp>
      <p:sp>
        <p:nvSpPr>
          <p:cNvPr id="121" name="Google Shape;12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Za one koje zanima više – video o uvjerenjima o psihologiji.</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Predmet istraživanja psihologije: </a:t>
            </a:r>
            <a:endParaRPr/>
          </a:p>
          <a:p>
            <a:pPr indent="0" lvl="0" marL="0" rtl="0" algn="l">
              <a:lnSpc>
                <a:spcPct val="100000"/>
              </a:lnSpc>
              <a:spcBef>
                <a:spcPts val="0"/>
              </a:spcBef>
              <a:spcAft>
                <a:spcPts val="0"/>
              </a:spcAft>
              <a:buClr>
                <a:schemeClr val="dk1"/>
              </a:buClr>
              <a:buSzPts val="1200"/>
              <a:buFont typeface="Arial"/>
              <a:buChar char="•"/>
            </a:pPr>
            <a:r>
              <a:rPr lang="en-US"/>
              <a:t>psihički procesi</a:t>
            </a:r>
            <a:endParaRPr/>
          </a:p>
          <a:p>
            <a:pPr indent="-76200" lvl="1" marL="457200" rtl="0" algn="l">
              <a:lnSpc>
                <a:spcPct val="100000"/>
              </a:lnSpc>
              <a:spcBef>
                <a:spcPts val="0"/>
              </a:spcBef>
              <a:spcAft>
                <a:spcPts val="0"/>
              </a:spcAft>
              <a:buClr>
                <a:schemeClr val="dk1"/>
              </a:buClr>
              <a:buSzPts val="1200"/>
              <a:buFont typeface="Arial"/>
              <a:buChar char="•"/>
            </a:pPr>
            <a:r>
              <a:rPr lang="en-US"/>
              <a:t>spoznajni, emocionalni, motivacijski</a:t>
            </a:r>
            <a:endParaRPr/>
          </a:p>
          <a:p>
            <a:pPr indent="0" lvl="0" marL="0" rtl="0" algn="l">
              <a:lnSpc>
                <a:spcPct val="100000"/>
              </a:lnSpc>
              <a:spcBef>
                <a:spcPts val="0"/>
              </a:spcBef>
              <a:spcAft>
                <a:spcPts val="0"/>
              </a:spcAft>
              <a:buClr>
                <a:schemeClr val="dk1"/>
              </a:buClr>
              <a:buSzPts val="1200"/>
              <a:buFont typeface="Arial"/>
              <a:buChar char="•"/>
            </a:pPr>
            <a:r>
              <a:rPr lang="en-US"/>
              <a:t>ponašanje </a:t>
            </a:r>
            <a:endParaRPr/>
          </a:p>
        </p:txBody>
      </p:sp>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Psihički procesi i ponašanje su međusobno povezani. Različite vrste psihičkih procesa, također su međusobno povezane.</a:t>
            </a:r>
            <a:endParaRPr/>
          </a:p>
        </p:txBody>
      </p:sp>
      <p:sp>
        <p:nvSpPr>
          <p:cNvPr id="173" name="Google Shape;17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400"/>
              <a:buNone/>
            </a:pPr>
            <a:br>
              <a:rPr b="0" i="0" lang="en-US" u="sng">
                <a:solidFill>
                  <a:srgbClr val="00A885"/>
                </a:solidFill>
                <a:latin typeface="Nunito"/>
                <a:ea typeface="Nunito"/>
                <a:cs typeface="Nunito"/>
                <a:sym typeface="Nunito"/>
              </a:rPr>
            </a:br>
            <a:r>
              <a:rPr b="0" i="0" lang="en-US" u="sng">
                <a:solidFill>
                  <a:srgbClr val="00A885"/>
                </a:solidFill>
                <a:latin typeface="Nunito"/>
                <a:ea typeface="Nunito"/>
                <a:cs typeface="Nunito"/>
                <a:sym typeface="Nunito"/>
              </a:rPr>
              <a:t>Četiri cilja znanosti</a:t>
            </a:r>
            <a:r>
              <a:rPr b="0" i="0" lang="en-US">
                <a:solidFill>
                  <a:srgbClr val="00A885"/>
                </a:solidFill>
                <a:latin typeface="Nunito"/>
                <a:ea typeface="Nunito"/>
                <a:cs typeface="Nunito"/>
                <a:sym typeface="Nunito"/>
              </a:rPr>
              <a:t> mogu se primijeniti u brojnim situacijama svakidašnjeg života. Primjerice, roditelj može opažati i opisati ponašanja svojeg djeteta (npr. plakanje kada mora ići u vrtić ili doktoru) i razumjeti uzroke takvog ponašanja (strah da se roditelj neće vratiti, neugodno prethodno iskustvo i sl.). Na temelju toga može predvidjeti da će se dijete opet isto ponašati te pronaći način da utječe na ponašanje djeteta raznim odgojnim metodama kojima će smanjiti strah djeteta od napuštanja ili neugode. </a:t>
            </a:r>
            <a:endParaRPr b="0" i="0">
              <a:solidFill>
                <a:srgbClr val="00A885"/>
              </a:solidFill>
              <a:latin typeface="Nunito"/>
              <a:ea typeface="Nunito"/>
              <a:cs typeface="Nunito"/>
              <a:sym typeface="Nunito"/>
            </a:endParaRPr>
          </a:p>
          <a:p>
            <a:pPr indent="0" lvl="0" marL="0" rtl="0" algn="just">
              <a:lnSpc>
                <a:spcPct val="100000"/>
              </a:lnSpc>
              <a:spcBef>
                <a:spcPts val="0"/>
              </a:spcBef>
              <a:spcAft>
                <a:spcPts val="0"/>
              </a:spcAft>
              <a:buSzPts val="1400"/>
              <a:buNone/>
            </a:pPr>
            <a:r>
              <a:t/>
            </a:r>
            <a:endParaRPr b="0" i="0">
              <a:solidFill>
                <a:srgbClr val="262626"/>
              </a:solidFill>
              <a:latin typeface="Nunito"/>
              <a:ea typeface="Nunito"/>
              <a:cs typeface="Nunito"/>
              <a:sym typeface="Nunito"/>
            </a:endParaRPr>
          </a:p>
          <a:p>
            <a:pPr indent="0" lvl="0" marL="0" rtl="0" algn="just">
              <a:lnSpc>
                <a:spcPct val="100000"/>
              </a:lnSpc>
              <a:spcBef>
                <a:spcPts val="0"/>
              </a:spcBef>
              <a:spcAft>
                <a:spcPts val="0"/>
              </a:spcAft>
              <a:buSzPts val="1400"/>
              <a:buNone/>
            </a:pPr>
            <a:r>
              <a:rPr b="0" i="0" lang="en-US">
                <a:solidFill>
                  <a:srgbClr val="00A885"/>
                </a:solidFill>
                <a:latin typeface="Nunito"/>
                <a:ea typeface="Nunito"/>
                <a:cs typeface="Nunito"/>
                <a:sym typeface="Nunito"/>
              </a:rPr>
              <a:t>Sportski trener može opisati ponašanja sportaša kojeg trenira (tjeskoba ili blokada prije važne utakmice), razumjeti zbog čega se to ponašanje događa (previsoka očekivanja okoline, strah od neuspjeha), predvidjeti mogućnost takvog ponašanja u sljedećoj situaciji te pronaći način da nauči sportaša tehnikama ovladavanja emocijama, boljoj samokontroli i slično. U svim tim situacijama spoznaje iz psihologije mogu pomoći u rješavanju konkretnih problema koji su smetnja pojedincu ili skupini u funkcioniranju, održavanju dobrih odnosa ili postizanju ciljeva te im pomažu zamijeniti ih učinkovitijim.  </a:t>
            </a:r>
            <a:endParaRPr b="0" i="0">
              <a:solidFill>
                <a:srgbClr val="262626"/>
              </a:solidFill>
              <a:latin typeface="Nunito"/>
              <a:ea typeface="Nunito"/>
              <a:cs typeface="Nunito"/>
              <a:sym typeface="Nunito"/>
            </a:endParaRPr>
          </a:p>
          <a:p>
            <a:pPr indent="0" lvl="0" marL="0" rtl="0" algn="l">
              <a:lnSpc>
                <a:spcPct val="100000"/>
              </a:lnSpc>
              <a:spcBef>
                <a:spcPts val="0"/>
              </a:spcBef>
              <a:spcAft>
                <a:spcPts val="0"/>
              </a:spcAft>
              <a:buSzPts val="1400"/>
              <a:buNone/>
            </a:pPr>
            <a:r>
              <a:t/>
            </a:r>
            <a:endParaRPr/>
          </a:p>
        </p:txBody>
      </p:sp>
      <p:sp>
        <p:nvSpPr>
          <p:cNvPr id="196" name="Google Shape;19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Zadatak: d</a:t>
            </a:r>
            <a:r>
              <a:rPr lang="en-US"/>
              <a:t>efinicija i povijest psihologije, područja rada psihologa - radni list</a:t>
            </a:r>
            <a:endParaRPr/>
          </a:p>
        </p:txBody>
      </p:sp>
      <p:sp>
        <p:nvSpPr>
          <p:cNvPr id="206" name="Google Shape;2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3d26a444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03d26a444c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303d26a444c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Vrednovanje zadaće: + ili - </a:t>
            </a:r>
            <a:endParaRPr/>
          </a:p>
        </p:txBody>
      </p:sp>
      <p:sp>
        <p:nvSpPr>
          <p:cNvPr id="316" name="Google Shape;3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Teorije i spoznaje iz psihologije primjenjive su u mnogim različitim područjima života.</a:t>
            </a:r>
            <a:endParaRPr/>
          </a:p>
        </p:txBody>
      </p:sp>
      <p:sp>
        <p:nvSpPr>
          <p:cNvPr id="323" name="Google Shape;32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ni slajd"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sadržaj"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glavlje sekcije" type="secHead">
  <p:cSld name="SECTION_HEADER">
    <p:spTree>
      <p:nvGrpSpPr>
        <p:cNvPr id="27" name="Shape 27"/>
        <p:cNvGrpSpPr/>
        <p:nvPr/>
      </p:nvGrpSpPr>
      <p:grpSpPr>
        <a:xfrm>
          <a:off x="0" y="0"/>
          <a:ext cx="0" cy="0"/>
          <a:chOff x="0" y="0"/>
          <a:chExt cx="0" cy="0"/>
        </a:xfrm>
      </p:grpSpPr>
      <p:sp>
        <p:nvSpPr>
          <p:cNvPr id="28" name="Google Shape;28;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va sadržaja" type="twoObj">
  <p:cSld name="TWO_OBJECTS">
    <p:spTree>
      <p:nvGrpSpPr>
        <p:cNvPr id="33" name="Shape 33"/>
        <p:cNvGrpSpPr/>
        <p:nvPr/>
      </p:nvGrpSpPr>
      <p:grpSpPr>
        <a:xfrm>
          <a:off x="0" y="0"/>
          <a:ext cx="0" cy="0"/>
          <a:chOff x="0" y="0"/>
          <a:chExt cx="0" cy="0"/>
        </a:xfrm>
      </p:grpSpPr>
      <p:sp>
        <p:nvSpPr>
          <p:cNvPr id="34" name="Google Shape;3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poredba" type="twoTxTwoObj">
  <p:cSld name="TWO_OBJECTS_WITH_TEXT">
    <p:spTree>
      <p:nvGrpSpPr>
        <p:cNvPr id="40" name="Shape 40"/>
        <p:cNvGrpSpPr/>
        <p:nvPr/>
      </p:nvGrpSpPr>
      <p:grpSpPr>
        <a:xfrm>
          <a:off x="0" y="0"/>
          <a:ext cx="0" cy="0"/>
          <a:chOff x="0" y="0"/>
          <a:chExt cx="0" cy="0"/>
        </a:xfrm>
      </p:grpSpPr>
      <p:sp>
        <p:nvSpPr>
          <p:cNvPr id="41" name="Google Shape;41;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mo naslov" type="titleOnly">
  <p:cSld name="TITLE_ONLY">
    <p:spTree>
      <p:nvGrpSpPr>
        <p:cNvPr id="49" name="Shape 49"/>
        <p:cNvGrpSpPr/>
        <p:nvPr/>
      </p:nvGrpSpPr>
      <p:grpSpPr>
        <a:xfrm>
          <a:off x="0" y="0"/>
          <a:ext cx="0" cy="0"/>
          <a:chOff x="0" y="0"/>
          <a:chExt cx="0" cy="0"/>
        </a:xfrm>
      </p:grpSpPr>
      <p:sp>
        <p:nvSpPr>
          <p:cNvPr id="50" name="Google Shape;5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azno" type="blank">
  <p:cSld name="BLANK">
    <p:spTree>
      <p:nvGrpSpPr>
        <p:cNvPr id="54" name="Shape 54"/>
        <p:cNvGrpSpPr/>
        <p:nvPr/>
      </p:nvGrpSpPr>
      <p:grpSpPr>
        <a:xfrm>
          <a:off x="0" y="0"/>
          <a:ext cx="0" cy="0"/>
          <a:chOff x="0" y="0"/>
          <a:chExt cx="0" cy="0"/>
        </a:xfrm>
      </p:grpSpPr>
      <p:sp>
        <p:nvSpPr>
          <p:cNvPr id="55" name="Google Shape;5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držaj s opisom" type="objTx">
  <p:cSld name="OBJECT_WITH_CAPTION_TEXT">
    <p:spTree>
      <p:nvGrpSpPr>
        <p:cNvPr id="58" name="Shape 58"/>
        <p:cNvGrpSpPr/>
        <p:nvPr/>
      </p:nvGrpSpPr>
      <p:grpSpPr>
        <a:xfrm>
          <a:off x="0" y="0"/>
          <a:ext cx="0" cy="0"/>
          <a:chOff x="0" y="0"/>
          <a:chExt cx="0" cy="0"/>
        </a:xfrm>
      </p:grpSpPr>
      <p:sp>
        <p:nvSpPr>
          <p:cNvPr id="59" name="Google Shape;59;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ka s opisom" type="picTx">
  <p:cSld name="PICTURE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p:nvPr>
            <p:ph idx="2" type="pic"/>
          </p:nvPr>
        </p:nvSpPr>
        <p:spPr>
          <a:xfrm>
            <a:off x="5183188" y="987425"/>
            <a:ext cx="6172200" cy="4873625"/>
          </a:xfrm>
          <a:prstGeom prst="rect">
            <a:avLst/>
          </a:prstGeom>
          <a:noFill/>
          <a:ln>
            <a:noFill/>
          </a:ln>
        </p:spPr>
      </p:sp>
      <p:sp>
        <p:nvSpPr>
          <p:cNvPr id="68" name="Google Shape;68;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okomiti tekst" type="vertTx">
  <p:cSld name="VERTICAL_TEXT">
    <p:spTree>
      <p:nvGrpSpPr>
        <p:cNvPr id="72" name="Shape 72"/>
        <p:cNvGrpSpPr/>
        <p:nvPr/>
      </p:nvGrpSpPr>
      <p:grpSpPr>
        <a:xfrm>
          <a:off x="0" y="0"/>
          <a:ext cx="0" cy="0"/>
          <a:chOff x="0" y="0"/>
          <a:chExt cx="0" cy="0"/>
        </a:xfrm>
      </p:grpSpPr>
      <p:sp>
        <p:nvSpPr>
          <p:cNvPr id="73" name="Google Shape;7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komiti naslov i tekst" type="vertTitleAndTx">
  <p:cSld name="VERTICAL_TITLE_AND_VERTICAL_TEXT">
    <p:spTree>
      <p:nvGrpSpPr>
        <p:cNvPr id="78" name="Shape 78"/>
        <p:cNvGrpSpPr/>
        <p:nvPr/>
      </p:nvGrpSpPr>
      <p:grpSpPr>
        <a:xfrm>
          <a:off x="0" y="0"/>
          <a:ext cx="0" cy="0"/>
          <a:chOff x="0" y="0"/>
          <a:chExt cx="0" cy="0"/>
        </a:xfrm>
      </p:grpSpPr>
      <p:sp>
        <p:nvSpPr>
          <p:cNvPr id="79" name="Google Shape;79;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sadržaj" type="obj">
  <p:cSld name="OBJECT">
    <p:spTree>
      <p:nvGrpSpPr>
        <p:cNvPr id="90" name="Shape 90"/>
        <p:cNvGrpSpPr/>
        <p:nvPr/>
      </p:nvGrpSpPr>
      <p:grpSpPr>
        <a:xfrm>
          <a:off x="0" y="0"/>
          <a:ext cx="0" cy="0"/>
          <a:chOff x="0" y="0"/>
          <a:chExt cx="0" cy="0"/>
        </a:xfrm>
      </p:grpSpPr>
      <p:sp>
        <p:nvSpPr>
          <p:cNvPr id="91" name="Google Shape;91;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 name="Google Shape;9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7" name="Google Shape;87;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88" name="Google Shape;88;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89" name="Google Shape;89;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hyperlink" Target="https://www.ted.com/talks/ben_ambridge_9_myths_about_psychology_debunked/transcript?language=h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28.jpg"/><Relationship Id="rId5"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7.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p1"/>
          <p:cNvSpPr txBox="1"/>
          <p:nvPr>
            <p:ph type="ctrTitle"/>
          </p:nvPr>
        </p:nvSpPr>
        <p:spPr>
          <a:xfrm>
            <a:off x="6194715" y="1041635"/>
            <a:ext cx="5334930" cy="300414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Psihologija</a:t>
            </a:r>
            <a:endParaRPr b="1"/>
          </a:p>
        </p:txBody>
      </p:sp>
      <p:sp>
        <p:nvSpPr>
          <p:cNvPr id="102" name="Google Shape;102;p1"/>
          <p:cNvSpPr txBox="1"/>
          <p:nvPr>
            <p:ph idx="1" type="subTitle"/>
          </p:nvPr>
        </p:nvSpPr>
        <p:spPr>
          <a:xfrm>
            <a:off x="6194715" y="3836197"/>
            <a:ext cx="5334931" cy="2189214"/>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t/>
            </a:r>
            <a:endParaRPr sz="2000">
              <a:solidFill>
                <a:srgbClr val="7F7F7F"/>
              </a:solidFill>
            </a:endParaRPr>
          </a:p>
        </p:txBody>
      </p:sp>
      <p:sp>
        <p:nvSpPr>
          <p:cNvPr id="103" name="Google Shape;103;p1"/>
          <p:cNvSpPr/>
          <p:nvPr/>
        </p:nvSpPr>
        <p:spPr>
          <a:xfrm flipH="1">
            <a:off x="530529" y="1"/>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1"/>
          <p:cNvSpPr/>
          <p:nvPr/>
        </p:nvSpPr>
        <p:spPr>
          <a:xfrm flipH="1">
            <a:off x="4349052" y="0"/>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p:nvPr/>
        </p:nvSpPr>
        <p:spPr>
          <a:xfrm flipH="1">
            <a:off x="0" y="2916245"/>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1"/>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
          <p:cNvSpPr/>
          <p:nvPr/>
        </p:nvSpPr>
        <p:spPr>
          <a:xfrm flipH="1">
            <a:off x="3697761" y="5717906"/>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mazon.com: Human Brain Art Print - Coronal Brain Artwork - Neurology,  Neuroscience, Psychology Prints - Colorful Watercolor Wall Decor by J.  Sayuri (12&quot; x 12&quot;): Posters &amp; Prints" id="108" name="Google Shape;108;p1"/>
          <p:cNvPicPr preferRelativeResize="0"/>
          <p:nvPr/>
        </p:nvPicPr>
        <p:blipFill rotWithShape="1">
          <a:blip r:embed="rId3">
            <a:alphaModFix/>
          </a:blip>
          <a:srcRect b="-1" l="250" r="0" t="0"/>
          <a:stretch/>
        </p:blipFill>
        <p:spPr>
          <a:xfrm>
            <a:off x="631840" y="598720"/>
            <a:ext cx="5178249" cy="5178249"/>
          </a:xfrm>
          <a:custGeom>
            <a:rect b="b" l="l" r="r" t="t"/>
            <a:pathLst>
              <a:path extrusionOk="0" h="3741748" w="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109" name="Google Shape;109;p1"/>
          <p:cNvSpPr/>
          <p:nvPr/>
        </p:nvSpPr>
        <p:spPr>
          <a:xfrm flipH="1">
            <a:off x="4520513" y="6258756"/>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Što je psihologija?</a:t>
            </a:r>
            <a:endParaRPr/>
          </a:p>
        </p:txBody>
      </p:sp>
      <p:sp>
        <p:nvSpPr>
          <p:cNvPr id="116" name="Google Shape;116;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 čemu se znanstvena psihologija razlikuje od svakodnevnog promišljanja ljudi?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7" name="Google Shape;117;p2"/>
          <p:cNvPicPr preferRelativeResize="0"/>
          <p:nvPr/>
        </p:nvPicPr>
        <p:blipFill rotWithShape="1">
          <a:blip r:embed="rId3">
            <a:alphaModFix/>
          </a:blip>
          <a:srcRect b="0" l="0" r="0" t="0"/>
          <a:stretch/>
        </p:blipFill>
        <p:spPr>
          <a:xfrm>
            <a:off x="4027519" y="2976596"/>
            <a:ext cx="4136962" cy="31061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colorful, blue, colored, sitting&#10;&#10;Description automatically generated" id="124" name="Google Shape;124;p3"/>
          <p:cNvPicPr preferRelativeResize="0"/>
          <p:nvPr/>
        </p:nvPicPr>
        <p:blipFill rotWithShape="1">
          <a:blip r:embed="rId3">
            <a:alphaModFix/>
          </a:blip>
          <a:srcRect b="3624" l="0" r="9089" t="7029"/>
          <a:stretch/>
        </p:blipFill>
        <p:spPr>
          <a:xfrm>
            <a:off x="3523488" y="10"/>
            <a:ext cx="8668512" cy="6857990"/>
          </a:xfrm>
          <a:prstGeom prst="rect">
            <a:avLst/>
          </a:prstGeom>
          <a:noFill/>
          <a:ln>
            <a:noFill/>
          </a:ln>
        </p:spPr>
      </p:pic>
      <p:sp>
        <p:nvSpPr>
          <p:cNvPr id="125" name="Google Shape;125;p3"/>
          <p:cNvSpPr/>
          <p:nvPr/>
        </p:nvSpPr>
        <p:spPr>
          <a:xfrm>
            <a:off x="2" y="0"/>
            <a:ext cx="9756601" cy="6858000"/>
          </a:xfrm>
          <a:prstGeom prst="rect">
            <a:avLst/>
          </a:prstGeom>
          <a:gradFill>
            <a:gsLst>
              <a:gs pos="0">
                <a:srgbClr val="FFFFFF">
                  <a:alpha val="0"/>
                </a:srgbClr>
              </a:gs>
              <a:gs pos="19000">
                <a:srgbClr val="FFFFFF">
                  <a:alpha val="37254"/>
                </a:srgbClr>
              </a:gs>
              <a:gs pos="35000">
                <a:srgbClr val="FFFFFF">
                  <a:alpha val="77254"/>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3"/>
          <p:cNvSpPr txBox="1"/>
          <p:nvPr>
            <p:ph type="title"/>
          </p:nvPr>
        </p:nvSpPr>
        <p:spPr>
          <a:xfrm>
            <a:off x="371094" y="386772"/>
            <a:ext cx="5163944" cy="18992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Definicija psihologije </a:t>
            </a:r>
            <a:endParaRPr/>
          </a:p>
        </p:txBody>
      </p:sp>
      <p:sp>
        <p:nvSpPr>
          <p:cNvPr id="127" name="Google Shape;127;p3"/>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8" name="Google Shape;128;p3"/>
          <p:cNvSpPr/>
          <p:nvPr/>
        </p:nvSpPr>
        <p:spPr>
          <a:xfrm>
            <a:off x="428244" y="2443480"/>
            <a:ext cx="3300984" cy="9144"/>
          </a:xfrm>
          <a:prstGeom prst="rect">
            <a:avLst/>
          </a:prstGeom>
          <a:solidFill>
            <a:srgbClr val="D5D5D5"/>
          </a:solidFill>
          <a:ln cap="flat" cmpd="sng" w="9525">
            <a:solidFill>
              <a:srgbClr val="D5D5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9" name="Google Shape;129;p3"/>
          <p:cNvSpPr txBox="1"/>
          <p:nvPr>
            <p:ph idx="1" type="body"/>
          </p:nvPr>
        </p:nvSpPr>
        <p:spPr>
          <a:xfrm>
            <a:off x="371094" y="2718054"/>
            <a:ext cx="5724906" cy="320725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None/>
            </a:pPr>
            <a:r>
              <a:rPr b="1" i="1" lang="en-US" sz="3200"/>
              <a:t>Psihologija je znanost o psihičkim procesima i ponašanju.</a:t>
            </a:r>
            <a:endParaRPr b="1" i="1" sz="3200"/>
          </a:p>
          <a:p>
            <a:pPr indent="-120650" lvl="0" marL="228600" rtl="0" algn="l">
              <a:lnSpc>
                <a:spcPct val="90000"/>
              </a:lnSpc>
              <a:spcBef>
                <a:spcPts val="1000"/>
              </a:spcBef>
              <a:spcAft>
                <a:spcPts val="0"/>
              </a:spcAft>
              <a:buClr>
                <a:schemeClr val="dk1"/>
              </a:buClr>
              <a:buSzPts val="1700"/>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4"/>
          <p:cNvSpPr/>
          <p:nvPr/>
        </p:nvSpPr>
        <p:spPr>
          <a:xfrm>
            <a:off x="7465099" y="486184"/>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txBox="1"/>
          <p:nvPr>
            <p:ph type="title"/>
          </p:nvPr>
        </p:nvSpPr>
        <p:spPr>
          <a:xfrm>
            <a:off x="4184542" y="486184"/>
            <a:ext cx="736399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Povijest psihologije</a:t>
            </a:r>
            <a:endParaRPr/>
          </a:p>
        </p:txBody>
      </p:sp>
      <p:pic>
        <p:nvPicPr>
          <p:cNvPr id="137" name="Google Shape;137;p4"/>
          <p:cNvPicPr preferRelativeResize="0"/>
          <p:nvPr/>
        </p:nvPicPr>
        <p:blipFill rotWithShape="1">
          <a:blip r:embed="rId3">
            <a:alphaModFix/>
          </a:blip>
          <a:srcRect b="0" l="0" r="19920" t="0"/>
          <a:stretch/>
        </p:blipFill>
        <p:spPr>
          <a:xfrm>
            <a:off x="581526" y="258142"/>
            <a:ext cx="3118718" cy="3118718"/>
          </a:xfrm>
          <a:custGeom>
            <a:rect b="b" l="l" r="r" t="t"/>
            <a:pathLst>
              <a:path extrusionOk="0" h="2683042" w="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a:ln>
            <a:noFill/>
          </a:ln>
        </p:spPr>
      </p:pic>
      <p:pic>
        <p:nvPicPr>
          <p:cNvPr descr="Slikovni rezultat za ramiro bujas" id="138" name="Google Shape;138;p4"/>
          <p:cNvPicPr preferRelativeResize="0"/>
          <p:nvPr/>
        </p:nvPicPr>
        <p:blipFill rotWithShape="1">
          <a:blip r:embed="rId4">
            <a:alphaModFix/>
          </a:blip>
          <a:srcRect b="14872" l="0" r="-3" t="15125"/>
          <a:stretch/>
        </p:blipFill>
        <p:spPr>
          <a:xfrm>
            <a:off x="581526" y="3486449"/>
            <a:ext cx="3118718" cy="3118718"/>
          </a:xfrm>
          <a:custGeom>
            <a:rect b="b" l="l" r="r" t="t"/>
            <a:pathLst>
              <a:path extrusionOk="0" h="2683042" w="2683042">
                <a:moveTo>
                  <a:pt x="102278" y="0"/>
                </a:moveTo>
                <a:lnTo>
                  <a:pt x="2580764" y="0"/>
                </a:lnTo>
                <a:cubicBezTo>
                  <a:pt x="2637251" y="0"/>
                  <a:pt x="2683042" y="45791"/>
                  <a:pt x="2683042" y="102278"/>
                </a:cubicBezTo>
                <a:lnTo>
                  <a:pt x="2683042" y="2580764"/>
                </a:lnTo>
                <a:cubicBezTo>
                  <a:pt x="2683042" y="2637251"/>
                  <a:pt x="2637251" y="2683042"/>
                  <a:pt x="2580764" y="2683042"/>
                </a:cubicBezTo>
                <a:lnTo>
                  <a:pt x="102278" y="2683042"/>
                </a:lnTo>
                <a:cubicBezTo>
                  <a:pt x="45791" y="2683042"/>
                  <a:pt x="0" y="2637251"/>
                  <a:pt x="0" y="2580764"/>
                </a:cubicBezTo>
                <a:lnTo>
                  <a:pt x="0" y="102278"/>
                </a:lnTo>
                <a:cubicBezTo>
                  <a:pt x="0" y="45791"/>
                  <a:pt x="45791" y="0"/>
                  <a:pt x="102278" y="0"/>
                </a:cubicBezTo>
                <a:close/>
              </a:path>
            </a:pathLst>
          </a:custGeom>
          <a:noFill/>
          <a:ln>
            <a:noFill/>
          </a:ln>
        </p:spPr>
      </p:pic>
      <p:sp>
        <p:nvSpPr>
          <p:cNvPr id="139" name="Google Shape;139;p4"/>
          <p:cNvSpPr txBox="1"/>
          <p:nvPr>
            <p:ph idx="1" type="body"/>
          </p:nvPr>
        </p:nvSpPr>
        <p:spPr>
          <a:xfrm>
            <a:off x="4184542" y="1946684"/>
            <a:ext cx="736399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Psihologija je dugo (do sredine 19. stoljeća) bila sastavni dio filozofije, a onda se izdvojila i postala samostalna znanost</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Riječ psihologija nastala je spajanjem dviju grčkih riječi  psyché (= duša) + logos (= riječ, govor, znanost). Ta definicija se danas više ne koristi! </a:t>
            </a:r>
            <a:endParaRPr/>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Psihologija postaje </a:t>
            </a:r>
            <a:r>
              <a:rPr b="1" lang="en-US" sz="2000"/>
              <a:t>eksperimentalna</a:t>
            </a:r>
            <a:r>
              <a:rPr lang="en-US" sz="2000"/>
              <a:t> znanost </a:t>
            </a:r>
            <a:r>
              <a:rPr b="1" lang="en-US" sz="2000"/>
              <a:t>1879.</a:t>
            </a:r>
            <a:r>
              <a:rPr lang="en-US" sz="2000"/>
              <a:t> – Wilhelm Wundt, Leibnitz – </a:t>
            </a:r>
            <a:r>
              <a:rPr b="1" lang="en-US" sz="2000"/>
              <a:t>prvi laboratorij za eksperimentalnu psihologiju</a:t>
            </a:r>
            <a:endParaRPr/>
          </a:p>
          <a:p>
            <a:pPr indent="-101600" lvl="0" marL="228600" rtl="0" algn="l">
              <a:lnSpc>
                <a:spcPct val="90000"/>
              </a:lnSpc>
              <a:spcBef>
                <a:spcPts val="1000"/>
              </a:spcBef>
              <a:spcAft>
                <a:spcPts val="0"/>
              </a:spcAft>
              <a:buClr>
                <a:schemeClr val="dk1"/>
              </a:buClr>
              <a:buSzPts val="2000"/>
              <a:buNone/>
            </a:pPr>
            <a:r>
              <a:t/>
            </a:r>
            <a:endParaRPr b="1" sz="2000"/>
          </a:p>
          <a:p>
            <a:pPr indent="-228600" lvl="0" marL="228600" rtl="0" algn="l">
              <a:lnSpc>
                <a:spcPct val="90000"/>
              </a:lnSpc>
              <a:spcBef>
                <a:spcPts val="1000"/>
              </a:spcBef>
              <a:spcAft>
                <a:spcPts val="0"/>
              </a:spcAft>
              <a:buClr>
                <a:schemeClr val="dk1"/>
              </a:buClr>
              <a:buSzPts val="2000"/>
              <a:buChar char="•"/>
            </a:pPr>
            <a:r>
              <a:rPr b="1" lang="en-US" sz="2000"/>
              <a:t>U Hrvatskoj – </a:t>
            </a:r>
            <a:r>
              <a:rPr lang="en-US" sz="2000"/>
              <a:t>prvi laboratorij 1920. </a:t>
            </a:r>
            <a:r>
              <a:rPr b="1" lang="en-US" sz="2000"/>
              <a:t>Ramiro Bujas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pic>
        <p:nvPicPr>
          <p:cNvPr id="145" name="Google Shape;145;p7"/>
          <p:cNvPicPr preferRelativeResize="0"/>
          <p:nvPr/>
        </p:nvPicPr>
        <p:blipFill rotWithShape="1">
          <a:blip r:embed="rId3">
            <a:alphaModFix/>
          </a:blip>
          <a:srcRect b="-1" l="7980" r="2686" t="0"/>
          <a:stretch/>
        </p:blipFill>
        <p:spPr>
          <a:xfrm>
            <a:off x="-1" y="10"/>
            <a:ext cx="12192000" cy="6857990"/>
          </a:xfrm>
          <a:prstGeom prst="rect">
            <a:avLst/>
          </a:prstGeom>
          <a:noFill/>
          <a:ln>
            <a:noFill/>
          </a:ln>
        </p:spPr>
      </p:pic>
      <p:sp>
        <p:nvSpPr>
          <p:cNvPr id="146" name="Google Shape;146;p7"/>
          <p:cNvSpPr/>
          <p:nvPr/>
        </p:nvSpPr>
        <p:spPr>
          <a:xfrm flipH="1">
            <a:off x="0" y="998175"/>
            <a:ext cx="6017172" cy="5859825"/>
          </a:xfrm>
          <a:custGeom>
            <a:rect b="b" l="l" r="r" t="t"/>
            <a:pathLst>
              <a:path extrusionOk="0" h="1298" w="1333">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lt1">
              <a:alpha val="74509"/>
            </a:schemeClr>
          </a:solid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147" name="Google Shape;147;p7"/>
          <p:cNvSpPr txBox="1"/>
          <p:nvPr>
            <p:ph type="title"/>
          </p:nvPr>
        </p:nvSpPr>
        <p:spPr>
          <a:xfrm>
            <a:off x="709448" y="1913950"/>
            <a:ext cx="4204137" cy="134275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lang="en-US" sz="3600"/>
              <a:t>Mitovi ili istina?</a:t>
            </a:r>
            <a:endParaRPr/>
          </a:p>
        </p:txBody>
      </p:sp>
      <p:cxnSp>
        <p:nvCxnSpPr>
          <p:cNvPr id="148" name="Google Shape;148;p7"/>
          <p:cNvCxnSpPr/>
          <p:nvPr/>
        </p:nvCxnSpPr>
        <p:spPr>
          <a:xfrm>
            <a:off x="2287051" y="3337139"/>
            <a:ext cx="935420" cy="0"/>
          </a:xfrm>
          <a:prstGeom prst="straightConnector1">
            <a:avLst/>
          </a:prstGeom>
          <a:noFill/>
          <a:ln cap="sq" cmpd="sng" w="25400">
            <a:solidFill>
              <a:srgbClr val="262626"/>
            </a:solidFill>
            <a:prstDash val="solid"/>
            <a:bevel/>
            <a:headEnd len="sm" w="sm" type="none"/>
            <a:tailEnd len="sm" w="sm" type="none"/>
          </a:ln>
        </p:spPr>
      </p:cxnSp>
      <p:sp>
        <p:nvSpPr>
          <p:cNvPr id="149" name="Google Shape;149;p7"/>
          <p:cNvSpPr txBox="1"/>
          <p:nvPr>
            <p:ph idx="1" type="body"/>
          </p:nvPr>
        </p:nvSpPr>
        <p:spPr>
          <a:xfrm>
            <a:off x="525516" y="3417573"/>
            <a:ext cx="4593021" cy="261983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u="sng">
                <a:solidFill>
                  <a:schemeClr val="hlink"/>
                </a:solidFill>
                <a:hlinkClick r:id="rId4"/>
              </a:rPr>
              <a:t>https://www.ted.com/talks/ben_ambridge_9_myths_about_psychology_debunked/transcript?language=hr</a:t>
            </a:r>
            <a:r>
              <a:rPr lang="en-US" sz="2400"/>
              <a:t>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Predmet istraživanja psihologije</a:t>
            </a:r>
            <a:endParaRPr/>
          </a:p>
        </p:txBody>
      </p:sp>
      <p:sp>
        <p:nvSpPr>
          <p:cNvPr id="156" name="Google Shape;156;p8"/>
          <p:cNvSpPr txBox="1"/>
          <p:nvPr>
            <p:ph idx="1" type="body"/>
          </p:nvPr>
        </p:nvSpPr>
        <p:spPr>
          <a:xfrm>
            <a:off x="526915" y="1712067"/>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b="1" lang="en-US"/>
              <a:t>Psihički procesi: </a:t>
            </a:r>
            <a:endParaRPr b="1"/>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Spoznajni</a:t>
            </a:r>
            <a:r>
              <a:rPr lang="en-US"/>
              <a:t> (kognitivni) procesi: opažanje, pamćenje, </a:t>
            </a:r>
            <a:br>
              <a:rPr lang="en-US"/>
            </a:br>
            <a:r>
              <a:rPr lang="en-US"/>
              <a:t>učenje, mašta, rješavanje problema, mišljenje</a:t>
            </a:r>
            <a:endParaRPr/>
          </a:p>
          <a:p>
            <a:pPr indent="-228600" lvl="0" marL="228600" rtl="0" algn="l">
              <a:lnSpc>
                <a:spcPct val="90000"/>
              </a:lnSpc>
              <a:spcBef>
                <a:spcPts val="1000"/>
              </a:spcBef>
              <a:spcAft>
                <a:spcPts val="0"/>
              </a:spcAft>
              <a:buClr>
                <a:schemeClr val="dk1"/>
              </a:buClr>
              <a:buSzPct val="100000"/>
              <a:buChar char="•"/>
            </a:pPr>
            <a:r>
              <a:rPr b="1" lang="en-US"/>
              <a:t>Emocionalni</a:t>
            </a:r>
            <a:r>
              <a:rPr lang="en-US"/>
              <a:t> (afektivni) procesi: emocije i emocionalna stanja</a:t>
            </a:r>
            <a:endParaRPr/>
          </a:p>
          <a:p>
            <a:pPr indent="-228600" lvl="0" marL="228600" rtl="0" algn="l">
              <a:lnSpc>
                <a:spcPct val="90000"/>
              </a:lnSpc>
              <a:spcBef>
                <a:spcPts val="1000"/>
              </a:spcBef>
              <a:spcAft>
                <a:spcPts val="0"/>
              </a:spcAft>
              <a:buClr>
                <a:schemeClr val="dk1"/>
              </a:buClr>
              <a:buSzPct val="100000"/>
              <a:buChar char="•"/>
            </a:pPr>
            <a:r>
              <a:rPr b="1" lang="en-US"/>
              <a:t>Motivacijski</a:t>
            </a:r>
            <a:r>
              <a:rPr lang="en-US"/>
              <a:t> (konativni) procesi: interesi, navike, želje, potrebe i motivi koji potiču i usmjeravaju aktivnost te određuju intenzitet i trajanje </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b="1" lang="en-US"/>
              <a:t>Ponašanje</a:t>
            </a:r>
            <a:r>
              <a:rPr lang="en-US"/>
              <a:t> je svaka aktivnost čovjeka koja se može opažati ili mjeriti promatranjem iz vana, npr. pokret tijela, klimanje glavom, izraz lica, govor.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How Emotion Influences Buying Behavior (And Marketers Can Use it)" id="157" name="Google Shape;157;p8"/>
          <p:cNvPicPr preferRelativeResize="0"/>
          <p:nvPr/>
        </p:nvPicPr>
        <p:blipFill rotWithShape="1">
          <a:blip r:embed="rId3">
            <a:alphaModFix/>
          </a:blip>
          <a:srcRect b="2" l="9393" r="1514" t="0"/>
          <a:stretch/>
        </p:blipFill>
        <p:spPr>
          <a:xfrm>
            <a:off x="9114817" y="186179"/>
            <a:ext cx="2910351" cy="3046133"/>
          </a:xfrm>
          <a:custGeom>
            <a:rect b="b" l="l" r="r" t="t"/>
            <a:pathLst>
              <a:path extrusionOk="0" h="5063738" w="4838041">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E79">
            <a:alpha val="89411"/>
          </a:srgbClr>
        </a:solidFill>
      </p:bgPr>
    </p:bg>
    <p:spTree>
      <p:nvGrpSpPr>
        <p:cNvPr id="161" name="Shape 161"/>
        <p:cNvGrpSpPr/>
        <p:nvPr/>
      </p:nvGrpSpPr>
      <p:grpSpPr>
        <a:xfrm>
          <a:off x="0" y="0"/>
          <a:ext cx="0" cy="0"/>
          <a:chOff x="0" y="0"/>
          <a:chExt cx="0" cy="0"/>
        </a:xfrm>
      </p:grpSpPr>
      <p:sp>
        <p:nvSpPr>
          <p:cNvPr id="162" name="Google Shape;162;p9"/>
          <p:cNvSpPr txBox="1"/>
          <p:nvPr>
            <p:ph type="title"/>
          </p:nvPr>
        </p:nvSpPr>
        <p:spPr>
          <a:xfrm>
            <a:off x="572498" y="499537"/>
            <a:ext cx="57128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Predmet istraživanja psihologije</a:t>
            </a:r>
            <a:endParaRPr/>
          </a:p>
        </p:txBody>
      </p:sp>
      <p:sp>
        <p:nvSpPr>
          <p:cNvPr id="163" name="Google Shape;163;p9"/>
          <p:cNvSpPr txBox="1"/>
          <p:nvPr>
            <p:ph idx="1" type="body"/>
          </p:nvPr>
        </p:nvSpPr>
        <p:spPr>
          <a:xfrm>
            <a:off x="294517" y="2012716"/>
            <a:ext cx="5200650" cy="4393944"/>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800"/>
              <a:buChar char="•"/>
            </a:pPr>
            <a:r>
              <a:rPr lang="en-US"/>
              <a:t>Što utječe na naše </a:t>
            </a:r>
            <a:r>
              <a:rPr b="1" lang="en-US"/>
              <a:t>psihičke procese?</a:t>
            </a:r>
            <a:endParaRPr/>
          </a:p>
          <a:p>
            <a:pPr indent="-50800" lvl="0" marL="228600" rtl="0" algn="l">
              <a:lnSpc>
                <a:spcPct val="90000"/>
              </a:lnSpc>
              <a:spcBef>
                <a:spcPts val="1000"/>
              </a:spcBef>
              <a:spcAft>
                <a:spcPts val="0"/>
              </a:spcAft>
              <a:buClr>
                <a:schemeClr val="lt1"/>
              </a:buClr>
              <a:buSzPts val="2800"/>
              <a:buNone/>
            </a:pPr>
            <a:r>
              <a:t/>
            </a:r>
            <a:endParaRPr/>
          </a:p>
          <a:p>
            <a:pPr indent="-514350" lvl="0" marL="514350" rtl="0" algn="l">
              <a:lnSpc>
                <a:spcPct val="90000"/>
              </a:lnSpc>
              <a:spcBef>
                <a:spcPts val="1000"/>
              </a:spcBef>
              <a:spcAft>
                <a:spcPts val="0"/>
              </a:spcAft>
              <a:buClr>
                <a:schemeClr val="lt1"/>
              </a:buClr>
              <a:buSzPts val="2800"/>
              <a:buFont typeface="Calibri"/>
              <a:buAutoNum type="arabicPeriod"/>
            </a:pPr>
            <a:r>
              <a:rPr b="1" lang="en-US"/>
              <a:t>Fizikalni čimbenici </a:t>
            </a:r>
            <a:r>
              <a:rPr lang="en-US"/>
              <a:t>– podražaji iz naše okoline</a:t>
            </a:r>
            <a:endParaRPr/>
          </a:p>
          <a:p>
            <a:pPr indent="-514350" lvl="0" marL="514350" rtl="0" algn="l">
              <a:lnSpc>
                <a:spcPct val="90000"/>
              </a:lnSpc>
              <a:spcBef>
                <a:spcPts val="1000"/>
              </a:spcBef>
              <a:spcAft>
                <a:spcPts val="0"/>
              </a:spcAft>
              <a:buClr>
                <a:schemeClr val="lt1"/>
              </a:buClr>
              <a:buSzPts val="2800"/>
              <a:buFont typeface="Calibri"/>
              <a:buAutoNum type="arabicPeriod"/>
            </a:pPr>
            <a:r>
              <a:rPr b="1" lang="en-US"/>
              <a:t>Fiziološki čimbenici </a:t>
            </a:r>
            <a:r>
              <a:rPr lang="en-US"/>
              <a:t>– biološka osnova našeg doživljavanja i ponašanja</a:t>
            </a:r>
            <a:endParaRPr/>
          </a:p>
          <a:p>
            <a:pPr indent="-514350" lvl="0" marL="514350" rtl="0" algn="l">
              <a:lnSpc>
                <a:spcPct val="90000"/>
              </a:lnSpc>
              <a:spcBef>
                <a:spcPts val="1000"/>
              </a:spcBef>
              <a:spcAft>
                <a:spcPts val="0"/>
              </a:spcAft>
              <a:buClr>
                <a:schemeClr val="lt1"/>
              </a:buClr>
              <a:buSzPts val="2800"/>
              <a:buFont typeface="Calibri"/>
              <a:buAutoNum type="arabicPeriod"/>
            </a:pPr>
            <a:r>
              <a:rPr b="1" lang="en-US"/>
              <a:t>Socijalni čimbenici </a:t>
            </a:r>
            <a:r>
              <a:rPr lang="en-US"/>
              <a:t>– utjecaj ljudi iz naše bliže i dalje okoline </a:t>
            </a:r>
            <a:endParaRPr/>
          </a:p>
        </p:txBody>
      </p:sp>
      <p:sp>
        <p:nvSpPr>
          <p:cNvPr id="164" name="Google Shape;164;p9"/>
          <p:cNvSpPr/>
          <p:nvPr/>
        </p:nvSpPr>
        <p:spPr>
          <a:xfrm>
            <a:off x="5804761" y="2650637"/>
            <a:ext cx="3118104" cy="3118104"/>
          </a:xfrm>
          <a:prstGeom prst="ellipse">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5" name="Google Shape;165;p9"/>
          <p:cNvSpPr/>
          <p:nvPr/>
        </p:nvSpPr>
        <p:spPr>
          <a:xfrm>
            <a:off x="7996859" y="0"/>
            <a:ext cx="4198060" cy="3650200"/>
          </a:xfrm>
          <a:custGeom>
            <a:rect b="b" l="l" r="r" t="t"/>
            <a:pathLst>
              <a:path extrusionOk="0" h="3650200" w="4198060">
                <a:moveTo>
                  <a:pt x="262846" y="0"/>
                </a:moveTo>
                <a:lnTo>
                  <a:pt x="4198060" y="0"/>
                </a:lnTo>
                <a:lnTo>
                  <a:pt x="4198060" y="3021648"/>
                </a:lnTo>
                <a:lnTo>
                  <a:pt x="4142653" y="3072005"/>
                </a:lnTo>
                <a:cubicBezTo>
                  <a:pt x="3704967" y="3433216"/>
                  <a:pt x="3143843" y="3650200"/>
                  <a:pt x="2532040" y="3650200"/>
                </a:cubicBezTo>
                <a:cubicBezTo>
                  <a:pt x="1133633" y="3650200"/>
                  <a:pt x="0" y="2516567"/>
                  <a:pt x="0" y="1118160"/>
                </a:cubicBezTo>
                <a:cubicBezTo>
                  <a:pt x="0" y="768558"/>
                  <a:pt x="70852" y="435505"/>
                  <a:pt x="198981" y="132576"/>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The Social Environment &amp; Focus Group Participants' Willingness to Engage |  Research Design Review" id="166" name="Google Shape;166;p9"/>
          <p:cNvPicPr preferRelativeResize="0"/>
          <p:nvPr/>
        </p:nvPicPr>
        <p:blipFill rotWithShape="1">
          <a:blip r:embed="rId3">
            <a:alphaModFix/>
          </a:blip>
          <a:srcRect b="-4" l="13231" r="20016" t="0"/>
          <a:stretch/>
        </p:blipFill>
        <p:spPr>
          <a:xfrm>
            <a:off x="5969353" y="2815228"/>
            <a:ext cx="2788920" cy="2788920"/>
          </a:xfrm>
          <a:custGeom>
            <a:rect b="b" l="l" r="r" t="t"/>
            <a:pathLst>
              <a:path extrusionOk="0" h="2880360" w="2880360">
                <a:moveTo>
                  <a:pt x="1440180" y="0"/>
                </a:moveTo>
                <a:cubicBezTo>
                  <a:pt x="2235569" y="0"/>
                  <a:pt x="2880360" y="644791"/>
                  <a:pt x="2880360" y="1440180"/>
                </a:cubicBezTo>
                <a:cubicBezTo>
                  <a:pt x="2880360" y="2235569"/>
                  <a:pt x="2235569" y="2880360"/>
                  <a:pt x="1440180" y="2880360"/>
                </a:cubicBezTo>
                <a:cubicBezTo>
                  <a:pt x="644791" y="2880360"/>
                  <a:pt x="0" y="2235569"/>
                  <a:pt x="0" y="1440180"/>
                </a:cubicBezTo>
                <a:cubicBezTo>
                  <a:pt x="0" y="644791"/>
                  <a:pt x="644791" y="0"/>
                  <a:pt x="1440180" y="0"/>
                </a:cubicBezTo>
                <a:close/>
              </a:path>
            </a:pathLst>
          </a:custGeom>
          <a:noFill/>
          <a:ln>
            <a:noFill/>
          </a:ln>
        </p:spPr>
      </p:pic>
      <p:pic>
        <p:nvPicPr>
          <p:cNvPr descr="Noise pollution; Let's listen to the sound of silence | ThinkWorth" id="167" name="Google Shape;167;p9"/>
          <p:cNvPicPr preferRelativeResize="0"/>
          <p:nvPr/>
        </p:nvPicPr>
        <p:blipFill rotWithShape="1">
          <a:blip r:embed="rId4">
            <a:alphaModFix/>
          </a:blip>
          <a:srcRect b="1" l="0" r="9455" t="0"/>
          <a:stretch/>
        </p:blipFill>
        <p:spPr>
          <a:xfrm>
            <a:off x="8160603" y="2"/>
            <a:ext cx="4034316" cy="3486455"/>
          </a:xfrm>
          <a:custGeom>
            <a:rect b="b" l="l" r="r" t="t"/>
            <a:pathLst>
              <a:path extrusionOk="0" h="3486455" w="4034316">
                <a:moveTo>
                  <a:pt x="280681" y="0"/>
                </a:moveTo>
                <a:lnTo>
                  <a:pt x="4034316" y="0"/>
                </a:lnTo>
                <a:lnTo>
                  <a:pt x="4034316" y="2800630"/>
                </a:lnTo>
                <a:lnTo>
                  <a:pt x="3874752" y="2945652"/>
                </a:lnTo>
                <a:cubicBezTo>
                  <a:pt x="3465371" y="3283503"/>
                  <a:pt x="2940535" y="3486455"/>
                  <a:pt x="2368296" y="3486455"/>
                </a:cubicBezTo>
                <a:cubicBezTo>
                  <a:pt x="1060322" y="3486455"/>
                  <a:pt x="0" y="2426133"/>
                  <a:pt x="0" y="1118159"/>
                </a:cubicBezTo>
                <a:cubicBezTo>
                  <a:pt x="0" y="791166"/>
                  <a:pt x="66270" y="479650"/>
                  <a:pt x="186113" y="196311"/>
                </a:cubicBezTo>
                <a:close/>
              </a:path>
            </a:pathLst>
          </a:custGeom>
          <a:noFill/>
          <a:ln>
            <a:noFill/>
          </a:ln>
        </p:spPr>
      </p:pic>
      <p:sp>
        <p:nvSpPr>
          <p:cNvPr id="168" name="Google Shape;168;p9"/>
          <p:cNvSpPr/>
          <p:nvPr/>
        </p:nvSpPr>
        <p:spPr>
          <a:xfrm>
            <a:off x="8888132" y="4032250"/>
            <a:ext cx="3303868" cy="2825750"/>
          </a:xfrm>
          <a:custGeom>
            <a:rect b="b" l="l" r="r" t="t"/>
            <a:pathLst>
              <a:path extrusionOk="0" h="2825750" w="3303868">
                <a:moveTo>
                  <a:pt x="1888600" y="0"/>
                </a:moveTo>
                <a:cubicBezTo>
                  <a:pt x="2410123" y="0"/>
                  <a:pt x="2882273" y="211389"/>
                  <a:pt x="3224042" y="553158"/>
                </a:cubicBezTo>
                <a:lnTo>
                  <a:pt x="3303868" y="640989"/>
                </a:lnTo>
                <a:lnTo>
                  <a:pt x="3303868" y="2825750"/>
                </a:lnTo>
                <a:lnTo>
                  <a:pt x="250380" y="2825750"/>
                </a:lnTo>
                <a:lnTo>
                  <a:pt x="227944" y="2788819"/>
                </a:lnTo>
                <a:cubicBezTo>
                  <a:pt x="82574" y="2521217"/>
                  <a:pt x="0" y="2214552"/>
                  <a:pt x="0" y="1888600"/>
                </a:cubicBezTo>
                <a:cubicBezTo>
                  <a:pt x="0" y="845555"/>
                  <a:pt x="845555" y="0"/>
                  <a:pt x="1888600" y="0"/>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picture containing mirror, drawing, glass&#10;&#10;Description automatically generated" id="169" name="Google Shape;169;p9"/>
          <p:cNvPicPr preferRelativeResize="0"/>
          <p:nvPr/>
        </p:nvPicPr>
        <p:blipFill rotWithShape="1">
          <a:blip r:embed="rId5">
            <a:alphaModFix/>
          </a:blip>
          <a:srcRect b="3" l="31347" r="15272" t="0"/>
          <a:stretch/>
        </p:blipFill>
        <p:spPr>
          <a:xfrm>
            <a:off x="9053088" y="4197217"/>
            <a:ext cx="3138912" cy="2660795"/>
          </a:xfrm>
          <a:custGeom>
            <a:rect b="b" l="l" r="r" t="t"/>
            <a:pathLst>
              <a:path extrusionOk="0" h="2660795" w="3138912">
                <a:moveTo>
                  <a:pt x="1723644" y="0"/>
                </a:moveTo>
                <a:cubicBezTo>
                  <a:pt x="2259111" y="0"/>
                  <a:pt x="2737550" y="244172"/>
                  <a:pt x="3053691" y="627247"/>
                </a:cubicBezTo>
                <a:lnTo>
                  <a:pt x="3138912" y="741211"/>
                </a:lnTo>
                <a:lnTo>
                  <a:pt x="3138912" y="2660795"/>
                </a:lnTo>
                <a:lnTo>
                  <a:pt x="278239" y="2660795"/>
                </a:lnTo>
                <a:lnTo>
                  <a:pt x="208035" y="2545235"/>
                </a:lnTo>
                <a:cubicBezTo>
                  <a:pt x="75362" y="2301006"/>
                  <a:pt x="0" y="2021126"/>
                  <a:pt x="0" y="1723644"/>
                </a:cubicBezTo>
                <a:cubicBezTo>
                  <a:pt x="0" y="771702"/>
                  <a:pt x="771702" y="0"/>
                  <a:pt x="1723644" y="0"/>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76" name="Google Shape;176;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77" name="Google Shape;177;p10"/>
          <p:cNvPicPr preferRelativeResize="0"/>
          <p:nvPr/>
        </p:nvPicPr>
        <p:blipFill rotWithShape="1">
          <a:blip r:embed="rId3">
            <a:alphaModFix/>
          </a:blip>
          <a:srcRect b="48089" l="59378" r="17550" t="20883"/>
          <a:stretch/>
        </p:blipFill>
        <p:spPr>
          <a:xfrm>
            <a:off x="1085850" y="157162"/>
            <a:ext cx="8858250" cy="6700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t>Predmet istraživanja psihologije - ponavljanje</a:t>
            </a:r>
            <a:endParaRPr/>
          </a:p>
        </p:txBody>
      </p:sp>
      <p:sp>
        <p:nvSpPr>
          <p:cNvPr id="184" name="Google Shape;184;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85" name="Google Shape;185;p11"/>
          <p:cNvPicPr preferRelativeResize="0"/>
          <p:nvPr/>
        </p:nvPicPr>
        <p:blipFill rotWithShape="1">
          <a:blip r:embed="rId3">
            <a:alphaModFix/>
          </a:blip>
          <a:srcRect b="17992" l="58452" r="14627" t="61389"/>
          <a:stretch/>
        </p:blipFill>
        <p:spPr>
          <a:xfrm>
            <a:off x="494413" y="1482725"/>
            <a:ext cx="11349925" cy="4889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838200" y="3122072"/>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3. Čime se zapravo psiholozi bave?</a:t>
            </a:r>
            <a:br>
              <a:rPr lang="en-US" sz="5400"/>
            </a:br>
            <a:r>
              <a:rPr lang="en-US" sz="4000"/>
              <a:t>Ciljevi psihologije i područja rada psihologa</a:t>
            </a:r>
            <a:endParaRPr sz="5400"/>
          </a:p>
        </p:txBody>
      </p:sp>
      <p:pic>
        <p:nvPicPr>
          <p:cNvPr descr="A picture containing colorful, table, food, sitting&#10;&#10;Description automatically generated" id="192" name="Google Shape;192;p12"/>
          <p:cNvPicPr preferRelativeResize="0"/>
          <p:nvPr/>
        </p:nvPicPr>
        <p:blipFill rotWithShape="1">
          <a:blip r:embed="rId3">
            <a:alphaModFix/>
          </a:blip>
          <a:srcRect b="0" l="0" r="0" t="0"/>
          <a:stretch/>
        </p:blipFill>
        <p:spPr>
          <a:xfrm>
            <a:off x="209677" y="327143"/>
            <a:ext cx="4028556" cy="39600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13"/>
          <p:cNvSpPr txBox="1"/>
          <p:nvPr>
            <p:ph type="title"/>
          </p:nvPr>
        </p:nvSpPr>
        <p:spPr>
          <a:xfrm>
            <a:off x="648929" y="629266"/>
            <a:ext cx="4944152" cy="16223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Ciljevi</a:t>
            </a:r>
            <a:r>
              <a:rPr lang="en-US"/>
              <a:t> psihologije kao znanosti</a:t>
            </a:r>
            <a:endParaRPr/>
          </a:p>
        </p:txBody>
      </p:sp>
      <p:sp>
        <p:nvSpPr>
          <p:cNvPr id="199" name="Google Shape;199;p13"/>
          <p:cNvSpPr txBox="1"/>
          <p:nvPr>
            <p:ph idx="1" type="body"/>
          </p:nvPr>
        </p:nvSpPr>
        <p:spPr>
          <a:xfrm>
            <a:off x="648930" y="2438400"/>
            <a:ext cx="4944151" cy="3785419"/>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200"/>
              <a:buAutoNum type="arabicPeriod"/>
            </a:pPr>
            <a:r>
              <a:rPr b="1" lang="en-US" sz="2200"/>
              <a:t>Opisati</a:t>
            </a:r>
            <a:r>
              <a:rPr lang="en-US" sz="2200"/>
              <a:t> ponašanje i doživljavanje</a:t>
            </a:r>
            <a:endParaRPr/>
          </a:p>
          <a:p>
            <a:pPr indent="-374650" lvl="0" marL="514350" rtl="0" algn="l">
              <a:lnSpc>
                <a:spcPct val="90000"/>
              </a:lnSpc>
              <a:spcBef>
                <a:spcPts val="1000"/>
              </a:spcBef>
              <a:spcAft>
                <a:spcPts val="0"/>
              </a:spcAft>
              <a:buClr>
                <a:schemeClr val="dk1"/>
              </a:buClr>
              <a:buSzPts val="2200"/>
              <a:buNone/>
            </a:pPr>
            <a:r>
              <a:t/>
            </a:r>
            <a:endParaRPr sz="2200"/>
          </a:p>
          <a:p>
            <a:pPr indent="-514350" lvl="0" marL="514350" rtl="0" algn="l">
              <a:lnSpc>
                <a:spcPct val="90000"/>
              </a:lnSpc>
              <a:spcBef>
                <a:spcPts val="1000"/>
              </a:spcBef>
              <a:spcAft>
                <a:spcPts val="0"/>
              </a:spcAft>
              <a:buClr>
                <a:schemeClr val="dk1"/>
              </a:buClr>
              <a:buSzPts val="2200"/>
              <a:buAutoNum type="arabicPeriod"/>
            </a:pPr>
            <a:r>
              <a:rPr b="1" lang="en-US" sz="2200"/>
              <a:t>Objasniti</a:t>
            </a:r>
            <a:r>
              <a:rPr lang="en-US" sz="2200"/>
              <a:t> ponašanje – pitanje </a:t>
            </a:r>
            <a:r>
              <a:rPr i="1" lang="en-US" sz="2200"/>
              <a:t>Zašto? </a:t>
            </a:r>
            <a:r>
              <a:rPr lang="en-US" sz="2200"/>
              <a:t>- otkriti uzročno posljedične veze</a:t>
            </a:r>
            <a:endParaRPr/>
          </a:p>
          <a:p>
            <a:pPr indent="-374650" lvl="0" marL="514350" rtl="0" algn="l">
              <a:lnSpc>
                <a:spcPct val="90000"/>
              </a:lnSpc>
              <a:spcBef>
                <a:spcPts val="1000"/>
              </a:spcBef>
              <a:spcAft>
                <a:spcPts val="0"/>
              </a:spcAft>
              <a:buClr>
                <a:schemeClr val="dk1"/>
              </a:buClr>
              <a:buSzPts val="2200"/>
              <a:buNone/>
            </a:pPr>
            <a:r>
              <a:t/>
            </a:r>
            <a:endParaRPr sz="2200"/>
          </a:p>
          <a:p>
            <a:pPr indent="-514350" lvl="0" marL="514350" rtl="0" algn="l">
              <a:lnSpc>
                <a:spcPct val="90000"/>
              </a:lnSpc>
              <a:spcBef>
                <a:spcPts val="1000"/>
              </a:spcBef>
              <a:spcAft>
                <a:spcPts val="0"/>
              </a:spcAft>
              <a:buClr>
                <a:schemeClr val="dk1"/>
              </a:buClr>
              <a:buSzPts val="2200"/>
              <a:buAutoNum type="arabicPeriod"/>
            </a:pPr>
            <a:r>
              <a:rPr b="1" lang="en-US" sz="2200"/>
              <a:t>Predvidjeti</a:t>
            </a:r>
            <a:r>
              <a:rPr lang="en-US" sz="2200"/>
              <a:t> ponašanje </a:t>
            </a:r>
            <a:endParaRPr/>
          </a:p>
          <a:p>
            <a:pPr indent="-374650" lvl="0" marL="514350" rtl="0" algn="l">
              <a:lnSpc>
                <a:spcPct val="90000"/>
              </a:lnSpc>
              <a:spcBef>
                <a:spcPts val="1000"/>
              </a:spcBef>
              <a:spcAft>
                <a:spcPts val="0"/>
              </a:spcAft>
              <a:buClr>
                <a:schemeClr val="dk1"/>
              </a:buClr>
              <a:buSzPts val="2200"/>
              <a:buNone/>
            </a:pPr>
            <a:r>
              <a:t/>
            </a:r>
            <a:endParaRPr sz="2200"/>
          </a:p>
          <a:p>
            <a:pPr indent="-514350" lvl="0" marL="514350" rtl="0" algn="l">
              <a:lnSpc>
                <a:spcPct val="90000"/>
              </a:lnSpc>
              <a:spcBef>
                <a:spcPts val="1000"/>
              </a:spcBef>
              <a:spcAft>
                <a:spcPts val="0"/>
              </a:spcAft>
              <a:buClr>
                <a:schemeClr val="dk1"/>
              </a:buClr>
              <a:buSzPts val="2200"/>
              <a:buAutoNum type="arabicPeriod"/>
            </a:pPr>
            <a:r>
              <a:rPr b="1" lang="en-US" sz="2200"/>
              <a:t>Utjecati</a:t>
            </a:r>
            <a:r>
              <a:rPr lang="en-US" sz="2200"/>
              <a:t> na ponašanje </a:t>
            </a:r>
            <a:endParaRPr sz="2200"/>
          </a:p>
        </p:txBody>
      </p:sp>
      <p:sp>
        <p:nvSpPr>
          <p:cNvPr id="200" name="Google Shape;200;p13"/>
          <p:cNvSpPr/>
          <p:nvPr/>
        </p:nvSpPr>
        <p:spPr>
          <a:xfrm>
            <a:off x="6092950" y="0"/>
            <a:ext cx="6099050" cy="6858000"/>
          </a:xfrm>
          <a:prstGeom prst="rect">
            <a:avLst/>
          </a:prstGeom>
          <a:solidFill>
            <a:srgbClr val="C8CA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1" name="Google Shape;201;p13"/>
          <p:cNvSpPr/>
          <p:nvPr/>
        </p:nvSpPr>
        <p:spPr>
          <a:xfrm>
            <a:off x="6577582" y="557784"/>
            <a:ext cx="5130204" cy="5739187"/>
          </a:xfrm>
          <a:prstGeom prst="roundRect">
            <a:avLst>
              <a:gd fmla="val 0" name="adj"/>
            </a:avLst>
          </a:prstGeom>
          <a:solidFill>
            <a:srgbClr val="FFFFFF"/>
          </a:solidFill>
          <a:ln cap="flat" cmpd="sng" w="9525">
            <a:solidFill>
              <a:srgbClr val="C8CACA"/>
            </a:solidFill>
            <a:prstDash val="solid"/>
            <a:miter lim="800000"/>
            <a:headEnd len="sm" w="sm" type="none"/>
            <a:tailEnd len="sm" w="sm" type="none"/>
          </a:ln>
          <a:effectLst>
            <a:outerShdw blurRad="57150" rotWithShape="0" algn="t"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basketball, game&#10;&#10;Description automatically generated" id="202" name="Google Shape;202;p13"/>
          <p:cNvPicPr preferRelativeResize="0"/>
          <p:nvPr/>
        </p:nvPicPr>
        <p:blipFill rotWithShape="1">
          <a:blip r:embed="rId3">
            <a:alphaModFix/>
          </a:blip>
          <a:srcRect b="0" l="0" r="13221" t="0"/>
          <a:stretch/>
        </p:blipFill>
        <p:spPr>
          <a:xfrm>
            <a:off x="6904709" y="1712544"/>
            <a:ext cx="4475531" cy="34296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481013" y="13533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Područja rada psihologa – </a:t>
            </a:r>
            <a:r>
              <a:rPr b="1" lang="en-US" sz="4000">
                <a:solidFill>
                  <a:srgbClr val="00B050"/>
                </a:solidFill>
              </a:rPr>
              <a:t>teorijske</a:t>
            </a:r>
            <a:r>
              <a:rPr lang="en-US" sz="4000"/>
              <a:t> i </a:t>
            </a:r>
            <a:r>
              <a:rPr b="1" lang="en-US" sz="4000">
                <a:solidFill>
                  <a:srgbClr val="7030A0"/>
                </a:solidFill>
              </a:rPr>
              <a:t>primijenjene</a:t>
            </a:r>
            <a:r>
              <a:rPr lang="en-US" sz="4000"/>
              <a:t> grane </a:t>
            </a:r>
            <a:endParaRPr sz="4000"/>
          </a:p>
        </p:txBody>
      </p:sp>
      <p:sp>
        <p:nvSpPr>
          <p:cNvPr id="209" name="Google Shape;20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Zadatak:</a:t>
            </a:r>
            <a:endParaRPr/>
          </a:p>
          <a:p>
            <a:pPr indent="0" lvl="0" marL="0" rtl="0" algn="l">
              <a:lnSpc>
                <a:spcPct val="90000"/>
              </a:lnSpc>
              <a:spcBef>
                <a:spcPts val="0"/>
              </a:spcBef>
              <a:spcAft>
                <a:spcPts val="0"/>
              </a:spcAft>
              <a:buClr>
                <a:schemeClr val="dk1"/>
              </a:buClr>
              <a:buSzPts val="2800"/>
              <a:buNone/>
            </a:pPr>
            <a:r>
              <a:t/>
            </a:r>
            <a:endParaRPr/>
          </a:p>
          <a:p>
            <a:pPr indent="-342900" lvl="0" marL="457200" rtl="0" algn="l">
              <a:lnSpc>
                <a:spcPct val="90000"/>
              </a:lnSpc>
              <a:spcBef>
                <a:spcPts val="0"/>
              </a:spcBef>
              <a:spcAft>
                <a:spcPts val="0"/>
              </a:spcAft>
              <a:buSzPts val="1800"/>
              <a:buAutoNum type="alphaLcParenR"/>
            </a:pPr>
            <a:r>
              <a:rPr lang="en-US"/>
              <a:t>Na radnom listiću nalaze se opisi pojedinih područja rada psihologa, a vaš je zadataka odrediti naziv svakog od tih područja. Ako ne znate točan naziv područja - napišite kako biste vi nazvali to područje.</a:t>
            </a:r>
            <a:br>
              <a:rPr lang="en-US"/>
            </a:br>
            <a:br>
              <a:rPr lang="en-US"/>
            </a:br>
            <a:endParaRPr/>
          </a:p>
          <a:p>
            <a:pPr indent="-342900" lvl="0" marL="457200" rtl="0" algn="l">
              <a:lnSpc>
                <a:spcPct val="90000"/>
              </a:lnSpc>
              <a:spcBef>
                <a:spcPts val="0"/>
              </a:spcBef>
              <a:spcAft>
                <a:spcPts val="0"/>
              </a:spcAft>
              <a:buSzPts val="1800"/>
              <a:buAutoNum type="alphaLcParenR"/>
            </a:pPr>
            <a:r>
              <a:rPr lang="en-US"/>
              <a:t>Odgovorite na pitanja na drugoj strani radnog listića.</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03d26a444c_1_0"/>
          <p:cNvSpPr txBox="1"/>
          <p:nvPr>
            <p:ph type="title"/>
          </p:nvPr>
        </p:nvSpPr>
        <p:spPr>
          <a:xfrm>
            <a:off x="481013" y="135334"/>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Područja rada psihologa – </a:t>
            </a:r>
            <a:r>
              <a:rPr b="1" lang="en-US" sz="4000">
                <a:solidFill>
                  <a:srgbClr val="00B050"/>
                </a:solidFill>
              </a:rPr>
              <a:t>teorijske</a:t>
            </a:r>
            <a:r>
              <a:rPr lang="en-US" sz="4000"/>
              <a:t> i </a:t>
            </a:r>
            <a:r>
              <a:rPr b="1" lang="en-US" sz="4000">
                <a:solidFill>
                  <a:srgbClr val="7030A0"/>
                </a:solidFill>
              </a:rPr>
              <a:t>primijenjene</a:t>
            </a:r>
            <a:r>
              <a:rPr lang="en-US" sz="4000"/>
              <a:t> grane </a:t>
            </a:r>
            <a:endParaRPr sz="4000"/>
          </a:p>
        </p:txBody>
      </p:sp>
      <p:sp>
        <p:nvSpPr>
          <p:cNvPr id="216" name="Google Shape;216;g303d26a444c_1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p:txBody>
      </p:sp>
      <p:pic>
        <p:nvPicPr>
          <p:cNvPr id="217" name="Google Shape;217;g303d26a444c_1_0"/>
          <p:cNvPicPr preferRelativeResize="0"/>
          <p:nvPr/>
        </p:nvPicPr>
        <p:blipFill rotWithShape="1">
          <a:blip r:embed="rId3">
            <a:alphaModFix/>
          </a:blip>
          <a:srcRect b="26335" l="22616" r="47849" t="40209"/>
          <a:stretch/>
        </p:blipFill>
        <p:spPr>
          <a:xfrm>
            <a:off x="1782365" y="1379087"/>
            <a:ext cx="8627270" cy="5244415"/>
          </a:xfrm>
          <a:prstGeom prst="rect">
            <a:avLst/>
          </a:prstGeom>
          <a:noFill/>
          <a:ln>
            <a:noFill/>
          </a:ln>
        </p:spPr>
      </p:pic>
      <p:sp>
        <p:nvSpPr>
          <p:cNvPr id="218" name="Google Shape;218;g303d26a444c_1_0"/>
          <p:cNvSpPr/>
          <p:nvPr/>
        </p:nvSpPr>
        <p:spPr>
          <a:xfrm>
            <a:off x="2371725" y="2200278"/>
            <a:ext cx="2886000" cy="4002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303d26a444c_1_0"/>
          <p:cNvSpPr/>
          <p:nvPr/>
        </p:nvSpPr>
        <p:spPr>
          <a:xfrm>
            <a:off x="2514601" y="2915844"/>
            <a:ext cx="1814400" cy="6132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g303d26a444c_1_0"/>
          <p:cNvSpPr/>
          <p:nvPr/>
        </p:nvSpPr>
        <p:spPr>
          <a:xfrm>
            <a:off x="2514601" y="3766147"/>
            <a:ext cx="1581300" cy="6486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g303d26a444c_1_0"/>
          <p:cNvSpPr/>
          <p:nvPr/>
        </p:nvSpPr>
        <p:spPr>
          <a:xfrm>
            <a:off x="2443165" y="4629045"/>
            <a:ext cx="1814400" cy="6486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g303d26a444c_1_0"/>
          <p:cNvSpPr/>
          <p:nvPr/>
        </p:nvSpPr>
        <p:spPr>
          <a:xfrm>
            <a:off x="2921793" y="5346695"/>
            <a:ext cx="1950300" cy="6486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g303d26a444c_1_0"/>
          <p:cNvSpPr/>
          <p:nvPr/>
        </p:nvSpPr>
        <p:spPr>
          <a:xfrm>
            <a:off x="4081463" y="1606544"/>
            <a:ext cx="1950300" cy="648600"/>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g303d26a444c_1_0"/>
          <p:cNvSpPr/>
          <p:nvPr/>
        </p:nvSpPr>
        <p:spPr>
          <a:xfrm>
            <a:off x="6031707" y="1624177"/>
            <a:ext cx="1950300" cy="6486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g303d26a444c_1_0"/>
          <p:cNvSpPr/>
          <p:nvPr/>
        </p:nvSpPr>
        <p:spPr>
          <a:xfrm>
            <a:off x="6992541" y="2114550"/>
            <a:ext cx="3151500" cy="5832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g303d26a444c_1_0"/>
          <p:cNvSpPr/>
          <p:nvPr/>
        </p:nvSpPr>
        <p:spPr>
          <a:xfrm>
            <a:off x="7845029" y="2761058"/>
            <a:ext cx="1814400" cy="879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g303d26a444c_1_0"/>
          <p:cNvSpPr/>
          <p:nvPr/>
        </p:nvSpPr>
        <p:spPr>
          <a:xfrm>
            <a:off x="8124827" y="3662756"/>
            <a:ext cx="1704900" cy="879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g303d26a444c_1_0"/>
          <p:cNvSpPr/>
          <p:nvPr/>
        </p:nvSpPr>
        <p:spPr>
          <a:xfrm>
            <a:off x="7954569" y="4541635"/>
            <a:ext cx="2189700" cy="879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9" name="Google Shape;229;g303d26a444c_1_0"/>
          <p:cNvSpPr/>
          <p:nvPr/>
        </p:nvSpPr>
        <p:spPr>
          <a:xfrm>
            <a:off x="6151959" y="5946069"/>
            <a:ext cx="2077500" cy="753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g303d26a444c_1_0"/>
          <p:cNvSpPr/>
          <p:nvPr/>
        </p:nvSpPr>
        <p:spPr>
          <a:xfrm>
            <a:off x="2643188" y="5969673"/>
            <a:ext cx="3396900" cy="753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g303d26a444c_1_0"/>
          <p:cNvSpPr/>
          <p:nvPr/>
        </p:nvSpPr>
        <p:spPr>
          <a:xfrm>
            <a:off x="6800850" y="5420514"/>
            <a:ext cx="3435600" cy="753000"/>
          </a:xfrm>
          <a:prstGeom prst="ellipse">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838199" y="365125"/>
            <a:ext cx="111918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Područja rada psihologa – </a:t>
            </a:r>
            <a:r>
              <a:rPr b="1" lang="en-US">
                <a:solidFill>
                  <a:srgbClr val="00B050"/>
                </a:solidFill>
              </a:rPr>
              <a:t>teorijske</a:t>
            </a:r>
            <a:r>
              <a:rPr lang="en-US"/>
              <a:t> i </a:t>
            </a:r>
            <a:r>
              <a:rPr b="1" lang="en-US">
                <a:solidFill>
                  <a:srgbClr val="7030A0"/>
                </a:solidFill>
              </a:rPr>
              <a:t>primijenjene</a:t>
            </a:r>
            <a:r>
              <a:rPr lang="en-US"/>
              <a:t> grane </a:t>
            </a:r>
            <a:endParaRPr/>
          </a:p>
        </p:txBody>
      </p:sp>
      <p:sp>
        <p:nvSpPr>
          <p:cNvPr id="237" name="Google Shape;237;p15"/>
          <p:cNvSpPr txBox="1"/>
          <p:nvPr>
            <p:ph idx="1" type="body"/>
          </p:nvPr>
        </p:nvSpPr>
        <p:spPr>
          <a:xfrm>
            <a:off x="838200" y="1825624"/>
            <a:ext cx="11063288" cy="4875214"/>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rgbClr val="00B050"/>
              </a:buClr>
              <a:buSzPct val="100000"/>
              <a:buNone/>
            </a:pPr>
            <a:r>
              <a:rPr b="1" lang="en-US" sz="3000">
                <a:solidFill>
                  <a:srgbClr val="00B050"/>
                </a:solidFill>
              </a:rPr>
              <a:t>1. Biološka psihologija </a:t>
            </a:r>
            <a:r>
              <a:rPr b="1" lang="en-US" sz="3000"/>
              <a:t>– </a:t>
            </a:r>
            <a:r>
              <a:rPr lang="en-US" sz="3000"/>
              <a:t>proučava vezu psihičkih procesa i ponašanja I   bioloških procesa u našem tijelu</a:t>
            </a:r>
            <a:endParaRPr sz="3000"/>
          </a:p>
          <a:p>
            <a:pPr indent="-66675" lvl="0" marL="228600" rtl="0" algn="l">
              <a:lnSpc>
                <a:spcPct val="90000"/>
              </a:lnSpc>
              <a:spcBef>
                <a:spcPts val="1000"/>
              </a:spcBef>
              <a:spcAft>
                <a:spcPts val="0"/>
              </a:spcAft>
              <a:buClr>
                <a:schemeClr val="dk1"/>
              </a:buClr>
              <a:buSzPct val="100000"/>
              <a:buNone/>
            </a:pPr>
            <a:r>
              <a:t/>
            </a:r>
            <a:endParaRPr b="1" sz="3000"/>
          </a:p>
          <a:p>
            <a:pPr indent="-228600" lvl="0" marL="228600" rtl="0" algn="l">
              <a:lnSpc>
                <a:spcPct val="90000"/>
              </a:lnSpc>
              <a:spcBef>
                <a:spcPts val="1000"/>
              </a:spcBef>
              <a:spcAft>
                <a:spcPts val="0"/>
              </a:spcAft>
              <a:buClr>
                <a:schemeClr val="dk1"/>
              </a:buClr>
              <a:buSzPct val="100000"/>
              <a:buChar char="•"/>
            </a:pPr>
            <a:r>
              <a:rPr lang="en-US" sz="3000"/>
              <a:t>Svi psihički procesi imaju </a:t>
            </a:r>
            <a:r>
              <a:rPr b="1" lang="en-US" sz="3000"/>
              <a:t>organsku </a:t>
            </a:r>
            <a:r>
              <a:rPr lang="en-US" sz="3000"/>
              <a:t>osnovu u našem tijelu</a:t>
            </a:r>
            <a:endParaRPr sz="3000"/>
          </a:p>
          <a:p>
            <a:pPr indent="-66675" lvl="0" marL="228600" rtl="0" algn="l">
              <a:lnSpc>
                <a:spcPct val="90000"/>
              </a:lnSpc>
              <a:spcBef>
                <a:spcPts val="1000"/>
              </a:spcBef>
              <a:spcAft>
                <a:spcPts val="0"/>
              </a:spcAft>
              <a:buClr>
                <a:schemeClr val="dk1"/>
              </a:buClr>
              <a:buSzPct val="100000"/>
              <a:buNone/>
            </a:pPr>
            <a:r>
              <a:t/>
            </a:r>
            <a:endParaRPr sz="3000"/>
          </a:p>
          <a:p>
            <a:pPr indent="-228600" lvl="0" marL="228600" rtl="0" algn="l">
              <a:lnSpc>
                <a:spcPct val="90000"/>
              </a:lnSpc>
              <a:spcBef>
                <a:spcPts val="1000"/>
              </a:spcBef>
              <a:spcAft>
                <a:spcPts val="0"/>
              </a:spcAft>
              <a:buClr>
                <a:schemeClr val="dk1"/>
              </a:buClr>
              <a:buSzPct val="100000"/>
              <a:buChar char="•"/>
            </a:pPr>
            <a:r>
              <a:rPr b="1" lang="en-US" sz="3000"/>
              <a:t>Živčani</a:t>
            </a:r>
            <a:r>
              <a:rPr lang="en-US" sz="3000"/>
              <a:t> (PNS, CNS, neurotransmiteri) i </a:t>
            </a:r>
            <a:r>
              <a:rPr b="1" lang="en-US" sz="3000"/>
              <a:t>endokrini</a:t>
            </a:r>
            <a:r>
              <a:rPr lang="en-US" sz="3000"/>
              <a:t> sustav (žlijezde s unutarnjim izlučivanjem, hormoni)</a:t>
            </a:r>
            <a:endParaRPr/>
          </a:p>
          <a:p>
            <a:pPr indent="-66675" lvl="0" marL="228600" rtl="0" algn="l">
              <a:lnSpc>
                <a:spcPct val="90000"/>
              </a:lnSpc>
              <a:spcBef>
                <a:spcPts val="1000"/>
              </a:spcBef>
              <a:spcAft>
                <a:spcPts val="0"/>
              </a:spcAft>
              <a:buClr>
                <a:schemeClr val="dk1"/>
              </a:buClr>
              <a:buSzPct val="100000"/>
              <a:buNone/>
            </a:pPr>
            <a:r>
              <a:t/>
            </a:r>
            <a:endParaRPr sz="3000"/>
          </a:p>
          <a:p>
            <a:pPr indent="-228600" lvl="0" marL="228600" rtl="0" algn="l">
              <a:lnSpc>
                <a:spcPct val="90000"/>
              </a:lnSpc>
              <a:spcBef>
                <a:spcPts val="1000"/>
              </a:spcBef>
              <a:spcAft>
                <a:spcPts val="0"/>
              </a:spcAft>
              <a:buClr>
                <a:schemeClr val="dk1"/>
              </a:buClr>
              <a:buSzPct val="100000"/>
              <a:buChar char="•"/>
            </a:pPr>
            <a:r>
              <a:rPr b="1" lang="en-US" sz="3200"/>
              <a:t>Pitanja kojima se bavi</a:t>
            </a:r>
            <a:r>
              <a:rPr lang="en-US" sz="3000"/>
              <a:t>: </a:t>
            </a:r>
            <a:r>
              <a:rPr i="1" lang="en-US" sz="3000"/>
              <a:t>Kakav je utjecaj psihoaktivnih tvari na doživljavanje i ponašanje, Zašto sanjamo, Kako traumatski događaji mijenjaju mozak…</a:t>
            </a:r>
            <a:endParaRPr/>
          </a:p>
          <a:p>
            <a:pPr indent="-66675" lvl="0" marL="228600" rtl="0" algn="l">
              <a:lnSpc>
                <a:spcPct val="90000"/>
              </a:lnSpc>
              <a:spcBef>
                <a:spcPts val="1000"/>
              </a:spcBef>
              <a:spcAft>
                <a:spcPts val="0"/>
              </a:spcAft>
              <a:buClr>
                <a:schemeClr val="dk1"/>
              </a:buClr>
              <a:buSzPct val="100000"/>
              <a:buNone/>
            </a:pPr>
            <a:r>
              <a:t/>
            </a:r>
            <a:endParaRPr sz="3000"/>
          </a:p>
          <a:p>
            <a:pPr indent="-228600" lvl="0" marL="228600" rtl="0" algn="l">
              <a:lnSpc>
                <a:spcPct val="90000"/>
              </a:lnSpc>
              <a:spcBef>
                <a:spcPts val="1000"/>
              </a:spcBef>
              <a:spcAft>
                <a:spcPts val="0"/>
              </a:spcAft>
              <a:buClr>
                <a:schemeClr val="dk1"/>
              </a:buClr>
              <a:buSzPct val="100000"/>
              <a:buChar char="•"/>
            </a:pPr>
            <a:r>
              <a:rPr b="1" lang="en-US" sz="3000"/>
              <a:t>Primjena</a:t>
            </a:r>
            <a:r>
              <a:rPr lang="en-US" sz="3000"/>
              <a:t> – medicina, farmacija, psihoterapijski rad, rehabilitacija…</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16"/>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Područja rada psihologa – </a:t>
            </a:r>
            <a:r>
              <a:rPr b="1" lang="en-US" sz="4000">
                <a:solidFill>
                  <a:srgbClr val="00B050"/>
                </a:solidFill>
              </a:rPr>
              <a:t>teorijske</a:t>
            </a:r>
            <a:r>
              <a:rPr lang="en-US" sz="4000"/>
              <a:t> i </a:t>
            </a:r>
            <a:r>
              <a:rPr b="1" lang="en-US" sz="4000">
                <a:solidFill>
                  <a:srgbClr val="7030A0"/>
                </a:solidFill>
              </a:rPr>
              <a:t>primijenjene</a:t>
            </a:r>
            <a:r>
              <a:rPr lang="en-US" sz="4000"/>
              <a:t> grane </a:t>
            </a:r>
            <a:endParaRPr sz="4100"/>
          </a:p>
        </p:txBody>
      </p:sp>
      <p:sp>
        <p:nvSpPr>
          <p:cNvPr id="243" name="Google Shape;243;p16"/>
          <p:cNvSpPr txBox="1"/>
          <p:nvPr>
            <p:ph idx="1" type="body"/>
          </p:nvPr>
        </p:nvSpPr>
        <p:spPr>
          <a:xfrm>
            <a:off x="4243388" y="2115117"/>
            <a:ext cx="7691417" cy="37854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B050"/>
              </a:buClr>
              <a:buSzPts val="2800"/>
              <a:buNone/>
            </a:pPr>
            <a:r>
              <a:rPr b="1" lang="en-US">
                <a:solidFill>
                  <a:srgbClr val="00B050"/>
                </a:solidFill>
              </a:rPr>
              <a:t>2. Kognitivna psihologija </a:t>
            </a:r>
            <a:r>
              <a:rPr lang="en-US"/>
              <a:t>– istražuje temeljne psihičke procese poput učenja, pamćenja, percepcije, mišljenja, govora…</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Pitanja kojima se bavi: </a:t>
            </a:r>
            <a:r>
              <a:rPr i="1" lang="en-US"/>
              <a:t>Zašto zaboravljamo, kako najlakše učimo, na koliko podražaja istovremeno možemo reagirati…</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Primjena</a:t>
            </a:r>
            <a:r>
              <a:rPr lang="en-US"/>
              <a:t>: izrada računalnih programa, igara I umjetne inteligencije, edukacija, marketing…</a:t>
            </a:r>
            <a:endParaRPr/>
          </a:p>
        </p:txBody>
      </p:sp>
      <p:pic>
        <p:nvPicPr>
          <p:cNvPr id="244" name="Google Shape;244;p16"/>
          <p:cNvPicPr preferRelativeResize="0"/>
          <p:nvPr/>
        </p:nvPicPr>
        <p:blipFill rotWithShape="1">
          <a:blip r:embed="rId3">
            <a:alphaModFix/>
          </a:blip>
          <a:srcRect b="-1" l="54880" r="0" t="0"/>
          <a:stretch/>
        </p:blipFill>
        <p:spPr>
          <a:xfrm>
            <a:off x="-1400174" y="10"/>
            <a:ext cx="5200650" cy="6857990"/>
          </a:xfrm>
          <a:prstGeom prst="rect">
            <a:avLst/>
          </a:prstGeom>
          <a:noFill/>
          <a:ln>
            <a:noFill/>
          </a:ln>
        </p:spPr>
      </p:pic>
      <p:cxnSp>
        <p:nvCxnSpPr>
          <p:cNvPr id="245" name="Google Shape;245;p16"/>
          <p:cNvCxnSpPr/>
          <p:nvPr/>
        </p:nvCxnSpPr>
        <p:spPr>
          <a:xfrm>
            <a:off x="5080934" y="2115117"/>
            <a:ext cx="6309360" cy="0"/>
          </a:xfrm>
          <a:prstGeom prst="straightConnector1">
            <a:avLst/>
          </a:prstGeom>
          <a:noFill/>
          <a:ln cap="flat" cmpd="sng" w="19050">
            <a:solidFill>
              <a:srgbClr val="DEAF52"/>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p17"/>
          <p:cNvSpPr/>
          <p:nvPr/>
        </p:nvSpPr>
        <p:spPr>
          <a:xfrm>
            <a:off x="1" y="0"/>
            <a:ext cx="5614875" cy="6858000"/>
          </a:xfrm>
          <a:prstGeom prst="rect">
            <a:avLst/>
          </a:prstGeom>
          <a:gradFill>
            <a:gsLst>
              <a:gs pos="0">
                <a:srgbClr val="5A9BD5">
                  <a:alpha val="81568"/>
                </a:srgbClr>
              </a:gs>
              <a:gs pos="25000">
                <a:srgbClr val="5B9BD5">
                  <a:alpha val="60000"/>
                </a:srgbClr>
              </a:gs>
              <a:gs pos="94000">
                <a:srgbClr val="AEABAB"/>
              </a:gs>
              <a:gs pos="100000">
                <a:srgbClr val="AEABAB"/>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1" name="Google Shape;251;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2" name="Google Shape;252;p17"/>
          <p:cNvSpPr txBox="1"/>
          <p:nvPr>
            <p:ph type="title"/>
          </p:nvPr>
        </p:nvSpPr>
        <p:spPr>
          <a:xfrm>
            <a:off x="5614876" y="361638"/>
            <a:ext cx="6158024"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000"/>
              <a:buFont typeface="Calibri"/>
              <a:buNone/>
            </a:pPr>
            <a:r>
              <a:rPr lang="en-US" sz="4000">
                <a:solidFill>
                  <a:srgbClr val="000000"/>
                </a:solidFill>
              </a:rPr>
              <a:t>Područja rada psihologa – </a:t>
            </a:r>
            <a:r>
              <a:rPr b="1" lang="en-US" sz="4000">
                <a:solidFill>
                  <a:srgbClr val="00B050"/>
                </a:solidFill>
              </a:rPr>
              <a:t>teorijske</a:t>
            </a:r>
            <a:r>
              <a:rPr lang="en-US" sz="4000">
                <a:solidFill>
                  <a:srgbClr val="000000"/>
                </a:solidFill>
              </a:rPr>
              <a:t> i </a:t>
            </a:r>
            <a:r>
              <a:rPr b="1" lang="en-US" sz="4000">
                <a:solidFill>
                  <a:srgbClr val="7030A0"/>
                </a:solidFill>
              </a:rPr>
              <a:t>primijenjene</a:t>
            </a:r>
            <a:r>
              <a:rPr lang="en-US" sz="4000">
                <a:solidFill>
                  <a:srgbClr val="000000"/>
                </a:solidFill>
              </a:rPr>
              <a:t> grane </a:t>
            </a:r>
            <a:endParaRPr sz="4000">
              <a:solidFill>
                <a:srgbClr val="000000"/>
              </a:solidFill>
            </a:endParaRPr>
          </a:p>
        </p:txBody>
      </p:sp>
      <p:sp>
        <p:nvSpPr>
          <p:cNvPr id="253" name="Google Shape;253;p17"/>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toy&#10;&#10;Description automatically generated" id="254" name="Google Shape;254;p17"/>
          <p:cNvPicPr preferRelativeResize="0"/>
          <p:nvPr/>
        </p:nvPicPr>
        <p:blipFill rotWithShape="1">
          <a:blip r:embed="rId4">
            <a:alphaModFix/>
          </a:blip>
          <a:srcRect b="-3" l="4458" r="-3" t="0"/>
          <a:stretch/>
        </p:blipFill>
        <p:spPr>
          <a:xfrm>
            <a:off x="20" y="907231"/>
            <a:ext cx="4838021" cy="5063738"/>
          </a:xfrm>
          <a:custGeom>
            <a:rect b="b" l="l" r="r" t="t"/>
            <a:pathLst>
              <a:path extrusionOk="0" h="5063738" w="4838041">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ln>
            <a:noFill/>
          </a:ln>
        </p:spPr>
      </p:pic>
      <p:sp>
        <p:nvSpPr>
          <p:cNvPr id="255" name="Google Shape;255;p17"/>
          <p:cNvSpPr txBox="1"/>
          <p:nvPr>
            <p:ph idx="1" type="body"/>
          </p:nvPr>
        </p:nvSpPr>
        <p:spPr>
          <a:xfrm>
            <a:off x="5614876" y="2128838"/>
            <a:ext cx="6338989" cy="448934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3200"/>
              <a:buNone/>
            </a:pPr>
            <a:r>
              <a:rPr b="1" lang="en-US" sz="3200">
                <a:solidFill>
                  <a:srgbClr val="00B050"/>
                </a:solidFill>
              </a:rPr>
              <a:t>3. Psihologija ličnosti </a:t>
            </a:r>
            <a:r>
              <a:rPr lang="en-US" sz="2400">
                <a:solidFill>
                  <a:srgbClr val="000000"/>
                </a:solidFill>
              </a:rPr>
              <a:t>– usmjerena na pitanja o tome što nas određuje i čini takvima kakvi smo</a:t>
            </a:r>
            <a:endParaRPr sz="2400">
              <a:solidFill>
                <a:srgbClr val="000000"/>
              </a:solidFill>
            </a:endParaRPr>
          </a:p>
          <a:p>
            <a:pPr indent="-76200" lvl="0" marL="228600" rtl="0" algn="l">
              <a:lnSpc>
                <a:spcPct val="90000"/>
              </a:lnSpc>
              <a:spcBef>
                <a:spcPts val="1000"/>
              </a:spcBef>
              <a:spcAft>
                <a:spcPts val="0"/>
              </a:spcAft>
              <a:buClr>
                <a:schemeClr val="dk1"/>
              </a:buClr>
              <a:buSzPts val="2400"/>
              <a:buNone/>
            </a:pPr>
            <a:r>
              <a:t/>
            </a:r>
            <a:endParaRPr sz="2400">
              <a:solidFill>
                <a:srgbClr val="000000"/>
              </a:solidFill>
            </a:endParaRPr>
          </a:p>
          <a:p>
            <a:pPr indent="-228600" lvl="0" marL="228600" rtl="0" algn="l">
              <a:lnSpc>
                <a:spcPct val="90000"/>
              </a:lnSpc>
              <a:spcBef>
                <a:spcPts val="1000"/>
              </a:spcBef>
              <a:spcAft>
                <a:spcPts val="0"/>
              </a:spcAft>
              <a:buClr>
                <a:srgbClr val="000000"/>
              </a:buClr>
              <a:buSzPts val="2400"/>
              <a:buChar char="•"/>
            </a:pPr>
            <a:r>
              <a:rPr b="1" lang="en-US" sz="2400">
                <a:solidFill>
                  <a:srgbClr val="000000"/>
                </a:solidFill>
              </a:rPr>
              <a:t>Pitanja kojima se bavi: </a:t>
            </a:r>
            <a:r>
              <a:rPr i="1" lang="en-US" sz="2400">
                <a:solidFill>
                  <a:srgbClr val="000000"/>
                </a:solidFill>
              </a:rPr>
              <a:t>Jesu li crte ličnosti naslijeđene ili naučene odrastanjem u određnoj okolini? Kako izgrađujemo svoj identitet?</a:t>
            </a:r>
            <a:endParaRPr/>
          </a:p>
          <a:p>
            <a:pPr indent="0" lvl="0" marL="0" rtl="0" algn="l">
              <a:lnSpc>
                <a:spcPct val="90000"/>
              </a:lnSpc>
              <a:spcBef>
                <a:spcPts val="1000"/>
              </a:spcBef>
              <a:spcAft>
                <a:spcPts val="0"/>
              </a:spcAft>
              <a:buClr>
                <a:srgbClr val="000000"/>
              </a:buClr>
              <a:buSzPts val="2400"/>
              <a:buNone/>
            </a:pPr>
            <a:r>
              <a:rPr i="1" lang="en-US" sz="2400">
                <a:solidFill>
                  <a:srgbClr val="000000"/>
                </a:solidFill>
              </a:rPr>
              <a:t> </a:t>
            </a:r>
            <a:endParaRPr/>
          </a:p>
          <a:p>
            <a:pPr indent="-228600" lvl="0" marL="228600" rtl="0" algn="l">
              <a:lnSpc>
                <a:spcPct val="90000"/>
              </a:lnSpc>
              <a:spcBef>
                <a:spcPts val="1000"/>
              </a:spcBef>
              <a:spcAft>
                <a:spcPts val="0"/>
              </a:spcAft>
              <a:buClr>
                <a:srgbClr val="000000"/>
              </a:buClr>
              <a:buSzPts val="2400"/>
              <a:buChar char="•"/>
            </a:pPr>
            <a:r>
              <a:rPr b="1" lang="en-US" sz="2400">
                <a:solidFill>
                  <a:srgbClr val="000000"/>
                </a:solidFill>
              </a:rPr>
              <a:t>Primjena: </a:t>
            </a:r>
            <a:r>
              <a:rPr lang="en-US" sz="2400">
                <a:solidFill>
                  <a:srgbClr val="000000"/>
                </a:solidFill>
              </a:rPr>
              <a:t>sva područja ljudskog djelovanja</a:t>
            </a:r>
            <a:endParaRPr b="1" sz="2400">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p18"/>
          <p:cNvSpPr/>
          <p:nvPr/>
        </p:nvSpPr>
        <p:spPr>
          <a:xfrm>
            <a:off x="1" y="3726"/>
            <a:ext cx="5614875" cy="6858000"/>
          </a:xfrm>
          <a:prstGeom prst="rect">
            <a:avLst/>
          </a:prstGeom>
          <a:gradFill>
            <a:gsLst>
              <a:gs pos="0">
                <a:srgbClr val="5A9BD5">
                  <a:alpha val="81568"/>
                </a:srgbClr>
              </a:gs>
              <a:gs pos="25000">
                <a:srgbClr val="5B9BD5">
                  <a:alpha val="60000"/>
                </a:srgbClr>
              </a:gs>
              <a:gs pos="94000">
                <a:srgbClr val="AEABAB"/>
              </a:gs>
              <a:gs pos="100000">
                <a:srgbClr val="AEABAB"/>
              </a:gs>
            </a:gsLst>
            <a:lin ang="4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61" name="Google Shape;261;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2" name="Google Shape;262;p18"/>
          <p:cNvSpPr txBox="1"/>
          <p:nvPr>
            <p:ph type="title"/>
          </p:nvPr>
        </p:nvSpPr>
        <p:spPr>
          <a:xfrm>
            <a:off x="5800012" y="360043"/>
            <a:ext cx="5941734" cy="14540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Calibri"/>
              <a:buNone/>
            </a:pPr>
            <a:r>
              <a:rPr lang="en-US" sz="3600">
                <a:solidFill>
                  <a:srgbClr val="000000"/>
                </a:solidFill>
              </a:rPr>
              <a:t>Područja rada psihologa – </a:t>
            </a:r>
            <a:r>
              <a:rPr b="1" lang="en-US" sz="3600">
                <a:solidFill>
                  <a:srgbClr val="00B050"/>
                </a:solidFill>
              </a:rPr>
              <a:t>teorijske</a:t>
            </a:r>
            <a:r>
              <a:rPr lang="en-US" sz="3600">
                <a:solidFill>
                  <a:srgbClr val="000000"/>
                </a:solidFill>
              </a:rPr>
              <a:t> i </a:t>
            </a:r>
            <a:r>
              <a:rPr b="1" lang="en-US" sz="3600">
                <a:solidFill>
                  <a:srgbClr val="7030A0"/>
                </a:solidFill>
              </a:rPr>
              <a:t>primijenjene</a:t>
            </a:r>
            <a:r>
              <a:rPr lang="en-US" sz="3600">
                <a:solidFill>
                  <a:srgbClr val="000000"/>
                </a:solidFill>
              </a:rPr>
              <a:t> grane </a:t>
            </a:r>
            <a:endParaRPr sz="3600">
              <a:solidFill>
                <a:srgbClr val="000000"/>
              </a:solidFill>
            </a:endParaRPr>
          </a:p>
        </p:txBody>
      </p:sp>
      <p:sp>
        <p:nvSpPr>
          <p:cNvPr id="263" name="Google Shape;263;p18"/>
          <p:cNvSpPr/>
          <p:nvPr/>
        </p:nvSpPr>
        <p:spPr>
          <a:xfrm>
            <a:off x="0" y="738619"/>
            <a:ext cx="5000438" cy="5400962"/>
          </a:xfrm>
          <a:custGeom>
            <a:rect b="b" l="l" r="r" t="t"/>
            <a:pathLst>
              <a:path extrusionOk="0" h="5400962" w="5000438">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cap="flat" cmpd="sng" w="12700">
            <a:solidFill>
              <a:srgbClr val="BBD6E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heckmark" id="264" name="Google Shape;264;p18"/>
          <p:cNvPicPr preferRelativeResize="0"/>
          <p:nvPr/>
        </p:nvPicPr>
        <p:blipFill rotWithShape="1">
          <a:blip r:embed="rId4">
            <a:alphaModFix/>
          </a:blip>
          <a:srcRect b="0" l="0" r="0" t="0"/>
          <a:stretch/>
        </p:blipFill>
        <p:spPr>
          <a:xfrm>
            <a:off x="450254" y="1629089"/>
            <a:ext cx="3620021" cy="3620021"/>
          </a:xfrm>
          <a:prstGeom prst="rect">
            <a:avLst/>
          </a:prstGeom>
          <a:noFill/>
          <a:ln>
            <a:noFill/>
          </a:ln>
        </p:spPr>
      </p:pic>
      <p:sp>
        <p:nvSpPr>
          <p:cNvPr id="265" name="Google Shape;265;p18"/>
          <p:cNvSpPr txBox="1"/>
          <p:nvPr>
            <p:ph idx="1" type="body"/>
          </p:nvPr>
        </p:nvSpPr>
        <p:spPr>
          <a:xfrm>
            <a:off x="6026837" y="2064573"/>
            <a:ext cx="5753202" cy="4075008"/>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Clr>
                <a:srgbClr val="00B050"/>
              </a:buClr>
              <a:buSzPts val="2800"/>
              <a:buNone/>
            </a:pPr>
            <a:r>
              <a:rPr b="1" lang="en-US">
                <a:solidFill>
                  <a:srgbClr val="00B050"/>
                </a:solidFill>
              </a:rPr>
              <a:t>4. Psihometrija </a:t>
            </a:r>
            <a:r>
              <a:rPr lang="en-US">
                <a:solidFill>
                  <a:srgbClr val="000000"/>
                </a:solidFill>
              </a:rPr>
              <a:t>– mjerenje u psihologiji</a:t>
            </a:r>
            <a:endParaRPr>
              <a:solidFill>
                <a:srgbClr val="000000"/>
              </a:solidFill>
            </a:endParaRPr>
          </a:p>
          <a:p>
            <a:pPr indent="0" lvl="0" marL="0" rtl="0" algn="l">
              <a:lnSpc>
                <a:spcPct val="90000"/>
              </a:lnSpc>
              <a:spcBef>
                <a:spcPts val="1000"/>
              </a:spcBef>
              <a:spcAft>
                <a:spcPts val="0"/>
              </a:spcAft>
              <a:buClr>
                <a:schemeClr val="dk1"/>
              </a:buClr>
              <a:buSzPts val="2800"/>
              <a:buNone/>
            </a:pPr>
            <a:r>
              <a:t/>
            </a:r>
            <a:endParaRPr b="1">
              <a:solidFill>
                <a:srgbClr val="000000"/>
              </a:solidFill>
            </a:endParaRPr>
          </a:p>
          <a:p>
            <a:pPr indent="0" lvl="0" marL="0" rtl="0" algn="l">
              <a:lnSpc>
                <a:spcPct val="90000"/>
              </a:lnSpc>
              <a:spcBef>
                <a:spcPts val="1000"/>
              </a:spcBef>
              <a:spcAft>
                <a:spcPts val="0"/>
              </a:spcAft>
              <a:buClr>
                <a:srgbClr val="000000"/>
              </a:buClr>
              <a:buSzPts val="2800"/>
              <a:buNone/>
            </a:pPr>
            <a:r>
              <a:rPr b="1" lang="en-US">
                <a:solidFill>
                  <a:srgbClr val="000000"/>
                </a:solidFill>
              </a:rPr>
              <a:t>Pitanja kojima se bavi: </a:t>
            </a:r>
            <a:r>
              <a:rPr i="1" lang="en-US">
                <a:solidFill>
                  <a:srgbClr val="000000"/>
                </a:solidFill>
              </a:rPr>
              <a:t>Kako možemo izmjeriti inteligenciju? Kako objektivno ispitati osobine? Što neki test čini  valjanim? </a:t>
            </a:r>
            <a:endParaRPr b="1">
              <a:solidFill>
                <a:srgbClr val="000000"/>
              </a:solidFill>
            </a:endParaRPr>
          </a:p>
          <a:p>
            <a:pPr indent="0" lvl="0" marL="0" rtl="0" algn="l">
              <a:lnSpc>
                <a:spcPct val="90000"/>
              </a:lnSpc>
              <a:spcBef>
                <a:spcPts val="1000"/>
              </a:spcBef>
              <a:spcAft>
                <a:spcPts val="0"/>
              </a:spcAft>
              <a:buClr>
                <a:schemeClr val="dk1"/>
              </a:buClr>
              <a:buSzPts val="2800"/>
              <a:buNone/>
            </a:pPr>
            <a:r>
              <a:t/>
            </a:r>
            <a:endParaRPr b="1">
              <a:solidFill>
                <a:srgbClr val="000000"/>
              </a:solidFill>
            </a:endParaRPr>
          </a:p>
          <a:p>
            <a:pPr indent="0" lvl="0" marL="0" rtl="0" algn="l">
              <a:lnSpc>
                <a:spcPct val="90000"/>
              </a:lnSpc>
              <a:spcBef>
                <a:spcPts val="1000"/>
              </a:spcBef>
              <a:spcAft>
                <a:spcPts val="0"/>
              </a:spcAft>
              <a:buClr>
                <a:srgbClr val="000000"/>
              </a:buClr>
              <a:buSzPts val="2800"/>
              <a:buNone/>
            </a:pPr>
            <a:r>
              <a:rPr b="1" lang="en-US">
                <a:solidFill>
                  <a:srgbClr val="000000"/>
                </a:solidFill>
              </a:rPr>
              <a:t>Primjena: </a:t>
            </a:r>
            <a:r>
              <a:rPr lang="en-US">
                <a:solidFill>
                  <a:srgbClr val="000000"/>
                </a:solidFill>
              </a:rPr>
              <a:t>izrada mjernih instrumenata i testova</a:t>
            </a:r>
            <a:endParaRPr b="1">
              <a:solidFill>
                <a:srgbClr val="00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9" name="Shape 269"/>
        <p:cNvGrpSpPr/>
        <p:nvPr/>
      </p:nvGrpSpPr>
      <p:grpSpPr>
        <a:xfrm>
          <a:off x="0" y="0"/>
          <a:ext cx="0" cy="0"/>
          <a:chOff x="0" y="0"/>
          <a:chExt cx="0" cy="0"/>
        </a:xfrm>
      </p:grpSpPr>
      <p:sp>
        <p:nvSpPr>
          <p:cNvPr id="270" name="Google Shape;270;p19"/>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19"/>
          <p:cNvSpPr txBox="1"/>
          <p:nvPr>
            <p:ph type="title"/>
          </p:nvPr>
        </p:nvSpPr>
        <p:spPr>
          <a:xfrm>
            <a:off x="589560" y="856180"/>
            <a:ext cx="4560584"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n-US" sz="2800"/>
              <a:t>Područja rada psihologa – </a:t>
            </a:r>
            <a:r>
              <a:rPr b="1" lang="en-US" sz="2800">
                <a:solidFill>
                  <a:srgbClr val="00B050"/>
                </a:solidFill>
              </a:rPr>
              <a:t>teorijske</a:t>
            </a:r>
            <a:r>
              <a:rPr lang="en-US" sz="2800"/>
              <a:t> i </a:t>
            </a:r>
            <a:r>
              <a:rPr b="1" lang="en-US" sz="2800">
                <a:solidFill>
                  <a:srgbClr val="7030A0"/>
                </a:solidFill>
              </a:rPr>
              <a:t>primijenjene</a:t>
            </a:r>
            <a:r>
              <a:rPr lang="en-US" sz="2800"/>
              <a:t> grane </a:t>
            </a:r>
            <a:endParaRPr sz="2800"/>
          </a:p>
        </p:txBody>
      </p:sp>
      <p:grpSp>
        <p:nvGrpSpPr>
          <p:cNvPr id="272" name="Google Shape;272;p19"/>
          <p:cNvGrpSpPr/>
          <p:nvPr/>
        </p:nvGrpSpPr>
        <p:grpSpPr>
          <a:xfrm>
            <a:off x="0" y="1083484"/>
            <a:ext cx="355196" cy="673460"/>
            <a:chOff x="0" y="823811"/>
            <a:chExt cx="355196" cy="673460"/>
          </a:xfrm>
        </p:grpSpPr>
        <p:sp>
          <p:nvSpPr>
            <p:cNvPr id="273" name="Google Shape;273;p19"/>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p19"/>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75" name="Google Shape;275;p19"/>
          <p:cNvSpPr/>
          <p:nvPr/>
        </p:nvSpPr>
        <p:spPr>
          <a:xfrm flipH="1">
            <a:off x="665085" y="2090569"/>
            <a:ext cx="429768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19"/>
          <p:cNvSpPr txBox="1"/>
          <p:nvPr>
            <p:ph idx="1" type="body"/>
          </p:nvPr>
        </p:nvSpPr>
        <p:spPr>
          <a:xfrm>
            <a:off x="590719" y="2330505"/>
            <a:ext cx="4967119" cy="4215456"/>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00B050"/>
              </a:buClr>
              <a:buSzPct val="100000"/>
              <a:buNone/>
            </a:pPr>
            <a:r>
              <a:rPr b="1" lang="en-US" sz="2600">
                <a:solidFill>
                  <a:srgbClr val="00B050"/>
                </a:solidFill>
              </a:rPr>
              <a:t>5. Socijalna psihologija </a:t>
            </a:r>
            <a:r>
              <a:rPr lang="en-US" sz="2600"/>
              <a:t>– interakcija pojedinca i okoline </a:t>
            </a:r>
            <a:endParaRPr/>
          </a:p>
          <a:p>
            <a:pPr indent="0" lvl="0" marL="0" rtl="0" algn="l">
              <a:lnSpc>
                <a:spcPct val="90000"/>
              </a:lnSpc>
              <a:spcBef>
                <a:spcPts val="1000"/>
              </a:spcBef>
              <a:spcAft>
                <a:spcPts val="0"/>
              </a:spcAft>
              <a:buClr>
                <a:schemeClr val="dk1"/>
              </a:buClr>
              <a:buSzPct val="100000"/>
              <a:buNone/>
            </a:pPr>
            <a:r>
              <a:t/>
            </a:r>
            <a:endParaRPr sz="2600"/>
          </a:p>
          <a:p>
            <a:pPr indent="0" lvl="0" marL="0" rtl="0" algn="l">
              <a:lnSpc>
                <a:spcPct val="90000"/>
              </a:lnSpc>
              <a:spcBef>
                <a:spcPts val="1000"/>
              </a:spcBef>
              <a:spcAft>
                <a:spcPts val="0"/>
              </a:spcAft>
              <a:buClr>
                <a:schemeClr val="dk1"/>
              </a:buClr>
              <a:buSzPct val="100000"/>
              <a:buNone/>
            </a:pPr>
            <a:r>
              <a:rPr b="1" lang="en-US" sz="2600"/>
              <a:t>Pitanja kojima se bavi: </a:t>
            </a:r>
            <a:r>
              <a:rPr i="1" lang="en-US" sz="2600"/>
              <a:t>Kako nastaju stereotipi i predrasude, Što utječe na odabir romantičnih partnera, Zbog čega se ponašamo agresivno, Kako se ponašamo kao članovi grupa…</a:t>
            </a:r>
            <a:endParaRPr b="1" sz="2600"/>
          </a:p>
          <a:p>
            <a:pPr indent="0" lvl="0" marL="0" rtl="0" algn="l">
              <a:lnSpc>
                <a:spcPct val="90000"/>
              </a:lnSpc>
              <a:spcBef>
                <a:spcPts val="1000"/>
              </a:spcBef>
              <a:spcAft>
                <a:spcPts val="0"/>
              </a:spcAft>
              <a:buClr>
                <a:schemeClr val="dk1"/>
              </a:buClr>
              <a:buSzPct val="100000"/>
              <a:buNone/>
            </a:pPr>
            <a:r>
              <a:t/>
            </a:r>
            <a:endParaRPr b="1" sz="2600"/>
          </a:p>
          <a:p>
            <a:pPr indent="0" lvl="0" marL="0" rtl="0" algn="l">
              <a:lnSpc>
                <a:spcPct val="90000"/>
              </a:lnSpc>
              <a:spcBef>
                <a:spcPts val="1000"/>
              </a:spcBef>
              <a:spcAft>
                <a:spcPts val="0"/>
              </a:spcAft>
              <a:buClr>
                <a:schemeClr val="dk1"/>
              </a:buClr>
              <a:buSzPct val="100000"/>
              <a:buNone/>
            </a:pPr>
            <a:r>
              <a:rPr b="1" lang="en-US" sz="2600"/>
              <a:t>Primjena: </a:t>
            </a:r>
            <a:r>
              <a:rPr lang="en-US" sz="2600"/>
              <a:t>U svim područjima ljudske djelatnosti  (npr. marketing, aktivizam, edukacija</a:t>
            </a:r>
            <a:r>
              <a:rPr lang="en-US" sz="2400"/>
              <a:t>…)</a:t>
            </a:r>
            <a:endParaRPr sz="1700"/>
          </a:p>
          <a:p>
            <a:pPr indent="0" lvl="0" marL="0" rtl="0" algn="l">
              <a:lnSpc>
                <a:spcPct val="90000"/>
              </a:lnSpc>
              <a:spcBef>
                <a:spcPts val="1000"/>
              </a:spcBef>
              <a:spcAft>
                <a:spcPts val="0"/>
              </a:spcAft>
              <a:buClr>
                <a:schemeClr val="dk1"/>
              </a:buClr>
              <a:buSzPct val="100000"/>
              <a:buNone/>
            </a:pPr>
            <a:r>
              <a:t/>
            </a:r>
            <a:endParaRPr sz="1700"/>
          </a:p>
        </p:txBody>
      </p:sp>
      <p:sp>
        <p:nvSpPr>
          <p:cNvPr id="277" name="Google Shape;277;p19"/>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19"/>
          <p:cNvSpPr/>
          <p:nvPr/>
        </p:nvSpPr>
        <p:spPr>
          <a:xfrm>
            <a:off x="5685810" y="513853"/>
            <a:ext cx="6009366" cy="5834577"/>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drawing&#10;&#10;Description automatically generated" id="279" name="Google Shape;279;p19"/>
          <p:cNvPicPr preferRelativeResize="0"/>
          <p:nvPr/>
        </p:nvPicPr>
        <p:blipFill rotWithShape="1">
          <a:blip r:embed="rId3">
            <a:alphaModFix/>
          </a:blip>
          <a:srcRect b="0" l="0" r="43521" t="0"/>
          <a:stretch/>
        </p:blipFill>
        <p:spPr>
          <a:xfrm>
            <a:off x="5977788" y="799352"/>
            <a:ext cx="5425410" cy="52592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20"/>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Područja rada psihologa – </a:t>
            </a:r>
            <a:r>
              <a:rPr b="1" lang="en-US" sz="4100">
                <a:solidFill>
                  <a:srgbClr val="00B050"/>
                </a:solidFill>
              </a:rPr>
              <a:t>teorijske</a:t>
            </a:r>
            <a:r>
              <a:rPr lang="en-US" sz="4100"/>
              <a:t> i </a:t>
            </a:r>
            <a:r>
              <a:rPr b="1" lang="en-US" sz="4100">
                <a:solidFill>
                  <a:srgbClr val="7030A0"/>
                </a:solidFill>
              </a:rPr>
              <a:t>primijenjene</a:t>
            </a:r>
            <a:r>
              <a:rPr lang="en-US" sz="4100"/>
              <a:t> grane </a:t>
            </a:r>
            <a:endParaRPr sz="4100"/>
          </a:p>
        </p:txBody>
      </p:sp>
      <p:sp>
        <p:nvSpPr>
          <p:cNvPr id="285" name="Google Shape;285;p20"/>
          <p:cNvSpPr txBox="1"/>
          <p:nvPr>
            <p:ph idx="1" type="body"/>
          </p:nvPr>
        </p:nvSpPr>
        <p:spPr>
          <a:xfrm>
            <a:off x="4965431" y="2438400"/>
            <a:ext cx="6586489" cy="4262435"/>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00B050"/>
              </a:buClr>
              <a:buSzPts val="2600"/>
              <a:buNone/>
            </a:pPr>
            <a:r>
              <a:rPr b="1" lang="en-US" sz="2600">
                <a:solidFill>
                  <a:srgbClr val="00B050"/>
                </a:solidFill>
              </a:rPr>
              <a:t>6. Razvojna psihologija </a:t>
            </a:r>
            <a:r>
              <a:rPr b="1" lang="en-US" sz="2600"/>
              <a:t>– </a:t>
            </a:r>
            <a:r>
              <a:rPr lang="en-US" sz="2600"/>
              <a:t>fizički, psihički i socijalni razvoj čovjeka</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rPr b="1" lang="en-US" sz="2600"/>
              <a:t>Pitanja kojima se bavi</a:t>
            </a:r>
            <a:r>
              <a:rPr i="1" lang="en-US" sz="2600"/>
              <a:t>:</a:t>
            </a:r>
            <a:r>
              <a:rPr lang="en-US" sz="2600"/>
              <a:t> npr</a:t>
            </a:r>
            <a:r>
              <a:rPr i="1" lang="en-US" sz="2600"/>
              <a:t>. Kako nepovoljni događaji u djetinjstvu utječu na razvoj ličnosti pojedinca te na životne ishode? Mijenjaju li nam se interesi s dobi? </a:t>
            </a:r>
            <a:endParaRPr b="1" sz="2600"/>
          </a:p>
          <a:p>
            <a:pPr indent="0" lvl="0" marL="0" rtl="0" algn="l">
              <a:lnSpc>
                <a:spcPct val="90000"/>
              </a:lnSpc>
              <a:spcBef>
                <a:spcPts val="1000"/>
              </a:spcBef>
              <a:spcAft>
                <a:spcPts val="0"/>
              </a:spcAft>
              <a:buClr>
                <a:schemeClr val="dk1"/>
              </a:buClr>
              <a:buSzPts val="2600"/>
              <a:buNone/>
            </a:pPr>
            <a:r>
              <a:t/>
            </a:r>
            <a:endParaRPr b="1" sz="2600"/>
          </a:p>
          <a:p>
            <a:pPr indent="0" lvl="0" marL="0" rtl="0" algn="l">
              <a:lnSpc>
                <a:spcPct val="90000"/>
              </a:lnSpc>
              <a:spcBef>
                <a:spcPts val="1000"/>
              </a:spcBef>
              <a:spcAft>
                <a:spcPts val="0"/>
              </a:spcAft>
              <a:buClr>
                <a:schemeClr val="dk1"/>
              </a:buClr>
              <a:buSzPts val="2600"/>
              <a:buNone/>
            </a:pPr>
            <a:r>
              <a:rPr b="1" lang="en-US" sz="2600"/>
              <a:t>Primjena: </a:t>
            </a:r>
            <a:r>
              <a:rPr lang="en-US" sz="2600"/>
              <a:t> u vrtićima, školama, u marketingu, političkim kampanjama, tvrtkama za istraživanje tržišta… </a:t>
            </a:r>
            <a:endParaRPr b="1" sz="26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pic>
        <p:nvPicPr>
          <p:cNvPr descr="Baby development at 7-9 months: Learning to crawl &amp; more - MAM" id="286" name="Google Shape;286;p20"/>
          <p:cNvPicPr preferRelativeResize="0"/>
          <p:nvPr/>
        </p:nvPicPr>
        <p:blipFill rotWithShape="1">
          <a:blip r:embed="rId3">
            <a:alphaModFix/>
          </a:blip>
          <a:srcRect b="0" l="43337" r="11712" t="0"/>
          <a:stretch/>
        </p:blipFill>
        <p:spPr>
          <a:xfrm>
            <a:off x="20" y="10"/>
            <a:ext cx="4635571" cy="6857990"/>
          </a:xfrm>
          <a:prstGeom prst="rect">
            <a:avLst/>
          </a:prstGeom>
          <a:noFill/>
          <a:ln>
            <a:noFill/>
          </a:ln>
        </p:spPr>
      </p:pic>
      <p:cxnSp>
        <p:nvCxnSpPr>
          <p:cNvPr id="287" name="Google Shape;287;p20"/>
          <p:cNvCxnSpPr/>
          <p:nvPr/>
        </p:nvCxnSpPr>
        <p:spPr>
          <a:xfrm>
            <a:off x="5080934" y="2115117"/>
            <a:ext cx="6309360" cy="0"/>
          </a:xfrm>
          <a:prstGeom prst="straightConnector1">
            <a:avLst/>
          </a:prstGeom>
          <a:noFill/>
          <a:ln cap="flat" cmpd="sng" w="19050">
            <a:solidFill>
              <a:srgbClr val="F9F57A"/>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1" name="Shape 291"/>
        <p:cNvGrpSpPr/>
        <p:nvPr/>
      </p:nvGrpSpPr>
      <p:grpSpPr>
        <a:xfrm>
          <a:off x="0" y="0"/>
          <a:ext cx="0" cy="0"/>
          <a:chOff x="0" y="0"/>
          <a:chExt cx="0" cy="0"/>
        </a:xfrm>
      </p:grpSpPr>
      <p:sp>
        <p:nvSpPr>
          <p:cNvPr id="292" name="Google Shape;292;p21"/>
          <p:cNvSpPr txBox="1"/>
          <p:nvPr>
            <p:ph type="title"/>
          </p:nvPr>
        </p:nvSpPr>
        <p:spPr>
          <a:xfrm>
            <a:off x="484214" y="126978"/>
            <a:ext cx="3505495" cy="16223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sz="3200"/>
              <a:t>Područja rada psihologa – </a:t>
            </a:r>
            <a:r>
              <a:rPr b="1" lang="en-US" sz="3200">
                <a:solidFill>
                  <a:srgbClr val="00B050"/>
                </a:solidFill>
              </a:rPr>
              <a:t>teorijske</a:t>
            </a:r>
            <a:r>
              <a:rPr lang="en-US" sz="3200"/>
              <a:t> i </a:t>
            </a:r>
            <a:r>
              <a:rPr b="1" lang="en-US" sz="3200">
                <a:solidFill>
                  <a:srgbClr val="7030A0"/>
                </a:solidFill>
              </a:rPr>
              <a:t>primijenjene</a:t>
            </a:r>
            <a:r>
              <a:rPr lang="en-US" sz="3200"/>
              <a:t> grane </a:t>
            </a:r>
            <a:endParaRPr sz="3200"/>
          </a:p>
        </p:txBody>
      </p:sp>
      <p:sp>
        <p:nvSpPr>
          <p:cNvPr id="293" name="Google Shape;293;p21"/>
          <p:cNvSpPr txBox="1"/>
          <p:nvPr>
            <p:ph idx="1" type="body"/>
          </p:nvPr>
        </p:nvSpPr>
        <p:spPr>
          <a:xfrm>
            <a:off x="164299" y="1749299"/>
            <a:ext cx="4474757" cy="477363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7030A0"/>
              </a:buClr>
              <a:buSzPct val="100000"/>
              <a:buNone/>
            </a:pPr>
            <a:r>
              <a:rPr b="1" lang="en-US">
                <a:solidFill>
                  <a:srgbClr val="7030A0"/>
                </a:solidFill>
              </a:rPr>
              <a:t>7. Klinička i savjetodavna psihologija </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Font typeface="Calibri"/>
              <a:buChar char="-"/>
            </a:pPr>
            <a:r>
              <a:rPr lang="en-US"/>
              <a:t>Dijagnostika i tretman psihičkih problema </a:t>
            </a:r>
            <a:endParaRPr/>
          </a:p>
          <a:p>
            <a:pPr indent="-228600" lvl="0" marL="228600" rtl="0" algn="l">
              <a:lnSpc>
                <a:spcPct val="90000"/>
              </a:lnSpc>
              <a:spcBef>
                <a:spcPts val="1000"/>
              </a:spcBef>
              <a:spcAft>
                <a:spcPts val="0"/>
              </a:spcAft>
              <a:buClr>
                <a:schemeClr val="dk1"/>
              </a:buClr>
              <a:buSzPct val="100000"/>
              <a:buFont typeface="Calibri"/>
              <a:buChar char="-"/>
            </a:pPr>
            <a:r>
              <a:rPr lang="en-US"/>
              <a:t>Pomoć u suočavanju sa svakodnevnim životnim problemima </a:t>
            </a:r>
            <a:endParaRPr/>
          </a:p>
          <a:p>
            <a:pPr indent="-228600" lvl="0" marL="228600" rtl="0" algn="l">
              <a:lnSpc>
                <a:spcPct val="90000"/>
              </a:lnSpc>
              <a:spcBef>
                <a:spcPts val="1000"/>
              </a:spcBef>
              <a:spcAft>
                <a:spcPts val="0"/>
              </a:spcAft>
              <a:buClr>
                <a:schemeClr val="dk1"/>
              </a:buClr>
              <a:buSzPct val="100000"/>
              <a:buFont typeface="Calibri"/>
              <a:buChar char="-"/>
            </a:pPr>
            <a:r>
              <a:rPr lang="en-US"/>
              <a:t>Ni jedan razlog za dolazak nije premalen </a:t>
            </a:r>
            <a:endParaRPr/>
          </a:p>
          <a:p>
            <a:pPr indent="-228600" lvl="0" marL="228600" rtl="0" algn="l">
              <a:lnSpc>
                <a:spcPct val="90000"/>
              </a:lnSpc>
              <a:spcBef>
                <a:spcPts val="1000"/>
              </a:spcBef>
              <a:spcAft>
                <a:spcPts val="0"/>
              </a:spcAft>
              <a:buClr>
                <a:schemeClr val="dk1"/>
              </a:buClr>
              <a:buSzPct val="100000"/>
              <a:buFont typeface="Calibri"/>
              <a:buChar char="-"/>
            </a:pPr>
            <a:r>
              <a:rPr lang="en-US"/>
              <a:t>Pomoć u </a:t>
            </a:r>
            <a:r>
              <a:rPr b="1" lang="en-US"/>
              <a:t>promjeni</a:t>
            </a:r>
            <a:r>
              <a:rPr lang="en-US"/>
              <a:t> ponašanja, mišljenja i doživljavanja</a:t>
            </a:r>
            <a:endParaRPr/>
          </a:p>
        </p:txBody>
      </p:sp>
      <p:sp>
        <p:nvSpPr>
          <p:cNvPr id="294" name="Google Shape;294;p21"/>
          <p:cNvSpPr/>
          <p:nvPr/>
        </p:nvSpPr>
        <p:spPr>
          <a:xfrm>
            <a:off x="4639056" y="0"/>
            <a:ext cx="7552944" cy="6858000"/>
          </a:xfrm>
          <a:prstGeom prst="rect">
            <a:avLst/>
          </a:prstGeom>
          <a:solidFill>
            <a:srgbClr val="C8CAC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5" name="Google Shape;295;p21"/>
          <p:cNvSpPr/>
          <p:nvPr/>
        </p:nvSpPr>
        <p:spPr>
          <a:xfrm>
            <a:off x="5123688" y="557784"/>
            <a:ext cx="6584098" cy="5739187"/>
          </a:xfrm>
          <a:prstGeom prst="roundRect">
            <a:avLst>
              <a:gd fmla="val 0" name="adj"/>
            </a:avLst>
          </a:prstGeom>
          <a:solidFill>
            <a:srgbClr val="FFFFFF"/>
          </a:solidFill>
          <a:ln cap="flat" cmpd="sng" w="9525">
            <a:solidFill>
              <a:srgbClr val="C8CACA"/>
            </a:solidFill>
            <a:prstDash val="solid"/>
            <a:miter lim="800000"/>
            <a:headEnd len="sm" w="sm" type="none"/>
            <a:tailEnd len="sm" w="sm" type="none"/>
          </a:ln>
          <a:effectLst>
            <a:outerShdw blurRad="57150" rotWithShape="0" algn="t"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picture containing room&#10;&#10;Description automatically generated" id="296" name="Google Shape;296;p21"/>
          <p:cNvPicPr preferRelativeResize="0"/>
          <p:nvPr/>
        </p:nvPicPr>
        <p:blipFill rotWithShape="1">
          <a:blip r:embed="rId3">
            <a:alphaModFix/>
          </a:blip>
          <a:srcRect b="0" l="0" r="0" t="0"/>
          <a:stretch/>
        </p:blipFill>
        <p:spPr>
          <a:xfrm>
            <a:off x="5405862" y="1734440"/>
            <a:ext cx="6019331" cy="33858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Calibri"/>
              <a:buNone/>
            </a:pPr>
            <a:r>
              <a:rPr lang="en-US" sz="4400">
                <a:solidFill>
                  <a:srgbClr val="000000"/>
                </a:solidFill>
              </a:rPr>
              <a:t>Područja rada psihologa – </a:t>
            </a:r>
            <a:r>
              <a:rPr b="1" lang="en-US" sz="4400">
                <a:solidFill>
                  <a:srgbClr val="00B050"/>
                </a:solidFill>
              </a:rPr>
              <a:t>teorijske</a:t>
            </a:r>
            <a:r>
              <a:rPr lang="en-US" sz="4400">
                <a:solidFill>
                  <a:srgbClr val="000000"/>
                </a:solidFill>
              </a:rPr>
              <a:t> i </a:t>
            </a:r>
            <a:r>
              <a:rPr b="1" lang="en-US" sz="4400">
                <a:solidFill>
                  <a:srgbClr val="7030A0"/>
                </a:solidFill>
              </a:rPr>
              <a:t>primijenjene</a:t>
            </a:r>
            <a:r>
              <a:rPr lang="en-US" sz="4400">
                <a:solidFill>
                  <a:srgbClr val="000000"/>
                </a:solidFill>
              </a:rPr>
              <a:t> grane </a:t>
            </a:r>
            <a:endParaRPr/>
          </a:p>
        </p:txBody>
      </p:sp>
      <p:sp>
        <p:nvSpPr>
          <p:cNvPr id="303" name="Google Shape;30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030A0"/>
              </a:buClr>
              <a:buSzPts val="2800"/>
              <a:buNone/>
            </a:pPr>
            <a:r>
              <a:rPr b="1" lang="en-US">
                <a:solidFill>
                  <a:srgbClr val="7030A0"/>
                </a:solidFill>
              </a:rPr>
              <a:t>8. Organizacijska psihologija i psihologija rada </a:t>
            </a:r>
            <a:endParaRPr/>
          </a:p>
          <a:p>
            <a:pPr indent="0" lvl="0" marL="0" rtl="0" algn="l">
              <a:lnSpc>
                <a:spcPct val="90000"/>
              </a:lnSpc>
              <a:spcBef>
                <a:spcPts val="1000"/>
              </a:spcBef>
              <a:spcAft>
                <a:spcPts val="0"/>
              </a:spcAft>
              <a:buClr>
                <a:schemeClr val="dk1"/>
              </a:buClr>
              <a:buSzPts val="2800"/>
              <a:buNone/>
            </a:pPr>
            <a:r>
              <a:rPr lang="en-US"/>
              <a:t>– stvaranje povoljnog radnog okruženja, odabir pravih zaposlenika te njihov razvoj</a:t>
            </a:r>
            <a:endParaRPr/>
          </a:p>
          <a:p>
            <a:pPr indent="0" lvl="0" marL="0" rtl="0" algn="l">
              <a:lnSpc>
                <a:spcPct val="90000"/>
              </a:lnSpc>
              <a:spcBef>
                <a:spcPts val="1000"/>
              </a:spcBef>
              <a:spcAft>
                <a:spcPts val="0"/>
              </a:spcAft>
              <a:buClr>
                <a:schemeClr val="dk1"/>
              </a:buClr>
              <a:buSzPts val="2800"/>
              <a:buNone/>
            </a:pPr>
            <a:r>
              <a:rPr lang="en-US"/>
              <a:t> </a:t>
            </a:r>
            <a:endParaRPr/>
          </a:p>
        </p:txBody>
      </p:sp>
      <p:pic>
        <p:nvPicPr>
          <p:cNvPr descr="A picture containing table, game&#10;&#10;Description automatically generated" id="304" name="Google Shape;304;p22"/>
          <p:cNvPicPr preferRelativeResize="0"/>
          <p:nvPr/>
        </p:nvPicPr>
        <p:blipFill rotWithShape="1">
          <a:blip r:embed="rId3">
            <a:alphaModFix/>
          </a:blip>
          <a:srcRect b="10301" l="27271" r="25827" t="7922"/>
          <a:stretch/>
        </p:blipFill>
        <p:spPr>
          <a:xfrm>
            <a:off x="1415382" y="3904541"/>
            <a:ext cx="2333625" cy="2442526"/>
          </a:xfrm>
          <a:prstGeom prst="rect">
            <a:avLst/>
          </a:prstGeom>
          <a:noFill/>
          <a:ln>
            <a:noFill/>
          </a:ln>
        </p:spPr>
      </p:pic>
      <p:pic>
        <p:nvPicPr>
          <p:cNvPr descr="A picture containing table, computer&#10;&#10;Description automatically generated" id="305" name="Google Shape;305;p22"/>
          <p:cNvPicPr preferRelativeResize="0"/>
          <p:nvPr/>
        </p:nvPicPr>
        <p:blipFill rotWithShape="1">
          <a:blip r:embed="rId4">
            <a:alphaModFix/>
          </a:blip>
          <a:srcRect b="0" l="0" r="0" t="0"/>
          <a:stretch/>
        </p:blipFill>
        <p:spPr>
          <a:xfrm>
            <a:off x="4197601" y="3696907"/>
            <a:ext cx="5460750" cy="28577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23"/>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Područja rada psihologa – </a:t>
            </a:r>
            <a:r>
              <a:rPr b="1" lang="en-US" sz="4100">
                <a:solidFill>
                  <a:srgbClr val="00B050"/>
                </a:solidFill>
              </a:rPr>
              <a:t>teorijske</a:t>
            </a:r>
            <a:r>
              <a:rPr lang="en-US" sz="4100"/>
              <a:t> i </a:t>
            </a:r>
            <a:r>
              <a:rPr b="1" lang="en-US" sz="4100">
                <a:solidFill>
                  <a:srgbClr val="7030A0"/>
                </a:solidFill>
              </a:rPr>
              <a:t>primijenjene</a:t>
            </a:r>
            <a:r>
              <a:rPr lang="en-US" sz="4100"/>
              <a:t> grane </a:t>
            </a:r>
            <a:endParaRPr sz="4100"/>
          </a:p>
        </p:txBody>
      </p:sp>
      <p:sp>
        <p:nvSpPr>
          <p:cNvPr id="311" name="Google Shape;311;p23"/>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7030A0"/>
              </a:buClr>
              <a:buSzPts val="2400"/>
              <a:buNone/>
            </a:pPr>
            <a:r>
              <a:rPr b="1" lang="en-US" sz="2400">
                <a:solidFill>
                  <a:srgbClr val="7030A0"/>
                </a:solidFill>
              </a:rPr>
              <a:t>9. Školska psihologija</a:t>
            </a:r>
            <a:endParaRPr b="1" sz="2400">
              <a:solidFill>
                <a:srgbClr val="7030A0"/>
              </a:solidFill>
            </a:endParaRPr>
          </a:p>
          <a:p>
            <a:pPr indent="0" lvl="0" marL="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Font typeface="Calibri"/>
              <a:buChar char="-"/>
            </a:pPr>
            <a:r>
              <a:rPr lang="en-US" sz="2400"/>
              <a:t>Pomoć učenicima u svladavanju svakodnevnih životnih i školskih izazova</a:t>
            </a:r>
            <a:endParaRPr sz="2400"/>
          </a:p>
          <a:p>
            <a:pPr indent="-228600" lvl="0" marL="228600" rtl="0" algn="l">
              <a:lnSpc>
                <a:spcPct val="90000"/>
              </a:lnSpc>
              <a:spcBef>
                <a:spcPts val="1000"/>
              </a:spcBef>
              <a:spcAft>
                <a:spcPts val="0"/>
              </a:spcAft>
              <a:buClr>
                <a:schemeClr val="dk1"/>
              </a:buClr>
              <a:buSzPts val="2400"/>
              <a:buFont typeface="Calibri"/>
              <a:buChar char="-"/>
            </a:pPr>
            <a:r>
              <a:rPr lang="en-US" sz="2400"/>
              <a:t>Podučavanje učinkovitim tehnikama učenja i pomoć u rješavanju poteškoća</a:t>
            </a:r>
            <a:endParaRPr sz="2400"/>
          </a:p>
          <a:p>
            <a:pPr indent="-228600" lvl="0" marL="228600" rtl="0" algn="l">
              <a:lnSpc>
                <a:spcPct val="90000"/>
              </a:lnSpc>
              <a:spcBef>
                <a:spcPts val="1000"/>
              </a:spcBef>
              <a:spcAft>
                <a:spcPts val="0"/>
              </a:spcAft>
              <a:buClr>
                <a:schemeClr val="dk1"/>
              </a:buClr>
              <a:buSzPts val="2400"/>
              <a:buFont typeface="Calibri"/>
              <a:buChar char="-"/>
            </a:pPr>
            <a:r>
              <a:rPr lang="en-US" sz="2400"/>
              <a:t>Podrška nastavnicima u komunikaciji s učenicima te u odabiru optimalnih nastavnih metoda i strategija </a:t>
            </a:r>
            <a:endParaRPr/>
          </a:p>
          <a:p>
            <a:pPr indent="-228600" lvl="0" marL="228600" rtl="0" algn="l">
              <a:lnSpc>
                <a:spcPct val="90000"/>
              </a:lnSpc>
              <a:spcBef>
                <a:spcPts val="1000"/>
              </a:spcBef>
              <a:spcAft>
                <a:spcPts val="0"/>
              </a:spcAft>
              <a:buClr>
                <a:schemeClr val="dk1"/>
              </a:buClr>
              <a:buSzPts val="2400"/>
              <a:buFont typeface="Calibri"/>
              <a:buChar char="-"/>
            </a:pPr>
            <a:r>
              <a:rPr lang="en-US" sz="2400"/>
              <a:t>Podrška učenicima u odabiru budućeg zanimanja</a:t>
            </a:r>
            <a:endParaRPr sz="2400"/>
          </a:p>
        </p:txBody>
      </p:sp>
      <p:pic>
        <p:nvPicPr>
          <p:cNvPr descr="A picture containing sign&#10;&#10;Description automatically generated" id="312" name="Google Shape;312;p23"/>
          <p:cNvPicPr preferRelativeResize="0"/>
          <p:nvPr/>
        </p:nvPicPr>
        <p:blipFill rotWithShape="1">
          <a:blip r:embed="rId3">
            <a:alphaModFix/>
          </a:blip>
          <a:srcRect b="0" l="8361" r="24045" t="0"/>
          <a:stretch/>
        </p:blipFill>
        <p:spPr>
          <a:xfrm>
            <a:off x="20" y="10"/>
            <a:ext cx="4635571" cy="6857990"/>
          </a:xfrm>
          <a:prstGeom prst="rect">
            <a:avLst/>
          </a:prstGeom>
          <a:noFill/>
          <a:ln>
            <a:noFill/>
          </a:ln>
        </p:spPr>
      </p:pic>
      <p:cxnSp>
        <p:nvCxnSpPr>
          <p:cNvPr id="313" name="Google Shape;313;p23"/>
          <p:cNvCxnSpPr/>
          <p:nvPr/>
        </p:nvCxnSpPr>
        <p:spPr>
          <a:xfrm>
            <a:off x="5080934" y="2115117"/>
            <a:ext cx="6309360" cy="0"/>
          </a:xfrm>
          <a:prstGeom prst="straightConnector1">
            <a:avLst/>
          </a:prstGeom>
          <a:noFill/>
          <a:ln cap="flat" cmpd="sng" w="19050">
            <a:solidFill>
              <a:srgbClr val="DA502E"/>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Domaća zadaća</a:t>
            </a:r>
            <a:endParaRPr b="1"/>
          </a:p>
        </p:txBody>
      </p:sp>
      <p:sp>
        <p:nvSpPr>
          <p:cNvPr id="319" name="Google Shape;319;p24"/>
          <p:cNvSpPr txBox="1"/>
          <p:nvPr>
            <p:ph idx="1" type="body"/>
          </p:nvPr>
        </p:nvSpPr>
        <p:spPr>
          <a:xfrm>
            <a:off x="838200" y="1825625"/>
            <a:ext cx="10515600" cy="483235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Da ste psiholog, kojom bi se granom psihologije voljeli baviti? Objasnite svoju motivaciju.</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 kojim je znanostima psihologija povezana. Objasnite na jednom primjeru.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26" name="Google Shape;326;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27" name="Google Shape;327;p25"/>
          <p:cNvPicPr preferRelativeResize="0"/>
          <p:nvPr/>
        </p:nvPicPr>
        <p:blipFill rotWithShape="1">
          <a:blip r:embed="rId3">
            <a:alphaModFix/>
          </a:blip>
          <a:srcRect b="0" l="0" r="0" t="0"/>
          <a:stretch/>
        </p:blipFill>
        <p:spPr>
          <a:xfrm>
            <a:off x="618979" y="240553"/>
            <a:ext cx="11363594" cy="639202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Hvala vam na pažnji</a:t>
            </a:r>
            <a:endParaRPr/>
          </a:p>
        </p:txBody>
      </p:sp>
      <p:pic>
        <p:nvPicPr>
          <p:cNvPr descr="A picture containing toy&#10;&#10;Description automatically generated" id="333" name="Google Shape;333;p26"/>
          <p:cNvPicPr preferRelativeResize="0"/>
          <p:nvPr>
            <p:ph idx="1" type="body"/>
          </p:nvPr>
        </p:nvPicPr>
        <p:blipFill rotWithShape="1">
          <a:blip r:embed="rId3">
            <a:alphaModFix/>
          </a:blip>
          <a:srcRect b="0" l="0" r="0" t="0"/>
          <a:stretch/>
        </p:blipFill>
        <p:spPr>
          <a:xfrm>
            <a:off x="2316361" y="1690688"/>
            <a:ext cx="6827639" cy="455176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sustava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sustava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2020-09-21T19:41:57Z</dcterms:created>
  <dc:creator>Lejla Talić</dc:creator>
</cp:coreProperties>
</file>