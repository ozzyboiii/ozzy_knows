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hiYso6XVRUykfBg9viHXwwoP4V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Felix Baumgartner je 14. listopada, 2012. godine, skočio iz svemirske kapsule, s visine od 39 000 metara, sa ruba zemljine atmosfere. </a:t>
            </a:r>
            <a:endParaRPr/>
          </a:p>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t/>
            </a:r>
            <a:endParaRPr sz="1754"/>
          </a:p>
          <a:p>
            <a:pPr indent="0" lvl="0" marL="0" rtl="0" algn="l">
              <a:lnSpc>
                <a:spcPct val="80000"/>
              </a:lnSpc>
              <a:spcBef>
                <a:spcPts val="0"/>
              </a:spcBef>
              <a:spcAft>
                <a:spcPts val="0"/>
              </a:spcAft>
              <a:buNone/>
            </a:pPr>
            <a:r>
              <a:rPr lang="en-US" sz="1754"/>
              <a:t>Padao je brzinom od 1342 km/h što je brže od brzine zvuka. On je prvi čovjek koji je probio zvučni zid bez da je bio u nekoj letjelici. </a:t>
            </a:r>
            <a:endParaRPr/>
          </a:p>
          <a:p>
            <a:pPr indent="0" lvl="0" marL="0" rtl="0" algn="l">
              <a:lnSpc>
                <a:spcPct val="80000"/>
              </a:lnSpc>
              <a:spcBef>
                <a:spcPts val="0"/>
              </a:spcBef>
              <a:spcAft>
                <a:spcPts val="0"/>
              </a:spcAft>
              <a:buNone/>
            </a:pPr>
            <a:r>
              <a:t/>
            </a:r>
            <a:endParaRPr sz="1754"/>
          </a:p>
          <a:p>
            <a:pPr indent="0" lvl="0" marL="0" rtl="0" algn="l">
              <a:lnSpc>
                <a:spcPct val="80000"/>
              </a:lnSpc>
              <a:spcBef>
                <a:spcPts val="0"/>
              </a:spcBef>
              <a:spcAft>
                <a:spcPts val="0"/>
              </a:spcAft>
              <a:buNone/>
            </a:pPr>
            <a:r>
              <a:rPr lang="en-US" sz="1754"/>
              <a:t>Zašto je on to učinio? </a:t>
            </a:r>
            <a:endParaRPr/>
          </a:p>
          <a:p>
            <a:pPr indent="0" lvl="0" marL="0" rtl="0" algn="l">
              <a:lnSpc>
                <a:spcPct val="80000"/>
              </a:lnSpc>
              <a:spcBef>
                <a:spcPts val="0"/>
              </a:spcBef>
              <a:spcAft>
                <a:spcPts val="0"/>
              </a:spcAft>
              <a:buNone/>
            </a:pPr>
            <a:r>
              <a:t/>
            </a:r>
            <a:endParaRPr sz="1754"/>
          </a:p>
          <a:p>
            <a:pPr indent="0" lvl="0" marL="0" rtl="0" algn="l">
              <a:lnSpc>
                <a:spcPct val="80000"/>
              </a:lnSpc>
              <a:spcBef>
                <a:spcPts val="0"/>
              </a:spcBef>
              <a:spcAft>
                <a:spcPts val="0"/>
              </a:spcAft>
              <a:buNone/>
            </a:pPr>
            <a:r>
              <a:t/>
            </a:r>
            <a:endParaRPr sz="1754"/>
          </a:p>
          <a:p>
            <a:pPr indent="0" lvl="0" marL="0" rtl="0" algn="l">
              <a:lnSpc>
                <a:spcPct val="80000"/>
              </a:lnSpc>
              <a:spcBef>
                <a:spcPts val="0"/>
              </a:spcBef>
              <a:spcAft>
                <a:spcPts val="0"/>
              </a:spcAft>
              <a:buNone/>
            </a:pPr>
            <a:r>
              <a:rPr lang="en-US" sz="1754">
                <a:solidFill>
                  <a:schemeClr val="dk1"/>
                </a:solidFill>
                <a:latin typeface="Calibri"/>
                <a:ea typeface="Calibri"/>
                <a:cs typeface="Calibri"/>
                <a:sym typeface="Calibri"/>
              </a:rPr>
              <a:t>: Skok je bio jako opasan. Lako je moglo doći do toga da pogine. </a:t>
            </a:r>
            <a:endParaRPr/>
          </a:p>
          <a:p>
            <a:pPr indent="0" lvl="0" marL="0" rtl="0" algn="l">
              <a:lnSpc>
                <a:spcPct val="80000"/>
              </a:lnSpc>
              <a:spcBef>
                <a:spcPts val="0"/>
              </a:spcBef>
              <a:spcAft>
                <a:spcPts val="0"/>
              </a:spcAft>
              <a:buNone/>
            </a:pPr>
            <a:r>
              <a:t/>
            </a:r>
            <a:endParaRPr sz="1754">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1754"/>
          </a:p>
          <a:p>
            <a:pPr indent="0" lvl="0" marL="0" rtl="0" algn="l">
              <a:lnSpc>
                <a:spcPct val="80000"/>
              </a:lnSpc>
              <a:spcBef>
                <a:spcPts val="0"/>
              </a:spcBef>
              <a:spcAft>
                <a:spcPts val="0"/>
              </a:spcAft>
              <a:buNone/>
            </a:pPr>
            <a:r>
              <a:t/>
            </a:r>
            <a:endParaRPr sz="1754"/>
          </a:p>
          <a:p>
            <a:pPr indent="0" lvl="0" marL="0" rtl="0" algn="l">
              <a:lnSpc>
                <a:spcPct val="80000"/>
              </a:lnSpc>
              <a:spcBef>
                <a:spcPts val="0"/>
              </a:spcBef>
              <a:spcAft>
                <a:spcPts val="0"/>
              </a:spcAft>
              <a:buNone/>
            </a:pPr>
            <a:r>
              <a:rPr lang="en-US" sz="1754"/>
              <a:t>Kada se pitamo </a:t>
            </a:r>
            <a:r>
              <a:rPr i="1" lang="en-US" sz="1754"/>
              <a:t>zašto </a:t>
            </a:r>
            <a:r>
              <a:rPr lang="en-US" sz="1754"/>
              <a:t>je netko nešto učinio, što se zapravo pitamo? </a:t>
            </a:r>
            <a:endParaRPr/>
          </a:p>
          <a:p>
            <a:pPr indent="0" lvl="0" marL="0" rtl="0" algn="l">
              <a:lnSpc>
                <a:spcPct val="80000"/>
              </a:lnSpc>
              <a:spcBef>
                <a:spcPts val="0"/>
              </a:spcBef>
              <a:spcAft>
                <a:spcPts val="0"/>
              </a:spcAft>
              <a:buNone/>
            </a:pPr>
            <a:r>
              <a:rPr lang="en-US" sz="1754"/>
              <a:t>Pretpostavite temu današnjeg sata</a:t>
            </a:r>
            <a:endParaRPr sz="1754"/>
          </a:p>
        </p:txBody>
      </p:sp>
      <p:sp>
        <p:nvSpPr>
          <p:cNvPr id="94" name="Google Shape;9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2" name="Google Shape;102;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0" name="Google Shape;110;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motivatori su vanjski (nagrada, ocjena, dolazak roditelja u školu itd.),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unutarnji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znatiželja, kompetencija, potreba za proširivanjem znanja itd. ) te njihovu važnost.  </a:t>
            </a:r>
            <a:endParaRPr/>
          </a:p>
        </p:txBody>
      </p:sp>
      <p:sp>
        <p:nvSpPr>
          <p:cNvPr id="124" name="Google Shape;12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POBUDE = POTICAJI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Suvremena psihologija tumači ljudsko ponašanje kroz potrebe i vanjske poticaje.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Postoje biološki i psihosocijalni motivi.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2" name="Google Shape;13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Koja je razlika vaše motivacije za jelom u ova dva slučaja?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Povezuje učeničke odgovore s podjelom motiva na </a:t>
            </a:r>
            <a:r>
              <a:rPr b="1" lang="en-US" sz="1200">
                <a:solidFill>
                  <a:schemeClr val="dk1"/>
                </a:solidFill>
                <a:latin typeface="Calibri"/>
                <a:ea typeface="Calibri"/>
                <a:cs typeface="Calibri"/>
                <a:sym typeface="Calibri"/>
              </a:rPr>
              <a:t>biološki motiv i psihosocijalni motivi.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0" name="Google Shape;14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8" name="Google Shape;14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6" name="Google Shape;156;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BIOLOŠKI MOTIVI </a:t>
            </a:r>
            <a:r>
              <a:rPr lang="en-US" sz="1200">
                <a:solidFill>
                  <a:schemeClr val="dk1"/>
                </a:solidFill>
                <a:latin typeface="Calibri"/>
                <a:ea typeface="Calibri"/>
                <a:cs typeface="Calibri"/>
                <a:sym typeface="Calibri"/>
              </a:rPr>
              <a:t>su važni za preživljavanje (potreba za hranom, vodom, spavanjem, kretanjem, očuvanjem fizičkog integriteta…). Biološke potrebe su socijalizirane tj. njihov način zadovoljavanja određen je društvenim normama.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Može li mi netko definirati pojam homeostaze?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Za normalno odvijanje fizioloških procesa u organizmu nužno je održavanje stabilnih uvjeta u unutarnjoj okolini.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Objašnjava </a:t>
            </a:r>
            <a:r>
              <a:rPr b="1" lang="en-US"/>
              <a:t>važnost regulacije unutarnje okoline organizma to jest održavanja stabilnih uvjeta za normalno odvijanje fizioloških procesa. </a:t>
            </a:r>
            <a:endParaRPr/>
          </a:p>
          <a:p>
            <a:pPr indent="0" lvl="0" marL="0" rtl="0" algn="l">
              <a:spcBef>
                <a:spcPts val="0"/>
              </a:spcBef>
              <a:spcAft>
                <a:spcPts val="0"/>
              </a:spcAft>
              <a:buNone/>
            </a:pPr>
            <a:r>
              <a:t/>
            </a:r>
            <a:endParaRPr b="1"/>
          </a:p>
          <a:p>
            <a:pPr indent="0" lvl="0" marL="0" rtl="0" algn="l">
              <a:spcBef>
                <a:spcPts val="0"/>
              </a:spcBef>
              <a:spcAft>
                <a:spcPts val="0"/>
              </a:spcAft>
              <a:buNone/>
            </a:pPr>
            <a:r>
              <a:rPr lang="en-US"/>
              <a:t>Homeostazu omogućuje niz tjelesnih procesa.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4" name="Google Shape;16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lang="en-US"/>
              <a:t>1. pojava neke potrebe (stanje napetosti) </a:t>
            </a:r>
            <a:endParaRPr/>
          </a:p>
          <a:p>
            <a:pPr indent="0" lvl="0" marL="0" rtl="0" algn="l">
              <a:spcBef>
                <a:spcPts val="0"/>
              </a:spcBef>
              <a:spcAft>
                <a:spcPts val="0"/>
              </a:spcAft>
              <a:buNone/>
            </a:pPr>
            <a:r>
              <a:rPr lang="en-US"/>
              <a:t>2. poduzimanje akcije </a:t>
            </a:r>
            <a:endParaRPr/>
          </a:p>
          <a:p>
            <a:pPr indent="0" lvl="0" marL="0" rtl="0" algn="l">
              <a:spcBef>
                <a:spcPts val="0"/>
              </a:spcBef>
              <a:spcAft>
                <a:spcPts val="0"/>
              </a:spcAft>
              <a:buNone/>
            </a:pPr>
            <a:r>
              <a:rPr lang="en-US"/>
              <a:t>3. postizanje cilja (oslobađanje od napetosti) </a:t>
            </a:r>
            <a:endParaRPr/>
          </a:p>
          <a:p>
            <a:pPr indent="0" lvl="0" marL="0" rtl="0" algn="l">
              <a:spcBef>
                <a:spcPts val="0"/>
              </a:spcBef>
              <a:spcAft>
                <a:spcPts val="0"/>
              </a:spcAft>
              <a:buNone/>
            </a:pPr>
            <a:r>
              <a:rPr lang="en-US"/>
              <a:t>Cilj je postići HOMEOSTAZU ILI RAVNOTEŽU U ORGANIZMU.</a:t>
            </a:r>
            <a:endParaRPr/>
          </a:p>
          <a:p>
            <a:pPr indent="0" lvl="0" marL="0" rtl="0" algn="l">
              <a:spcBef>
                <a:spcPts val="0"/>
              </a:spcBef>
              <a:spcAft>
                <a:spcPts val="0"/>
              </a:spcAft>
              <a:buNone/>
            </a:pPr>
            <a:r>
              <a:rPr lang="en-US"/>
              <a:t>Što znači pojam homeostaza?</a:t>
            </a:r>
            <a:endParaRPr/>
          </a:p>
          <a:p>
            <a:pPr indent="0" lvl="0" marL="0" rtl="0" algn="l">
              <a:spcBef>
                <a:spcPts val="0"/>
              </a:spcBef>
              <a:spcAft>
                <a:spcPts val="0"/>
              </a:spcAft>
              <a:buNone/>
            </a:pPr>
            <a:r>
              <a:rPr lang="en-US"/>
              <a:t>Što može porušiti našu homeostazu?</a:t>
            </a:r>
            <a:endParaRPr/>
          </a:p>
          <a:p>
            <a:pPr indent="0" lvl="0" marL="0" rtl="0" algn="l">
              <a:spcBef>
                <a:spcPts val="0"/>
              </a:spcBef>
              <a:spcAft>
                <a:spcPts val="0"/>
              </a:spcAft>
              <a:buClr>
                <a:schemeClr val="dk1"/>
              </a:buClr>
              <a:buSzPts val="1200"/>
              <a:buFont typeface="Calibri"/>
              <a:buNone/>
            </a:pPr>
            <a:r>
              <a:rPr lang="en-US"/>
              <a:t> </a:t>
            </a:r>
            <a:endParaRPr/>
          </a:p>
          <a:p>
            <a:pPr indent="0" lvl="0" marL="0" rtl="0" algn="l">
              <a:spcBef>
                <a:spcPts val="0"/>
              </a:spcBef>
              <a:spcAft>
                <a:spcPts val="0"/>
              </a:spcAft>
              <a:buNone/>
            </a:pPr>
            <a:r>
              <a:t/>
            </a:r>
            <a:endParaRPr/>
          </a:p>
        </p:txBody>
      </p:sp>
      <p:sp>
        <p:nvSpPr>
          <p:cNvPr id="173" name="Google Shape;17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Hrana koju ne volimo, Muslimani, Židovi  ---- UČENJE </a:t>
            </a:r>
            <a:endParaRPr/>
          </a:p>
        </p:txBody>
      </p:sp>
      <p:sp>
        <p:nvSpPr>
          <p:cNvPr id="193" name="Google Shape;193;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Vjerojatno nije ni jedna od bioloških potreba zato jer je ugrozio svoj život, mogao je poginuti, sve mu je bilo u neravnoteži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Povezuje učeničke odgovore sa drugom kategorijom potreba; stečenim potrebama.  PSIHOLOŠKE </a:t>
            </a:r>
            <a:endParaRPr/>
          </a:p>
        </p:txBody>
      </p:sp>
      <p:sp>
        <p:nvSpPr>
          <p:cNvPr id="202" name="Google Shape;20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potreba za društvom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Potreba za znanjem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Potreba za ugledom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Uspjehom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p:txBody>
      </p:sp>
      <p:sp>
        <p:nvSpPr>
          <p:cNvPr id="210" name="Google Shape;21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PSIHOSOCIJALNI MOTIVI </a:t>
            </a:r>
            <a:r>
              <a:rPr lang="en-US" sz="1200">
                <a:solidFill>
                  <a:schemeClr val="dk1"/>
                </a:solidFill>
                <a:latin typeface="Calibri"/>
                <a:ea typeface="Calibri"/>
                <a:cs typeface="Calibri"/>
                <a:sym typeface="Calibri"/>
              </a:rPr>
              <a:t>su naučeni.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Motiv za druženjem se sastoji u želji za uspostavljanjem i održavanjem prijateljskih veza s velikim brojem ljudi.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Motiv za prisnošću je želja za bliskom komunikacijom s drugom osobom.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Motiv za postignućem je želja da se postigne visoki uspjeh u onome što se radi.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 psihosocijalne motive spada i potreba za ljubavlju, promjenom, položajem, zabavom, napretkom, kreativnošću… </a:t>
            </a:r>
            <a:endParaRPr/>
          </a:p>
          <a:p>
            <a:pPr indent="0" lvl="0" marL="0" rtl="0" algn="l">
              <a:spcBef>
                <a:spcPts val="0"/>
              </a:spcBef>
              <a:spcAft>
                <a:spcPts val="0"/>
              </a:spcAft>
              <a:buNone/>
            </a:pPr>
            <a:r>
              <a:t/>
            </a:r>
            <a:endParaRPr/>
          </a:p>
        </p:txBody>
      </p:sp>
      <p:sp>
        <p:nvSpPr>
          <p:cNvPr id="220" name="Google Shape;22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NAGRADE ili UNUTRAŠNJA ŽELJA ZA ZNANJEM?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Učeničke odgovore povezuje s podjelom motivacije na unutarnju i vanjsku odnosno intrinzičnu i ekstrinzičnu. </a:t>
            </a:r>
            <a:endParaRPr/>
          </a:p>
          <a:p>
            <a:pPr indent="0" lvl="0" marL="0" rtl="0" algn="l">
              <a:spcBef>
                <a:spcPts val="0"/>
              </a:spcBef>
              <a:spcAft>
                <a:spcPts val="0"/>
              </a:spcAft>
              <a:buNone/>
            </a:pPr>
            <a:r>
              <a:rPr lang="en-US"/>
              <a:t>Objašnjava pojmove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8" name="Google Shape;22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Ekstrinzična   - ona koja se zasniva na vanjskim poticajima, nagradama, beneficijama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Intrinzična  - kada se u osnovi ponašanja nalaze unutarnji poticaji, interes, znatiželja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PITANJE? Je li vam se ikad dogodilo da jako volite neku aktivnost, a kada je morate raditi za ocjenu, počne vam se gaditi?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PRIMJER S GLAZBENOM ŠKOLOM, NATJECANJIMA, UČENJEM JEZIKA, ČITANJEM…..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VRSTE MOTIVACIJE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Ekstrinzična motivacija se zasniva na vanjskim poticajima, nagradama.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Intrinzična motivacija proizlazi iz unutarnjih pobuda, zadovoljstvo proizlazi iz same djelatnosti. </a:t>
            </a:r>
            <a:endParaRPr/>
          </a:p>
          <a:p>
            <a:pPr indent="0" lvl="0" marL="0" rtl="0" algn="l">
              <a:spcBef>
                <a:spcPts val="0"/>
              </a:spcBef>
              <a:spcAft>
                <a:spcPts val="0"/>
              </a:spcAft>
              <a:buNone/>
            </a:pPr>
            <a:r>
              <a:t/>
            </a:r>
            <a:endParaRPr/>
          </a:p>
        </p:txBody>
      </p:sp>
      <p:sp>
        <p:nvSpPr>
          <p:cNvPr id="237" name="Google Shape;237;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9" name="Google Shape;269;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Prezentira učenicima Maslowljevu piramidu. </a:t>
            </a:r>
            <a:endParaRPr/>
          </a:p>
          <a:p>
            <a:pPr indent="0" lvl="0" marL="0" rtl="0" algn="l">
              <a:spcBef>
                <a:spcPts val="0"/>
              </a:spcBef>
              <a:spcAft>
                <a:spcPts val="0"/>
              </a:spcAft>
              <a:buNone/>
            </a:pPr>
            <a:r>
              <a:rPr lang="en-US"/>
              <a:t>Dok se ne zadovolje oni motivi koji su na nižim razinama, pojedinac neće krenuti u zadovoljavanje onih koji su na višim.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BAREM DJELOMIČNO!!!!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Psiholog Abraham Maslow pretpostavio je da su ljudske potrebe hijerarhijski organizirane.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Maslow je hijerarhiju motiva prikazao u obliku piramide. Na dnu Maslowljeve piramide su fiziološke potrebe, a na vrhu je potreba za samoaktualizacijom. </a:t>
            </a:r>
            <a:endParaRPr/>
          </a:p>
          <a:p>
            <a:pPr indent="0" lvl="0" marL="0" rtl="0" algn="l">
              <a:spcBef>
                <a:spcPts val="0"/>
              </a:spcBef>
              <a:spcAft>
                <a:spcPts val="0"/>
              </a:spcAft>
              <a:buNone/>
            </a:pPr>
            <a:r>
              <a:t/>
            </a:r>
            <a:endParaRPr/>
          </a:p>
        </p:txBody>
      </p:sp>
      <p:sp>
        <p:nvSpPr>
          <p:cNvPr id="277" name="Google Shape;277;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5" name="Google Shape;285;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ZDRAVLJE; POSAO; SIGURNOST U OKOLINI</a:t>
            </a:r>
            <a:endParaRPr/>
          </a:p>
        </p:txBody>
      </p:sp>
      <p:sp>
        <p:nvSpPr>
          <p:cNvPr id="300" name="Google Shape;300;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SAMOPOŠTOVANJE! Uspjeh, ugled, poštovanje drugih…</a:t>
            </a:r>
            <a:endParaRPr/>
          </a:p>
        </p:txBody>
      </p:sp>
      <p:sp>
        <p:nvSpPr>
          <p:cNvPr id="318" name="Google Shape;318;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SAMOAKTUALIZACIJA:   potreba za pronalaženjem svojih kreativnih mogućnosti i njihovim uspješnim ostvarivanjem u životu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7" name="Google Shape;327;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b224401cb4_1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g2b224401cb4_1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b224401cb4_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2b224401cb4_1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SUKOB MOTIVA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 nekim situacijama možemo imati više želja ili potreba koje su međusobno neuskladive.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Ovaj konflikt nastaje kada moramo birati između dva ili više podjednako privlačna cilja.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Što su ciljevi sličniji, to je konflikt veći. Poslovica koja opisuje ovaj konflikt glasi „Ne možeš imati i ovce i novce“.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2" name="Google Shape;342;g2b224401cb4_1_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b224401cb4_1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2b224401cb4_1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Poslovica koja opisuje ovaj konflikt glasi „Između dva zla odaberi manje </a:t>
            </a:r>
            <a:endParaRPr/>
          </a:p>
          <a:p>
            <a:pPr indent="0" lvl="0" marL="0" rtl="0" algn="l">
              <a:spcBef>
                <a:spcPts val="0"/>
              </a:spcBef>
              <a:spcAft>
                <a:spcPts val="0"/>
              </a:spcAft>
              <a:buNone/>
            </a:pPr>
            <a:r>
              <a:t/>
            </a:r>
            <a:endParaRPr/>
          </a:p>
        </p:txBody>
      </p:sp>
      <p:sp>
        <p:nvSpPr>
          <p:cNvPr id="353" name="Google Shape;353;g2b224401cb4_1_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Javlja se kada isti cilj ima i pozitivne i negativne strane. Ovaj konflikt se teško rješava, jer što smo bliže tom cilju raste sila odbijanja. </a:t>
            </a:r>
            <a:endParaRPr/>
          </a:p>
          <a:p>
            <a:pPr indent="0" lvl="0" marL="0" marR="0" rtl="0" algn="l">
              <a:lnSpc>
                <a:spcPct val="100000"/>
              </a:lnSpc>
              <a:spcBef>
                <a:spcPts val="0"/>
              </a:spcBef>
              <a:spcAft>
                <a:spcPts val="0"/>
              </a:spcAft>
              <a:buClr>
                <a:schemeClr val="dk1"/>
              </a:buClr>
              <a:buSzPts val="1200"/>
              <a:buFont typeface="Calibri"/>
              <a:buNone/>
            </a:pPr>
            <a:r>
              <a:rPr lang="en-US"/>
              <a:t>To dovodi do odustajanja i udaljavanja od cilja. Što se više udaljavamo od cilja ponovno raste njegova privlačnost. </a:t>
            </a:r>
            <a:endParaRPr/>
          </a:p>
          <a:p>
            <a:pPr indent="0" lvl="0" marL="0" rtl="0" algn="l">
              <a:spcBef>
                <a:spcPts val="0"/>
              </a:spcBef>
              <a:spcAft>
                <a:spcPts val="0"/>
              </a:spcAft>
              <a:buNone/>
            </a:pPr>
            <a:r>
              <a:t/>
            </a:r>
            <a:endParaRPr/>
          </a:p>
        </p:txBody>
      </p:sp>
      <p:sp>
        <p:nvSpPr>
          <p:cNvPr id="363" name="Google Shape;363;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b224401cb4_1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2b224401cb4_1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Moramo odabrati između dva podjednako privlačna i odbojna cilja. </a:t>
            </a:r>
            <a:endParaRPr/>
          </a:p>
          <a:p>
            <a:pPr indent="0" lvl="0" marL="0" rtl="0" algn="l">
              <a:spcBef>
                <a:spcPts val="0"/>
              </a:spcBef>
              <a:spcAft>
                <a:spcPts val="0"/>
              </a:spcAft>
              <a:buNone/>
            </a:pPr>
            <a:r>
              <a:t/>
            </a:r>
            <a:endParaRPr/>
          </a:p>
        </p:txBody>
      </p:sp>
      <p:sp>
        <p:nvSpPr>
          <p:cNvPr id="372" name="Google Shape;372;g2b224401cb4_1_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b224401cb4_1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2b224401cb4_1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sadržaj" type="obj">
  <p:cSld name="OBJECT">
    <p:spTree>
      <p:nvGrpSpPr>
        <p:cNvPr id="15" name="Shape 15"/>
        <p:cNvGrpSpPr/>
        <p:nvPr/>
      </p:nvGrpSpPr>
      <p:grpSpPr>
        <a:xfrm>
          <a:off x="0" y="0"/>
          <a:ext cx="0" cy="0"/>
          <a:chOff x="0" y="0"/>
          <a:chExt cx="0" cy="0"/>
        </a:xfrm>
      </p:grpSpPr>
      <p:sp>
        <p:nvSpPr>
          <p:cNvPr id="16" name="Google Shape;1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ni slajd" type="title">
  <p:cSld name="TITLE">
    <p:spTree>
      <p:nvGrpSpPr>
        <p:cNvPr id="21" name="Shape 21"/>
        <p:cNvGrpSpPr/>
        <p:nvPr/>
      </p:nvGrpSpPr>
      <p:grpSpPr>
        <a:xfrm>
          <a:off x="0" y="0"/>
          <a:ext cx="0" cy="0"/>
          <a:chOff x="0" y="0"/>
          <a:chExt cx="0" cy="0"/>
        </a:xfrm>
      </p:grpSpPr>
      <p:sp>
        <p:nvSpPr>
          <p:cNvPr id="22" name="Google Shape;22;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aglavlje odjeljka" type="secHead">
  <p:cSld name="SECTION_HEADER">
    <p:spTree>
      <p:nvGrpSpPr>
        <p:cNvPr id="27" name="Shape 27"/>
        <p:cNvGrpSpPr/>
        <p:nvPr/>
      </p:nvGrpSpPr>
      <p:grpSpPr>
        <a:xfrm>
          <a:off x="0" y="0"/>
          <a:ext cx="0" cy="0"/>
          <a:chOff x="0" y="0"/>
          <a:chExt cx="0" cy="0"/>
        </a:xfrm>
      </p:grpSpPr>
      <p:sp>
        <p:nvSpPr>
          <p:cNvPr id="28" name="Google Shape;28;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va sadržaja" type="twoObj">
  <p:cSld name="TWO_OBJECTS">
    <p:spTree>
      <p:nvGrpSpPr>
        <p:cNvPr id="33" name="Shape 33"/>
        <p:cNvGrpSpPr/>
        <p:nvPr/>
      </p:nvGrpSpPr>
      <p:grpSpPr>
        <a:xfrm>
          <a:off x="0" y="0"/>
          <a:ext cx="0" cy="0"/>
          <a:chOff x="0" y="0"/>
          <a:chExt cx="0" cy="0"/>
        </a:xfrm>
      </p:grpSpPr>
      <p:sp>
        <p:nvSpPr>
          <p:cNvPr id="34" name="Google Shape;34;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poredba" type="twoTxTwoObj">
  <p:cSld name="TWO_OBJECTS_WITH_TEXT">
    <p:spTree>
      <p:nvGrpSpPr>
        <p:cNvPr id="40" name="Shape 40"/>
        <p:cNvGrpSpPr/>
        <p:nvPr/>
      </p:nvGrpSpPr>
      <p:grpSpPr>
        <a:xfrm>
          <a:off x="0" y="0"/>
          <a:ext cx="0" cy="0"/>
          <a:chOff x="0" y="0"/>
          <a:chExt cx="0" cy="0"/>
        </a:xfrm>
      </p:grpSpPr>
      <p:sp>
        <p:nvSpPr>
          <p:cNvPr id="41" name="Google Shape;41;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mo naslov" type="titleOnly">
  <p:cSld name="TITLE_ONLY">
    <p:spTree>
      <p:nvGrpSpPr>
        <p:cNvPr id="49" name="Shape 49"/>
        <p:cNvGrpSpPr/>
        <p:nvPr/>
      </p:nvGrpSpPr>
      <p:grpSpPr>
        <a:xfrm>
          <a:off x="0" y="0"/>
          <a:ext cx="0" cy="0"/>
          <a:chOff x="0" y="0"/>
          <a:chExt cx="0" cy="0"/>
        </a:xfrm>
      </p:grpSpPr>
      <p:sp>
        <p:nvSpPr>
          <p:cNvPr id="50" name="Google Shape;50;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azno" type="blank">
  <p:cSld name="BLANK">
    <p:spTree>
      <p:nvGrpSpPr>
        <p:cNvPr id="54" name="Shape 54"/>
        <p:cNvGrpSpPr/>
        <p:nvPr/>
      </p:nvGrpSpPr>
      <p:grpSpPr>
        <a:xfrm>
          <a:off x="0" y="0"/>
          <a:ext cx="0" cy="0"/>
          <a:chOff x="0" y="0"/>
          <a:chExt cx="0" cy="0"/>
        </a:xfrm>
      </p:grpSpPr>
      <p:sp>
        <p:nvSpPr>
          <p:cNvPr id="55" name="Google Shape;5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držaj s opisom" type="objTx">
  <p:cSld name="OBJECT_WITH_CAPTION_TEXT">
    <p:spTree>
      <p:nvGrpSpPr>
        <p:cNvPr id="58" name="Shape 58"/>
        <p:cNvGrpSpPr/>
        <p:nvPr/>
      </p:nvGrpSpPr>
      <p:grpSpPr>
        <a:xfrm>
          <a:off x="0" y="0"/>
          <a:ext cx="0" cy="0"/>
          <a:chOff x="0" y="0"/>
          <a:chExt cx="0" cy="0"/>
        </a:xfrm>
      </p:grpSpPr>
      <p:sp>
        <p:nvSpPr>
          <p:cNvPr id="59" name="Google Shape;59;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ka s opisom" type="picTx">
  <p:cSld name="PICTURE_WITH_CAPTION_TEXT">
    <p:spTree>
      <p:nvGrpSpPr>
        <p:cNvPr id="65" name="Shape 65"/>
        <p:cNvGrpSpPr/>
        <p:nvPr/>
      </p:nvGrpSpPr>
      <p:grpSpPr>
        <a:xfrm>
          <a:off x="0" y="0"/>
          <a:ext cx="0" cy="0"/>
          <a:chOff x="0" y="0"/>
          <a:chExt cx="0" cy="0"/>
        </a:xfrm>
      </p:grpSpPr>
      <p:sp>
        <p:nvSpPr>
          <p:cNvPr id="66" name="Google Shape;66;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5"/>
          <p:cNvSpPr/>
          <p:nvPr>
            <p:ph idx="2" type="pic"/>
          </p:nvPr>
        </p:nvSpPr>
        <p:spPr>
          <a:xfrm>
            <a:off x="1792288" y="612775"/>
            <a:ext cx="5486400" cy="4114800"/>
          </a:xfrm>
          <a:prstGeom prst="rect">
            <a:avLst/>
          </a:prstGeom>
          <a:noFill/>
          <a:ln>
            <a:noFill/>
          </a:ln>
        </p:spPr>
      </p:sp>
      <p:sp>
        <p:nvSpPr>
          <p:cNvPr id="68" name="Google Shape;68;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okomiti tekst" type="vertTx">
  <p:cSld name="VERTICAL_TEXT">
    <p:spTree>
      <p:nvGrpSpPr>
        <p:cNvPr id="72" name="Shape 72"/>
        <p:cNvGrpSpPr/>
        <p:nvPr/>
      </p:nvGrpSpPr>
      <p:grpSpPr>
        <a:xfrm>
          <a:off x="0" y="0"/>
          <a:ext cx="0" cy="0"/>
          <a:chOff x="0" y="0"/>
          <a:chExt cx="0" cy="0"/>
        </a:xfrm>
      </p:grpSpPr>
      <p:sp>
        <p:nvSpPr>
          <p:cNvPr id="73" name="Google Shape;73;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komiti naslov i tekst" type="vertTitleAndTx">
  <p:cSld name="VERTICAL_TITLE_AND_VERTICAL_TEXT">
    <p:spTree>
      <p:nvGrpSpPr>
        <p:cNvPr id="78" name="Shape 78"/>
        <p:cNvGrpSpPr/>
        <p:nvPr/>
      </p:nvGrpSpPr>
      <p:grpSpPr>
        <a:xfrm>
          <a:off x="0" y="0"/>
          <a:ext cx="0" cy="0"/>
          <a:chOff x="0" y="0"/>
          <a:chExt cx="0" cy="0"/>
        </a:xfrm>
      </p:grpSpPr>
      <p:sp>
        <p:nvSpPr>
          <p:cNvPr id="79" name="Google Shape;79;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0.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jp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jpg"/><Relationship Id="rId4" Type="http://schemas.openxmlformats.org/officeDocument/2006/relationships/image" Target="../media/image4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7.jpg"/><Relationship Id="rId4" Type="http://schemas.openxmlformats.org/officeDocument/2006/relationships/image" Target="../media/image2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jpg"/><Relationship Id="rId4" Type="http://schemas.openxmlformats.org/officeDocument/2006/relationships/image" Target="../media/image2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jpg"/><Relationship Id="rId4" Type="http://schemas.openxmlformats.org/officeDocument/2006/relationships/image" Target="../media/image23.jpg"/><Relationship Id="rId5" Type="http://schemas.openxmlformats.org/officeDocument/2006/relationships/image" Target="../media/image2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3.jpg"/><Relationship Id="rId4" Type="http://schemas.openxmlformats.org/officeDocument/2006/relationships/image" Target="../media/image3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3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6.jpg"/><Relationship Id="rId4" Type="http://schemas.openxmlformats.org/officeDocument/2006/relationships/image" Target="../media/image4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jpg"/><Relationship Id="rId4" Type="http://schemas.openxmlformats.org/officeDocument/2006/relationships/image" Target="../media/image3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3.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800"/>
              <a:buFont typeface="Calibri"/>
              <a:buNone/>
            </a:pPr>
            <a:r>
              <a:rPr lang="en-US" sz="4800"/>
              <a:t> Felix Baumgartner</a:t>
            </a:r>
            <a:endParaRPr sz="4800"/>
          </a:p>
        </p:txBody>
      </p:sp>
      <p:pic>
        <p:nvPicPr>
          <p:cNvPr descr="felix-baumgartner-standing-in-his-capsule-about-to-dive-640x480.jpg" id="90" name="Google Shape;90;p1"/>
          <p:cNvPicPr preferRelativeResize="0"/>
          <p:nvPr>
            <p:ph idx="1" type="body"/>
          </p:nvPr>
        </p:nvPicPr>
        <p:blipFill rotWithShape="1">
          <a:blip r:embed="rId3">
            <a:alphaModFix/>
          </a:blip>
          <a:srcRect b="0" l="0" r="0" t="0"/>
          <a:stretch/>
        </p:blipFill>
        <p:spPr>
          <a:xfrm>
            <a:off x="1691680" y="1484784"/>
            <a:ext cx="6034617" cy="45259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Felix Baumgartner</a:t>
            </a:r>
            <a:endParaRPr/>
          </a:p>
        </p:txBody>
      </p:sp>
      <p:sp>
        <p:nvSpPr>
          <p:cNvPr id="97" name="Google Shape;97;p2"/>
          <p:cNvSpPr txBox="1"/>
          <p:nvPr>
            <p:ph idx="1" type="body"/>
          </p:nvPr>
        </p:nvSpPr>
        <p:spPr>
          <a:xfrm>
            <a:off x="457200" y="1772816"/>
            <a:ext cx="8003232" cy="4353347"/>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pic>
        <p:nvPicPr>
          <p:cNvPr descr="felix-baumgartner-lg.jpg" id="98" name="Google Shape;98;p2"/>
          <p:cNvPicPr preferRelativeResize="0"/>
          <p:nvPr/>
        </p:nvPicPr>
        <p:blipFill rotWithShape="1">
          <a:blip r:embed="rId3">
            <a:alphaModFix/>
          </a:blip>
          <a:srcRect b="0" l="0" r="0" t="0"/>
          <a:stretch/>
        </p:blipFill>
        <p:spPr>
          <a:xfrm>
            <a:off x="1475656" y="1628800"/>
            <a:ext cx="6431500" cy="40324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ctrTitle"/>
          </p:nvPr>
        </p:nvSpPr>
        <p:spPr>
          <a:xfrm>
            <a:off x="683568" y="836712"/>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8800"/>
              <a:buFont typeface="Calibri"/>
              <a:buNone/>
            </a:pPr>
            <a:r>
              <a:rPr b="1" lang="en-US" sz="8800"/>
              <a:t>MOTIVACIJA</a:t>
            </a:r>
            <a:endParaRPr b="1" sz="8800"/>
          </a:p>
        </p:txBody>
      </p:sp>
      <p:sp>
        <p:nvSpPr>
          <p:cNvPr id="105" name="Google Shape;105;p3"/>
          <p:cNvSpPr txBox="1"/>
          <p:nvPr>
            <p:ph idx="1" type="subTitle"/>
          </p:nvPr>
        </p:nvSpPr>
        <p:spPr>
          <a:xfrm>
            <a:off x="1475656" y="51054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a:p>
            <a:pPr indent="0" lvl="0" marL="0" rtl="0" algn="ctr">
              <a:spcBef>
                <a:spcPts val="640"/>
              </a:spcBef>
              <a:spcAft>
                <a:spcPts val="0"/>
              </a:spcAft>
              <a:buClr>
                <a:srgbClr val="888888"/>
              </a:buClr>
              <a:buSzPts val="3200"/>
              <a:buNone/>
            </a:pPr>
            <a:r>
              <a:rPr lang="en-US"/>
              <a:t>Naša pokretačka snaga</a:t>
            </a:r>
            <a:endParaRPr/>
          </a:p>
        </p:txBody>
      </p:sp>
      <p:pic>
        <p:nvPicPr>
          <p:cNvPr descr="267807514_yUG7oI2m_c.jpg" id="106" name="Google Shape;106;p3"/>
          <p:cNvPicPr preferRelativeResize="0"/>
          <p:nvPr/>
        </p:nvPicPr>
        <p:blipFill rotWithShape="1">
          <a:blip r:embed="rId3">
            <a:alphaModFix/>
          </a:blip>
          <a:srcRect b="0" l="0" r="0" t="0"/>
          <a:stretch/>
        </p:blipFill>
        <p:spPr>
          <a:xfrm>
            <a:off x="2123728" y="2276872"/>
            <a:ext cx="4762500" cy="3181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4800"/>
              <a:buNone/>
            </a:pPr>
            <a:r>
              <a:rPr lang="en-US" sz="4800"/>
              <a:t>Možete li definirati motivaciju?  Što to za vas znači? </a:t>
            </a:r>
            <a:endParaRPr/>
          </a:p>
          <a:p>
            <a:pPr indent="-342900" lvl="0" marL="342900" rtl="0" algn="ctr">
              <a:spcBef>
                <a:spcPts val="960"/>
              </a:spcBef>
              <a:spcAft>
                <a:spcPts val="0"/>
              </a:spcAft>
              <a:buClr>
                <a:schemeClr val="dk1"/>
              </a:buClr>
              <a:buSzPts val="4800"/>
              <a:buNone/>
            </a:pPr>
            <a:r>
              <a:t/>
            </a:r>
            <a:endParaRPr sz="4800"/>
          </a:p>
          <a:p>
            <a:pPr indent="-139700" lvl="0" marL="342900" rtl="0" algn="ctr">
              <a:spcBef>
                <a:spcPts val="640"/>
              </a:spcBef>
              <a:spcAft>
                <a:spcPts val="0"/>
              </a:spcAft>
              <a:buClr>
                <a:schemeClr val="dk1"/>
              </a:buClr>
              <a:buSzPts val="3200"/>
              <a:buNone/>
            </a:pPr>
            <a:r>
              <a:t/>
            </a:r>
            <a:endParaRPr/>
          </a:p>
        </p:txBody>
      </p:sp>
      <p:pic>
        <p:nvPicPr>
          <p:cNvPr descr="blog_06.jpg" id="113" name="Google Shape;113;p4"/>
          <p:cNvPicPr preferRelativeResize="0"/>
          <p:nvPr/>
        </p:nvPicPr>
        <p:blipFill rotWithShape="1">
          <a:blip r:embed="rId3">
            <a:alphaModFix/>
          </a:blip>
          <a:srcRect b="0" l="0" r="0" t="0"/>
          <a:stretch/>
        </p:blipFill>
        <p:spPr>
          <a:xfrm>
            <a:off x="2376264" y="3374474"/>
            <a:ext cx="4860032" cy="32228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Motivacija</a:t>
            </a:r>
            <a:endParaRPr/>
          </a:p>
        </p:txBody>
      </p:sp>
      <p:sp>
        <p:nvSpPr>
          <p:cNvPr id="119" name="Google Shape;11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Što je to </a:t>
            </a:r>
            <a:r>
              <a:rPr b="1" lang="en-US"/>
              <a:t>motivacija</a:t>
            </a:r>
            <a:r>
              <a:rPr lang="en-US"/>
              <a:t>?</a:t>
            </a:r>
            <a:endParaRPr/>
          </a:p>
          <a:p>
            <a:pPr indent="-285750" lvl="1" marL="742950" rtl="0" algn="l">
              <a:spcBef>
                <a:spcPts val="640"/>
              </a:spcBef>
              <a:spcAft>
                <a:spcPts val="0"/>
              </a:spcAft>
              <a:buClr>
                <a:schemeClr val="dk1"/>
              </a:buClr>
              <a:buSzPts val="3200"/>
              <a:buChar char="–"/>
            </a:pPr>
            <a:r>
              <a:rPr lang="en-US" sz="3200"/>
              <a:t>Proces koji usmjerava, određuje intenzitet i ustrajnost ponašanja usmjerenog prema nekom cilju. </a:t>
            </a:r>
            <a:endParaRPr/>
          </a:p>
          <a:p>
            <a:pPr indent="0" lvl="1" marL="457200" rtl="0" algn="l">
              <a:spcBef>
                <a:spcPts val="560"/>
              </a:spcBef>
              <a:spcAft>
                <a:spcPts val="0"/>
              </a:spcAft>
              <a:buClr>
                <a:schemeClr val="dk1"/>
              </a:buClr>
              <a:buSzPts val="2800"/>
              <a:buNone/>
            </a:pPr>
            <a:r>
              <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Kako se motivirate </a:t>
            </a:r>
            <a:br>
              <a:rPr lang="en-US"/>
            </a:br>
            <a:r>
              <a:rPr lang="en-US"/>
              <a:t>kada vam se nešto baš ne da?</a:t>
            </a:r>
            <a:endParaRPr/>
          </a:p>
          <a:p>
            <a:pPr indent="-139700" lvl="0" marL="3429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pic>
        <p:nvPicPr>
          <p:cNvPr id="120" name="Google Shape;120;p5"/>
          <p:cNvPicPr preferRelativeResize="0"/>
          <p:nvPr/>
        </p:nvPicPr>
        <p:blipFill rotWithShape="1">
          <a:blip r:embed="rId3">
            <a:alphaModFix/>
          </a:blip>
          <a:srcRect b="0" l="0" r="0" t="0"/>
          <a:stretch/>
        </p:blipFill>
        <p:spPr>
          <a:xfrm>
            <a:off x="6225586" y="3501008"/>
            <a:ext cx="2700083" cy="32636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Motivacija</a:t>
            </a:r>
            <a:endParaRPr/>
          </a:p>
        </p:txBody>
      </p:sp>
      <p:sp>
        <p:nvSpPr>
          <p:cNvPr id="127" name="Google Shape;127;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Što vas motivira za učenje?</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Što vas motivira za bavljenje hobijima?</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Vanjski i unutarnji motivatori i njihova važnost</a:t>
            </a:r>
            <a:endParaRPr/>
          </a:p>
        </p:txBody>
      </p:sp>
      <p:pic>
        <p:nvPicPr>
          <p:cNvPr id="128" name="Google Shape;128;p6"/>
          <p:cNvPicPr preferRelativeResize="0"/>
          <p:nvPr/>
        </p:nvPicPr>
        <p:blipFill rotWithShape="1">
          <a:blip r:embed="rId3">
            <a:alphaModFix/>
          </a:blip>
          <a:srcRect b="0" l="0" r="0" t="0"/>
          <a:stretch/>
        </p:blipFill>
        <p:spPr>
          <a:xfrm>
            <a:off x="107504" y="3426267"/>
            <a:ext cx="8712968" cy="29043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a:t>
            </a:r>
            <a:endParaRPr/>
          </a:p>
        </p:txBody>
      </p:sp>
      <p:sp>
        <p:nvSpPr>
          <p:cNvPr id="135" name="Google Shape;135;p7"/>
          <p:cNvSpPr txBox="1"/>
          <p:nvPr>
            <p:ph idx="1" type="body"/>
          </p:nvPr>
        </p:nvSpPr>
        <p:spPr>
          <a:xfrm>
            <a:off x="457200" y="112474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None/>
            </a:pPr>
            <a:r>
              <a:rPr lang="en-US" sz="2800"/>
              <a:t>	Motivi su poticaji koji čovjekovo djelovanje </a:t>
            </a:r>
            <a:r>
              <a:rPr b="1" lang="en-US" sz="2800"/>
              <a:t>usmjeravaju</a:t>
            </a:r>
            <a:r>
              <a:rPr lang="en-US" sz="2800"/>
              <a:t> prema nekom cilju, </a:t>
            </a:r>
            <a:r>
              <a:rPr b="1" lang="en-US" sz="2800"/>
              <a:t>održavaju to djelovanje</a:t>
            </a:r>
            <a:r>
              <a:rPr lang="en-US" sz="2800"/>
              <a:t> i određuju njegov </a:t>
            </a:r>
            <a:r>
              <a:rPr b="1" lang="en-US" sz="2800"/>
              <a:t>intenzitet</a:t>
            </a:r>
            <a:r>
              <a:rPr lang="en-US" sz="2800"/>
              <a:t>. </a:t>
            </a:r>
            <a:endParaRPr/>
          </a:p>
          <a:p>
            <a:pPr indent="-139700" lvl="0" marL="342900" rtl="0" algn="l">
              <a:spcBef>
                <a:spcPts val="640"/>
              </a:spcBef>
              <a:spcAft>
                <a:spcPts val="0"/>
              </a:spcAft>
              <a:buClr>
                <a:schemeClr val="dk1"/>
              </a:buClr>
              <a:buSzPts val="3200"/>
              <a:buNone/>
            </a:pPr>
            <a:r>
              <a:t/>
            </a:r>
            <a:endParaRPr/>
          </a:p>
        </p:txBody>
      </p:sp>
      <p:pic>
        <p:nvPicPr>
          <p:cNvPr id="136" name="Google Shape;136;p7"/>
          <p:cNvPicPr preferRelativeResize="0"/>
          <p:nvPr/>
        </p:nvPicPr>
        <p:blipFill rotWithShape="1">
          <a:blip r:embed="rId3">
            <a:alphaModFix/>
          </a:blip>
          <a:srcRect b="0" l="0" r="0" t="0"/>
          <a:stretch/>
        </p:blipFill>
        <p:spPr>
          <a:xfrm>
            <a:off x="2884170" y="2636912"/>
            <a:ext cx="3208938" cy="41578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Primjer</a:t>
            </a:r>
            <a:endParaRPr/>
          </a:p>
        </p:txBody>
      </p:sp>
      <p:sp>
        <p:nvSpPr>
          <p:cNvPr id="143" name="Google Shape;143;p8"/>
          <p:cNvSpPr txBox="1"/>
          <p:nvPr>
            <p:ph idx="1" type="body"/>
          </p:nvPr>
        </p:nvSpPr>
        <p:spPr>
          <a:xfrm>
            <a:off x="467544" y="1268760"/>
            <a:ext cx="8229600" cy="5328592"/>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Ako dugo vremena nismo jeli osjećat ćemo intenzivnu glad. Javit će se jaka potreba za hranom. Kada pojedemo obrok, ta potreba će biti zadovoljena. </a:t>
            </a:r>
            <a:endParaRPr/>
          </a:p>
          <a:p>
            <a:pPr indent="-170180" lvl="0" marL="342900" rtl="0" algn="l">
              <a:spcBef>
                <a:spcPts val="544"/>
              </a:spcBef>
              <a:spcAft>
                <a:spcPts val="0"/>
              </a:spcAft>
              <a:buClr>
                <a:schemeClr val="dk1"/>
              </a:buClr>
              <a:buSzPct val="100000"/>
              <a:buNone/>
            </a:pPr>
            <a:r>
              <a:t/>
            </a:r>
            <a:endParaRPr/>
          </a:p>
          <a:p>
            <a:pPr indent="-342900" lvl="0" marL="342900" rtl="0" algn="l">
              <a:spcBef>
                <a:spcPts val="544"/>
              </a:spcBef>
              <a:spcAft>
                <a:spcPts val="0"/>
              </a:spcAft>
              <a:buClr>
                <a:schemeClr val="dk1"/>
              </a:buClr>
              <a:buSzPct val="100000"/>
              <a:buChar char="•"/>
            </a:pPr>
            <a:r>
              <a:rPr lang="en-US"/>
              <a:t>Zamislite da nakon ručka s prijateljima idete na kavu u omiljenu slastičarnicu. Svi kolači su dobri i odabirete jedan. Niste ga odabrali zato što ste gladni, nego zato što ste išli na kolače s prijateljima. Da ste išli negdje drugdje, ne biste jeli kolače.  </a:t>
            </a:r>
            <a:endParaRPr/>
          </a:p>
          <a:p>
            <a:pPr indent="-170180" lvl="0" marL="342900" rtl="0" algn="l">
              <a:spcBef>
                <a:spcPts val="544"/>
              </a:spcBef>
              <a:spcAft>
                <a:spcPts val="0"/>
              </a:spcAft>
              <a:buClr>
                <a:schemeClr val="dk1"/>
              </a:buClr>
              <a:buSzPct val="100000"/>
              <a:buNone/>
            </a:pPr>
            <a:r>
              <a:t/>
            </a:r>
            <a:endParaRPr/>
          </a:p>
          <a:p>
            <a:pPr indent="-342900" lvl="0" marL="342900" rtl="0" algn="l">
              <a:spcBef>
                <a:spcPts val="544"/>
              </a:spcBef>
              <a:spcAft>
                <a:spcPts val="0"/>
              </a:spcAft>
              <a:buClr>
                <a:schemeClr val="dk1"/>
              </a:buClr>
              <a:buSzPct val="100000"/>
              <a:buNone/>
            </a:pPr>
            <a:r>
              <a:rPr lang="en-US"/>
              <a:t>Koja je razlika vaše motivacije za jelom </a:t>
            </a:r>
            <a:endParaRPr/>
          </a:p>
          <a:p>
            <a:pPr indent="-342900" lvl="0" marL="342900" rtl="0" algn="l">
              <a:spcBef>
                <a:spcPts val="544"/>
              </a:spcBef>
              <a:spcAft>
                <a:spcPts val="0"/>
              </a:spcAft>
              <a:buClr>
                <a:schemeClr val="dk1"/>
              </a:buClr>
              <a:buSzPct val="100000"/>
              <a:buNone/>
            </a:pPr>
            <a:r>
              <a:rPr lang="en-US"/>
              <a:t>u ova dva slučaja? </a:t>
            </a:r>
            <a:endParaRPr/>
          </a:p>
          <a:p>
            <a:pPr indent="-170180" lvl="0" marL="342900" rtl="0" algn="l">
              <a:spcBef>
                <a:spcPts val="544"/>
              </a:spcBef>
              <a:spcAft>
                <a:spcPts val="0"/>
              </a:spcAft>
              <a:buClr>
                <a:schemeClr val="dk1"/>
              </a:buClr>
              <a:buSzPct val="100000"/>
              <a:buNone/>
            </a:pPr>
            <a:r>
              <a:t/>
            </a:r>
            <a:endParaRPr/>
          </a:p>
          <a:p>
            <a:pPr indent="-170180" lvl="0" marL="342900" rtl="0" algn="l">
              <a:spcBef>
                <a:spcPts val="544"/>
              </a:spcBef>
              <a:spcAft>
                <a:spcPts val="0"/>
              </a:spcAft>
              <a:buClr>
                <a:schemeClr val="dk1"/>
              </a:buClr>
              <a:buSzPct val="100000"/>
              <a:buNone/>
            </a:pPr>
            <a:r>
              <a:t/>
            </a:r>
            <a:endParaRPr/>
          </a:p>
          <a:p>
            <a:pPr indent="-170180" lvl="0" marL="342900" rtl="0" algn="l">
              <a:spcBef>
                <a:spcPts val="544"/>
              </a:spcBef>
              <a:spcAft>
                <a:spcPts val="0"/>
              </a:spcAft>
              <a:buClr>
                <a:schemeClr val="dk1"/>
              </a:buClr>
              <a:buSzPct val="100000"/>
              <a:buNone/>
            </a:pPr>
            <a:r>
              <a:t/>
            </a:r>
            <a:endParaRPr/>
          </a:p>
          <a:p>
            <a:pPr indent="-170180" lvl="0" marL="342900" rtl="0" algn="l">
              <a:spcBef>
                <a:spcPts val="544"/>
              </a:spcBef>
              <a:spcAft>
                <a:spcPts val="0"/>
              </a:spcAft>
              <a:buClr>
                <a:schemeClr val="dk1"/>
              </a:buClr>
              <a:buSzPct val="100000"/>
              <a:buNone/>
            </a:pPr>
            <a:r>
              <a:t/>
            </a:r>
            <a:endParaRPr/>
          </a:p>
        </p:txBody>
      </p:sp>
      <p:pic>
        <p:nvPicPr>
          <p:cNvPr descr="279223245616806674_RNOxWBln_c.jpg" id="144" name="Google Shape;144;p8"/>
          <p:cNvPicPr preferRelativeResize="0"/>
          <p:nvPr/>
        </p:nvPicPr>
        <p:blipFill rotWithShape="1">
          <a:blip r:embed="rId3">
            <a:alphaModFix/>
          </a:blip>
          <a:srcRect b="21613" l="0" r="0" t="11155"/>
          <a:stretch/>
        </p:blipFill>
        <p:spPr>
          <a:xfrm>
            <a:off x="7487816" y="5186113"/>
            <a:ext cx="1656184" cy="16718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6000"/>
              <a:buNone/>
            </a:pPr>
            <a:r>
              <a:rPr b="1" lang="en-US" sz="6000"/>
              <a:t>Motivi</a:t>
            </a:r>
            <a:endParaRPr/>
          </a:p>
          <a:p>
            <a:pPr indent="-342900" lvl="0" marL="342900" rtl="0" algn="ctr">
              <a:spcBef>
                <a:spcPts val="640"/>
              </a:spcBef>
              <a:spcAft>
                <a:spcPts val="0"/>
              </a:spcAft>
              <a:buClr>
                <a:schemeClr val="dk1"/>
              </a:buClr>
              <a:buSzPts val="3200"/>
              <a:buNone/>
            </a:pPr>
            <a:r>
              <a:t/>
            </a:r>
            <a:endParaRPr/>
          </a:p>
          <a:p>
            <a:pPr indent="-342900" lvl="0" marL="342900" rtl="0" algn="ctr">
              <a:spcBef>
                <a:spcPts val="960"/>
              </a:spcBef>
              <a:spcAft>
                <a:spcPts val="0"/>
              </a:spcAft>
              <a:buClr>
                <a:schemeClr val="dk1"/>
              </a:buClr>
              <a:buSzPts val="4800"/>
              <a:buNone/>
            </a:pPr>
            <a:r>
              <a:t/>
            </a:r>
            <a:endParaRPr sz="4800"/>
          </a:p>
          <a:p>
            <a:pPr indent="-342900" lvl="0" marL="342900" rtl="0" algn="ctr">
              <a:spcBef>
                <a:spcPts val="960"/>
              </a:spcBef>
              <a:spcAft>
                <a:spcPts val="0"/>
              </a:spcAft>
              <a:buClr>
                <a:schemeClr val="dk1"/>
              </a:buClr>
              <a:buSzPts val="4800"/>
              <a:buNone/>
            </a:pPr>
            <a:r>
              <a:rPr b="1" lang="en-US" sz="4800"/>
              <a:t>Biološki </a:t>
            </a:r>
            <a:r>
              <a:rPr lang="en-US" sz="4800"/>
              <a:t>         </a:t>
            </a:r>
            <a:r>
              <a:rPr b="1" lang="en-US" sz="4800"/>
              <a:t>Psihosocijalni</a:t>
            </a:r>
            <a:endParaRPr b="1" sz="4800"/>
          </a:p>
        </p:txBody>
      </p:sp>
      <p:cxnSp>
        <p:nvCxnSpPr>
          <p:cNvPr id="151" name="Google Shape;151;p9"/>
          <p:cNvCxnSpPr/>
          <p:nvPr/>
        </p:nvCxnSpPr>
        <p:spPr>
          <a:xfrm flipH="1">
            <a:off x="2267744" y="2564904"/>
            <a:ext cx="1728192" cy="1584176"/>
          </a:xfrm>
          <a:prstGeom prst="straightConnector1">
            <a:avLst/>
          </a:prstGeom>
          <a:noFill/>
          <a:ln cap="flat" cmpd="sng" w="57150">
            <a:solidFill>
              <a:schemeClr val="accent1"/>
            </a:solidFill>
            <a:prstDash val="solid"/>
            <a:round/>
            <a:headEnd len="sm" w="sm" type="none"/>
            <a:tailEnd len="med" w="med" type="stealth"/>
          </a:ln>
        </p:spPr>
      </p:cxnSp>
      <p:cxnSp>
        <p:nvCxnSpPr>
          <p:cNvPr id="152" name="Google Shape;152;p9"/>
          <p:cNvCxnSpPr/>
          <p:nvPr/>
        </p:nvCxnSpPr>
        <p:spPr>
          <a:xfrm>
            <a:off x="5076056" y="2636912"/>
            <a:ext cx="1296144" cy="1584176"/>
          </a:xfrm>
          <a:prstGeom prst="straightConnector1">
            <a:avLst/>
          </a:prstGeom>
          <a:noFill/>
          <a:ln cap="flat" cmpd="sng" w="57150">
            <a:solidFill>
              <a:schemeClr val="accent1"/>
            </a:solidFill>
            <a:prstDash val="solid"/>
            <a:round/>
            <a:headEnd len="sm" w="sm" type="none"/>
            <a:tailEnd len="med" w="med" type="stealth"/>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Motivi</a:t>
            </a:r>
            <a:endParaRPr/>
          </a:p>
        </p:txBody>
      </p:sp>
      <p:sp>
        <p:nvSpPr>
          <p:cNvPr id="159" name="Google Shape;159;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b="1" lang="en-US"/>
              <a:t>Biološke potrebe  (primarni motivi)</a:t>
            </a:r>
            <a:endParaRPr/>
          </a:p>
          <a:p>
            <a:pPr indent="-342900" lvl="0" marL="342900" rtl="0" algn="l">
              <a:spcBef>
                <a:spcPts val="640"/>
              </a:spcBef>
              <a:spcAft>
                <a:spcPts val="0"/>
              </a:spcAft>
              <a:buClr>
                <a:schemeClr val="dk1"/>
              </a:buClr>
              <a:buSzPts val="3200"/>
              <a:buChar char="•"/>
            </a:pPr>
            <a:r>
              <a:rPr lang="en-US"/>
              <a:t>Svi ljudi imaju biološke potrebe to jest primarne motive koji nam omogućuju preživljavanje.</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Primjer nekih bioloških potreba? </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None/>
            </a:pPr>
            <a:r>
              <a:t/>
            </a:r>
            <a:endParaRPr/>
          </a:p>
        </p:txBody>
      </p:sp>
      <p:pic>
        <p:nvPicPr>
          <p:cNvPr descr="56224695317441487_cpj23sYZ_c.jpg" id="160" name="Google Shape;160;p10"/>
          <p:cNvPicPr preferRelativeResize="0"/>
          <p:nvPr/>
        </p:nvPicPr>
        <p:blipFill rotWithShape="1">
          <a:blip r:embed="rId3">
            <a:alphaModFix/>
          </a:blip>
          <a:srcRect b="0" l="0" r="0" t="0"/>
          <a:stretch/>
        </p:blipFill>
        <p:spPr>
          <a:xfrm>
            <a:off x="7596336" y="0"/>
            <a:ext cx="2460873"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descr="header_peak_1000px.jpg" id="166" name="Google Shape;166;p11"/>
          <p:cNvPicPr preferRelativeResize="0"/>
          <p:nvPr/>
        </p:nvPicPr>
        <p:blipFill rotWithShape="1">
          <a:blip r:embed="rId3">
            <a:alphaModFix/>
          </a:blip>
          <a:srcRect b="0" l="0" r="0" t="39543"/>
          <a:stretch/>
        </p:blipFill>
        <p:spPr>
          <a:xfrm>
            <a:off x="0" y="0"/>
            <a:ext cx="9144000" cy="1473116"/>
          </a:xfrm>
          <a:prstGeom prst="rect">
            <a:avLst/>
          </a:prstGeom>
          <a:noFill/>
          <a:ln>
            <a:noFill/>
          </a:ln>
        </p:spPr>
      </p:pic>
      <p:sp>
        <p:nvSpPr>
          <p:cNvPr id="167" name="Google Shape;167;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Motivi</a:t>
            </a:r>
            <a:endParaRPr/>
          </a:p>
        </p:txBody>
      </p:sp>
      <p:sp>
        <p:nvSpPr>
          <p:cNvPr id="168" name="Google Shape;168;p11"/>
          <p:cNvSpPr txBox="1"/>
          <p:nvPr>
            <p:ph idx="1" type="body"/>
          </p:nvPr>
        </p:nvSpPr>
        <p:spPr>
          <a:xfrm>
            <a:off x="457200" y="1600200"/>
            <a:ext cx="8229600" cy="4925144"/>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None/>
            </a:pPr>
            <a:r>
              <a:rPr b="1" lang="en-US"/>
              <a:t>Biološke potrebe </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Glad, žeđ, disanje, potreba za stalnom tjelesnom temperaturom, seksualne potrebe</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Kako ih zadovoljavamo?</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Koji je cilj zadovoljavanja ovih potreba?</a:t>
            </a:r>
            <a:endParaRPr/>
          </a:p>
          <a:p>
            <a:pPr indent="-285750" lvl="1" marL="742950" rtl="0" algn="l">
              <a:spcBef>
                <a:spcPts val="560"/>
              </a:spcBef>
              <a:spcAft>
                <a:spcPts val="0"/>
              </a:spcAft>
              <a:buClr>
                <a:schemeClr val="dk1"/>
              </a:buClr>
              <a:buSzPts val="2800"/>
              <a:buChar char="–"/>
            </a:pPr>
            <a:r>
              <a:rPr b="1" lang="en-US"/>
              <a:t>homeostaza</a:t>
            </a:r>
            <a:endParaRPr b="1"/>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None/>
            </a:pPr>
            <a:r>
              <a:t/>
            </a:r>
            <a:endParaRPr/>
          </a:p>
        </p:txBody>
      </p:sp>
      <p:pic>
        <p:nvPicPr>
          <p:cNvPr descr="scale.gif" id="169" name="Google Shape;169;p11"/>
          <p:cNvPicPr preferRelativeResize="0"/>
          <p:nvPr/>
        </p:nvPicPr>
        <p:blipFill rotWithShape="1">
          <a:blip r:embed="rId4">
            <a:alphaModFix/>
          </a:blip>
          <a:srcRect b="0" l="0" r="0" t="0"/>
          <a:stretch/>
        </p:blipFill>
        <p:spPr>
          <a:xfrm>
            <a:off x="7337274" y="5445224"/>
            <a:ext cx="1650877" cy="12072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Motivi</a:t>
            </a:r>
            <a:endParaRPr/>
          </a:p>
        </p:txBody>
      </p:sp>
      <p:sp>
        <p:nvSpPr>
          <p:cNvPr id="176" name="Google Shape;176;p12"/>
          <p:cNvSpPr txBox="1"/>
          <p:nvPr>
            <p:ph idx="1" type="body"/>
          </p:nvPr>
        </p:nvSpPr>
        <p:spPr>
          <a:xfrm>
            <a:off x="395536" y="126876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Motivacijski ciklus kod bioloških potreba sastoji se od četiri dijela:</a:t>
            </a:r>
            <a:endParaRPr/>
          </a:p>
          <a:p>
            <a:pPr indent="-139700" lvl="0" marL="342900" rtl="0" algn="l">
              <a:spcBef>
                <a:spcPts val="640"/>
              </a:spcBef>
              <a:spcAft>
                <a:spcPts val="0"/>
              </a:spcAft>
              <a:buClr>
                <a:schemeClr val="dk1"/>
              </a:buClr>
              <a:buSzPts val="3200"/>
              <a:buNone/>
            </a:pPr>
            <a:r>
              <a:t/>
            </a:r>
            <a:endParaRPr/>
          </a:p>
        </p:txBody>
      </p:sp>
      <p:grpSp>
        <p:nvGrpSpPr>
          <p:cNvPr id="177" name="Google Shape;177;p12"/>
          <p:cNvGrpSpPr/>
          <p:nvPr/>
        </p:nvGrpSpPr>
        <p:grpSpPr>
          <a:xfrm>
            <a:off x="1970472" y="2111232"/>
            <a:ext cx="4729830" cy="4715217"/>
            <a:chOff x="1142888" y="-630"/>
            <a:chExt cx="4729830" cy="4715217"/>
          </a:xfrm>
        </p:grpSpPr>
        <p:sp>
          <p:nvSpPr>
            <p:cNvPr id="178" name="Google Shape;178;p12"/>
            <p:cNvSpPr/>
            <p:nvPr/>
          </p:nvSpPr>
          <p:spPr>
            <a:xfrm>
              <a:off x="4098819" y="104517"/>
              <a:ext cx="1668751" cy="16687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2"/>
            <p:cNvSpPr txBox="1"/>
            <p:nvPr/>
          </p:nvSpPr>
          <p:spPr>
            <a:xfrm>
              <a:off x="4098819" y="104517"/>
              <a:ext cx="1668751" cy="1668751"/>
            </a:xfrm>
            <a:prstGeom prst="rect">
              <a:avLst/>
            </a:prstGeom>
            <a:noFill/>
            <a:ln>
              <a:noFill/>
            </a:ln>
          </p:spPr>
          <p:txBody>
            <a:bodyPr anchorCtr="0" anchor="ctr" bIns="29200" lIns="29200" spcFirstLastPara="1" rIns="29200" wrap="square" tIns="29200">
              <a:noAutofit/>
            </a:bodyPr>
            <a:lstStyle/>
            <a:p>
              <a:pPr indent="0" lvl="0" marL="0" marR="0" rtl="0" algn="ctr">
                <a:lnSpc>
                  <a:spcPct val="90000"/>
                </a:lnSpc>
                <a:spcBef>
                  <a:spcPts val="0"/>
                </a:spcBef>
                <a:spcAft>
                  <a:spcPts val="0"/>
                </a:spcAft>
                <a:buNone/>
              </a:pPr>
              <a:r>
                <a:rPr b="0" i="0" lang="en-US" sz="2300" u="none" cap="none" strike="noStrike">
                  <a:solidFill>
                    <a:schemeClr val="dk1"/>
                  </a:solidFill>
                  <a:latin typeface="Calibri"/>
                  <a:ea typeface="Calibri"/>
                  <a:cs typeface="Calibri"/>
                  <a:sym typeface="Calibri"/>
                </a:rPr>
                <a:t>Postizanje cilja (oslobađanje od napetosti)</a:t>
              </a:r>
              <a:endParaRPr b="0" i="0" sz="2300" u="none" cap="none" strike="noStrike">
                <a:solidFill>
                  <a:schemeClr val="dk1"/>
                </a:solidFill>
                <a:latin typeface="Calibri"/>
                <a:ea typeface="Calibri"/>
                <a:cs typeface="Calibri"/>
                <a:sym typeface="Calibri"/>
              </a:endParaRPr>
            </a:p>
          </p:txBody>
        </p:sp>
        <p:sp>
          <p:nvSpPr>
            <p:cNvPr id="180" name="Google Shape;180;p12"/>
            <p:cNvSpPr/>
            <p:nvPr/>
          </p:nvSpPr>
          <p:spPr>
            <a:xfrm>
              <a:off x="1159385" y="-630"/>
              <a:ext cx="4713333" cy="4713333"/>
            </a:xfrm>
            <a:custGeom>
              <a:rect b="b" l="l" r="r" t="t"/>
              <a:pathLst>
                <a:path extrusionOk="0" h="120000" w="120000">
                  <a:moveTo>
                    <a:pt x="112122" y="44159"/>
                  </a:moveTo>
                  <a:lnTo>
                    <a:pt x="112122" y="44159"/>
                  </a:lnTo>
                  <a:cubicBezTo>
                    <a:pt x="114589" y="52275"/>
                    <a:pt x="115126" y="60855"/>
                    <a:pt x="113691" y="69216"/>
                  </a:cubicBezTo>
                  <a:lnTo>
                    <a:pt x="118942" y="70812"/>
                  </a:lnTo>
                  <a:lnTo>
                    <a:pt x="108159" y="74636"/>
                  </a:lnTo>
                  <a:lnTo>
                    <a:pt x="100446" y="65190"/>
                  </a:lnTo>
                  <a:lnTo>
                    <a:pt x="105691" y="66784"/>
                  </a:lnTo>
                  <a:cubicBezTo>
                    <a:pt x="106695" y="60018"/>
                    <a:pt x="106185" y="53113"/>
                    <a:pt x="104196" y="46568"/>
                  </a:cubicBezTo>
                  <a:close/>
                </a:path>
              </a:pathLst>
            </a:cu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
            <p:cNvSpPr/>
            <p:nvPr/>
          </p:nvSpPr>
          <p:spPr>
            <a:xfrm>
              <a:off x="4098819" y="2938803"/>
              <a:ext cx="1668751" cy="16687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2"/>
            <p:cNvSpPr txBox="1"/>
            <p:nvPr/>
          </p:nvSpPr>
          <p:spPr>
            <a:xfrm>
              <a:off x="4098819" y="2938803"/>
              <a:ext cx="1668751" cy="1668751"/>
            </a:xfrm>
            <a:prstGeom prst="rect">
              <a:avLst/>
            </a:prstGeom>
            <a:noFill/>
            <a:ln>
              <a:noFill/>
            </a:ln>
          </p:spPr>
          <p:txBody>
            <a:bodyPr anchorCtr="0" anchor="ctr" bIns="29200" lIns="29200" spcFirstLastPara="1" rIns="29200" wrap="square" tIns="29200">
              <a:noAutofit/>
            </a:bodyPr>
            <a:lstStyle/>
            <a:p>
              <a:pPr indent="0" lvl="0" marL="0" marR="0" rtl="0" algn="ctr">
                <a:lnSpc>
                  <a:spcPct val="90000"/>
                </a:lnSpc>
                <a:spcBef>
                  <a:spcPts val="0"/>
                </a:spcBef>
                <a:spcAft>
                  <a:spcPts val="0"/>
                </a:spcAft>
                <a:buNone/>
              </a:pPr>
              <a:r>
                <a:rPr b="1" i="0" lang="en-US" sz="2300" u="none" cap="none" strike="noStrike">
                  <a:solidFill>
                    <a:schemeClr val="dk1"/>
                  </a:solidFill>
                  <a:latin typeface="Calibri"/>
                  <a:ea typeface="Calibri"/>
                  <a:cs typeface="Calibri"/>
                  <a:sym typeface="Calibri"/>
                </a:rPr>
                <a:t>Ravnoteža</a:t>
              </a:r>
              <a:endParaRPr b="1" i="0" sz="2300" u="none" cap="none" strike="noStrike">
                <a:solidFill>
                  <a:schemeClr val="dk1"/>
                </a:solidFill>
                <a:latin typeface="Calibri"/>
                <a:ea typeface="Calibri"/>
                <a:cs typeface="Calibri"/>
                <a:sym typeface="Calibri"/>
              </a:endParaRPr>
            </a:p>
          </p:txBody>
        </p:sp>
        <p:sp>
          <p:nvSpPr>
            <p:cNvPr id="183" name="Google Shape;183;p12"/>
            <p:cNvSpPr/>
            <p:nvPr/>
          </p:nvSpPr>
          <p:spPr>
            <a:xfrm>
              <a:off x="1159385" y="-630"/>
              <a:ext cx="4713333" cy="4713333"/>
            </a:xfrm>
            <a:custGeom>
              <a:rect b="b" l="l" r="r" t="t"/>
              <a:pathLst>
                <a:path extrusionOk="0" h="120000" w="120000">
                  <a:moveTo>
                    <a:pt x="75841" y="112122"/>
                  </a:moveTo>
                  <a:cubicBezTo>
                    <a:pt x="67725" y="114589"/>
                    <a:pt x="59145" y="115126"/>
                    <a:pt x="50784" y="113691"/>
                  </a:cubicBezTo>
                  <a:lnTo>
                    <a:pt x="49188" y="118942"/>
                  </a:lnTo>
                  <a:lnTo>
                    <a:pt x="45364" y="108159"/>
                  </a:lnTo>
                  <a:lnTo>
                    <a:pt x="54810" y="100446"/>
                  </a:lnTo>
                  <a:lnTo>
                    <a:pt x="53216" y="105691"/>
                  </a:lnTo>
                  <a:lnTo>
                    <a:pt x="53216" y="105691"/>
                  </a:lnTo>
                  <a:cubicBezTo>
                    <a:pt x="59982" y="106695"/>
                    <a:pt x="66887" y="106185"/>
                    <a:pt x="73432" y="104196"/>
                  </a:cubicBezTo>
                  <a:close/>
                </a:path>
              </a:pathLst>
            </a:cu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
            <p:cNvSpPr/>
            <p:nvPr/>
          </p:nvSpPr>
          <p:spPr>
            <a:xfrm>
              <a:off x="1264533" y="2938803"/>
              <a:ext cx="1668751" cy="16687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
            <p:cNvSpPr txBox="1"/>
            <p:nvPr/>
          </p:nvSpPr>
          <p:spPr>
            <a:xfrm>
              <a:off x="1264533" y="2938803"/>
              <a:ext cx="1668751" cy="1668751"/>
            </a:xfrm>
            <a:prstGeom prst="rect">
              <a:avLst/>
            </a:prstGeom>
            <a:noFill/>
            <a:ln>
              <a:noFill/>
            </a:ln>
          </p:spPr>
          <p:txBody>
            <a:bodyPr anchorCtr="0" anchor="ctr" bIns="29200" lIns="29200" spcFirstLastPara="1" rIns="29200" wrap="square" tIns="29200">
              <a:noAutofit/>
            </a:bodyPr>
            <a:lstStyle/>
            <a:p>
              <a:pPr indent="0" lvl="0" marL="0" marR="0" rtl="0" algn="ctr">
                <a:lnSpc>
                  <a:spcPct val="90000"/>
                </a:lnSpc>
                <a:spcBef>
                  <a:spcPts val="0"/>
                </a:spcBef>
                <a:spcAft>
                  <a:spcPts val="0"/>
                </a:spcAft>
                <a:buNone/>
              </a:pPr>
              <a:r>
                <a:rPr b="0" i="0" lang="en-US" sz="2300" u="none" cap="none" strike="noStrike">
                  <a:solidFill>
                    <a:schemeClr val="dk1"/>
                  </a:solidFill>
                  <a:latin typeface="Calibri"/>
                  <a:ea typeface="Calibri"/>
                  <a:cs typeface="Calibri"/>
                  <a:sym typeface="Calibri"/>
                </a:rPr>
                <a:t>Pojava neke potrebe</a:t>
              </a:r>
              <a:endParaRPr b="0" i="0" sz="2300" u="none" cap="none" strike="noStrike">
                <a:solidFill>
                  <a:schemeClr val="dk1"/>
                </a:solidFill>
                <a:latin typeface="Calibri"/>
                <a:ea typeface="Calibri"/>
                <a:cs typeface="Calibri"/>
                <a:sym typeface="Calibri"/>
              </a:endParaRPr>
            </a:p>
          </p:txBody>
        </p:sp>
        <p:sp>
          <p:nvSpPr>
            <p:cNvPr id="186" name="Google Shape;186;p12"/>
            <p:cNvSpPr/>
            <p:nvPr/>
          </p:nvSpPr>
          <p:spPr>
            <a:xfrm>
              <a:off x="1142888" y="1254"/>
              <a:ext cx="4713333" cy="4713333"/>
            </a:xfrm>
            <a:custGeom>
              <a:rect b="b" l="l" r="r" t="t"/>
              <a:pathLst>
                <a:path extrusionOk="0" h="120000" w="120000">
                  <a:moveTo>
                    <a:pt x="7878" y="75841"/>
                  </a:moveTo>
                  <a:lnTo>
                    <a:pt x="7878" y="75841"/>
                  </a:lnTo>
                  <a:cubicBezTo>
                    <a:pt x="5411" y="67725"/>
                    <a:pt x="4874" y="59145"/>
                    <a:pt x="6309" y="50784"/>
                  </a:cubicBezTo>
                  <a:lnTo>
                    <a:pt x="1058" y="49188"/>
                  </a:lnTo>
                  <a:lnTo>
                    <a:pt x="11841" y="45364"/>
                  </a:lnTo>
                  <a:lnTo>
                    <a:pt x="19554" y="54810"/>
                  </a:lnTo>
                  <a:lnTo>
                    <a:pt x="14309" y="53216"/>
                  </a:lnTo>
                  <a:cubicBezTo>
                    <a:pt x="13305" y="59982"/>
                    <a:pt x="13815" y="66887"/>
                    <a:pt x="15804" y="73432"/>
                  </a:cubicBezTo>
                  <a:close/>
                </a:path>
              </a:pathLst>
            </a:cu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
            <p:cNvSpPr/>
            <p:nvPr/>
          </p:nvSpPr>
          <p:spPr>
            <a:xfrm>
              <a:off x="1264533" y="104517"/>
              <a:ext cx="1668751" cy="16687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2"/>
            <p:cNvSpPr txBox="1"/>
            <p:nvPr/>
          </p:nvSpPr>
          <p:spPr>
            <a:xfrm>
              <a:off x="1264533" y="104517"/>
              <a:ext cx="1668751" cy="1668751"/>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None/>
              </a:pPr>
              <a:r>
                <a:rPr b="0" i="0" lang="en-US" sz="2400" u="none" cap="none" strike="noStrike">
                  <a:solidFill>
                    <a:schemeClr val="dk1"/>
                  </a:solidFill>
                  <a:latin typeface="Calibri"/>
                  <a:ea typeface="Calibri"/>
                  <a:cs typeface="Calibri"/>
                  <a:sym typeface="Calibri"/>
                </a:rPr>
                <a:t>Poduzimanje akcije</a:t>
              </a:r>
              <a:endParaRPr b="0" i="0" sz="2400" u="none" cap="none" strike="noStrike">
                <a:solidFill>
                  <a:schemeClr val="dk1"/>
                </a:solidFill>
                <a:latin typeface="Calibri"/>
                <a:ea typeface="Calibri"/>
                <a:cs typeface="Calibri"/>
                <a:sym typeface="Calibri"/>
              </a:endParaRPr>
            </a:p>
          </p:txBody>
        </p:sp>
        <p:sp>
          <p:nvSpPr>
            <p:cNvPr id="189" name="Google Shape;189;p12"/>
            <p:cNvSpPr/>
            <p:nvPr/>
          </p:nvSpPr>
          <p:spPr>
            <a:xfrm>
              <a:off x="1159385" y="-630"/>
              <a:ext cx="4713333" cy="4713333"/>
            </a:xfrm>
            <a:custGeom>
              <a:rect b="b" l="l" r="r" t="t"/>
              <a:pathLst>
                <a:path extrusionOk="0" h="120000" w="120000">
                  <a:moveTo>
                    <a:pt x="44159" y="7878"/>
                  </a:moveTo>
                  <a:lnTo>
                    <a:pt x="44159" y="7878"/>
                  </a:lnTo>
                  <a:cubicBezTo>
                    <a:pt x="52275" y="5411"/>
                    <a:pt x="60855" y="4874"/>
                    <a:pt x="69216" y="6309"/>
                  </a:cubicBezTo>
                  <a:lnTo>
                    <a:pt x="70812" y="1058"/>
                  </a:lnTo>
                  <a:lnTo>
                    <a:pt x="74636" y="11841"/>
                  </a:lnTo>
                  <a:lnTo>
                    <a:pt x="65190" y="19554"/>
                  </a:lnTo>
                  <a:lnTo>
                    <a:pt x="66784" y="14309"/>
                  </a:lnTo>
                  <a:lnTo>
                    <a:pt x="66784" y="14309"/>
                  </a:lnTo>
                  <a:cubicBezTo>
                    <a:pt x="60018" y="13305"/>
                    <a:pt x="53113" y="13815"/>
                    <a:pt x="46568" y="15804"/>
                  </a:cubicBezTo>
                  <a:close/>
                </a:path>
              </a:pathLst>
            </a:cu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Motivi</a:t>
            </a:r>
            <a:endParaRPr/>
          </a:p>
        </p:txBody>
      </p:sp>
      <p:sp>
        <p:nvSpPr>
          <p:cNvPr id="196" name="Google Shape;196;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Iako smo rekli da svi ljudi dijele biološke potrebe- rade li svi ljudi to na isti način? </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Što mislite, zbog čega je to tako? </a:t>
            </a:r>
            <a:endParaRPr/>
          </a:p>
          <a:p>
            <a:pPr indent="-139700" lvl="0" marL="342900" rtl="0" algn="l">
              <a:spcBef>
                <a:spcPts val="640"/>
              </a:spcBef>
              <a:spcAft>
                <a:spcPts val="0"/>
              </a:spcAft>
              <a:buClr>
                <a:schemeClr val="dk1"/>
              </a:buClr>
              <a:buSzPts val="3200"/>
              <a:buNone/>
            </a:pPr>
            <a:r>
              <a:t/>
            </a:r>
            <a:endParaRPr/>
          </a:p>
        </p:txBody>
      </p:sp>
      <p:pic>
        <p:nvPicPr>
          <p:cNvPr descr="images.jpg" id="197" name="Google Shape;197;p13"/>
          <p:cNvPicPr preferRelativeResize="0"/>
          <p:nvPr/>
        </p:nvPicPr>
        <p:blipFill rotWithShape="1">
          <a:blip r:embed="rId3">
            <a:alphaModFix/>
          </a:blip>
          <a:srcRect b="0" l="0" r="0" t="0"/>
          <a:stretch/>
        </p:blipFill>
        <p:spPr>
          <a:xfrm>
            <a:off x="7048500" y="0"/>
            <a:ext cx="2095500" cy="2181225"/>
          </a:xfrm>
          <a:prstGeom prst="rect">
            <a:avLst/>
          </a:prstGeom>
          <a:noFill/>
          <a:ln>
            <a:noFill/>
          </a:ln>
        </p:spPr>
      </p:pic>
      <p:pic>
        <p:nvPicPr>
          <p:cNvPr descr="roasted-brussels-sprouts-fd-lg-1.jpg" id="198" name="Google Shape;198;p13"/>
          <p:cNvPicPr preferRelativeResize="0"/>
          <p:nvPr/>
        </p:nvPicPr>
        <p:blipFill rotWithShape="1">
          <a:blip r:embed="rId4">
            <a:alphaModFix/>
          </a:blip>
          <a:srcRect b="0" l="0" r="0" t="0"/>
          <a:stretch/>
        </p:blipFill>
        <p:spPr>
          <a:xfrm>
            <a:off x="360040" y="4797152"/>
            <a:ext cx="2339752" cy="183111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Motivi</a:t>
            </a:r>
            <a:endParaRPr/>
          </a:p>
        </p:txBody>
      </p:sp>
      <p:sp>
        <p:nvSpPr>
          <p:cNvPr id="205" name="Google Shape;205;p14"/>
          <p:cNvSpPr txBox="1"/>
          <p:nvPr>
            <p:ph idx="1" type="body"/>
          </p:nvPr>
        </p:nvSpPr>
        <p:spPr>
          <a:xfrm>
            <a:off x="457200" y="1268760"/>
            <a:ext cx="8229600" cy="5256584"/>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Felix Baumgartner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a:p>
            <a:pPr indent="-342900" lvl="0" marL="342900" rtl="0" algn="l">
              <a:spcBef>
                <a:spcPts val="592"/>
              </a:spcBef>
              <a:spcAft>
                <a:spcPts val="0"/>
              </a:spcAft>
              <a:buClr>
                <a:schemeClr val="dk1"/>
              </a:buClr>
              <a:buSzPct val="100000"/>
              <a:buChar char="•"/>
            </a:pPr>
            <a:r>
              <a:rPr lang="en-US"/>
              <a:t>Što je njega motiviralo?   </a:t>
            </a:r>
            <a:endParaRPr/>
          </a:p>
          <a:p>
            <a:pPr indent="-154940" lvl="0" marL="342900" rtl="0" algn="l">
              <a:spcBef>
                <a:spcPts val="592"/>
              </a:spcBef>
              <a:spcAft>
                <a:spcPts val="0"/>
              </a:spcAft>
              <a:buClr>
                <a:schemeClr val="dk1"/>
              </a:buClr>
              <a:buSzPct val="100000"/>
              <a:buNone/>
            </a:pPr>
            <a:r>
              <a:t/>
            </a:r>
            <a:endParaRPr/>
          </a:p>
        </p:txBody>
      </p:sp>
      <p:pic>
        <p:nvPicPr>
          <p:cNvPr descr="thumb.ashx.jpg" id="206" name="Google Shape;206;p14"/>
          <p:cNvPicPr preferRelativeResize="0"/>
          <p:nvPr/>
        </p:nvPicPr>
        <p:blipFill rotWithShape="1">
          <a:blip r:embed="rId3">
            <a:alphaModFix/>
          </a:blip>
          <a:srcRect b="0" l="0" r="0" t="0"/>
          <a:stretch/>
        </p:blipFill>
        <p:spPr>
          <a:xfrm>
            <a:off x="755576" y="2204864"/>
            <a:ext cx="4994475" cy="320158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Motivi</a:t>
            </a:r>
            <a:endParaRPr/>
          </a:p>
        </p:txBody>
      </p:sp>
      <p:sp>
        <p:nvSpPr>
          <p:cNvPr id="213" name="Google Shape;213;p15"/>
          <p:cNvSpPr txBox="1"/>
          <p:nvPr>
            <p:ph idx="1" type="body"/>
          </p:nvPr>
        </p:nvSpPr>
        <p:spPr>
          <a:xfrm>
            <a:off x="457200" y="1600200"/>
            <a:ext cx="8229600" cy="49251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b="1" lang="en-US"/>
              <a:t>Psihosocijalni motivi – stečene potrebe</a:t>
            </a:r>
            <a:endParaRPr b="1"/>
          </a:p>
          <a:p>
            <a:pPr indent="-342900" lvl="0" marL="342900" rtl="0" algn="l">
              <a:spcBef>
                <a:spcPts val="640"/>
              </a:spcBef>
              <a:spcAft>
                <a:spcPts val="0"/>
              </a:spcAft>
              <a:buClr>
                <a:schemeClr val="dk1"/>
              </a:buClr>
              <a:buSzPts val="3200"/>
              <a:buChar char="•"/>
            </a:pPr>
            <a:r>
              <a:rPr lang="en-US"/>
              <a:t>naučene i razlikuju se od osobe do osobe; </a:t>
            </a:r>
            <a:endParaRPr/>
          </a:p>
          <a:p>
            <a:pPr indent="-3429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Možete li mi navesti neke stečene potrebe? </a:t>
            </a:r>
            <a:endParaRPr/>
          </a:p>
          <a:p>
            <a:pPr indent="-139700" lvl="0" marL="342900" rtl="0" algn="l">
              <a:spcBef>
                <a:spcPts val="640"/>
              </a:spcBef>
              <a:spcAft>
                <a:spcPts val="0"/>
              </a:spcAft>
              <a:buClr>
                <a:schemeClr val="dk1"/>
              </a:buClr>
              <a:buSzPts val="3200"/>
              <a:buNone/>
            </a:pPr>
            <a:r>
              <a:t/>
            </a:r>
            <a:endParaRPr/>
          </a:p>
        </p:txBody>
      </p:sp>
      <p:pic>
        <p:nvPicPr>
          <p:cNvPr descr="Image result for netflix" id="214" name="Google Shape;214;p15"/>
          <p:cNvPicPr preferRelativeResize="0"/>
          <p:nvPr/>
        </p:nvPicPr>
        <p:blipFill rotWithShape="1">
          <a:blip r:embed="rId3">
            <a:alphaModFix/>
          </a:blip>
          <a:srcRect b="0" l="0" r="0" t="0"/>
          <a:stretch/>
        </p:blipFill>
        <p:spPr>
          <a:xfrm>
            <a:off x="5999686" y="3143929"/>
            <a:ext cx="2987824" cy="1610544"/>
          </a:xfrm>
          <a:prstGeom prst="rect">
            <a:avLst/>
          </a:prstGeom>
          <a:noFill/>
          <a:ln>
            <a:noFill/>
          </a:ln>
        </p:spPr>
      </p:pic>
      <p:pic>
        <p:nvPicPr>
          <p:cNvPr descr="Image result for concert" id="215" name="Google Shape;215;p15"/>
          <p:cNvPicPr preferRelativeResize="0"/>
          <p:nvPr/>
        </p:nvPicPr>
        <p:blipFill rotWithShape="1">
          <a:blip r:embed="rId4">
            <a:alphaModFix/>
          </a:blip>
          <a:srcRect b="10112" l="0" r="0" t="0"/>
          <a:stretch/>
        </p:blipFill>
        <p:spPr>
          <a:xfrm>
            <a:off x="3231747" y="3143929"/>
            <a:ext cx="2680506" cy="1944216"/>
          </a:xfrm>
          <a:prstGeom prst="rect">
            <a:avLst/>
          </a:prstGeom>
          <a:noFill/>
          <a:ln>
            <a:noFill/>
          </a:ln>
        </p:spPr>
      </p:pic>
      <p:pic>
        <p:nvPicPr>
          <p:cNvPr id="216" name="Google Shape;216;p15"/>
          <p:cNvPicPr preferRelativeResize="0"/>
          <p:nvPr/>
        </p:nvPicPr>
        <p:blipFill rotWithShape="1">
          <a:blip r:embed="rId5">
            <a:alphaModFix/>
          </a:blip>
          <a:srcRect b="0" l="0" r="0" t="0"/>
          <a:stretch/>
        </p:blipFill>
        <p:spPr>
          <a:xfrm>
            <a:off x="457200" y="3140968"/>
            <a:ext cx="2628900" cy="1743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Motivi</a:t>
            </a:r>
            <a:endParaRPr/>
          </a:p>
        </p:txBody>
      </p:sp>
      <p:sp>
        <p:nvSpPr>
          <p:cNvPr id="223" name="Google Shape;223;p16"/>
          <p:cNvSpPr txBox="1"/>
          <p:nvPr>
            <p:ph idx="1" type="body"/>
          </p:nvPr>
        </p:nvSpPr>
        <p:spPr>
          <a:xfrm>
            <a:off x="457200" y="1600200"/>
            <a:ext cx="8229600" cy="49251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b="1" lang="en-US"/>
              <a:t>Psihosocijalni  motivi</a:t>
            </a:r>
            <a:endParaRPr/>
          </a:p>
          <a:p>
            <a:pPr indent="-342900" lvl="0" marL="342900" rtl="0" algn="l">
              <a:spcBef>
                <a:spcPts val="640"/>
              </a:spcBef>
              <a:spcAft>
                <a:spcPts val="0"/>
              </a:spcAft>
              <a:buClr>
                <a:schemeClr val="dk1"/>
              </a:buClr>
              <a:buSzPts val="3200"/>
              <a:buChar char="•"/>
            </a:pPr>
            <a:r>
              <a:rPr lang="en-US"/>
              <a:t>to mogu biti potreba za znanjem, potreba za ljudskim društvom, potreba za ugledom, postignućem, prisnošću, zabavom. </a:t>
            </a:r>
            <a:endParaRPr/>
          </a:p>
          <a:p>
            <a:pPr indent="-3429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U osnovi stečenih potreba nalaze</a:t>
            </a:r>
            <a:endParaRPr/>
          </a:p>
          <a:p>
            <a:pPr indent="-342900" lvl="0" marL="342900" rtl="0" algn="l">
              <a:spcBef>
                <a:spcPts val="640"/>
              </a:spcBef>
              <a:spcAft>
                <a:spcPts val="0"/>
              </a:spcAft>
              <a:buClr>
                <a:schemeClr val="dk1"/>
              </a:buClr>
              <a:buSzPts val="3200"/>
              <a:buNone/>
            </a:pPr>
            <a:r>
              <a:rPr lang="en-US"/>
              <a:t>    se psihološki čimbenici. </a:t>
            </a:r>
            <a:endParaRPr/>
          </a:p>
        </p:txBody>
      </p:sp>
      <p:pic>
        <p:nvPicPr>
          <p:cNvPr descr="MH900449100.JPG" id="224" name="Google Shape;224;p16"/>
          <p:cNvPicPr preferRelativeResize="0"/>
          <p:nvPr/>
        </p:nvPicPr>
        <p:blipFill rotWithShape="1">
          <a:blip r:embed="rId3">
            <a:alphaModFix/>
          </a:blip>
          <a:srcRect b="0" l="0" r="14375" t="0"/>
          <a:stretch/>
        </p:blipFill>
        <p:spPr>
          <a:xfrm>
            <a:off x="6516216" y="3789040"/>
            <a:ext cx="2627784" cy="306896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Vrste motivacije</a:t>
            </a:r>
            <a:endParaRPr/>
          </a:p>
        </p:txBody>
      </p:sp>
      <p:sp>
        <p:nvSpPr>
          <p:cNvPr id="231" name="Google Shape;23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Što vas motivira na učenje? </a:t>
            </a:r>
            <a:endParaRPr/>
          </a:p>
          <a:p>
            <a:pPr indent="-3429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pic>
        <p:nvPicPr>
          <p:cNvPr descr="MH900391028.JPG" id="232" name="Google Shape;232;p17"/>
          <p:cNvPicPr preferRelativeResize="0"/>
          <p:nvPr/>
        </p:nvPicPr>
        <p:blipFill rotWithShape="1">
          <a:blip r:embed="rId3">
            <a:alphaModFix/>
          </a:blip>
          <a:srcRect b="0" l="10970" r="11943" t="0"/>
          <a:stretch/>
        </p:blipFill>
        <p:spPr>
          <a:xfrm>
            <a:off x="4572000" y="2681971"/>
            <a:ext cx="2592288" cy="3362797"/>
          </a:xfrm>
          <a:prstGeom prst="rect">
            <a:avLst/>
          </a:prstGeom>
          <a:noFill/>
          <a:ln>
            <a:noFill/>
          </a:ln>
        </p:spPr>
      </p:pic>
      <p:pic>
        <p:nvPicPr>
          <p:cNvPr id="233" name="Google Shape;233;p17"/>
          <p:cNvPicPr preferRelativeResize="0"/>
          <p:nvPr/>
        </p:nvPicPr>
        <p:blipFill rotWithShape="1">
          <a:blip r:embed="rId4">
            <a:alphaModFix/>
          </a:blip>
          <a:srcRect b="0" l="0" r="0" t="0"/>
          <a:stretch/>
        </p:blipFill>
        <p:spPr>
          <a:xfrm>
            <a:off x="1000124" y="2822050"/>
            <a:ext cx="2846209" cy="242876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txBox="1"/>
          <p:nvPr>
            <p:ph idx="1" type="body"/>
          </p:nvPr>
        </p:nvSpPr>
        <p:spPr>
          <a:xfrm>
            <a:off x="457200" y="548680"/>
            <a:ext cx="8229600" cy="5577483"/>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5400"/>
              <a:buNone/>
            </a:pPr>
            <a:r>
              <a:rPr lang="en-US" sz="5400"/>
              <a:t> Vrste motivacije</a:t>
            </a:r>
            <a:endParaRPr/>
          </a:p>
          <a:p>
            <a:pPr indent="-342900" lvl="0" marL="342900" rtl="0" algn="ctr">
              <a:spcBef>
                <a:spcPts val="640"/>
              </a:spcBef>
              <a:spcAft>
                <a:spcPts val="0"/>
              </a:spcAft>
              <a:buClr>
                <a:schemeClr val="dk1"/>
              </a:buClr>
              <a:buSzPts val="3200"/>
              <a:buNone/>
            </a:pPr>
            <a:r>
              <a:t/>
            </a:r>
            <a:endParaRPr/>
          </a:p>
          <a:p>
            <a:pPr indent="-342900" lvl="0" marL="342900" rtl="0" algn="ctr">
              <a:spcBef>
                <a:spcPts val="640"/>
              </a:spcBef>
              <a:spcAft>
                <a:spcPts val="0"/>
              </a:spcAft>
              <a:buClr>
                <a:schemeClr val="dk1"/>
              </a:buClr>
              <a:buSzPts val="3200"/>
              <a:buNone/>
            </a:pPr>
            <a:r>
              <a:t/>
            </a:r>
            <a:endParaRPr/>
          </a:p>
          <a:p>
            <a:pPr indent="-342900" lvl="0" marL="342900" rtl="0" algn="ctr">
              <a:spcBef>
                <a:spcPts val="640"/>
              </a:spcBef>
              <a:spcAft>
                <a:spcPts val="0"/>
              </a:spcAft>
              <a:buClr>
                <a:schemeClr val="dk1"/>
              </a:buClr>
              <a:buSzPts val="3200"/>
              <a:buNone/>
            </a:pPr>
            <a:r>
              <a:t/>
            </a:r>
            <a:endParaRPr/>
          </a:p>
          <a:p>
            <a:pPr indent="-342900" lvl="0" marL="342900" rtl="0" algn="ctr">
              <a:spcBef>
                <a:spcPts val="720"/>
              </a:spcBef>
              <a:spcAft>
                <a:spcPts val="0"/>
              </a:spcAft>
              <a:buClr>
                <a:schemeClr val="dk1"/>
              </a:buClr>
              <a:buSzPts val="3600"/>
              <a:buNone/>
            </a:pPr>
            <a:r>
              <a:rPr lang="en-US" sz="3600"/>
              <a:t>Intrinzična                           Ekstrinzična</a:t>
            </a:r>
            <a:endParaRPr sz="3600"/>
          </a:p>
        </p:txBody>
      </p:sp>
      <p:cxnSp>
        <p:nvCxnSpPr>
          <p:cNvPr id="240" name="Google Shape;240;p18"/>
          <p:cNvCxnSpPr/>
          <p:nvPr/>
        </p:nvCxnSpPr>
        <p:spPr>
          <a:xfrm flipH="1">
            <a:off x="2339752" y="1484784"/>
            <a:ext cx="1728192" cy="1584176"/>
          </a:xfrm>
          <a:prstGeom prst="straightConnector1">
            <a:avLst/>
          </a:prstGeom>
          <a:noFill/>
          <a:ln cap="flat" cmpd="sng" w="57150">
            <a:solidFill>
              <a:schemeClr val="accent1"/>
            </a:solidFill>
            <a:prstDash val="solid"/>
            <a:round/>
            <a:headEnd len="sm" w="sm" type="none"/>
            <a:tailEnd len="med" w="med" type="stealth"/>
          </a:ln>
        </p:spPr>
      </p:cxnSp>
      <p:cxnSp>
        <p:nvCxnSpPr>
          <p:cNvPr id="241" name="Google Shape;241;p18"/>
          <p:cNvCxnSpPr/>
          <p:nvPr/>
        </p:nvCxnSpPr>
        <p:spPr>
          <a:xfrm>
            <a:off x="5148064" y="1556792"/>
            <a:ext cx="1296144" cy="1584176"/>
          </a:xfrm>
          <a:prstGeom prst="straightConnector1">
            <a:avLst/>
          </a:prstGeom>
          <a:noFill/>
          <a:ln cap="flat" cmpd="sng" w="57150">
            <a:solidFill>
              <a:schemeClr val="accent1"/>
            </a:solidFill>
            <a:prstDash val="solid"/>
            <a:round/>
            <a:headEnd len="sm" w="sm" type="none"/>
            <a:tailEnd len="med" w="med" type="stealth"/>
          </a:ln>
        </p:spPr>
      </p:cxnSp>
      <p:pic>
        <p:nvPicPr>
          <p:cNvPr descr="certificate-of-appreciation.jpg" id="242" name="Google Shape;242;p18"/>
          <p:cNvPicPr preferRelativeResize="0"/>
          <p:nvPr/>
        </p:nvPicPr>
        <p:blipFill rotWithShape="1">
          <a:blip r:embed="rId3">
            <a:alphaModFix/>
          </a:blip>
          <a:srcRect b="0" l="0" r="0" t="0"/>
          <a:stretch/>
        </p:blipFill>
        <p:spPr>
          <a:xfrm>
            <a:off x="5436096" y="4077072"/>
            <a:ext cx="3096344" cy="2306765"/>
          </a:xfrm>
          <a:prstGeom prst="rect">
            <a:avLst/>
          </a:prstGeom>
          <a:noFill/>
          <a:ln>
            <a:noFill/>
          </a:ln>
        </p:spPr>
      </p:pic>
      <p:pic>
        <p:nvPicPr>
          <p:cNvPr descr="tumblr_lyc8lhbWA71r7v8w6o1_500.jpg" id="243" name="Google Shape;243;p18"/>
          <p:cNvPicPr preferRelativeResize="0"/>
          <p:nvPr/>
        </p:nvPicPr>
        <p:blipFill rotWithShape="1">
          <a:blip r:embed="rId4">
            <a:alphaModFix/>
          </a:blip>
          <a:srcRect b="13290" l="0" r="0" t="0"/>
          <a:stretch/>
        </p:blipFill>
        <p:spPr>
          <a:xfrm>
            <a:off x="971600" y="4077072"/>
            <a:ext cx="2062002" cy="2420888"/>
          </a:xfrm>
          <a:prstGeom prst="rect">
            <a:avLst/>
          </a:prstGeom>
          <a:noFill/>
          <a:ln cap="flat" cmpd="sng" w="9525">
            <a:solidFill>
              <a:srgbClr val="C5D8F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9"/>
          <p:cNvSpPr txBox="1"/>
          <p:nvPr>
            <p:ph type="title"/>
          </p:nvPr>
        </p:nvSpPr>
        <p:spPr>
          <a:xfrm>
            <a:off x="395536" y="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Motivacija</a:t>
            </a:r>
            <a:endParaRPr/>
          </a:p>
        </p:txBody>
      </p:sp>
      <p:sp>
        <p:nvSpPr>
          <p:cNvPr id="249" name="Google Shape;249;p19"/>
          <p:cNvSpPr txBox="1"/>
          <p:nvPr>
            <p:ph idx="1" type="body"/>
          </p:nvPr>
        </p:nvSpPr>
        <p:spPr>
          <a:xfrm>
            <a:off x="323528" y="1052736"/>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	Razlika ekstrinzične i intrinzične motivacije</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grpSp>
        <p:nvGrpSpPr>
          <p:cNvPr id="250" name="Google Shape;250;p19"/>
          <p:cNvGrpSpPr/>
          <p:nvPr/>
        </p:nvGrpSpPr>
        <p:grpSpPr>
          <a:xfrm>
            <a:off x="2585823" y="1589014"/>
            <a:ext cx="4764440" cy="5247789"/>
            <a:chOff x="1326191" y="4397"/>
            <a:chExt cx="4764440" cy="5247789"/>
          </a:xfrm>
        </p:grpSpPr>
        <p:sp>
          <p:nvSpPr>
            <p:cNvPr id="251" name="Google Shape;251;p19"/>
            <p:cNvSpPr/>
            <p:nvPr/>
          </p:nvSpPr>
          <p:spPr>
            <a:xfrm>
              <a:off x="2672664" y="4397"/>
              <a:ext cx="2071495" cy="1380997"/>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txBox="1"/>
            <p:nvPr/>
          </p:nvSpPr>
          <p:spPr>
            <a:xfrm>
              <a:off x="2713112" y="44845"/>
              <a:ext cx="1990599" cy="1300101"/>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None/>
              </a:pPr>
              <a:r>
                <a:rPr b="1" i="0" lang="en-US" sz="1900" u="none" cap="none" strike="noStrike">
                  <a:solidFill>
                    <a:schemeClr val="lt1"/>
                  </a:solidFill>
                  <a:latin typeface="Calibri"/>
                  <a:ea typeface="Calibri"/>
                  <a:cs typeface="Calibri"/>
                  <a:sym typeface="Calibri"/>
                </a:rPr>
                <a:t>Motivacija</a:t>
              </a:r>
              <a:endParaRPr b="1" i="0" sz="1900" u="none" cap="none" strike="noStrike">
                <a:solidFill>
                  <a:schemeClr val="lt1"/>
                </a:solidFill>
                <a:latin typeface="Calibri"/>
                <a:ea typeface="Calibri"/>
                <a:cs typeface="Calibri"/>
                <a:sym typeface="Calibri"/>
              </a:endParaRPr>
            </a:p>
          </p:txBody>
        </p:sp>
        <p:sp>
          <p:nvSpPr>
            <p:cNvPr id="253" name="Google Shape;253;p19"/>
            <p:cNvSpPr/>
            <p:nvPr/>
          </p:nvSpPr>
          <p:spPr>
            <a:xfrm>
              <a:off x="2361939" y="1385394"/>
              <a:ext cx="1346472" cy="552398"/>
            </a:xfrm>
            <a:custGeom>
              <a:rect b="b" l="l" r="r" t="t"/>
              <a:pathLst>
                <a:path extrusionOk="0" h="120000" w="120000">
                  <a:moveTo>
                    <a:pt x="120000" y="0"/>
                  </a:moveTo>
                  <a:lnTo>
                    <a:pt x="120000" y="60000"/>
                  </a:lnTo>
                  <a:lnTo>
                    <a:pt x="0" y="60000"/>
                  </a:lnTo>
                  <a:lnTo>
                    <a:pt x="0" y="120000"/>
                  </a:lnTo>
                </a:path>
              </a:pathLst>
            </a:custGeom>
            <a:noFill/>
            <a:ln cap="flat" cmpd="sng" w="25400">
              <a:solidFill>
                <a:srgbClr val="3B6495"/>
              </a:solidFill>
              <a:prstDash val="solid"/>
              <a:round/>
              <a:headEnd len="sm" w="sm" type="none"/>
              <a:tailEnd len="sm" w="sm" type="none"/>
            </a:ln>
          </p:spPr>
        </p:sp>
        <p:sp>
          <p:nvSpPr>
            <p:cNvPr id="254" name="Google Shape;254;p19"/>
            <p:cNvSpPr/>
            <p:nvPr/>
          </p:nvSpPr>
          <p:spPr>
            <a:xfrm>
              <a:off x="1326191" y="1937793"/>
              <a:ext cx="2071495" cy="1380997"/>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txBox="1"/>
            <p:nvPr/>
          </p:nvSpPr>
          <p:spPr>
            <a:xfrm>
              <a:off x="1366639" y="1978241"/>
              <a:ext cx="1990599" cy="1300101"/>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None/>
              </a:pPr>
              <a:r>
                <a:rPr b="1" i="0" lang="en-US" sz="1900" u="none" cap="none" strike="noStrike">
                  <a:solidFill>
                    <a:schemeClr val="lt1"/>
                  </a:solidFill>
                  <a:latin typeface="Calibri"/>
                  <a:ea typeface="Calibri"/>
                  <a:cs typeface="Calibri"/>
                  <a:sym typeface="Calibri"/>
                </a:rPr>
                <a:t>Ekstrinzična</a:t>
              </a:r>
              <a:endParaRPr b="1" i="0" sz="1900" u="none" cap="none" strike="noStrike">
                <a:solidFill>
                  <a:schemeClr val="lt1"/>
                </a:solidFill>
                <a:latin typeface="Calibri"/>
                <a:ea typeface="Calibri"/>
                <a:cs typeface="Calibri"/>
                <a:sym typeface="Calibri"/>
              </a:endParaRPr>
            </a:p>
          </p:txBody>
        </p:sp>
        <p:sp>
          <p:nvSpPr>
            <p:cNvPr id="256" name="Google Shape;256;p19"/>
            <p:cNvSpPr/>
            <p:nvPr/>
          </p:nvSpPr>
          <p:spPr>
            <a:xfrm>
              <a:off x="2316219" y="3318790"/>
              <a:ext cx="91440" cy="552398"/>
            </a:xfrm>
            <a:custGeom>
              <a:rect b="b" l="l" r="r" t="t"/>
              <a:pathLst>
                <a:path extrusionOk="0" h="120000" w="120000">
                  <a:moveTo>
                    <a:pt x="60000" y="0"/>
                  </a:moveTo>
                  <a:lnTo>
                    <a:pt x="60000" y="120000"/>
                  </a:lnTo>
                </a:path>
              </a:pathLst>
            </a:custGeom>
            <a:noFill/>
            <a:ln cap="flat" cmpd="sng" w="25400">
              <a:solidFill>
                <a:srgbClr val="4674AA"/>
              </a:solidFill>
              <a:prstDash val="solid"/>
              <a:round/>
              <a:headEnd len="sm" w="sm" type="none"/>
              <a:tailEnd len="sm" w="sm" type="none"/>
            </a:ln>
          </p:spPr>
        </p:sp>
        <p:sp>
          <p:nvSpPr>
            <p:cNvPr id="257" name="Google Shape;257;p19"/>
            <p:cNvSpPr/>
            <p:nvPr/>
          </p:nvSpPr>
          <p:spPr>
            <a:xfrm>
              <a:off x="1326191" y="3871189"/>
              <a:ext cx="2071495" cy="1380997"/>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txBox="1"/>
            <p:nvPr/>
          </p:nvSpPr>
          <p:spPr>
            <a:xfrm>
              <a:off x="1366639" y="3911637"/>
              <a:ext cx="1990599" cy="1300101"/>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None/>
              </a:pPr>
              <a:r>
                <a:rPr b="1" i="0" lang="en-US" sz="1900" u="none" cap="none" strike="noStrike">
                  <a:solidFill>
                    <a:schemeClr val="lt1"/>
                  </a:solidFill>
                  <a:latin typeface="Calibri"/>
                  <a:ea typeface="Calibri"/>
                  <a:cs typeface="Calibri"/>
                  <a:sym typeface="Calibri"/>
                </a:rPr>
                <a:t>Radimo nešto zato što ćemo za tu aktivnost dobiti neku nagradu</a:t>
              </a:r>
              <a:endParaRPr b="1" i="0" sz="1900" u="none" cap="none" strike="noStrike">
                <a:solidFill>
                  <a:schemeClr val="lt1"/>
                </a:solidFill>
                <a:latin typeface="Calibri"/>
                <a:ea typeface="Calibri"/>
                <a:cs typeface="Calibri"/>
                <a:sym typeface="Calibri"/>
              </a:endParaRPr>
            </a:p>
          </p:txBody>
        </p:sp>
        <p:sp>
          <p:nvSpPr>
            <p:cNvPr id="259" name="Google Shape;259;p19"/>
            <p:cNvSpPr/>
            <p:nvPr/>
          </p:nvSpPr>
          <p:spPr>
            <a:xfrm>
              <a:off x="3708412" y="1385394"/>
              <a:ext cx="1346472" cy="552398"/>
            </a:xfrm>
            <a:custGeom>
              <a:rect b="b" l="l" r="r" t="t"/>
              <a:pathLst>
                <a:path extrusionOk="0" h="120000" w="120000">
                  <a:moveTo>
                    <a:pt x="0" y="0"/>
                  </a:moveTo>
                  <a:lnTo>
                    <a:pt x="0" y="60000"/>
                  </a:lnTo>
                  <a:lnTo>
                    <a:pt x="120000" y="60000"/>
                  </a:lnTo>
                  <a:lnTo>
                    <a:pt x="120000" y="120000"/>
                  </a:lnTo>
                </a:path>
              </a:pathLst>
            </a:custGeom>
            <a:noFill/>
            <a:ln cap="flat" cmpd="sng" w="25400">
              <a:solidFill>
                <a:srgbClr val="3B6495"/>
              </a:solidFill>
              <a:prstDash val="solid"/>
              <a:round/>
              <a:headEnd len="sm" w="sm" type="none"/>
              <a:tailEnd len="sm" w="sm" type="none"/>
            </a:ln>
          </p:spPr>
        </p:sp>
        <p:sp>
          <p:nvSpPr>
            <p:cNvPr id="260" name="Google Shape;260;p19"/>
            <p:cNvSpPr/>
            <p:nvPr/>
          </p:nvSpPr>
          <p:spPr>
            <a:xfrm>
              <a:off x="4019136" y="1937793"/>
              <a:ext cx="2071495" cy="1380997"/>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txBox="1"/>
            <p:nvPr/>
          </p:nvSpPr>
          <p:spPr>
            <a:xfrm>
              <a:off x="4059584" y="1978241"/>
              <a:ext cx="1990599" cy="1300101"/>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None/>
              </a:pPr>
              <a:r>
                <a:rPr b="1" i="0" lang="en-US" sz="1900" u="none" cap="none" strike="noStrike">
                  <a:solidFill>
                    <a:schemeClr val="lt1"/>
                  </a:solidFill>
                  <a:latin typeface="Calibri"/>
                  <a:ea typeface="Calibri"/>
                  <a:cs typeface="Calibri"/>
                  <a:sym typeface="Calibri"/>
                </a:rPr>
                <a:t>Intrinzična</a:t>
              </a:r>
              <a:endParaRPr b="1" i="0" sz="1900" u="none" cap="none" strike="noStrike">
                <a:solidFill>
                  <a:schemeClr val="lt1"/>
                </a:solidFill>
                <a:latin typeface="Calibri"/>
                <a:ea typeface="Calibri"/>
                <a:cs typeface="Calibri"/>
                <a:sym typeface="Calibri"/>
              </a:endParaRPr>
            </a:p>
          </p:txBody>
        </p:sp>
        <p:sp>
          <p:nvSpPr>
            <p:cNvPr id="262" name="Google Shape;262;p19"/>
            <p:cNvSpPr/>
            <p:nvPr/>
          </p:nvSpPr>
          <p:spPr>
            <a:xfrm>
              <a:off x="5009164" y="3318790"/>
              <a:ext cx="91440" cy="552398"/>
            </a:xfrm>
            <a:custGeom>
              <a:rect b="b" l="l" r="r" t="t"/>
              <a:pathLst>
                <a:path extrusionOk="0" h="120000" w="120000">
                  <a:moveTo>
                    <a:pt x="60000" y="0"/>
                  </a:moveTo>
                  <a:lnTo>
                    <a:pt x="60000" y="120000"/>
                  </a:lnTo>
                </a:path>
              </a:pathLst>
            </a:custGeom>
            <a:noFill/>
            <a:ln cap="flat" cmpd="sng" w="25400">
              <a:solidFill>
                <a:srgbClr val="4674AA"/>
              </a:solidFill>
              <a:prstDash val="solid"/>
              <a:round/>
              <a:headEnd len="sm" w="sm" type="none"/>
              <a:tailEnd len="sm" w="sm" type="none"/>
            </a:ln>
          </p:spPr>
        </p:sp>
        <p:sp>
          <p:nvSpPr>
            <p:cNvPr id="263" name="Google Shape;263;p19"/>
            <p:cNvSpPr/>
            <p:nvPr/>
          </p:nvSpPr>
          <p:spPr>
            <a:xfrm>
              <a:off x="4019136" y="3871189"/>
              <a:ext cx="2071495" cy="1380997"/>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txBox="1"/>
            <p:nvPr/>
          </p:nvSpPr>
          <p:spPr>
            <a:xfrm>
              <a:off x="4059584" y="3911637"/>
              <a:ext cx="1990599" cy="1300101"/>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None/>
              </a:pPr>
              <a:r>
                <a:rPr b="1" i="0" lang="en-US" sz="1900" u="none" cap="none" strike="noStrike">
                  <a:solidFill>
                    <a:schemeClr val="lt1"/>
                  </a:solidFill>
                  <a:latin typeface="Calibri"/>
                  <a:ea typeface="Calibri"/>
                  <a:cs typeface="Calibri"/>
                  <a:sym typeface="Calibri"/>
                </a:rPr>
                <a:t>Radimo nešto zbog toga što nam je aktivnost sama po sebi ugodna</a:t>
              </a:r>
              <a:endParaRPr b="1" i="0" sz="1900" u="none" cap="none" strike="noStrike">
                <a:solidFill>
                  <a:schemeClr val="lt1"/>
                </a:solidFill>
                <a:latin typeface="Calibri"/>
                <a:ea typeface="Calibri"/>
                <a:cs typeface="Calibri"/>
                <a:sym typeface="Calibri"/>
              </a:endParaRPr>
            </a:p>
          </p:txBody>
        </p:sp>
      </p:grpSp>
      <p:pic>
        <p:nvPicPr>
          <p:cNvPr id="265" name="Google Shape;265;p19"/>
          <p:cNvPicPr preferRelativeResize="0"/>
          <p:nvPr/>
        </p:nvPicPr>
        <p:blipFill rotWithShape="1">
          <a:blip r:embed="rId3">
            <a:alphaModFix/>
          </a:blip>
          <a:srcRect b="0" l="0" r="0" t="0"/>
          <a:stretch/>
        </p:blipFill>
        <p:spPr>
          <a:xfrm>
            <a:off x="467544" y="1556792"/>
            <a:ext cx="2857500" cy="1647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Vrste motivacije</a:t>
            </a:r>
            <a:endParaRPr/>
          </a:p>
        </p:txBody>
      </p:sp>
      <p:sp>
        <p:nvSpPr>
          <p:cNvPr id="272" name="Google Shape;272;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Što mislite hoće li svi motivi uvijek biti jednako važni za pojedinca? </a:t>
            </a:r>
            <a:endParaRPr/>
          </a:p>
          <a:p>
            <a:pPr indent="-342900" lvl="0" marL="342900" rtl="0" algn="l">
              <a:spcBef>
                <a:spcPts val="640"/>
              </a:spcBef>
              <a:spcAft>
                <a:spcPts val="0"/>
              </a:spcAft>
              <a:buClr>
                <a:schemeClr val="dk1"/>
              </a:buClr>
              <a:buSzPts val="3200"/>
              <a:buChar char="•"/>
            </a:pPr>
            <a:r>
              <a:rPr lang="en-US"/>
              <a:t>Postoje li potrebe koje je potrebno zadovoljiti prije drugih? </a:t>
            </a:r>
            <a:endParaRPr/>
          </a:p>
          <a:p>
            <a:pPr indent="-139700" lvl="0" marL="342900" rtl="0" algn="l">
              <a:spcBef>
                <a:spcPts val="640"/>
              </a:spcBef>
              <a:spcAft>
                <a:spcPts val="0"/>
              </a:spcAft>
              <a:buClr>
                <a:schemeClr val="dk1"/>
              </a:buClr>
              <a:buSzPts val="3200"/>
              <a:buNone/>
            </a:pPr>
            <a:r>
              <a:t/>
            </a:r>
            <a:endParaRPr/>
          </a:p>
        </p:txBody>
      </p:sp>
      <p:pic>
        <p:nvPicPr>
          <p:cNvPr id="273" name="Google Shape;273;p20"/>
          <p:cNvPicPr preferRelativeResize="0"/>
          <p:nvPr/>
        </p:nvPicPr>
        <p:blipFill rotWithShape="1">
          <a:blip r:embed="rId3">
            <a:alphaModFix/>
          </a:blip>
          <a:srcRect b="0" l="0" r="0" t="0"/>
          <a:stretch/>
        </p:blipFill>
        <p:spPr>
          <a:xfrm>
            <a:off x="3059832" y="3869850"/>
            <a:ext cx="3391112" cy="25953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Maslowljeva hijerarhija motiva</a:t>
            </a:r>
            <a:endParaRPr/>
          </a:p>
        </p:txBody>
      </p:sp>
      <p:sp>
        <p:nvSpPr>
          <p:cNvPr id="280" name="Google Shape;280;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Američki psiholog Abraham Maslow smatrao je da su neki motivi važniji od drugih i da se mogu poredati po važnosti. </a:t>
            </a:r>
            <a:endParaRPr/>
          </a:p>
          <a:p>
            <a:pPr indent="-154940" lvl="0" marL="342900" rtl="0" algn="l">
              <a:spcBef>
                <a:spcPts val="592"/>
              </a:spcBef>
              <a:spcAft>
                <a:spcPts val="0"/>
              </a:spcAft>
              <a:buClr>
                <a:schemeClr val="dk1"/>
              </a:buClr>
              <a:buSzPct val="100000"/>
              <a:buNone/>
            </a:pPr>
            <a:r>
              <a:t/>
            </a:r>
            <a:endParaRPr/>
          </a:p>
          <a:p>
            <a:pPr indent="-342900" lvl="0" marL="342900" rtl="0" algn="l">
              <a:spcBef>
                <a:spcPts val="592"/>
              </a:spcBef>
              <a:spcAft>
                <a:spcPts val="0"/>
              </a:spcAft>
              <a:buClr>
                <a:schemeClr val="dk1"/>
              </a:buClr>
              <a:buSzPct val="100000"/>
              <a:buChar char="•"/>
            </a:pPr>
            <a:r>
              <a:rPr lang="en-US"/>
              <a:t>Dok se ne zadovolje </a:t>
            </a:r>
            <a:br>
              <a:rPr lang="en-US"/>
            </a:br>
            <a:r>
              <a:rPr lang="en-US"/>
              <a:t>motivi koji su na nižim </a:t>
            </a:r>
            <a:br>
              <a:rPr lang="en-US"/>
            </a:br>
            <a:r>
              <a:rPr lang="en-US"/>
              <a:t>razinama, </a:t>
            </a:r>
            <a:br>
              <a:rPr lang="en-US"/>
            </a:br>
            <a:r>
              <a:rPr lang="en-US"/>
              <a:t>pojedinac neće krenuti u </a:t>
            </a:r>
            <a:br>
              <a:rPr lang="en-US"/>
            </a:br>
            <a:r>
              <a:rPr lang="en-US"/>
              <a:t>zadovoljavanje </a:t>
            </a:r>
            <a:br>
              <a:rPr lang="en-US"/>
            </a:br>
            <a:r>
              <a:rPr lang="en-US"/>
              <a:t>onih koji su na višim.</a:t>
            </a:r>
            <a:endParaRPr/>
          </a:p>
        </p:txBody>
      </p:sp>
      <p:pic>
        <p:nvPicPr>
          <p:cNvPr descr="Abraham_maslow.jpg" id="281" name="Google Shape;281;p21"/>
          <p:cNvPicPr preferRelativeResize="0"/>
          <p:nvPr/>
        </p:nvPicPr>
        <p:blipFill rotWithShape="1">
          <a:blip r:embed="rId3">
            <a:alphaModFix/>
          </a:blip>
          <a:srcRect b="0" l="0" r="0" t="0"/>
          <a:stretch/>
        </p:blipFill>
        <p:spPr>
          <a:xfrm>
            <a:off x="5652120" y="2636912"/>
            <a:ext cx="3096344" cy="39299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Maslowljeva hijerarhija motiva</a:t>
            </a:r>
            <a:endParaRPr/>
          </a:p>
        </p:txBody>
      </p:sp>
      <p:pic>
        <p:nvPicPr>
          <p:cNvPr descr="maslow.jpg" id="288" name="Google Shape;288;p22"/>
          <p:cNvPicPr preferRelativeResize="0"/>
          <p:nvPr>
            <p:ph idx="1" type="body"/>
          </p:nvPr>
        </p:nvPicPr>
        <p:blipFill rotWithShape="1">
          <a:blip r:embed="rId3">
            <a:alphaModFix/>
          </a:blip>
          <a:srcRect b="0" l="0" r="0" t="0"/>
          <a:stretch/>
        </p:blipFill>
        <p:spPr>
          <a:xfrm>
            <a:off x="1613515" y="1268760"/>
            <a:ext cx="6054829" cy="5400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Maslowljeva hijerarhija motiva</a:t>
            </a:r>
            <a:endParaRPr/>
          </a:p>
        </p:txBody>
      </p:sp>
      <p:sp>
        <p:nvSpPr>
          <p:cNvPr id="294" name="Google Shape;294;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Koje potrebe bi mogle spadati u </a:t>
            </a:r>
            <a:r>
              <a:rPr b="1" lang="en-US"/>
              <a:t>biološke</a:t>
            </a:r>
            <a:r>
              <a:rPr lang="en-US"/>
              <a:t>? </a:t>
            </a:r>
            <a:endParaRPr/>
          </a:p>
          <a:p>
            <a:pPr indent="-342900" lvl="0" marL="342900" rtl="0" algn="l">
              <a:spcBef>
                <a:spcPts val="640"/>
              </a:spcBef>
              <a:spcAft>
                <a:spcPts val="0"/>
              </a:spcAft>
              <a:buClr>
                <a:schemeClr val="dk1"/>
              </a:buClr>
              <a:buSzPts val="3200"/>
              <a:buNone/>
            </a:pPr>
            <a:r>
              <a:t/>
            </a:r>
            <a:endParaRPr/>
          </a:p>
        </p:txBody>
      </p:sp>
      <p:pic>
        <p:nvPicPr>
          <p:cNvPr descr="182398251_7G2Nnkax_c.jpg" id="295" name="Google Shape;295;p23"/>
          <p:cNvPicPr preferRelativeResize="0"/>
          <p:nvPr/>
        </p:nvPicPr>
        <p:blipFill rotWithShape="1">
          <a:blip r:embed="rId3">
            <a:alphaModFix/>
          </a:blip>
          <a:srcRect b="0" l="0" r="0" t="0"/>
          <a:stretch/>
        </p:blipFill>
        <p:spPr>
          <a:xfrm>
            <a:off x="4420003" y="2780928"/>
            <a:ext cx="2456253" cy="3816424"/>
          </a:xfrm>
          <a:prstGeom prst="rect">
            <a:avLst/>
          </a:prstGeom>
          <a:noFill/>
          <a:ln>
            <a:noFill/>
          </a:ln>
        </p:spPr>
      </p:pic>
      <p:pic>
        <p:nvPicPr>
          <p:cNvPr descr="449184311_n1iB9YB7_c.jpg" id="296" name="Google Shape;296;p23"/>
          <p:cNvPicPr preferRelativeResize="0"/>
          <p:nvPr/>
        </p:nvPicPr>
        <p:blipFill rotWithShape="1">
          <a:blip r:embed="rId4">
            <a:alphaModFix/>
          </a:blip>
          <a:srcRect b="0" l="0" r="0" t="0"/>
          <a:stretch/>
        </p:blipFill>
        <p:spPr>
          <a:xfrm>
            <a:off x="1539683" y="2780928"/>
            <a:ext cx="2880320" cy="38067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Maslowljeva hijerarhija motiva</a:t>
            </a:r>
            <a:endParaRPr/>
          </a:p>
        </p:txBody>
      </p:sp>
      <p:sp>
        <p:nvSpPr>
          <p:cNvPr id="303" name="Google Shape;30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Što bi bila potreba za </a:t>
            </a:r>
            <a:r>
              <a:rPr b="1" lang="en-US"/>
              <a:t>sigurnošću</a:t>
            </a:r>
            <a:r>
              <a:rPr lang="en-US"/>
              <a:t>?</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pic>
        <p:nvPicPr>
          <p:cNvPr descr="249687180_usRkMFSL_c.jpg" id="304" name="Google Shape;304;p24"/>
          <p:cNvPicPr preferRelativeResize="0"/>
          <p:nvPr/>
        </p:nvPicPr>
        <p:blipFill rotWithShape="1">
          <a:blip r:embed="rId3">
            <a:alphaModFix/>
          </a:blip>
          <a:srcRect b="0" l="0" r="0" t="0"/>
          <a:stretch/>
        </p:blipFill>
        <p:spPr>
          <a:xfrm>
            <a:off x="395536" y="2420888"/>
            <a:ext cx="4772794" cy="3575288"/>
          </a:xfrm>
          <a:prstGeom prst="rect">
            <a:avLst/>
          </a:prstGeom>
          <a:noFill/>
          <a:ln>
            <a:noFill/>
          </a:ln>
        </p:spPr>
      </p:pic>
      <p:pic>
        <p:nvPicPr>
          <p:cNvPr descr="respected-advisor.jpg" id="305" name="Google Shape;305;p24"/>
          <p:cNvPicPr preferRelativeResize="0"/>
          <p:nvPr/>
        </p:nvPicPr>
        <p:blipFill rotWithShape="1">
          <a:blip r:embed="rId4">
            <a:alphaModFix/>
          </a:blip>
          <a:srcRect b="0" l="0" r="0" t="0"/>
          <a:stretch/>
        </p:blipFill>
        <p:spPr>
          <a:xfrm>
            <a:off x="5364088" y="2708920"/>
            <a:ext cx="3426588" cy="331236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Maslowljeva hijerarhija motiva</a:t>
            </a:r>
            <a:endParaRPr/>
          </a:p>
        </p:txBody>
      </p:sp>
      <p:sp>
        <p:nvSpPr>
          <p:cNvPr id="311" name="Google Shape;311;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za pripadanjem?</a:t>
            </a:r>
            <a:endParaRPr/>
          </a:p>
          <a:p>
            <a:pPr indent="-139700" lvl="0" marL="342900" rtl="0" algn="l">
              <a:spcBef>
                <a:spcPts val="640"/>
              </a:spcBef>
              <a:spcAft>
                <a:spcPts val="0"/>
              </a:spcAft>
              <a:buClr>
                <a:schemeClr val="dk1"/>
              </a:buClr>
              <a:buSzPts val="3200"/>
              <a:buNone/>
            </a:pPr>
            <a:r>
              <a:t/>
            </a:r>
            <a:endParaRPr/>
          </a:p>
        </p:txBody>
      </p:sp>
      <p:pic>
        <p:nvPicPr>
          <p:cNvPr descr="Day_294_of_365_-_Friendship.jpg" id="312" name="Google Shape;312;p25"/>
          <p:cNvPicPr preferRelativeResize="0"/>
          <p:nvPr/>
        </p:nvPicPr>
        <p:blipFill rotWithShape="1">
          <a:blip r:embed="rId3">
            <a:alphaModFix/>
          </a:blip>
          <a:srcRect b="0" l="0" r="0" t="0"/>
          <a:stretch/>
        </p:blipFill>
        <p:spPr>
          <a:xfrm>
            <a:off x="395536" y="2996070"/>
            <a:ext cx="3888432" cy="3120278"/>
          </a:xfrm>
          <a:prstGeom prst="rect">
            <a:avLst/>
          </a:prstGeom>
          <a:noFill/>
          <a:ln>
            <a:noFill/>
          </a:ln>
        </p:spPr>
      </p:pic>
      <p:pic>
        <p:nvPicPr>
          <p:cNvPr descr="Image result for love and belonging" id="313" name="Google Shape;313;p25"/>
          <p:cNvPicPr preferRelativeResize="0"/>
          <p:nvPr/>
        </p:nvPicPr>
        <p:blipFill rotWithShape="1">
          <a:blip r:embed="rId4">
            <a:alphaModFix/>
          </a:blip>
          <a:srcRect b="0" l="0" r="0" t="0"/>
          <a:stretch/>
        </p:blipFill>
        <p:spPr>
          <a:xfrm>
            <a:off x="4600331" y="3974910"/>
            <a:ext cx="3243093" cy="2151253"/>
          </a:xfrm>
          <a:prstGeom prst="rect">
            <a:avLst/>
          </a:prstGeom>
          <a:noFill/>
          <a:ln>
            <a:noFill/>
          </a:ln>
        </p:spPr>
      </p:pic>
      <p:pic>
        <p:nvPicPr>
          <p:cNvPr descr="Related image" id="314" name="Google Shape;314;p25"/>
          <p:cNvPicPr preferRelativeResize="0"/>
          <p:nvPr/>
        </p:nvPicPr>
        <p:blipFill rotWithShape="1">
          <a:blip r:embed="rId5">
            <a:alphaModFix/>
          </a:blip>
          <a:srcRect b="0" l="0" r="0" t="0"/>
          <a:stretch/>
        </p:blipFill>
        <p:spPr>
          <a:xfrm>
            <a:off x="4584612" y="1506723"/>
            <a:ext cx="3258812" cy="220835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Maslowljeva hijerarhija motiva</a:t>
            </a:r>
            <a:endParaRPr/>
          </a:p>
        </p:txBody>
      </p:sp>
      <p:sp>
        <p:nvSpPr>
          <p:cNvPr id="321" name="Google Shape;32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Što bi bila potreba za </a:t>
            </a:r>
            <a:endParaRPr/>
          </a:p>
          <a:p>
            <a:pPr indent="-342900" lvl="0" marL="342900" rtl="0" algn="l">
              <a:spcBef>
                <a:spcPts val="640"/>
              </a:spcBef>
              <a:spcAft>
                <a:spcPts val="0"/>
              </a:spcAft>
              <a:buClr>
                <a:schemeClr val="dk1"/>
              </a:buClr>
              <a:buSzPts val="3200"/>
              <a:buNone/>
            </a:pPr>
            <a:r>
              <a:rPr lang="en-US"/>
              <a:t>    poštovanjem? </a:t>
            </a:r>
            <a:endParaRPr/>
          </a:p>
          <a:p>
            <a:pPr indent="-139700" lvl="0" marL="342900" rtl="0" algn="l">
              <a:spcBef>
                <a:spcPts val="640"/>
              </a:spcBef>
              <a:spcAft>
                <a:spcPts val="0"/>
              </a:spcAft>
              <a:buClr>
                <a:schemeClr val="dk1"/>
              </a:buClr>
              <a:buSzPts val="3200"/>
              <a:buNone/>
            </a:pPr>
            <a:r>
              <a:t/>
            </a:r>
            <a:endParaRPr/>
          </a:p>
        </p:txBody>
      </p:sp>
      <p:pic>
        <p:nvPicPr>
          <p:cNvPr descr="MH900439328.JPG" id="322" name="Google Shape;322;p26"/>
          <p:cNvPicPr preferRelativeResize="0"/>
          <p:nvPr/>
        </p:nvPicPr>
        <p:blipFill rotWithShape="1">
          <a:blip r:embed="rId3">
            <a:alphaModFix/>
          </a:blip>
          <a:srcRect b="0" l="0" r="0" t="0"/>
          <a:stretch/>
        </p:blipFill>
        <p:spPr>
          <a:xfrm>
            <a:off x="1871067" y="2996383"/>
            <a:ext cx="3095625" cy="3095625"/>
          </a:xfrm>
          <a:prstGeom prst="rect">
            <a:avLst/>
          </a:prstGeom>
          <a:noFill/>
          <a:ln>
            <a:noFill/>
          </a:ln>
        </p:spPr>
      </p:pic>
      <p:pic>
        <p:nvPicPr>
          <p:cNvPr descr="side_oscar.jpg" id="323" name="Google Shape;323;p26"/>
          <p:cNvPicPr preferRelativeResize="0"/>
          <p:nvPr/>
        </p:nvPicPr>
        <p:blipFill rotWithShape="1">
          <a:blip r:embed="rId4">
            <a:alphaModFix/>
          </a:blip>
          <a:srcRect b="0" l="0" r="0" t="0"/>
          <a:stretch/>
        </p:blipFill>
        <p:spPr>
          <a:xfrm>
            <a:off x="5436096" y="1412776"/>
            <a:ext cx="2781300" cy="5041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Maslowljeva hijerarhija motiva</a:t>
            </a:r>
            <a:endParaRPr/>
          </a:p>
        </p:txBody>
      </p:sp>
      <p:sp>
        <p:nvSpPr>
          <p:cNvPr id="330" name="Google Shape;330;p27"/>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Što mislite, što je samoaktualizacija? </a:t>
            </a:r>
            <a:endParaRPr/>
          </a:p>
          <a:p>
            <a:pPr indent="-342900" lvl="0" marL="342900" rtl="0" algn="l">
              <a:spcBef>
                <a:spcPts val="640"/>
              </a:spcBef>
              <a:spcAft>
                <a:spcPts val="0"/>
              </a:spcAft>
              <a:buClr>
                <a:schemeClr val="dk1"/>
              </a:buClr>
              <a:buSzPts val="3200"/>
              <a:buChar char="•"/>
            </a:pPr>
            <a:r>
              <a:rPr lang="en-US"/>
              <a:t>Tko je po vama samoaktualiziran? </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Znate li neku osobu u svojoj okolini koju biste mogli nazvati samoaktualiziranom? </a:t>
            </a:r>
            <a:endParaRPr/>
          </a:p>
          <a:p>
            <a:pPr indent="-139700" lvl="0" marL="342900" rtl="0" algn="l">
              <a:spcBef>
                <a:spcPts val="640"/>
              </a:spcBef>
              <a:spcAft>
                <a:spcPts val="0"/>
              </a:spcAft>
              <a:buClr>
                <a:schemeClr val="dk1"/>
              </a:buClr>
              <a:buSzPts val="3200"/>
              <a:buNone/>
            </a:pPr>
            <a:r>
              <a:t/>
            </a:r>
            <a:endParaRPr/>
          </a:p>
        </p:txBody>
      </p:sp>
      <p:pic>
        <p:nvPicPr>
          <p:cNvPr descr="selfactualization.jpg" id="331" name="Google Shape;331;p27"/>
          <p:cNvPicPr preferRelativeResize="0"/>
          <p:nvPr/>
        </p:nvPicPr>
        <p:blipFill rotWithShape="1">
          <a:blip r:embed="rId3">
            <a:alphaModFix/>
          </a:blip>
          <a:srcRect b="0" l="0" r="0" t="0"/>
          <a:stretch/>
        </p:blipFill>
        <p:spPr>
          <a:xfrm>
            <a:off x="2411760" y="4077072"/>
            <a:ext cx="4048125" cy="2686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2b224401cb4_1_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Sukob motiva</a:t>
            </a:r>
            <a:endParaRPr b="1"/>
          </a:p>
        </p:txBody>
      </p:sp>
      <p:sp>
        <p:nvSpPr>
          <p:cNvPr id="337" name="Google Shape;337;g2b224401cb4_1_5"/>
          <p:cNvSpPr txBox="1"/>
          <p:nvPr>
            <p:ph idx="1" type="body"/>
          </p:nvPr>
        </p:nvSpPr>
        <p:spPr>
          <a:xfrm>
            <a:off x="457200" y="1600200"/>
            <a:ext cx="4330800" cy="50691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Što se događa kada imamo više potreba odjednom ili imamo više želja u istom trenu?</a:t>
            </a:r>
            <a:endParaRPr/>
          </a:p>
          <a:p>
            <a:pPr indent="-190500" lvl="0" marL="342900" rtl="0" algn="l">
              <a:lnSpc>
                <a:spcPct val="90000"/>
              </a:lnSpc>
              <a:spcBef>
                <a:spcPts val="480"/>
              </a:spcBef>
              <a:spcAft>
                <a:spcPts val="0"/>
              </a:spcAft>
              <a:buClr>
                <a:schemeClr val="dk1"/>
              </a:buClr>
              <a:buSzPts val="2400"/>
              <a:buNone/>
            </a:pPr>
            <a:r>
              <a:t/>
            </a:r>
            <a:endParaRPr sz="2400"/>
          </a:p>
          <a:p>
            <a:pPr indent="-285750" lvl="1" marL="742950" rtl="0" algn="l">
              <a:lnSpc>
                <a:spcPct val="90000"/>
              </a:lnSpc>
              <a:spcBef>
                <a:spcPts val="480"/>
              </a:spcBef>
              <a:spcAft>
                <a:spcPts val="0"/>
              </a:spcAft>
              <a:buClr>
                <a:schemeClr val="dk1"/>
              </a:buClr>
              <a:buSzPts val="2400"/>
              <a:buChar char="–"/>
            </a:pPr>
            <a:r>
              <a:rPr b="1" lang="en-US"/>
              <a:t>Konflikt (sukob) motiva nastaje kada imamo dva ili više motiva koje ne možemo uskladiti ili istodobno zadovoljiti</a:t>
            </a:r>
            <a:endParaRPr/>
          </a:p>
          <a:p>
            <a:pPr indent="-133350" lvl="1" marL="742950" rtl="0" algn="l">
              <a:lnSpc>
                <a:spcPct val="90000"/>
              </a:lnSpc>
              <a:spcBef>
                <a:spcPts val="480"/>
              </a:spcBef>
              <a:spcAft>
                <a:spcPts val="0"/>
              </a:spcAft>
              <a:buClr>
                <a:schemeClr val="dk1"/>
              </a:buClr>
              <a:buSzPts val="2400"/>
              <a:buNone/>
            </a:pPr>
            <a:r>
              <a:t/>
            </a:r>
            <a:endParaRPr/>
          </a:p>
          <a:p>
            <a:pPr indent="-285750" lvl="1" marL="742950" rtl="0" algn="l">
              <a:lnSpc>
                <a:spcPct val="90000"/>
              </a:lnSpc>
              <a:spcBef>
                <a:spcPts val="480"/>
              </a:spcBef>
              <a:spcAft>
                <a:spcPts val="0"/>
              </a:spcAft>
              <a:buClr>
                <a:schemeClr val="dk1"/>
              </a:buClr>
              <a:buSzPts val="2400"/>
              <a:buChar char="–"/>
            </a:pPr>
            <a:r>
              <a:rPr lang="en-US"/>
              <a:t>Neugodno stanje, izvor frustracije  </a:t>
            </a:r>
            <a:endParaRPr/>
          </a:p>
          <a:p>
            <a:pPr indent="-190500" lvl="0" marL="342900" rtl="0" algn="l">
              <a:lnSpc>
                <a:spcPct val="90000"/>
              </a:lnSpc>
              <a:spcBef>
                <a:spcPts val="480"/>
              </a:spcBef>
              <a:spcAft>
                <a:spcPts val="0"/>
              </a:spcAft>
              <a:buClr>
                <a:schemeClr val="dk1"/>
              </a:buClr>
              <a:buSzPts val="2400"/>
              <a:buNone/>
            </a:pPr>
            <a:r>
              <a:t/>
            </a:r>
            <a:endParaRPr sz="2400"/>
          </a:p>
        </p:txBody>
      </p:sp>
      <p:pic>
        <p:nvPicPr>
          <p:cNvPr descr="freedom – Salty Melons" id="338" name="Google Shape;338;g2b224401cb4_1_5"/>
          <p:cNvPicPr preferRelativeResize="0"/>
          <p:nvPr/>
        </p:nvPicPr>
        <p:blipFill rotWithShape="1">
          <a:blip r:embed="rId3">
            <a:alphaModFix/>
          </a:blip>
          <a:srcRect b="0" l="0" r="0" t="0"/>
          <a:stretch/>
        </p:blipFill>
        <p:spPr>
          <a:xfrm>
            <a:off x="4932040" y="2732373"/>
            <a:ext cx="4038600" cy="2261616"/>
          </a:xfrm>
          <a:prstGeom prst="rect">
            <a:avLst/>
          </a:prstGeom>
          <a:solidFill>
            <a:srgbClr val="FFFFFF"/>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2b224401cb4_1_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Sukob motiva</a:t>
            </a:r>
            <a:endParaRPr/>
          </a:p>
        </p:txBody>
      </p:sp>
      <p:sp>
        <p:nvSpPr>
          <p:cNvPr id="345" name="Google Shape;345;g2b224401cb4_1_11"/>
          <p:cNvSpPr txBox="1"/>
          <p:nvPr>
            <p:ph idx="1" type="body"/>
          </p:nvPr>
        </p:nvSpPr>
        <p:spPr>
          <a:xfrm>
            <a:off x="457200" y="1340768"/>
            <a:ext cx="8229600" cy="47853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chemeClr val="dk1"/>
              </a:buClr>
              <a:buSzPts val="2800"/>
              <a:buAutoNum type="arabicPeriod"/>
            </a:pPr>
            <a:r>
              <a:rPr lang="en-US" sz="2800"/>
              <a:t>Sukob višestrukog privlačenja – </a:t>
            </a:r>
            <a:r>
              <a:rPr b="1" lang="en-US" sz="2800"/>
              <a:t>slatke muke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grpSp>
        <p:nvGrpSpPr>
          <p:cNvPr id="346" name="Google Shape;346;g2b224401cb4_1_11"/>
          <p:cNvGrpSpPr/>
          <p:nvPr/>
        </p:nvGrpSpPr>
        <p:grpSpPr>
          <a:xfrm>
            <a:off x="439440" y="2514562"/>
            <a:ext cx="8358070" cy="3465491"/>
            <a:chOff x="1367644" y="4118916"/>
            <a:chExt cx="5601173" cy="2512500"/>
          </a:xfrm>
        </p:grpSpPr>
        <p:pic>
          <p:nvPicPr>
            <p:cNvPr id="347" name="Google Shape;347;g2b224401cb4_1_11"/>
            <p:cNvPicPr preferRelativeResize="0"/>
            <p:nvPr/>
          </p:nvPicPr>
          <p:blipFill rotWithShape="1">
            <a:blip r:embed="rId3">
              <a:alphaModFix/>
            </a:blip>
            <a:srcRect b="0" l="0" r="0" t="0"/>
            <a:stretch/>
          </p:blipFill>
          <p:spPr>
            <a:xfrm>
              <a:off x="1367644" y="4149080"/>
              <a:ext cx="1656184" cy="2482336"/>
            </a:xfrm>
            <a:prstGeom prst="rect">
              <a:avLst/>
            </a:prstGeom>
            <a:noFill/>
            <a:ln>
              <a:noFill/>
            </a:ln>
          </p:spPr>
        </p:pic>
        <p:pic>
          <p:nvPicPr>
            <p:cNvPr id="348" name="Google Shape;348;g2b224401cb4_1_11"/>
            <p:cNvPicPr preferRelativeResize="0"/>
            <p:nvPr/>
          </p:nvPicPr>
          <p:blipFill rotWithShape="1">
            <a:blip r:embed="rId4">
              <a:alphaModFix/>
            </a:blip>
            <a:srcRect b="0" l="0" r="0" t="0"/>
            <a:stretch/>
          </p:blipFill>
          <p:spPr>
            <a:xfrm>
              <a:off x="5364088" y="4118916"/>
              <a:ext cx="1604729" cy="2407093"/>
            </a:xfrm>
            <a:prstGeom prst="rect">
              <a:avLst/>
            </a:prstGeom>
            <a:noFill/>
            <a:ln>
              <a:noFill/>
            </a:ln>
          </p:spPr>
        </p:pic>
        <p:sp>
          <p:nvSpPr>
            <p:cNvPr id="349" name="Google Shape;349;g2b224401cb4_1_11"/>
            <p:cNvSpPr/>
            <p:nvPr/>
          </p:nvSpPr>
          <p:spPr>
            <a:xfrm>
              <a:off x="3275856" y="4905616"/>
              <a:ext cx="1944300" cy="755700"/>
            </a:xfrm>
            <a:prstGeom prst="leftRightArrow">
              <a:avLst>
                <a:gd fmla="val 50000" name="adj1"/>
                <a:gd fmla="val 50000" name="adj2"/>
              </a:avLst>
            </a:prstGeom>
            <a:solidFill>
              <a:schemeClr val="accent4"/>
            </a:solidFill>
            <a:ln cap="flat" cmpd="sng" w="25400">
              <a:solidFill>
                <a:srgbClr val="5D48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2b224401cb4_1_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Sukob motiva</a:t>
            </a:r>
            <a:endParaRPr/>
          </a:p>
        </p:txBody>
      </p:sp>
      <p:sp>
        <p:nvSpPr>
          <p:cNvPr id="356" name="Google Shape;356;g2b224401cb4_1_21"/>
          <p:cNvSpPr txBox="1"/>
          <p:nvPr>
            <p:ph idx="1" type="body"/>
          </p:nvPr>
        </p:nvSpPr>
        <p:spPr>
          <a:xfrm>
            <a:off x="457200" y="1600200"/>
            <a:ext cx="8229600" cy="4997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latin typeface="Calibri"/>
                <a:ea typeface="Calibri"/>
                <a:cs typeface="Calibri"/>
                <a:sym typeface="Calibri"/>
              </a:rPr>
              <a:t>2. Sukob višestrukog odbijanja: </a:t>
            </a:r>
            <a:endParaRPr>
              <a:latin typeface="Calibri"/>
              <a:ea typeface="Calibri"/>
              <a:cs typeface="Calibri"/>
              <a:sym typeface="Calibri"/>
            </a:endParaRPr>
          </a:p>
          <a:p>
            <a:pPr indent="0" lvl="0" marL="0" rtl="0" algn="l">
              <a:spcBef>
                <a:spcPts val="640"/>
              </a:spcBef>
              <a:spcAft>
                <a:spcPts val="0"/>
              </a:spcAft>
              <a:buClr>
                <a:schemeClr val="dk1"/>
              </a:buClr>
              <a:buSzPts val="3200"/>
              <a:buNone/>
            </a:pPr>
            <a:r>
              <a:rPr lang="en-US">
                <a:latin typeface="Calibri"/>
                <a:ea typeface="Calibri"/>
                <a:cs typeface="Calibri"/>
                <a:sym typeface="Calibri"/>
              </a:rPr>
              <a:t>Pojedinac mora birati između dva ili više nepoželjna cilja – </a:t>
            </a:r>
            <a:r>
              <a:rPr b="1" lang="en-US">
                <a:latin typeface="Calibri"/>
                <a:ea typeface="Calibri"/>
                <a:cs typeface="Calibri"/>
                <a:sym typeface="Calibri"/>
              </a:rPr>
              <a:t>izbor između dva zla</a:t>
            </a:r>
            <a:endParaRPr b="1">
              <a:latin typeface="Calibri"/>
              <a:ea typeface="Calibri"/>
              <a:cs typeface="Calibri"/>
              <a:sym typeface="Calibri"/>
            </a:endParaRPr>
          </a:p>
        </p:txBody>
      </p:sp>
      <p:pic>
        <p:nvPicPr>
          <p:cNvPr id="357" name="Google Shape;357;g2b224401cb4_1_21"/>
          <p:cNvPicPr preferRelativeResize="0"/>
          <p:nvPr/>
        </p:nvPicPr>
        <p:blipFill rotWithShape="1">
          <a:blip r:embed="rId3">
            <a:alphaModFix/>
          </a:blip>
          <a:srcRect b="0" l="0" r="0" t="0"/>
          <a:stretch/>
        </p:blipFill>
        <p:spPr>
          <a:xfrm>
            <a:off x="5796136" y="3790156"/>
            <a:ext cx="2912002" cy="2057704"/>
          </a:xfrm>
          <a:prstGeom prst="rect">
            <a:avLst/>
          </a:prstGeom>
          <a:noFill/>
          <a:ln>
            <a:noFill/>
          </a:ln>
        </p:spPr>
      </p:pic>
      <p:sp>
        <p:nvSpPr>
          <p:cNvPr id="358" name="Google Shape;358;g2b224401cb4_1_21"/>
          <p:cNvSpPr/>
          <p:nvPr/>
        </p:nvSpPr>
        <p:spPr>
          <a:xfrm>
            <a:off x="3612222" y="4252198"/>
            <a:ext cx="1944300" cy="755700"/>
          </a:xfrm>
          <a:prstGeom prst="lef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Cramming, Just How Effective Is It? | SiOWfa15: Science in Our World:  Certainty and Controversy" id="359" name="Google Shape;359;g2b224401cb4_1_21"/>
          <p:cNvPicPr preferRelativeResize="0"/>
          <p:nvPr/>
        </p:nvPicPr>
        <p:blipFill rotWithShape="1">
          <a:blip r:embed="rId4">
            <a:alphaModFix/>
          </a:blip>
          <a:srcRect b="0" l="0" r="0" t="0"/>
          <a:stretch/>
        </p:blipFill>
        <p:spPr>
          <a:xfrm>
            <a:off x="323528" y="3755624"/>
            <a:ext cx="3144071" cy="20922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Sukob motiva</a:t>
            </a:r>
            <a:endParaRPr/>
          </a:p>
        </p:txBody>
      </p:sp>
      <p:sp>
        <p:nvSpPr>
          <p:cNvPr id="366" name="Google Shape;366;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3. Sukob istovremenog privlačenja i odbijanja </a:t>
            </a:r>
            <a:endParaRPr/>
          </a:p>
          <a:p>
            <a:pPr indent="-342900" lvl="0" marL="342900" rtl="0" algn="l">
              <a:spcBef>
                <a:spcPts val="640"/>
              </a:spcBef>
              <a:spcAft>
                <a:spcPts val="0"/>
              </a:spcAft>
              <a:buSzPts val="3200"/>
              <a:buChar char="•"/>
            </a:pPr>
            <a:r>
              <a:rPr b="1" lang="en-US"/>
              <a:t>Isti cilj </a:t>
            </a:r>
            <a:r>
              <a:rPr lang="en-US"/>
              <a:t>istovremeno i privlačan i odbojan</a:t>
            </a:r>
            <a:endParaRPr/>
          </a:p>
          <a:p>
            <a:pPr indent="-139700" lvl="0" marL="342900" rtl="0" algn="l">
              <a:spcBef>
                <a:spcPts val="640"/>
              </a:spcBef>
              <a:spcAft>
                <a:spcPts val="0"/>
              </a:spcAft>
              <a:buClr>
                <a:schemeClr val="dk1"/>
              </a:buClr>
              <a:buSzPts val="3200"/>
              <a:buNone/>
            </a:pPr>
            <a:r>
              <a:t/>
            </a:r>
            <a:endParaRPr/>
          </a:p>
        </p:txBody>
      </p:sp>
      <p:pic>
        <p:nvPicPr>
          <p:cNvPr id="367" name="Google Shape;367;p31"/>
          <p:cNvPicPr preferRelativeResize="0"/>
          <p:nvPr/>
        </p:nvPicPr>
        <p:blipFill rotWithShape="1">
          <a:blip r:embed="rId3">
            <a:alphaModFix/>
          </a:blip>
          <a:srcRect b="0" l="0" r="0" t="0"/>
          <a:stretch/>
        </p:blipFill>
        <p:spPr>
          <a:xfrm>
            <a:off x="0" y="2708920"/>
            <a:ext cx="4328350" cy="2880320"/>
          </a:xfrm>
          <a:prstGeom prst="rect">
            <a:avLst/>
          </a:prstGeom>
          <a:noFill/>
          <a:ln>
            <a:noFill/>
          </a:ln>
        </p:spPr>
      </p:pic>
      <p:pic>
        <p:nvPicPr>
          <p:cNvPr id="368" name="Google Shape;368;p31"/>
          <p:cNvPicPr preferRelativeResize="0"/>
          <p:nvPr/>
        </p:nvPicPr>
        <p:blipFill rotWithShape="1">
          <a:blip r:embed="rId4">
            <a:alphaModFix/>
          </a:blip>
          <a:srcRect b="0" l="0" r="8340" t="0"/>
          <a:stretch/>
        </p:blipFill>
        <p:spPr>
          <a:xfrm>
            <a:off x="4788013" y="2882920"/>
            <a:ext cx="4355976" cy="316835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2b224401cb4_1_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Sukob motiva</a:t>
            </a:r>
            <a:endParaRPr/>
          </a:p>
        </p:txBody>
      </p:sp>
      <p:sp>
        <p:nvSpPr>
          <p:cNvPr id="375" name="Google Shape;375;g2b224401cb4_1_4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600"/>
              <a:buNone/>
            </a:pPr>
            <a:r>
              <a:rPr lang="en-US" sz="3600"/>
              <a:t>4. Sukob višestrukog istovremenog privlačenja i odbijanja – </a:t>
            </a:r>
            <a:r>
              <a:rPr b="1" lang="en-US" sz="3600"/>
              <a:t>dva cilja</a:t>
            </a:r>
            <a:r>
              <a:rPr lang="en-US" sz="3600"/>
              <a:t>, svaki sa svojim prednostima i nedostatcima</a:t>
            </a:r>
            <a:endParaRPr sz="36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pic>
        <p:nvPicPr>
          <p:cNvPr id="376" name="Google Shape;376;g2b224401cb4_1_41"/>
          <p:cNvPicPr preferRelativeResize="0"/>
          <p:nvPr/>
        </p:nvPicPr>
        <p:blipFill>
          <a:blip r:embed="rId3">
            <a:alphaModFix/>
          </a:blip>
          <a:stretch>
            <a:fillRect/>
          </a:stretch>
        </p:blipFill>
        <p:spPr>
          <a:xfrm>
            <a:off x="358900" y="3897200"/>
            <a:ext cx="4369126" cy="2457631"/>
          </a:xfrm>
          <a:prstGeom prst="rect">
            <a:avLst/>
          </a:prstGeom>
          <a:noFill/>
          <a:ln>
            <a:noFill/>
          </a:ln>
        </p:spPr>
      </p:pic>
      <p:pic>
        <p:nvPicPr>
          <p:cNvPr id="377" name="Google Shape;377;g2b224401cb4_1_41"/>
          <p:cNvPicPr preferRelativeResize="0"/>
          <p:nvPr/>
        </p:nvPicPr>
        <p:blipFill>
          <a:blip r:embed="rId4">
            <a:alphaModFix/>
          </a:blip>
          <a:stretch>
            <a:fillRect/>
          </a:stretch>
        </p:blipFill>
        <p:spPr>
          <a:xfrm>
            <a:off x="5175800" y="3772950"/>
            <a:ext cx="3609301" cy="27061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2b224401cb4_1_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Zadatak</a:t>
            </a:r>
            <a:endParaRPr/>
          </a:p>
        </p:txBody>
      </p:sp>
      <p:sp>
        <p:nvSpPr>
          <p:cNvPr id="383" name="Google Shape;383;g2b224401cb4_1_4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Napišite po jedan primjer za svaki od sukoba motiva iz svog života.</a:t>
            </a:r>
            <a:endParaRPr/>
          </a:p>
          <a:p>
            <a:pPr indent="-139700" lvl="0" marL="342900" rtl="0" algn="l">
              <a:spcBef>
                <a:spcPts val="640"/>
              </a:spcBef>
              <a:spcAft>
                <a:spcPts val="0"/>
              </a:spcAft>
              <a:buClr>
                <a:schemeClr val="dk1"/>
              </a:buClr>
              <a:buSzPts val="3200"/>
              <a:buNone/>
            </a:pPr>
            <a:r>
              <a:t/>
            </a:r>
            <a:endParaRPr/>
          </a:p>
        </p:txBody>
      </p:sp>
      <p:pic>
        <p:nvPicPr>
          <p:cNvPr id="384" name="Google Shape;384;g2b224401cb4_1_49"/>
          <p:cNvPicPr preferRelativeResize="0"/>
          <p:nvPr/>
        </p:nvPicPr>
        <p:blipFill rotWithShape="1">
          <a:blip r:embed="rId3">
            <a:alphaModFix/>
          </a:blip>
          <a:srcRect b="19199" l="41339" r="1961" t="41601"/>
          <a:stretch/>
        </p:blipFill>
        <p:spPr>
          <a:xfrm>
            <a:off x="755576" y="2959944"/>
            <a:ext cx="8141707" cy="316622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Zadatak</a:t>
            </a:r>
            <a:endParaRPr/>
          </a:p>
        </p:txBody>
      </p:sp>
      <p:sp>
        <p:nvSpPr>
          <p:cNvPr id="390" name="Google Shape;390;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Suvremeni istraživači smatraju da ne postoji univerzalna podjela motiva koja vrijedi za sve, već postoje velike individualne razlike u tome na koji način pojedinci vrednuju svoje motive. Vaš zadatak jest da sami za sebe  navedene motive poredate po tome koliko su oni vama osobno važni. Drugi zadatak jest da navedene motive svrstate u Maslowljevih pet kategorija. </a:t>
            </a:r>
            <a:endParaRPr/>
          </a:p>
          <a:p>
            <a:pPr indent="-139700" lvl="0" marL="342900" rtl="0" algn="l">
              <a:spcBef>
                <a:spcPts val="640"/>
              </a:spcBef>
              <a:spcAft>
                <a:spcPts val="0"/>
              </a:spcAft>
              <a:buClr>
                <a:schemeClr val="dk1"/>
              </a:buClr>
              <a:buSzPts val="3200"/>
              <a:buNone/>
            </a:pPr>
            <a:r>
              <a:t/>
            </a:r>
            <a:endParaRPr/>
          </a:p>
        </p:txBody>
      </p:sp>
      <p:sp>
        <p:nvSpPr>
          <p:cNvPr id="391" name="Google Shape;391;p33"/>
          <p:cNvSpPr txBox="1"/>
          <p:nvPr/>
        </p:nvSpPr>
        <p:spPr>
          <a:xfrm>
            <a:off x="0" y="2897909"/>
            <a:ext cx="91440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Hvala na pažnji! </a:t>
            </a:r>
            <a:endParaRPr/>
          </a:p>
        </p:txBody>
      </p:sp>
      <p:pic>
        <p:nvPicPr>
          <p:cNvPr descr="QuoteMaslow.jpg" id="397" name="Google Shape;397;p35"/>
          <p:cNvPicPr preferRelativeResize="0"/>
          <p:nvPr>
            <p:ph idx="1" type="body"/>
          </p:nvPr>
        </p:nvPicPr>
        <p:blipFill rotWithShape="1">
          <a:blip r:embed="rId3">
            <a:alphaModFix/>
          </a:blip>
          <a:srcRect b="0" l="0" r="0" t="0"/>
          <a:stretch/>
        </p:blipFill>
        <p:spPr>
          <a:xfrm>
            <a:off x="539552" y="1484784"/>
            <a:ext cx="8133911" cy="47525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em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2013-02-04T20:17:19Z</dcterms:created>
  <dc:creator>Lejla</dc:creator>
</cp:coreProperties>
</file>