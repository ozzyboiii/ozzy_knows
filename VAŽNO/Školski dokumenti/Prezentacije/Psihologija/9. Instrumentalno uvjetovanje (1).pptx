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jm70PcctzVU3q3nz9cY+GxAjjW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customschemas.google.com/relationships/presentationmetadata" Target="metadata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a085de300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2a085de3006_0_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a085de3006_0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a085de300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2a085de3006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1" lang="en-US"/>
              <a:t>Povremeno potkrepljenje! – </a:t>
            </a:r>
            <a:r>
              <a:rPr lang="en-US"/>
              <a:t>dovodi do najjačeg učenja koje se najsporije gasi (npr. kockanje – kockari nekada dobiju pa se tim dulje nastavljaju kladiti iako kad se sve zbroji, puno novaca gube, toksične emotivne veze – ljudi u njima ostaju jer povremeno dobivaju ljubav i pažnju iako su dobar dio vremena nesretni...)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npr. korištenje kreme za sunčanje da ne bismo izgorili</a:t>
            </a:r>
            <a:endParaRPr/>
          </a:p>
        </p:txBody>
      </p:sp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a085de3006_0_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a085de3006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a085de3006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hyperlink" Target="https://www.youtube.com/watch?v=vGazyH6fQQ4&amp;t=11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teLoNYvOf90&amp;t=28s" TargetMode="External"/><Relationship Id="rId4" Type="http://schemas.openxmlformats.org/officeDocument/2006/relationships/hyperlink" Target="https://www.youtube.com/watch?v=teLoNYvOf90&amp;t=28s" TargetMode="External"/><Relationship Id="rId5" Type="http://schemas.openxmlformats.org/officeDocument/2006/relationships/hyperlink" Target="https://www.youtube.com/watch?v=H6LEcM0E0io" TargetMode="External"/><Relationship Id="rId6" Type="http://schemas.openxmlformats.org/officeDocument/2006/relationships/hyperlink" Target="https://www.youtube.com/watch?v=LhI5h5JZi-U&amp;t=29s" TargetMode="External"/><Relationship Id="rId7" Type="http://schemas.openxmlformats.org/officeDocument/2006/relationships/hyperlink" Target="https://www.youtube.com/watch?v=qG2SwE_6uVM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title"/>
          </p:nvPr>
        </p:nvSpPr>
        <p:spPr>
          <a:xfrm>
            <a:off x="722313" y="472514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/>
              <a:t>OPERANTNO – INSTRUMENTALNO UVJETOVANJE </a:t>
            </a:r>
            <a:endParaRPr/>
          </a:p>
        </p:txBody>
      </p:sp>
      <p:sp>
        <p:nvSpPr>
          <p:cNvPr id="101" name="Google Shape;101;p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descr="Image result for operant conditioning pigeon" id="102" name="Google Shape;10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1052736"/>
            <a:ext cx="4527795" cy="3307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urrhus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7761" r="12904" t="0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252663" y="321176"/>
            <a:ext cx="3249230" cy="5896743"/>
          </a:xfrm>
          <a:prstGeom prst="rect">
            <a:avLst/>
          </a:prstGeom>
          <a:solidFill>
            <a:schemeClr val="lt1">
              <a:alpha val="89803"/>
            </a:schemeClr>
          </a:solidFill>
          <a:ln cap="sq" cmpd="thinThick" w="127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>
            <p:ph type="title"/>
          </p:nvPr>
        </p:nvSpPr>
        <p:spPr>
          <a:xfrm>
            <a:off x="446103" y="640263"/>
            <a:ext cx="2819430" cy="1344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r>
              <a:rPr lang="en-US" sz="2500"/>
              <a:t>OPERANTNO – INSTRUMENTALNO UVJETOVANJE 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445582" y="2121763"/>
            <a:ext cx="2974290" cy="40959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Operantno</a:t>
            </a:r>
            <a:r>
              <a:rPr lang="en-US" sz="2000"/>
              <a:t> </a:t>
            </a:r>
            <a:r>
              <a:rPr b="1" lang="en-US" sz="2000"/>
              <a:t>uvjetovanje</a:t>
            </a:r>
            <a:r>
              <a:rPr lang="en-US" sz="2000"/>
              <a:t> – </a:t>
            </a:r>
            <a:r>
              <a:rPr b="1" lang="en-US" sz="2000"/>
              <a:t>proces </a:t>
            </a:r>
            <a:r>
              <a:rPr lang="en-US" sz="2000"/>
              <a:t>kojim učimo povezivati ponašanje s </a:t>
            </a:r>
            <a:r>
              <a:rPr b="1" lang="en-US" sz="2000"/>
              <a:t>posljedicama</a:t>
            </a:r>
            <a:r>
              <a:rPr lang="en-US" sz="2000"/>
              <a:t> koje ga prate i </a:t>
            </a:r>
            <a:r>
              <a:rPr b="1" lang="en-US" sz="2000"/>
              <a:t>mijenjati</a:t>
            </a:r>
            <a:r>
              <a:rPr lang="en-US" sz="2000"/>
              <a:t> </a:t>
            </a:r>
            <a:r>
              <a:rPr b="1" lang="en-US" sz="2000"/>
              <a:t>ga</a:t>
            </a:r>
            <a:r>
              <a:rPr lang="en-US" sz="2000"/>
              <a:t> s obzirom na njih 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Burrhus. F. Skinner – </a:t>
            </a:r>
            <a:r>
              <a:rPr lang="en-US" sz="2000"/>
              <a:t>tvorac teorije operantnog uvjetovanja - naučio golubove igrati stolni tenis i sl.</a:t>
            </a:r>
            <a:endParaRPr/>
          </a:p>
          <a:p>
            <a:pPr indent="-2413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/>
          </a:p>
        </p:txBody>
      </p:sp>
      <p:sp>
        <p:nvSpPr>
          <p:cNvPr id="112" name="Google Shape;112;p2"/>
          <p:cNvSpPr txBox="1"/>
          <p:nvPr/>
        </p:nvSpPr>
        <p:spPr>
          <a:xfrm>
            <a:off x="3986750" y="5705625"/>
            <a:ext cx="4709700" cy="51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https://www.youtube.com/watch?v=vGazyH6fQQ4&amp;t=11s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/>
              <a:t>OPERANTNO – INSTRUMENTALNO UVJETOVANJE </a:t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B.F. Skinner</a:t>
            </a:r>
            <a:r>
              <a:rPr lang="en-US"/>
              <a:t>: sva ponašanja se mogu analizirati po ABC modelu (antecedent, behaviour, consequence)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24800" l="11413" r="50786" t="45800"/>
          <a:stretch/>
        </p:blipFill>
        <p:spPr>
          <a:xfrm>
            <a:off x="683568" y="3387824"/>
            <a:ext cx="7374560" cy="3226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Operantno uvjetovanje - videi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Skinnerovi, Pavlovljevi i Watsonovi eksperimenti </a:t>
            </a:r>
            <a:r>
              <a:rPr lang="en-US"/>
              <a:t> - dodatni digitalni sadržaji u udžbeniku </a:t>
            </a:r>
            <a:endParaRPr b="1"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Primjeri (Big Bang Theory):</a:t>
            </a:r>
            <a:endParaRPr b="1" u="sng">
              <a:solidFill>
                <a:schemeClr val="hlink"/>
              </a:solidFill>
              <a:hlinkClick r:id="rId3"/>
            </a:endParaRPr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https://www.youtube.com/watch?v=teLoNYvOf90&amp;t=28s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https://www.youtube.com/watch?v=H6LEcM0E0io</a:t>
            </a:r>
            <a:r>
              <a:rPr lang="en-US"/>
              <a:t> 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Razlika operantnog i klasičnog uvjetovanja: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6"/>
              </a:rPr>
              <a:t>https://www.youtube.com/watch?v=LhI5h5JZi-U&amp;t=29s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u="sng">
                <a:solidFill>
                  <a:schemeClr val="hlink"/>
                </a:solidFill>
                <a:hlinkClick r:id="rId7"/>
              </a:rPr>
              <a:t>https://www.youtube.com/watch?v=qG2SwE_6uVM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>
            <p:ph idx="1" type="body"/>
          </p:nvPr>
        </p:nvSpPr>
        <p:spPr>
          <a:xfrm>
            <a:off x="3335481" y="591344"/>
            <a:ext cx="5179868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735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Char char="•"/>
            </a:pPr>
            <a:r>
              <a:rPr lang="en-US" sz="3900"/>
              <a:t>Koja je razlika između </a:t>
            </a:r>
            <a:r>
              <a:rPr b="1" lang="en-US" sz="3900"/>
              <a:t>klasičnog i operantnog uvjetovanja?</a:t>
            </a:r>
            <a:endParaRPr sz="3900"/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085de3006_0_2"/>
          <p:cNvSpPr/>
          <p:nvPr/>
        </p:nvSpPr>
        <p:spPr>
          <a:xfrm>
            <a:off x="2286" y="0"/>
            <a:ext cx="91416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2a085de3006_0_2"/>
          <p:cNvSpPr/>
          <p:nvPr/>
        </p:nvSpPr>
        <p:spPr>
          <a:xfrm>
            <a:off x="0" y="0"/>
            <a:ext cx="3125453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2a085de3006_0_2"/>
          <p:cNvSpPr txBox="1"/>
          <p:nvPr>
            <p:ph type="title"/>
          </p:nvPr>
        </p:nvSpPr>
        <p:spPr>
          <a:xfrm>
            <a:off x="515125" y="1153572"/>
            <a:ext cx="2400300" cy="44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</a:rPr>
              <a:t>Operantno (instrumentalno) uvjetovanje</a:t>
            </a:r>
            <a:endParaRPr b="1"/>
          </a:p>
        </p:txBody>
      </p:sp>
      <p:sp>
        <p:nvSpPr>
          <p:cNvPr id="141" name="Google Shape;141;g2a085de3006_0_2"/>
          <p:cNvSpPr/>
          <p:nvPr/>
        </p:nvSpPr>
        <p:spPr>
          <a:xfrm flipH="1" rot="10800000">
            <a:off x="5662801" y="2455612"/>
            <a:ext cx="3062700" cy="408330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2a085de3006_0_2"/>
          <p:cNvSpPr txBox="1"/>
          <p:nvPr>
            <p:ph idx="1" type="body"/>
          </p:nvPr>
        </p:nvSpPr>
        <p:spPr>
          <a:xfrm>
            <a:off x="3335481" y="591344"/>
            <a:ext cx="5179800" cy="55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Klasično uvjetovanje </a:t>
            </a:r>
            <a:r>
              <a:rPr lang="en-US"/>
              <a:t>– nemamo kontrolu, učimo refleksno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Operantno uvjetovanje </a:t>
            </a:r>
            <a:r>
              <a:rPr lang="en-US"/>
              <a:t>– aktivna uloga i odgovor samog pojedinca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Ponašanjima dolazimo do </a:t>
            </a:r>
            <a:r>
              <a:rPr b="1" lang="en-US"/>
              <a:t>potrepljenja</a:t>
            </a:r>
            <a:r>
              <a:rPr lang="en-US"/>
              <a:t> – </a:t>
            </a:r>
            <a:r>
              <a:rPr b="1" lang="en-US"/>
              <a:t>aktivni</a:t>
            </a:r>
            <a:r>
              <a:rPr lang="en-US"/>
              <a:t> smo – ponašanje je </a:t>
            </a:r>
            <a:r>
              <a:rPr b="1" lang="en-US"/>
              <a:t>instrument</a:t>
            </a:r>
            <a:r>
              <a:rPr lang="en-US"/>
              <a:t> dolaska do nečega što želimo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FFFFF"/>
                </a:solidFill>
              </a:rPr>
              <a:t>Operantno (instrumentalno) uvjetovanje</a:t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>
            <p:ph idx="1" type="body"/>
          </p:nvPr>
        </p:nvSpPr>
        <p:spPr>
          <a:xfrm>
            <a:off x="3275856" y="1153572"/>
            <a:ext cx="5179868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Potkrepljenje – sve ono što povećava vjerojatnost ponašanja</a:t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Može biti </a:t>
            </a:r>
            <a:r>
              <a:rPr b="1" lang="en-US"/>
              <a:t>pozitivno</a:t>
            </a:r>
            <a:r>
              <a:rPr lang="en-US"/>
              <a:t> i </a:t>
            </a:r>
            <a:r>
              <a:rPr b="1" lang="en-US"/>
              <a:t>negativno</a:t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Nije isto što i </a:t>
            </a:r>
            <a:r>
              <a:rPr b="1" lang="en-US"/>
              <a:t>kazna</a:t>
            </a:r>
            <a:r>
              <a:rPr lang="en-US"/>
              <a:t> – kazna </a:t>
            </a:r>
            <a:r>
              <a:rPr b="1" lang="en-US"/>
              <a:t>smanjuje</a:t>
            </a:r>
            <a:r>
              <a:rPr lang="en-US"/>
              <a:t> vjerojatnost ponašanja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Operantno (instrumentalno) uvjetovanje</a:t>
            </a:r>
            <a:endParaRPr/>
          </a:p>
        </p:txBody>
      </p:sp>
      <p:sp>
        <p:nvSpPr>
          <p:cNvPr id="157" name="Google Shape;15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Vrste potkrepljivača: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Primarni – biološki uvjetovani (glad, bol, pažnja, mažnja...)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Sekundarni  - povezani s primarnima kroz učenje (novac, pohvala, ocjene, priznanja...)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Važno birati </a:t>
            </a:r>
            <a:r>
              <a:rPr b="1" lang="en-US"/>
              <a:t>relevantne </a:t>
            </a:r>
            <a:r>
              <a:rPr lang="en-US"/>
              <a:t>potkrepljivače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pic>
        <p:nvPicPr>
          <p:cNvPr descr="https://www.verywellmind.com/thmb/0yXELDjwA_GZL4qVDxK0r7rSV8g=/768x0/filters:no_upscale():max_bytes(150000):strip_icc()/what-is-positive-reinforcement-2795412-5b4e2ffec9e77c003ec7cc63.png" id="158" name="Google Shape;15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664" y="4951180"/>
            <a:ext cx="2448272" cy="16321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izes – EUCYS 2019" id="159" name="Google Shape;15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9992" y="4800868"/>
            <a:ext cx="1932806" cy="19328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ize PNG Images | Vector and PSD Files | Free Download on Pngtree" id="160" name="Google Shape;16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8224" y="4951180"/>
            <a:ext cx="1758906" cy="1758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Operantno (instrumentalno) uvjetovanje – </a:t>
            </a:r>
            <a:r>
              <a:rPr b="1" lang="en-US"/>
              <a:t>vrste potkrepljenja</a:t>
            </a:r>
            <a:endParaRPr b="1"/>
          </a:p>
        </p:txBody>
      </p:sp>
      <p:sp>
        <p:nvSpPr>
          <p:cNvPr id="166" name="Google Shape;166;p8"/>
          <p:cNvSpPr txBox="1"/>
          <p:nvPr>
            <p:ph idx="1" type="body"/>
          </p:nvPr>
        </p:nvSpPr>
        <p:spPr>
          <a:xfrm>
            <a:off x="683568" y="1918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Pozitivno</a:t>
            </a:r>
            <a:r>
              <a:rPr lang="en-US"/>
              <a:t>: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odmor, ocjene, druženje, novac, izlasci, odjeća, izleti, pohvala, pažnja...</a:t>
            </a:r>
            <a:endParaRPr/>
          </a:p>
        </p:txBody>
      </p:sp>
      <p:sp>
        <p:nvSpPr>
          <p:cNvPr id="167" name="Google Shape;167;p8"/>
          <p:cNvSpPr txBox="1"/>
          <p:nvPr>
            <p:ph idx="2" type="body"/>
          </p:nvPr>
        </p:nvSpPr>
        <p:spPr>
          <a:xfrm>
            <a:off x="4860631" y="191683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Negativno</a:t>
            </a:r>
            <a:r>
              <a:rPr lang="en-US"/>
              <a:t>: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izbjeći kritiku, izbjeći neuspjeh, izbjeći bolest, izbjeći prljavštnu....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descr="Cracking The Intrinsic Motivation In The Workplace Code" id="168" name="Google Shape;16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7525" y="4128303"/>
            <a:ext cx="4682406" cy="2626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a085de3006_0_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Zadatak</a:t>
            </a:r>
            <a:endParaRPr b="1"/>
          </a:p>
        </p:txBody>
      </p:sp>
      <p:sp>
        <p:nvSpPr>
          <p:cNvPr id="175" name="Google Shape;175;g2a085de3006_0_12"/>
          <p:cNvSpPr txBox="1"/>
          <p:nvPr>
            <p:ph idx="1" type="body"/>
          </p:nvPr>
        </p:nvSpPr>
        <p:spPr>
          <a:xfrm>
            <a:off x="457200" y="1501025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Smisli </a:t>
            </a:r>
            <a:r>
              <a:rPr b="1" lang="en-US"/>
              <a:t>dva</a:t>
            </a:r>
            <a:r>
              <a:rPr lang="en-US"/>
              <a:t> primjera operantnog uvjetovanja iz svakodnevnog života (dva primjera ponašanja koja su naučena operantnim uvjetovanjem) te ih zapiši u bilježnicu. 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g2a085de3006_0_12"/>
          <p:cNvPicPr preferRelativeResize="0"/>
          <p:nvPr/>
        </p:nvPicPr>
        <p:blipFill rotWithShape="1">
          <a:blip r:embed="rId3">
            <a:alphaModFix/>
          </a:blip>
          <a:srcRect b="0" l="0" r="0" t="15368"/>
          <a:stretch/>
        </p:blipFill>
        <p:spPr>
          <a:xfrm>
            <a:off x="4221923" y="3429000"/>
            <a:ext cx="4705753" cy="31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7656521" y="1"/>
            <a:ext cx="851299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Operantno (instrumentalno) uvjetovanje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 flipH="1" rot="-5400000">
            <a:off x="-93647" y="2693652"/>
            <a:ext cx="4083433" cy="3062575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Operantno uvjetovanje u svakodnevnom životu? – primjeri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Povremeno potkrepljenje! – </a:t>
            </a:r>
            <a:r>
              <a:rPr lang="en-US"/>
              <a:t>dovodi do najjačeg učenja koje se najsporije gasi (npr. kockanje, toksične emotivne veze...)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Razlika potkrepljenja i </a:t>
            </a:r>
            <a:r>
              <a:rPr b="1" lang="en-US"/>
              <a:t>kazne</a:t>
            </a:r>
            <a:endParaRPr b="1"/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3">
            <a:alphaModFix/>
          </a:blip>
          <a:srcRect b="6451" l="2359" r="4383" t="4935"/>
          <a:stretch/>
        </p:blipFill>
        <p:spPr>
          <a:xfrm>
            <a:off x="1057988" y="969200"/>
            <a:ext cx="7028025" cy="574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"/>
          <p:cNvSpPr txBox="1"/>
          <p:nvPr>
            <p:ph type="title"/>
          </p:nvPr>
        </p:nvSpPr>
        <p:spPr>
          <a:xfrm>
            <a:off x="50487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Razlika </a:t>
            </a:r>
            <a:r>
              <a:rPr b="1" lang="en-US"/>
              <a:t>potkrepljenja</a:t>
            </a:r>
            <a:r>
              <a:rPr lang="en-US"/>
              <a:t> i kazne</a:t>
            </a:r>
            <a:endParaRPr/>
          </a:p>
        </p:txBody>
      </p:sp>
      <p:sp>
        <p:nvSpPr>
          <p:cNvPr id="198" name="Google Shape;198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https://psychestudy.b-cdn.net/wp-content/uploads/2017/11/positive-negative-reinforcement.png" id="199" name="Google Shape;19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82837"/>
            <a:ext cx="8229601" cy="5760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>
            <p:ph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Razlika potkrepljenja i kazne</a:t>
            </a:r>
            <a:endParaRPr/>
          </a:p>
        </p:txBody>
      </p:sp>
      <p:pic>
        <p:nvPicPr>
          <p:cNvPr descr="https://www.verywellmind.com/thmb/TFKWGVOyt2IZ_JYW441g3OUnCkY=/1500x1000/filters:no_upscale():max_bytes(150000):strip_icc()/what-is-negative-reinforcement-2795410-v1-5c12bd6146e0fb0001270b53.png" id="205" name="Google Shape;205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950" y="1019275"/>
            <a:ext cx="7640100" cy="50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2"/>
          <p:cNvSpPr txBox="1"/>
          <p:nvPr/>
        </p:nvSpPr>
        <p:spPr>
          <a:xfrm>
            <a:off x="457200" y="5645150"/>
            <a:ext cx="8018700" cy="5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Negativno potkrepljenje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pozitivan (željeni) ishod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Kazna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negativan (neželjeni) ishod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a085de3006_0_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Zadaci</a:t>
            </a:r>
            <a:endParaRPr b="1"/>
          </a:p>
        </p:txBody>
      </p:sp>
      <p:sp>
        <p:nvSpPr>
          <p:cNvPr id="213" name="Google Shape;213;g2a085de3006_0_27"/>
          <p:cNvSpPr txBox="1"/>
          <p:nvPr>
            <p:ph idx="1" type="body"/>
          </p:nvPr>
        </p:nvSpPr>
        <p:spPr>
          <a:xfrm>
            <a:off x="457200" y="1388850"/>
            <a:ext cx="8229600" cy="408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1. Navedi jedan primjer za </a:t>
            </a:r>
            <a:r>
              <a:rPr b="1" lang="en-US"/>
              <a:t>pozitivno </a:t>
            </a:r>
            <a:r>
              <a:rPr lang="en-US"/>
              <a:t>i jedan primjer za </a:t>
            </a:r>
            <a:r>
              <a:rPr b="1" lang="en-US"/>
              <a:t>negativno potkrepljenje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2. Koja je razlika između </a:t>
            </a:r>
            <a:r>
              <a:rPr b="1" lang="en-US"/>
              <a:t>potkrepljenja</a:t>
            </a:r>
            <a:r>
              <a:rPr lang="en-US"/>
              <a:t> i </a:t>
            </a:r>
            <a:r>
              <a:rPr b="1" lang="en-US"/>
              <a:t>kazne</a:t>
            </a:r>
            <a:r>
              <a:rPr lang="en-US"/>
              <a:t>?</a:t>
            </a:r>
            <a:endParaRPr/>
          </a:p>
        </p:txBody>
      </p:sp>
      <p:pic>
        <p:nvPicPr>
          <p:cNvPr id="214" name="Google Shape;214;g2a085de3006_0_27"/>
          <p:cNvPicPr preferRelativeResize="0"/>
          <p:nvPr/>
        </p:nvPicPr>
        <p:blipFill rotWithShape="1">
          <a:blip r:embed="rId3">
            <a:alphaModFix/>
          </a:blip>
          <a:srcRect b="22276" l="5775" r="2262" t="28142"/>
          <a:stretch/>
        </p:blipFill>
        <p:spPr>
          <a:xfrm>
            <a:off x="739099" y="4314701"/>
            <a:ext cx="7665802" cy="232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1414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www.verywellmind.com/thmb/Ha0KLGZjKEOb7aORemAmH_WtLtY=/1500x1000/filters:no_upscale():max_bytes(150000):strip_icc()/learning-study-guide-2795698_FINAL-5bec544ac9e77c005185519d.png" id="219" name="Google Shape;219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" l="2699" r="4391" t="0"/>
          <a:stretch/>
        </p:blipFill>
        <p:spPr>
          <a:xfrm>
            <a:off x="241299" y="321733"/>
            <a:ext cx="8661401" cy="6214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Hvala na pažnji☺ </a:t>
            </a:r>
            <a:endParaRPr/>
          </a:p>
        </p:txBody>
      </p:sp>
      <p:pic>
        <p:nvPicPr>
          <p:cNvPr descr="tumblr_lwyx66YEdb1qgss4to1_500.jpg" id="225" name="Google Shape;225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1772816"/>
            <a:ext cx="6120680" cy="4064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2020-12-22T12:04:02Z</dcterms:created>
  <dc:creator>Lejla Talić</dc:creator>
</cp:coreProperties>
</file>