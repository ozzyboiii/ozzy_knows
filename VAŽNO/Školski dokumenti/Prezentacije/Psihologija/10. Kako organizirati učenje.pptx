
<file path=[Content_Types].xml><?xml version="1.0" encoding="utf-8"?>
<Types xmlns="http://schemas.openxmlformats.org/package/2006/content-types"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2" roundtripDataSignature="AMtx7mjaWQaHnWC05hGs3mmDWQ/eNiCrp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4" Type="http://schemas.openxmlformats.org/officeDocument/2006/relationships/slide" Target="slides/slide3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6" name="Google Shape;86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9" name="Google Shape;99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6" name="Google Shape;106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3" name="Google Shape;113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2940e17914e_1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0" name="Google Shape;120;g2940e17914e_1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1" name="Google Shape;121;g2940e17914e_1_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7" name="Google Shape;127;p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3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53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5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5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5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2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2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55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5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56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56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56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56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5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5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5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5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5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5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5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5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5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5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5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5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5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5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5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5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6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6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6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6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6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6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6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6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6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6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6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6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6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6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6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6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5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32"/>
          <p:cNvSpPr/>
          <p:nvPr/>
        </p:nvSpPr>
        <p:spPr>
          <a:xfrm>
            <a:off x="0" y="0"/>
            <a:ext cx="9143771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32"/>
          <p:cNvSpPr txBox="1">
            <a:spLocks noGrp="1"/>
          </p:cNvSpPr>
          <p:nvPr>
            <p:ph type="title"/>
          </p:nvPr>
        </p:nvSpPr>
        <p:spPr>
          <a:xfrm>
            <a:off x="603504" y="5116529"/>
            <a:ext cx="7944130" cy="10006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bri"/>
              <a:buNone/>
            </a:pPr>
            <a:r>
              <a:rPr lang="en-US" sz="3500">
                <a:solidFill>
                  <a:schemeClr val="dk2"/>
                </a:solidFill>
              </a:rPr>
              <a:t>KAKO ORGANIZIRATI UČENJE</a:t>
            </a:r>
            <a:endParaRPr/>
          </a:p>
        </p:txBody>
      </p:sp>
      <p:grpSp>
        <p:nvGrpSpPr>
          <p:cNvPr id="90" name="Google Shape;90;p32"/>
          <p:cNvGrpSpPr/>
          <p:nvPr/>
        </p:nvGrpSpPr>
        <p:grpSpPr>
          <a:xfrm>
            <a:off x="0" y="2941813"/>
            <a:ext cx="9141713" cy="1828800"/>
            <a:chOff x="-305" y="3144820"/>
            <a:chExt cx="9182100" cy="1551136"/>
          </a:xfrm>
        </p:grpSpPr>
        <p:sp>
          <p:nvSpPr>
            <p:cNvPr id="91" name="Google Shape;91;p32"/>
            <p:cNvSpPr/>
            <p:nvPr/>
          </p:nvSpPr>
          <p:spPr>
            <a:xfrm>
              <a:off x="-305" y="3676854"/>
              <a:ext cx="9182100" cy="1019102"/>
            </a:xfrm>
            <a:custGeom>
              <a:avLst/>
              <a:gdLst/>
              <a:ahLst/>
              <a:cxnLst/>
              <a:rect l="l" t="t" r="r" b="b"/>
              <a:pathLst>
                <a:path w="9182100" h="1019102" extrusionOk="0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" name="Google Shape;92;p32"/>
            <p:cNvSpPr/>
            <p:nvPr/>
          </p:nvSpPr>
          <p:spPr>
            <a:xfrm>
              <a:off x="-305" y="3144820"/>
              <a:ext cx="9182100" cy="932744"/>
            </a:xfrm>
            <a:custGeom>
              <a:avLst/>
              <a:gdLst/>
              <a:ahLst/>
              <a:cxnLst/>
              <a:rect l="l" t="t" r="r" b="b"/>
              <a:pathLst>
                <a:path w="9182100" h="932744" extrusionOk="0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lt1">
                <a:alpha val="2862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" name="Google Shape;93;p32"/>
            <p:cNvSpPr/>
            <p:nvPr/>
          </p:nvSpPr>
          <p:spPr>
            <a:xfrm>
              <a:off x="-305" y="3580789"/>
              <a:ext cx="9182100" cy="544245"/>
            </a:xfrm>
            <a:custGeom>
              <a:avLst/>
              <a:gdLst/>
              <a:ahLst/>
              <a:cxnLst/>
              <a:rect l="l" t="t" r="r" b="b"/>
              <a:pathLst>
                <a:path w="9182100" h="544245" extrusionOk="0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lt1">
                <a:alpha val="2862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" name="Google Shape;94;p32"/>
            <p:cNvSpPr/>
            <p:nvPr/>
          </p:nvSpPr>
          <p:spPr>
            <a:xfrm>
              <a:off x="-305" y="3324550"/>
              <a:ext cx="9182100" cy="765639"/>
            </a:xfrm>
            <a:custGeom>
              <a:avLst/>
              <a:gdLst/>
              <a:ahLst/>
              <a:cxnLst/>
              <a:rect l="l" t="t" r="r" b="b"/>
              <a:pathLst>
                <a:path w="9182100" h="765639" extrusionOk="0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lt1">
                <a:alpha val="2862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5" name="Google Shape;95;p32"/>
          <p:cNvSpPr txBox="1">
            <a:spLocks noGrp="1"/>
          </p:cNvSpPr>
          <p:nvPr>
            <p:ph type="body" idx="1"/>
          </p:nvPr>
        </p:nvSpPr>
        <p:spPr>
          <a:xfrm>
            <a:off x="603504" y="4580785"/>
            <a:ext cx="7062673" cy="484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700"/>
              <a:buNone/>
            </a:pPr>
            <a:endParaRPr sz="1700">
              <a:solidFill>
                <a:schemeClr val="dk2"/>
              </a:solidFill>
            </a:endParaRPr>
          </a:p>
        </p:txBody>
      </p:sp>
      <p:pic>
        <p:nvPicPr>
          <p:cNvPr id="96" name="Google Shape;96;p32"/>
          <p:cNvPicPr preferRelativeResize="0"/>
          <p:nvPr/>
        </p:nvPicPr>
        <p:blipFill rotWithShape="1">
          <a:blip r:embed="rId3">
            <a:alphaModFix/>
          </a:blip>
          <a:srcRect b="25434"/>
          <a:stretch/>
        </p:blipFill>
        <p:spPr>
          <a:xfrm>
            <a:off x="475450" y="631750"/>
            <a:ext cx="8435500" cy="4367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Pamćenje</a:t>
            </a:r>
            <a:endParaRPr/>
          </a:p>
        </p:txBody>
      </p:sp>
      <p:sp>
        <p:nvSpPr>
          <p:cNvPr id="102" name="Google Shape;102;p33"/>
          <p:cNvSpPr txBox="1">
            <a:spLocks noGrp="1"/>
          </p:cNvSpPr>
          <p:nvPr>
            <p:ph type="body" idx="1"/>
          </p:nvPr>
        </p:nvSpPr>
        <p:spPr>
          <a:xfrm>
            <a:off x="457200" y="12954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Kako si pomoći? 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Učenje treba </a:t>
            </a:r>
            <a:r>
              <a:rPr lang="en-US" b="1"/>
              <a:t>rasporediti u vremenu </a:t>
            </a:r>
            <a:r>
              <a:rPr lang="en-US"/>
              <a:t>(kako bi se izbjegla interferencija);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Sličnu građu koja dopušta pozitivan transfer </a:t>
            </a:r>
            <a:r>
              <a:rPr lang="en-US" b="1"/>
              <a:t>treba grupirati;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Gradivo koje želimo zadržati dobro zapamćenim na duži rok, treba </a:t>
            </a:r>
            <a:r>
              <a:rPr lang="en-US" b="1"/>
              <a:t>prenaučiti</a:t>
            </a:r>
            <a:r>
              <a:rPr lang="en-US"/>
              <a:t>;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Ne učiti slično gradivo jedno za drugim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b="1"/>
              <a:t>Organizirati gradivo </a:t>
            </a:r>
            <a:r>
              <a:rPr lang="en-US"/>
              <a:t>i povezivati s onim što već znamo</a:t>
            </a:r>
            <a:endParaRPr/>
          </a:p>
          <a:p>
            <a:pPr marL="342900" lvl="0" indent="-1397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</p:txBody>
      </p:sp>
      <p:pic>
        <p:nvPicPr>
          <p:cNvPr id="103" name="Google Shape;103;p33"/>
          <p:cNvPicPr preferRelativeResize="0"/>
          <p:nvPr/>
        </p:nvPicPr>
        <p:blipFill rotWithShape="1">
          <a:blip r:embed="rId3">
            <a:alphaModFix/>
          </a:blip>
          <a:srcRect b="11782"/>
          <a:stretch/>
        </p:blipFill>
        <p:spPr>
          <a:xfrm>
            <a:off x="6658864" y="5310636"/>
            <a:ext cx="2463800" cy="15351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Pamćenje</a:t>
            </a:r>
            <a:endParaRPr/>
          </a:p>
        </p:txBody>
      </p:sp>
      <p:sp>
        <p:nvSpPr>
          <p:cNvPr id="109" name="Google Shape;109;p34"/>
          <p:cNvSpPr txBox="1">
            <a:spLocks noGrp="1"/>
          </p:cNvSpPr>
          <p:nvPr>
            <p:ph type="body" idx="1"/>
          </p:nvPr>
        </p:nvSpPr>
        <p:spPr>
          <a:xfrm>
            <a:off x="457200" y="1417638"/>
            <a:ext cx="8229600" cy="4708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Kako si pomoći? 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Dobro je imati </a:t>
            </a:r>
            <a:r>
              <a:rPr lang="en-US" b="1">
                <a:latin typeface="Calibri"/>
                <a:ea typeface="Calibri"/>
                <a:cs typeface="Calibri"/>
                <a:sym typeface="Calibri"/>
              </a:rPr>
              <a:t>stalno mjesto za rad</a:t>
            </a:r>
            <a:r>
              <a:rPr lang="en-US">
                <a:latin typeface="Calibri"/>
                <a:ea typeface="Calibri"/>
                <a:cs typeface="Calibri"/>
                <a:sym typeface="Calibri"/>
              </a:rPr>
              <a:t>;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Važno je u početku učenja </a:t>
            </a:r>
            <a:r>
              <a:rPr lang="en-US" b="1">
                <a:latin typeface="Calibri"/>
                <a:ea typeface="Calibri"/>
                <a:cs typeface="Calibri"/>
                <a:sym typeface="Calibri"/>
              </a:rPr>
              <a:t>više puta ponoviti </a:t>
            </a:r>
            <a:r>
              <a:rPr lang="en-US">
                <a:latin typeface="Calibri"/>
                <a:ea typeface="Calibri"/>
                <a:cs typeface="Calibri"/>
                <a:sym typeface="Calibri"/>
              </a:rPr>
              <a:t>gradivo (npr. za vrijeme čekanja tramvaja, autobusa) – dobro je imati sažetke gradiva;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Koristiti se </a:t>
            </a:r>
            <a:r>
              <a:rPr lang="en-US" b="1">
                <a:latin typeface="Calibri"/>
                <a:ea typeface="Calibri"/>
                <a:cs typeface="Calibri"/>
                <a:sym typeface="Calibri"/>
              </a:rPr>
              <a:t>mnemotehnikama</a:t>
            </a:r>
            <a:r>
              <a:rPr lang="en-US">
                <a:latin typeface="Calibri"/>
                <a:ea typeface="Calibri"/>
                <a:cs typeface="Calibri"/>
                <a:sym typeface="Calibri"/>
              </a:rPr>
              <a:t> za pamćenje neobičnih, potpuno novih, ali važnih dijelova gradiva;</a:t>
            </a:r>
            <a:endParaRPr/>
          </a:p>
        </p:txBody>
      </p:sp>
      <p:pic>
        <p:nvPicPr>
          <p:cNvPr id="110" name="Google Shape;110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96000" y="5029200"/>
            <a:ext cx="2461846" cy="160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Pamćenje</a:t>
            </a:r>
            <a:endParaRPr/>
          </a:p>
        </p:txBody>
      </p:sp>
      <p:sp>
        <p:nvSpPr>
          <p:cNvPr id="116" name="Google Shape;116;p35"/>
          <p:cNvSpPr txBox="1">
            <a:spLocks noGrp="1"/>
          </p:cNvSpPr>
          <p:nvPr>
            <p:ph type="body" idx="1"/>
          </p:nvPr>
        </p:nvSpPr>
        <p:spPr>
          <a:xfrm>
            <a:off x="304800" y="11430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Kako si pomoći?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Stalno se treba</a:t>
            </a:r>
            <a:r>
              <a:rPr lang="en-US" b="1"/>
              <a:t> samoispitivati </a:t>
            </a:r>
            <a:r>
              <a:rPr lang="en-US"/>
              <a:t>(izbjeći razinu prepoznavanja: “dok čitam sve mi je poznato!” – važno je moći se </a:t>
            </a:r>
            <a:r>
              <a:rPr lang="en-US" b="1"/>
              <a:t>dosjetiti</a:t>
            </a:r>
            <a:r>
              <a:rPr lang="en-US"/>
              <a:t>)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Držati se pravila </a:t>
            </a:r>
            <a:r>
              <a:rPr lang="en-US" b="1"/>
              <a:t>aktivnog učenja</a:t>
            </a:r>
            <a:r>
              <a:rPr lang="en-US"/>
              <a:t> (prepričavanje gradiva vlastitim riječima, razgovor, razni izvori informacija)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b="1"/>
              <a:t>Odvajati bitne od </a:t>
            </a:r>
            <a:br>
              <a:rPr lang="en-US" b="1"/>
            </a:br>
            <a:r>
              <a:rPr lang="en-US" b="1"/>
              <a:t>nebitnih informacija.</a:t>
            </a:r>
            <a:endParaRPr/>
          </a:p>
          <a:p>
            <a:pPr marL="812800" lvl="0" indent="-6096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endParaRPr/>
          </a:p>
          <a:p>
            <a:pPr marL="342900" lvl="0" indent="-1397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</p:txBody>
      </p:sp>
      <p:pic>
        <p:nvPicPr>
          <p:cNvPr id="117" name="Google Shape;117;p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05400" y="4724400"/>
            <a:ext cx="3810000" cy="1993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2940e17914e_1_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Projektni zadatak</a:t>
            </a:r>
            <a:endParaRPr/>
          </a:p>
        </p:txBody>
      </p:sp>
      <p:sp>
        <p:nvSpPr>
          <p:cNvPr id="124" name="Google Shape;124;g2940e17914e_1_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7500" lnSpcReduction="20000"/>
          </a:bodyPr>
          <a:lstStyle/>
          <a:p>
            <a:pPr marL="457200" lvl="0" indent="-317182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56250"/>
              <a:buChar char="●"/>
            </a:pPr>
            <a:r>
              <a:rPr lang="en-US" dirty="0"/>
              <a:t>u </a:t>
            </a:r>
            <a:r>
              <a:rPr lang="en-US" dirty="0" err="1"/>
              <a:t>grupi</a:t>
            </a:r>
            <a:r>
              <a:rPr lang="en-US" dirty="0"/>
              <a:t> (do 4 </a:t>
            </a:r>
            <a:r>
              <a:rPr lang="en-US" dirty="0" err="1"/>
              <a:t>člana</a:t>
            </a:r>
            <a:r>
              <a:rPr lang="en-US" dirty="0"/>
              <a:t>)</a:t>
            </a:r>
            <a:endParaRPr dirty="0"/>
          </a:p>
          <a:p>
            <a:pPr marL="457200" lvl="0" indent="-31718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56250"/>
              <a:buChar char="●"/>
            </a:pPr>
            <a:r>
              <a:rPr lang="en-US" dirty="0" err="1"/>
              <a:t>izradite</a:t>
            </a:r>
            <a:r>
              <a:rPr lang="en-US" dirty="0"/>
              <a:t> </a:t>
            </a:r>
            <a:r>
              <a:rPr lang="en-US" dirty="0" err="1"/>
              <a:t>letak</a:t>
            </a:r>
            <a:r>
              <a:rPr lang="en-US" dirty="0"/>
              <a:t> u </a:t>
            </a:r>
            <a:r>
              <a:rPr lang="en-US" dirty="0" err="1"/>
              <a:t>kojem</a:t>
            </a:r>
            <a:r>
              <a:rPr lang="en-US" dirty="0"/>
              <a:t> </a:t>
            </a:r>
            <a:r>
              <a:rPr lang="en-US" dirty="0" err="1"/>
              <a:t>će</a:t>
            </a:r>
            <a:r>
              <a:rPr lang="en-US" dirty="0"/>
              <a:t> </a:t>
            </a:r>
            <a:r>
              <a:rPr lang="en-US" dirty="0" err="1"/>
              <a:t>biti</a:t>
            </a:r>
            <a:r>
              <a:rPr lang="en-US" dirty="0"/>
              <a:t> </a:t>
            </a:r>
            <a:r>
              <a:rPr lang="en-US" dirty="0" err="1"/>
              <a:t>navedene</a:t>
            </a:r>
            <a:r>
              <a:rPr lang="en-US" dirty="0"/>
              <a:t> </a:t>
            </a:r>
            <a:r>
              <a:rPr lang="en-US" dirty="0" err="1"/>
              <a:t>vaše</a:t>
            </a:r>
            <a:r>
              <a:rPr lang="en-US" dirty="0"/>
              <a:t> </a:t>
            </a:r>
            <a:r>
              <a:rPr lang="en-US" dirty="0" err="1"/>
              <a:t>ideje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prijedlozi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koji </a:t>
            </a:r>
            <a:r>
              <a:rPr lang="en-US" dirty="0" err="1"/>
              <a:t>način</a:t>
            </a:r>
            <a:r>
              <a:rPr lang="en-US" dirty="0"/>
              <a:t> </a:t>
            </a:r>
            <a:r>
              <a:rPr lang="en-US" dirty="0" err="1"/>
              <a:t>možemo</a:t>
            </a:r>
            <a:r>
              <a:rPr lang="en-US" dirty="0"/>
              <a:t> </a:t>
            </a:r>
            <a:r>
              <a:rPr lang="en-US" dirty="0" err="1"/>
              <a:t>organizirati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olakšati</a:t>
            </a:r>
            <a:r>
              <a:rPr lang="en-US" dirty="0"/>
              <a:t> </a:t>
            </a:r>
            <a:r>
              <a:rPr lang="en-US" dirty="0" err="1"/>
              <a:t>učenje</a:t>
            </a:r>
            <a:endParaRPr dirty="0"/>
          </a:p>
          <a:p>
            <a:pPr marL="457200" lvl="0" indent="-31718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56250"/>
              <a:buChar char="●"/>
            </a:pPr>
            <a:r>
              <a:rPr lang="en-US" dirty="0" err="1"/>
              <a:t>istražite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odaberite</a:t>
            </a:r>
            <a:r>
              <a:rPr lang="en-US" dirty="0"/>
              <a:t> </a:t>
            </a:r>
            <a:r>
              <a:rPr lang="en-US" dirty="0" err="1"/>
              <a:t>primjer</a:t>
            </a:r>
            <a:r>
              <a:rPr lang="en-US" dirty="0"/>
              <a:t> </a:t>
            </a:r>
            <a:r>
              <a:rPr lang="en-US" dirty="0" err="1"/>
              <a:t>neke</a:t>
            </a:r>
            <a:r>
              <a:rPr lang="en-US" dirty="0"/>
              <a:t> od </a:t>
            </a:r>
            <a:r>
              <a:rPr lang="en-US" dirty="0" err="1"/>
              <a:t>tehnika</a:t>
            </a:r>
            <a:r>
              <a:rPr lang="en-US" dirty="0"/>
              <a:t> </a:t>
            </a:r>
            <a:r>
              <a:rPr lang="en-US" dirty="0" err="1"/>
              <a:t>učenja</a:t>
            </a:r>
            <a:r>
              <a:rPr lang="en-US" dirty="0"/>
              <a:t> (</a:t>
            </a:r>
            <a:r>
              <a:rPr lang="en-US" dirty="0" err="1"/>
              <a:t>npr</a:t>
            </a:r>
            <a:r>
              <a:rPr lang="en-US" dirty="0"/>
              <a:t>. flash </a:t>
            </a:r>
            <a:r>
              <a:rPr lang="en-US" dirty="0" err="1"/>
              <a:t>kartice</a:t>
            </a:r>
            <a:r>
              <a:rPr lang="en-US" dirty="0"/>
              <a:t>, pomodoro </a:t>
            </a:r>
            <a:r>
              <a:rPr lang="en-US" dirty="0" err="1"/>
              <a:t>tehnika</a:t>
            </a:r>
            <a:r>
              <a:rPr lang="en-US" dirty="0"/>
              <a:t>…) </a:t>
            </a:r>
            <a:r>
              <a:rPr lang="en-US" dirty="0" err="1"/>
              <a:t>te</a:t>
            </a:r>
            <a:r>
              <a:rPr lang="en-US" dirty="0"/>
              <a:t> je </a:t>
            </a:r>
            <a:r>
              <a:rPr lang="en-US" dirty="0" err="1"/>
              <a:t>objasnite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letku</a:t>
            </a:r>
            <a:endParaRPr dirty="0"/>
          </a:p>
          <a:p>
            <a:pPr marL="45720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72580"/>
              <a:buNone/>
            </a:pPr>
            <a:endParaRPr dirty="0"/>
          </a:p>
          <a:p>
            <a:pPr marL="457200" lvl="0" indent="-317182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56250"/>
              <a:buChar char="●"/>
            </a:pPr>
            <a:r>
              <a:rPr lang="en-US" dirty="0" err="1"/>
              <a:t>detaljne</a:t>
            </a:r>
            <a:r>
              <a:rPr lang="en-US" dirty="0"/>
              <a:t> </a:t>
            </a:r>
            <a:r>
              <a:rPr lang="en-US" dirty="0" err="1"/>
              <a:t>upute</a:t>
            </a:r>
            <a:r>
              <a:rPr lang="en-US" dirty="0"/>
              <a:t> - word </a:t>
            </a:r>
            <a:r>
              <a:rPr lang="en-US" dirty="0" err="1"/>
              <a:t>dokument</a:t>
            </a:r>
            <a:r>
              <a:rPr lang="en-US" dirty="0"/>
              <a:t>:</a:t>
            </a:r>
            <a:endParaRPr dirty="0"/>
          </a:p>
          <a:p>
            <a:pPr marL="914400" lvl="1" indent="-31718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64285"/>
              <a:buChar char="○"/>
            </a:pPr>
            <a:r>
              <a:rPr lang="en-US" dirty="0"/>
              <a:t> </a:t>
            </a:r>
            <a:r>
              <a:rPr lang="en-US" dirty="0" err="1"/>
              <a:t>Projektni</a:t>
            </a:r>
            <a:r>
              <a:rPr lang="en-US" dirty="0"/>
              <a:t> rad - </a:t>
            </a:r>
            <a:r>
              <a:rPr lang="en-US" dirty="0" err="1"/>
              <a:t>Kako</a:t>
            </a:r>
            <a:r>
              <a:rPr lang="en-US" dirty="0"/>
              <a:t> </a:t>
            </a:r>
            <a:r>
              <a:rPr lang="en-US" dirty="0" err="1"/>
              <a:t>organizirati</a:t>
            </a:r>
            <a:r>
              <a:rPr lang="en-US" dirty="0"/>
              <a:t> </a:t>
            </a:r>
            <a:r>
              <a:rPr lang="en-US" dirty="0" err="1"/>
              <a:t>učenje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72580"/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72580"/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72580"/>
              <a:buNone/>
            </a:pPr>
            <a:r>
              <a:rPr lang="en-US" dirty="0"/>
              <a:t>Rok za </a:t>
            </a:r>
            <a:r>
              <a:rPr lang="en-US" dirty="0" err="1"/>
              <a:t>predaju</a:t>
            </a:r>
            <a:r>
              <a:rPr lang="en-US" dirty="0"/>
              <a:t>: </a:t>
            </a:r>
            <a:r>
              <a:rPr lang="hr-HR"/>
              <a:t>18</a:t>
            </a:r>
            <a:r>
              <a:rPr lang="en-US"/>
              <a:t>.2.2025.</a:t>
            </a:r>
            <a:endParaRPr b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Hvala na pažnji! </a:t>
            </a:r>
            <a:endParaRPr/>
          </a:p>
        </p:txBody>
      </p:sp>
      <p:pic>
        <p:nvPicPr>
          <p:cNvPr id="130" name="Google Shape;130;p50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2895600" y="1419313"/>
            <a:ext cx="3943200" cy="515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240</Words>
  <Application>Microsoft Office PowerPoint</Application>
  <PresentationFormat>Prikaz na zaslonu (4:3)</PresentationFormat>
  <Paragraphs>30</Paragraphs>
  <Slides>6</Slides>
  <Notes>6</Notes>
  <HiddenSlides>0</HiddenSlides>
  <MMClips>0</MMClips>
  <ScaleCrop>false</ScaleCrop>
  <HeadingPairs>
    <vt:vector size="6" baseType="variant">
      <vt:variant>
        <vt:lpstr>Korišteni fontovi</vt:lpstr>
      </vt:variant>
      <vt:variant>
        <vt:i4>2</vt:i4>
      </vt:variant>
      <vt:variant>
        <vt:lpstr>Tema</vt:lpstr>
      </vt:variant>
      <vt:variant>
        <vt:i4>1</vt:i4>
      </vt:variant>
      <vt:variant>
        <vt:lpstr>Naslovi slajdova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KAKO ORGANIZIRATI UČENJE</vt:lpstr>
      <vt:lpstr>Pamćenje</vt:lpstr>
      <vt:lpstr>Pamćenje</vt:lpstr>
      <vt:lpstr>Pamćenje</vt:lpstr>
      <vt:lpstr>Projektni zadatak</vt:lpstr>
      <vt:lpstr>Hvala na pažnji!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Lejla Talić</dc:creator>
  <cp:lastModifiedBy>Lucia Balaško</cp:lastModifiedBy>
  <cp:revision>1</cp:revision>
  <dcterms:created xsi:type="dcterms:W3CDTF">2020-12-04T17:23:21Z</dcterms:created>
  <dcterms:modified xsi:type="dcterms:W3CDTF">2025-02-04T11:36:43Z</dcterms:modified>
</cp:coreProperties>
</file>