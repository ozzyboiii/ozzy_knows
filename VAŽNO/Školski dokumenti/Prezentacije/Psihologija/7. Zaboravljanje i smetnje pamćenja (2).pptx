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h603wNCsrht4l9sLU9PaMxp/4X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Krivulja zaboravljanja pokazuje da je najveće zaboravljanje prvih nekoliko sati i dana. Što vrijeme više prolazi, taj je pad sporiji. Krivulja zaboravljanja objašnjava činjenicu da učenici koji novo gradivo uče neposredno pred odlazak u školu te sadržaje znaju vrlo loše ako ih profesor tog dana prozove.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Što mislite, kako bismo trebali organizirati ponavljanje gradiva ako želimo nešto dobro zapamtit?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Zbog toga u početku učenja treba više puta ponoviti gradivo.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Postoji više razloga zbog kojih dolazi do procesa zaboravljanja. Dva glavna razloga su gubljenje traga pamćenja i interferencija.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Kako bi smanjili utjecaj retroaktivne interferencije treba učiti redovito i 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razumijevanjem, izbjegavati učiti slično gradivo jedno iza drugoga i između učenja dvaju različitih gradiva uzeti odmor.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Ova amnezija se, osim nakon ozljeda i oštećenja određenih područja mozga, često pojavljuju i kao posljedica dugotrajnog neumjerenog konzumiranja alkohola. Također je tipična za stare osobe.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. Dolazi do gubitka autobiografskog pamćenja, ali ostalo je sačuvano semantičko i proceduralno pamćenje.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Jedna od funkcija mnemotehnika je besmislene informacije učiniti smislenima i tako olakšati njihovo zapamćivanje. Postoje različite vrste mnemotehnika: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Grci su toliko cijenili pamćenje da su imali božicu pamćenja koju su zvali Mnemosina. Po njoj su i ove tehnike dobile naziv mnemotehnike. U doba starih Grka i Rimljana ovim tehnikama koristili su se senatori kako bi zadivili puk svojim odličnim sposobnostima pamćenja. Postoje različite vrste mnemotehnika, a njihovo korištenje je individualno, nekome odgovaraju više kognitivne mape, nekome uporaba akronima, a nekome lokalizacija u prostoru.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Spomenut ćemo neke najvažnije mnemotehnike i primjere za njih.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5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5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5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5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6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verywellmind.com/what-is-the-mandela-effect-4589394#:~:text=The%20Mandela%20Effect%20refers%20to,light%20on%20this%20unique%20phenomenon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jpg"/><Relationship Id="rId4" Type="http://schemas.openxmlformats.org/officeDocument/2006/relationships/image" Target="../media/image1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jpg"/><Relationship Id="rId4" Type="http://schemas.openxmlformats.org/officeDocument/2006/relationships/image" Target="../media/image14.jpg"/><Relationship Id="rId5" Type="http://schemas.openxmlformats.org/officeDocument/2006/relationships/image" Target="../media/image2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Relationship Id="rId4" Type="http://schemas.openxmlformats.org/officeDocument/2006/relationships/image" Target="../media/image18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jpg"/><Relationship Id="rId4" Type="http://schemas.openxmlformats.org/officeDocument/2006/relationships/image" Target="../media/image2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/>
          <p:nvPr>
            <p:ph type="title"/>
          </p:nvPr>
        </p:nvSpPr>
        <p:spPr>
          <a:xfrm>
            <a:off x="609600" y="51816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/>
              <a:t>ZABORAVLJANJE</a:t>
            </a:r>
            <a:endParaRPr/>
          </a:p>
        </p:txBody>
      </p:sp>
      <p:sp>
        <p:nvSpPr>
          <p:cNvPr id="89" name="Google Shape;89;p2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90" name="Google Shape;90;p23"/>
          <p:cNvPicPr preferRelativeResize="0"/>
          <p:nvPr/>
        </p:nvPicPr>
        <p:blipFill rotWithShape="1">
          <a:blip r:embed="rId3">
            <a:alphaModFix/>
          </a:blip>
          <a:srcRect b="8833" l="6522" r="6519" t="14427"/>
          <a:stretch/>
        </p:blipFill>
        <p:spPr>
          <a:xfrm>
            <a:off x="698250" y="1600200"/>
            <a:ext cx="5294313" cy="3402628"/>
          </a:xfrm>
          <a:prstGeom prst="rect">
            <a:avLst/>
          </a:prstGeom>
          <a:noFill/>
          <a:ln cap="flat" cmpd="sng" w="9525">
            <a:solidFill>
              <a:srgbClr val="63242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Metode ispitivanja pamćenja</a:t>
            </a:r>
            <a:endParaRPr/>
          </a:p>
        </p:txBody>
      </p:sp>
      <p:sp>
        <p:nvSpPr>
          <p:cNvPr id="97" name="Google Shape;9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Krivulja zaboravljanja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98" name="Google Shape;98;p24"/>
          <p:cNvPicPr preferRelativeResize="0"/>
          <p:nvPr/>
        </p:nvPicPr>
        <p:blipFill rotWithShape="1">
          <a:blip r:embed="rId3">
            <a:alphaModFix/>
          </a:blip>
          <a:srcRect b="20371" l="9167" r="51667" t="29259"/>
          <a:stretch/>
        </p:blipFill>
        <p:spPr>
          <a:xfrm>
            <a:off x="1752600" y="2322808"/>
            <a:ext cx="6248400" cy="4520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/>
          <p:nvPr/>
        </p:nvSpPr>
        <p:spPr>
          <a:xfrm>
            <a:off x="0" y="0"/>
            <a:ext cx="9143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5"/>
          <p:cNvSpPr txBox="1"/>
          <p:nvPr>
            <p:ph type="title"/>
          </p:nvPr>
        </p:nvSpPr>
        <p:spPr>
          <a:xfrm>
            <a:off x="442170" y="856180"/>
            <a:ext cx="3420438" cy="1128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lang="en-US" sz="3500"/>
              <a:t>Zaboravljanje</a:t>
            </a:r>
            <a:endParaRPr/>
          </a:p>
        </p:txBody>
      </p:sp>
      <p:grpSp>
        <p:nvGrpSpPr>
          <p:cNvPr id="106" name="Google Shape;106;p25"/>
          <p:cNvGrpSpPr/>
          <p:nvPr/>
        </p:nvGrpSpPr>
        <p:grpSpPr>
          <a:xfrm>
            <a:off x="0" y="1083484"/>
            <a:ext cx="266396" cy="673460"/>
            <a:chOff x="0" y="823811"/>
            <a:chExt cx="355196" cy="673460"/>
          </a:xfrm>
        </p:grpSpPr>
        <p:sp>
          <p:nvSpPr>
            <p:cNvPr id="107" name="Google Shape;107;p25"/>
            <p:cNvSpPr/>
            <p:nvPr/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5"/>
            <p:cNvSpPr/>
            <p:nvPr/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" name="Google Shape;109;p25"/>
          <p:cNvSpPr/>
          <p:nvPr/>
        </p:nvSpPr>
        <p:spPr>
          <a:xfrm flipH="1">
            <a:off x="498813" y="2090569"/>
            <a:ext cx="32232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5"/>
          <p:cNvSpPr txBox="1"/>
          <p:nvPr>
            <p:ph idx="1" type="body"/>
          </p:nvPr>
        </p:nvSpPr>
        <p:spPr>
          <a:xfrm>
            <a:off x="372618" y="2209929"/>
            <a:ext cx="3747961" cy="44719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600"/>
              <a:t>Kako si pomognete kada nešto nikako ne želite zaboraviti?</a:t>
            </a:r>
            <a:endParaRPr sz="2600"/>
          </a:p>
          <a:p>
            <a:pPr indent="-342900" lvl="0" marL="34290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600"/>
              <a:t>Zbog čega zaboravljamo? </a:t>
            </a:r>
            <a:endParaRPr/>
          </a:p>
          <a:p>
            <a:pPr indent="-514350" lvl="1" marL="97155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2600"/>
              <a:t>Postupno gubljenje tragova pamćenja</a:t>
            </a:r>
            <a:endParaRPr sz="2600"/>
          </a:p>
          <a:p>
            <a:pPr indent="-514350" lvl="1" marL="97155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2600"/>
              <a:t>Nemogućnost pronalaženja informacija </a:t>
            </a:r>
            <a:endParaRPr sz="2600"/>
          </a:p>
          <a:p>
            <a:pPr indent="-514350" lvl="1" marL="97155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2600"/>
              <a:t>Potiskivanje (represija)</a:t>
            </a:r>
            <a:endParaRPr/>
          </a:p>
          <a:p>
            <a:pPr indent="-514350" lvl="1" marL="971550" rtl="0" algn="l">
              <a:lnSpc>
                <a:spcPct val="100000"/>
              </a:lnSpc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sz="2600"/>
              <a:t>Interferencija</a:t>
            </a:r>
            <a:br>
              <a:rPr lang="en-US" sz="2000"/>
            </a:br>
            <a:endParaRPr sz="2000"/>
          </a:p>
        </p:txBody>
      </p:sp>
      <p:sp>
        <p:nvSpPr>
          <p:cNvPr id="111" name="Google Shape;111;p25"/>
          <p:cNvSpPr/>
          <p:nvPr/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5"/>
          <p:cNvSpPr/>
          <p:nvPr/>
        </p:nvSpPr>
        <p:spPr>
          <a:xfrm>
            <a:off x="4264357" y="513853"/>
            <a:ext cx="4507025" cy="583457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11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ree Working Memory Cliparts, Download Free Clip Art, Free Clip Art on  Clipart Library" id="113" name="Google Shape;113;p25"/>
          <p:cNvPicPr preferRelativeResize="0"/>
          <p:nvPr/>
        </p:nvPicPr>
        <p:blipFill rotWithShape="1">
          <a:blip r:embed="rId3">
            <a:alphaModFix/>
          </a:blip>
          <a:srcRect b="2" l="12780" r="9851" t="0"/>
          <a:stretch/>
        </p:blipFill>
        <p:spPr>
          <a:xfrm>
            <a:off x="4483341" y="799352"/>
            <a:ext cx="4069057" cy="5259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Zašto zaboravljamo?</a:t>
            </a:r>
            <a:endParaRPr/>
          </a:p>
        </p:txBody>
      </p:sp>
      <p:sp>
        <p:nvSpPr>
          <p:cNvPr id="120" name="Google Shape;120;p26"/>
          <p:cNvSpPr txBox="1"/>
          <p:nvPr>
            <p:ph idx="1" type="body"/>
          </p:nvPr>
        </p:nvSpPr>
        <p:spPr>
          <a:xfrm>
            <a:off x="457200" y="1417637"/>
            <a:ext cx="8305800" cy="5364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/>
              <a:t>Interferencija</a:t>
            </a:r>
            <a:r>
              <a:rPr lang="en-US" sz="2800"/>
              <a:t> – ometanje usvajanja neke informacije zbog onoga što je usvojeno ranije ili kasnije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b="1" lang="en-US"/>
              <a:t>Proaktivna</a:t>
            </a:r>
            <a:r>
              <a:rPr lang="en-US"/>
              <a:t> interferencija - ono što smo prije naučili ometa kasnije, novo učenje (postavke novog mobitela)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b="1" lang="en-US"/>
              <a:t>Retroaktivna</a:t>
            </a:r>
            <a:r>
              <a:rPr lang="en-US"/>
              <a:t> interferencija - usvajanje </a:t>
            </a:r>
            <a:br>
              <a:rPr lang="en-US"/>
            </a:br>
            <a:r>
              <a:rPr lang="en-US"/>
              <a:t>novih informacija dovodi do zaboravljanja </a:t>
            </a:r>
            <a:br>
              <a:rPr lang="en-US"/>
            </a:br>
            <a:r>
              <a:rPr lang="en-US"/>
              <a:t>starih  (novi broj otežava sjećanje starog)</a:t>
            </a:r>
            <a:endParaRPr/>
          </a:p>
          <a:p>
            <a:pPr indent="-1079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Kako spriječiti interferenciju?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/>
          <p:nvPr>
            <p:ph type="title"/>
          </p:nvPr>
        </p:nvSpPr>
        <p:spPr>
          <a:xfrm>
            <a:off x="541421" y="5151619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/>
              <a:t>SMETNJE PAMĆENJA</a:t>
            </a:r>
            <a:endParaRPr/>
          </a:p>
        </p:txBody>
      </p:sp>
      <p:sp>
        <p:nvSpPr>
          <p:cNvPr id="126" name="Google Shape;126;p2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  <p:pic>
        <p:nvPicPr>
          <p:cNvPr descr="Pin on Memory" id="127" name="Google Shape;12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905000"/>
            <a:ext cx="4137512" cy="3246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8"/>
          <p:cNvSpPr txBox="1"/>
          <p:nvPr>
            <p:ph type="title"/>
          </p:nvPr>
        </p:nvSpPr>
        <p:spPr>
          <a:xfrm>
            <a:off x="3724072" y="629268"/>
            <a:ext cx="4939868" cy="128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SMETNJE PAMĆENJA</a:t>
            </a:r>
            <a:endParaRPr/>
          </a:p>
        </p:txBody>
      </p:sp>
      <p:sp>
        <p:nvSpPr>
          <p:cNvPr id="134" name="Google Shape;134;p28"/>
          <p:cNvSpPr txBox="1"/>
          <p:nvPr>
            <p:ph idx="1" type="body"/>
          </p:nvPr>
        </p:nvSpPr>
        <p:spPr>
          <a:xfrm>
            <a:off x="3724073" y="2438400"/>
            <a:ext cx="4939867" cy="3785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1) </a:t>
            </a:r>
            <a:r>
              <a:rPr b="1" lang="en-US"/>
              <a:t>RETROGRADNA</a:t>
            </a:r>
            <a:r>
              <a:rPr lang="en-US"/>
              <a:t> AMNEZIJA – nemogućnost dosjećanja događaja prije ozljede mozga.</a:t>
            </a:r>
            <a:endParaRPr/>
          </a:p>
          <a:p>
            <a:pPr indent="-326390" lvl="0" marL="51435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2) </a:t>
            </a:r>
            <a:r>
              <a:rPr b="1" lang="en-US"/>
              <a:t>ANTEROGRADNA</a:t>
            </a:r>
            <a:r>
              <a:rPr lang="en-US"/>
              <a:t> AMNEZIJA – nemogućnost stvaranja novog dugoročnog pamćenja.</a:t>
            </a:r>
            <a:endParaRPr/>
          </a:p>
          <a:p>
            <a:pPr indent="-243078" lvl="0" marL="342900" rtl="0" algn="l">
              <a:lnSpc>
                <a:spcPct val="100000"/>
              </a:lnSpc>
              <a:spcBef>
                <a:spcPts val="31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700"/>
          </a:p>
        </p:txBody>
      </p:sp>
      <p:pic>
        <p:nvPicPr>
          <p:cNvPr descr="Memento (film) - Wikipedia" id="135" name="Google Shape;135;p28"/>
          <p:cNvPicPr preferRelativeResize="0"/>
          <p:nvPr/>
        </p:nvPicPr>
        <p:blipFill rotWithShape="1">
          <a:blip r:embed="rId3">
            <a:alphaModFix/>
          </a:blip>
          <a:srcRect b="-1" l="0" r="25570" t="0"/>
          <a:stretch/>
        </p:blipFill>
        <p:spPr>
          <a:xfrm>
            <a:off x="20" y="10"/>
            <a:ext cx="3476673" cy="68579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" name="Google Shape;136;p28"/>
          <p:cNvCxnSpPr/>
          <p:nvPr/>
        </p:nvCxnSpPr>
        <p:spPr>
          <a:xfrm>
            <a:off x="3810700" y="2115117"/>
            <a:ext cx="4732020" cy="0"/>
          </a:xfrm>
          <a:prstGeom prst="straightConnector1">
            <a:avLst/>
          </a:prstGeom>
          <a:noFill/>
          <a:ln cap="flat" cmpd="sng" w="19050">
            <a:solidFill>
              <a:srgbClr val="F6BC5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SMETNJE PAMĆENJA</a:t>
            </a:r>
            <a:endParaRPr/>
          </a:p>
        </p:txBody>
      </p:sp>
      <p:sp>
        <p:nvSpPr>
          <p:cNvPr id="143" name="Google Shape;143;p29"/>
          <p:cNvSpPr txBox="1"/>
          <p:nvPr>
            <p:ph idx="1" type="body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3) HIPOMNEZIJA</a:t>
            </a:r>
            <a:r>
              <a:rPr lang="en-US"/>
              <a:t> – je općenito smanjena mogućnost pamćenja (najčešće organski uvjetovana).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4) HIPERMNEZIJA </a:t>
            </a:r>
            <a:r>
              <a:rPr lang="en-US"/>
              <a:t>– poremećaj koji se očituje u pamćenju svih informacija koje se percipiraju (ovaj poremećaj ima izrazito malen broj ljudi)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Prednosti i nedostatci?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     Solomon Shereshevsky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</p:txBody>
      </p:sp>
      <p:pic>
        <p:nvPicPr>
          <p:cNvPr id="144" name="Google Shape;14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8600" y="3840162"/>
            <a:ext cx="2120832" cy="28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0"/>
          <p:cNvSpPr/>
          <p:nvPr/>
        </p:nvSpPr>
        <p:spPr>
          <a:xfrm>
            <a:off x="6505148" y="407987"/>
            <a:ext cx="2240924" cy="2987899"/>
          </a:xfrm>
          <a:prstGeom prst="arc">
            <a:avLst>
              <a:gd fmla="val 16200000" name="adj1"/>
              <a:gd fmla="val 256372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0"/>
          <p:cNvSpPr txBox="1"/>
          <p:nvPr>
            <p:ph type="title"/>
          </p:nvPr>
        </p:nvSpPr>
        <p:spPr>
          <a:xfrm>
            <a:off x="2638854" y="444272"/>
            <a:ext cx="602254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Smetnje pamćenja</a:t>
            </a:r>
            <a:endParaRPr/>
          </a:p>
        </p:txBody>
      </p:sp>
      <p:sp>
        <p:nvSpPr>
          <p:cNvPr id="152" name="Google Shape;152;p30"/>
          <p:cNvSpPr txBox="1"/>
          <p:nvPr>
            <p:ph idx="1" type="body"/>
          </p:nvPr>
        </p:nvSpPr>
        <p:spPr>
          <a:xfrm>
            <a:off x="304800" y="1447799"/>
            <a:ext cx="8051799" cy="54464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/>
              <a:t>5) PARAMNEZIJE </a:t>
            </a:r>
            <a:endParaRPr sz="2800"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nastaju tako da se „praznine“ u sjećanju popunjavaju izmišljenim podatcima. Drugi naziv za paramnezije su </a:t>
            </a:r>
            <a:r>
              <a:rPr b="1" lang="en-US" sz="2800"/>
              <a:t>lažna sjećanja.  </a:t>
            </a:r>
            <a:endParaRPr sz="2800"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sz="2800"/>
              <a:t>Nije namjerno</a:t>
            </a:r>
            <a:endParaRPr b="1" sz="2800"/>
          </a:p>
          <a:p>
            <a:pPr indent="-1651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800"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sz="2800"/>
              <a:t>“Mandela efekt” </a:t>
            </a:r>
            <a:r>
              <a:rPr b="1" lang="en-US" sz="2800" u="sng">
                <a:solidFill>
                  <a:schemeClr val="hlink"/>
                </a:solidFill>
                <a:hlinkClick r:id="rId3"/>
              </a:rPr>
              <a:t>https://www.verywellmind.com/what-is-the-mandela-effect-4589394#:~:text=The%20Mandela%20Effect%20refers%20to,light%20on%20this%20unique%20phenomenon</a:t>
            </a:r>
            <a:r>
              <a:rPr b="1" lang="en-US" sz="2800"/>
              <a:t>. </a:t>
            </a:r>
            <a:endParaRPr/>
          </a:p>
          <a:p>
            <a:pPr indent="-254000" lvl="0" marL="3429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Smetnje pamćenja</a:t>
            </a:r>
            <a:endParaRPr/>
          </a:p>
        </p:txBody>
      </p:sp>
      <p:sp>
        <p:nvSpPr>
          <p:cNvPr id="158" name="Google Shape;158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6) FUGA </a:t>
            </a:r>
            <a:r>
              <a:rPr lang="en-US" sz="2400"/>
              <a:t>– gubitak identiteta, spada u disocijativni poremećaj 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What Is Dissociative Amnesia with Fugue State? – BrightQuest Treatment  Centers" id="159" name="Google Shape;15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1700" y="2929097"/>
            <a:ext cx="4800600" cy="3197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2"/>
          <p:cNvSpPr/>
          <p:nvPr/>
        </p:nvSpPr>
        <p:spPr>
          <a:xfrm>
            <a:off x="0" y="0"/>
            <a:ext cx="9143771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2"/>
          <p:cNvSpPr txBox="1"/>
          <p:nvPr>
            <p:ph type="title"/>
          </p:nvPr>
        </p:nvSpPr>
        <p:spPr>
          <a:xfrm>
            <a:off x="603504" y="5116529"/>
            <a:ext cx="7944130" cy="10006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Calibri"/>
              <a:buNone/>
            </a:pPr>
            <a:r>
              <a:rPr lang="en-US" sz="3500">
                <a:solidFill>
                  <a:schemeClr val="dk2"/>
                </a:solidFill>
              </a:rPr>
              <a:t>KAKO POBOLJŠATI PAMĆENJE</a:t>
            </a:r>
            <a:endParaRPr/>
          </a:p>
        </p:txBody>
      </p:sp>
      <p:pic>
        <p:nvPicPr>
          <p:cNvPr descr="A picture containing text&#10;&#10;Description automatically generated" id="166" name="Google Shape;166;p32"/>
          <p:cNvPicPr preferRelativeResize="0"/>
          <p:nvPr/>
        </p:nvPicPr>
        <p:blipFill rotWithShape="1">
          <a:blip r:embed="rId3">
            <a:alphaModFix/>
          </a:blip>
          <a:srcRect b="18314" l="0" r="0" t="0"/>
          <a:stretch/>
        </p:blipFill>
        <p:spPr>
          <a:xfrm>
            <a:off x="20" y="10"/>
            <a:ext cx="9143980" cy="42014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7" name="Google Shape;167;p32"/>
          <p:cNvGrpSpPr/>
          <p:nvPr/>
        </p:nvGrpSpPr>
        <p:grpSpPr>
          <a:xfrm>
            <a:off x="0" y="2941813"/>
            <a:ext cx="9141713" cy="1828800"/>
            <a:chOff x="-305" y="3144820"/>
            <a:chExt cx="9182100" cy="1551136"/>
          </a:xfrm>
        </p:grpSpPr>
        <p:sp>
          <p:nvSpPr>
            <p:cNvPr id="168" name="Google Shape;168;p32"/>
            <p:cNvSpPr/>
            <p:nvPr/>
          </p:nvSpPr>
          <p:spPr>
            <a:xfrm>
              <a:off x="-305" y="3676854"/>
              <a:ext cx="9182100" cy="1019102"/>
            </a:xfrm>
            <a:custGeom>
              <a:rect b="b" l="l" r="r" t="t"/>
              <a:pathLst>
                <a:path extrusionOk="0" h="1019102" w="9182100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32"/>
            <p:cNvSpPr/>
            <p:nvPr/>
          </p:nvSpPr>
          <p:spPr>
            <a:xfrm>
              <a:off x="-305" y="3144820"/>
              <a:ext cx="9182100" cy="932744"/>
            </a:xfrm>
            <a:custGeom>
              <a:rect b="b" l="l" r="r" t="t"/>
              <a:pathLst>
                <a:path extrusionOk="0" h="932744" w="9182100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lt1">
                <a:alpha val="29019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32"/>
            <p:cNvSpPr/>
            <p:nvPr/>
          </p:nvSpPr>
          <p:spPr>
            <a:xfrm>
              <a:off x="-305" y="3580789"/>
              <a:ext cx="9182100" cy="544245"/>
            </a:xfrm>
            <a:custGeom>
              <a:rect b="b" l="l" r="r" t="t"/>
              <a:pathLst>
                <a:path extrusionOk="0" h="544245" w="9182100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lt1">
                <a:alpha val="29019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32"/>
            <p:cNvSpPr/>
            <p:nvPr/>
          </p:nvSpPr>
          <p:spPr>
            <a:xfrm>
              <a:off x="-305" y="3324550"/>
              <a:ext cx="9182100" cy="765639"/>
            </a:xfrm>
            <a:custGeom>
              <a:rect b="b" l="l" r="r" t="t"/>
              <a:pathLst>
                <a:path extrusionOk="0" h="765639" w="9182100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lt1">
                <a:alpha val="29019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2" name="Google Shape;172;p32"/>
          <p:cNvSpPr txBox="1"/>
          <p:nvPr>
            <p:ph idx="1" type="body"/>
          </p:nvPr>
        </p:nvSpPr>
        <p:spPr>
          <a:xfrm>
            <a:off x="603504" y="4580785"/>
            <a:ext cx="7062673" cy="4843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700"/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Pamćenje</a:t>
            </a:r>
            <a:endParaRPr/>
          </a:p>
        </p:txBody>
      </p:sp>
      <p:sp>
        <p:nvSpPr>
          <p:cNvPr id="178" name="Google Shape;178;p33"/>
          <p:cNvSpPr txBox="1"/>
          <p:nvPr>
            <p:ph idx="1" type="body"/>
          </p:nvPr>
        </p:nvSpPr>
        <p:spPr>
          <a:xfrm>
            <a:off x="457200" y="12954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Kako si pomoći?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Učenje treba </a:t>
            </a:r>
            <a:r>
              <a:rPr b="1" lang="en-US"/>
              <a:t>rasporediti u vremenu </a:t>
            </a:r>
            <a:r>
              <a:rPr lang="en-US"/>
              <a:t>(kako bi se izbjegla interferencija);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Sličnu građu koja dopušta pozitivan transfer </a:t>
            </a:r>
            <a:r>
              <a:rPr b="1" lang="en-US"/>
              <a:t>treba grupirati;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Gradivo koje želimo zadržati dobro zapamćenim na duži rok, treba </a:t>
            </a:r>
            <a:r>
              <a:rPr b="1" lang="en-US"/>
              <a:t>prenaučiti</a:t>
            </a:r>
            <a:r>
              <a:rPr lang="en-US"/>
              <a:t>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Ne učiti slično gradivo jedno za drugim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b="1" lang="en-US"/>
              <a:t>Organizirati gradivo </a:t>
            </a:r>
            <a:r>
              <a:rPr lang="en-US"/>
              <a:t>i povezivati s onim što već znamo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79" name="Google Shape;179;p33"/>
          <p:cNvPicPr preferRelativeResize="0"/>
          <p:nvPr/>
        </p:nvPicPr>
        <p:blipFill rotWithShape="1">
          <a:blip r:embed="rId3">
            <a:alphaModFix/>
          </a:blip>
          <a:srcRect b="11782" l="0" r="0" t="0"/>
          <a:stretch/>
        </p:blipFill>
        <p:spPr>
          <a:xfrm>
            <a:off x="6658864" y="5310636"/>
            <a:ext cx="2463800" cy="15351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Pamćenje</a:t>
            </a:r>
            <a:endParaRPr/>
          </a:p>
        </p:txBody>
      </p:sp>
      <p:sp>
        <p:nvSpPr>
          <p:cNvPr id="185" name="Google Shape;185;p34"/>
          <p:cNvSpPr txBox="1"/>
          <p:nvPr>
            <p:ph idx="1" type="body"/>
          </p:nvPr>
        </p:nvSpPr>
        <p:spPr>
          <a:xfrm>
            <a:off x="457200" y="1417638"/>
            <a:ext cx="8229600" cy="4708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Kako si pomoći?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Dobro je imati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stalno mjesto za rad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Važno je u početku učenja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više puta ponoviti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gradivo (npr. za vrijeme čekanja tramvaja, autobusa) – dobro je imati sažetke gradiva;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Koristiti se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mnemotehnikama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za pamćenje neobičnih, potpuno novih, ali važnih dijelova gradiva;</a:t>
            </a:r>
            <a:endParaRPr/>
          </a:p>
        </p:txBody>
      </p:sp>
      <p:pic>
        <p:nvPicPr>
          <p:cNvPr id="186" name="Google Shape;18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5029200"/>
            <a:ext cx="2461846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Pamćenje</a:t>
            </a:r>
            <a:endParaRPr/>
          </a:p>
        </p:txBody>
      </p:sp>
      <p:sp>
        <p:nvSpPr>
          <p:cNvPr id="192" name="Google Shape;192;p35"/>
          <p:cNvSpPr txBox="1"/>
          <p:nvPr>
            <p:ph idx="1" type="body"/>
          </p:nvPr>
        </p:nvSpPr>
        <p:spPr>
          <a:xfrm>
            <a:off x="304800" y="1143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Kako si pomoći?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Stalno se treba</a:t>
            </a:r>
            <a:r>
              <a:rPr b="1" lang="en-US"/>
              <a:t> samoispitivati </a:t>
            </a:r>
            <a:r>
              <a:rPr lang="en-US"/>
              <a:t>(izbjeći razinu prepoznavanja: “dok čitam sve mi je poznato!” – važno je moći se </a:t>
            </a:r>
            <a:r>
              <a:rPr b="1" lang="en-US"/>
              <a:t>dosjetiti</a:t>
            </a:r>
            <a:r>
              <a:rPr lang="en-US"/>
              <a:t>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Držati se pravila </a:t>
            </a:r>
            <a:r>
              <a:rPr b="1" lang="en-US"/>
              <a:t>aktivnog učenja</a:t>
            </a:r>
            <a:r>
              <a:rPr lang="en-US"/>
              <a:t> (prepričavanje gradiva vlastitim riječima, razgovor, razni izvori informacija)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b="1" lang="en-US"/>
              <a:t>Odvajati bitne od </a:t>
            </a:r>
            <a:br>
              <a:rPr b="1" lang="en-US"/>
            </a:br>
            <a:r>
              <a:rPr b="1" lang="en-US"/>
              <a:t>nebitnih informacija.</a:t>
            </a:r>
            <a:endParaRPr/>
          </a:p>
          <a:p>
            <a:pPr indent="-609600" lvl="0" marL="812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93" name="Google Shape;19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5400" y="4724400"/>
            <a:ext cx="3810000" cy="199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Metode ispitivanja pamćenja</a:t>
            </a:r>
            <a:endParaRPr/>
          </a:p>
        </p:txBody>
      </p:sp>
      <p:sp>
        <p:nvSpPr>
          <p:cNvPr id="199" name="Google Shape;199;p36"/>
          <p:cNvSpPr txBox="1"/>
          <p:nvPr>
            <p:ph idx="1" type="body"/>
          </p:nvPr>
        </p:nvSpPr>
        <p:spPr>
          <a:xfrm>
            <a:off x="457200" y="16002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arenR"/>
            </a:pPr>
            <a:r>
              <a:rPr b="1" lang="en-US" sz="2800"/>
              <a:t>Metoda dosjećanja:</a:t>
            </a:r>
            <a:endParaRPr/>
          </a:p>
          <a:p>
            <a:pPr indent="0" lvl="1" marL="4000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- Glavni grad Walesa je ____________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/>
              <a:t>2) Metoda prepoznavanja: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	Glavni grad Walesa je: </a:t>
            </a:r>
            <a:endParaRPr/>
          </a:p>
          <a:p>
            <a:pPr indent="-51435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lphaLcParenR"/>
            </a:pPr>
            <a:r>
              <a:rPr lang="en-US"/>
              <a:t>Liverpool</a:t>
            </a:r>
            <a:endParaRPr/>
          </a:p>
          <a:p>
            <a:pPr indent="-51435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lphaLcParenR"/>
            </a:pPr>
            <a:r>
              <a:rPr lang="en-US"/>
              <a:t>Brighton</a:t>
            </a:r>
            <a:endParaRPr/>
          </a:p>
          <a:p>
            <a:pPr indent="-51435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lphaLcParenR"/>
            </a:pPr>
            <a:r>
              <a:rPr lang="en-US"/>
              <a:t>Cardiff</a:t>
            </a:r>
            <a:endParaRPr/>
          </a:p>
          <a:p>
            <a:pPr indent="-514350" lvl="1" marL="9144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lphaLcParenR"/>
            </a:pPr>
            <a:r>
              <a:rPr lang="en-US"/>
              <a:t>Belfast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b="1" lang="en-US" sz="2800">
                <a:solidFill>
                  <a:srgbClr val="000000"/>
                </a:solidFill>
              </a:rPr>
              <a:t>3) Metoda uštede</a:t>
            </a:r>
            <a:r>
              <a:rPr lang="en-US" sz="2800">
                <a:solidFill>
                  <a:srgbClr val="000000"/>
                </a:solidFill>
              </a:rPr>
              <a:t>: Učenje o gradovima u Velikoj Britaniji</a:t>
            </a:r>
            <a:endParaRPr/>
          </a:p>
          <a:p>
            <a:pPr indent="0" lvl="2" marL="8001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Metode ispitivanja pamćenja</a:t>
            </a:r>
            <a:endParaRPr/>
          </a:p>
        </p:txBody>
      </p:sp>
      <p:sp>
        <p:nvSpPr>
          <p:cNvPr id="205" name="Google Shape;205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1) </a:t>
            </a:r>
            <a:r>
              <a:rPr b="1" lang="en-US"/>
              <a:t>Metoda dosjećanja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postavljanje pitanja o nečemu što </a:t>
            </a:r>
            <a:br>
              <a:rPr lang="en-US"/>
            </a:br>
            <a:r>
              <a:rPr lang="en-US"/>
              <a:t>bi trebalo biti pohranjeno u pamćenju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2) </a:t>
            </a:r>
            <a:r>
              <a:rPr b="1" lang="en-US"/>
              <a:t>Metoda prepoznavanja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ponuđeni odgovori među kojima treba odabrati točan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3) </a:t>
            </a:r>
            <a:r>
              <a:rPr b="1" lang="en-US"/>
              <a:t>Metoda uštede</a:t>
            </a:r>
            <a:r>
              <a:rPr lang="en-US"/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Ponovnom učenje sadržaja koje smo ranije učili. Iako te sadržaje ne možemo prepoznati ni reproducirati, kada ih ponovno učimo potrebno nam je manje vremena da ih usvojimo.  </a:t>
            </a:r>
            <a:endParaRPr/>
          </a:p>
          <a:p>
            <a:pPr indent="-15494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206" name="Google Shape;206;p37"/>
          <p:cNvPicPr preferRelativeResize="0"/>
          <p:nvPr/>
        </p:nvPicPr>
        <p:blipFill rotWithShape="1">
          <a:blip r:embed="rId3">
            <a:alphaModFix/>
          </a:blip>
          <a:srcRect b="0" l="10674" r="33144" t="0"/>
          <a:stretch/>
        </p:blipFill>
        <p:spPr>
          <a:xfrm>
            <a:off x="6705600" y="1152144"/>
            <a:ext cx="2018104" cy="207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0400" y="228600"/>
            <a:ext cx="2038580" cy="266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MNEMOTEHNIKE</a:t>
            </a:r>
            <a:endParaRPr/>
          </a:p>
        </p:txBody>
      </p:sp>
      <p:sp>
        <p:nvSpPr>
          <p:cNvPr id="214" name="Google Shape;214;p3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To su specifične mentalne strategije za poboljšanje pamćenja.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Verbalne, vizualne i mješovite.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Mnemotehnike su nastale u staroj Grčkoj, a potom su ih nastavili koristiti i nadograđivati Rimljani 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15" name="Google Shape;21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0" y="4343032"/>
            <a:ext cx="2133600" cy="2514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MNEMOTEHNIKE</a:t>
            </a:r>
            <a:endParaRPr/>
          </a:p>
        </p:txBody>
      </p:sp>
      <p:sp>
        <p:nvSpPr>
          <p:cNvPr id="221" name="Google Shape;221;p39"/>
          <p:cNvSpPr txBox="1"/>
          <p:nvPr>
            <p:ph idx="1" type="body"/>
          </p:nvPr>
        </p:nvSpPr>
        <p:spPr>
          <a:xfrm>
            <a:off x="457200" y="12954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1) Akronim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Niz riječi možemo lakše zapamtiti ako uzmemo </a:t>
            </a:r>
            <a:r>
              <a:rPr b="1" lang="en-US"/>
              <a:t>prva slova tih riječi </a:t>
            </a:r>
            <a:r>
              <a:rPr lang="en-US"/>
              <a:t>i napravimo skraćenicu od njih (npr. HNK, HAK, SAD…).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 tralirus – travanj, lipanj, rujan i studeni (mjeseci u godini koji imaju 30 dana)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čenas - čekić, nakovanj i stremen – tri sićušne kosti u uhu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vuk ne – voda u kiselinu ne, a obrnuto je dozvoljeno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Pamćenje - Mnemotehnike</a:t>
            </a:r>
            <a:endParaRPr/>
          </a:p>
        </p:txBody>
      </p:sp>
      <p:sp>
        <p:nvSpPr>
          <p:cNvPr id="227" name="Google Shape;227;p4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2) Dodavanje informacija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Za planete: Merkur, Venera, Zemlja, Mars, Jupiter, Saturn, Uran, Neptun, Pluton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MVZMJSUNP - Moja </a:t>
            </a:r>
            <a:br>
              <a:rPr lang="en-US" sz="2400"/>
            </a:br>
            <a:r>
              <a:rPr lang="en-US" sz="2400"/>
              <a:t>Vrlo Znatiželjna </a:t>
            </a:r>
            <a:br>
              <a:rPr lang="en-US" sz="2400"/>
            </a:br>
            <a:r>
              <a:rPr lang="en-US" sz="2400"/>
              <a:t>Majka Je Svima </a:t>
            </a:r>
            <a:br>
              <a:rPr lang="en-US" sz="2400"/>
            </a:br>
            <a:r>
              <a:rPr lang="en-US" sz="2400"/>
              <a:t>Uvijek Nabrajala </a:t>
            </a:r>
            <a:br>
              <a:rPr lang="en-US" sz="2400"/>
            </a:br>
            <a:r>
              <a:rPr lang="en-US" sz="2400"/>
              <a:t>Planete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pic>
        <p:nvPicPr>
          <p:cNvPr id="228" name="Google Shape;22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2895600"/>
            <a:ext cx="4648200" cy="3708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Pamćenje - Mnemotehnike</a:t>
            </a:r>
            <a:endParaRPr/>
          </a:p>
        </p:txBody>
      </p:sp>
      <p:sp>
        <p:nvSpPr>
          <p:cNvPr id="234" name="Google Shape;234;p4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3) Slaganje nepovezanih riječi u smislenu rečenicu</a:t>
            </a:r>
            <a:r>
              <a:rPr lang="en-US"/>
              <a:t>– nepovezane riječi koje treba upamtiti slažemo u logičnu rečenicu ili kraću priču.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Npr.: mačka, </a:t>
            </a:r>
            <a:br>
              <a:rPr lang="en-US"/>
            </a:br>
            <a:r>
              <a:rPr lang="en-US"/>
              <a:t>kišobran, </a:t>
            </a:r>
            <a:br>
              <a:rPr lang="en-US"/>
            </a:br>
            <a:r>
              <a:rPr lang="en-US"/>
              <a:t>srce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Mačka se kišobranom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branila od srca...</a:t>
            </a:r>
            <a:endParaRPr/>
          </a:p>
          <a:p>
            <a:pPr indent="-15494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5494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235" name="Google Shape;23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4400" y="3048000"/>
            <a:ext cx="3581400" cy="3379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Pamćenje – Mnemotehnike</a:t>
            </a:r>
            <a:endParaRPr/>
          </a:p>
        </p:txBody>
      </p:sp>
      <p:sp>
        <p:nvSpPr>
          <p:cNvPr id="241" name="Google Shape;241;p4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US" sz="3600"/>
              <a:t>4) </a:t>
            </a:r>
            <a:r>
              <a:rPr b="1" lang="en-US"/>
              <a:t>Bizarne predodžbe</a:t>
            </a:r>
            <a:r>
              <a:rPr lang="en-US"/>
              <a:t>– lakše ćemo zapamtiti čudnu, bizarnu sliku (vizualna mnemotehnika)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Npr. Einstein miriše cvijeta dva – E=mc</a:t>
            </a:r>
            <a:r>
              <a:rPr baseline="30000" lang="en-US"/>
              <a:t>2</a:t>
            </a:r>
            <a:endParaRPr baseline="30000"/>
          </a:p>
        </p:txBody>
      </p:sp>
      <p:pic>
        <p:nvPicPr>
          <p:cNvPr id="242" name="Google Shape;242;p42"/>
          <p:cNvPicPr preferRelativeResize="0"/>
          <p:nvPr/>
        </p:nvPicPr>
        <p:blipFill rotWithShape="1">
          <a:blip r:embed="rId3">
            <a:alphaModFix/>
          </a:blip>
          <a:srcRect b="23064" l="0" r="0" t="6041"/>
          <a:stretch/>
        </p:blipFill>
        <p:spPr>
          <a:xfrm>
            <a:off x="1093629" y="5005449"/>
            <a:ext cx="1954371" cy="1852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615" y="3308219"/>
            <a:ext cx="2911186" cy="1797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90871" y="3308219"/>
            <a:ext cx="3678383" cy="245225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42"/>
          <p:cNvSpPr txBox="1"/>
          <p:nvPr/>
        </p:nvSpPr>
        <p:spPr>
          <a:xfrm>
            <a:off x="5331746" y="6183868"/>
            <a:ext cx="24636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(mačka se zove Einstein)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Pamćenje - Mnemotehnike</a:t>
            </a:r>
            <a:endParaRPr/>
          </a:p>
        </p:txBody>
      </p:sp>
      <p:sp>
        <p:nvSpPr>
          <p:cNvPr id="251" name="Google Shape;251;p4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/>
              <a:t>5) Metoda mjesta </a:t>
            </a:r>
            <a:r>
              <a:rPr lang="en-US"/>
              <a:t>– vizualno predočimo neki dobro poznati prostor i u njemu stvari koje želimo zapamtiti </a:t>
            </a:r>
            <a:endParaRPr b="1"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Npr. Ladice 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52" name="Google Shape;25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2400" y="3581400"/>
            <a:ext cx="4462397" cy="271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Pamćenje - mnemotehnike</a:t>
            </a:r>
            <a:endParaRPr/>
          </a:p>
        </p:txBody>
      </p:sp>
      <p:sp>
        <p:nvSpPr>
          <p:cNvPr id="258" name="Google Shape;258;p4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6) Mentalne mape</a:t>
            </a:r>
            <a:r>
              <a:rPr lang="en-US"/>
              <a:t>– zabilješke razmjestimo na papiru tako da dobijemo prostorni raspored prikladan za zapamćivanje, mentalna mapa </a:t>
            </a:r>
            <a:endParaRPr b="1"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59" name="Google Shape;25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9125" y="3210507"/>
            <a:ext cx="2096643" cy="3451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7800" y="3886200"/>
            <a:ext cx="3581400" cy="2686050"/>
          </a:xfrm>
          <a:prstGeom prst="rect">
            <a:avLst/>
          </a:prstGeom>
          <a:noFill/>
          <a:ln cap="flat" cmpd="sng" w="28575">
            <a:solidFill>
              <a:srgbClr val="24406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MNEMOTEHNIKE</a:t>
            </a:r>
            <a:endParaRPr/>
          </a:p>
        </p:txBody>
      </p:sp>
      <p:sp>
        <p:nvSpPr>
          <p:cNvPr id="266" name="Google Shape;266;p4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7) Asocijacije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Nepoznatu riječ povežemo sa sličnom, ali poznatom riječju.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distraktori – podražaji koji ometaju pamćenje (distraktor asocira na traktor)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akrofobija – strah od visine (asocira na akrobata)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agorafobija – strah od otvorenog prostora (asocira na agronomiju)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Proaktivna interferencija – proaktivan je onaj koji ima inicijativu unaprijed – dakle staro učenje ometa učenje novih sadržaja</a:t>
            </a:r>
            <a:endParaRPr/>
          </a:p>
          <a:p>
            <a:pPr indent="-170180" lvl="0" marL="342900" rtl="0" algn="l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Pamćenje - menmotehnike</a:t>
            </a:r>
            <a:endParaRPr/>
          </a:p>
        </p:txBody>
      </p:sp>
      <p:sp>
        <p:nvSpPr>
          <p:cNvPr id="272" name="Google Shape;272;p4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7) Asocijacije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Za nepoznatu riječ koju želimo naučiti utvrdi se asocijacija  </a:t>
            </a:r>
            <a:r>
              <a:rPr b="1" lang="en-US"/>
              <a:t>po zvučnosti </a:t>
            </a:r>
            <a:r>
              <a:rPr lang="en-US"/>
              <a:t>s nekom riječi u našem jeziku koju znamo, a koja joj slično zvuči (npr. Quiche-kiša)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Zatim se stvori predodžba koja povezuje ključnu riječ sa stranom riječi koju želimo naučiti.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73" name="Google Shape;27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00" y="5235322"/>
            <a:ext cx="2410226" cy="1506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4200" y="5273041"/>
            <a:ext cx="2488427" cy="1493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MNEMOTEHNIKE</a:t>
            </a:r>
            <a:endParaRPr/>
          </a:p>
        </p:txBody>
      </p:sp>
      <p:sp>
        <p:nvSpPr>
          <p:cNvPr id="280" name="Google Shape;280;p4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8) Rima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Unošenje ritma i rime u materijal koji treba zapamtiti znatno olakšava učenje.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Mala moja dajem ti na znanje, sila kroz masa daje ubrzanje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Ako je ispred zagrade više, zagrada se briše, ako je ispred zagrade manje u zagradi se mijenja stanje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Ja znam, jer sam lumen, gustoća je masa kroz volumen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Kvadrat nad hipotenuzom, to zna svako dijete, jednak je zbroju kvadrata nad obje katete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Prvom krećem, drugom skrećem, trećom žurim, četvrtom jurim</a:t>
            </a:r>
            <a:endParaRPr/>
          </a:p>
          <a:p>
            <a:pPr indent="-185420" lvl="0" marL="34290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MNEMOTEHNIKE</a:t>
            </a:r>
            <a:endParaRPr/>
          </a:p>
        </p:txBody>
      </p:sp>
      <p:sp>
        <p:nvSpPr>
          <p:cNvPr id="286" name="Google Shape;286;p4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9) Ritam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Brojeve često izgovaramo određenim ritmom npr. ako netko telefonski broj izgovori ovim ritmom 23 38 192, a netko drugi slijedećim ritmom 233 81 92 čini nam se da se radi o različitim brojevima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MNEMOTEHNIKE</a:t>
            </a:r>
            <a:endParaRPr/>
          </a:p>
        </p:txBody>
      </p:sp>
      <p:sp>
        <p:nvSpPr>
          <p:cNvPr id="292" name="Google Shape;292;p4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10) Povezivanje slova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Stalaktit visi u spilji (s krova); stalagmit – gmiže na tlu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11) Pamćenje imena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Povežemo ime neke osobe s njezinim izgledom ili nekom osobinom te osobe.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MAJA – znatiželjna kao pčelica Maja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NEVEN – ime zapamtimo po cvijetu Nevenu</a:t>
            </a:r>
            <a:endParaRPr/>
          </a:p>
          <a:p>
            <a:pPr indent="-154940" lvl="0" marL="3429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Hvala na pažnji! </a:t>
            </a:r>
            <a:endParaRPr/>
          </a:p>
        </p:txBody>
      </p:sp>
      <p:pic>
        <p:nvPicPr>
          <p:cNvPr id="298" name="Google Shape;298;p5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5600" y="1419313"/>
            <a:ext cx="3943350" cy="5152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2020-12-04T17:23:21Z</dcterms:created>
  <dc:creator>Lejla Talić</dc:creator>
</cp:coreProperties>
</file>