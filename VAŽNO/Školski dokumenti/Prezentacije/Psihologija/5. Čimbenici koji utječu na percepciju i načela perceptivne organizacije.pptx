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hfHDWREe0e9kdObfB0bzCVVnWG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89ea457fe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289ea457f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289ea457fe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9ea457fed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289ea457fe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289ea457fed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emocije - prije doživljavamo ono što smatramo zanimljivijim, uzbudljivim ili neobičnim</a:t>
            </a:r>
            <a:endParaRPr/>
          </a:p>
        </p:txBody>
      </p:sp>
      <p:sp>
        <p:nvSpPr>
          <p:cNvPr id="135" name="Google Shape;13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npr. dresovi igrača upućuju na pripadnost istoj momčadi (npr. kockasti dresovi - pripadnost hrv. reprezentaciji) ili npr. uniforme za posao</a:t>
            </a:r>
            <a:endParaRPr/>
          </a:p>
        </p:txBody>
      </p:sp>
      <p:sp>
        <p:nvSpPr>
          <p:cNvPr id="209" name="Google Shape;209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Ovo načelo često se koristi u reklamama kako bi pobudilo zanimanje gledatelja</a:t>
            </a:r>
            <a:endParaRPr/>
          </a:p>
        </p:txBody>
      </p:sp>
      <p:sp>
        <p:nvSpPr>
          <p:cNvPr id="225" name="Google Shape;225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Načelo kontinuiteta jače je od načela sličnosti</a:t>
            </a:r>
            <a:endParaRPr/>
          </a:p>
        </p:txBody>
      </p:sp>
      <p:sp>
        <p:nvSpPr>
          <p:cNvPr id="242" name="Google Shape;242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npr. visoka tjelesna temperatura, dugotrajna nesanica, intenzivan stres, kod velikih tjelesnih i mentalnih napora, kod duže izolacije. Također i kod senzorne deprivacije, stanja kada na organizam ne djeluju nikakvi podražaji.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(delirium tremens je stanje do kojeg dolazi zbog naglog prekida uzimanja alkohola). Halucinogene droge također izazivaju halucinacije. </a:t>
            </a:r>
            <a:endParaRPr/>
          </a:p>
        </p:txBody>
      </p:sp>
      <p:sp>
        <p:nvSpPr>
          <p:cNvPr id="293" name="Google Shape;293;p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čini se kao da su crvene crte zaobljene, a zapravo su ravne.</a:t>
            </a:r>
            <a:endParaRPr/>
          </a:p>
        </p:txBody>
      </p:sp>
      <p:sp>
        <p:nvSpPr>
          <p:cNvPr id="316" name="Google Shape;316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koja od dviju vertikalnih (okomitih) crta je duža?</a:t>
            </a:r>
            <a:endParaRPr/>
          </a:p>
        </p:txBody>
      </p:sp>
      <p:sp>
        <p:nvSpPr>
          <p:cNvPr id="322" name="Google Shape;322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RZdfE_7cde0&amp;list=PLZzOyDNgIDp-zNxJmXi2mRx0cxEgqupjV&amp;index=17" TargetMode="External"/><Relationship Id="rId4" Type="http://schemas.openxmlformats.org/officeDocument/2006/relationships/hyperlink" Target="https://www.youtube.com/watch?v=RZdfE_7cde0&amp;list=PLZzOyDNgIDp-zNxJmXi2mRx0cxEgqupjV&amp;index=17" TargetMode="External"/><Relationship Id="rId5" Type="http://schemas.openxmlformats.org/officeDocument/2006/relationships/hyperlink" Target="https://www.youtube.com/watch?v=AskAQwOBvhc" TargetMode="External"/><Relationship Id="rId6" Type="http://schemas.openxmlformats.org/officeDocument/2006/relationships/hyperlink" Target="https://www.youtube.com/watch?v=wwvkdqDoqdM" TargetMode="External"/><Relationship Id="rId7" Type="http://schemas.openxmlformats.org/officeDocument/2006/relationships/hyperlink" Target="https://www.youtube.com/watch?v=eK0NzsGRceg" TargetMode="External"/><Relationship Id="rId8" Type="http://schemas.openxmlformats.org/officeDocument/2006/relationships/hyperlink" Target="https://www.youtube.com/watch?v=rfdJyDfIHIc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psytoolkit.org/lessons/stroop.html" TargetMode="External"/><Relationship Id="rId4" Type="http://schemas.openxmlformats.org/officeDocument/2006/relationships/hyperlink" Target="https://faculty.washington.edu/chudler/java/ready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Relationship Id="rId4" Type="http://schemas.openxmlformats.org/officeDocument/2006/relationships/image" Target="../media/image25.png"/><Relationship Id="rId5" Type="http://schemas.openxmlformats.org/officeDocument/2006/relationships/image" Target="../media/image5.gif"/><Relationship Id="rId6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youtube.com/watch?v=uhRbAjdEiGw" TargetMode="External"/><Relationship Id="rId4" Type="http://schemas.openxmlformats.org/officeDocument/2006/relationships/hyperlink" Target="https://www.youtube.com/watch?v=uhRbAjdEiGw" TargetMode="External"/><Relationship Id="rId5" Type="http://schemas.openxmlformats.org/officeDocument/2006/relationships/hyperlink" Target="https://www.youtube.com/watch?v=uhRbAjdEiGw" TargetMode="External"/><Relationship Id="rId6" Type="http://schemas.openxmlformats.org/officeDocument/2006/relationships/hyperlink" Target="https://www.youtube.com/watch?v=uhRbAjdEiGw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Relationship Id="rId4" Type="http://schemas.openxmlformats.org/officeDocument/2006/relationships/image" Target="../media/image38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moillusions.com/troxlers-fading-optical-illusion/" TargetMode="External"/><Relationship Id="rId4" Type="http://schemas.openxmlformats.org/officeDocument/2006/relationships/hyperlink" Target="https://www.moillusions.com/" TargetMode="External"/><Relationship Id="rId5" Type="http://schemas.openxmlformats.org/officeDocument/2006/relationships/hyperlink" Target="https://www.ted.com/talks/beau_lotto_optical_illusions_show_how_we_see?language=en" TargetMode="External"/><Relationship Id="rId6" Type="http://schemas.openxmlformats.org/officeDocument/2006/relationships/hyperlink" Target="https://www.ted.com/talks/al_seckel_visual_illusions_that_show_how_we_mis_think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lf Full or Half Empty?" id="88" name="Google Shape;88;p24"/>
          <p:cNvPicPr preferRelativeResize="0"/>
          <p:nvPr/>
        </p:nvPicPr>
        <p:blipFill rotWithShape="1">
          <a:blip r:embed="rId3">
            <a:alphaModFix/>
          </a:blip>
          <a:srcRect b="0" l="10847" r="13515" t="0"/>
          <a:stretch/>
        </p:blipFill>
        <p:spPr>
          <a:xfrm>
            <a:off x="304800" y="1287661"/>
            <a:ext cx="3962400" cy="428267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4"/>
          <p:cNvSpPr txBox="1"/>
          <p:nvPr>
            <p:ph type="title"/>
          </p:nvPr>
        </p:nvSpPr>
        <p:spPr>
          <a:xfrm>
            <a:off x="4728949" y="867731"/>
            <a:ext cx="4110251" cy="28750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</a:pPr>
            <a:r>
              <a:rPr lang="en-US" sz="4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ČIMBENICI KOJI UTJEČU NA PERCEPCIJU </a:t>
            </a:r>
            <a:endParaRPr/>
          </a:p>
        </p:txBody>
      </p:sp>
      <p:sp>
        <p:nvSpPr>
          <p:cNvPr id="90" name="Google Shape;90;p24"/>
          <p:cNvSpPr txBox="1"/>
          <p:nvPr>
            <p:ph idx="1" type="body"/>
          </p:nvPr>
        </p:nvSpPr>
        <p:spPr>
          <a:xfrm>
            <a:off x="4728949" y="3879263"/>
            <a:ext cx="3786401" cy="911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4"/>
          <p:cNvSpPr/>
          <p:nvPr/>
        </p:nvSpPr>
        <p:spPr>
          <a:xfrm flipH="1" rot="10800000">
            <a:off x="4581114" y="5292510"/>
            <a:ext cx="4562886" cy="1565491"/>
          </a:xfrm>
          <a:custGeom>
            <a:rect b="b" l="l" r="r" t="t"/>
            <a:pathLst>
              <a:path extrusionOk="0" h="1565491" w="6083848">
                <a:moveTo>
                  <a:pt x="0" y="1565491"/>
                </a:moveTo>
                <a:lnTo>
                  <a:pt x="6083848" y="1565491"/>
                </a:lnTo>
                <a:lnTo>
                  <a:pt x="6083848" y="0"/>
                </a:lnTo>
                <a:lnTo>
                  <a:pt x="1692132" y="0"/>
                </a:lnTo>
                <a:lnTo>
                  <a:pt x="1186806" y="0"/>
                </a:lnTo>
                <a:lnTo>
                  <a:pt x="1186070" y="1591"/>
                </a:lnTo>
                <a:lnTo>
                  <a:pt x="724290" y="1591"/>
                </a:lnTo>
                <a:close/>
              </a:path>
            </a:pathLst>
          </a:custGeom>
          <a:solidFill>
            <a:srgbClr val="B4B4B4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4"/>
          <p:cNvSpPr/>
          <p:nvPr/>
        </p:nvSpPr>
        <p:spPr>
          <a:xfrm flipH="1" rot="10800000">
            <a:off x="0" y="5292509"/>
            <a:ext cx="5003011" cy="1565491"/>
          </a:xfrm>
          <a:custGeom>
            <a:rect b="b" l="l" r="r" t="t"/>
            <a:pathLst>
              <a:path extrusionOk="0" h="1565491" w="6670682">
                <a:moveTo>
                  <a:pt x="0" y="1565491"/>
                </a:moveTo>
                <a:lnTo>
                  <a:pt x="526312" y="1565491"/>
                </a:lnTo>
                <a:lnTo>
                  <a:pt x="5419344" y="1565491"/>
                </a:lnTo>
                <a:lnTo>
                  <a:pt x="5945656" y="1565491"/>
                </a:lnTo>
                <a:lnTo>
                  <a:pt x="6670682" y="0"/>
                </a:lnTo>
                <a:lnTo>
                  <a:pt x="6144370" y="0"/>
                </a:lnTo>
                <a:lnTo>
                  <a:pt x="526312" y="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, whiteboard&#10;&#10;Description automatically generated" id="93" name="Google Shape;93;p24"/>
          <p:cNvPicPr preferRelativeResize="0"/>
          <p:nvPr/>
        </p:nvPicPr>
        <p:blipFill rotWithShape="1">
          <a:blip r:embed="rId4">
            <a:alphaModFix/>
          </a:blip>
          <a:srcRect b="-4" l="0" r="-4" t="154"/>
          <a:stretch/>
        </p:blipFill>
        <p:spPr>
          <a:xfrm>
            <a:off x="467591" y="228600"/>
            <a:ext cx="3810000" cy="4924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89ea457fed_0_0"/>
          <p:cNvSpPr txBox="1"/>
          <p:nvPr>
            <p:ph type="title"/>
          </p:nvPr>
        </p:nvSpPr>
        <p:spPr>
          <a:xfrm>
            <a:off x="685800" y="5815500"/>
            <a:ext cx="77724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solidFill>
                  <a:srgbClr val="8E7CC3"/>
                </a:solidFill>
              </a:rPr>
              <a:t>Čimbenici koji utječu na percepciju</a:t>
            </a:r>
            <a:endParaRPr>
              <a:solidFill>
                <a:srgbClr val="8E7CC3"/>
              </a:solidFill>
            </a:endParaRPr>
          </a:p>
        </p:txBody>
      </p:sp>
      <p:sp>
        <p:nvSpPr>
          <p:cNvPr id="100" name="Google Shape;100;g289ea457fed_0_0"/>
          <p:cNvSpPr txBox="1"/>
          <p:nvPr>
            <p:ph idx="1" type="body"/>
          </p:nvPr>
        </p:nvSpPr>
        <p:spPr>
          <a:xfrm>
            <a:off x="685800" y="404077"/>
            <a:ext cx="77724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400">
                <a:solidFill>
                  <a:srgbClr val="351C75"/>
                </a:solidFill>
              </a:rPr>
              <a:t>Percepcija je složen kognitivni proces na koji utječe niz čimbenika koje možemo svrstati u četiri veće skupine, koje su to skupine? Razvrstajte pojmove u četiri skupine.</a:t>
            </a:r>
            <a:endParaRPr sz="2400">
              <a:solidFill>
                <a:srgbClr val="351C75"/>
              </a:solidFill>
            </a:endParaRPr>
          </a:p>
        </p:txBody>
      </p:sp>
      <p:pic>
        <p:nvPicPr>
          <p:cNvPr id="101" name="Google Shape;101;g289ea457fe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525" y="1499675"/>
            <a:ext cx="8181225" cy="44581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g289ea457fed_0_0"/>
          <p:cNvCxnSpPr/>
          <p:nvPr/>
        </p:nvCxnSpPr>
        <p:spPr>
          <a:xfrm>
            <a:off x="287400" y="5825025"/>
            <a:ext cx="855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Čimbenici koji utječu na percepciju</a:t>
            </a:r>
            <a:endParaRPr/>
          </a:p>
        </p:txBody>
      </p:sp>
      <p:sp>
        <p:nvSpPr>
          <p:cNvPr id="109" name="Google Shape;109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b="1" lang="en-US" sz="2800"/>
              <a:t>Fizikalni čimbenici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Uvjeti percpiranja (vrijeme - kiša/sunce...)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Količina informacija (Zakasnili ste....ali rok je produljen – drugi dio mijenja značenje cijele rečenice)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Kontekst (liječnik bez kute)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10" name="Google Shape;110;p25"/>
          <p:cNvPicPr preferRelativeResize="0"/>
          <p:nvPr/>
        </p:nvPicPr>
        <p:blipFill rotWithShape="1">
          <a:blip r:embed="rId3">
            <a:alphaModFix/>
          </a:blip>
          <a:srcRect b="26295" l="20000" r="54167" t="46299"/>
          <a:stretch/>
        </p:blipFill>
        <p:spPr>
          <a:xfrm>
            <a:off x="2362200" y="3848251"/>
            <a:ext cx="4724400" cy="2819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Čimbenici koji utječu na percepciju</a:t>
            </a:r>
            <a:endParaRPr/>
          </a:p>
        </p:txBody>
      </p:sp>
      <p:sp>
        <p:nvSpPr>
          <p:cNvPr id="116" name="Google Shape;116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2. Biološki utjecaji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Poremećaji osjetnih sustava (daltonizam...)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Dob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Fiziološki procesi (glad, umor)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Stanja svijesti (psihoaktivne tvari, alkohol) </a:t>
            </a:r>
            <a:endParaRPr/>
          </a:p>
        </p:txBody>
      </p:sp>
      <p:pic>
        <p:nvPicPr>
          <p:cNvPr descr="Boost your eye-Q | Wellmark Blue" id="117" name="Google Shape;1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4835092"/>
            <a:ext cx="3657600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Čimbenici koji utječu na percepciju</a:t>
            </a:r>
            <a:endParaRPr/>
          </a:p>
        </p:txBody>
      </p:sp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3. Psihološki utjecaji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Perceptivni</a:t>
            </a:r>
            <a:r>
              <a:rPr lang="en-US"/>
              <a:t> </a:t>
            </a:r>
            <a:r>
              <a:rPr b="1" lang="en-US"/>
              <a:t>set tj. očekivanja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što kada kada vidimo </a:t>
            </a:r>
            <a:br>
              <a:rPr lang="en-US"/>
            </a:br>
            <a:r>
              <a:rPr lang="en-US"/>
              <a:t>nekog van konteksta</a:t>
            </a:r>
            <a:br>
              <a:rPr lang="en-US"/>
            </a:br>
            <a:r>
              <a:rPr lang="en-US"/>
              <a:t>u kojem ga inače vidimo?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kontekst - fizikalni čimbenik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24" name="Google Shape;124;p27"/>
          <p:cNvPicPr preferRelativeResize="0"/>
          <p:nvPr/>
        </p:nvPicPr>
        <p:blipFill rotWithShape="1">
          <a:blip r:embed="rId3">
            <a:alphaModFix/>
          </a:blip>
          <a:srcRect b="38148" l="11667" r="78333" t="36666"/>
          <a:stretch/>
        </p:blipFill>
        <p:spPr>
          <a:xfrm>
            <a:off x="6817048" y="3260581"/>
            <a:ext cx="2022764" cy="2865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7"/>
          <p:cNvPicPr preferRelativeResize="0"/>
          <p:nvPr/>
        </p:nvPicPr>
        <p:blipFill rotWithShape="1">
          <a:blip r:embed="rId3">
            <a:alphaModFix/>
          </a:blip>
          <a:srcRect b="67779" l="11667" r="78333" t="20369"/>
          <a:stretch/>
        </p:blipFill>
        <p:spPr>
          <a:xfrm>
            <a:off x="6248400" y="1417638"/>
            <a:ext cx="2255043" cy="150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7"/>
          <p:cNvPicPr preferRelativeResize="0"/>
          <p:nvPr/>
        </p:nvPicPr>
        <p:blipFill rotWithShape="1">
          <a:blip r:embed="rId4">
            <a:alphaModFix/>
          </a:blip>
          <a:srcRect b="42593" l="16666" r="53332" t="49012"/>
          <a:stretch/>
        </p:blipFill>
        <p:spPr>
          <a:xfrm>
            <a:off x="248464" y="5105400"/>
            <a:ext cx="677732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89ea457fed_0_8"/>
          <p:cNvSpPr txBox="1"/>
          <p:nvPr>
            <p:ph idx="1" type="body"/>
          </p:nvPr>
        </p:nvSpPr>
        <p:spPr>
          <a:xfrm>
            <a:off x="457200" y="2396025"/>
            <a:ext cx="8229600" cy="3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74EA7"/>
                </a:solidFill>
              </a:rPr>
              <a:t>Perceptivni set mžoe biti krorisatn jer to zčani da smo u stnjau porčtiati rejiči iako su pgornešo napaisane.</a:t>
            </a:r>
            <a:endParaRPr b="1" sz="3600">
              <a:solidFill>
                <a:srgbClr val="674EA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28"/>
          <p:cNvGrpSpPr/>
          <p:nvPr/>
        </p:nvGrpSpPr>
        <p:grpSpPr>
          <a:xfrm>
            <a:off x="0" y="1216597"/>
            <a:ext cx="548639" cy="673460"/>
            <a:chOff x="3940602" y="308034"/>
            <a:chExt cx="2116791" cy="3428999"/>
          </a:xfrm>
        </p:grpSpPr>
        <p:sp>
          <p:nvSpPr>
            <p:cNvPr id="139" name="Google Shape;139;p28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8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8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28"/>
          <p:cNvSpPr/>
          <p:nvPr/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8"/>
          <p:cNvSpPr txBox="1"/>
          <p:nvPr>
            <p:ph type="title"/>
          </p:nvPr>
        </p:nvSpPr>
        <p:spPr>
          <a:xfrm>
            <a:off x="782723" y="809898"/>
            <a:ext cx="7457037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4200"/>
              <a:t>Čimbenici koji utječu na percepciju</a:t>
            </a:r>
            <a:endParaRPr sz="4200"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783771" y="2560321"/>
            <a:ext cx="7455989" cy="3781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600"/>
              <a:t>3. Psihološki utjecaji na perceptivni set: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600"/>
          </a:p>
          <a:p>
            <a:pPr indent="-342900" lvl="0" marL="3429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Motivacija</a:t>
            </a:r>
            <a:r>
              <a:rPr lang="en-US" sz="2600"/>
              <a:t> (gol vs. nekvalitetno suđenje)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Emocije</a:t>
            </a:r>
            <a:r>
              <a:rPr lang="en-US" sz="2600"/>
              <a:t> – jako mijenjaju doživljaj stvarnosti</a:t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Stavovi</a:t>
            </a:r>
            <a:r>
              <a:rPr lang="en-US" sz="2600"/>
              <a:t> – lakše opažamo ono što je u skladu s našim stavom</a:t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Ličnost</a:t>
            </a:r>
            <a:r>
              <a:rPr lang="en-US" sz="2600"/>
              <a:t> – zamislite da morate započeti razgovor s nepoznatom osobom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600"/>
              <a:t>Iskustvo</a:t>
            </a:r>
            <a:r>
              <a:rPr lang="en-US" sz="2600"/>
              <a:t> – stvara naš način doživljavanja svijeta </a:t>
            </a:r>
            <a:endParaRPr/>
          </a:p>
        </p:txBody>
      </p:sp>
      <p:cxnSp>
        <p:nvCxnSpPr>
          <p:cNvPr id="145" name="Google Shape;145;p28"/>
          <p:cNvCxnSpPr/>
          <p:nvPr/>
        </p:nvCxnSpPr>
        <p:spPr>
          <a:xfrm rot="10800000">
            <a:off x="628650" y="6485313"/>
            <a:ext cx="78867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9"/>
          <p:cNvSpPr txBox="1"/>
          <p:nvPr>
            <p:ph type="title"/>
          </p:nvPr>
        </p:nvSpPr>
        <p:spPr>
          <a:xfrm>
            <a:off x="595246" y="386930"/>
            <a:ext cx="754959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4200"/>
              <a:t>Čimbenici koji utječu na percepciju</a:t>
            </a:r>
            <a:endParaRPr sz="4200"/>
          </a:p>
        </p:txBody>
      </p:sp>
      <p:sp>
        <p:nvSpPr>
          <p:cNvPr id="153" name="Google Shape;153;p29"/>
          <p:cNvSpPr/>
          <p:nvPr/>
        </p:nvSpPr>
        <p:spPr>
          <a:xfrm rot="10800000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9"/>
          <p:cNvSpPr/>
          <p:nvPr/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228600" y="2599509"/>
            <a:ext cx="3764819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4. Sociokulturni utjecaji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Utjecaj skupina kojima pripadamo i socijalnog okruženja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b="1" lang="en-US" sz="2400"/>
              <a:t>Utjecaj uloge </a:t>
            </a:r>
            <a:r>
              <a:rPr lang="en-US" sz="2400"/>
              <a:t>(skupine): percepcija izleta učenici vs. profesori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/>
              <a:t>Uloga na poslu vs. privatna osoba</a:t>
            </a:r>
            <a:endParaRPr sz="2400"/>
          </a:p>
        </p:txBody>
      </p:sp>
      <p:pic>
        <p:nvPicPr>
          <p:cNvPr descr="Premium Vector | Mental health brain illustration" id="156" name="Google Shape;156;p29"/>
          <p:cNvPicPr preferRelativeResize="0"/>
          <p:nvPr/>
        </p:nvPicPr>
        <p:blipFill rotWithShape="1">
          <a:blip r:embed="rId3">
            <a:alphaModFix/>
          </a:blip>
          <a:srcRect b="-2" l="17852" r="8308" t="0"/>
          <a:stretch/>
        </p:blipFill>
        <p:spPr>
          <a:xfrm>
            <a:off x="4433649" y="2484255"/>
            <a:ext cx="3862707" cy="371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/>
          <p:nvPr/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Čimbenici koji utječu na percepciju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4. Sociokulturni utjecaji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Utjecaj kulture (socijalnog okruženja)</a:t>
            </a:r>
            <a:endParaRPr b="1"/>
          </a:p>
        </p:txBody>
      </p:sp>
      <p:pic>
        <p:nvPicPr>
          <p:cNvPr descr="Miguel Psychology: Bambuti Pygmies" id="165" name="Google Shape;1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909" y="3157393"/>
            <a:ext cx="3825673" cy="2947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7127" y="2932327"/>
            <a:ext cx="3299625" cy="32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Video materijali 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Kako mozak stvara stvarnost: </a:t>
            </a:r>
            <a:endParaRPr b="1" u="sng">
              <a:solidFill>
                <a:schemeClr val="hlink"/>
              </a:solidFill>
              <a:hlinkClick r:id="rId3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https://www.youtube.com/watch?v=RZdfE_7cde0&amp;list=PLZzOyDNgIDp-zNxJmXi2mRx0cxEgqupjV&amp;index=17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Boja haljine (plava/zlatna):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https://www.youtube.com/watch?v=AskAQwOBvhc</a:t>
            </a:r>
            <a:r>
              <a:rPr lang="en-US"/>
              <a:t> 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Percepcija vremena: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https://www.youtube.com/watch?v=wwvkdqDoqdM</a:t>
            </a:r>
            <a:r>
              <a:rPr lang="en-US"/>
              <a:t> 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Prvi dojam: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https://www.youtube.com/watch?v=eK0NzsGRceg</a:t>
            </a:r>
            <a:r>
              <a:rPr lang="en-US"/>
              <a:t> 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Optičke varke: </a:t>
            </a:r>
            <a:r>
              <a:rPr lang="en-US" u="sng">
                <a:solidFill>
                  <a:schemeClr val="hlink"/>
                </a:solidFill>
                <a:hlinkClick r:id="rId8"/>
              </a:rPr>
              <a:t>https://www.youtube.com/watch?v=rfdJyDfIHIc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type="title"/>
          </p:nvPr>
        </p:nvSpPr>
        <p:spPr>
          <a:xfrm>
            <a:off x="628650" y="58521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Perceptivna organizacija</a:t>
            </a:r>
            <a:endParaRPr b="1"/>
          </a:p>
        </p:txBody>
      </p:sp>
      <p:pic>
        <p:nvPicPr>
          <p:cNvPr descr="A picture containing diagram&#10;&#10;Description automatically generated" id="179" name="Google Shape;179;p34"/>
          <p:cNvPicPr preferRelativeResize="0"/>
          <p:nvPr/>
        </p:nvPicPr>
        <p:blipFill rotWithShape="1">
          <a:blip r:embed="rId3">
            <a:alphaModFix/>
          </a:blip>
          <a:srcRect b="-3" l="6943" r="7439" t="0"/>
          <a:stretch/>
        </p:blipFill>
        <p:spPr>
          <a:xfrm>
            <a:off x="304800" y="2514600"/>
            <a:ext cx="4677156" cy="366018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4"/>
          <p:cNvSpPr txBox="1"/>
          <p:nvPr>
            <p:ph idx="1" type="body"/>
          </p:nvPr>
        </p:nvSpPr>
        <p:spPr>
          <a:xfrm>
            <a:off x="5334000" y="2360036"/>
            <a:ext cx="3255264" cy="43412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Percepcija nastaje na temelju osjeta, ali je </a:t>
            </a:r>
            <a:r>
              <a:rPr b="1" lang="en-US" sz="2400"/>
              <a:t>više </a:t>
            </a:r>
            <a:r>
              <a:rPr lang="en-US" sz="2400"/>
              <a:t>od njihovog zbroja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V LJ  B U  A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LJ U B AV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Percepcija je struktura</a:t>
            </a:r>
            <a:r>
              <a:rPr lang="en-US" sz="2400"/>
              <a:t> - značenje svakog elementa određeno je </a:t>
            </a:r>
            <a:r>
              <a:rPr b="1" lang="en-US" sz="2400"/>
              <a:t>cjelinom </a:t>
            </a:r>
            <a:endParaRPr/>
          </a:p>
          <a:p>
            <a:pPr indent="-222250" lvl="0" marL="34290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Vježba Stroop test</a:t>
            </a:r>
            <a:endParaRPr/>
          </a:p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https://www.psytoolkit.org/lessons/stroop.html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https://faculty.washington.edu/chudler/java/ready.html</a:t>
            </a:r>
            <a:r>
              <a:rPr lang="en-US"/>
              <a:t>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Zadatak na 50. stranici u udžbeniku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title"/>
          </p:nvPr>
        </p:nvSpPr>
        <p:spPr>
          <a:xfrm>
            <a:off x="628650" y="58521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Načela perceptivne organizacije </a:t>
            </a:r>
            <a:endParaRPr/>
          </a:p>
        </p:txBody>
      </p:sp>
      <p:pic>
        <p:nvPicPr>
          <p:cNvPr descr="Nebraska Native Trees - Great Plains Nursery" id="192" name="Google Shape;192;p36"/>
          <p:cNvPicPr preferRelativeResize="0"/>
          <p:nvPr/>
        </p:nvPicPr>
        <p:blipFill rotWithShape="1">
          <a:blip r:embed="rId3">
            <a:alphaModFix/>
          </a:blip>
          <a:srcRect b="-1" l="3932" r="11091" t="0"/>
          <a:stretch/>
        </p:blipFill>
        <p:spPr>
          <a:xfrm>
            <a:off x="432252" y="2365800"/>
            <a:ext cx="3924424" cy="379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4897350" y="2386575"/>
            <a:ext cx="4094100" cy="37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2400"/>
              <a:t>Geštaltička načela percipiranja (gestalt – cjelina)</a:t>
            </a:r>
            <a:endParaRPr b="1" sz="2400"/>
          </a:p>
          <a:p>
            <a:pPr indent="-342900" lvl="0" marL="34290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Za percepciju nisu važni pojedini djelovi, nego kako su uklopljeni u cjelinu</a:t>
            </a:r>
            <a:endParaRPr sz="2400"/>
          </a:p>
          <a:p>
            <a:pPr indent="-222250" lvl="0" marL="34290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2400"/>
              <a:t>Npr.:</a:t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Ne vidimo deblo, grane, lišće, nego stablo</a:t>
            </a:r>
            <a:endParaRPr sz="2400"/>
          </a:p>
          <a:p>
            <a:pPr indent="-222250" lvl="0" marL="34290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Načela perceptivne organizacije </a:t>
            </a:r>
            <a:endParaRPr/>
          </a:p>
        </p:txBody>
      </p:sp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1. </a:t>
            </a:r>
            <a:r>
              <a:rPr b="1" lang="en-US"/>
              <a:t>Načelo bliskosti (blizine) </a:t>
            </a:r>
            <a:r>
              <a:rPr lang="en-US"/>
              <a:t>– elemente koji se nalaze blizu jedan drugome percipiramo kao cjelinu.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9147" y="3581400"/>
            <a:ext cx="4505706" cy="18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Načela perceptivne organizacije </a:t>
            </a:r>
            <a:endParaRPr/>
          </a:p>
        </p:txBody>
      </p:sp>
      <p:pic>
        <p:nvPicPr>
          <p:cNvPr descr="UI Design in Practice: Gestalt Principles | UXMISFIT.COM" id="206" name="Google Shape;206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22" y="1752600"/>
            <a:ext cx="8046156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582930" y="694944"/>
            <a:ext cx="4957791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r>
              <a:rPr lang="en-US" sz="3400"/>
              <a:t>Načela perceptivne organizacije </a:t>
            </a:r>
            <a:endParaRPr sz="3400"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 b="26474" l="5000" r="5832" t="32222"/>
          <a:stretch/>
        </p:blipFill>
        <p:spPr>
          <a:xfrm>
            <a:off x="325943" y="2487527"/>
            <a:ext cx="2620956" cy="1318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3444" y="2285095"/>
            <a:ext cx="1817158" cy="1739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300" y="4506281"/>
            <a:ext cx="2343527" cy="1722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9"/>
          <p:cNvPicPr preferRelativeResize="0"/>
          <p:nvPr/>
        </p:nvPicPr>
        <p:blipFill rotWithShape="1">
          <a:blip r:embed="rId6">
            <a:alphaModFix/>
          </a:blip>
          <a:srcRect b="0" l="24643" r="24160" t="8349"/>
          <a:stretch/>
        </p:blipFill>
        <p:spPr>
          <a:xfrm>
            <a:off x="3582209" y="4497942"/>
            <a:ext cx="1714437" cy="173916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9"/>
          <p:cNvSpPr txBox="1"/>
          <p:nvPr>
            <p:ph idx="1" type="body"/>
          </p:nvPr>
        </p:nvSpPr>
        <p:spPr>
          <a:xfrm>
            <a:off x="5694123" y="1796202"/>
            <a:ext cx="3050400" cy="45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800"/>
              <a:t>2. </a:t>
            </a:r>
            <a:r>
              <a:rPr b="1" lang="en-US" sz="2800"/>
              <a:t>Načelo sličnosti </a:t>
            </a:r>
            <a:r>
              <a:rPr lang="en-US" sz="2800"/>
              <a:t>– elemente koji su po nekom svojstvu </a:t>
            </a:r>
            <a:r>
              <a:rPr b="1" lang="en-US" sz="2800"/>
              <a:t>slični</a:t>
            </a:r>
            <a:r>
              <a:rPr lang="en-US" sz="2800"/>
              <a:t> percipiramo kao cjelinu. </a:t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Načela perceptivne organizacije </a:t>
            </a:r>
            <a:endParaRPr/>
          </a:p>
        </p:txBody>
      </p:sp>
      <p:pic>
        <p:nvPicPr>
          <p:cNvPr descr="The Art of Data Visualization: A Gift or a Skill?, Part 2" id="222" name="Google Shape;222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503" y="2133600"/>
            <a:ext cx="7690994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Načela perceptivne organizacije </a:t>
            </a:r>
            <a:endParaRPr/>
          </a:p>
        </p:txBody>
      </p:sp>
      <p:sp>
        <p:nvSpPr>
          <p:cNvPr id="228" name="Google Shape;228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3. Načelo zatvaranja </a:t>
            </a:r>
            <a:r>
              <a:rPr lang="en-US"/>
              <a:t>– ukoliko neki dijelovi figure nedostaju mi ih u našoj percepciji popunjavamo tako da opažamo </a:t>
            </a:r>
            <a:r>
              <a:rPr b="1" lang="en-US"/>
              <a:t>smislenu cjelinu.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0 Principles of Psychology You Can Use to Improve Your Photography -  Resource" id="229" name="Google Shape;2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0" y="3505200"/>
            <a:ext cx="3048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230" name="Google Shape;23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415424"/>
            <a:ext cx="2971800" cy="3167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Načela perceptivne organizacije </a:t>
            </a:r>
            <a:endParaRPr/>
          </a:p>
        </p:txBody>
      </p:sp>
      <p:sp>
        <p:nvSpPr>
          <p:cNvPr id="237" name="Google Shape;237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4. Načelo kontinuiteta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38" name="Google Shape;238;p42"/>
          <p:cNvPicPr preferRelativeResize="0"/>
          <p:nvPr/>
        </p:nvPicPr>
        <p:blipFill rotWithShape="1">
          <a:blip r:embed="rId3">
            <a:alphaModFix/>
          </a:blip>
          <a:srcRect b="48359" l="20833" r="52499" t="46757"/>
          <a:stretch/>
        </p:blipFill>
        <p:spPr>
          <a:xfrm>
            <a:off x="503503" y="2471810"/>
            <a:ext cx="8136993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2"/>
          <p:cNvPicPr preferRelativeResize="0"/>
          <p:nvPr/>
        </p:nvPicPr>
        <p:blipFill rotWithShape="1">
          <a:blip r:embed="rId3">
            <a:alphaModFix/>
          </a:blip>
          <a:srcRect b="36667" l="20833" r="52499" t="56366"/>
          <a:stretch/>
        </p:blipFill>
        <p:spPr>
          <a:xfrm>
            <a:off x="503503" y="3859717"/>
            <a:ext cx="7778163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Načela perceptivne organizacije </a:t>
            </a:r>
            <a:endParaRPr/>
          </a:p>
        </p:txBody>
      </p:sp>
      <p:sp>
        <p:nvSpPr>
          <p:cNvPr id="245" name="Google Shape;245;p43"/>
          <p:cNvSpPr txBox="1"/>
          <p:nvPr>
            <p:ph idx="1" type="body"/>
          </p:nvPr>
        </p:nvSpPr>
        <p:spPr>
          <a:xfrm>
            <a:off x="460664" y="1524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4. Načelo kontinuiteta – </a:t>
            </a:r>
            <a:r>
              <a:rPr lang="en-US"/>
              <a:t>linije ili krivulje koje slijede neki smjer percipiramo kao cjelinu </a:t>
            </a:r>
            <a:endParaRPr b="1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pic>
        <p:nvPicPr>
          <p:cNvPr descr="UI Design in Practice: Gestalt Principles | UXMISFIT.COM" id="246" name="Google Shape;24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800" y="2895600"/>
            <a:ext cx="5410201" cy="30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NA blockchains: risk versus non monetary rewards - Ledger Insights -  enterprise blockchain" id="247" name="Google Shape;24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752312" y="3733846"/>
            <a:ext cx="3573536" cy="189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title"/>
          </p:nvPr>
        </p:nvSpPr>
        <p:spPr>
          <a:xfrm>
            <a:off x="628650" y="58521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Načela perceptivne organizacije </a:t>
            </a:r>
            <a:endParaRPr/>
          </a:p>
        </p:txBody>
      </p:sp>
      <p:pic>
        <p:nvPicPr>
          <p:cNvPr descr="Why cities are bringing walking into focus" id="253" name="Google Shape;253;p44"/>
          <p:cNvPicPr preferRelativeResize="0"/>
          <p:nvPr/>
        </p:nvPicPr>
        <p:blipFill rotWithShape="1">
          <a:blip r:embed="rId3">
            <a:alphaModFix/>
          </a:blip>
          <a:srcRect b="-3" l="9948" r="18169" t="0"/>
          <a:stretch/>
        </p:blipFill>
        <p:spPr>
          <a:xfrm>
            <a:off x="369915" y="2386584"/>
            <a:ext cx="5029200" cy="393568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60136" y="2241281"/>
            <a:ext cx="3483864" cy="3935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5. Načelo zajedničkog kretanja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Objekte koji se kreću u istom smjeru percipiramo kao cjelinu.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430" y="857097"/>
            <a:ext cx="7260008" cy="363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5"/>
          <p:cNvSpPr txBox="1"/>
          <p:nvPr>
            <p:ph type="ctrTitle"/>
          </p:nvPr>
        </p:nvSpPr>
        <p:spPr>
          <a:xfrm>
            <a:off x="610066" y="5156817"/>
            <a:ext cx="6821738" cy="830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000000"/>
                </a:solidFill>
              </a:rPr>
              <a:t>Perceptivne varke</a:t>
            </a:r>
            <a:endParaRPr sz="3600">
              <a:solidFill>
                <a:srgbClr val="000000"/>
              </a:solidFill>
            </a:endParaRPr>
          </a:p>
        </p:txBody>
      </p:sp>
      <p:sp>
        <p:nvSpPr>
          <p:cNvPr id="261" name="Google Shape;261;p45"/>
          <p:cNvSpPr txBox="1"/>
          <p:nvPr>
            <p:ph idx="1" type="subTitle"/>
          </p:nvPr>
        </p:nvSpPr>
        <p:spPr>
          <a:xfrm>
            <a:off x="575430" y="6275067"/>
            <a:ext cx="6821738" cy="34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Perceptivne varke i halucinacije</a:t>
            </a:r>
            <a:endParaRPr/>
          </a:p>
        </p:txBody>
      </p:sp>
      <p:sp>
        <p:nvSpPr>
          <p:cNvPr id="267" name="Google Shape;267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Perceptivne varke i halucinacije su opažanja koja nisu u skladu sa stvarnošću, ali između njih postoji razlika.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68" name="Google Shape;26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3211489"/>
            <a:ext cx="7290576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Video</a:t>
            </a:r>
            <a:endParaRPr/>
          </a:p>
        </p:txBody>
      </p:sp>
      <p:sp>
        <p:nvSpPr>
          <p:cNvPr id="274" name="Google Shape;274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Tjelesne iluzije:</a:t>
            </a:r>
            <a:endParaRPr b="1" u="sng">
              <a:solidFill>
                <a:schemeClr val="hlink"/>
              </a:solidFill>
              <a:hlinkClick r:id="rId3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https://www.youtube.com/watch?v=xdxlT68ygt8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5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https://www.youtube.com/watch?v=uhRbAjdEiGw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Perceptivne varke i halucinacije</a:t>
            </a:r>
            <a:endParaRPr/>
          </a:p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Za nastanak iluzija potrebni su podražaji, a halucinacije su doživljaji koji nastaju iako </a:t>
            </a:r>
            <a:r>
              <a:rPr b="1" lang="en-US" sz="2800"/>
              <a:t>nema vanjskog podražaja</a:t>
            </a:r>
            <a:r>
              <a:rPr lang="en-US" sz="2800"/>
              <a:t>. Kod perceptivnih varki ili iluzija osoba </a:t>
            </a:r>
            <a:r>
              <a:rPr b="1" lang="en-US" sz="2800"/>
              <a:t>pogrešno percipira podražaj</a:t>
            </a:r>
            <a:r>
              <a:rPr lang="en-US" sz="2800"/>
              <a:t>.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81" name="Google Shape;28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3408704"/>
            <a:ext cx="5562600" cy="342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Perceptivne varke i halucinacije</a:t>
            </a:r>
            <a:endParaRPr/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Kod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halucinacija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percipiramo nešto što ne postoji.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Halucinacije se mogu javiti i kod „zdravih“ osoba u nekim specifičnim stanjima</a:t>
            </a:r>
            <a:endParaRPr/>
          </a:p>
        </p:txBody>
      </p:sp>
      <p:pic>
        <p:nvPicPr>
          <p:cNvPr id="289" name="Google Shape;28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3525" y="3886200"/>
            <a:ext cx="44577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Perceptivne varke i halucinacije</a:t>
            </a:r>
            <a:endParaRPr/>
          </a:p>
        </p:txBody>
      </p:sp>
      <p:sp>
        <p:nvSpPr>
          <p:cNvPr id="296" name="Google Shape;296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Halucinacije su </a:t>
            </a:r>
            <a:r>
              <a:rPr lang="en-US"/>
              <a:t>karakteristične za shizofreniju, a mogu biti vidne, slušne, taktilne…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Dugotrajna konzumacija alkohola također može izazvati neugodne halucinacije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97" name="Google Shape;29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8900" y="3667644"/>
            <a:ext cx="3733800" cy="3167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066800"/>
            <a:ext cx="4419600" cy="4932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14400"/>
            <a:ext cx="7284508" cy="546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13" name="Google Shape;313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8657" l="0" r="0" t="0"/>
          <a:stretch/>
        </p:blipFill>
        <p:spPr>
          <a:xfrm>
            <a:off x="1600200" y="533400"/>
            <a:ext cx="5867400" cy="5198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28800"/>
            <a:ext cx="7257298" cy="305196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54"/>
          <p:cNvSpPr txBox="1"/>
          <p:nvPr/>
        </p:nvSpPr>
        <p:spPr>
          <a:xfrm flipH="1">
            <a:off x="838200" y="1066800"/>
            <a:ext cx="4069081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Heringova iluzija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762000"/>
            <a:ext cx="7084181" cy="557879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5"/>
          <p:cNvSpPr/>
          <p:nvPr/>
        </p:nvSpPr>
        <p:spPr>
          <a:xfrm>
            <a:off x="990600" y="5181600"/>
            <a:ext cx="70866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Is this gray bar the same color" id="331" name="Google Shape;331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3419" y="990600"/>
            <a:ext cx="49244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lor optical illusion gray bar animated" id="332" name="Google Shape;33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3419" y="3916362"/>
            <a:ext cx="47625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Još varki</a:t>
            </a:r>
            <a:endParaRPr/>
          </a:p>
        </p:txBody>
      </p:sp>
      <p:sp>
        <p:nvSpPr>
          <p:cNvPr id="338" name="Google Shape;338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https://www.moillusions.com/troxlers-fading-optical-illusion/</a:t>
            </a:r>
            <a:r>
              <a:rPr lang="en-US"/>
              <a:t> 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https://www.moillusions.com/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https://www.ted.com/talks/beau_lotto_optical_illusions_show_how_we_see?language=en</a:t>
            </a:r>
            <a:r>
              <a:rPr lang="en-US"/>
              <a:t> 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https://www.ted.com/talks/al_seckel_visual_illusions_that_show_how_we_mis_think</a:t>
            </a:r>
            <a:r>
              <a:rPr lang="en-US"/>
              <a:t> 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Hvala na pažnji</a:t>
            </a:r>
            <a:endParaRPr/>
          </a:p>
        </p:txBody>
      </p:sp>
      <p:pic>
        <p:nvPicPr>
          <p:cNvPr id="344" name="Google Shape;344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143000"/>
            <a:ext cx="6664372" cy="5627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2020-10-19T18:22:11Z</dcterms:created>
  <dc:creator>Lejla Talić</dc:creator>
</cp:coreProperties>
</file>