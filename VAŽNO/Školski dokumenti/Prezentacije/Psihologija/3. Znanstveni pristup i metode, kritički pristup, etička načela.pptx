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30" roundtripDataSignature="AMtx7mjjopdW02I1mubROE9MIzQX7glc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Znanstveni pristup:</a:t>
            </a:r>
            <a:endParaRPr/>
          </a:p>
          <a:p>
            <a:pPr indent="0" lvl="0" marL="0" rtl="0" algn="l">
              <a:lnSpc>
                <a:spcPct val="100000"/>
              </a:lnSpc>
              <a:spcBef>
                <a:spcPts val="0"/>
              </a:spcBef>
              <a:spcAft>
                <a:spcPts val="0"/>
              </a:spcAft>
              <a:buClr>
                <a:schemeClr val="dk1"/>
              </a:buClr>
              <a:buSzPts val="1200"/>
              <a:buFont typeface="Arial"/>
              <a:buChar char="•"/>
            </a:pPr>
            <a:r>
              <a:rPr lang="en-US"/>
              <a:t>započinje opažanjem  (ponašanja), na temelju kojeg postavljamo teoriju i hipotezu (pretpostavku; predviđanje ponašanja sukladno teoriji na kojoj se temelji), prikupljanje podataka (dokaza) koji potvrđuju ili ne potvrđuju hipotezu (i teoriju)</a:t>
            </a:r>
            <a:endParaRPr/>
          </a:p>
          <a:p>
            <a:pPr indent="0" lvl="0" marL="0" rtl="0" algn="l">
              <a:lnSpc>
                <a:spcPct val="100000"/>
              </a:lnSpc>
              <a:spcBef>
                <a:spcPts val="0"/>
              </a:spcBef>
              <a:spcAft>
                <a:spcPts val="0"/>
              </a:spcAft>
              <a:buClr>
                <a:schemeClr val="dk1"/>
              </a:buClr>
              <a:buSzPts val="1200"/>
              <a:buFont typeface="Arial"/>
              <a:buChar char="•"/>
            </a:pPr>
            <a:r>
              <a:rPr lang="en-US"/>
              <a:t>prikupljanje podataka i provjera teorije moraju biti ponovljivi (nije dovoljno zaključivati o valjanosti teorije na temelju samo jednog istraživanja)</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solidFill>
                  <a:srgbClr val="333333"/>
                </a:solidFill>
                <a:highlight>
                  <a:srgbClr val="FFFFFF"/>
                </a:highlight>
                <a:latin typeface="Arial"/>
                <a:ea typeface="Arial"/>
                <a:cs typeface="Arial"/>
                <a:sym typeface="Arial"/>
              </a:rPr>
              <a:t>Parapsihologija je znanstvena disciplina koja proučava pojave i zbivanja koji se ne mogu objasniti zakonima suvremene fizike, biologije ili psihologije.</a:t>
            </a:r>
            <a:endParaRPr/>
          </a:p>
        </p:txBody>
      </p:sp>
      <p:sp>
        <p:nvSpPr>
          <p:cNvPr id="99" name="Google Shape;99;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Znanstveni pristup</a:t>
            </a:r>
            <a:endParaRPr/>
          </a:p>
          <a:p>
            <a:pPr indent="0" lvl="0" marL="0" rtl="0" algn="l">
              <a:lnSpc>
                <a:spcPct val="100000"/>
              </a:lnSpc>
              <a:spcBef>
                <a:spcPts val="0"/>
              </a:spcBef>
              <a:spcAft>
                <a:spcPts val="0"/>
              </a:spcAft>
              <a:buClr>
                <a:schemeClr val="dk1"/>
              </a:buClr>
              <a:buSzPts val="1200"/>
              <a:buFont typeface="Arial"/>
              <a:buChar char="•"/>
            </a:pPr>
            <a:r>
              <a:rPr lang="en-US"/>
              <a:t>Sistematičan, usmjeren na točno određene pojave, provodi se u dobro definiranim uvjetima</a:t>
            </a:r>
            <a:endParaRPr/>
          </a:p>
          <a:p>
            <a:pPr indent="0" lvl="0" marL="0" rtl="0" algn="l">
              <a:lnSpc>
                <a:spcPct val="100000"/>
              </a:lnSpc>
              <a:spcBef>
                <a:spcPts val="0"/>
              </a:spcBef>
              <a:spcAft>
                <a:spcPts val="0"/>
              </a:spcAft>
              <a:buClr>
                <a:schemeClr val="dk1"/>
              </a:buClr>
              <a:buSzPts val="1200"/>
              <a:buFont typeface="Arial"/>
              <a:buChar char="•"/>
            </a:pPr>
            <a:r>
              <a:rPr lang="en-US"/>
              <a:t>Objektivna spoznaja pojava bez obzira na raspoloženja, želje, očekivanje ili potrebe istraživača</a:t>
            </a:r>
            <a:endParaRPr/>
          </a:p>
          <a:p>
            <a:pPr indent="0" lvl="0" marL="0" rtl="0" algn="l">
              <a:lnSpc>
                <a:spcPct val="100000"/>
              </a:lnSpc>
              <a:spcBef>
                <a:spcPts val="0"/>
              </a:spcBef>
              <a:spcAft>
                <a:spcPts val="0"/>
              </a:spcAft>
              <a:buClr>
                <a:schemeClr val="dk1"/>
              </a:buClr>
              <a:buSzPts val="1200"/>
              <a:buFont typeface="Arial"/>
              <a:buChar char="•"/>
            </a:pPr>
            <a:r>
              <a:rPr lang="en-US"/>
              <a:t>Velik broj provjerenih i jednoznačnih podataka prije nego što se donesu opći zaključci</a:t>
            </a:r>
            <a:endParaRPr/>
          </a:p>
          <a:p>
            <a:pPr indent="0" lvl="0" marL="0" rtl="0" algn="l">
              <a:lnSpc>
                <a:spcPct val="100000"/>
              </a:lnSpc>
              <a:spcBef>
                <a:spcPts val="0"/>
              </a:spcBef>
              <a:spcAft>
                <a:spcPts val="0"/>
              </a:spcAft>
              <a:buClr>
                <a:schemeClr val="dk1"/>
              </a:buClr>
              <a:buSzPts val="1200"/>
              <a:buFont typeface="Arial"/>
              <a:buChar char="•"/>
            </a:pPr>
            <a:r>
              <a:rPr lang="en-US"/>
              <a:t>Koristi se znanstvenim metodama</a:t>
            </a:r>
            <a:endParaRPr/>
          </a:p>
          <a:p>
            <a:pPr indent="0" lvl="0" marL="0" rtl="0" algn="l">
              <a:lnSpc>
                <a:spcPct val="100000"/>
              </a:lnSpc>
              <a:spcBef>
                <a:spcPts val="0"/>
              </a:spcBef>
              <a:spcAft>
                <a:spcPts val="0"/>
              </a:spcAft>
              <a:buClr>
                <a:schemeClr val="dk1"/>
              </a:buClr>
              <a:buSzPts val="1200"/>
              <a:buFont typeface="Arial"/>
              <a:buChar char="•"/>
            </a:pPr>
            <a:r>
              <a:rPr lang="en-US"/>
              <a:t>Rezultati mogu biti neočekivani i suprotni logičkom razmišljanju</a:t>
            </a:r>
            <a:endParaRPr/>
          </a:p>
          <a:p>
            <a:pPr indent="0" lvl="0" marL="0" rtl="0" algn="l">
              <a:lnSpc>
                <a:spcPct val="100000"/>
              </a:lnSpc>
              <a:spcBef>
                <a:spcPts val="0"/>
              </a:spcBef>
              <a:spcAft>
                <a:spcPts val="0"/>
              </a:spcAft>
              <a:buClr>
                <a:schemeClr val="dk1"/>
              </a:buClr>
              <a:buSzPts val="1200"/>
              <a:buFont typeface="Arial"/>
              <a:buChar char="•"/>
            </a:pPr>
            <a:r>
              <a:rPr lang="en-US"/>
              <a:t>Drugi istraživači mogu provjeriti rezultate i zaključke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Laički pristup</a:t>
            </a:r>
            <a:endParaRPr/>
          </a:p>
          <a:p>
            <a:pPr indent="0" lvl="0" marL="0" rtl="0" algn="l">
              <a:lnSpc>
                <a:spcPct val="100000"/>
              </a:lnSpc>
              <a:spcBef>
                <a:spcPts val="0"/>
              </a:spcBef>
              <a:spcAft>
                <a:spcPts val="0"/>
              </a:spcAft>
              <a:buClr>
                <a:schemeClr val="dk1"/>
              </a:buClr>
              <a:buSzPts val="1200"/>
              <a:buFont typeface="Arial"/>
              <a:buChar char="•"/>
            </a:pPr>
            <a:r>
              <a:rPr lang="en-US"/>
              <a:t>Nesistematičan, usmjeren na prigodne pojave, uvjeti nisu definirani</a:t>
            </a:r>
            <a:endParaRPr/>
          </a:p>
          <a:p>
            <a:pPr indent="0" lvl="0" marL="0" rtl="0" algn="l">
              <a:lnSpc>
                <a:spcPct val="100000"/>
              </a:lnSpc>
              <a:spcBef>
                <a:spcPts val="0"/>
              </a:spcBef>
              <a:spcAft>
                <a:spcPts val="0"/>
              </a:spcAft>
              <a:buClr>
                <a:schemeClr val="dk1"/>
              </a:buClr>
              <a:buSzPts val="1200"/>
              <a:buFont typeface="Arial"/>
              <a:buChar char="•"/>
            </a:pPr>
            <a:r>
              <a:rPr lang="en-US"/>
              <a:t>Subjektivna spoznaja pod utjecajem naših raspoloženja, želja, očekivanja ili potreba</a:t>
            </a:r>
            <a:endParaRPr/>
          </a:p>
          <a:p>
            <a:pPr indent="0" lvl="0" marL="0" rtl="0" algn="l">
              <a:lnSpc>
                <a:spcPct val="100000"/>
              </a:lnSpc>
              <a:spcBef>
                <a:spcPts val="0"/>
              </a:spcBef>
              <a:spcAft>
                <a:spcPts val="0"/>
              </a:spcAft>
              <a:buClr>
                <a:schemeClr val="dk1"/>
              </a:buClr>
              <a:buSzPts val="1200"/>
              <a:buFont typeface="Arial"/>
              <a:buChar char="•"/>
            </a:pPr>
            <a:r>
              <a:rPr lang="en-US"/>
              <a:t>Na temelju jednog ili nekolicine opaženih slučajeva stvaraju se stavovi i donose opći zaključci</a:t>
            </a:r>
            <a:endParaRPr/>
          </a:p>
          <a:p>
            <a:pPr indent="0" lvl="0" marL="0" rtl="0" algn="l">
              <a:lnSpc>
                <a:spcPct val="100000"/>
              </a:lnSpc>
              <a:spcBef>
                <a:spcPts val="0"/>
              </a:spcBef>
              <a:spcAft>
                <a:spcPts val="0"/>
              </a:spcAft>
              <a:buClr>
                <a:schemeClr val="dk1"/>
              </a:buClr>
              <a:buSzPts val="1200"/>
              <a:buFont typeface="Arial"/>
              <a:buChar char="•"/>
            </a:pPr>
            <a:r>
              <a:rPr lang="en-US"/>
              <a:t>Koristi se logičkim zaključivanjem i intuicijom</a:t>
            </a:r>
            <a:endParaRPr/>
          </a:p>
          <a:p>
            <a:pPr indent="0" lvl="0" marL="0" rtl="0" algn="l">
              <a:lnSpc>
                <a:spcPct val="100000"/>
              </a:lnSpc>
              <a:spcBef>
                <a:spcPts val="0"/>
              </a:spcBef>
              <a:spcAft>
                <a:spcPts val="0"/>
              </a:spcAft>
              <a:buClr>
                <a:schemeClr val="dk1"/>
              </a:buClr>
              <a:buSzPts val="1200"/>
              <a:buFont typeface="Arial"/>
              <a:buChar char="•"/>
            </a:pPr>
            <a:r>
              <a:rPr lang="en-US"/>
              <a:t>Objašnjenja mogu biti točna i netočna</a:t>
            </a:r>
            <a:endParaRPr/>
          </a:p>
          <a:p>
            <a:pPr indent="0" lvl="0" marL="0" rtl="0" algn="l">
              <a:lnSpc>
                <a:spcPct val="100000"/>
              </a:lnSpc>
              <a:spcBef>
                <a:spcPts val="0"/>
              </a:spcBef>
              <a:spcAft>
                <a:spcPts val="0"/>
              </a:spcAft>
              <a:buClr>
                <a:schemeClr val="dk1"/>
              </a:buClr>
              <a:buSzPts val="1200"/>
              <a:buFont typeface="Arial"/>
              <a:buChar char="•"/>
            </a:pPr>
            <a:r>
              <a:rPr lang="en-US"/>
              <a:t>Drugi ne provjeravaju naše zaključke</a:t>
            </a:r>
            <a:endParaRPr/>
          </a:p>
        </p:txBody>
      </p:sp>
      <p:sp>
        <p:nvSpPr>
          <p:cNvPr id="127" name="Google Shape;127;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8" name="Google Shape;168;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Phineas Gage bio je vedar i marljiv radnik na željeznici, kojemu se nakon nesreće promijenila osobnost pa je postao impulzivan i bezobrazan prema drugima. Gage je doživio nesreću kad mu je željezna šipka prošla kroz glavu. Njegova ozljeda omogućila je razumijevanje kako oštećenja čeonog režnja mozga utječu na promjenu osobnosti. Studije slučaja često se koriste za bolje razumijevanje funkcioniranja mozga te se najčešće proučavaju ljudi s oštećenjima zbog bolesti ili povreda. </a:t>
            </a:r>
            <a:endParaRPr/>
          </a:p>
        </p:txBody>
      </p:sp>
      <p:sp>
        <p:nvSpPr>
          <p:cNvPr id="175" name="Google Shape;175;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046180cc6f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046180cc6f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g3046180cc6f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Za one koji žele znati više!</a:t>
            </a:r>
            <a:endParaRPr/>
          </a:p>
        </p:txBody>
      </p:sp>
      <p:sp>
        <p:nvSpPr>
          <p:cNvPr id="239" name="Google Shape;239;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 </a:t>
            </a:r>
            <a:r>
              <a:rPr lang="en-US" sz="1200"/>
              <a:t> </a:t>
            </a:r>
            <a:r>
              <a:rPr lang="en-US"/>
              <a:t>Za one koji žele znati više!</a:t>
            </a:r>
            <a:endParaRPr/>
          </a:p>
          <a:p>
            <a:pPr indent="0" lvl="0" marL="0" marR="0" rtl="0" algn="l">
              <a:lnSpc>
                <a:spcPct val="100000"/>
              </a:lnSpc>
              <a:spcBef>
                <a:spcPts val="0"/>
              </a:spcBef>
              <a:spcAft>
                <a:spcPts val="0"/>
              </a:spcAft>
              <a:buClr>
                <a:schemeClr val="dk1"/>
              </a:buClr>
              <a:buSzPts val="1200"/>
              <a:buFont typeface="Arial"/>
              <a:buChar char="•"/>
            </a:pPr>
            <a:r>
              <a:rPr lang="en-US" sz="1200"/>
              <a:t>font 12</a:t>
            </a:r>
            <a:endParaRPr/>
          </a:p>
          <a:p>
            <a:pPr indent="0" lvl="0" marL="0" marR="0" rtl="0" algn="l">
              <a:lnSpc>
                <a:spcPct val="100000"/>
              </a:lnSpc>
              <a:spcBef>
                <a:spcPts val="0"/>
              </a:spcBef>
              <a:spcAft>
                <a:spcPts val="0"/>
              </a:spcAft>
              <a:buClr>
                <a:schemeClr val="dk1"/>
              </a:buClr>
              <a:buSzPts val="1200"/>
              <a:buFont typeface="Arial"/>
              <a:buChar char="•"/>
            </a:pPr>
            <a:r>
              <a:rPr lang="en-US" sz="1200"/>
              <a:t>prored 1,5</a:t>
            </a:r>
            <a:endParaRPr sz="1200"/>
          </a:p>
          <a:p>
            <a:pPr indent="0" lvl="0" marL="0" marR="0" rtl="0" algn="l">
              <a:lnSpc>
                <a:spcPct val="100000"/>
              </a:lnSpc>
              <a:spcBef>
                <a:spcPts val="0"/>
              </a:spcBef>
              <a:spcAft>
                <a:spcPts val="0"/>
              </a:spcAft>
              <a:buSzPts val="1400"/>
              <a:buChar char="•"/>
            </a:pPr>
            <a:r>
              <a:rPr lang="en-US"/>
              <a:t> 1 do 2 kartice teksta ( 1 kartica = 1500 znakova s prazninama)</a:t>
            </a:r>
            <a:endParaRPr/>
          </a:p>
          <a:p>
            <a:pPr indent="0" lvl="0" marL="0" marR="0" rtl="0" algn="l">
              <a:lnSpc>
                <a:spcPct val="100000"/>
              </a:lnSpc>
              <a:spcBef>
                <a:spcPts val="0"/>
              </a:spcBef>
              <a:spcAft>
                <a:spcPts val="0"/>
              </a:spcAft>
              <a:buClr>
                <a:schemeClr val="dk1"/>
              </a:buClr>
              <a:buSzPts val="1200"/>
              <a:buFont typeface="Arial"/>
              <a:buNone/>
            </a:pPr>
            <a:r>
              <a:t/>
            </a:r>
            <a:endParaRPr sz="1200"/>
          </a:p>
          <a:p>
            <a:pPr indent="0" lvl="0" marL="0" marR="0" rtl="0" algn="l">
              <a:lnSpc>
                <a:spcPct val="100000"/>
              </a:lnSpc>
              <a:spcBef>
                <a:spcPts val="0"/>
              </a:spcBef>
              <a:spcAft>
                <a:spcPts val="0"/>
              </a:spcAft>
              <a:buClr>
                <a:schemeClr val="dk1"/>
              </a:buClr>
              <a:buSzPts val="1200"/>
              <a:buFont typeface="Arial"/>
              <a:buChar char="•"/>
            </a:pPr>
            <a:r>
              <a:rPr lang="en-US" sz="1200"/>
              <a:t>poslati na mail </a:t>
            </a:r>
            <a:r>
              <a:rPr lang="en-US"/>
              <a:t>(datum predaje za dva tjedna)</a:t>
            </a:r>
            <a:endParaRPr sz="1200"/>
          </a:p>
          <a:p>
            <a:pPr indent="0" lvl="0" marL="0" marR="0" rtl="0" algn="l">
              <a:lnSpc>
                <a:spcPct val="100000"/>
              </a:lnSpc>
              <a:spcBef>
                <a:spcPts val="0"/>
              </a:spcBef>
              <a:spcAft>
                <a:spcPts val="0"/>
              </a:spcAft>
              <a:buClr>
                <a:schemeClr val="dk1"/>
              </a:buClr>
              <a:buSzPts val="1200"/>
              <a:buFont typeface="Arial"/>
              <a:buChar char="•"/>
            </a:pPr>
            <a:r>
              <a:rPr lang="en-US" sz="1200"/>
              <a:t>balasko.lucia@gmail.com </a:t>
            </a:r>
            <a:endParaRPr/>
          </a:p>
          <a:p>
            <a:pPr indent="0" lvl="0" marL="0" marR="0" rtl="0" algn="l">
              <a:lnSpc>
                <a:spcPct val="100000"/>
              </a:lnSpc>
              <a:spcBef>
                <a:spcPts val="0"/>
              </a:spcBef>
              <a:spcAft>
                <a:spcPts val="0"/>
              </a:spcAft>
              <a:buClr>
                <a:schemeClr val="dk1"/>
              </a:buClr>
              <a:buSzPts val="1200"/>
              <a:buFont typeface="Arial"/>
              <a:buNone/>
            </a:pPr>
            <a:r>
              <a:t/>
            </a:r>
            <a:endParaRPr sz="1200"/>
          </a:p>
          <a:p>
            <a:pPr indent="0" lvl="0" marL="0" marR="0" rtl="0" algn="l">
              <a:lnSpc>
                <a:spcPct val="100000"/>
              </a:lnSpc>
              <a:spcBef>
                <a:spcPts val="0"/>
              </a:spcBef>
              <a:spcAft>
                <a:spcPts val="0"/>
              </a:spcAft>
              <a:buClr>
                <a:schemeClr val="dk1"/>
              </a:buClr>
              <a:buSzPts val="1200"/>
              <a:buFont typeface="Arial"/>
              <a:buChar char="•"/>
            </a:pPr>
            <a:r>
              <a:rPr lang="en-US" sz="1200"/>
              <a:t>vrednovanje: +/-</a:t>
            </a:r>
            <a:endParaRPr sz="1200"/>
          </a:p>
          <a:p>
            <a:pPr indent="0" lvl="0" marL="0" marR="0" rtl="0" algn="l">
              <a:lnSpc>
                <a:spcPct val="100000"/>
              </a:lnSpc>
              <a:spcBef>
                <a:spcPts val="0"/>
              </a:spcBef>
              <a:spcAft>
                <a:spcPts val="0"/>
              </a:spcAft>
              <a:buClr>
                <a:schemeClr val="dk1"/>
              </a:buClr>
              <a:buSzPts val="1200"/>
              <a:buFont typeface="Arial"/>
              <a:buNone/>
            </a:pPr>
            <a:r>
              <a:t/>
            </a:r>
            <a:endParaRPr sz="1200"/>
          </a:p>
          <a:p>
            <a:pPr indent="0" lvl="0" marL="0" rtl="0" algn="l">
              <a:lnSpc>
                <a:spcPct val="100000"/>
              </a:lnSpc>
              <a:spcBef>
                <a:spcPts val="0"/>
              </a:spcBef>
              <a:spcAft>
                <a:spcPts val="0"/>
              </a:spcAft>
              <a:buSzPts val="1400"/>
              <a:buNone/>
            </a:pPr>
            <a:r>
              <a:t/>
            </a:r>
            <a:endParaRPr/>
          </a:p>
        </p:txBody>
      </p:sp>
      <p:sp>
        <p:nvSpPr>
          <p:cNvPr id="250" name="Google Shape;250;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400"/>
              <a:buFont typeface="Arial"/>
              <a:buNone/>
            </a:pPr>
            <a:r>
              <a:rPr lang="en-US"/>
              <a:t>Za one koji žele znati više!</a:t>
            </a:r>
            <a:endParaRPr/>
          </a:p>
        </p:txBody>
      </p:sp>
      <p:sp>
        <p:nvSpPr>
          <p:cNvPr id="257" name="Google Shape;257;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SzPts val="1400"/>
              <a:buNone/>
            </a:pPr>
            <a:r>
              <a:rPr b="0" lang="en-US" sz="1110"/>
              <a:t>Za one koji žele znati više!</a:t>
            </a:r>
            <a:endParaRPr/>
          </a:p>
          <a:p>
            <a:pPr indent="0" lvl="0" marL="0" rtl="0" algn="l">
              <a:lnSpc>
                <a:spcPct val="80000"/>
              </a:lnSpc>
              <a:spcBef>
                <a:spcPts val="0"/>
              </a:spcBef>
              <a:spcAft>
                <a:spcPts val="0"/>
              </a:spcAft>
              <a:buSzPts val="1400"/>
              <a:buNone/>
            </a:pPr>
            <a:r>
              <a:t/>
            </a:r>
            <a:endParaRPr b="1" sz="1110"/>
          </a:p>
          <a:p>
            <a:pPr indent="0" lvl="0" marL="0" rtl="0" algn="l">
              <a:lnSpc>
                <a:spcPct val="80000"/>
              </a:lnSpc>
              <a:spcBef>
                <a:spcPts val="0"/>
              </a:spcBef>
              <a:spcAft>
                <a:spcPts val="0"/>
              </a:spcAft>
              <a:buSzPts val="1400"/>
              <a:buNone/>
            </a:pPr>
            <a:r>
              <a:rPr b="1" lang="en-US" sz="1110"/>
              <a:t>Eugenika </a:t>
            </a:r>
            <a:r>
              <a:rPr b="0" lang="en-US" sz="1110"/>
              <a:t>se može razumjeti kao disciplina usmjerena na metode poboljšanja tjelesnih i duševnih osobina čovjeka, a njezino je osnovno načelo da valja poticati rođenje djece od zdravih roditelja (sposobnijih). Temelji se na socijalnom darvinizmu, odnosno uvjerenju (koje je etički upitno) da određeni ljudi postižu uspjeh zato što su bolji od drugih već pri rođenju, odnosno sposobniji po prirodi. </a:t>
            </a:r>
            <a:endParaRPr/>
          </a:p>
          <a:p>
            <a:pPr indent="-70485" lvl="0" marL="0" rtl="0" algn="l">
              <a:lnSpc>
                <a:spcPct val="80000"/>
              </a:lnSpc>
              <a:spcBef>
                <a:spcPts val="0"/>
              </a:spcBef>
              <a:spcAft>
                <a:spcPts val="0"/>
              </a:spcAft>
              <a:buClr>
                <a:schemeClr val="dk1"/>
              </a:buClr>
              <a:buSzPts val="1110"/>
              <a:buFont typeface="Calibri"/>
              <a:buChar char="-"/>
            </a:pPr>
            <a:r>
              <a:rPr b="0" lang="en-US" sz="1110"/>
              <a:t>Francis Galton, proučava je djecu imućnijih obitelji u Engleskoj i zaključito da su djeca bogatih roditelja uspješnija. “Bogatiji, tj. sposobniji roditelji rađaju i sposobniju djecu”. Naime, njegova pretpostavka ne drži vodi jer mu je pristup bio pogrešan. On je proučavao samo bogatije obitelji koje su svojoj djeci mogle priuštiti više od samih početaka, također, proučavao je to u doba kad je engleska imala vrlo podijeljeno društvo a društvena mobilnost (prelazak iz jednog društ. Sloja u drugi) bila je gotovo nemoguća. Prema tome, utjecaj društva u ovom je slučaju vrlo značajan, a Galton to nije uzeo u obzir te zato došao do prilično pogrešnih pretpostavki.</a:t>
            </a:r>
            <a:endParaRPr/>
          </a:p>
          <a:p>
            <a:pPr indent="0" lvl="0" marL="0" rtl="0" algn="l">
              <a:lnSpc>
                <a:spcPct val="80000"/>
              </a:lnSpc>
              <a:spcBef>
                <a:spcPts val="0"/>
              </a:spcBef>
              <a:spcAft>
                <a:spcPts val="0"/>
              </a:spcAft>
              <a:buClr>
                <a:schemeClr val="dk1"/>
              </a:buClr>
              <a:buSzPts val="1110"/>
              <a:buFont typeface="Calibri"/>
              <a:buNone/>
            </a:pPr>
            <a:r>
              <a:t/>
            </a:r>
            <a:endParaRPr b="0" sz="1110"/>
          </a:p>
          <a:p>
            <a:pPr indent="0" lvl="0" marL="0" rtl="0" algn="l">
              <a:lnSpc>
                <a:spcPct val="80000"/>
              </a:lnSpc>
              <a:spcBef>
                <a:spcPts val="0"/>
              </a:spcBef>
              <a:spcAft>
                <a:spcPts val="0"/>
              </a:spcAft>
              <a:buClr>
                <a:schemeClr val="dk1"/>
              </a:buClr>
              <a:buSzPts val="1110"/>
              <a:buFont typeface="Calibri"/>
              <a:buNone/>
            </a:pPr>
            <a:r>
              <a:rPr b="0" lang="en-US" sz="1110"/>
              <a:t>Problem je što su ovakva kriva tumačenja bila korištena kao opravdanje pogrešne pretpostavke o nadmoći bijele rase nad drugima, za promicanje ropstva i podređenosti te društvene nejednakosti. Za vrijeme nacizma, eugenika se u Njemačkoj primjenjivala na vrlo izopačen način. U SAD-u isto – sterilizacija duševnih bolesnika.</a:t>
            </a:r>
            <a:endParaRPr sz="1110"/>
          </a:p>
        </p:txBody>
      </p:sp>
      <p:sp>
        <p:nvSpPr>
          <p:cNvPr id="264" name="Google Shape;264;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Za one koji žele znati više!</a:t>
            </a:r>
            <a:endParaRPr/>
          </a:p>
        </p:txBody>
      </p:sp>
      <p:sp>
        <p:nvSpPr>
          <p:cNvPr id="276" name="Google Shape;276;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7" name="Google Shape;287;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slovni slajd" type="title">
  <p:cSld name="TITLE">
    <p:spTree>
      <p:nvGrpSpPr>
        <p:cNvPr id="15" name="Shape 15"/>
        <p:cNvGrpSpPr/>
        <p:nvPr/>
      </p:nvGrpSpPr>
      <p:grpSpPr>
        <a:xfrm>
          <a:off x="0" y="0"/>
          <a:ext cx="0" cy="0"/>
          <a:chOff x="0" y="0"/>
          <a:chExt cx="0" cy="0"/>
        </a:xfrm>
      </p:grpSpPr>
      <p:sp>
        <p:nvSpPr>
          <p:cNvPr id="16" name="Google Shape;16;p5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slov i sadržaj" type="obj">
  <p:cSld name="OBJECT">
    <p:spTree>
      <p:nvGrpSpPr>
        <p:cNvPr id="21" name="Shape 21"/>
        <p:cNvGrpSpPr/>
        <p:nvPr/>
      </p:nvGrpSpPr>
      <p:grpSpPr>
        <a:xfrm>
          <a:off x="0" y="0"/>
          <a:ext cx="0" cy="0"/>
          <a:chOff x="0" y="0"/>
          <a:chExt cx="0" cy="0"/>
        </a:xfrm>
      </p:grpSpPr>
      <p:sp>
        <p:nvSpPr>
          <p:cNvPr id="22" name="Google Shape;22;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aglavlje sekcije" type="secHead">
  <p:cSld name="SECTION_HEADER">
    <p:spTree>
      <p:nvGrpSpPr>
        <p:cNvPr id="27" name="Shape 27"/>
        <p:cNvGrpSpPr/>
        <p:nvPr/>
      </p:nvGrpSpPr>
      <p:grpSpPr>
        <a:xfrm>
          <a:off x="0" y="0"/>
          <a:ext cx="0" cy="0"/>
          <a:chOff x="0" y="0"/>
          <a:chExt cx="0" cy="0"/>
        </a:xfrm>
      </p:grpSpPr>
      <p:sp>
        <p:nvSpPr>
          <p:cNvPr id="28" name="Google Shape;28;p5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va sadržaja" type="twoObj">
  <p:cSld name="TWO_OBJECTS">
    <p:spTree>
      <p:nvGrpSpPr>
        <p:cNvPr id="33" name="Shape 33"/>
        <p:cNvGrpSpPr/>
        <p:nvPr/>
      </p:nvGrpSpPr>
      <p:grpSpPr>
        <a:xfrm>
          <a:off x="0" y="0"/>
          <a:ext cx="0" cy="0"/>
          <a:chOff x="0" y="0"/>
          <a:chExt cx="0" cy="0"/>
        </a:xfrm>
      </p:grpSpPr>
      <p:sp>
        <p:nvSpPr>
          <p:cNvPr id="34" name="Google Shape;34;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poredba" type="twoTxTwoObj">
  <p:cSld name="TWO_OBJECTS_WITH_TEXT">
    <p:spTree>
      <p:nvGrpSpPr>
        <p:cNvPr id="40" name="Shape 40"/>
        <p:cNvGrpSpPr/>
        <p:nvPr/>
      </p:nvGrpSpPr>
      <p:grpSpPr>
        <a:xfrm>
          <a:off x="0" y="0"/>
          <a:ext cx="0" cy="0"/>
          <a:chOff x="0" y="0"/>
          <a:chExt cx="0" cy="0"/>
        </a:xfrm>
      </p:grpSpPr>
      <p:sp>
        <p:nvSpPr>
          <p:cNvPr id="41" name="Google Shape;41;p5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5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5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5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mo naslov" type="titleOnly">
  <p:cSld name="TITLE_ONLY">
    <p:spTree>
      <p:nvGrpSpPr>
        <p:cNvPr id="49" name="Shape 49"/>
        <p:cNvGrpSpPr/>
        <p:nvPr/>
      </p:nvGrpSpPr>
      <p:grpSpPr>
        <a:xfrm>
          <a:off x="0" y="0"/>
          <a:ext cx="0" cy="0"/>
          <a:chOff x="0" y="0"/>
          <a:chExt cx="0" cy="0"/>
        </a:xfrm>
      </p:grpSpPr>
      <p:sp>
        <p:nvSpPr>
          <p:cNvPr id="50" name="Google Shape;50;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azno" type="blank">
  <p:cSld name="BLANK">
    <p:spTree>
      <p:nvGrpSpPr>
        <p:cNvPr id="54" name="Shape 54"/>
        <p:cNvGrpSpPr/>
        <p:nvPr/>
      </p:nvGrpSpPr>
      <p:grpSpPr>
        <a:xfrm>
          <a:off x="0" y="0"/>
          <a:ext cx="0" cy="0"/>
          <a:chOff x="0" y="0"/>
          <a:chExt cx="0" cy="0"/>
        </a:xfrm>
      </p:grpSpPr>
      <p:sp>
        <p:nvSpPr>
          <p:cNvPr id="55" name="Google Shape;55;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držaj s opisom" type="objTx">
  <p:cSld name="OBJECT_WITH_CAPTION_TEXT">
    <p:spTree>
      <p:nvGrpSpPr>
        <p:cNvPr id="58" name="Shape 58"/>
        <p:cNvGrpSpPr/>
        <p:nvPr/>
      </p:nvGrpSpPr>
      <p:grpSpPr>
        <a:xfrm>
          <a:off x="0" y="0"/>
          <a:ext cx="0" cy="0"/>
          <a:chOff x="0" y="0"/>
          <a:chExt cx="0" cy="0"/>
        </a:xfrm>
      </p:grpSpPr>
      <p:sp>
        <p:nvSpPr>
          <p:cNvPr id="59" name="Google Shape;59;p6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6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ka s opisom" type="picTx">
  <p:cSld name="PICTURE_WITH_CAPTION_TEXT">
    <p:spTree>
      <p:nvGrpSpPr>
        <p:cNvPr id="65" name="Shape 65"/>
        <p:cNvGrpSpPr/>
        <p:nvPr/>
      </p:nvGrpSpPr>
      <p:grpSpPr>
        <a:xfrm>
          <a:off x="0" y="0"/>
          <a:ext cx="0" cy="0"/>
          <a:chOff x="0" y="0"/>
          <a:chExt cx="0" cy="0"/>
        </a:xfrm>
      </p:grpSpPr>
      <p:sp>
        <p:nvSpPr>
          <p:cNvPr id="66" name="Google Shape;66;p6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1"/>
          <p:cNvSpPr/>
          <p:nvPr>
            <p:ph idx="2" type="pic"/>
          </p:nvPr>
        </p:nvSpPr>
        <p:spPr>
          <a:xfrm>
            <a:off x="5183188" y="987425"/>
            <a:ext cx="6172200" cy="4873625"/>
          </a:xfrm>
          <a:prstGeom prst="rect">
            <a:avLst/>
          </a:prstGeom>
          <a:noFill/>
          <a:ln>
            <a:noFill/>
          </a:ln>
        </p:spPr>
      </p:sp>
      <p:sp>
        <p:nvSpPr>
          <p:cNvPr id="68" name="Google Shape;68;p6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slov i okomiti tekst" type="vertTx">
  <p:cSld name="VERTICAL_TEXT">
    <p:spTree>
      <p:nvGrpSpPr>
        <p:cNvPr id="72" name="Shape 72"/>
        <p:cNvGrpSpPr/>
        <p:nvPr/>
      </p:nvGrpSpPr>
      <p:grpSpPr>
        <a:xfrm>
          <a:off x="0" y="0"/>
          <a:ext cx="0" cy="0"/>
          <a:chOff x="0" y="0"/>
          <a:chExt cx="0" cy="0"/>
        </a:xfrm>
      </p:grpSpPr>
      <p:sp>
        <p:nvSpPr>
          <p:cNvPr id="73" name="Google Shape;73;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6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komiti naslov i tekst" type="vertTitleAndTx">
  <p:cSld name="VERTICAL_TITLE_AND_VERTICAL_TEXT">
    <p:spTree>
      <p:nvGrpSpPr>
        <p:cNvPr id="78" name="Shape 78"/>
        <p:cNvGrpSpPr/>
        <p:nvPr/>
      </p:nvGrpSpPr>
      <p:grpSpPr>
        <a:xfrm>
          <a:off x="0" y="0"/>
          <a:ext cx="0" cy="0"/>
          <a:chOff x="0" y="0"/>
          <a:chExt cx="0" cy="0"/>
        </a:xfrm>
      </p:grpSpPr>
      <p:sp>
        <p:nvSpPr>
          <p:cNvPr id="79" name="Google Shape;79;p6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6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skole.hr/parapsihologija/" TargetMode="External"/><Relationship Id="rId4" Type="http://schemas.openxmlformats.org/officeDocument/2006/relationships/image" Target="../media/image1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6.jp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g"/><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youtube.com/watch?v=AkwWcHekMdo" TargetMode="Externa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8.jpg"/><Relationship Id="rId4"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www.youtube.com/watch?v=zZ3l1jgmYrY"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0.gif"/><Relationship Id="rId4" Type="http://schemas.openxmlformats.org/officeDocument/2006/relationships/image" Target="../media/image2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www.youtube.com/watch?v=hFV71QPvX2I" TargetMode="External"/><Relationship Id="rId4" Type="http://schemas.openxmlformats.org/officeDocument/2006/relationships/hyperlink" Target="https://www.youtube.com/watch?v=GyN2RhbhiEU" TargetMode="External"/><Relationship Id="rId5" Type="http://schemas.openxmlformats.org/officeDocument/2006/relationships/hyperlink" Target="https://www.youtube.com/watch?v=cSKGa_7XJkg&amp;t=125s" TargetMode="External"/><Relationship Id="rId6" Type="http://schemas.openxmlformats.org/officeDocument/2006/relationships/hyperlink" Target="https://www.youtube.com/watch?v=GUpd2HJHUt8" TargetMode="External"/><Relationship Id="rId7" Type="http://schemas.openxmlformats.org/officeDocument/2006/relationships/hyperlink" Target="https://www.youtube.com/watch?v=dItUGF8GdTw"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2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A close up of text on a white background&#10;&#10;Description automatically generated" id="90" name="Google Shape;90;p27"/>
          <p:cNvPicPr preferRelativeResize="0"/>
          <p:nvPr/>
        </p:nvPicPr>
        <p:blipFill rotWithShape="1">
          <a:blip r:embed="rId3">
            <a:alphaModFix amt="70000"/>
          </a:blip>
          <a:srcRect b="-1" l="17992" r="27972" t="0"/>
          <a:stretch/>
        </p:blipFill>
        <p:spPr>
          <a:xfrm>
            <a:off x="3523475" y="0"/>
            <a:ext cx="8668525" cy="6858000"/>
          </a:xfrm>
          <a:prstGeom prst="rect">
            <a:avLst/>
          </a:prstGeom>
          <a:noFill/>
          <a:ln>
            <a:noFill/>
          </a:ln>
        </p:spPr>
      </p:pic>
      <p:sp>
        <p:nvSpPr>
          <p:cNvPr id="91" name="Google Shape;91;p27"/>
          <p:cNvSpPr/>
          <p:nvPr/>
        </p:nvSpPr>
        <p:spPr>
          <a:xfrm>
            <a:off x="0" y="0"/>
            <a:ext cx="9756601" cy="6858000"/>
          </a:xfrm>
          <a:prstGeom prst="rect">
            <a:avLst/>
          </a:prstGeom>
          <a:gradFill>
            <a:gsLst>
              <a:gs pos="0">
                <a:srgbClr val="FFFFFF">
                  <a:alpha val="0"/>
                </a:srgbClr>
              </a:gs>
              <a:gs pos="19000">
                <a:srgbClr val="FFFFFF">
                  <a:alpha val="37254"/>
                </a:srgbClr>
              </a:gs>
              <a:gs pos="35000">
                <a:srgbClr val="FFFFFF">
                  <a:alpha val="78431"/>
                </a:srgbClr>
              </a:gs>
              <a:gs pos="58000">
                <a:schemeClr val="lt1"/>
              </a:gs>
              <a:gs pos="100000">
                <a:schemeClr val="lt1"/>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2" name="Google Shape;92;p27"/>
          <p:cNvSpPr txBox="1"/>
          <p:nvPr>
            <p:ph type="title"/>
          </p:nvPr>
        </p:nvSpPr>
        <p:spPr>
          <a:xfrm>
            <a:off x="833073" y="1056404"/>
            <a:ext cx="4936982" cy="3336659"/>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b="1" lang="en-US" sz="4800"/>
              <a:t>Znanstveni pristup u psihologiji</a:t>
            </a:r>
            <a:endParaRPr b="1" sz="4800"/>
          </a:p>
        </p:txBody>
      </p:sp>
      <p:sp>
        <p:nvSpPr>
          <p:cNvPr id="93" name="Google Shape;93;p27"/>
          <p:cNvSpPr txBox="1"/>
          <p:nvPr>
            <p:ph idx="1" type="body"/>
          </p:nvPr>
        </p:nvSpPr>
        <p:spPr>
          <a:xfrm>
            <a:off x="477980" y="4872922"/>
            <a:ext cx="4023359" cy="120814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000"/>
              <a:buNone/>
            </a:pPr>
            <a:r>
              <a:t/>
            </a:r>
            <a:endParaRPr sz="2000">
              <a:solidFill>
                <a:schemeClr val="dk1"/>
              </a:solidFill>
            </a:endParaRPr>
          </a:p>
        </p:txBody>
      </p:sp>
      <p:sp>
        <p:nvSpPr>
          <p:cNvPr id="94" name="Google Shape;94;p27"/>
          <p:cNvSpPr/>
          <p:nvPr/>
        </p:nvSpPr>
        <p:spPr>
          <a:xfrm rot="5400000">
            <a:off x="759921" y="346791"/>
            <a:ext cx="146304"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5" name="Google Shape;95;p27"/>
          <p:cNvSpPr/>
          <p:nvPr/>
        </p:nvSpPr>
        <p:spPr>
          <a:xfrm>
            <a:off x="481029" y="4546920"/>
            <a:ext cx="397764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Psihologija kao znanost </a:t>
            </a:r>
            <a:endParaRPr/>
          </a:p>
        </p:txBody>
      </p:sp>
      <p:sp>
        <p:nvSpPr>
          <p:cNvPr id="102" name="Google Shape;102;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Psihologija je </a:t>
            </a:r>
            <a:r>
              <a:rPr b="1" lang="en-US"/>
              <a:t>znanost</a:t>
            </a:r>
            <a:r>
              <a:rPr lang="en-US"/>
              <a:t> –  svoje tvrdnje, zakone i teorije zasniva na provedenim istraživanjima koja su </a:t>
            </a:r>
            <a:r>
              <a:rPr b="1" lang="en-US"/>
              <a:t>ponovljiva</a:t>
            </a:r>
            <a:r>
              <a:rPr lang="en-US"/>
              <a:t> i čiji su zaključci znanstveno valjani</a:t>
            </a:r>
            <a:endParaRPr b="1"/>
          </a:p>
          <a:p>
            <a:pPr indent="-228600" lvl="0" marL="228600" rtl="0" algn="l">
              <a:lnSpc>
                <a:spcPct val="90000"/>
              </a:lnSpc>
              <a:spcBef>
                <a:spcPts val="1000"/>
              </a:spcBef>
              <a:spcAft>
                <a:spcPts val="0"/>
              </a:spcAft>
              <a:buClr>
                <a:schemeClr val="dk1"/>
              </a:buClr>
              <a:buSzPts val="2800"/>
              <a:buChar char="•"/>
            </a:pPr>
            <a:r>
              <a:rPr lang="en-US"/>
              <a:t>parapsihologija</a:t>
            </a:r>
            <a:r>
              <a:rPr lang="en-US"/>
              <a:t>: </a:t>
            </a:r>
            <a:r>
              <a:rPr lang="en-US" u="sng">
                <a:solidFill>
                  <a:schemeClr val="hlink"/>
                </a:solidFill>
                <a:hlinkClick r:id="rId3"/>
              </a:rPr>
              <a:t>https://www.skole.hr/parapsihologija/</a:t>
            </a:r>
            <a:r>
              <a:rPr lang="en-US"/>
              <a:t>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descr="https://i.pinimg.com/originals/15/d9/f7/15d9f7735e9d4db46d9e84d2ba966c1a.jpg" id="103" name="Google Shape;103;p28"/>
          <p:cNvPicPr preferRelativeResize="0"/>
          <p:nvPr/>
        </p:nvPicPr>
        <p:blipFill rotWithShape="1">
          <a:blip r:embed="rId4">
            <a:alphaModFix/>
          </a:blip>
          <a:srcRect b="0" l="0" r="0" t="0"/>
          <a:stretch/>
        </p:blipFill>
        <p:spPr>
          <a:xfrm>
            <a:off x="3000375" y="4093185"/>
            <a:ext cx="5394761" cy="276481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 name="Shape 107"/>
        <p:cNvGrpSpPr/>
        <p:nvPr/>
      </p:nvGrpSpPr>
      <p:grpSpPr>
        <a:xfrm>
          <a:off x="0" y="0"/>
          <a:ext cx="0" cy="0"/>
          <a:chOff x="0" y="0"/>
          <a:chExt cx="0" cy="0"/>
        </a:xfrm>
      </p:grpSpPr>
      <p:sp>
        <p:nvSpPr>
          <p:cNvPr id="108" name="Google Shape;108;p29"/>
          <p:cNvSpPr/>
          <p:nvPr/>
        </p:nvSpPr>
        <p:spPr>
          <a:xfrm flipH="1">
            <a:off x="0" y="0"/>
            <a:ext cx="6483095" cy="6858000"/>
          </a:xfrm>
          <a:prstGeom prst="rect">
            <a:avLst/>
          </a:prstGeom>
          <a:gradFill>
            <a:gsLst>
              <a:gs pos="0">
                <a:srgbClr val="5A9BD5">
                  <a:alpha val="81568"/>
                </a:srgbClr>
              </a:gs>
              <a:gs pos="25000">
                <a:srgbClr val="5B9BD5">
                  <a:alpha val="60000"/>
                </a:srgbClr>
              </a:gs>
              <a:gs pos="94000">
                <a:srgbClr val="AEABAB"/>
              </a:gs>
              <a:gs pos="100000">
                <a:srgbClr val="AEABAB"/>
              </a:gs>
            </a:gsLst>
            <a:lin ang="4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09" name="Google Shape;109;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0" name="Google Shape;110;p29"/>
          <p:cNvSpPr txBox="1"/>
          <p:nvPr>
            <p:ph type="title"/>
          </p:nvPr>
        </p:nvSpPr>
        <p:spPr>
          <a:xfrm>
            <a:off x="6219356" y="517205"/>
            <a:ext cx="4977976" cy="173433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4100"/>
              <a:buFont typeface="Calibri"/>
              <a:buNone/>
            </a:pPr>
            <a:r>
              <a:rPr lang="en-US" sz="4100">
                <a:solidFill>
                  <a:srgbClr val="000000"/>
                </a:solidFill>
              </a:rPr>
              <a:t>Koraci u znanstvenom istraživanju? </a:t>
            </a:r>
            <a:endParaRPr sz="4100">
              <a:solidFill>
                <a:srgbClr val="000000"/>
              </a:solidFill>
            </a:endParaRPr>
          </a:p>
        </p:txBody>
      </p:sp>
      <p:sp>
        <p:nvSpPr>
          <p:cNvPr id="111" name="Google Shape;111;p29"/>
          <p:cNvSpPr/>
          <p:nvPr/>
        </p:nvSpPr>
        <p:spPr>
          <a:xfrm>
            <a:off x="1720409" y="1"/>
            <a:ext cx="3960192" cy="2251543"/>
          </a:xfrm>
          <a:custGeom>
            <a:rect b="b" l="l" r="r" t="t"/>
            <a:pathLst>
              <a:path extrusionOk="0" h="2251543" w="3960192">
                <a:moveTo>
                  <a:pt x="20753" y="0"/>
                </a:moveTo>
                <a:lnTo>
                  <a:pt x="3939439" y="0"/>
                </a:lnTo>
                <a:lnTo>
                  <a:pt x="3949969" y="68994"/>
                </a:lnTo>
                <a:cubicBezTo>
                  <a:pt x="3956729" y="135559"/>
                  <a:pt x="3960192" y="203099"/>
                  <a:pt x="3960192" y="271447"/>
                </a:cubicBezTo>
                <a:cubicBezTo>
                  <a:pt x="3960192" y="1365024"/>
                  <a:pt x="3073673" y="2251543"/>
                  <a:pt x="1980096" y="2251543"/>
                </a:cubicBezTo>
                <a:cubicBezTo>
                  <a:pt x="886519" y="2251543"/>
                  <a:pt x="0" y="1365024"/>
                  <a:pt x="0" y="271447"/>
                </a:cubicBezTo>
                <a:cubicBezTo>
                  <a:pt x="0" y="203099"/>
                  <a:pt x="3463" y="135559"/>
                  <a:pt x="10223" y="68994"/>
                </a:cubicBezTo>
                <a:close/>
              </a:path>
            </a:pathLst>
          </a:custGeom>
          <a:solidFill>
            <a:srgbClr val="FFFFFF"/>
          </a:solidFill>
          <a:ln cap="flat" cmpd="sng" w="12700">
            <a:solidFill>
              <a:srgbClr val="BBD6E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A close up of a logo&#10;&#10;Description automatically generated" id="112" name="Google Shape;112;p29"/>
          <p:cNvPicPr preferRelativeResize="0"/>
          <p:nvPr/>
        </p:nvPicPr>
        <p:blipFill rotWithShape="1">
          <a:blip r:embed="rId4">
            <a:alphaModFix/>
          </a:blip>
          <a:srcRect b="16007" l="0" r="-3" t="12393"/>
          <a:stretch/>
        </p:blipFill>
        <p:spPr>
          <a:xfrm>
            <a:off x="1860024" y="1"/>
            <a:ext cx="3674754" cy="2106932"/>
          </a:xfrm>
          <a:custGeom>
            <a:rect b="b" l="l" r="r" t="t"/>
            <a:pathLst>
              <a:path extrusionOk="0" h="2106932" w="3674754">
                <a:moveTo>
                  <a:pt x="21954" y="0"/>
                </a:moveTo>
                <a:lnTo>
                  <a:pt x="3652800" y="0"/>
                </a:lnTo>
                <a:lnTo>
                  <a:pt x="3665268" y="81694"/>
                </a:lnTo>
                <a:cubicBezTo>
                  <a:pt x="3671541" y="143461"/>
                  <a:pt x="3674754" y="206133"/>
                  <a:pt x="3674754" y="269555"/>
                </a:cubicBezTo>
                <a:cubicBezTo>
                  <a:pt x="3674754" y="1284311"/>
                  <a:pt x="2852132" y="2106932"/>
                  <a:pt x="1837377" y="2106932"/>
                </a:cubicBezTo>
                <a:cubicBezTo>
                  <a:pt x="822622" y="2106932"/>
                  <a:pt x="0" y="1284311"/>
                  <a:pt x="0" y="269555"/>
                </a:cubicBezTo>
                <a:cubicBezTo>
                  <a:pt x="0" y="206133"/>
                  <a:pt x="3214" y="143461"/>
                  <a:pt x="9486" y="81694"/>
                </a:cubicBezTo>
                <a:close/>
              </a:path>
            </a:pathLst>
          </a:custGeom>
          <a:noFill/>
          <a:ln>
            <a:noFill/>
          </a:ln>
        </p:spPr>
      </p:pic>
      <p:sp>
        <p:nvSpPr>
          <p:cNvPr id="113" name="Google Shape;113;p29"/>
          <p:cNvSpPr/>
          <p:nvPr/>
        </p:nvSpPr>
        <p:spPr>
          <a:xfrm flipH="1">
            <a:off x="0" y="2912701"/>
            <a:ext cx="4956705" cy="3945299"/>
          </a:xfrm>
          <a:custGeom>
            <a:rect b="b" l="l" r="r" t="t"/>
            <a:pathLst>
              <a:path extrusionOk="0" h="3945299" w="4956705">
                <a:moveTo>
                  <a:pt x="2718646" y="0"/>
                </a:moveTo>
                <a:cubicBezTo>
                  <a:pt x="3563221" y="0"/>
                  <a:pt x="4317846" y="385123"/>
                  <a:pt x="4816486" y="989335"/>
                </a:cubicBezTo>
                <a:lnTo>
                  <a:pt x="4956705" y="1176848"/>
                </a:lnTo>
                <a:lnTo>
                  <a:pt x="4956705" y="3945299"/>
                </a:lnTo>
                <a:lnTo>
                  <a:pt x="294783" y="3945299"/>
                </a:lnTo>
                <a:lnTo>
                  <a:pt x="213645" y="3776866"/>
                </a:lnTo>
                <a:cubicBezTo>
                  <a:pt x="76074" y="3451612"/>
                  <a:pt x="0" y="3094013"/>
                  <a:pt x="0" y="2718646"/>
                </a:cubicBezTo>
                <a:cubicBezTo>
                  <a:pt x="0" y="1217179"/>
                  <a:pt x="1217179" y="0"/>
                  <a:pt x="2718646" y="0"/>
                </a:cubicBezTo>
                <a:close/>
              </a:path>
            </a:pathLst>
          </a:custGeom>
          <a:solidFill>
            <a:srgbClr val="FFFFFF"/>
          </a:solidFill>
          <a:ln cap="flat" cmpd="sng" w="12700">
            <a:solidFill>
              <a:srgbClr val="BBD6E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A picture containing table, game&#10;&#10;Description automatically generated" id="114" name="Google Shape;114;p29"/>
          <p:cNvPicPr preferRelativeResize="0"/>
          <p:nvPr/>
        </p:nvPicPr>
        <p:blipFill rotWithShape="1">
          <a:blip r:embed="rId5">
            <a:alphaModFix/>
          </a:blip>
          <a:srcRect b="-1" l="7462" r="16452" t="0"/>
          <a:stretch/>
        </p:blipFill>
        <p:spPr>
          <a:xfrm>
            <a:off x="20" y="3076732"/>
            <a:ext cx="4792654" cy="3781268"/>
          </a:xfrm>
          <a:custGeom>
            <a:rect b="b" l="l" r="r" t="t"/>
            <a:pathLst>
              <a:path extrusionOk="0" h="3781268" w="4792674">
                <a:moveTo>
                  <a:pt x="2238059" y="0"/>
                </a:moveTo>
                <a:cubicBezTo>
                  <a:pt x="3648934" y="0"/>
                  <a:pt x="4792674" y="1143740"/>
                  <a:pt x="4792674" y="2554615"/>
                </a:cubicBezTo>
                <a:cubicBezTo>
                  <a:pt x="4792674" y="2995514"/>
                  <a:pt x="4680980" y="3410325"/>
                  <a:pt x="4484346" y="3772297"/>
                </a:cubicBezTo>
                <a:lnTo>
                  <a:pt x="4478895" y="3781268"/>
                </a:lnTo>
                <a:lnTo>
                  <a:pt x="0" y="3781268"/>
                </a:lnTo>
                <a:lnTo>
                  <a:pt x="0" y="1323391"/>
                </a:lnTo>
                <a:lnTo>
                  <a:pt x="119732" y="1126306"/>
                </a:lnTo>
                <a:cubicBezTo>
                  <a:pt x="578815" y="446774"/>
                  <a:pt x="1356262" y="0"/>
                  <a:pt x="2238059" y="0"/>
                </a:cubicBezTo>
                <a:close/>
              </a:path>
            </a:pathLst>
          </a:custGeom>
          <a:noFill/>
          <a:ln>
            <a:noFill/>
          </a:ln>
        </p:spPr>
      </p:pic>
      <p:sp>
        <p:nvSpPr>
          <p:cNvPr id="115" name="Google Shape;115;p29"/>
          <p:cNvSpPr txBox="1"/>
          <p:nvPr>
            <p:ph idx="1" type="body"/>
          </p:nvPr>
        </p:nvSpPr>
        <p:spPr>
          <a:xfrm>
            <a:off x="5820216" y="1771650"/>
            <a:ext cx="6109847" cy="5603554"/>
          </a:xfrm>
          <a:prstGeom prst="rect">
            <a:avLst/>
          </a:prstGeom>
          <a:noFill/>
          <a:ln>
            <a:noFill/>
          </a:ln>
        </p:spPr>
        <p:txBody>
          <a:bodyPr anchorCtr="0" anchor="ctr" bIns="45700" lIns="91425" spcFirstLastPara="1" rIns="91425" wrap="square" tIns="45700">
            <a:noAutofit/>
          </a:bodyPr>
          <a:lstStyle/>
          <a:p>
            <a:pPr indent="-514350" lvl="0" marL="514350" rtl="0" algn="l">
              <a:lnSpc>
                <a:spcPct val="90000"/>
              </a:lnSpc>
              <a:spcBef>
                <a:spcPts val="0"/>
              </a:spcBef>
              <a:spcAft>
                <a:spcPts val="0"/>
              </a:spcAft>
              <a:buClr>
                <a:srgbClr val="000000"/>
              </a:buClr>
              <a:buSzPts val="2800"/>
              <a:buAutoNum type="arabicPeriod"/>
            </a:pPr>
            <a:r>
              <a:rPr lang="en-US">
                <a:solidFill>
                  <a:srgbClr val="000000"/>
                </a:solidFill>
              </a:rPr>
              <a:t>Određivanje problema istraživanja</a:t>
            </a:r>
            <a:endParaRPr>
              <a:solidFill>
                <a:srgbClr val="000000"/>
              </a:solidFill>
            </a:endParaRPr>
          </a:p>
          <a:p>
            <a:pPr indent="-514350" lvl="0" marL="514350" rtl="0" algn="l">
              <a:lnSpc>
                <a:spcPct val="90000"/>
              </a:lnSpc>
              <a:spcBef>
                <a:spcPts val="1000"/>
              </a:spcBef>
              <a:spcAft>
                <a:spcPts val="0"/>
              </a:spcAft>
              <a:buClr>
                <a:srgbClr val="000000"/>
              </a:buClr>
              <a:buSzPts val="2800"/>
              <a:buAutoNum type="arabicPeriod"/>
            </a:pPr>
            <a:r>
              <a:rPr lang="en-US">
                <a:solidFill>
                  <a:srgbClr val="000000"/>
                </a:solidFill>
              </a:rPr>
              <a:t>Postavljanje hipoteze</a:t>
            </a:r>
            <a:endParaRPr>
              <a:solidFill>
                <a:srgbClr val="000000"/>
              </a:solidFill>
            </a:endParaRPr>
          </a:p>
          <a:p>
            <a:pPr indent="-514350" lvl="0" marL="514350" rtl="0" algn="l">
              <a:lnSpc>
                <a:spcPct val="90000"/>
              </a:lnSpc>
              <a:spcBef>
                <a:spcPts val="1000"/>
              </a:spcBef>
              <a:spcAft>
                <a:spcPts val="0"/>
              </a:spcAft>
              <a:buClr>
                <a:srgbClr val="000000"/>
              </a:buClr>
              <a:buSzPts val="2800"/>
              <a:buAutoNum type="arabicPeriod"/>
            </a:pPr>
            <a:r>
              <a:rPr lang="en-US">
                <a:solidFill>
                  <a:srgbClr val="000000"/>
                </a:solidFill>
              </a:rPr>
              <a:t>Kreiranje nacrta (plana) istraživanja</a:t>
            </a:r>
            <a:endParaRPr>
              <a:solidFill>
                <a:srgbClr val="000000"/>
              </a:solidFill>
            </a:endParaRPr>
          </a:p>
          <a:p>
            <a:pPr indent="-514350" lvl="0" marL="514350" rtl="0" algn="l">
              <a:lnSpc>
                <a:spcPct val="90000"/>
              </a:lnSpc>
              <a:spcBef>
                <a:spcPts val="1000"/>
              </a:spcBef>
              <a:spcAft>
                <a:spcPts val="0"/>
              </a:spcAft>
              <a:buClr>
                <a:srgbClr val="000000"/>
              </a:buClr>
              <a:buSzPts val="2800"/>
              <a:buAutoNum type="arabicPeriod"/>
            </a:pPr>
            <a:r>
              <a:rPr lang="en-US">
                <a:solidFill>
                  <a:srgbClr val="000000"/>
                </a:solidFill>
              </a:rPr>
              <a:t>Prikupljanje podataka</a:t>
            </a:r>
            <a:endParaRPr>
              <a:solidFill>
                <a:srgbClr val="000000"/>
              </a:solidFill>
            </a:endParaRPr>
          </a:p>
          <a:p>
            <a:pPr indent="-514350" lvl="0" marL="514350" rtl="0" algn="l">
              <a:lnSpc>
                <a:spcPct val="90000"/>
              </a:lnSpc>
              <a:spcBef>
                <a:spcPts val="1000"/>
              </a:spcBef>
              <a:spcAft>
                <a:spcPts val="0"/>
              </a:spcAft>
              <a:buClr>
                <a:srgbClr val="000000"/>
              </a:buClr>
              <a:buSzPts val="2800"/>
              <a:buAutoNum type="arabicPeriod"/>
            </a:pPr>
            <a:r>
              <a:rPr lang="en-US">
                <a:solidFill>
                  <a:srgbClr val="000000"/>
                </a:solidFill>
              </a:rPr>
              <a:t>Analiza podataka</a:t>
            </a:r>
            <a:endParaRPr>
              <a:solidFill>
                <a:srgbClr val="000000"/>
              </a:solidFill>
            </a:endParaRPr>
          </a:p>
          <a:p>
            <a:pPr indent="-514350" lvl="0" marL="514350" rtl="0" algn="l">
              <a:lnSpc>
                <a:spcPct val="90000"/>
              </a:lnSpc>
              <a:spcBef>
                <a:spcPts val="1000"/>
              </a:spcBef>
              <a:spcAft>
                <a:spcPts val="0"/>
              </a:spcAft>
              <a:buClr>
                <a:srgbClr val="000000"/>
              </a:buClr>
              <a:buSzPts val="2800"/>
              <a:buAutoNum type="arabicPeriod"/>
            </a:pPr>
            <a:r>
              <a:rPr lang="en-US">
                <a:solidFill>
                  <a:srgbClr val="000000"/>
                </a:solidFill>
              </a:rPr>
              <a:t>Tumačenje i vrednovanje rezultata</a:t>
            </a:r>
            <a:endParaRPr>
              <a:solidFill>
                <a:srgbClr val="000000"/>
              </a:solidFill>
            </a:endParaRPr>
          </a:p>
          <a:p>
            <a:pPr indent="-514350" lvl="0" marL="514350" rtl="0" algn="l">
              <a:lnSpc>
                <a:spcPct val="90000"/>
              </a:lnSpc>
              <a:spcBef>
                <a:spcPts val="1000"/>
              </a:spcBef>
              <a:spcAft>
                <a:spcPts val="0"/>
              </a:spcAft>
              <a:buClr>
                <a:srgbClr val="000000"/>
              </a:buClr>
              <a:buSzPts val="2800"/>
              <a:buAutoNum type="arabicPeriod"/>
            </a:pPr>
            <a:r>
              <a:rPr lang="en-US">
                <a:solidFill>
                  <a:srgbClr val="000000"/>
                </a:solidFill>
              </a:rPr>
              <a:t>Izvještaj o istraživanju i rezultatima – ponavljanje rezultata, recenzije</a:t>
            </a:r>
            <a:endParaRPr>
              <a:solidFill>
                <a:srgbClr val="00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Istraživanja</a:t>
            </a:r>
            <a:endParaRPr/>
          </a:p>
        </p:txBody>
      </p:sp>
      <p:sp>
        <p:nvSpPr>
          <p:cNvPr id="121" name="Google Shape;121;p30"/>
          <p:cNvSpPr txBox="1"/>
          <p:nvPr>
            <p:ph idx="1" type="body"/>
          </p:nvPr>
        </p:nvSpPr>
        <p:spPr>
          <a:xfrm>
            <a:off x="838200" y="1473958"/>
            <a:ext cx="10515600" cy="470300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Kako možemo istražiti je li neka naša ideja istina ili nije?</a:t>
            </a:r>
            <a:endParaRPr/>
          </a:p>
          <a:p>
            <a:pPr indent="-228600" lvl="0" marL="228600" rtl="0" algn="l">
              <a:lnSpc>
                <a:spcPct val="90000"/>
              </a:lnSpc>
              <a:spcBef>
                <a:spcPts val="1000"/>
              </a:spcBef>
              <a:spcAft>
                <a:spcPts val="0"/>
              </a:spcAft>
              <a:buClr>
                <a:schemeClr val="dk1"/>
              </a:buClr>
              <a:buSzPts val="2800"/>
              <a:buChar char="•"/>
            </a:pPr>
            <a:r>
              <a:rPr lang="en-US"/>
              <a:t>Koje korake moramo poduzeti?</a:t>
            </a:r>
            <a:endParaRPr/>
          </a:p>
          <a:p>
            <a:pPr indent="-228600" lvl="0" marL="228600" rtl="0" algn="l">
              <a:lnSpc>
                <a:spcPct val="90000"/>
              </a:lnSpc>
              <a:spcBef>
                <a:spcPts val="1000"/>
              </a:spcBef>
              <a:spcAft>
                <a:spcPts val="0"/>
              </a:spcAft>
              <a:buClr>
                <a:schemeClr val="dk1"/>
              </a:buClr>
              <a:buSzPts val="2800"/>
              <a:buChar char="•"/>
            </a:pPr>
            <a:r>
              <a:rPr lang="en-US"/>
              <a:t>Što nam može stajati na putu?  </a:t>
            </a:r>
            <a:endParaRPr/>
          </a:p>
          <a:p>
            <a:pPr indent="0" lvl="0" marL="0" rtl="0" algn="l">
              <a:lnSpc>
                <a:spcPct val="90000"/>
              </a:lnSpc>
              <a:spcBef>
                <a:spcPts val="1000"/>
              </a:spcBef>
              <a:spcAft>
                <a:spcPts val="0"/>
              </a:spcAft>
              <a:buClr>
                <a:schemeClr val="dk1"/>
              </a:buClr>
              <a:buSzPts val="2800"/>
              <a:buNone/>
            </a:pPr>
            <a:r>
              <a:t/>
            </a:r>
            <a:endParaRPr/>
          </a:p>
        </p:txBody>
      </p:sp>
      <p:pic>
        <p:nvPicPr>
          <p:cNvPr descr="Image result for newton apple" id="122" name="Google Shape;122;p30"/>
          <p:cNvPicPr preferRelativeResize="0"/>
          <p:nvPr/>
        </p:nvPicPr>
        <p:blipFill rotWithShape="1">
          <a:blip r:embed="rId3">
            <a:alphaModFix/>
          </a:blip>
          <a:srcRect b="0" l="0" r="0" t="0"/>
          <a:stretch/>
        </p:blipFill>
        <p:spPr>
          <a:xfrm>
            <a:off x="1470569" y="3499274"/>
            <a:ext cx="2678349" cy="3057012"/>
          </a:xfrm>
          <a:prstGeom prst="rect">
            <a:avLst/>
          </a:prstGeom>
          <a:noFill/>
          <a:ln>
            <a:noFill/>
          </a:ln>
        </p:spPr>
      </p:pic>
      <p:pic>
        <p:nvPicPr>
          <p:cNvPr id="123" name="Google Shape;123;p30"/>
          <p:cNvPicPr preferRelativeResize="0"/>
          <p:nvPr/>
        </p:nvPicPr>
        <p:blipFill rotWithShape="1">
          <a:blip r:embed="rId4">
            <a:alphaModFix/>
          </a:blip>
          <a:srcRect b="0" l="0" r="0" t="0"/>
          <a:stretch/>
        </p:blipFill>
        <p:spPr>
          <a:xfrm>
            <a:off x="5895703" y="2155824"/>
            <a:ext cx="5905772" cy="43370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Laički naspram znanstvenom pristupu</a:t>
            </a:r>
            <a:endParaRPr/>
          </a:p>
        </p:txBody>
      </p:sp>
      <p:sp>
        <p:nvSpPr>
          <p:cNvPr id="130" name="Google Shape;130;p31"/>
          <p:cNvSpPr txBox="1"/>
          <p:nvPr>
            <p:ph idx="1" type="body"/>
          </p:nvPr>
        </p:nvSpPr>
        <p:spPr>
          <a:xfrm>
            <a:off x="838200" y="1825625"/>
            <a:ext cx="10515600" cy="4846638"/>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100000"/>
              <a:buNone/>
            </a:pPr>
            <a:r>
              <a:rPr b="1" lang="en-US" u="sng">
                <a:solidFill>
                  <a:schemeClr val="hlink"/>
                </a:solidFill>
                <a:hlinkClick r:id="rId3"/>
              </a:rPr>
              <a:t>https://www.youtube.com/watch?v=AkwWcHekMdo</a:t>
            </a:r>
            <a:r>
              <a:rPr b="1" lang="en-US"/>
              <a:t> </a:t>
            </a:r>
            <a:endParaRPr/>
          </a:p>
          <a:p>
            <a:pPr indent="0" lvl="0" marL="0" rtl="0" algn="l">
              <a:lnSpc>
                <a:spcPct val="90000"/>
              </a:lnSpc>
              <a:spcBef>
                <a:spcPts val="1000"/>
              </a:spcBef>
              <a:spcAft>
                <a:spcPts val="0"/>
              </a:spcAft>
              <a:buClr>
                <a:schemeClr val="dk1"/>
              </a:buClr>
              <a:buSzPct val="100000"/>
              <a:buNone/>
            </a:pPr>
            <a:r>
              <a:t/>
            </a:r>
            <a:endParaRPr b="1"/>
          </a:p>
          <a:p>
            <a:pPr indent="0" lvl="0" marL="0" rtl="0" algn="l">
              <a:lnSpc>
                <a:spcPct val="90000"/>
              </a:lnSpc>
              <a:spcBef>
                <a:spcPts val="1000"/>
              </a:spcBef>
              <a:spcAft>
                <a:spcPts val="0"/>
              </a:spcAft>
              <a:buClr>
                <a:schemeClr val="dk1"/>
              </a:buClr>
              <a:buSzPct val="100000"/>
              <a:buNone/>
            </a:pPr>
            <a:r>
              <a:rPr b="1" lang="en-US"/>
              <a:t>Koraci: </a:t>
            </a:r>
            <a:endParaRPr b="1"/>
          </a:p>
          <a:p>
            <a:pPr indent="0" lvl="0" marL="0" rtl="0" algn="l">
              <a:lnSpc>
                <a:spcPct val="90000"/>
              </a:lnSpc>
              <a:spcBef>
                <a:spcPts val="1000"/>
              </a:spcBef>
              <a:spcAft>
                <a:spcPts val="0"/>
              </a:spcAft>
              <a:buClr>
                <a:schemeClr val="dk1"/>
              </a:buClr>
              <a:buSzPct val="100000"/>
              <a:buNone/>
            </a:pPr>
            <a:r>
              <a:rPr b="1" lang="en-US"/>
              <a:t>Smatrate li da je informacija vjerodostojna?</a:t>
            </a:r>
            <a:endParaRPr/>
          </a:p>
          <a:p>
            <a:pPr indent="0" lvl="0" marL="0" rtl="0" algn="l">
              <a:lnSpc>
                <a:spcPct val="90000"/>
              </a:lnSpc>
              <a:spcBef>
                <a:spcPts val="1000"/>
              </a:spcBef>
              <a:spcAft>
                <a:spcPts val="0"/>
              </a:spcAft>
              <a:buClr>
                <a:schemeClr val="dk1"/>
              </a:buClr>
              <a:buSzPct val="100000"/>
              <a:buNone/>
            </a:pPr>
            <a:r>
              <a:t/>
            </a:r>
            <a:endParaRPr b="1"/>
          </a:p>
          <a:p>
            <a:pPr indent="-228600" lvl="0" marL="228600" rtl="0" algn="l">
              <a:lnSpc>
                <a:spcPct val="90000"/>
              </a:lnSpc>
              <a:spcBef>
                <a:spcPts val="1000"/>
              </a:spcBef>
              <a:spcAft>
                <a:spcPts val="0"/>
              </a:spcAft>
              <a:buClr>
                <a:schemeClr val="dk1"/>
              </a:buClr>
              <a:buSzPct val="100000"/>
              <a:buChar char="•"/>
            </a:pPr>
            <a:r>
              <a:rPr lang="en-US"/>
              <a:t>Koji je izvor informacije?</a:t>
            </a:r>
            <a:endParaRPr/>
          </a:p>
          <a:p>
            <a:pPr indent="-228600" lvl="0" marL="228600" rtl="0" algn="l">
              <a:lnSpc>
                <a:spcPct val="90000"/>
              </a:lnSpc>
              <a:spcBef>
                <a:spcPts val="1000"/>
              </a:spcBef>
              <a:spcAft>
                <a:spcPts val="0"/>
              </a:spcAft>
              <a:buClr>
                <a:schemeClr val="dk1"/>
              </a:buClr>
              <a:buSzPct val="100000"/>
              <a:buChar char="•"/>
            </a:pPr>
            <a:r>
              <a:rPr lang="en-US"/>
              <a:t>Tko je autor ove priče/vijesti/istraživanja?</a:t>
            </a:r>
            <a:endParaRPr/>
          </a:p>
          <a:p>
            <a:pPr indent="-228600" lvl="0" marL="228600" rtl="0" algn="l">
              <a:lnSpc>
                <a:spcPct val="90000"/>
              </a:lnSpc>
              <a:spcBef>
                <a:spcPts val="1000"/>
              </a:spcBef>
              <a:spcAft>
                <a:spcPts val="0"/>
              </a:spcAft>
              <a:buClr>
                <a:schemeClr val="dk1"/>
              </a:buClr>
              <a:buSzPct val="100000"/>
              <a:buChar char="•"/>
            </a:pPr>
            <a:r>
              <a:rPr lang="en-US"/>
              <a:t>Koji su dokazi? Gdje ih mogu provjeriti?</a:t>
            </a:r>
            <a:endParaRPr/>
          </a:p>
          <a:p>
            <a:pPr indent="-228600" lvl="0" marL="228600" rtl="0" algn="l">
              <a:lnSpc>
                <a:spcPct val="90000"/>
              </a:lnSpc>
              <a:spcBef>
                <a:spcPts val="1000"/>
              </a:spcBef>
              <a:spcAft>
                <a:spcPts val="0"/>
              </a:spcAft>
              <a:buClr>
                <a:schemeClr val="dk1"/>
              </a:buClr>
              <a:buSzPct val="100000"/>
              <a:buChar char="•"/>
            </a:pPr>
            <a:r>
              <a:rPr lang="en-US"/>
              <a:t>Jesu li dokazi logični?</a:t>
            </a:r>
            <a:endParaRPr/>
          </a:p>
          <a:p>
            <a:pPr indent="-228600" lvl="0" marL="228600" rtl="0" algn="l">
              <a:lnSpc>
                <a:spcPct val="90000"/>
              </a:lnSpc>
              <a:spcBef>
                <a:spcPts val="1000"/>
              </a:spcBef>
              <a:spcAft>
                <a:spcPts val="0"/>
              </a:spcAft>
              <a:buClr>
                <a:schemeClr val="dk1"/>
              </a:buClr>
              <a:buSzPct val="100000"/>
              <a:buChar char="•"/>
            </a:pPr>
            <a:r>
              <a:rPr lang="en-US"/>
              <a:t>Koji je broj sudionika u istraživanju i tko su?</a:t>
            </a:r>
            <a:endParaRPr/>
          </a:p>
          <a:p>
            <a:pPr indent="-228600" lvl="0" marL="228600" rtl="0" algn="l">
              <a:lnSpc>
                <a:spcPct val="90000"/>
              </a:lnSpc>
              <a:spcBef>
                <a:spcPts val="1000"/>
              </a:spcBef>
              <a:spcAft>
                <a:spcPts val="0"/>
              </a:spcAft>
              <a:buClr>
                <a:schemeClr val="dk1"/>
              </a:buClr>
              <a:buSzPct val="100000"/>
              <a:buChar char="•"/>
            </a:pPr>
            <a:r>
              <a:rPr lang="en-US"/>
              <a:t>Postoji li moguće drugo objašnjenje za ovo? </a:t>
            </a:r>
            <a:endParaRPr/>
          </a:p>
          <a:p>
            <a:pPr indent="-64135" lvl="0" marL="228600" rtl="0" algn="l">
              <a:lnSpc>
                <a:spcPct val="90000"/>
              </a:lnSpc>
              <a:spcBef>
                <a:spcPts val="1000"/>
              </a:spcBef>
              <a:spcAft>
                <a:spcPts val="0"/>
              </a:spcAft>
              <a:buClr>
                <a:schemeClr val="dk1"/>
              </a:buClr>
              <a:buSzPct val="100000"/>
              <a:buNone/>
            </a:pPr>
            <a:r>
              <a:t/>
            </a:r>
            <a:endParaRPr/>
          </a:p>
        </p:txBody>
      </p:sp>
      <p:pic>
        <p:nvPicPr>
          <p:cNvPr id="131" name="Google Shape;131;p31"/>
          <p:cNvPicPr preferRelativeResize="0"/>
          <p:nvPr/>
        </p:nvPicPr>
        <p:blipFill rotWithShape="1">
          <a:blip r:embed="rId4">
            <a:alphaModFix/>
          </a:blip>
          <a:srcRect b="0" l="0" r="0" t="0"/>
          <a:stretch/>
        </p:blipFill>
        <p:spPr>
          <a:xfrm>
            <a:off x="7581430" y="2415654"/>
            <a:ext cx="4610570" cy="444234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2"/>
          <p:cNvSpPr txBox="1"/>
          <p:nvPr>
            <p:ph type="title"/>
          </p:nvPr>
        </p:nvSpPr>
        <p:spPr>
          <a:xfrm>
            <a:off x="2063014" y="5091762"/>
            <a:ext cx="5613590" cy="126458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dk1"/>
              </a:buClr>
              <a:buSzPts val="4200"/>
              <a:buFont typeface="Calibri"/>
              <a:buNone/>
            </a:pPr>
            <a:r>
              <a:rPr lang="en-US" sz="4200"/>
              <a:t>Metode istraživanja u psihologiji</a:t>
            </a:r>
            <a:endParaRPr sz="4200"/>
          </a:p>
        </p:txBody>
      </p:sp>
      <p:sp>
        <p:nvSpPr>
          <p:cNvPr id="137" name="Google Shape;137;p32"/>
          <p:cNvSpPr txBox="1"/>
          <p:nvPr>
            <p:ph idx="1" type="body"/>
          </p:nvPr>
        </p:nvSpPr>
        <p:spPr>
          <a:xfrm>
            <a:off x="7975589" y="5091764"/>
            <a:ext cx="2153396" cy="12645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888888"/>
              </a:buClr>
              <a:buSzPts val="1700"/>
              <a:buNone/>
            </a:pPr>
            <a:r>
              <a:t/>
            </a:r>
            <a:endParaRPr sz="1700">
              <a:solidFill>
                <a:srgbClr val="FFC000"/>
              </a:solidFill>
            </a:endParaRPr>
          </a:p>
        </p:txBody>
      </p:sp>
      <p:pic>
        <p:nvPicPr>
          <p:cNvPr id="138" name="Google Shape;138;p32"/>
          <p:cNvPicPr preferRelativeResize="0"/>
          <p:nvPr/>
        </p:nvPicPr>
        <p:blipFill rotWithShape="1">
          <a:blip r:embed="rId3">
            <a:alphaModFix/>
          </a:blip>
          <a:srcRect b="-2" l="2946" r="0" t="0"/>
          <a:stretch/>
        </p:blipFill>
        <p:spPr>
          <a:xfrm>
            <a:off x="1363980" y="305752"/>
            <a:ext cx="8661654" cy="446227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33"/>
          <p:cNvSpPr txBox="1"/>
          <p:nvPr>
            <p:ph type="title"/>
          </p:nvPr>
        </p:nvSpPr>
        <p:spPr>
          <a:xfrm>
            <a:off x="5248072" y="629268"/>
            <a:ext cx="4939868" cy="128616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100"/>
              <a:buFont typeface="Calibri"/>
              <a:buNone/>
            </a:pPr>
            <a:r>
              <a:rPr lang="en-US" sz="4100"/>
              <a:t>Metode istraživanja u psihologiji </a:t>
            </a:r>
            <a:endParaRPr/>
          </a:p>
        </p:txBody>
      </p:sp>
      <p:sp>
        <p:nvSpPr>
          <p:cNvPr id="144" name="Google Shape;144;p33"/>
          <p:cNvSpPr txBox="1"/>
          <p:nvPr>
            <p:ph idx="1" type="body"/>
          </p:nvPr>
        </p:nvSpPr>
        <p:spPr>
          <a:xfrm>
            <a:off x="5248074" y="1915429"/>
            <a:ext cx="6453389" cy="469968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t/>
            </a:r>
            <a:endParaRPr sz="3200"/>
          </a:p>
          <a:p>
            <a:pPr indent="0" lvl="0" marL="0" rtl="0" algn="l">
              <a:lnSpc>
                <a:spcPct val="90000"/>
              </a:lnSpc>
              <a:spcBef>
                <a:spcPts val="1000"/>
              </a:spcBef>
              <a:spcAft>
                <a:spcPts val="0"/>
              </a:spcAft>
              <a:buClr>
                <a:schemeClr val="dk1"/>
              </a:buClr>
              <a:buSzPts val="3200"/>
              <a:buNone/>
            </a:pPr>
            <a:r>
              <a:rPr b="1" lang="en-US" sz="3200"/>
              <a:t>1. Deskriptivne metode</a:t>
            </a:r>
            <a:endParaRPr/>
          </a:p>
          <a:p>
            <a:pPr indent="0" lvl="0" marL="0" rtl="0" algn="l">
              <a:lnSpc>
                <a:spcPct val="90000"/>
              </a:lnSpc>
              <a:spcBef>
                <a:spcPts val="1000"/>
              </a:spcBef>
              <a:spcAft>
                <a:spcPts val="0"/>
              </a:spcAft>
              <a:buClr>
                <a:schemeClr val="dk1"/>
              </a:buClr>
              <a:buSzPts val="3200"/>
              <a:buChar char="•"/>
            </a:pPr>
            <a:r>
              <a:rPr lang="en-US" sz="3200"/>
              <a:t>samoopažanje i opažanje</a:t>
            </a:r>
            <a:endParaRPr/>
          </a:p>
          <a:p>
            <a:pPr indent="0" lvl="0" marL="0" rtl="0" algn="l">
              <a:lnSpc>
                <a:spcPct val="90000"/>
              </a:lnSpc>
              <a:spcBef>
                <a:spcPts val="1000"/>
              </a:spcBef>
              <a:spcAft>
                <a:spcPts val="0"/>
              </a:spcAft>
              <a:buClr>
                <a:schemeClr val="dk1"/>
              </a:buClr>
              <a:buSzPts val="3200"/>
              <a:buChar char="•"/>
            </a:pPr>
            <a:r>
              <a:rPr lang="en-US" sz="3200"/>
              <a:t>anketa</a:t>
            </a:r>
            <a:endParaRPr/>
          </a:p>
          <a:p>
            <a:pPr indent="0" lvl="0" marL="0" rtl="0" algn="l">
              <a:lnSpc>
                <a:spcPct val="90000"/>
              </a:lnSpc>
              <a:spcBef>
                <a:spcPts val="1000"/>
              </a:spcBef>
              <a:spcAft>
                <a:spcPts val="0"/>
              </a:spcAft>
              <a:buClr>
                <a:schemeClr val="dk1"/>
              </a:buClr>
              <a:buSzPts val="3200"/>
              <a:buChar char="•"/>
            </a:pPr>
            <a:r>
              <a:rPr lang="en-US" sz="3200"/>
              <a:t>studija slučaja</a:t>
            </a:r>
            <a:endParaRPr/>
          </a:p>
          <a:p>
            <a:pPr indent="0" lvl="0" marL="0" rtl="0" algn="l">
              <a:lnSpc>
                <a:spcPct val="90000"/>
              </a:lnSpc>
              <a:spcBef>
                <a:spcPts val="1000"/>
              </a:spcBef>
              <a:spcAft>
                <a:spcPts val="0"/>
              </a:spcAft>
              <a:buClr>
                <a:schemeClr val="dk1"/>
              </a:buClr>
              <a:buSzPts val="3200"/>
              <a:buNone/>
            </a:pPr>
            <a:r>
              <a:rPr b="1" lang="en-US" sz="3200"/>
              <a:t>2. Korelacijska metoda</a:t>
            </a:r>
            <a:endParaRPr/>
          </a:p>
          <a:p>
            <a:pPr indent="0" lvl="0" marL="0" rtl="0" algn="l">
              <a:lnSpc>
                <a:spcPct val="90000"/>
              </a:lnSpc>
              <a:spcBef>
                <a:spcPts val="1000"/>
              </a:spcBef>
              <a:spcAft>
                <a:spcPts val="0"/>
              </a:spcAft>
              <a:buClr>
                <a:schemeClr val="dk1"/>
              </a:buClr>
              <a:buSzPts val="3200"/>
              <a:buNone/>
            </a:pPr>
            <a:r>
              <a:rPr b="1" lang="en-US" sz="3200"/>
              <a:t>3. Eksperimentalna metoda</a:t>
            </a:r>
            <a:endParaRPr b="1" sz="3200"/>
          </a:p>
        </p:txBody>
      </p:sp>
      <p:pic>
        <p:nvPicPr>
          <p:cNvPr id="145" name="Google Shape;145;p33"/>
          <p:cNvPicPr preferRelativeResize="0"/>
          <p:nvPr/>
        </p:nvPicPr>
        <p:blipFill rotWithShape="1">
          <a:blip r:embed="rId3">
            <a:alphaModFix/>
          </a:blip>
          <a:srcRect b="0" l="50985" r="10993" t="0"/>
          <a:stretch/>
        </p:blipFill>
        <p:spPr>
          <a:xfrm>
            <a:off x="1524021" y="10"/>
            <a:ext cx="3476673" cy="685799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Metode istraživanja u psihologiji  </a:t>
            </a:r>
            <a:endParaRPr/>
          </a:p>
        </p:txBody>
      </p:sp>
      <p:sp>
        <p:nvSpPr>
          <p:cNvPr id="151" name="Google Shape;151;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b="1" lang="en-US"/>
              <a:t>1) Samoopažanje – introspekcija</a:t>
            </a:r>
            <a:endParaRPr/>
          </a:p>
          <a:p>
            <a:pPr indent="-228600" lvl="0" marL="228600" rtl="0" algn="l">
              <a:lnSpc>
                <a:spcPct val="90000"/>
              </a:lnSpc>
              <a:spcBef>
                <a:spcPts val="1000"/>
              </a:spcBef>
              <a:spcAft>
                <a:spcPts val="0"/>
              </a:spcAft>
              <a:buClr>
                <a:schemeClr val="dk1"/>
              </a:buClr>
              <a:buSzPts val="2800"/>
              <a:buChar char="•"/>
            </a:pPr>
            <a:r>
              <a:rPr i="1" lang="en-US"/>
              <a:t>Sustavno opažanje vlastitih </a:t>
            </a:r>
            <a:br>
              <a:rPr i="1" lang="en-US"/>
            </a:br>
            <a:r>
              <a:rPr i="1" lang="en-US"/>
              <a:t>psihičkih procesa</a:t>
            </a:r>
            <a:endParaRPr/>
          </a:p>
          <a:p>
            <a:pPr indent="-50800" lvl="0" marL="228600" rtl="0" algn="l">
              <a:lnSpc>
                <a:spcPct val="90000"/>
              </a:lnSpc>
              <a:spcBef>
                <a:spcPts val="1000"/>
              </a:spcBef>
              <a:spcAft>
                <a:spcPts val="0"/>
              </a:spcAft>
              <a:buClr>
                <a:schemeClr val="dk1"/>
              </a:buClr>
              <a:buSzPts val="2800"/>
              <a:buNone/>
            </a:pPr>
            <a:r>
              <a:t/>
            </a:r>
            <a:endParaRPr b="1" i="1"/>
          </a:p>
          <a:p>
            <a:pPr indent="0" lvl="0" marL="0" rtl="0" algn="l">
              <a:lnSpc>
                <a:spcPct val="90000"/>
              </a:lnSpc>
              <a:spcBef>
                <a:spcPts val="1000"/>
              </a:spcBef>
              <a:spcAft>
                <a:spcPts val="0"/>
              </a:spcAft>
              <a:buClr>
                <a:schemeClr val="dk1"/>
              </a:buClr>
              <a:buSzPts val="2800"/>
              <a:buNone/>
            </a:pPr>
            <a:r>
              <a:rPr b="1" lang="en-US"/>
              <a:t>Ograničenja ove metode?</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Poteškoća istovremenog doživljavanja i opažanja</a:t>
            </a:r>
            <a:endParaRPr/>
          </a:p>
          <a:p>
            <a:pPr indent="-228600" lvl="0" marL="228600" rtl="0" algn="l">
              <a:lnSpc>
                <a:spcPct val="90000"/>
              </a:lnSpc>
              <a:spcBef>
                <a:spcPts val="1000"/>
              </a:spcBef>
              <a:spcAft>
                <a:spcPts val="0"/>
              </a:spcAft>
              <a:buClr>
                <a:schemeClr val="dk1"/>
              </a:buClr>
              <a:buSzPts val="2800"/>
              <a:buChar char="•"/>
            </a:pPr>
            <a:r>
              <a:rPr lang="en-US"/>
              <a:t>Neprikladnost riječi - jezik</a:t>
            </a:r>
            <a:endParaRPr/>
          </a:p>
          <a:p>
            <a:pPr indent="-228600" lvl="0" marL="228600" rtl="0" algn="l">
              <a:lnSpc>
                <a:spcPct val="90000"/>
              </a:lnSpc>
              <a:spcBef>
                <a:spcPts val="1000"/>
              </a:spcBef>
              <a:spcAft>
                <a:spcPts val="0"/>
              </a:spcAft>
              <a:buClr>
                <a:schemeClr val="dk1"/>
              </a:buClr>
              <a:buSzPts val="2800"/>
              <a:buChar char="•"/>
            </a:pPr>
            <a:r>
              <a:rPr lang="en-US"/>
              <a:t>Subjektivnost </a:t>
            </a:r>
            <a:endParaRPr/>
          </a:p>
          <a:p>
            <a:pPr indent="-50800" lvl="0" marL="228600" rtl="0" algn="l">
              <a:lnSpc>
                <a:spcPct val="90000"/>
              </a:lnSpc>
              <a:spcBef>
                <a:spcPts val="1000"/>
              </a:spcBef>
              <a:spcAft>
                <a:spcPts val="0"/>
              </a:spcAft>
              <a:buClr>
                <a:schemeClr val="dk1"/>
              </a:buClr>
              <a:buSzPts val="2800"/>
              <a:buNone/>
            </a:pPr>
            <a:r>
              <a:t/>
            </a:r>
            <a:endParaRPr i="1"/>
          </a:p>
          <a:p>
            <a:pPr indent="-50800" lvl="0" marL="228600" rtl="0" algn="l">
              <a:lnSpc>
                <a:spcPct val="90000"/>
              </a:lnSpc>
              <a:spcBef>
                <a:spcPts val="1000"/>
              </a:spcBef>
              <a:spcAft>
                <a:spcPts val="0"/>
              </a:spcAft>
              <a:buClr>
                <a:schemeClr val="dk1"/>
              </a:buClr>
              <a:buSzPts val="2800"/>
              <a:buNone/>
            </a:pPr>
            <a:r>
              <a:t/>
            </a:r>
            <a:endParaRPr i="1"/>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52" name="Google Shape;152;p34"/>
          <p:cNvPicPr preferRelativeResize="0"/>
          <p:nvPr/>
        </p:nvPicPr>
        <p:blipFill rotWithShape="1">
          <a:blip r:embed="rId3">
            <a:alphaModFix/>
          </a:blip>
          <a:srcRect b="0" l="0" r="0" t="0"/>
          <a:stretch/>
        </p:blipFill>
        <p:spPr>
          <a:xfrm>
            <a:off x="7086601" y="2057400"/>
            <a:ext cx="3002205" cy="212580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7" name="Shape 157"/>
        <p:cNvGrpSpPr/>
        <p:nvPr/>
      </p:nvGrpSpPr>
      <p:grpSpPr>
        <a:xfrm>
          <a:off x="0" y="0"/>
          <a:ext cx="0" cy="0"/>
          <a:chOff x="0" y="0"/>
          <a:chExt cx="0" cy="0"/>
        </a:xfrm>
      </p:grpSpPr>
      <p:sp>
        <p:nvSpPr>
          <p:cNvPr id="158" name="Google Shape;158;p3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Povezana slika" id="159" name="Google Shape;159;p35"/>
          <p:cNvPicPr preferRelativeResize="0"/>
          <p:nvPr/>
        </p:nvPicPr>
        <p:blipFill rotWithShape="1">
          <a:blip r:embed="rId3">
            <a:alphaModFix/>
          </a:blip>
          <a:srcRect b="5530" l="4867" r="15425" t="0"/>
          <a:stretch/>
        </p:blipFill>
        <p:spPr>
          <a:xfrm>
            <a:off x="3523488" y="10"/>
            <a:ext cx="8668512" cy="6857990"/>
          </a:xfrm>
          <a:prstGeom prst="rect">
            <a:avLst/>
          </a:prstGeom>
          <a:noFill/>
          <a:ln>
            <a:noFill/>
          </a:ln>
        </p:spPr>
      </p:pic>
      <p:sp>
        <p:nvSpPr>
          <p:cNvPr id="160" name="Google Shape;160;p35"/>
          <p:cNvSpPr/>
          <p:nvPr/>
        </p:nvSpPr>
        <p:spPr>
          <a:xfrm>
            <a:off x="2" y="0"/>
            <a:ext cx="9756601" cy="6858000"/>
          </a:xfrm>
          <a:prstGeom prst="rect">
            <a:avLst/>
          </a:prstGeom>
          <a:gradFill>
            <a:gsLst>
              <a:gs pos="0">
                <a:srgbClr val="FFFFFF">
                  <a:alpha val="0"/>
                </a:srgbClr>
              </a:gs>
              <a:gs pos="19000">
                <a:srgbClr val="FFFFFF">
                  <a:alpha val="37254"/>
                </a:srgbClr>
              </a:gs>
              <a:gs pos="35000">
                <a:srgbClr val="FFFFFF">
                  <a:alpha val="77254"/>
                </a:srgbClr>
              </a:gs>
              <a:gs pos="58000">
                <a:schemeClr val="lt1"/>
              </a:gs>
              <a:gs pos="100000">
                <a:schemeClr val="lt1"/>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1" name="Google Shape;161;p35"/>
          <p:cNvSpPr txBox="1"/>
          <p:nvPr>
            <p:ph type="title"/>
          </p:nvPr>
        </p:nvSpPr>
        <p:spPr>
          <a:xfrm>
            <a:off x="371094" y="1161288"/>
            <a:ext cx="3438144" cy="112471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Calibri"/>
              <a:buNone/>
            </a:pPr>
            <a:r>
              <a:rPr lang="en-US" sz="2800"/>
              <a:t>Metode istraživanja u psihologiji </a:t>
            </a:r>
            <a:endParaRPr/>
          </a:p>
        </p:txBody>
      </p:sp>
      <p:sp>
        <p:nvSpPr>
          <p:cNvPr id="162" name="Google Shape;162;p35"/>
          <p:cNvSpPr/>
          <p:nvPr/>
        </p:nvSpPr>
        <p:spPr>
          <a:xfrm rot="5400000">
            <a:off x="662559" y="605790"/>
            <a:ext cx="73152" cy="5486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63" name="Google Shape;163;p35"/>
          <p:cNvSpPr/>
          <p:nvPr/>
        </p:nvSpPr>
        <p:spPr>
          <a:xfrm>
            <a:off x="428244" y="2443480"/>
            <a:ext cx="3300984" cy="9144"/>
          </a:xfrm>
          <a:prstGeom prst="rect">
            <a:avLst/>
          </a:prstGeom>
          <a:solidFill>
            <a:srgbClr val="D5D5D5"/>
          </a:solidFill>
          <a:ln cap="flat" cmpd="sng" w="9525">
            <a:solidFill>
              <a:srgbClr val="D5D5D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4" name="Google Shape;164;p35"/>
          <p:cNvSpPr txBox="1"/>
          <p:nvPr>
            <p:ph idx="1" type="body"/>
          </p:nvPr>
        </p:nvSpPr>
        <p:spPr>
          <a:xfrm>
            <a:off x="371093" y="2610104"/>
            <a:ext cx="6415470" cy="4051300"/>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90000"/>
              </a:lnSpc>
              <a:spcBef>
                <a:spcPts val="0"/>
              </a:spcBef>
              <a:spcAft>
                <a:spcPts val="0"/>
              </a:spcAft>
              <a:buClr>
                <a:schemeClr val="dk1"/>
              </a:buClr>
              <a:buSzPct val="100000"/>
              <a:buNone/>
            </a:pPr>
            <a:r>
              <a:rPr b="1" lang="en-US" sz="3400"/>
              <a:t>2) Opažanje u prirodnim uvjetima</a:t>
            </a:r>
            <a:endParaRPr/>
          </a:p>
          <a:p>
            <a:pPr indent="0" lvl="0" marL="0" rtl="0" algn="l">
              <a:lnSpc>
                <a:spcPct val="90000"/>
              </a:lnSpc>
              <a:spcBef>
                <a:spcPts val="1000"/>
              </a:spcBef>
              <a:spcAft>
                <a:spcPts val="0"/>
              </a:spcAft>
              <a:buClr>
                <a:schemeClr val="dk1"/>
              </a:buClr>
              <a:buSzPct val="100000"/>
              <a:buNone/>
            </a:pPr>
            <a:r>
              <a:rPr i="1" lang="en-US" sz="3400"/>
              <a:t>Pažljivo promatranje pojava, bilježenje i sustavno praćenje uočenih promjena i posebnosti.</a:t>
            </a:r>
            <a:endParaRPr/>
          </a:p>
          <a:p>
            <a:pPr indent="0" lvl="0" marL="0" rtl="0" algn="l">
              <a:lnSpc>
                <a:spcPct val="90000"/>
              </a:lnSpc>
              <a:spcBef>
                <a:spcPts val="1000"/>
              </a:spcBef>
              <a:spcAft>
                <a:spcPts val="0"/>
              </a:spcAft>
              <a:buClr>
                <a:schemeClr val="dk1"/>
              </a:buClr>
              <a:buSzPct val="100000"/>
              <a:buNone/>
            </a:pPr>
            <a:r>
              <a:rPr b="1" lang="en-US" sz="3400"/>
              <a:t>Npr:</a:t>
            </a:r>
            <a:endParaRPr/>
          </a:p>
          <a:p>
            <a:pPr indent="-228600" lvl="0" marL="228600" rtl="0" algn="l">
              <a:lnSpc>
                <a:spcPct val="90000"/>
              </a:lnSpc>
              <a:spcBef>
                <a:spcPts val="1000"/>
              </a:spcBef>
              <a:spcAft>
                <a:spcPts val="0"/>
              </a:spcAft>
              <a:buClr>
                <a:schemeClr val="dk1"/>
              </a:buClr>
              <a:buSzPct val="100000"/>
              <a:buChar char="•"/>
            </a:pPr>
            <a:r>
              <a:rPr lang="en-US" sz="3400"/>
              <a:t>odnos među grupama, ponašanje djece u skupini</a:t>
            </a:r>
            <a:endParaRPr/>
          </a:p>
          <a:p>
            <a:pPr indent="0" lvl="0" marL="0" rtl="0" algn="l">
              <a:lnSpc>
                <a:spcPct val="90000"/>
              </a:lnSpc>
              <a:spcBef>
                <a:spcPts val="1000"/>
              </a:spcBef>
              <a:spcAft>
                <a:spcPts val="0"/>
              </a:spcAft>
              <a:buClr>
                <a:schemeClr val="dk1"/>
              </a:buClr>
              <a:buSzPct val="100000"/>
              <a:buNone/>
            </a:pPr>
            <a:r>
              <a:t/>
            </a:r>
            <a:endParaRPr b="1" i="1" sz="3400"/>
          </a:p>
          <a:p>
            <a:pPr indent="0" lvl="0" marL="0" rtl="0" algn="l">
              <a:lnSpc>
                <a:spcPct val="90000"/>
              </a:lnSpc>
              <a:spcBef>
                <a:spcPts val="1000"/>
              </a:spcBef>
              <a:spcAft>
                <a:spcPts val="0"/>
              </a:spcAft>
              <a:buClr>
                <a:schemeClr val="dk1"/>
              </a:buClr>
              <a:buSzPct val="100000"/>
              <a:buNone/>
            </a:pPr>
            <a:r>
              <a:rPr b="1" lang="en-US" sz="3400"/>
              <a:t>Ograničenja ove metode?</a:t>
            </a:r>
            <a:endParaRPr/>
          </a:p>
          <a:p>
            <a:pPr indent="-228600" lvl="0" marL="228600" rtl="0" algn="l">
              <a:lnSpc>
                <a:spcPct val="90000"/>
              </a:lnSpc>
              <a:spcBef>
                <a:spcPts val="1000"/>
              </a:spcBef>
              <a:spcAft>
                <a:spcPts val="0"/>
              </a:spcAft>
              <a:buClr>
                <a:schemeClr val="dk1"/>
              </a:buClr>
              <a:buSzPct val="100000"/>
              <a:buChar char="•"/>
            </a:pPr>
            <a:r>
              <a:rPr lang="en-US" sz="3400"/>
              <a:t>Pogreška opažača </a:t>
            </a:r>
            <a:endParaRPr/>
          </a:p>
          <a:p>
            <a:pPr indent="-228600" lvl="0" marL="228600" rtl="0" algn="l">
              <a:lnSpc>
                <a:spcPct val="90000"/>
              </a:lnSpc>
              <a:spcBef>
                <a:spcPts val="1000"/>
              </a:spcBef>
              <a:spcAft>
                <a:spcPts val="0"/>
              </a:spcAft>
              <a:buClr>
                <a:schemeClr val="dk1"/>
              </a:buClr>
              <a:buSzPct val="100000"/>
              <a:buChar char="•"/>
            </a:pPr>
            <a:r>
              <a:rPr lang="en-US" sz="3400"/>
              <a:t>Uključenost opažača </a:t>
            </a:r>
            <a:endParaRPr sz="3400"/>
          </a:p>
          <a:p>
            <a:pPr indent="-228600" lvl="0" marL="228600" rtl="0" algn="l">
              <a:lnSpc>
                <a:spcPct val="90000"/>
              </a:lnSpc>
              <a:spcBef>
                <a:spcPts val="1000"/>
              </a:spcBef>
              <a:spcAft>
                <a:spcPts val="0"/>
              </a:spcAft>
              <a:buClr>
                <a:schemeClr val="dk1"/>
              </a:buClr>
              <a:buSzPct val="100000"/>
              <a:buChar char="•"/>
            </a:pPr>
            <a:r>
              <a:rPr lang="en-US" sz="3400"/>
              <a:t>Utjecaj drugih varijabli na zaključke (gužva, agresija, alkohol)</a:t>
            </a:r>
            <a:endParaRPr sz="3400"/>
          </a:p>
          <a:p>
            <a:pPr indent="0" lvl="0" marL="0" rtl="0" algn="l">
              <a:lnSpc>
                <a:spcPct val="90000"/>
              </a:lnSpc>
              <a:spcBef>
                <a:spcPts val="1000"/>
              </a:spcBef>
              <a:spcAft>
                <a:spcPts val="0"/>
              </a:spcAft>
              <a:buClr>
                <a:schemeClr val="dk1"/>
              </a:buClr>
              <a:buSzPct val="100000"/>
              <a:buNone/>
            </a:pPr>
            <a:r>
              <a:t/>
            </a:r>
            <a:endParaRPr b="1" sz="1200"/>
          </a:p>
          <a:p>
            <a:pPr indent="0" lvl="0" marL="0" rtl="0" algn="l">
              <a:lnSpc>
                <a:spcPct val="90000"/>
              </a:lnSpc>
              <a:spcBef>
                <a:spcPts val="1000"/>
              </a:spcBef>
              <a:spcAft>
                <a:spcPts val="0"/>
              </a:spcAft>
              <a:buClr>
                <a:schemeClr val="dk1"/>
              </a:buClr>
              <a:buSzPct val="100000"/>
              <a:buNone/>
            </a:pPr>
            <a:r>
              <a:t/>
            </a:r>
            <a:endParaRPr b="1" i="1"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6"/>
          <p:cNvSpPr txBox="1"/>
          <p:nvPr>
            <p:ph type="title"/>
          </p:nvPr>
        </p:nvSpPr>
        <p:spPr>
          <a:xfrm>
            <a:off x="1752600" y="685800"/>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Zadatak </a:t>
            </a:r>
            <a:endParaRPr/>
          </a:p>
        </p:txBody>
      </p:sp>
      <p:sp>
        <p:nvSpPr>
          <p:cNvPr id="171" name="Google Shape;171;p36"/>
          <p:cNvSpPr txBox="1"/>
          <p:nvPr>
            <p:ph idx="1" type="body"/>
          </p:nvPr>
        </p:nvSpPr>
        <p:spPr>
          <a:xfrm>
            <a:off x="824133" y="1811557"/>
            <a:ext cx="10515600" cy="4351338"/>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800"/>
              <a:buAutoNum type="arabicPeriod"/>
            </a:pPr>
            <a:r>
              <a:rPr lang="en-US"/>
              <a:t>Razmislite i navedite u kojim se granama psihologije može primijeniti opažanje u prirodnim uvjetima.</a:t>
            </a:r>
            <a:endParaRPr/>
          </a:p>
          <a:p>
            <a:pPr indent="-165100" lvl="0" marL="342900" rtl="0" algn="l">
              <a:lnSpc>
                <a:spcPct val="90000"/>
              </a:lnSpc>
              <a:spcBef>
                <a:spcPts val="1000"/>
              </a:spcBef>
              <a:spcAft>
                <a:spcPts val="0"/>
              </a:spcAft>
              <a:buClr>
                <a:schemeClr val="dk1"/>
              </a:buClr>
              <a:buSzPts val="2800"/>
              <a:buNone/>
            </a:pPr>
            <a:r>
              <a:t/>
            </a:r>
            <a:endParaRPr/>
          </a:p>
          <a:p>
            <a:pPr indent="-342900" lvl="0" marL="342900" rtl="0" algn="l">
              <a:lnSpc>
                <a:spcPct val="90000"/>
              </a:lnSpc>
              <a:spcBef>
                <a:spcPts val="1000"/>
              </a:spcBef>
              <a:spcAft>
                <a:spcPts val="0"/>
              </a:spcAft>
              <a:buClr>
                <a:schemeClr val="dk1"/>
              </a:buClr>
              <a:buSzPts val="2800"/>
              <a:buAutoNum type="arabicPeriod"/>
            </a:pPr>
            <a:r>
              <a:rPr lang="en-US"/>
              <a:t>Razmislite i navedite za koje bi se situacije moglo koristiti samoopažanje? Povežite predmet proučavanja s područjem rada psihologa.</a:t>
            </a:r>
            <a:endParaRPr/>
          </a:p>
          <a:p>
            <a:pPr indent="-165100" lvl="0" marL="342900" rtl="0" algn="l">
              <a:lnSpc>
                <a:spcPct val="90000"/>
              </a:lnSpc>
              <a:spcBef>
                <a:spcPts val="1000"/>
              </a:spcBef>
              <a:spcAft>
                <a:spcPts val="0"/>
              </a:spcAft>
              <a:buClr>
                <a:schemeClr val="dk1"/>
              </a:buClr>
              <a:buSzPts val="2800"/>
              <a:buNone/>
            </a:pPr>
            <a:r>
              <a:t/>
            </a:r>
            <a:endParaRPr/>
          </a:p>
          <a:p>
            <a:pPr indent="-165100" lvl="0" marL="342900" rtl="0" algn="l">
              <a:lnSpc>
                <a:spcPct val="90000"/>
              </a:lnSpc>
              <a:spcBef>
                <a:spcPts val="1000"/>
              </a:spcBef>
              <a:spcAft>
                <a:spcPts val="0"/>
              </a:spcAft>
              <a:buClr>
                <a:schemeClr val="dk1"/>
              </a:buClr>
              <a:buSzPts val="2800"/>
              <a:buNone/>
            </a:pPr>
            <a:r>
              <a:t/>
            </a:r>
            <a:endParaRPr/>
          </a:p>
          <a:p>
            <a:pPr indent="-165100" lvl="0" marL="3429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6" name="Shape 176"/>
        <p:cNvGrpSpPr/>
        <p:nvPr/>
      </p:nvGrpSpPr>
      <p:grpSpPr>
        <a:xfrm>
          <a:off x="0" y="0"/>
          <a:ext cx="0" cy="0"/>
          <a:chOff x="0" y="0"/>
          <a:chExt cx="0" cy="0"/>
        </a:xfrm>
      </p:grpSpPr>
      <p:sp>
        <p:nvSpPr>
          <p:cNvPr id="177" name="Google Shape;177;p3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8" name="Google Shape;178;p37"/>
          <p:cNvSpPr txBox="1"/>
          <p:nvPr>
            <p:ph type="title"/>
          </p:nvPr>
        </p:nvSpPr>
        <p:spPr>
          <a:xfrm>
            <a:off x="411480" y="991443"/>
            <a:ext cx="4443154" cy="1087819"/>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400"/>
              <a:buFont typeface="Calibri"/>
              <a:buNone/>
            </a:pPr>
            <a:r>
              <a:rPr lang="en-US" sz="3400"/>
              <a:t>Metode istraživanja u psihologiji </a:t>
            </a:r>
            <a:endParaRPr/>
          </a:p>
        </p:txBody>
      </p:sp>
      <p:sp>
        <p:nvSpPr>
          <p:cNvPr id="179" name="Google Shape;179;p37"/>
          <p:cNvSpPr/>
          <p:nvPr/>
        </p:nvSpPr>
        <p:spPr>
          <a:xfrm rot="5400000">
            <a:off x="649223" y="387939"/>
            <a:ext cx="73152" cy="5486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80" name="Google Shape;180;p37"/>
          <p:cNvSpPr/>
          <p:nvPr/>
        </p:nvSpPr>
        <p:spPr>
          <a:xfrm>
            <a:off x="411480" y="2285541"/>
            <a:ext cx="438912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81" name="Google Shape;181;p37"/>
          <p:cNvSpPr txBox="1"/>
          <p:nvPr>
            <p:ph idx="1" type="body"/>
          </p:nvPr>
        </p:nvSpPr>
        <p:spPr>
          <a:xfrm>
            <a:off x="411479" y="2684094"/>
            <a:ext cx="6117909" cy="384529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rPr b="1" lang="en-US" sz="2400"/>
              <a:t>3) Studija slučaja</a:t>
            </a:r>
            <a:endParaRPr/>
          </a:p>
          <a:p>
            <a:pPr indent="0" lvl="0" marL="0" rtl="0" algn="l">
              <a:lnSpc>
                <a:spcPct val="90000"/>
              </a:lnSpc>
              <a:spcBef>
                <a:spcPts val="1000"/>
              </a:spcBef>
              <a:spcAft>
                <a:spcPts val="0"/>
              </a:spcAft>
              <a:buClr>
                <a:schemeClr val="dk1"/>
              </a:buClr>
              <a:buSzPts val="2400"/>
              <a:buNone/>
            </a:pPr>
            <a:r>
              <a:rPr i="1" lang="en-US" sz="2400"/>
              <a:t>Temeljito i dubinsko proučavanje jednog ili više pojedinaca s ciljem dolaska do općih spoznaja</a:t>
            </a:r>
            <a:endParaRPr/>
          </a:p>
          <a:p>
            <a:pPr indent="0" lvl="0" marL="0" rtl="0" algn="l">
              <a:lnSpc>
                <a:spcPct val="90000"/>
              </a:lnSpc>
              <a:spcBef>
                <a:spcPts val="1000"/>
              </a:spcBef>
              <a:spcAft>
                <a:spcPts val="0"/>
              </a:spcAft>
              <a:buClr>
                <a:schemeClr val="dk1"/>
              </a:buClr>
              <a:buSzPts val="2400"/>
              <a:buNone/>
            </a:pPr>
            <a:r>
              <a:t/>
            </a:r>
            <a:endParaRPr i="1" sz="2400"/>
          </a:p>
          <a:p>
            <a:pPr indent="0" lvl="0" marL="0" rtl="0" algn="l">
              <a:lnSpc>
                <a:spcPct val="90000"/>
              </a:lnSpc>
              <a:spcBef>
                <a:spcPts val="1000"/>
              </a:spcBef>
              <a:spcAft>
                <a:spcPts val="0"/>
              </a:spcAft>
              <a:buClr>
                <a:schemeClr val="dk1"/>
              </a:buClr>
              <a:buSzPts val="2400"/>
              <a:buNone/>
            </a:pPr>
            <a:r>
              <a:rPr b="1" lang="en-US" sz="2400"/>
              <a:t>Npr. </a:t>
            </a:r>
            <a:r>
              <a:rPr lang="en-US" sz="2400"/>
              <a:t>Spoznaje o </a:t>
            </a:r>
            <a:br>
              <a:rPr lang="en-US" sz="2400"/>
            </a:br>
            <a:r>
              <a:rPr lang="en-US" sz="2400"/>
              <a:t>funkcioniranju mozga</a:t>
            </a:r>
            <a:endParaRPr/>
          </a:p>
          <a:p>
            <a:pPr indent="0" lvl="0" marL="0" rtl="0" algn="l">
              <a:lnSpc>
                <a:spcPct val="90000"/>
              </a:lnSpc>
              <a:spcBef>
                <a:spcPts val="1000"/>
              </a:spcBef>
              <a:spcAft>
                <a:spcPts val="0"/>
              </a:spcAft>
              <a:buClr>
                <a:schemeClr val="dk1"/>
              </a:buClr>
              <a:buSzPts val="2400"/>
              <a:buNone/>
            </a:pPr>
            <a:r>
              <a:t/>
            </a:r>
            <a:endParaRPr b="1" sz="2400"/>
          </a:p>
          <a:p>
            <a:pPr indent="0" lvl="0" marL="0" rtl="0" algn="l">
              <a:lnSpc>
                <a:spcPct val="90000"/>
              </a:lnSpc>
              <a:spcBef>
                <a:spcPts val="1000"/>
              </a:spcBef>
              <a:spcAft>
                <a:spcPts val="0"/>
              </a:spcAft>
              <a:buClr>
                <a:schemeClr val="dk1"/>
              </a:buClr>
              <a:buSzPts val="2400"/>
              <a:buNone/>
            </a:pPr>
            <a:r>
              <a:rPr b="1" lang="en-US" sz="2400"/>
              <a:t>Ograničenja ove metode?</a:t>
            </a:r>
            <a:endParaRPr/>
          </a:p>
          <a:p>
            <a:pPr indent="0" lvl="0" marL="0" rtl="0" algn="l">
              <a:lnSpc>
                <a:spcPct val="90000"/>
              </a:lnSpc>
              <a:spcBef>
                <a:spcPts val="1000"/>
              </a:spcBef>
              <a:spcAft>
                <a:spcPts val="0"/>
              </a:spcAft>
              <a:buClr>
                <a:schemeClr val="dk1"/>
              </a:buClr>
              <a:buSzPts val="2400"/>
              <a:buNone/>
            </a:pPr>
            <a:r>
              <a:rPr lang="en-US" sz="2400"/>
              <a:t>Mogućnost generalizacije </a:t>
            </a:r>
            <a:endParaRPr/>
          </a:p>
        </p:txBody>
      </p:sp>
      <p:pic>
        <p:nvPicPr>
          <p:cNvPr id="182" name="Google Shape;182;p37"/>
          <p:cNvPicPr preferRelativeResize="0"/>
          <p:nvPr/>
        </p:nvPicPr>
        <p:blipFill rotWithShape="1">
          <a:blip r:embed="rId3">
            <a:alphaModFix/>
          </a:blip>
          <a:srcRect b="0" l="0" r="0" t="0"/>
          <a:stretch/>
        </p:blipFill>
        <p:spPr>
          <a:xfrm>
            <a:off x="6511280" y="1885804"/>
            <a:ext cx="5314960" cy="384529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Metode istraživanja u psihologiji </a:t>
            </a:r>
            <a:endParaRPr/>
          </a:p>
        </p:txBody>
      </p:sp>
      <p:sp>
        <p:nvSpPr>
          <p:cNvPr id="188" name="Google Shape;188;p38"/>
          <p:cNvSpPr txBox="1"/>
          <p:nvPr>
            <p:ph idx="1" type="body"/>
          </p:nvPr>
        </p:nvSpPr>
        <p:spPr>
          <a:xfrm>
            <a:off x="552450" y="1454149"/>
            <a:ext cx="11234738" cy="5038726"/>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100000"/>
              <a:buNone/>
            </a:pPr>
            <a:r>
              <a:rPr b="1" lang="en-US"/>
              <a:t>4) Ankete </a:t>
            </a:r>
            <a:endParaRPr/>
          </a:p>
          <a:p>
            <a:pPr indent="0" lvl="0" marL="0" rtl="0" algn="l">
              <a:lnSpc>
                <a:spcPct val="90000"/>
              </a:lnSpc>
              <a:spcBef>
                <a:spcPts val="1000"/>
              </a:spcBef>
              <a:spcAft>
                <a:spcPts val="0"/>
              </a:spcAft>
              <a:buClr>
                <a:schemeClr val="dk1"/>
              </a:buClr>
              <a:buSzPct val="100000"/>
              <a:buNone/>
            </a:pPr>
            <a:r>
              <a:rPr i="1" lang="en-US"/>
              <a:t>Niz pitanja pomoću kojih se pobuđuju, prikupljaju i analiziraju izjave ljudi s ciljem dobivanja informacija o njihovom ponašanju, doživljavanju, mišljenju i stavovima. </a:t>
            </a:r>
            <a:endParaRPr/>
          </a:p>
          <a:p>
            <a:pPr indent="0" lvl="0" marL="0" rtl="0" algn="l">
              <a:lnSpc>
                <a:spcPct val="90000"/>
              </a:lnSpc>
              <a:spcBef>
                <a:spcPts val="1000"/>
              </a:spcBef>
              <a:spcAft>
                <a:spcPts val="0"/>
              </a:spcAft>
              <a:buClr>
                <a:schemeClr val="dk1"/>
              </a:buClr>
              <a:buSzPct val="100000"/>
              <a:buNone/>
            </a:pPr>
            <a:r>
              <a:t/>
            </a:r>
            <a:endParaRPr b="1"/>
          </a:p>
          <a:p>
            <a:pPr indent="0" lvl="0" marL="0" rtl="0" algn="l">
              <a:lnSpc>
                <a:spcPct val="90000"/>
              </a:lnSpc>
              <a:spcBef>
                <a:spcPts val="1000"/>
              </a:spcBef>
              <a:spcAft>
                <a:spcPts val="0"/>
              </a:spcAft>
              <a:buClr>
                <a:schemeClr val="dk1"/>
              </a:buClr>
              <a:buSzPct val="100000"/>
              <a:buNone/>
            </a:pPr>
            <a:r>
              <a:rPr b="1" lang="en-US"/>
              <a:t>Kada se koriste? </a:t>
            </a:r>
            <a:endParaRPr/>
          </a:p>
          <a:p>
            <a:pPr indent="0" lvl="0" marL="0" rtl="0" algn="l">
              <a:lnSpc>
                <a:spcPct val="90000"/>
              </a:lnSpc>
              <a:spcBef>
                <a:spcPts val="1000"/>
              </a:spcBef>
              <a:spcAft>
                <a:spcPts val="0"/>
              </a:spcAft>
              <a:buClr>
                <a:schemeClr val="dk1"/>
              </a:buClr>
              <a:buSzPct val="100000"/>
              <a:buNone/>
            </a:pPr>
            <a:r>
              <a:rPr lang="en-US"/>
              <a:t>Teškoća mjerenja i opažanja određenih ponašanja </a:t>
            </a:r>
            <a:endParaRPr/>
          </a:p>
          <a:p>
            <a:pPr indent="0" lvl="0" marL="0" rtl="0" algn="l">
              <a:lnSpc>
                <a:spcPct val="90000"/>
              </a:lnSpc>
              <a:spcBef>
                <a:spcPts val="1000"/>
              </a:spcBef>
              <a:spcAft>
                <a:spcPts val="0"/>
              </a:spcAft>
              <a:buClr>
                <a:schemeClr val="dk1"/>
              </a:buClr>
              <a:buSzPct val="100000"/>
              <a:buNone/>
            </a:pPr>
            <a:r>
              <a:t/>
            </a:r>
            <a:endParaRPr b="1"/>
          </a:p>
          <a:p>
            <a:pPr indent="0" lvl="0" marL="0" rtl="0" algn="l">
              <a:lnSpc>
                <a:spcPct val="90000"/>
              </a:lnSpc>
              <a:spcBef>
                <a:spcPts val="1000"/>
              </a:spcBef>
              <a:spcAft>
                <a:spcPts val="0"/>
              </a:spcAft>
              <a:buClr>
                <a:schemeClr val="dk1"/>
              </a:buClr>
              <a:buSzPct val="100000"/>
              <a:buNone/>
            </a:pPr>
            <a:r>
              <a:rPr b="1" lang="en-US"/>
              <a:t>Ograničenja ove metode?</a:t>
            </a:r>
            <a:endParaRPr/>
          </a:p>
          <a:p>
            <a:pPr indent="-228600" lvl="0" marL="228600" rtl="0" algn="l">
              <a:lnSpc>
                <a:spcPct val="90000"/>
              </a:lnSpc>
              <a:spcBef>
                <a:spcPts val="1000"/>
              </a:spcBef>
              <a:spcAft>
                <a:spcPts val="0"/>
              </a:spcAft>
              <a:buClr>
                <a:schemeClr val="dk1"/>
              </a:buClr>
              <a:buSzPct val="100000"/>
              <a:buChar char="•"/>
            </a:pPr>
            <a:r>
              <a:rPr lang="en-US"/>
              <a:t>Iskrenost ispitanika</a:t>
            </a:r>
            <a:endParaRPr/>
          </a:p>
          <a:p>
            <a:pPr indent="-228600" lvl="0" marL="228600" rtl="0" algn="l">
              <a:lnSpc>
                <a:spcPct val="90000"/>
              </a:lnSpc>
              <a:spcBef>
                <a:spcPts val="1000"/>
              </a:spcBef>
              <a:spcAft>
                <a:spcPts val="0"/>
              </a:spcAft>
              <a:buClr>
                <a:schemeClr val="dk1"/>
              </a:buClr>
              <a:buSzPct val="100000"/>
              <a:buChar char="•"/>
            </a:pPr>
            <a:r>
              <a:rPr lang="en-US"/>
              <a:t>Sposobnost ispitanika da odgovore na pitanja</a:t>
            </a:r>
            <a:endParaRPr/>
          </a:p>
          <a:p>
            <a:pPr indent="-228600" lvl="0" marL="228600" rtl="0" algn="l">
              <a:lnSpc>
                <a:spcPct val="90000"/>
              </a:lnSpc>
              <a:spcBef>
                <a:spcPts val="1000"/>
              </a:spcBef>
              <a:spcAft>
                <a:spcPts val="0"/>
              </a:spcAft>
              <a:buClr>
                <a:schemeClr val="dk1"/>
              </a:buClr>
              <a:buSzPct val="100000"/>
              <a:buChar char="•"/>
            </a:pPr>
            <a:r>
              <a:rPr lang="en-US"/>
              <a:t>Subjektivnost</a:t>
            </a:r>
            <a:endParaRPr/>
          </a:p>
          <a:p>
            <a:pPr indent="-228600" lvl="0" marL="228600" rtl="0" algn="l">
              <a:lnSpc>
                <a:spcPct val="90000"/>
              </a:lnSpc>
              <a:spcBef>
                <a:spcPts val="1000"/>
              </a:spcBef>
              <a:spcAft>
                <a:spcPts val="0"/>
              </a:spcAft>
              <a:buClr>
                <a:schemeClr val="dk1"/>
              </a:buClr>
              <a:buSzPct val="100000"/>
              <a:buChar char="•"/>
            </a:pPr>
            <a:r>
              <a:rPr lang="en-US"/>
              <a:t>Veličina uzorka</a:t>
            </a:r>
            <a:endParaRPr b="1"/>
          </a:p>
        </p:txBody>
      </p:sp>
      <p:pic>
        <p:nvPicPr>
          <p:cNvPr descr="Slikovni rezultat za survey" id="189" name="Google Shape;189;p38"/>
          <p:cNvPicPr preferRelativeResize="0"/>
          <p:nvPr/>
        </p:nvPicPr>
        <p:blipFill rotWithShape="1">
          <a:blip r:embed="rId3">
            <a:alphaModFix/>
          </a:blip>
          <a:srcRect b="0" l="19944" r="17819" t="0"/>
          <a:stretch/>
        </p:blipFill>
        <p:spPr>
          <a:xfrm>
            <a:off x="8816500" y="3863180"/>
            <a:ext cx="2702257" cy="243363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9"/>
          <p:cNvSpPr txBox="1"/>
          <p:nvPr>
            <p:ph type="title"/>
          </p:nvPr>
        </p:nvSpPr>
        <p:spPr>
          <a:xfrm>
            <a:off x="5248072" y="629268"/>
            <a:ext cx="4939868" cy="128616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100"/>
              <a:buFont typeface="Calibri"/>
              <a:buNone/>
            </a:pPr>
            <a:r>
              <a:rPr lang="en-US" sz="4100"/>
              <a:t>Metode istraživanja u psihologiji </a:t>
            </a:r>
            <a:endParaRPr/>
          </a:p>
        </p:txBody>
      </p:sp>
      <p:sp>
        <p:nvSpPr>
          <p:cNvPr id="195" name="Google Shape;195;p39"/>
          <p:cNvSpPr txBox="1"/>
          <p:nvPr>
            <p:ph idx="1" type="body"/>
          </p:nvPr>
        </p:nvSpPr>
        <p:spPr>
          <a:xfrm>
            <a:off x="5248074" y="1915429"/>
            <a:ext cx="6453389" cy="4699684"/>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lnSpc>
                <a:spcPct val="90000"/>
              </a:lnSpc>
              <a:spcBef>
                <a:spcPts val="0"/>
              </a:spcBef>
              <a:spcAft>
                <a:spcPts val="0"/>
              </a:spcAft>
              <a:buClr>
                <a:schemeClr val="dk1"/>
              </a:buClr>
              <a:buSzPct val="100000"/>
              <a:buNone/>
            </a:pPr>
            <a:r>
              <a:rPr b="1" lang="en-US" sz="3200"/>
              <a:t>Korelacijska metoda – obrada podataka i zaključci bazirani na anketama/upitnicima</a:t>
            </a:r>
            <a:endParaRPr b="1" sz="3200"/>
          </a:p>
          <a:p>
            <a:pPr indent="0" lvl="0" marL="0" rtl="0" algn="l">
              <a:lnSpc>
                <a:spcPct val="90000"/>
              </a:lnSpc>
              <a:spcBef>
                <a:spcPts val="1000"/>
              </a:spcBef>
              <a:spcAft>
                <a:spcPts val="0"/>
              </a:spcAft>
              <a:buClr>
                <a:schemeClr val="dk1"/>
              </a:buClr>
              <a:buSzPct val="100000"/>
              <a:buNone/>
            </a:pPr>
            <a:r>
              <a:t/>
            </a:r>
            <a:endParaRPr b="1" sz="3200"/>
          </a:p>
          <a:p>
            <a:pPr indent="-228600" lvl="0" marL="228600" rtl="0" algn="l">
              <a:lnSpc>
                <a:spcPct val="90000"/>
              </a:lnSpc>
              <a:spcBef>
                <a:spcPts val="1000"/>
              </a:spcBef>
              <a:spcAft>
                <a:spcPts val="0"/>
              </a:spcAft>
              <a:buClr>
                <a:schemeClr val="dk1"/>
              </a:buClr>
              <a:buSzPct val="100000"/>
              <a:buChar char="•"/>
            </a:pPr>
            <a:r>
              <a:rPr lang="en-US" sz="3200"/>
              <a:t>Provjeravamo jesu li dvije ili više pojava povezane i kolika je snaga povezanosti</a:t>
            </a:r>
            <a:endParaRPr sz="3200"/>
          </a:p>
          <a:p>
            <a:pPr indent="-228600" lvl="0" marL="228600" rtl="0" algn="l">
              <a:lnSpc>
                <a:spcPct val="90000"/>
              </a:lnSpc>
              <a:spcBef>
                <a:spcPts val="1000"/>
              </a:spcBef>
              <a:spcAft>
                <a:spcPts val="0"/>
              </a:spcAft>
              <a:buClr>
                <a:schemeClr val="dk1"/>
              </a:buClr>
              <a:buSzPct val="100000"/>
              <a:buChar char="•"/>
            </a:pPr>
            <a:r>
              <a:rPr lang="en-US" sz="3200"/>
              <a:t>Raspon: -1, 0, 1</a:t>
            </a:r>
            <a:endParaRPr/>
          </a:p>
          <a:p>
            <a:pPr indent="-228600" lvl="0" marL="228600" rtl="0" algn="l">
              <a:lnSpc>
                <a:spcPct val="90000"/>
              </a:lnSpc>
              <a:spcBef>
                <a:spcPts val="1000"/>
              </a:spcBef>
              <a:spcAft>
                <a:spcPts val="0"/>
              </a:spcAft>
              <a:buClr>
                <a:schemeClr val="dk1"/>
              </a:buClr>
              <a:buSzPct val="100000"/>
              <a:buChar char="•"/>
            </a:pPr>
            <a:r>
              <a:rPr lang="en-US" sz="3200"/>
              <a:t>Npr. samopouzdanje i uspjeh u školi</a:t>
            </a:r>
            <a:endParaRPr sz="3200"/>
          </a:p>
          <a:p>
            <a:pPr indent="-228600" lvl="0" marL="228600" rtl="0" algn="l">
              <a:lnSpc>
                <a:spcPct val="90000"/>
              </a:lnSpc>
              <a:spcBef>
                <a:spcPts val="1000"/>
              </a:spcBef>
              <a:spcAft>
                <a:spcPts val="0"/>
              </a:spcAft>
              <a:buClr>
                <a:schemeClr val="dk1"/>
              </a:buClr>
              <a:buSzPct val="100000"/>
              <a:buChar char="•"/>
            </a:pPr>
            <a:r>
              <a:rPr lang="en-US" sz="3200"/>
              <a:t>Problem: određivanje uzroka i posljedica</a:t>
            </a:r>
            <a:endParaRPr sz="3200"/>
          </a:p>
          <a:p>
            <a:pPr indent="-228600" lvl="0" marL="228600" rtl="0" algn="l">
              <a:lnSpc>
                <a:spcPct val="90000"/>
              </a:lnSpc>
              <a:spcBef>
                <a:spcPts val="1000"/>
              </a:spcBef>
              <a:spcAft>
                <a:spcPts val="0"/>
              </a:spcAft>
              <a:buClr>
                <a:schemeClr val="dk1"/>
              </a:buClr>
              <a:buSzPct val="100000"/>
              <a:buChar char="•"/>
            </a:pPr>
            <a:r>
              <a:rPr lang="en-US" sz="3200"/>
              <a:t>Široko korištena - nemogućnost provedbe eksperimenata kod određenih pojava</a:t>
            </a:r>
            <a:endParaRPr sz="3200"/>
          </a:p>
        </p:txBody>
      </p:sp>
      <p:pic>
        <p:nvPicPr>
          <p:cNvPr id="196" name="Google Shape;196;p39"/>
          <p:cNvPicPr preferRelativeResize="0"/>
          <p:nvPr/>
        </p:nvPicPr>
        <p:blipFill rotWithShape="1">
          <a:blip r:embed="rId3">
            <a:alphaModFix/>
          </a:blip>
          <a:srcRect b="0" l="50985" r="10993" t="0"/>
          <a:stretch/>
        </p:blipFill>
        <p:spPr>
          <a:xfrm>
            <a:off x="1524021" y="10"/>
            <a:ext cx="3476673" cy="685799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0" name="Shape 200"/>
        <p:cNvGrpSpPr/>
        <p:nvPr/>
      </p:nvGrpSpPr>
      <p:grpSpPr>
        <a:xfrm>
          <a:off x="0" y="0"/>
          <a:ext cx="0" cy="0"/>
          <a:chOff x="0" y="0"/>
          <a:chExt cx="0" cy="0"/>
        </a:xfrm>
      </p:grpSpPr>
      <p:sp>
        <p:nvSpPr>
          <p:cNvPr id="201" name="Google Shape;201;p4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2" name="Google Shape;202;p40"/>
          <p:cNvSpPr/>
          <p:nvPr/>
        </p:nvSpPr>
        <p:spPr>
          <a:xfrm>
            <a:off x="558209" y="684398"/>
            <a:ext cx="11167447" cy="5206040"/>
          </a:xfrm>
          <a:prstGeom prst="rect">
            <a:avLst/>
          </a:prstGeom>
          <a:solidFill>
            <a:schemeClr val="lt1"/>
          </a:solidFill>
          <a:ln cap="flat" cmpd="sng" w="12700">
            <a:solidFill>
              <a:srgbClr val="E1E1E1"/>
            </a:solidFill>
            <a:prstDash val="solid"/>
            <a:miter lim="800000"/>
            <a:headEnd len="sm" w="sm" type="none"/>
            <a:tailEnd len="sm" w="sm" type="none"/>
          </a:ln>
          <a:effectLst>
            <a:outerShdw blurRad="50800" rotWithShape="0" algn="tl" dir="2700000" dist="38100">
              <a:srgbClr val="C5C2C2">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3" name="Google Shape;203;p40"/>
          <p:cNvSpPr txBox="1"/>
          <p:nvPr>
            <p:ph type="title"/>
          </p:nvPr>
        </p:nvSpPr>
        <p:spPr>
          <a:xfrm>
            <a:off x="1045029" y="1092857"/>
            <a:ext cx="3669704" cy="43891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Metode istraživanja u psihologiji </a:t>
            </a:r>
            <a:endParaRPr sz="4000"/>
          </a:p>
        </p:txBody>
      </p:sp>
      <p:sp>
        <p:nvSpPr>
          <p:cNvPr id="204" name="Google Shape;204;p40"/>
          <p:cNvSpPr/>
          <p:nvPr/>
        </p:nvSpPr>
        <p:spPr>
          <a:xfrm>
            <a:off x="498834" y="2935374"/>
            <a:ext cx="128016"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5" name="Google Shape;205;p40"/>
          <p:cNvSpPr txBox="1"/>
          <p:nvPr>
            <p:ph idx="1" type="body"/>
          </p:nvPr>
        </p:nvSpPr>
        <p:spPr>
          <a:xfrm>
            <a:off x="3943351" y="1092856"/>
            <a:ext cx="7299416" cy="479757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Eksperiment </a:t>
            </a:r>
            <a:br>
              <a:rPr b="1" lang="en-US"/>
            </a:br>
            <a:endParaRPr b="1"/>
          </a:p>
          <a:p>
            <a:pPr indent="-228600" lvl="0" marL="228600" rtl="0" algn="l">
              <a:lnSpc>
                <a:spcPct val="90000"/>
              </a:lnSpc>
              <a:spcBef>
                <a:spcPts val="1000"/>
              </a:spcBef>
              <a:spcAft>
                <a:spcPts val="0"/>
              </a:spcAft>
              <a:buClr>
                <a:schemeClr val="dk1"/>
              </a:buClr>
              <a:buSzPts val="2800"/>
              <a:buChar char="•"/>
            </a:pPr>
            <a:r>
              <a:rPr lang="en-US"/>
              <a:t>Spoznavanje </a:t>
            </a:r>
            <a:r>
              <a:rPr b="1" lang="en-US"/>
              <a:t>uzroka </a:t>
            </a:r>
            <a:r>
              <a:rPr lang="en-US"/>
              <a:t>i </a:t>
            </a:r>
            <a:r>
              <a:rPr b="1" lang="en-US"/>
              <a:t>posljedica </a:t>
            </a:r>
            <a:r>
              <a:rPr lang="en-US"/>
              <a:t>ispitivanih pojava – najviši stupanj znanstvene spoznaje</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Stvarni </a:t>
            </a:r>
            <a:r>
              <a:rPr b="1" lang="en-US"/>
              <a:t>uzroci</a:t>
            </a:r>
            <a:r>
              <a:rPr lang="en-US"/>
              <a:t> pojava mogu se utvrditi samo </a:t>
            </a:r>
            <a:r>
              <a:rPr b="1" lang="en-US"/>
              <a:t>eksperimentom</a:t>
            </a:r>
            <a:endParaRPr/>
          </a:p>
          <a:p>
            <a:pPr indent="0" lvl="0" marL="0" rtl="0" algn="l">
              <a:lnSpc>
                <a:spcPct val="90000"/>
              </a:lnSpc>
              <a:spcBef>
                <a:spcPts val="1000"/>
              </a:spcBef>
              <a:spcAft>
                <a:spcPts val="0"/>
              </a:spcAft>
              <a:buClr>
                <a:schemeClr val="dk1"/>
              </a:buClr>
              <a:buSzPts val="2800"/>
              <a:buNone/>
            </a:pPr>
            <a:r>
              <a:rPr b="1" lang="en-US"/>
              <a:t> </a:t>
            </a:r>
            <a:endParaRPr/>
          </a:p>
          <a:p>
            <a:pPr indent="-228600" lvl="0" marL="228600" rtl="0" algn="l">
              <a:lnSpc>
                <a:spcPct val="90000"/>
              </a:lnSpc>
              <a:spcBef>
                <a:spcPts val="1000"/>
              </a:spcBef>
              <a:spcAft>
                <a:spcPts val="0"/>
              </a:spcAft>
              <a:buClr>
                <a:schemeClr val="dk1"/>
              </a:buClr>
              <a:buSzPts val="2800"/>
              <a:buChar char="•"/>
            </a:pPr>
            <a:r>
              <a:rPr b="1" lang="en-US"/>
              <a:t>Najvažnija metoda znanstvene psihologije </a:t>
            </a:r>
            <a:endParaRPr/>
          </a:p>
          <a:p>
            <a:pPr indent="0" lvl="0" marL="0" rtl="0" algn="l">
              <a:lnSpc>
                <a:spcPct val="90000"/>
              </a:lnSpc>
              <a:spcBef>
                <a:spcPts val="1000"/>
              </a:spcBef>
              <a:spcAft>
                <a:spcPts val="0"/>
              </a:spcAft>
              <a:buClr>
                <a:schemeClr val="dk1"/>
              </a:buClr>
              <a:buSzPts val="2000"/>
              <a:buNone/>
            </a:pPr>
            <a:r>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9" name="Shape 209"/>
        <p:cNvGrpSpPr/>
        <p:nvPr/>
      </p:nvGrpSpPr>
      <p:grpSpPr>
        <a:xfrm>
          <a:off x="0" y="0"/>
          <a:ext cx="0" cy="0"/>
          <a:chOff x="0" y="0"/>
          <a:chExt cx="0" cy="0"/>
        </a:xfrm>
      </p:grpSpPr>
      <p:sp>
        <p:nvSpPr>
          <p:cNvPr id="210" name="Google Shape;210;p4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1" name="Google Shape;211;p41"/>
          <p:cNvSpPr/>
          <p:nvPr/>
        </p:nvSpPr>
        <p:spPr>
          <a:xfrm>
            <a:off x="558209" y="684398"/>
            <a:ext cx="11167447" cy="5206040"/>
          </a:xfrm>
          <a:prstGeom prst="rect">
            <a:avLst/>
          </a:prstGeom>
          <a:solidFill>
            <a:schemeClr val="lt1"/>
          </a:solidFill>
          <a:ln cap="flat" cmpd="sng" w="12700">
            <a:solidFill>
              <a:srgbClr val="E1E1E1"/>
            </a:solidFill>
            <a:prstDash val="solid"/>
            <a:miter lim="800000"/>
            <a:headEnd len="sm" w="sm" type="none"/>
            <a:tailEnd len="sm" w="sm" type="none"/>
          </a:ln>
          <a:effectLst>
            <a:outerShdw blurRad="50800" rotWithShape="0" algn="tl" dir="2700000" dist="38100">
              <a:srgbClr val="C5C2C2">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2" name="Google Shape;212;p41"/>
          <p:cNvSpPr txBox="1"/>
          <p:nvPr>
            <p:ph type="title"/>
          </p:nvPr>
        </p:nvSpPr>
        <p:spPr>
          <a:xfrm>
            <a:off x="1045029" y="1092857"/>
            <a:ext cx="3669704" cy="43891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Metode istraživanja u psihologiji </a:t>
            </a:r>
            <a:endParaRPr/>
          </a:p>
        </p:txBody>
      </p:sp>
      <p:sp>
        <p:nvSpPr>
          <p:cNvPr id="213" name="Google Shape;213;p41"/>
          <p:cNvSpPr/>
          <p:nvPr/>
        </p:nvSpPr>
        <p:spPr>
          <a:xfrm>
            <a:off x="498834" y="2935374"/>
            <a:ext cx="128016"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14" name="Google Shape;214;p41"/>
          <p:cNvSpPr txBox="1"/>
          <p:nvPr>
            <p:ph idx="1" type="body"/>
          </p:nvPr>
        </p:nvSpPr>
        <p:spPr>
          <a:xfrm>
            <a:off x="4229101" y="1376023"/>
            <a:ext cx="7404690" cy="469616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rPr b="1" lang="en-US" sz="2400"/>
              <a:t>Eksperiment – </a:t>
            </a:r>
            <a:r>
              <a:rPr lang="en-US" sz="2400"/>
              <a:t>postupak kojim se u kontroliranim uvjetima, namjerno, izaziva neka pojava zbog opažanja ili mjerenja.</a:t>
            </a:r>
            <a:endParaRPr/>
          </a:p>
          <a:p>
            <a:pPr indent="0" lvl="0" marL="0" rtl="0" algn="l">
              <a:lnSpc>
                <a:spcPct val="90000"/>
              </a:lnSpc>
              <a:spcBef>
                <a:spcPts val="1000"/>
              </a:spcBef>
              <a:spcAft>
                <a:spcPts val="0"/>
              </a:spcAft>
              <a:buClr>
                <a:schemeClr val="dk1"/>
              </a:buClr>
              <a:buSzPts val="2400"/>
              <a:buNone/>
            </a:pPr>
            <a:r>
              <a:t/>
            </a:r>
            <a:endParaRPr b="1" sz="2400"/>
          </a:p>
          <a:p>
            <a:pPr indent="-228600" lvl="0" marL="228600" rtl="0" algn="l">
              <a:lnSpc>
                <a:spcPct val="90000"/>
              </a:lnSpc>
              <a:spcBef>
                <a:spcPts val="1000"/>
              </a:spcBef>
              <a:spcAft>
                <a:spcPts val="0"/>
              </a:spcAft>
              <a:buClr>
                <a:schemeClr val="dk1"/>
              </a:buClr>
              <a:buSzPts val="2400"/>
              <a:buChar char="•"/>
            </a:pPr>
            <a:r>
              <a:rPr b="1" lang="en-US" sz="2400"/>
              <a:t>Rezultati su ponovljivi i provjerljivi! </a:t>
            </a:r>
            <a:endParaRPr/>
          </a:p>
          <a:p>
            <a:pPr indent="0" lvl="0" marL="0" rtl="0" algn="l">
              <a:lnSpc>
                <a:spcPct val="90000"/>
              </a:lnSpc>
              <a:spcBef>
                <a:spcPts val="1000"/>
              </a:spcBef>
              <a:spcAft>
                <a:spcPts val="0"/>
              </a:spcAft>
              <a:buClr>
                <a:schemeClr val="dk1"/>
              </a:buClr>
              <a:buSzPts val="2400"/>
              <a:buNone/>
            </a:pPr>
            <a:r>
              <a:t/>
            </a:r>
            <a:endParaRPr b="1" sz="2400"/>
          </a:p>
          <a:p>
            <a:pPr indent="0" lvl="0" marL="0" rtl="0" algn="l">
              <a:lnSpc>
                <a:spcPct val="90000"/>
              </a:lnSpc>
              <a:spcBef>
                <a:spcPts val="1000"/>
              </a:spcBef>
              <a:spcAft>
                <a:spcPts val="0"/>
              </a:spcAft>
              <a:buClr>
                <a:schemeClr val="dk1"/>
              </a:buClr>
              <a:buSzPts val="2400"/>
              <a:buNone/>
            </a:pPr>
            <a:r>
              <a:rPr b="1" lang="en-US" sz="2400"/>
              <a:t>Nezavisna varijabla </a:t>
            </a:r>
            <a:r>
              <a:rPr lang="en-US" sz="2400"/>
              <a:t>– ono što mijenjamo.</a:t>
            </a:r>
            <a:endParaRPr/>
          </a:p>
          <a:p>
            <a:pPr indent="0" lvl="0" marL="0" rtl="0" algn="l">
              <a:lnSpc>
                <a:spcPct val="90000"/>
              </a:lnSpc>
              <a:spcBef>
                <a:spcPts val="1000"/>
              </a:spcBef>
              <a:spcAft>
                <a:spcPts val="0"/>
              </a:spcAft>
              <a:buClr>
                <a:schemeClr val="dk1"/>
              </a:buClr>
              <a:buSzPts val="2400"/>
              <a:buNone/>
            </a:pPr>
            <a:r>
              <a:rPr lang="en-US" sz="2400"/>
              <a:t>Opažamo utjecaj te promjene na </a:t>
            </a:r>
            <a:r>
              <a:rPr b="1" lang="en-US" sz="2400"/>
              <a:t>zavisnu varijablu </a:t>
            </a:r>
            <a:r>
              <a:rPr lang="en-US" sz="2400"/>
              <a:t>– ono što istražujemo </a:t>
            </a:r>
            <a:endParaRPr/>
          </a:p>
          <a:p>
            <a:pPr indent="0" lvl="0" marL="0" rtl="0" algn="l">
              <a:lnSpc>
                <a:spcPct val="90000"/>
              </a:lnSpc>
              <a:spcBef>
                <a:spcPts val="1000"/>
              </a:spcBef>
              <a:spcAft>
                <a:spcPts val="0"/>
              </a:spcAft>
              <a:buClr>
                <a:schemeClr val="dk1"/>
              </a:buClr>
              <a:buSzPts val="2400"/>
              <a:buNone/>
            </a:pPr>
            <a:r>
              <a:t/>
            </a:r>
            <a:endParaRPr b="1" sz="2400"/>
          </a:p>
          <a:p>
            <a:pPr indent="0" lvl="0" marL="0" rtl="0" algn="l">
              <a:lnSpc>
                <a:spcPct val="90000"/>
              </a:lnSpc>
              <a:spcBef>
                <a:spcPts val="1000"/>
              </a:spcBef>
              <a:spcAft>
                <a:spcPts val="0"/>
              </a:spcAft>
              <a:buClr>
                <a:schemeClr val="dk1"/>
              </a:buClr>
              <a:buSzPts val="2400"/>
              <a:buNone/>
            </a:pPr>
            <a:r>
              <a:rPr b="1" lang="en-US" sz="2400"/>
              <a:t>Ograničenja ove metode?</a:t>
            </a:r>
            <a:endParaRPr/>
          </a:p>
          <a:p>
            <a:pPr indent="0" lvl="0" marL="0" rtl="0" algn="l">
              <a:lnSpc>
                <a:spcPct val="90000"/>
              </a:lnSpc>
              <a:spcBef>
                <a:spcPts val="1000"/>
              </a:spcBef>
              <a:spcAft>
                <a:spcPts val="0"/>
              </a:spcAft>
              <a:buClr>
                <a:schemeClr val="dk1"/>
              </a:buClr>
              <a:buSzPts val="2400"/>
              <a:buNone/>
            </a:pPr>
            <a:r>
              <a:rPr lang="en-US" sz="2400"/>
              <a:t>Ne možemo sve pojave istraživati na ovaj način (etičnost)</a:t>
            </a:r>
            <a:endParaRPr/>
          </a:p>
          <a:p>
            <a:pPr indent="0" lvl="0" marL="0" rtl="0" algn="l">
              <a:lnSpc>
                <a:spcPct val="90000"/>
              </a:lnSpc>
              <a:spcBef>
                <a:spcPts val="1000"/>
              </a:spcBef>
              <a:spcAft>
                <a:spcPts val="0"/>
              </a:spcAft>
              <a:buClr>
                <a:schemeClr val="dk1"/>
              </a:buClr>
              <a:buSzPts val="1800"/>
              <a:buNone/>
            </a:pPr>
            <a:r>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2"/>
          <p:cNvSpPr txBox="1"/>
          <p:nvPr>
            <p:ph type="title"/>
          </p:nvPr>
        </p:nvSpPr>
        <p:spPr>
          <a:xfrm>
            <a:off x="1970809" y="-147583"/>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Metode istraživanja u psihologiji </a:t>
            </a:r>
            <a:endParaRPr/>
          </a:p>
        </p:txBody>
      </p:sp>
      <p:pic>
        <p:nvPicPr>
          <p:cNvPr id="221" name="Google Shape;221;p42"/>
          <p:cNvPicPr preferRelativeResize="0"/>
          <p:nvPr>
            <p:ph idx="1" type="body"/>
          </p:nvPr>
        </p:nvPicPr>
        <p:blipFill rotWithShape="1">
          <a:blip r:embed="rId3">
            <a:alphaModFix/>
          </a:blip>
          <a:srcRect b="46124" l="46212" r="11170" t="31842"/>
          <a:stretch/>
        </p:blipFill>
        <p:spPr>
          <a:xfrm>
            <a:off x="2590800" y="4578315"/>
            <a:ext cx="7315194" cy="2127341"/>
          </a:xfrm>
          <a:prstGeom prst="rect">
            <a:avLst/>
          </a:prstGeom>
          <a:noFill/>
          <a:ln>
            <a:noFill/>
          </a:ln>
        </p:spPr>
      </p:pic>
      <p:sp>
        <p:nvSpPr>
          <p:cNvPr id="222" name="Google Shape;222;p42"/>
          <p:cNvSpPr txBox="1"/>
          <p:nvPr/>
        </p:nvSpPr>
        <p:spPr>
          <a:xfrm>
            <a:off x="1970809" y="1417639"/>
            <a:ext cx="457200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  </a:t>
            </a:r>
            <a:br>
              <a:rPr b="1" i="0" lang="en-US" sz="2800" u="none" cap="none" strike="noStrike">
                <a:solidFill>
                  <a:schemeClr val="dk1"/>
                </a:solidFill>
                <a:latin typeface="Calibri"/>
                <a:ea typeface="Calibri"/>
                <a:cs typeface="Calibri"/>
                <a:sym typeface="Calibri"/>
              </a:rPr>
            </a:br>
            <a:endParaRPr b="1" i="0" sz="2800" u="none" cap="none" strike="noStrike">
              <a:solidFill>
                <a:schemeClr val="dk1"/>
              </a:solidFill>
              <a:latin typeface="Calibri"/>
              <a:ea typeface="Calibri"/>
              <a:cs typeface="Calibri"/>
              <a:sym typeface="Calibri"/>
            </a:endParaRPr>
          </a:p>
        </p:txBody>
      </p:sp>
      <p:pic>
        <p:nvPicPr>
          <p:cNvPr id="223" name="Google Shape;223;p42"/>
          <p:cNvPicPr preferRelativeResize="0"/>
          <p:nvPr/>
        </p:nvPicPr>
        <p:blipFill rotWithShape="1">
          <a:blip r:embed="rId4">
            <a:alphaModFix/>
          </a:blip>
          <a:srcRect b="23333" l="8485" r="68333" t="39751"/>
          <a:stretch/>
        </p:blipFill>
        <p:spPr>
          <a:xfrm>
            <a:off x="4191000" y="756016"/>
            <a:ext cx="4267200" cy="38222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Zadatak</a:t>
            </a:r>
            <a:endParaRPr/>
          </a:p>
        </p:txBody>
      </p:sp>
      <p:sp>
        <p:nvSpPr>
          <p:cNvPr id="229" name="Google Shape;229;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Kako biste eksperimentom u prirodnim uvjetima ispitali kako broj potencijalnih pomagača utječe na brzinu pružanja pomoći osobi u nevolji?</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3046180cc6f_0_1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Projektni zadatak:</a:t>
            </a:r>
            <a:endParaRPr/>
          </a:p>
        </p:txBody>
      </p:sp>
      <p:sp>
        <p:nvSpPr>
          <p:cNvPr id="236" name="Google Shape;236;g3046180cc6f_0_1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fontScale="92500" lnSpcReduction="20000"/>
          </a:bodyPr>
          <a:lstStyle/>
          <a:p>
            <a:pPr indent="-334327" lvl="0" marL="457200" rtl="0" algn="l">
              <a:spcBef>
                <a:spcPts val="1000"/>
              </a:spcBef>
              <a:spcAft>
                <a:spcPts val="0"/>
              </a:spcAft>
              <a:buSzPct val="64285"/>
              <a:buChar char="•"/>
            </a:pPr>
            <a:r>
              <a:rPr lang="en-US"/>
              <a:t>u grupi (do 4 člana) - ravnopravno podijelite zaduženja</a:t>
            </a:r>
            <a:endParaRPr/>
          </a:p>
          <a:p>
            <a:pPr indent="0" lvl="0" marL="457200" rtl="0" algn="l">
              <a:spcBef>
                <a:spcPts val="1000"/>
              </a:spcBef>
              <a:spcAft>
                <a:spcPts val="0"/>
              </a:spcAft>
              <a:buNone/>
            </a:pPr>
            <a:r>
              <a:t/>
            </a:r>
            <a:endParaRPr/>
          </a:p>
          <a:p>
            <a:pPr indent="-334327" lvl="0" marL="457200" rtl="0" algn="l">
              <a:spcBef>
                <a:spcPts val="1000"/>
              </a:spcBef>
              <a:spcAft>
                <a:spcPts val="0"/>
              </a:spcAft>
              <a:buSzPct val="64285"/>
              <a:buChar char="•"/>
            </a:pPr>
            <a:r>
              <a:rPr lang="en-US"/>
              <a:t>Kroz sedam koraka u istraživanju oblikujte problem istraživanja i izradite jednostavni nacrt kojim biste istražili odabrani problem. Možete se koristiti bilo kojom istraživačkom metodom koju ste upoznali. Hipotezu i rezultate istraživanja pretpostavite u skladu s postojećom </a:t>
            </a:r>
            <a:r>
              <a:rPr lang="en-US"/>
              <a:t>literaturom (korištenu literaturu navedite na kraju rada).</a:t>
            </a:r>
            <a:endParaRPr/>
          </a:p>
          <a:p>
            <a:pPr indent="-334327" lvl="0" marL="457200" rtl="0" algn="l">
              <a:spcBef>
                <a:spcPts val="0"/>
              </a:spcBef>
              <a:spcAft>
                <a:spcPts val="0"/>
              </a:spcAft>
              <a:buSzPct val="64285"/>
              <a:buChar char="•"/>
            </a:pPr>
            <a:r>
              <a:rPr lang="en-US"/>
              <a:t>+ uvod</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Detaljna uputa - pdf dokument</a:t>
            </a:r>
            <a:endParaRPr/>
          </a:p>
          <a:p>
            <a:pPr indent="0" lvl="0" marL="457200" rtl="0" algn="l">
              <a:spcBef>
                <a:spcPts val="1000"/>
              </a:spcBef>
              <a:spcAft>
                <a:spcPts val="0"/>
              </a:spcAft>
              <a:buNone/>
            </a:pPr>
            <a:r>
              <a:t/>
            </a:r>
            <a:endParaRPr/>
          </a:p>
          <a:p>
            <a:pPr indent="-334327" lvl="0" marL="457200" rtl="0" algn="l">
              <a:spcBef>
                <a:spcPts val="1000"/>
              </a:spcBef>
              <a:spcAft>
                <a:spcPts val="0"/>
              </a:spcAft>
              <a:buSzPct val="64285"/>
              <a:buChar char="•"/>
            </a:pPr>
            <a:r>
              <a:rPr lang="en-US"/>
              <a:t>za ocjenu!</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0" name="Shape 240"/>
        <p:cNvGrpSpPr/>
        <p:nvPr/>
      </p:nvGrpSpPr>
      <p:grpSpPr>
        <a:xfrm>
          <a:off x="0" y="0"/>
          <a:ext cx="0" cy="0"/>
          <a:chOff x="0" y="0"/>
          <a:chExt cx="0" cy="0"/>
        </a:xfrm>
      </p:grpSpPr>
      <p:sp>
        <p:nvSpPr>
          <p:cNvPr id="241" name="Google Shape;241;p4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2" name="Google Shape;242;p44"/>
          <p:cNvSpPr/>
          <p:nvPr/>
        </p:nvSpPr>
        <p:spPr>
          <a:xfrm>
            <a:off x="1903615" y="4638503"/>
            <a:ext cx="8384770" cy="1332634"/>
          </a:xfrm>
          <a:prstGeom prst="rect">
            <a:avLst/>
          </a:prstGeom>
          <a:solidFill>
            <a:schemeClr val="lt1"/>
          </a:solidFill>
          <a:ln cap="flat" cmpd="sng" w="12700">
            <a:solidFill>
              <a:srgbClr val="E1E1E1"/>
            </a:solidFill>
            <a:prstDash val="solid"/>
            <a:miter lim="800000"/>
            <a:headEnd len="sm" w="sm" type="none"/>
            <a:tailEnd len="sm" w="sm" type="none"/>
          </a:ln>
          <a:effectLst>
            <a:outerShdw blurRad="50800" rotWithShape="0" algn="tl" dir="2700000" dist="38100">
              <a:srgbClr val="C5C2C2">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3" name="Google Shape;243;p44"/>
          <p:cNvSpPr txBox="1"/>
          <p:nvPr>
            <p:ph type="title"/>
          </p:nvPr>
        </p:nvSpPr>
        <p:spPr>
          <a:xfrm>
            <a:off x="2103120" y="4727448"/>
            <a:ext cx="7982712" cy="86868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b="1" lang="en-US" sz="4000">
                <a:solidFill>
                  <a:schemeClr val="dk1"/>
                </a:solidFill>
                <a:latin typeface="Calibri"/>
                <a:ea typeface="Calibri"/>
                <a:cs typeface="Calibri"/>
                <a:sym typeface="Calibri"/>
              </a:rPr>
              <a:t>Etičnost u psihološkim istraživanjima? </a:t>
            </a:r>
            <a:endParaRPr/>
          </a:p>
        </p:txBody>
      </p:sp>
      <p:sp>
        <p:nvSpPr>
          <p:cNvPr id="244" name="Google Shape;244;p44"/>
          <p:cNvSpPr/>
          <p:nvPr/>
        </p:nvSpPr>
        <p:spPr>
          <a:xfrm>
            <a:off x="2483110" y="5628237"/>
            <a:ext cx="7225780" cy="685800"/>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venir"/>
              <a:ea typeface="Avenir"/>
              <a:cs typeface="Avenir"/>
              <a:sym typeface="Avenir"/>
            </a:endParaRPr>
          </a:p>
        </p:txBody>
      </p:sp>
      <p:pic>
        <p:nvPicPr>
          <p:cNvPr descr="Harry Harlow and the Nature of Love and Affection" id="245" name="Google Shape;245;p44"/>
          <p:cNvPicPr preferRelativeResize="0"/>
          <p:nvPr>
            <p:ph idx="1" type="body"/>
          </p:nvPr>
        </p:nvPicPr>
        <p:blipFill rotWithShape="1">
          <a:blip r:embed="rId3">
            <a:alphaModFix/>
          </a:blip>
          <a:srcRect b="13671" l="0" r="-2" t="12427"/>
          <a:stretch/>
        </p:blipFill>
        <p:spPr>
          <a:xfrm>
            <a:off x="20" y="10"/>
            <a:ext cx="5989300" cy="4426159"/>
          </a:xfrm>
          <a:prstGeom prst="rect">
            <a:avLst/>
          </a:prstGeom>
          <a:noFill/>
          <a:ln>
            <a:noFill/>
          </a:ln>
        </p:spPr>
      </p:pic>
      <p:pic>
        <p:nvPicPr>
          <p:cNvPr descr="6 Creepy Science Experiments That Will Shock You With Cruelty of Humans" id="246" name="Google Shape;246;p44"/>
          <p:cNvPicPr preferRelativeResize="0"/>
          <p:nvPr/>
        </p:nvPicPr>
        <p:blipFill rotWithShape="1">
          <a:blip r:embed="rId4">
            <a:alphaModFix/>
          </a:blip>
          <a:srcRect b="12107" l="0" r="-1" t="0"/>
          <a:stretch/>
        </p:blipFill>
        <p:spPr>
          <a:xfrm>
            <a:off x="6202680" y="10"/>
            <a:ext cx="5989320" cy="442615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Domaća zadaća za one koji žele znati više!</a:t>
            </a:r>
            <a:endParaRPr b="1"/>
          </a:p>
        </p:txBody>
      </p:sp>
      <p:sp>
        <p:nvSpPr>
          <p:cNvPr id="253" name="Google Shape;253;p45"/>
          <p:cNvSpPr txBox="1"/>
          <p:nvPr>
            <p:ph idx="1" type="body"/>
          </p:nvPr>
        </p:nvSpPr>
        <p:spPr>
          <a:xfrm>
            <a:off x="810065" y="1572406"/>
            <a:ext cx="10515600" cy="482839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600"/>
              <a:buChar char="•"/>
            </a:pPr>
            <a:r>
              <a:rPr lang="en-US" sz="2600"/>
              <a:t>Pročitati u udžbeniku poglavlje 1.5. Etičnost u psihologijskim istraživanjima (str. 35. – 36. ).</a:t>
            </a:r>
            <a:endParaRPr/>
          </a:p>
          <a:p>
            <a:pPr indent="-228600" lvl="0" marL="228600" rtl="0" algn="l">
              <a:lnSpc>
                <a:spcPct val="90000"/>
              </a:lnSpc>
              <a:spcBef>
                <a:spcPts val="1000"/>
              </a:spcBef>
              <a:spcAft>
                <a:spcPts val="0"/>
              </a:spcAft>
              <a:buClr>
                <a:schemeClr val="dk1"/>
              </a:buClr>
              <a:buSzPts val="2600"/>
              <a:buChar char="•"/>
            </a:pPr>
            <a:r>
              <a:rPr lang="en-US" sz="2600"/>
              <a:t>Pogledati video o neetičkim istraživanjima u psihologiji:</a:t>
            </a:r>
            <a:endParaRPr/>
          </a:p>
          <a:p>
            <a:pPr indent="-228600" lvl="0" marL="228600" rtl="0" algn="l">
              <a:lnSpc>
                <a:spcPct val="90000"/>
              </a:lnSpc>
              <a:spcBef>
                <a:spcPts val="1000"/>
              </a:spcBef>
              <a:spcAft>
                <a:spcPts val="0"/>
              </a:spcAft>
              <a:buClr>
                <a:schemeClr val="dk1"/>
              </a:buClr>
              <a:buSzPts val="2600"/>
              <a:buNone/>
            </a:pPr>
            <a:r>
              <a:rPr lang="en-US" sz="2600" u="sng">
                <a:solidFill>
                  <a:schemeClr val="hlink"/>
                </a:solidFill>
                <a:hlinkClick r:id="rId3"/>
              </a:rPr>
              <a:t>https://www.youtube.com/watch?v=zZ3l1jgmYrY</a:t>
            </a:r>
            <a:r>
              <a:rPr lang="en-US" sz="2600"/>
              <a:t> </a:t>
            </a:r>
            <a:endParaRPr/>
          </a:p>
          <a:p>
            <a:pPr indent="-228600" lvl="0" marL="228600" rtl="0" algn="l">
              <a:lnSpc>
                <a:spcPct val="90000"/>
              </a:lnSpc>
              <a:spcBef>
                <a:spcPts val="1000"/>
              </a:spcBef>
              <a:spcAft>
                <a:spcPts val="0"/>
              </a:spcAft>
              <a:buClr>
                <a:schemeClr val="dk1"/>
              </a:buClr>
              <a:buSzPts val="2600"/>
              <a:buNone/>
            </a:pPr>
            <a:r>
              <a:t/>
            </a:r>
            <a:endParaRPr sz="2600"/>
          </a:p>
          <a:p>
            <a:pPr indent="-514350" lvl="0" marL="514350" rtl="0" algn="l">
              <a:lnSpc>
                <a:spcPct val="90000"/>
              </a:lnSpc>
              <a:spcBef>
                <a:spcPts val="1000"/>
              </a:spcBef>
              <a:spcAft>
                <a:spcPts val="0"/>
              </a:spcAft>
              <a:buClr>
                <a:schemeClr val="dk1"/>
              </a:buClr>
              <a:buSzPts val="2600"/>
              <a:buAutoNum type="arabicPeriod"/>
            </a:pPr>
            <a:r>
              <a:rPr lang="en-US" sz="2600"/>
              <a:t>Navedite i opišite na što sve treba obratiti pažnju kako bi istraživanje bilo provedeno prema etičkim načelima. Zašto su važna etička načela u istraživanjima?</a:t>
            </a:r>
            <a:endParaRPr/>
          </a:p>
          <a:p>
            <a:pPr indent="-514350" lvl="0" marL="514350" rtl="0" algn="l">
              <a:lnSpc>
                <a:spcPct val="90000"/>
              </a:lnSpc>
              <a:spcBef>
                <a:spcPts val="1000"/>
              </a:spcBef>
              <a:spcAft>
                <a:spcPts val="0"/>
              </a:spcAft>
              <a:buClr>
                <a:schemeClr val="dk1"/>
              </a:buClr>
              <a:buSzPts val="2600"/>
              <a:buAutoNum type="arabicPeriod"/>
            </a:pPr>
            <a:r>
              <a:rPr lang="en-US" sz="2600"/>
              <a:t>Ukratko opišite primjer jednog neetičnog istraživanja iz videa. Koristeći primjer tog istraživanja objasnite koja su to etička načela prekršena i kako. Razmislite i predložite način kako bi se to kršenje načela moglo ispraviti.</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Etička načela u psihologijskim istraživanjima</a:t>
            </a:r>
            <a:endParaRPr b="1"/>
          </a:p>
        </p:txBody>
      </p:sp>
      <p:sp>
        <p:nvSpPr>
          <p:cNvPr id="260" name="Google Shape;260;p46"/>
          <p:cNvSpPr txBox="1"/>
          <p:nvPr>
            <p:ph idx="1" type="body"/>
          </p:nvPr>
        </p:nvSpPr>
        <p:spPr>
          <a:xfrm>
            <a:off x="838200" y="1744394"/>
            <a:ext cx="10515600" cy="4825219"/>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rgbClr val="2F5496"/>
              </a:buClr>
              <a:buSzPts val="2800"/>
              <a:buAutoNum type="arabicPeriod"/>
            </a:pPr>
            <a:r>
              <a:rPr b="1" lang="en-US">
                <a:solidFill>
                  <a:srgbClr val="2F5496"/>
                </a:solidFill>
              </a:rPr>
              <a:t>Načelo minimalnog rizika</a:t>
            </a:r>
            <a:endParaRPr/>
          </a:p>
          <a:p>
            <a:pPr indent="-514350" lvl="1" marL="971550" rtl="0" algn="l">
              <a:lnSpc>
                <a:spcPct val="90000"/>
              </a:lnSpc>
              <a:spcBef>
                <a:spcPts val="500"/>
              </a:spcBef>
              <a:spcAft>
                <a:spcPts val="0"/>
              </a:spcAft>
              <a:buClr>
                <a:schemeClr val="dk1"/>
              </a:buClr>
              <a:buSzPts val="2400"/>
              <a:buChar char="•"/>
            </a:pPr>
            <a:r>
              <a:rPr lang="en-US"/>
              <a:t>Rizik (tjelesni i psihološki) kojemu su sudionici izloženi u istraživanju ne smije biti veći od rizika u njihovim svakodnevnim životima</a:t>
            </a:r>
            <a:endParaRPr/>
          </a:p>
          <a:p>
            <a:pPr indent="-514350" lvl="0" marL="514350" rtl="0" algn="l">
              <a:lnSpc>
                <a:spcPct val="90000"/>
              </a:lnSpc>
              <a:spcBef>
                <a:spcPts val="1000"/>
              </a:spcBef>
              <a:spcAft>
                <a:spcPts val="0"/>
              </a:spcAft>
              <a:buClr>
                <a:srgbClr val="548135"/>
              </a:buClr>
              <a:buSzPts val="2800"/>
              <a:buAutoNum type="arabicPeriod"/>
            </a:pPr>
            <a:r>
              <a:rPr b="1" lang="en-US">
                <a:solidFill>
                  <a:srgbClr val="548135"/>
                </a:solidFill>
              </a:rPr>
              <a:t>Pristanak obaviještenih sudionika</a:t>
            </a:r>
            <a:endParaRPr/>
          </a:p>
          <a:p>
            <a:pPr indent="-514350" lvl="1" marL="971550" rtl="0" algn="l">
              <a:lnSpc>
                <a:spcPct val="90000"/>
              </a:lnSpc>
              <a:spcBef>
                <a:spcPts val="500"/>
              </a:spcBef>
              <a:spcAft>
                <a:spcPts val="0"/>
              </a:spcAft>
              <a:buClr>
                <a:schemeClr val="dk1"/>
              </a:buClr>
              <a:buSzPts val="2400"/>
              <a:buChar char="•"/>
            </a:pPr>
            <a:r>
              <a:rPr lang="en-US"/>
              <a:t>Sudionici se u istraživanje uključuju dobrovoljno i mogu odustati u bilo kojem trenutku bez posljedica te unaprijed biti upoznati s glavnim značajkama istraživanja</a:t>
            </a:r>
            <a:endParaRPr/>
          </a:p>
          <a:p>
            <a:pPr indent="-514350" lvl="2" marL="1428750" rtl="0" algn="l">
              <a:lnSpc>
                <a:spcPct val="90000"/>
              </a:lnSpc>
              <a:spcBef>
                <a:spcPts val="500"/>
              </a:spcBef>
              <a:spcAft>
                <a:spcPts val="0"/>
              </a:spcAft>
              <a:buClr>
                <a:schemeClr val="dk1"/>
              </a:buClr>
              <a:buSzPts val="2000"/>
              <a:buChar char="•"/>
            </a:pPr>
            <a:r>
              <a:rPr lang="en-US"/>
              <a:t>Za djecu 14 godina i mlađu – potreban pristanak roditelja</a:t>
            </a:r>
            <a:endParaRPr/>
          </a:p>
          <a:p>
            <a:pPr indent="-514350" lvl="0" marL="514350" rtl="0" algn="l">
              <a:lnSpc>
                <a:spcPct val="90000"/>
              </a:lnSpc>
              <a:spcBef>
                <a:spcPts val="1000"/>
              </a:spcBef>
              <a:spcAft>
                <a:spcPts val="0"/>
              </a:spcAft>
              <a:buClr>
                <a:srgbClr val="C55A11"/>
              </a:buClr>
              <a:buSzPts val="2800"/>
              <a:buAutoNum type="arabicPeriod"/>
            </a:pPr>
            <a:r>
              <a:rPr b="1" lang="en-US">
                <a:solidFill>
                  <a:srgbClr val="C55A11"/>
                </a:solidFill>
              </a:rPr>
              <a:t>Pravo sudionika na privatnost</a:t>
            </a:r>
            <a:endParaRPr/>
          </a:p>
          <a:p>
            <a:pPr indent="-514350" lvl="1" marL="971550" rtl="0" algn="l">
              <a:lnSpc>
                <a:spcPct val="90000"/>
              </a:lnSpc>
              <a:spcBef>
                <a:spcPts val="500"/>
              </a:spcBef>
              <a:spcAft>
                <a:spcPts val="0"/>
              </a:spcAft>
              <a:buClr>
                <a:schemeClr val="dk1"/>
              </a:buClr>
              <a:buSzPts val="2400"/>
              <a:buChar char="•"/>
            </a:pPr>
            <a:r>
              <a:rPr lang="en-US"/>
              <a:t>Podaci o sudionicima prikupljeni u istraživanju moraju ostati povjerljivi</a:t>
            </a:r>
            <a:endParaRPr/>
          </a:p>
          <a:p>
            <a:pPr indent="-514350" lvl="2" marL="1428750" rtl="0" algn="l">
              <a:lnSpc>
                <a:spcPct val="90000"/>
              </a:lnSpc>
              <a:spcBef>
                <a:spcPts val="500"/>
              </a:spcBef>
              <a:spcAft>
                <a:spcPts val="0"/>
              </a:spcAft>
              <a:buClr>
                <a:schemeClr val="dk1"/>
              </a:buClr>
              <a:buSzPts val="2000"/>
              <a:buChar char="•"/>
            </a:pPr>
            <a:r>
              <a:rPr lang="en-US"/>
              <a:t>Interpretacija isključivo na grupnoj razini</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5" name="Shape 265"/>
        <p:cNvGrpSpPr/>
        <p:nvPr/>
      </p:nvGrpSpPr>
      <p:grpSpPr>
        <a:xfrm>
          <a:off x="0" y="0"/>
          <a:ext cx="0" cy="0"/>
          <a:chOff x="0" y="0"/>
          <a:chExt cx="0" cy="0"/>
        </a:xfrm>
      </p:grpSpPr>
      <p:sp>
        <p:nvSpPr>
          <p:cNvPr id="266" name="Google Shape;266;p4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7" name="Google Shape;267;p47"/>
          <p:cNvSpPr txBox="1"/>
          <p:nvPr>
            <p:ph type="title"/>
          </p:nvPr>
        </p:nvSpPr>
        <p:spPr>
          <a:xfrm>
            <a:off x="429768" y="411480"/>
            <a:ext cx="11131298" cy="11064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lang="en-US" sz="3600"/>
              <a:t>Primjeri loših/lažnih zaključaka u psihologiji/društvenim znanostima</a:t>
            </a:r>
            <a:endParaRPr/>
          </a:p>
        </p:txBody>
      </p:sp>
      <p:sp>
        <p:nvSpPr>
          <p:cNvPr id="268" name="Google Shape;268;p47"/>
          <p:cNvSpPr/>
          <p:nvPr/>
        </p:nvSpPr>
        <p:spPr>
          <a:xfrm>
            <a:off x="0" y="585216"/>
            <a:ext cx="128016"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Image result for women dumber than men" id="269" name="Google Shape;269;p47"/>
          <p:cNvPicPr preferRelativeResize="0"/>
          <p:nvPr/>
        </p:nvPicPr>
        <p:blipFill rotWithShape="1">
          <a:blip r:embed="rId3">
            <a:alphaModFix/>
          </a:blip>
          <a:srcRect b="0" l="0" r="3298" t="0"/>
          <a:stretch/>
        </p:blipFill>
        <p:spPr>
          <a:xfrm>
            <a:off x="429767" y="1721922"/>
            <a:ext cx="3419856" cy="4520560"/>
          </a:xfrm>
          <a:prstGeom prst="rect">
            <a:avLst/>
          </a:prstGeom>
          <a:noFill/>
          <a:ln>
            <a:noFill/>
          </a:ln>
        </p:spPr>
      </p:pic>
      <p:pic>
        <p:nvPicPr>
          <p:cNvPr descr="Only Healthy Seed Must Be Sown!  (Eugenics Poster)" id="270" name="Google Shape;270;p47"/>
          <p:cNvPicPr preferRelativeResize="0"/>
          <p:nvPr/>
        </p:nvPicPr>
        <p:blipFill rotWithShape="1">
          <a:blip r:embed="rId4">
            <a:alphaModFix/>
          </a:blip>
          <a:srcRect b="8281" l="0" r="2" t="7140"/>
          <a:stretch/>
        </p:blipFill>
        <p:spPr>
          <a:xfrm>
            <a:off x="4226837" y="1721922"/>
            <a:ext cx="3420596" cy="4520560"/>
          </a:xfrm>
          <a:prstGeom prst="rect">
            <a:avLst/>
          </a:prstGeom>
          <a:noFill/>
          <a:ln>
            <a:noFill/>
          </a:ln>
        </p:spPr>
      </p:pic>
      <p:sp>
        <p:nvSpPr>
          <p:cNvPr id="271" name="Google Shape;271;p47"/>
          <p:cNvSpPr/>
          <p:nvPr/>
        </p:nvSpPr>
        <p:spPr>
          <a:xfrm>
            <a:off x="8024648" y="1721922"/>
            <a:ext cx="3609143" cy="4520560"/>
          </a:xfrm>
          <a:prstGeom prst="rect">
            <a:avLst/>
          </a:prstGeom>
          <a:solidFill>
            <a:schemeClr val="lt1"/>
          </a:solidFill>
          <a:ln cap="flat" cmpd="sng" w="9525">
            <a:solidFill>
              <a:srgbClr val="E1E1E1"/>
            </a:solidFill>
            <a:prstDash val="solid"/>
            <a:miter lim="800000"/>
            <a:headEnd len="sm" w="sm" type="none"/>
            <a:tailEnd len="sm" w="sm" type="none"/>
          </a:ln>
          <a:effectLst>
            <a:outerShdw blurRad="50800" rotWithShape="0" algn="tl" dir="2700000" dist="38100">
              <a:srgbClr val="D8D8D8">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2" name="Google Shape;272;p47"/>
          <p:cNvSpPr txBox="1"/>
          <p:nvPr>
            <p:ph idx="1" type="body"/>
          </p:nvPr>
        </p:nvSpPr>
        <p:spPr>
          <a:xfrm>
            <a:off x="8309347" y="2020824"/>
            <a:ext cx="3324443" cy="3959352"/>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Eugenika</a:t>
            </a:r>
            <a:endParaRPr/>
          </a:p>
          <a:p>
            <a:pPr indent="-228600" lvl="0" marL="228600" rtl="0" algn="l">
              <a:lnSpc>
                <a:spcPct val="90000"/>
              </a:lnSpc>
              <a:spcBef>
                <a:spcPts val="1000"/>
              </a:spcBef>
              <a:spcAft>
                <a:spcPts val="0"/>
              </a:spcAft>
              <a:buClr>
                <a:schemeClr val="dk1"/>
              </a:buClr>
              <a:buSzPts val="2800"/>
              <a:buChar char="•"/>
            </a:pPr>
            <a:r>
              <a:rPr lang="en-US"/>
              <a:t>Testiranje imigranata i </a:t>
            </a:r>
            <a:br>
              <a:rPr lang="en-US"/>
            </a:br>
            <a:r>
              <a:rPr lang="en-US"/>
              <a:t>osoba u lošem društvenom položaju </a:t>
            </a:r>
            <a:endParaRPr/>
          </a:p>
          <a:p>
            <a:pPr indent="-228600" lvl="0" marL="228600" rtl="0" algn="l">
              <a:lnSpc>
                <a:spcPct val="90000"/>
              </a:lnSpc>
              <a:spcBef>
                <a:spcPts val="1000"/>
              </a:spcBef>
              <a:spcAft>
                <a:spcPts val="0"/>
              </a:spcAft>
              <a:buClr>
                <a:schemeClr val="dk1"/>
              </a:buClr>
              <a:buSzPts val="2800"/>
              <a:buChar char="•"/>
            </a:pPr>
            <a:r>
              <a:rPr lang="en-US"/>
              <a:t>Prisilna sterilizacija</a:t>
            </a:r>
            <a:endParaRPr/>
          </a:p>
          <a:p>
            <a:pPr indent="-228600" lvl="0" marL="228600" rtl="0" algn="l">
              <a:lnSpc>
                <a:spcPct val="90000"/>
              </a:lnSpc>
              <a:spcBef>
                <a:spcPts val="1000"/>
              </a:spcBef>
              <a:spcAft>
                <a:spcPts val="0"/>
              </a:spcAft>
              <a:buClr>
                <a:schemeClr val="dk1"/>
              </a:buClr>
              <a:buSzPts val="2800"/>
              <a:buChar char="•"/>
            </a:pPr>
            <a:r>
              <a:rPr lang="en-US"/>
              <a:t>Položaj i prava žena </a:t>
            </a:r>
            <a:endParaRPr sz="1800"/>
          </a:p>
          <a:p>
            <a:pPr indent="-114300" lvl="0" marL="228600" rtl="0" algn="l">
              <a:lnSpc>
                <a:spcPct val="90000"/>
              </a:lnSpc>
              <a:spcBef>
                <a:spcPts val="1000"/>
              </a:spcBef>
              <a:spcAft>
                <a:spcPts val="0"/>
              </a:spcAft>
              <a:buClr>
                <a:schemeClr val="dk1"/>
              </a:buClr>
              <a:buSzPts val="1800"/>
              <a:buNone/>
            </a:pPr>
            <a:r>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7" name="Shape 277"/>
        <p:cNvGrpSpPr/>
        <p:nvPr/>
      </p:nvGrpSpPr>
      <p:grpSpPr>
        <a:xfrm>
          <a:off x="0" y="0"/>
          <a:ext cx="0" cy="0"/>
          <a:chOff x="0" y="0"/>
          <a:chExt cx="0" cy="0"/>
        </a:xfrm>
      </p:grpSpPr>
      <p:sp>
        <p:nvSpPr>
          <p:cNvPr id="278" name="Google Shape;278;p4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9" name="Google Shape;279;p48"/>
          <p:cNvSpPr/>
          <p:nvPr/>
        </p:nvSpPr>
        <p:spPr>
          <a:xfrm>
            <a:off x="558209" y="0"/>
            <a:ext cx="11167447" cy="2018806"/>
          </a:xfrm>
          <a:prstGeom prst="rect">
            <a:avLst/>
          </a:prstGeom>
          <a:solidFill>
            <a:schemeClr val="lt1"/>
          </a:solidFill>
          <a:ln cap="flat" cmpd="sng" w="9525">
            <a:solidFill>
              <a:srgbClr val="E1E1E1"/>
            </a:solidFill>
            <a:prstDash val="solid"/>
            <a:miter lim="800000"/>
            <a:headEnd len="sm" w="sm" type="none"/>
            <a:tailEnd len="sm" w="sm" type="none"/>
          </a:ln>
          <a:effectLst>
            <a:outerShdw blurRad="50800" rotWithShape="0" algn="tl" dir="2700000" dist="38100">
              <a:srgbClr val="D8D8D8">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0" name="Google Shape;280;p48"/>
          <p:cNvSpPr/>
          <p:nvPr/>
        </p:nvSpPr>
        <p:spPr>
          <a:xfrm>
            <a:off x="566928" y="0"/>
            <a:ext cx="11155680" cy="20116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1" name="Google Shape;281;p48"/>
          <p:cNvSpPr txBox="1"/>
          <p:nvPr>
            <p:ph type="title"/>
          </p:nvPr>
        </p:nvSpPr>
        <p:spPr>
          <a:xfrm>
            <a:off x="1115568" y="548640"/>
            <a:ext cx="10168128" cy="11795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Filmovi</a:t>
            </a:r>
            <a:endParaRPr/>
          </a:p>
        </p:txBody>
      </p:sp>
      <p:sp>
        <p:nvSpPr>
          <p:cNvPr id="282" name="Google Shape;282;p48"/>
          <p:cNvSpPr/>
          <p:nvPr/>
        </p:nvSpPr>
        <p:spPr>
          <a:xfrm>
            <a:off x="498834" y="758952"/>
            <a:ext cx="128016"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3" name="Google Shape;283;p48"/>
          <p:cNvSpPr txBox="1"/>
          <p:nvPr>
            <p:ph idx="1" type="body"/>
          </p:nvPr>
        </p:nvSpPr>
        <p:spPr>
          <a:xfrm>
            <a:off x="1115568" y="2481943"/>
            <a:ext cx="10168128" cy="369502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Istraživanja u psihologiji: </a:t>
            </a:r>
            <a:r>
              <a:rPr lang="en-US" sz="2000" u="sng">
                <a:solidFill>
                  <a:schemeClr val="hlink"/>
                </a:solidFill>
                <a:hlinkClick r:id="rId3"/>
              </a:rPr>
              <a:t>https://www.youtube.com/watch?v=hFV71QPvX2I</a:t>
            </a:r>
            <a:r>
              <a:rPr lang="en-US" sz="2000"/>
              <a:t> </a:t>
            </a:r>
            <a:endParaRPr/>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Znanstveni zakon vs. teorija: </a:t>
            </a:r>
            <a:r>
              <a:rPr lang="en-US" sz="2000" u="sng">
                <a:solidFill>
                  <a:schemeClr val="hlink"/>
                </a:solidFill>
                <a:hlinkClick r:id="rId4"/>
              </a:rPr>
              <a:t>https://www.youtube.com/watch?v=GyN2RhbhiEU</a:t>
            </a:r>
            <a:r>
              <a:rPr lang="en-US" sz="2000"/>
              <a:t> </a:t>
            </a:r>
            <a:endParaRPr/>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Lažne vijesti: </a:t>
            </a:r>
            <a:r>
              <a:rPr lang="en-US" sz="2000" u="sng">
                <a:solidFill>
                  <a:schemeClr val="hlink"/>
                </a:solidFill>
                <a:hlinkClick r:id="rId5"/>
              </a:rPr>
              <a:t>https://www.youtube.com/watch?v=cSKGa_7XJkg&amp;t=125s</a:t>
            </a:r>
            <a:r>
              <a:rPr lang="en-US" sz="2000"/>
              <a:t> </a:t>
            </a:r>
            <a:endParaRPr/>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Kakva su kvalitetna istraživanja: </a:t>
            </a:r>
            <a:r>
              <a:rPr lang="en-US" sz="2000" u="sng">
                <a:solidFill>
                  <a:schemeClr val="hlink"/>
                </a:solidFill>
                <a:hlinkClick r:id="rId6"/>
              </a:rPr>
              <a:t>https://www.youtube.com/watch?v=GUpd2HJHUt8</a:t>
            </a:r>
            <a:r>
              <a:rPr lang="en-US" sz="2000"/>
              <a:t> </a:t>
            </a:r>
            <a:endParaRPr/>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Kako razviti kritičko razmišljanje: </a:t>
            </a:r>
            <a:r>
              <a:rPr lang="en-US" sz="2000" u="sng">
                <a:solidFill>
                  <a:schemeClr val="hlink"/>
                </a:solidFill>
                <a:hlinkClick r:id="rId7"/>
              </a:rPr>
              <a:t>https://www.youtube.com/watch?v=dItUGF8GdTw</a:t>
            </a:r>
            <a:r>
              <a:rPr lang="en-US" sz="2000"/>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8" name="Shape 288"/>
        <p:cNvGrpSpPr/>
        <p:nvPr/>
      </p:nvGrpSpPr>
      <p:grpSpPr>
        <a:xfrm>
          <a:off x="0" y="0"/>
          <a:ext cx="0" cy="0"/>
          <a:chOff x="0" y="0"/>
          <a:chExt cx="0" cy="0"/>
        </a:xfrm>
      </p:grpSpPr>
      <p:sp>
        <p:nvSpPr>
          <p:cNvPr id="289" name="Google Shape;289;p4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0" name="Google Shape;290;p49"/>
          <p:cNvSpPr/>
          <p:nvPr/>
        </p:nvSpPr>
        <p:spPr>
          <a:xfrm>
            <a:off x="1903615" y="4638503"/>
            <a:ext cx="8384770" cy="1332634"/>
          </a:xfrm>
          <a:prstGeom prst="rect">
            <a:avLst/>
          </a:prstGeom>
          <a:solidFill>
            <a:schemeClr val="lt1"/>
          </a:solidFill>
          <a:ln cap="flat" cmpd="sng" w="12700">
            <a:solidFill>
              <a:srgbClr val="E1E1E1"/>
            </a:solidFill>
            <a:prstDash val="solid"/>
            <a:miter lim="800000"/>
            <a:headEnd len="sm" w="sm" type="none"/>
            <a:tailEnd len="sm" w="sm" type="none"/>
          </a:ln>
          <a:effectLst>
            <a:outerShdw blurRad="50800" rotWithShape="0" algn="tl" dir="2700000" dist="38100">
              <a:srgbClr val="C5C2C2">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1" name="Google Shape;291;p49"/>
          <p:cNvSpPr txBox="1"/>
          <p:nvPr>
            <p:ph type="title"/>
          </p:nvPr>
        </p:nvSpPr>
        <p:spPr>
          <a:xfrm>
            <a:off x="2103121" y="4727173"/>
            <a:ext cx="7985759" cy="86882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solidFill>
                  <a:schemeClr val="dk1"/>
                </a:solidFill>
                <a:latin typeface="Calibri"/>
                <a:ea typeface="Calibri"/>
                <a:cs typeface="Calibri"/>
                <a:sym typeface="Calibri"/>
              </a:rPr>
              <a:t>Hvala vam na pažnji</a:t>
            </a:r>
            <a:endParaRPr/>
          </a:p>
        </p:txBody>
      </p:sp>
      <p:sp>
        <p:nvSpPr>
          <p:cNvPr id="292" name="Google Shape;292;p49"/>
          <p:cNvSpPr/>
          <p:nvPr/>
        </p:nvSpPr>
        <p:spPr>
          <a:xfrm>
            <a:off x="2483110" y="5628237"/>
            <a:ext cx="7225780" cy="685800"/>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293" name="Google Shape;293;p49"/>
          <p:cNvPicPr preferRelativeResize="0"/>
          <p:nvPr>
            <p:ph idx="1" type="body"/>
          </p:nvPr>
        </p:nvPicPr>
        <p:blipFill rotWithShape="1">
          <a:blip r:embed="rId3">
            <a:alphaModFix/>
          </a:blip>
          <a:srcRect b="0" l="0" r="0" t="0"/>
          <a:stretch/>
        </p:blipFill>
        <p:spPr>
          <a:xfrm>
            <a:off x="2456380" y="299258"/>
            <a:ext cx="7279240" cy="409457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sustava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2020-09-21T19:41:57Z</dcterms:created>
  <dc:creator>Lejla Talić</dc:creator>
</cp:coreProperties>
</file>