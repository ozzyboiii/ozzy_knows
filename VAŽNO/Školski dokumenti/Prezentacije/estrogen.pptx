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Bobby Jones Soft" charset="1" panose="00000000000000000000"/>
      <p:regular r:id="rId15"/>
    </p:embeddedFont>
    <p:embeddedFont>
      <p:font typeface="Public Sans" charset="1" panose="00000000000000000000"/>
      <p:regular r:id="rId16"/>
    </p:embeddedFont>
    <p:embeddedFont>
      <p:font typeface="Public Sans Bold" charset="1" panose="00000000000000000000"/>
      <p:regular r:id="rId17"/>
    </p:embeddedFont>
    <p:embeddedFont>
      <p:font typeface="Open Sans Bold" charset="1" panose="020B0806030504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16" Target="../media/image24.png" Type="http://schemas.openxmlformats.org/officeDocument/2006/relationships/image"/><Relationship Id="rId17" Target="../media/image25.svg" Type="http://schemas.openxmlformats.org/officeDocument/2006/relationships/image"/><Relationship Id="rId18" Target="../media/image15.png" Type="http://schemas.openxmlformats.org/officeDocument/2006/relationships/image"/><Relationship Id="rId19" Target="../media/image16.svg" Type="http://schemas.openxmlformats.org/officeDocument/2006/relationships/image"/><Relationship Id="rId2" Target="../media/image1.png" Type="http://schemas.openxmlformats.org/officeDocument/2006/relationships/image"/><Relationship Id="rId20" Target="../media/image26.png" Type="http://schemas.openxmlformats.org/officeDocument/2006/relationships/image"/><Relationship Id="rId21" Target="../media/image27.svg" Type="http://schemas.openxmlformats.org/officeDocument/2006/relationships/image"/><Relationship Id="rId22" Target="../media/image28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16" Target="../media/image24.png" Type="http://schemas.openxmlformats.org/officeDocument/2006/relationships/image"/><Relationship Id="rId17" Target="../media/image25.svg" Type="http://schemas.openxmlformats.org/officeDocument/2006/relationships/image"/><Relationship Id="rId18" Target="../media/image15.png" Type="http://schemas.openxmlformats.org/officeDocument/2006/relationships/image"/><Relationship Id="rId19" Target="../media/image16.svg" Type="http://schemas.openxmlformats.org/officeDocument/2006/relationships/image"/><Relationship Id="rId2" Target="../media/image1.png" Type="http://schemas.openxmlformats.org/officeDocument/2006/relationships/image"/><Relationship Id="rId20" Target="../media/image26.png" Type="http://schemas.openxmlformats.org/officeDocument/2006/relationships/image"/><Relationship Id="rId21" Target="../media/image27.svg" Type="http://schemas.openxmlformats.org/officeDocument/2006/relationships/image"/><Relationship Id="rId22" Target="../media/image28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38.png" Type="http://schemas.openxmlformats.org/officeDocument/2006/relationships/image"/><Relationship Id="rId15" Target="../media/image39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40.png" Type="http://schemas.openxmlformats.org/officeDocument/2006/relationships/image"/><Relationship Id="rId19" Target="../media/image41.svg" Type="http://schemas.openxmlformats.org/officeDocument/2006/relationships/image"/><Relationship Id="rId2" Target="../media/image30.png" Type="http://schemas.openxmlformats.org/officeDocument/2006/relationships/image"/><Relationship Id="rId20" Target="../media/image42.pn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12" Target="../media/image36.png" Type="http://schemas.openxmlformats.org/officeDocument/2006/relationships/image"/><Relationship Id="rId13" Target="../media/image37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16" Target="../media/image38.png" Type="http://schemas.openxmlformats.org/officeDocument/2006/relationships/image"/><Relationship Id="rId17" Target="../media/image39.svg" Type="http://schemas.openxmlformats.org/officeDocument/2006/relationships/image"/><Relationship Id="rId18" Target="../media/image15.png" Type="http://schemas.openxmlformats.org/officeDocument/2006/relationships/image"/><Relationship Id="rId19" Target="../media/image16.svg" Type="http://schemas.openxmlformats.org/officeDocument/2006/relationships/image"/><Relationship Id="rId2" Target="../media/image30.png" Type="http://schemas.openxmlformats.org/officeDocument/2006/relationships/image"/><Relationship Id="rId20" Target="../media/image40.png" Type="http://schemas.openxmlformats.org/officeDocument/2006/relationships/image"/><Relationship Id="rId21" Target="../media/image41.svg" Type="http://schemas.openxmlformats.org/officeDocument/2006/relationships/image"/><Relationship Id="rId22" Target="../media/image43.png" Type="http://schemas.openxmlformats.org/officeDocument/2006/relationships/image"/><Relationship Id="rId23" Target="../media/image44.svg" Type="http://schemas.openxmlformats.org/officeDocument/2006/relationships/image"/><Relationship Id="rId3" Target="../media/image31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34.png" Type="http://schemas.openxmlformats.org/officeDocument/2006/relationships/image"/><Relationship Id="rId13" Target="../media/image35.svg" Type="http://schemas.openxmlformats.org/officeDocument/2006/relationships/image"/><Relationship Id="rId14" Target="../media/image36.png" Type="http://schemas.openxmlformats.org/officeDocument/2006/relationships/image"/><Relationship Id="rId15" Target="../media/image37.svg" Type="http://schemas.openxmlformats.org/officeDocument/2006/relationships/image"/><Relationship Id="rId16" Target="../media/image11.png" Type="http://schemas.openxmlformats.org/officeDocument/2006/relationships/image"/><Relationship Id="rId17" Target="../media/image12.svg" Type="http://schemas.openxmlformats.org/officeDocument/2006/relationships/image"/><Relationship Id="rId18" Target="../media/image38.png" Type="http://schemas.openxmlformats.org/officeDocument/2006/relationships/image"/><Relationship Id="rId19" Target="../media/image39.svg" Type="http://schemas.openxmlformats.org/officeDocument/2006/relationships/image"/><Relationship Id="rId2" Target="../media/image45.png" Type="http://schemas.openxmlformats.org/officeDocument/2006/relationships/image"/><Relationship Id="rId20" Target="../media/image15.png" Type="http://schemas.openxmlformats.org/officeDocument/2006/relationships/image"/><Relationship Id="rId21" Target="../media/image16.svg" Type="http://schemas.openxmlformats.org/officeDocument/2006/relationships/image"/><Relationship Id="rId22" Target="../media/image40.png" Type="http://schemas.openxmlformats.org/officeDocument/2006/relationships/image"/><Relationship Id="rId23" Target="../media/image41.svg" Type="http://schemas.openxmlformats.org/officeDocument/2006/relationships/image"/><Relationship Id="rId24" Target="https://www.adiva.hr/zdravlje/zensko-zdravlje/prehrana-i-pripravci-za-ublazavanje-simptoma-menopauze-19/" TargetMode="External" Type="http://schemas.openxmlformats.org/officeDocument/2006/relationships/hyperlink"/><Relationship Id="rId3" Target="../media/image46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D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99631" y="-790284"/>
            <a:ext cx="3386430" cy="3308041"/>
          </a:xfrm>
          <a:custGeom>
            <a:avLst/>
            <a:gdLst/>
            <a:ahLst/>
            <a:cxnLst/>
            <a:rect r="r" b="b" t="t" l="l"/>
            <a:pathLst>
              <a:path h="3308041" w="3386430">
                <a:moveTo>
                  <a:pt x="0" y="0"/>
                </a:moveTo>
                <a:lnTo>
                  <a:pt x="3386431" y="0"/>
                </a:lnTo>
                <a:lnTo>
                  <a:pt x="3386431" y="3308041"/>
                </a:lnTo>
                <a:lnTo>
                  <a:pt x="0" y="33080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112564" y="7624765"/>
            <a:ext cx="3611347" cy="3573510"/>
          </a:xfrm>
          <a:custGeom>
            <a:avLst/>
            <a:gdLst/>
            <a:ahLst/>
            <a:cxnLst/>
            <a:rect r="r" b="b" t="t" l="l"/>
            <a:pathLst>
              <a:path h="3573510" w="3611347">
                <a:moveTo>
                  <a:pt x="0" y="0"/>
                </a:moveTo>
                <a:lnTo>
                  <a:pt x="3611347" y="0"/>
                </a:lnTo>
                <a:lnTo>
                  <a:pt x="3611347" y="3573510"/>
                </a:lnTo>
                <a:lnTo>
                  <a:pt x="0" y="3573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164772" y="9507591"/>
            <a:ext cx="3823437" cy="3381367"/>
          </a:xfrm>
          <a:custGeom>
            <a:avLst/>
            <a:gdLst/>
            <a:ahLst/>
            <a:cxnLst/>
            <a:rect r="r" b="b" t="t" l="l"/>
            <a:pathLst>
              <a:path h="3381367" w="3823437">
                <a:moveTo>
                  <a:pt x="0" y="0"/>
                </a:moveTo>
                <a:lnTo>
                  <a:pt x="3823437" y="0"/>
                </a:lnTo>
                <a:lnTo>
                  <a:pt x="3823437" y="3381367"/>
                </a:lnTo>
                <a:lnTo>
                  <a:pt x="0" y="33813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636189" y="4642641"/>
            <a:ext cx="3520143" cy="3463214"/>
          </a:xfrm>
          <a:custGeom>
            <a:avLst/>
            <a:gdLst/>
            <a:ahLst/>
            <a:cxnLst/>
            <a:rect r="r" b="b" t="t" l="l"/>
            <a:pathLst>
              <a:path h="3463214" w="3520143">
                <a:moveTo>
                  <a:pt x="0" y="0"/>
                </a:moveTo>
                <a:lnTo>
                  <a:pt x="3520143" y="0"/>
                </a:lnTo>
                <a:lnTo>
                  <a:pt x="3520143" y="3463213"/>
                </a:lnTo>
                <a:lnTo>
                  <a:pt x="0" y="34632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869083" y="9656281"/>
            <a:ext cx="3722835" cy="3064865"/>
          </a:xfrm>
          <a:custGeom>
            <a:avLst/>
            <a:gdLst/>
            <a:ahLst/>
            <a:cxnLst/>
            <a:rect r="r" b="b" t="t" l="l"/>
            <a:pathLst>
              <a:path h="3064865" w="3722835">
                <a:moveTo>
                  <a:pt x="0" y="0"/>
                </a:moveTo>
                <a:lnTo>
                  <a:pt x="3722835" y="0"/>
                </a:lnTo>
                <a:lnTo>
                  <a:pt x="3722835" y="3064865"/>
                </a:lnTo>
                <a:lnTo>
                  <a:pt x="0" y="30648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-2972825" y="-1028700"/>
            <a:ext cx="4158368" cy="3423423"/>
          </a:xfrm>
          <a:custGeom>
            <a:avLst/>
            <a:gdLst/>
            <a:ahLst/>
            <a:cxnLst/>
            <a:rect r="r" b="b" t="t" l="l"/>
            <a:pathLst>
              <a:path h="3423423" w="4158368">
                <a:moveTo>
                  <a:pt x="0" y="0"/>
                </a:moveTo>
                <a:lnTo>
                  <a:pt x="4158368" y="0"/>
                </a:lnTo>
                <a:lnTo>
                  <a:pt x="4158368" y="3423423"/>
                </a:lnTo>
                <a:lnTo>
                  <a:pt x="0" y="34234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5400000">
            <a:off x="5956261" y="-2827785"/>
            <a:ext cx="3541693" cy="3484415"/>
          </a:xfrm>
          <a:custGeom>
            <a:avLst/>
            <a:gdLst/>
            <a:ahLst/>
            <a:cxnLst/>
            <a:rect r="r" b="b" t="t" l="l"/>
            <a:pathLst>
              <a:path h="3484415" w="3541693">
                <a:moveTo>
                  <a:pt x="0" y="0"/>
                </a:moveTo>
                <a:lnTo>
                  <a:pt x="3541693" y="0"/>
                </a:lnTo>
                <a:lnTo>
                  <a:pt x="3541693" y="3484415"/>
                </a:lnTo>
                <a:lnTo>
                  <a:pt x="0" y="34844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2565602" y="-2386382"/>
            <a:ext cx="4026316" cy="3250119"/>
          </a:xfrm>
          <a:custGeom>
            <a:avLst/>
            <a:gdLst/>
            <a:ahLst/>
            <a:cxnLst/>
            <a:rect r="r" b="b" t="t" l="l"/>
            <a:pathLst>
              <a:path h="3250119" w="4026316">
                <a:moveTo>
                  <a:pt x="0" y="0"/>
                </a:moveTo>
                <a:lnTo>
                  <a:pt x="4026316" y="0"/>
                </a:lnTo>
                <a:lnTo>
                  <a:pt x="4026316" y="3250119"/>
                </a:lnTo>
                <a:lnTo>
                  <a:pt x="0" y="32501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498783" y="-3227987"/>
            <a:ext cx="3255836" cy="4114800"/>
          </a:xfrm>
          <a:custGeom>
            <a:avLst/>
            <a:gdLst/>
            <a:ahLst/>
            <a:cxnLst/>
            <a:rect r="r" b="b" t="t" l="l"/>
            <a:pathLst>
              <a:path h="4114800" w="3255836">
                <a:moveTo>
                  <a:pt x="0" y="0"/>
                </a:moveTo>
                <a:lnTo>
                  <a:pt x="3255835" y="0"/>
                </a:lnTo>
                <a:lnTo>
                  <a:pt x="32558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043331" y="9398018"/>
            <a:ext cx="3711287" cy="3581392"/>
          </a:xfrm>
          <a:custGeom>
            <a:avLst/>
            <a:gdLst/>
            <a:ahLst/>
            <a:cxnLst/>
            <a:rect r="r" b="b" t="t" l="l"/>
            <a:pathLst>
              <a:path h="3581392" w="3711287">
                <a:moveTo>
                  <a:pt x="0" y="0"/>
                </a:moveTo>
                <a:lnTo>
                  <a:pt x="3711287" y="0"/>
                </a:lnTo>
                <a:lnTo>
                  <a:pt x="3711287" y="3581392"/>
                </a:lnTo>
                <a:lnTo>
                  <a:pt x="0" y="358139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6691546" y="8924241"/>
            <a:ext cx="3192907" cy="4528946"/>
          </a:xfrm>
          <a:custGeom>
            <a:avLst/>
            <a:gdLst/>
            <a:ahLst/>
            <a:cxnLst/>
            <a:rect r="r" b="b" t="t" l="l"/>
            <a:pathLst>
              <a:path h="4528946" w="3192907">
                <a:moveTo>
                  <a:pt x="0" y="0"/>
                </a:moveTo>
                <a:lnTo>
                  <a:pt x="3192908" y="0"/>
                </a:lnTo>
                <a:lnTo>
                  <a:pt x="3192908" y="4528946"/>
                </a:lnTo>
                <a:lnTo>
                  <a:pt x="0" y="452894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9989851" y="2137757"/>
            <a:ext cx="7269232" cy="5487007"/>
          </a:xfrm>
          <a:custGeom>
            <a:avLst/>
            <a:gdLst/>
            <a:ahLst/>
            <a:cxnLst/>
            <a:rect r="r" b="b" t="t" l="l"/>
            <a:pathLst>
              <a:path h="5487007" w="7269232">
                <a:moveTo>
                  <a:pt x="0" y="0"/>
                </a:moveTo>
                <a:lnTo>
                  <a:pt x="7269232" y="0"/>
                </a:lnTo>
                <a:lnTo>
                  <a:pt x="7269232" y="5487008"/>
                </a:lnTo>
                <a:lnTo>
                  <a:pt x="0" y="548700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52917" y="3238992"/>
            <a:ext cx="7491083" cy="185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975"/>
              </a:lnSpc>
            </a:pPr>
            <a:r>
              <a:rPr lang="en-US" sz="15447" spc="-648">
                <a:solidFill>
                  <a:srgbClr val="FF9BAE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ESTROGEN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4172" y="5325512"/>
            <a:ext cx="8428572" cy="87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98"/>
              </a:lnSpc>
            </a:pPr>
            <a:r>
              <a:rPr lang="en-US" sz="7260" spc="-304">
                <a:solidFill>
                  <a:srgbClr val="FF758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“HORMON KOJI ČINI ŽENU”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13192" y="6298048"/>
            <a:ext cx="7970532" cy="665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1"/>
              </a:lnSpc>
            </a:pPr>
            <a:r>
              <a:rPr lang="en-US" sz="3872">
                <a:solidFill>
                  <a:srgbClr val="FF758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LORIS BORKOVIĆ, JADRANKA MILJIĆ, 3.C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D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99631" y="-790284"/>
            <a:ext cx="3386430" cy="3308041"/>
          </a:xfrm>
          <a:custGeom>
            <a:avLst/>
            <a:gdLst/>
            <a:ahLst/>
            <a:cxnLst/>
            <a:rect r="r" b="b" t="t" l="l"/>
            <a:pathLst>
              <a:path h="3308041" w="3386430">
                <a:moveTo>
                  <a:pt x="0" y="0"/>
                </a:moveTo>
                <a:lnTo>
                  <a:pt x="3386431" y="0"/>
                </a:lnTo>
                <a:lnTo>
                  <a:pt x="3386431" y="3308041"/>
                </a:lnTo>
                <a:lnTo>
                  <a:pt x="0" y="33080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112564" y="7624765"/>
            <a:ext cx="3611347" cy="3573510"/>
          </a:xfrm>
          <a:custGeom>
            <a:avLst/>
            <a:gdLst/>
            <a:ahLst/>
            <a:cxnLst/>
            <a:rect r="r" b="b" t="t" l="l"/>
            <a:pathLst>
              <a:path h="3573510" w="3611347">
                <a:moveTo>
                  <a:pt x="0" y="0"/>
                </a:moveTo>
                <a:lnTo>
                  <a:pt x="3611347" y="0"/>
                </a:lnTo>
                <a:lnTo>
                  <a:pt x="3611347" y="3573510"/>
                </a:lnTo>
                <a:lnTo>
                  <a:pt x="0" y="3573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164772" y="9507591"/>
            <a:ext cx="3823437" cy="3381367"/>
          </a:xfrm>
          <a:custGeom>
            <a:avLst/>
            <a:gdLst/>
            <a:ahLst/>
            <a:cxnLst/>
            <a:rect r="r" b="b" t="t" l="l"/>
            <a:pathLst>
              <a:path h="3381367" w="3823437">
                <a:moveTo>
                  <a:pt x="0" y="0"/>
                </a:moveTo>
                <a:lnTo>
                  <a:pt x="3823437" y="0"/>
                </a:lnTo>
                <a:lnTo>
                  <a:pt x="3823437" y="3381367"/>
                </a:lnTo>
                <a:lnTo>
                  <a:pt x="0" y="33813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636189" y="4642641"/>
            <a:ext cx="3520143" cy="3463214"/>
          </a:xfrm>
          <a:custGeom>
            <a:avLst/>
            <a:gdLst/>
            <a:ahLst/>
            <a:cxnLst/>
            <a:rect r="r" b="b" t="t" l="l"/>
            <a:pathLst>
              <a:path h="3463214" w="3520143">
                <a:moveTo>
                  <a:pt x="0" y="0"/>
                </a:moveTo>
                <a:lnTo>
                  <a:pt x="3520143" y="0"/>
                </a:lnTo>
                <a:lnTo>
                  <a:pt x="3520143" y="3463213"/>
                </a:lnTo>
                <a:lnTo>
                  <a:pt x="0" y="34632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869083" y="9656281"/>
            <a:ext cx="3722835" cy="3064865"/>
          </a:xfrm>
          <a:custGeom>
            <a:avLst/>
            <a:gdLst/>
            <a:ahLst/>
            <a:cxnLst/>
            <a:rect r="r" b="b" t="t" l="l"/>
            <a:pathLst>
              <a:path h="3064865" w="3722835">
                <a:moveTo>
                  <a:pt x="0" y="0"/>
                </a:moveTo>
                <a:lnTo>
                  <a:pt x="3722835" y="0"/>
                </a:lnTo>
                <a:lnTo>
                  <a:pt x="3722835" y="3064865"/>
                </a:lnTo>
                <a:lnTo>
                  <a:pt x="0" y="30648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-2972825" y="-1028700"/>
            <a:ext cx="4158368" cy="3423423"/>
          </a:xfrm>
          <a:custGeom>
            <a:avLst/>
            <a:gdLst/>
            <a:ahLst/>
            <a:cxnLst/>
            <a:rect r="r" b="b" t="t" l="l"/>
            <a:pathLst>
              <a:path h="3423423" w="4158368">
                <a:moveTo>
                  <a:pt x="0" y="0"/>
                </a:moveTo>
                <a:lnTo>
                  <a:pt x="4158368" y="0"/>
                </a:lnTo>
                <a:lnTo>
                  <a:pt x="4158368" y="3423423"/>
                </a:lnTo>
                <a:lnTo>
                  <a:pt x="0" y="34234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5400000">
            <a:off x="5956261" y="-2827785"/>
            <a:ext cx="3541693" cy="3484415"/>
          </a:xfrm>
          <a:custGeom>
            <a:avLst/>
            <a:gdLst/>
            <a:ahLst/>
            <a:cxnLst/>
            <a:rect r="r" b="b" t="t" l="l"/>
            <a:pathLst>
              <a:path h="3484415" w="3541693">
                <a:moveTo>
                  <a:pt x="0" y="0"/>
                </a:moveTo>
                <a:lnTo>
                  <a:pt x="3541693" y="0"/>
                </a:lnTo>
                <a:lnTo>
                  <a:pt x="3541693" y="3484415"/>
                </a:lnTo>
                <a:lnTo>
                  <a:pt x="0" y="34844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2565602" y="-2386382"/>
            <a:ext cx="4026316" cy="3250119"/>
          </a:xfrm>
          <a:custGeom>
            <a:avLst/>
            <a:gdLst/>
            <a:ahLst/>
            <a:cxnLst/>
            <a:rect r="r" b="b" t="t" l="l"/>
            <a:pathLst>
              <a:path h="3250119" w="4026316">
                <a:moveTo>
                  <a:pt x="0" y="0"/>
                </a:moveTo>
                <a:lnTo>
                  <a:pt x="4026316" y="0"/>
                </a:lnTo>
                <a:lnTo>
                  <a:pt x="4026316" y="3250119"/>
                </a:lnTo>
                <a:lnTo>
                  <a:pt x="0" y="325011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498783" y="-3227987"/>
            <a:ext cx="3255836" cy="4114800"/>
          </a:xfrm>
          <a:custGeom>
            <a:avLst/>
            <a:gdLst/>
            <a:ahLst/>
            <a:cxnLst/>
            <a:rect r="r" b="b" t="t" l="l"/>
            <a:pathLst>
              <a:path h="4114800" w="3255836">
                <a:moveTo>
                  <a:pt x="0" y="0"/>
                </a:moveTo>
                <a:lnTo>
                  <a:pt x="3255835" y="0"/>
                </a:lnTo>
                <a:lnTo>
                  <a:pt x="32558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043331" y="9398018"/>
            <a:ext cx="3711287" cy="3581392"/>
          </a:xfrm>
          <a:custGeom>
            <a:avLst/>
            <a:gdLst/>
            <a:ahLst/>
            <a:cxnLst/>
            <a:rect r="r" b="b" t="t" l="l"/>
            <a:pathLst>
              <a:path h="3581392" w="3711287">
                <a:moveTo>
                  <a:pt x="0" y="0"/>
                </a:moveTo>
                <a:lnTo>
                  <a:pt x="3711287" y="0"/>
                </a:lnTo>
                <a:lnTo>
                  <a:pt x="3711287" y="3581392"/>
                </a:lnTo>
                <a:lnTo>
                  <a:pt x="0" y="358139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6691546" y="8924241"/>
            <a:ext cx="3192907" cy="4528946"/>
          </a:xfrm>
          <a:custGeom>
            <a:avLst/>
            <a:gdLst/>
            <a:ahLst/>
            <a:cxnLst/>
            <a:rect r="r" b="b" t="t" l="l"/>
            <a:pathLst>
              <a:path h="4528946" w="3192907">
                <a:moveTo>
                  <a:pt x="0" y="0"/>
                </a:moveTo>
                <a:lnTo>
                  <a:pt x="3192908" y="0"/>
                </a:lnTo>
                <a:lnTo>
                  <a:pt x="3192908" y="4528946"/>
                </a:lnTo>
                <a:lnTo>
                  <a:pt x="0" y="452894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0234960" y="2049780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37569" y="3523090"/>
            <a:ext cx="8563707" cy="504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6510" indent="-343255" lvl="1">
              <a:lnSpc>
                <a:spcPts val="4451"/>
              </a:lnSpc>
              <a:buFont typeface="Arial"/>
              <a:buChar char="•"/>
            </a:pPr>
            <a:r>
              <a:rPr lang="en-US" sz="3179">
                <a:solidFill>
                  <a:srgbClr val="FF758F"/>
                </a:solidFill>
                <a:latin typeface="Public Sans"/>
                <a:ea typeface="Public Sans"/>
                <a:cs typeface="Public Sans"/>
                <a:sym typeface="Public Sans"/>
              </a:rPr>
              <a:t>steroidni hormon</a:t>
            </a:r>
          </a:p>
          <a:p>
            <a:pPr algn="l" marL="686510" indent="-343255" lvl="1">
              <a:lnSpc>
                <a:spcPts val="4451"/>
              </a:lnSpc>
              <a:buFont typeface="Arial"/>
              <a:buChar char="•"/>
            </a:pPr>
            <a:r>
              <a:rPr lang="en-US" sz="3179">
                <a:solidFill>
                  <a:srgbClr val="FF758F"/>
                </a:solidFill>
                <a:latin typeface="Public Sans"/>
                <a:ea typeface="Public Sans"/>
                <a:cs typeface="Public Sans"/>
                <a:sym typeface="Public Sans"/>
              </a:rPr>
              <a:t>sinteza od kolesterola</a:t>
            </a:r>
          </a:p>
          <a:p>
            <a:pPr algn="l" marL="686510" indent="-343255" lvl="1">
              <a:lnSpc>
                <a:spcPts val="4451"/>
              </a:lnSpc>
              <a:buFont typeface="Arial"/>
              <a:buChar char="•"/>
            </a:pPr>
            <a:r>
              <a:rPr lang="en-US" sz="3179">
                <a:solidFill>
                  <a:srgbClr val="FF758F"/>
                </a:solidFill>
                <a:latin typeface="Public Sans"/>
                <a:ea typeface="Public Sans"/>
                <a:cs typeface="Public Sans"/>
                <a:sym typeface="Public Sans"/>
              </a:rPr>
              <a:t>proizvodi se u jajnicima i manji dio u nadbubrežnim žlijezdama i u posteljici tijekom trudnoće</a:t>
            </a:r>
          </a:p>
          <a:p>
            <a:pPr algn="l" marL="686510" indent="-343255" lvl="1">
              <a:lnSpc>
                <a:spcPts val="4451"/>
              </a:lnSpc>
              <a:buFont typeface="Arial"/>
              <a:buChar char="•"/>
            </a:pPr>
            <a:r>
              <a:rPr lang="en-US" sz="3179">
                <a:solidFill>
                  <a:srgbClr val="FF758F"/>
                </a:solidFill>
                <a:latin typeface="Public Sans"/>
                <a:ea typeface="Public Sans"/>
                <a:cs typeface="Public Sans"/>
                <a:sym typeface="Public Sans"/>
              </a:rPr>
              <a:t>odgovoran je za razvoj ženskih spolnih karakteristika te određuje vanjski izgled tijela</a:t>
            </a:r>
          </a:p>
          <a:p>
            <a:pPr algn="l" marL="686510" indent="-343255" lvl="1">
              <a:lnSpc>
                <a:spcPts val="4451"/>
              </a:lnSpc>
              <a:buFont typeface="Arial"/>
              <a:buChar char="•"/>
            </a:pPr>
            <a:r>
              <a:rPr lang="en-US" sz="3179">
                <a:solidFill>
                  <a:srgbClr val="FF758F"/>
                </a:solidFill>
                <a:latin typeface="Public Sans"/>
                <a:ea typeface="Public Sans"/>
                <a:cs typeface="Public Sans"/>
                <a:sym typeface="Public Sans"/>
              </a:rPr>
              <a:t>regulira menstruacijski ciklus i plodnost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2917" y="2135505"/>
            <a:ext cx="7263046" cy="1132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60"/>
              </a:lnSpc>
            </a:pPr>
            <a:r>
              <a:rPr lang="en-US" sz="8000" spc="-336">
                <a:solidFill>
                  <a:srgbClr val="FF758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ŠTO JE TO 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D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99631" y="-790284"/>
            <a:ext cx="3386430" cy="3308041"/>
          </a:xfrm>
          <a:custGeom>
            <a:avLst/>
            <a:gdLst/>
            <a:ahLst/>
            <a:cxnLst/>
            <a:rect r="r" b="b" t="t" l="l"/>
            <a:pathLst>
              <a:path h="3308041" w="3386430">
                <a:moveTo>
                  <a:pt x="0" y="0"/>
                </a:moveTo>
                <a:lnTo>
                  <a:pt x="3386431" y="0"/>
                </a:lnTo>
                <a:lnTo>
                  <a:pt x="3386431" y="3308041"/>
                </a:lnTo>
                <a:lnTo>
                  <a:pt x="0" y="33080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112564" y="7624765"/>
            <a:ext cx="3611347" cy="3573510"/>
          </a:xfrm>
          <a:custGeom>
            <a:avLst/>
            <a:gdLst/>
            <a:ahLst/>
            <a:cxnLst/>
            <a:rect r="r" b="b" t="t" l="l"/>
            <a:pathLst>
              <a:path h="3573510" w="3611347">
                <a:moveTo>
                  <a:pt x="0" y="0"/>
                </a:moveTo>
                <a:lnTo>
                  <a:pt x="3611347" y="0"/>
                </a:lnTo>
                <a:lnTo>
                  <a:pt x="3611347" y="3573510"/>
                </a:lnTo>
                <a:lnTo>
                  <a:pt x="0" y="3573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164772" y="9507591"/>
            <a:ext cx="3823437" cy="3381367"/>
          </a:xfrm>
          <a:custGeom>
            <a:avLst/>
            <a:gdLst/>
            <a:ahLst/>
            <a:cxnLst/>
            <a:rect r="r" b="b" t="t" l="l"/>
            <a:pathLst>
              <a:path h="3381367" w="3823437">
                <a:moveTo>
                  <a:pt x="0" y="0"/>
                </a:moveTo>
                <a:lnTo>
                  <a:pt x="3823437" y="0"/>
                </a:lnTo>
                <a:lnTo>
                  <a:pt x="3823437" y="3381367"/>
                </a:lnTo>
                <a:lnTo>
                  <a:pt x="0" y="33813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636189" y="4642641"/>
            <a:ext cx="3520143" cy="3463214"/>
          </a:xfrm>
          <a:custGeom>
            <a:avLst/>
            <a:gdLst/>
            <a:ahLst/>
            <a:cxnLst/>
            <a:rect r="r" b="b" t="t" l="l"/>
            <a:pathLst>
              <a:path h="3463214" w="3520143">
                <a:moveTo>
                  <a:pt x="0" y="0"/>
                </a:moveTo>
                <a:lnTo>
                  <a:pt x="3520143" y="0"/>
                </a:lnTo>
                <a:lnTo>
                  <a:pt x="3520143" y="3463213"/>
                </a:lnTo>
                <a:lnTo>
                  <a:pt x="0" y="34632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869083" y="9656281"/>
            <a:ext cx="3722835" cy="3064865"/>
          </a:xfrm>
          <a:custGeom>
            <a:avLst/>
            <a:gdLst/>
            <a:ahLst/>
            <a:cxnLst/>
            <a:rect r="r" b="b" t="t" l="l"/>
            <a:pathLst>
              <a:path h="3064865" w="3722835">
                <a:moveTo>
                  <a:pt x="0" y="0"/>
                </a:moveTo>
                <a:lnTo>
                  <a:pt x="3722835" y="0"/>
                </a:lnTo>
                <a:lnTo>
                  <a:pt x="3722835" y="3064865"/>
                </a:lnTo>
                <a:lnTo>
                  <a:pt x="0" y="30648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-2972825" y="-1028700"/>
            <a:ext cx="4158368" cy="3423423"/>
          </a:xfrm>
          <a:custGeom>
            <a:avLst/>
            <a:gdLst/>
            <a:ahLst/>
            <a:cxnLst/>
            <a:rect r="r" b="b" t="t" l="l"/>
            <a:pathLst>
              <a:path h="3423423" w="4158368">
                <a:moveTo>
                  <a:pt x="0" y="0"/>
                </a:moveTo>
                <a:lnTo>
                  <a:pt x="4158368" y="0"/>
                </a:lnTo>
                <a:lnTo>
                  <a:pt x="4158368" y="3423423"/>
                </a:lnTo>
                <a:lnTo>
                  <a:pt x="0" y="34234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5400000">
            <a:off x="5956261" y="-2827785"/>
            <a:ext cx="3541693" cy="3484415"/>
          </a:xfrm>
          <a:custGeom>
            <a:avLst/>
            <a:gdLst/>
            <a:ahLst/>
            <a:cxnLst/>
            <a:rect r="r" b="b" t="t" l="l"/>
            <a:pathLst>
              <a:path h="3484415" w="3541693">
                <a:moveTo>
                  <a:pt x="0" y="0"/>
                </a:moveTo>
                <a:lnTo>
                  <a:pt x="3541693" y="0"/>
                </a:lnTo>
                <a:lnTo>
                  <a:pt x="3541693" y="3484415"/>
                </a:lnTo>
                <a:lnTo>
                  <a:pt x="0" y="34844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2565602" y="-2386382"/>
            <a:ext cx="4026316" cy="3250119"/>
          </a:xfrm>
          <a:custGeom>
            <a:avLst/>
            <a:gdLst/>
            <a:ahLst/>
            <a:cxnLst/>
            <a:rect r="r" b="b" t="t" l="l"/>
            <a:pathLst>
              <a:path h="3250119" w="4026316">
                <a:moveTo>
                  <a:pt x="0" y="0"/>
                </a:moveTo>
                <a:lnTo>
                  <a:pt x="4026316" y="0"/>
                </a:lnTo>
                <a:lnTo>
                  <a:pt x="4026316" y="3250119"/>
                </a:lnTo>
                <a:lnTo>
                  <a:pt x="0" y="325011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498783" y="-3227987"/>
            <a:ext cx="3255836" cy="4114800"/>
          </a:xfrm>
          <a:custGeom>
            <a:avLst/>
            <a:gdLst/>
            <a:ahLst/>
            <a:cxnLst/>
            <a:rect r="r" b="b" t="t" l="l"/>
            <a:pathLst>
              <a:path h="4114800" w="3255836">
                <a:moveTo>
                  <a:pt x="0" y="0"/>
                </a:moveTo>
                <a:lnTo>
                  <a:pt x="3255835" y="0"/>
                </a:lnTo>
                <a:lnTo>
                  <a:pt x="32558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043331" y="9398018"/>
            <a:ext cx="3711287" cy="3581392"/>
          </a:xfrm>
          <a:custGeom>
            <a:avLst/>
            <a:gdLst/>
            <a:ahLst/>
            <a:cxnLst/>
            <a:rect r="r" b="b" t="t" l="l"/>
            <a:pathLst>
              <a:path h="3581392" w="3711287">
                <a:moveTo>
                  <a:pt x="0" y="0"/>
                </a:moveTo>
                <a:lnTo>
                  <a:pt x="3711287" y="0"/>
                </a:lnTo>
                <a:lnTo>
                  <a:pt x="3711287" y="3581392"/>
                </a:lnTo>
                <a:lnTo>
                  <a:pt x="0" y="358139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6691546" y="8924241"/>
            <a:ext cx="3192907" cy="4528946"/>
          </a:xfrm>
          <a:custGeom>
            <a:avLst/>
            <a:gdLst/>
            <a:ahLst/>
            <a:cxnLst/>
            <a:rect r="r" b="b" t="t" l="l"/>
            <a:pathLst>
              <a:path h="4528946" w="3192907">
                <a:moveTo>
                  <a:pt x="0" y="0"/>
                </a:moveTo>
                <a:lnTo>
                  <a:pt x="3192908" y="0"/>
                </a:lnTo>
                <a:lnTo>
                  <a:pt x="3192908" y="4528946"/>
                </a:lnTo>
                <a:lnTo>
                  <a:pt x="0" y="452894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0234960" y="2049780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52917" y="2135505"/>
            <a:ext cx="7263046" cy="1132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60"/>
              </a:lnSpc>
            </a:pPr>
            <a:r>
              <a:rPr lang="en-US" sz="8000" spc="-336">
                <a:solidFill>
                  <a:srgbClr val="FF758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ŠTO JE TO 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97297" y="3732827"/>
            <a:ext cx="8118665" cy="2967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5549" indent="-302775" lvl="1">
              <a:lnSpc>
                <a:spcPts val="3926"/>
              </a:lnSpc>
              <a:buFont typeface="Arial"/>
              <a:buChar char="•"/>
            </a:pPr>
            <a:r>
              <a:rPr lang="en-US" b="true" sz="2804">
                <a:solidFill>
                  <a:srgbClr val="FF758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tri glavna estrogena koji se proizvode u tijelu žene – estradiol, estriol i estron. </a:t>
            </a:r>
          </a:p>
          <a:p>
            <a:pPr algn="l" marL="605549" indent="-302775" lvl="1">
              <a:lnSpc>
                <a:spcPts val="3926"/>
              </a:lnSpc>
              <a:buFont typeface="Arial"/>
              <a:buChar char="•"/>
            </a:pPr>
            <a:r>
              <a:rPr lang="en-US" b="true" sz="2804">
                <a:solidFill>
                  <a:srgbClr val="FF758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glavni estrogen u generativnoj dobi je estradiol koji se proizvodi u stanicama jajnika, a estron se uglavnom stvara u masnom tkivu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D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1400" y="1206103"/>
            <a:ext cx="16230600" cy="8229600"/>
            <a:chOff x="0" y="0"/>
            <a:chExt cx="5433327" cy="27549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33327" cy="2754926"/>
            </a:xfrm>
            <a:custGeom>
              <a:avLst/>
              <a:gdLst/>
              <a:ahLst/>
              <a:cxnLst/>
              <a:rect r="r" b="b" t="t" l="l"/>
              <a:pathLst>
                <a:path h="2754926" w="5433327">
                  <a:moveTo>
                    <a:pt x="7155" y="0"/>
                  </a:moveTo>
                  <a:lnTo>
                    <a:pt x="5426172" y="0"/>
                  </a:lnTo>
                  <a:cubicBezTo>
                    <a:pt x="5430124" y="0"/>
                    <a:pt x="5433327" y="3203"/>
                    <a:pt x="5433327" y="7155"/>
                  </a:cubicBezTo>
                  <a:lnTo>
                    <a:pt x="5433327" y="2747771"/>
                  </a:lnTo>
                  <a:cubicBezTo>
                    <a:pt x="5433327" y="2749669"/>
                    <a:pt x="5432573" y="2751489"/>
                    <a:pt x="5431231" y="2752831"/>
                  </a:cubicBezTo>
                  <a:cubicBezTo>
                    <a:pt x="5429889" y="2754172"/>
                    <a:pt x="5428069" y="2754926"/>
                    <a:pt x="5426172" y="2754926"/>
                  </a:cubicBezTo>
                  <a:lnTo>
                    <a:pt x="7155" y="2754926"/>
                  </a:lnTo>
                  <a:cubicBezTo>
                    <a:pt x="5257" y="2754926"/>
                    <a:pt x="3437" y="2754172"/>
                    <a:pt x="2096" y="2752831"/>
                  </a:cubicBezTo>
                  <a:cubicBezTo>
                    <a:pt x="754" y="2751489"/>
                    <a:pt x="0" y="2749669"/>
                    <a:pt x="0" y="2747771"/>
                  </a:cubicBezTo>
                  <a:lnTo>
                    <a:pt x="0" y="7155"/>
                  </a:lnTo>
                  <a:cubicBezTo>
                    <a:pt x="0" y="5257"/>
                    <a:pt x="754" y="3437"/>
                    <a:pt x="2096" y="2096"/>
                  </a:cubicBezTo>
                  <a:cubicBezTo>
                    <a:pt x="3437" y="754"/>
                    <a:pt x="5257" y="0"/>
                    <a:pt x="7155" y="0"/>
                  </a:cubicBezTo>
                  <a:close/>
                </a:path>
              </a:pathLst>
            </a:custGeom>
            <a:solidFill>
              <a:srgbClr val="FFC5D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5433327" cy="2669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748945" y="830717"/>
            <a:ext cx="11801944" cy="8980373"/>
          </a:xfrm>
          <a:custGeom>
            <a:avLst/>
            <a:gdLst/>
            <a:ahLst/>
            <a:cxnLst/>
            <a:rect r="r" b="b" t="t" l="l"/>
            <a:pathLst>
              <a:path h="8980373" w="11801944">
                <a:moveTo>
                  <a:pt x="0" y="0"/>
                </a:moveTo>
                <a:lnTo>
                  <a:pt x="11801943" y="0"/>
                </a:lnTo>
                <a:lnTo>
                  <a:pt x="11801943" y="8980373"/>
                </a:lnTo>
                <a:lnTo>
                  <a:pt x="0" y="89803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73" t="-2739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D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99631" y="-790284"/>
            <a:ext cx="3386430" cy="3308041"/>
          </a:xfrm>
          <a:custGeom>
            <a:avLst/>
            <a:gdLst/>
            <a:ahLst/>
            <a:cxnLst/>
            <a:rect r="r" b="b" t="t" l="l"/>
            <a:pathLst>
              <a:path h="3308041" w="3386430">
                <a:moveTo>
                  <a:pt x="0" y="0"/>
                </a:moveTo>
                <a:lnTo>
                  <a:pt x="3386431" y="0"/>
                </a:lnTo>
                <a:lnTo>
                  <a:pt x="3386431" y="3308041"/>
                </a:lnTo>
                <a:lnTo>
                  <a:pt x="0" y="33080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64772" y="9507591"/>
            <a:ext cx="3823437" cy="3381367"/>
          </a:xfrm>
          <a:custGeom>
            <a:avLst/>
            <a:gdLst/>
            <a:ahLst/>
            <a:cxnLst/>
            <a:rect r="r" b="b" t="t" l="l"/>
            <a:pathLst>
              <a:path h="3381367" w="3823437">
                <a:moveTo>
                  <a:pt x="0" y="0"/>
                </a:moveTo>
                <a:lnTo>
                  <a:pt x="3823437" y="0"/>
                </a:lnTo>
                <a:lnTo>
                  <a:pt x="3823437" y="3381367"/>
                </a:lnTo>
                <a:lnTo>
                  <a:pt x="0" y="33813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636189" y="4642641"/>
            <a:ext cx="3520143" cy="3463214"/>
          </a:xfrm>
          <a:custGeom>
            <a:avLst/>
            <a:gdLst/>
            <a:ahLst/>
            <a:cxnLst/>
            <a:rect r="r" b="b" t="t" l="l"/>
            <a:pathLst>
              <a:path h="3463214" w="3520143">
                <a:moveTo>
                  <a:pt x="0" y="0"/>
                </a:moveTo>
                <a:lnTo>
                  <a:pt x="3520143" y="0"/>
                </a:lnTo>
                <a:lnTo>
                  <a:pt x="3520143" y="3463213"/>
                </a:lnTo>
                <a:lnTo>
                  <a:pt x="0" y="34632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2869083" y="9656281"/>
            <a:ext cx="3722835" cy="3064865"/>
          </a:xfrm>
          <a:custGeom>
            <a:avLst/>
            <a:gdLst/>
            <a:ahLst/>
            <a:cxnLst/>
            <a:rect r="r" b="b" t="t" l="l"/>
            <a:pathLst>
              <a:path h="3064865" w="3722835">
                <a:moveTo>
                  <a:pt x="0" y="0"/>
                </a:moveTo>
                <a:lnTo>
                  <a:pt x="3722835" y="0"/>
                </a:lnTo>
                <a:lnTo>
                  <a:pt x="3722835" y="3064865"/>
                </a:lnTo>
                <a:lnTo>
                  <a:pt x="0" y="30648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2972825" y="-1028700"/>
            <a:ext cx="4158368" cy="3423423"/>
          </a:xfrm>
          <a:custGeom>
            <a:avLst/>
            <a:gdLst/>
            <a:ahLst/>
            <a:cxnLst/>
            <a:rect r="r" b="b" t="t" l="l"/>
            <a:pathLst>
              <a:path h="3423423" w="4158368">
                <a:moveTo>
                  <a:pt x="0" y="0"/>
                </a:moveTo>
                <a:lnTo>
                  <a:pt x="4158368" y="0"/>
                </a:lnTo>
                <a:lnTo>
                  <a:pt x="4158368" y="3423423"/>
                </a:lnTo>
                <a:lnTo>
                  <a:pt x="0" y="34234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5400000">
            <a:off x="5956261" y="-2827785"/>
            <a:ext cx="3541693" cy="3484415"/>
          </a:xfrm>
          <a:custGeom>
            <a:avLst/>
            <a:gdLst/>
            <a:ahLst/>
            <a:cxnLst/>
            <a:rect r="r" b="b" t="t" l="l"/>
            <a:pathLst>
              <a:path h="3484415" w="3541693">
                <a:moveTo>
                  <a:pt x="0" y="0"/>
                </a:moveTo>
                <a:lnTo>
                  <a:pt x="3541693" y="0"/>
                </a:lnTo>
                <a:lnTo>
                  <a:pt x="3541693" y="3484415"/>
                </a:lnTo>
                <a:lnTo>
                  <a:pt x="0" y="3484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2565602" y="-2386382"/>
            <a:ext cx="4026316" cy="3250119"/>
          </a:xfrm>
          <a:custGeom>
            <a:avLst/>
            <a:gdLst/>
            <a:ahLst/>
            <a:cxnLst/>
            <a:rect r="r" b="b" t="t" l="l"/>
            <a:pathLst>
              <a:path h="3250119" w="4026316">
                <a:moveTo>
                  <a:pt x="0" y="0"/>
                </a:moveTo>
                <a:lnTo>
                  <a:pt x="4026316" y="0"/>
                </a:lnTo>
                <a:lnTo>
                  <a:pt x="4026316" y="3250119"/>
                </a:lnTo>
                <a:lnTo>
                  <a:pt x="0" y="32501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498783" y="-3227987"/>
            <a:ext cx="3255836" cy="4114800"/>
          </a:xfrm>
          <a:custGeom>
            <a:avLst/>
            <a:gdLst/>
            <a:ahLst/>
            <a:cxnLst/>
            <a:rect r="r" b="b" t="t" l="l"/>
            <a:pathLst>
              <a:path h="4114800" w="3255836">
                <a:moveTo>
                  <a:pt x="0" y="0"/>
                </a:moveTo>
                <a:lnTo>
                  <a:pt x="3255835" y="0"/>
                </a:lnTo>
                <a:lnTo>
                  <a:pt x="32558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043331" y="9398018"/>
            <a:ext cx="3711287" cy="3581392"/>
          </a:xfrm>
          <a:custGeom>
            <a:avLst/>
            <a:gdLst/>
            <a:ahLst/>
            <a:cxnLst/>
            <a:rect r="r" b="b" t="t" l="l"/>
            <a:pathLst>
              <a:path h="3581392" w="3711287">
                <a:moveTo>
                  <a:pt x="0" y="0"/>
                </a:moveTo>
                <a:lnTo>
                  <a:pt x="3711287" y="0"/>
                </a:lnTo>
                <a:lnTo>
                  <a:pt x="3711287" y="3581392"/>
                </a:lnTo>
                <a:lnTo>
                  <a:pt x="0" y="358139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6691546" y="8924241"/>
            <a:ext cx="3192907" cy="4528946"/>
          </a:xfrm>
          <a:custGeom>
            <a:avLst/>
            <a:gdLst/>
            <a:ahLst/>
            <a:cxnLst/>
            <a:rect r="r" b="b" t="t" l="l"/>
            <a:pathLst>
              <a:path h="4528946" w="3192907">
                <a:moveTo>
                  <a:pt x="0" y="0"/>
                </a:moveTo>
                <a:lnTo>
                  <a:pt x="3192908" y="0"/>
                </a:lnTo>
                <a:lnTo>
                  <a:pt x="3192908" y="4528946"/>
                </a:lnTo>
                <a:lnTo>
                  <a:pt x="0" y="452894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2463705" y="1220640"/>
            <a:ext cx="13049007" cy="8177378"/>
          </a:xfrm>
          <a:custGeom>
            <a:avLst/>
            <a:gdLst/>
            <a:ahLst/>
            <a:cxnLst/>
            <a:rect r="r" b="b" t="t" l="l"/>
            <a:pathLst>
              <a:path h="8177378" w="13049007">
                <a:moveTo>
                  <a:pt x="0" y="0"/>
                </a:moveTo>
                <a:lnTo>
                  <a:pt x="13049008" y="0"/>
                </a:lnTo>
                <a:lnTo>
                  <a:pt x="13049008" y="8177378"/>
                </a:lnTo>
                <a:lnTo>
                  <a:pt x="0" y="817737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D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99631" y="-790284"/>
            <a:ext cx="3386430" cy="3308041"/>
          </a:xfrm>
          <a:custGeom>
            <a:avLst/>
            <a:gdLst/>
            <a:ahLst/>
            <a:cxnLst/>
            <a:rect r="r" b="b" t="t" l="l"/>
            <a:pathLst>
              <a:path h="3308041" w="3386430">
                <a:moveTo>
                  <a:pt x="0" y="0"/>
                </a:moveTo>
                <a:lnTo>
                  <a:pt x="3386431" y="0"/>
                </a:lnTo>
                <a:lnTo>
                  <a:pt x="3386431" y="3308041"/>
                </a:lnTo>
                <a:lnTo>
                  <a:pt x="0" y="33080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112564" y="7624765"/>
            <a:ext cx="3611347" cy="3573510"/>
          </a:xfrm>
          <a:custGeom>
            <a:avLst/>
            <a:gdLst/>
            <a:ahLst/>
            <a:cxnLst/>
            <a:rect r="r" b="b" t="t" l="l"/>
            <a:pathLst>
              <a:path h="3573510" w="3611347">
                <a:moveTo>
                  <a:pt x="0" y="0"/>
                </a:moveTo>
                <a:lnTo>
                  <a:pt x="3611347" y="0"/>
                </a:lnTo>
                <a:lnTo>
                  <a:pt x="3611347" y="3573510"/>
                </a:lnTo>
                <a:lnTo>
                  <a:pt x="0" y="3573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164772" y="9507591"/>
            <a:ext cx="3823437" cy="3381367"/>
          </a:xfrm>
          <a:custGeom>
            <a:avLst/>
            <a:gdLst/>
            <a:ahLst/>
            <a:cxnLst/>
            <a:rect r="r" b="b" t="t" l="l"/>
            <a:pathLst>
              <a:path h="3381367" w="3823437">
                <a:moveTo>
                  <a:pt x="0" y="0"/>
                </a:moveTo>
                <a:lnTo>
                  <a:pt x="3823437" y="0"/>
                </a:lnTo>
                <a:lnTo>
                  <a:pt x="3823437" y="3381367"/>
                </a:lnTo>
                <a:lnTo>
                  <a:pt x="0" y="33813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636189" y="4642641"/>
            <a:ext cx="3520143" cy="3463214"/>
          </a:xfrm>
          <a:custGeom>
            <a:avLst/>
            <a:gdLst/>
            <a:ahLst/>
            <a:cxnLst/>
            <a:rect r="r" b="b" t="t" l="l"/>
            <a:pathLst>
              <a:path h="3463214" w="3520143">
                <a:moveTo>
                  <a:pt x="0" y="0"/>
                </a:moveTo>
                <a:lnTo>
                  <a:pt x="3520143" y="0"/>
                </a:lnTo>
                <a:lnTo>
                  <a:pt x="3520143" y="3463213"/>
                </a:lnTo>
                <a:lnTo>
                  <a:pt x="0" y="34632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869083" y="9656281"/>
            <a:ext cx="3722835" cy="3064865"/>
          </a:xfrm>
          <a:custGeom>
            <a:avLst/>
            <a:gdLst/>
            <a:ahLst/>
            <a:cxnLst/>
            <a:rect r="r" b="b" t="t" l="l"/>
            <a:pathLst>
              <a:path h="3064865" w="3722835">
                <a:moveTo>
                  <a:pt x="0" y="0"/>
                </a:moveTo>
                <a:lnTo>
                  <a:pt x="3722835" y="0"/>
                </a:lnTo>
                <a:lnTo>
                  <a:pt x="3722835" y="3064865"/>
                </a:lnTo>
                <a:lnTo>
                  <a:pt x="0" y="30648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-2972825" y="-1028700"/>
            <a:ext cx="4158368" cy="3423423"/>
          </a:xfrm>
          <a:custGeom>
            <a:avLst/>
            <a:gdLst/>
            <a:ahLst/>
            <a:cxnLst/>
            <a:rect r="r" b="b" t="t" l="l"/>
            <a:pathLst>
              <a:path h="3423423" w="4158368">
                <a:moveTo>
                  <a:pt x="0" y="0"/>
                </a:moveTo>
                <a:lnTo>
                  <a:pt x="4158368" y="0"/>
                </a:lnTo>
                <a:lnTo>
                  <a:pt x="4158368" y="3423423"/>
                </a:lnTo>
                <a:lnTo>
                  <a:pt x="0" y="34234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5400000">
            <a:off x="5956261" y="-2827785"/>
            <a:ext cx="3541693" cy="3484415"/>
          </a:xfrm>
          <a:custGeom>
            <a:avLst/>
            <a:gdLst/>
            <a:ahLst/>
            <a:cxnLst/>
            <a:rect r="r" b="b" t="t" l="l"/>
            <a:pathLst>
              <a:path h="3484415" w="3541693">
                <a:moveTo>
                  <a:pt x="0" y="0"/>
                </a:moveTo>
                <a:lnTo>
                  <a:pt x="3541693" y="0"/>
                </a:lnTo>
                <a:lnTo>
                  <a:pt x="3541693" y="3484415"/>
                </a:lnTo>
                <a:lnTo>
                  <a:pt x="0" y="34844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2565602" y="-2386382"/>
            <a:ext cx="4026316" cy="3250119"/>
          </a:xfrm>
          <a:custGeom>
            <a:avLst/>
            <a:gdLst/>
            <a:ahLst/>
            <a:cxnLst/>
            <a:rect r="r" b="b" t="t" l="l"/>
            <a:pathLst>
              <a:path h="3250119" w="4026316">
                <a:moveTo>
                  <a:pt x="0" y="0"/>
                </a:moveTo>
                <a:lnTo>
                  <a:pt x="4026316" y="0"/>
                </a:lnTo>
                <a:lnTo>
                  <a:pt x="4026316" y="3250119"/>
                </a:lnTo>
                <a:lnTo>
                  <a:pt x="0" y="325011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498783" y="-3429531"/>
            <a:ext cx="3255836" cy="4114800"/>
          </a:xfrm>
          <a:custGeom>
            <a:avLst/>
            <a:gdLst/>
            <a:ahLst/>
            <a:cxnLst/>
            <a:rect r="r" b="b" t="t" l="l"/>
            <a:pathLst>
              <a:path h="4114800" w="3255836">
                <a:moveTo>
                  <a:pt x="0" y="0"/>
                </a:moveTo>
                <a:lnTo>
                  <a:pt x="3255835" y="0"/>
                </a:lnTo>
                <a:lnTo>
                  <a:pt x="32558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043331" y="9398018"/>
            <a:ext cx="3711287" cy="3581392"/>
          </a:xfrm>
          <a:custGeom>
            <a:avLst/>
            <a:gdLst/>
            <a:ahLst/>
            <a:cxnLst/>
            <a:rect r="r" b="b" t="t" l="l"/>
            <a:pathLst>
              <a:path h="3581392" w="3711287">
                <a:moveTo>
                  <a:pt x="0" y="0"/>
                </a:moveTo>
                <a:lnTo>
                  <a:pt x="3711287" y="0"/>
                </a:lnTo>
                <a:lnTo>
                  <a:pt x="3711287" y="3581392"/>
                </a:lnTo>
                <a:lnTo>
                  <a:pt x="0" y="358139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6691546" y="8924241"/>
            <a:ext cx="3192907" cy="4528946"/>
          </a:xfrm>
          <a:custGeom>
            <a:avLst/>
            <a:gdLst/>
            <a:ahLst/>
            <a:cxnLst/>
            <a:rect r="r" b="b" t="t" l="l"/>
            <a:pathLst>
              <a:path h="4528946" w="3192907">
                <a:moveTo>
                  <a:pt x="0" y="0"/>
                </a:moveTo>
                <a:lnTo>
                  <a:pt x="3192908" y="0"/>
                </a:lnTo>
                <a:lnTo>
                  <a:pt x="3192908" y="4528946"/>
                </a:lnTo>
                <a:lnTo>
                  <a:pt x="0" y="452894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0879457" y="2208101"/>
            <a:ext cx="5812090" cy="5870797"/>
          </a:xfrm>
          <a:custGeom>
            <a:avLst/>
            <a:gdLst/>
            <a:ahLst/>
            <a:cxnLst/>
            <a:rect r="r" b="b" t="t" l="l"/>
            <a:pathLst>
              <a:path h="5870797" w="5812090">
                <a:moveTo>
                  <a:pt x="0" y="0"/>
                </a:moveTo>
                <a:lnTo>
                  <a:pt x="5812089" y="0"/>
                </a:lnTo>
                <a:lnTo>
                  <a:pt x="5812089" y="5870798"/>
                </a:lnTo>
                <a:lnTo>
                  <a:pt x="0" y="587079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4" id="14"/>
          <p:cNvSpPr txBox="true"/>
          <p:nvPr/>
        </p:nvSpPr>
        <p:spPr>
          <a:xfrm rot="0">
            <a:off x="1498783" y="1684861"/>
            <a:ext cx="8171218" cy="1132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60"/>
              </a:lnSpc>
            </a:pPr>
            <a:r>
              <a:rPr lang="en-US" sz="8000" spc="-336">
                <a:solidFill>
                  <a:srgbClr val="FF758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KLIMAKTERIJ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16108" y="2905750"/>
            <a:ext cx="8737583" cy="7990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6340" indent="-408170" lvl="1">
              <a:lnSpc>
                <a:spcPts val="5293"/>
              </a:lnSpc>
              <a:buAutoNum type="arabicPeriod" startAt="1"/>
            </a:pPr>
            <a:r>
              <a:rPr lang="en-US" b="true" sz="3781">
                <a:solidFill>
                  <a:srgbClr val="FF758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PERIMENOPAUZA:</a:t>
            </a:r>
          </a:p>
          <a:p>
            <a:pPr algn="l" marL="816340" indent="-408170" lvl="1">
              <a:lnSpc>
                <a:spcPts val="5293"/>
              </a:lnSpc>
              <a:buFont typeface="Arial"/>
              <a:buChar char="•"/>
            </a:pPr>
            <a:r>
              <a:rPr lang="en-US" b="true" sz="3781">
                <a:solidFill>
                  <a:srgbClr val="FF758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razine estrogena počinju padati</a:t>
            </a:r>
          </a:p>
          <a:p>
            <a:pPr algn="l" marL="816340" indent="-408170" lvl="1">
              <a:lnSpc>
                <a:spcPts val="5293"/>
              </a:lnSpc>
              <a:buAutoNum type="arabicPeriod" startAt="1"/>
            </a:pPr>
            <a:r>
              <a:rPr lang="en-US" b="true" sz="3781">
                <a:solidFill>
                  <a:srgbClr val="FF758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MENOPAUZA</a:t>
            </a:r>
          </a:p>
          <a:p>
            <a:pPr algn="l" marL="816340" indent="-408170" lvl="1">
              <a:lnSpc>
                <a:spcPts val="5293"/>
              </a:lnSpc>
              <a:buFont typeface="Arial"/>
              <a:buChar char="•"/>
            </a:pPr>
            <a:r>
              <a:rPr lang="en-US" b="true" sz="3781">
                <a:solidFill>
                  <a:srgbClr val="FF758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posljednja mjesečnica</a:t>
            </a:r>
          </a:p>
          <a:p>
            <a:pPr algn="l" marL="816340" indent="-408170" lvl="1">
              <a:lnSpc>
                <a:spcPts val="5293"/>
              </a:lnSpc>
              <a:buFont typeface="Arial"/>
              <a:buChar char="•"/>
            </a:pPr>
            <a:r>
              <a:rPr lang="en-US" b="true" sz="3781">
                <a:solidFill>
                  <a:srgbClr val="FF758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drastičan pad proizvodnje estrogena</a:t>
            </a:r>
          </a:p>
          <a:p>
            <a:pPr algn="l" marL="816340" indent="-408170" lvl="1">
              <a:lnSpc>
                <a:spcPts val="5293"/>
              </a:lnSpc>
              <a:buAutoNum type="arabicPeriod" startAt="1"/>
            </a:pPr>
            <a:r>
              <a:rPr lang="en-US" b="true" sz="3781">
                <a:solidFill>
                  <a:srgbClr val="FF758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POSTMENOPAUZA</a:t>
            </a:r>
          </a:p>
          <a:p>
            <a:pPr algn="l" marL="816340" indent="-408170" lvl="1">
              <a:lnSpc>
                <a:spcPts val="5293"/>
              </a:lnSpc>
              <a:buFont typeface="Arial"/>
              <a:buChar char="•"/>
            </a:pPr>
            <a:r>
              <a:rPr lang="en-US" b="true" sz="3781">
                <a:solidFill>
                  <a:srgbClr val="FF758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jajnici više ne proizvode estrogen</a:t>
            </a:r>
          </a:p>
          <a:p>
            <a:pPr algn="l" marL="816340" indent="-408170" lvl="1">
              <a:lnSpc>
                <a:spcPts val="5293"/>
              </a:lnSpc>
              <a:buFont typeface="Arial"/>
              <a:buChar char="•"/>
            </a:pPr>
            <a:r>
              <a:rPr lang="en-US" b="true" sz="3781">
                <a:solidFill>
                  <a:srgbClr val="FF758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povećani zdravstveni rizici</a:t>
            </a:r>
          </a:p>
          <a:p>
            <a:pPr algn="l">
              <a:lnSpc>
                <a:spcPts val="5293"/>
              </a:lnSpc>
            </a:pPr>
          </a:p>
          <a:p>
            <a:pPr algn="l">
              <a:lnSpc>
                <a:spcPts val="5293"/>
              </a:lnSpc>
            </a:pPr>
          </a:p>
          <a:p>
            <a:pPr algn="l">
              <a:lnSpc>
                <a:spcPts val="5293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D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01262" y="1292092"/>
            <a:ext cx="4598369" cy="7632148"/>
          </a:xfrm>
          <a:custGeom>
            <a:avLst/>
            <a:gdLst/>
            <a:ahLst/>
            <a:cxnLst/>
            <a:rect r="r" b="b" t="t" l="l"/>
            <a:pathLst>
              <a:path h="7632148" w="4598369">
                <a:moveTo>
                  <a:pt x="0" y="0"/>
                </a:moveTo>
                <a:lnTo>
                  <a:pt x="4598369" y="0"/>
                </a:lnTo>
                <a:lnTo>
                  <a:pt x="4598369" y="7632149"/>
                </a:lnTo>
                <a:lnTo>
                  <a:pt x="0" y="76321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98783" y="1377817"/>
            <a:ext cx="7491083" cy="2218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60"/>
              </a:lnSpc>
            </a:pPr>
            <a:r>
              <a:rPr lang="en-US" sz="8000" spc="-336">
                <a:solidFill>
                  <a:srgbClr val="FF758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KADA JE MANJAK, A KADA VIŠAK?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899631" y="-790284"/>
            <a:ext cx="3386430" cy="3308041"/>
          </a:xfrm>
          <a:custGeom>
            <a:avLst/>
            <a:gdLst/>
            <a:ahLst/>
            <a:cxnLst/>
            <a:rect r="r" b="b" t="t" l="l"/>
            <a:pathLst>
              <a:path h="3308041" w="3386430">
                <a:moveTo>
                  <a:pt x="0" y="0"/>
                </a:moveTo>
                <a:lnTo>
                  <a:pt x="3386431" y="0"/>
                </a:lnTo>
                <a:lnTo>
                  <a:pt x="3386431" y="3308041"/>
                </a:lnTo>
                <a:lnTo>
                  <a:pt x="0" y="3308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112564" y="7624765"/>
            <a:ext cx="3611347" cy="3573510"/>
          </a:xfrm>
          <a:custGeom>
            <a:avLst/>
            <a:gdLst/>
            <a:ahLst/>
            <a:cxnLst/>
            <a:rect r="r" b="b" t="t" l="l"/>
            <a:pathLst>
              <a:path h="3573510" w="3611347">
                <a:moveTo>
                  <a:pt x="0" y="0"/>
                </a:moveTo>
                <a:lnTo>
                  <a:pt x="3611347" y="0"/>
                </a:lnTo>
                <a:lnTo>
                  <a:pt x="3611347" y="3573510"/>
                </a:lnTo>
                <a:lnTo>
                  <a:pt x="0" y="35735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164772" y="9507591"/>
            <a:ext cx="3823437" cy="3381367"/>
          </a:xfrm>
          <a:custGeom>
            <a:avLst/>
            <a:gdLst/>
            <a:ahLst/>
            <a:cxnLst/>
            <a:rect r="r" b="b" t="t" l="l"/>
            <a:pathLst>
              <a:path h="3381367" w="3823437">
                <a:moveTo>
                  <a:pt x="0" y="0"/>
                </a:moveTo>
                <a:lnTo>
                  <a:pt x="3823437" y="0"/>
                </a:lnTo>
                <a:lnTo>
                  <a:pt x="3823437" y="3381367"/>
                </a:lnTo>
                <a:lnTo>
                  <a:pt x="0" y="33813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7636189" y="4642641"/>
            <a:ext cx="3520143" cy="3463214"/>
          </a:xfrm>
          <a:custGeom>
            <a:avLst/>
            <a:gdLst/>
            <a:ahLst/>
            <a:cxnLst/>
            <a:rect r="r" b="b" t="t" l="l"/>
            <a:pathLst>
              <a:path h="3463214" w="3520143">
                <a:moveTo>
                  <a:pt x="0" y="0"/>
                </a:moveTo>
                <a:lnTo>
                  <a:pt x="3520143" y="0"/>
                </a:lnTo>
                <a:lnTo>
                  <a:pt x="3520143" y="3463213"/>
                </a:lnTo>
                <a:lnTo>
                  <a:pt x="0" y="34632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2869083" y="9656281"/>
            <a:ext cx="3722835" cy="3064865"/>
          </a:xfrm>
          <a:custGeom>
            <a:avLst/>
            <a:gdLst/>
            <a:ahLst/>
            <a:cxnLst/>
            <a:rect r="r" b="b" t="t" l="l"/>
            <a:pathLst>
              <a:path h="3064865" w="3722835">
                <a:moveTo>
                  <a:pt x="0" y="0"/>
                </a:moveTo>
                <a:lnTo>
                  <a:pt x="3722835" y="0"/>
                </a:lnTo>
                <a:lnTo>
                  <a:pt x="3722835" y="3064865"/>
                </a:lnTo>
                <a:lnTo>
                  <a:pt x="0" y="306486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-2972825" y="-1028700"/>
            <a:ext cx="4158368" cy="3423423"/>
          </a:xfrm>
          <a:custGeom>
            <a:avLst/>
            <a:gdLst/>
            <a:ahLst/>
            <a:cxnLst/>
            <a:rect r="r" b="b" t="t" l="l"/>
            <a:pathLst>
              <a:path h="3423423" w="4158368">
                <a:moveTo>
                  <a:pt x="0" y="0"/>
                </a:moveTo>
                <a:lnTo>
                  <a:pt x="4158368" y="0"/>
                </a:lnTo>
                <a:lnTo>
                  <a:pt x="4158368" y="3423423"/>
                </a:lnTo>
                <a:lnTo>
                  <a:pt x="0" y="342342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-5400000">
            <a:off x="5956261" y="-2827785"/>
            <a:ext cx="3541693" cy="3484415"/>
          </a:xfrm>
          <a:custGeom>
            <a:avLst/>
            <a:gdLst/>
            <a:ahLst/>
            <a:cxnLst/>
            <a:rect r="r" b="b" t="t" l="l"/>
            <a:pathLst>
              <a:path h="3484415" w="3541693">
                <a:moveTo>
                  <a:pt x="0" y="0"/>
                </a:moveTo>
                <a:lnTo>
                  <a:pt x="3541693" y="0"/>
                </a:lnTo>
                <a:lnTo>
                  <a:pt x="3541693" y="3484415"/>
                </a:lnTo>
                <a:lnTo>
                  <a:pt x="0" y="34844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2565602" y="-2386382"/>
            <a:ext cx="4026316" cy="3250119"/>
          </a:xfrm>
          <a:custGeom>
            <a:avLst/>
            <a:gdLst/>
            <a:ahLst/>
            <a:cxnLst/>
            <a:rect r="r" b="b" t="t" l="l"/>
            <a:pathLst>
              <a:path h="3250119" w="4026316">
                <a:moveTo>
                  <a:pt x="0" y="0"/>
                </a:moveTo>
                <a:lnTo>
                  <a:pt x="4026316" y="0"/>
                </a:lnTo>
                <a:lnTo>
                  <a:pt x="4026316" y="3250119"/>
                </a:lnTo>
                <a:lnTo>
                  <a:pt x="0" y="325011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498783" y="-3227987"/>
            <a:ext cx="3255836" cy="4114800"/>
          </a:xfrm>
          <a:custGeom>
            <a:avLst/>
            <a:gdLst/>
            <a:ahLst/>
            <a:cxnLst/>
            <a:rect r="r" b="b" t="t" l="l"/>
            <a:pathLst>
              <a:path h="4114800" w="3255836">
                <a:moveTo>
                  <a:pt x="0" y="0"/>
                </a:moveTo>
                <a:lnTo>
                  <a:pt x="3255835" y="0"/>
                </a:lnTo>
                <a:lnTo>
                  <a:pt x="32558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043331" y="9398018"/>
            <a:ext cx="3711287" cy="3581392"/>
          </a:xfrm>
          <a:custGeom>
            <a:avLst/>
            <a:gdLst/>
            <a:ahLst/>
            <a:cxnLst/>
            <a:rect r="r" b="b" t="t" l="l"/>
            <a:pathLst>
              <a:path h="3581392" w="3711287">
                <a:moveTo>
                  <a:pt x="0" y="0"/>
                </a:moveTo>
                <a:lnTo>
                  <a:pt x="3711287" y="0"/>
                </a:lnTo>
                <a:lnTo>
                  <a:pt x="3711287" y="3581392"/>
                </a:lnTo>
                <a:lnTo>
                  <a:pt x="0" y="358139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6691546" y="8924241"/>
            <a:ext cx="3192907" cy="4528946"/>
          </a:xfrm>
          <a:custGeom>
            <a:avLst/>
            <a:gdLst/>
            <a:ahLst/>
            <a:cxnLst/>
            <a:rect r="r" b="b" t="t" l="l"/>
            <a:pathLst>
              <a:path h="4528946" w="3192907">
                <a:moveTo>
                  <a:pt x="0" y="0"/>
                </a:moveTo>
                <a:lnTo>
                  <a:pt x="3192908" y="0"/>
                </a:lnTo>
                <a:lnTo>
                  <a:pt x="3192908" y="4528946"/>
                </a:lnTo>
                <a:lnTo>
                  <a:pt x="0" y="452894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1185543" y="3701737"/>
            <a:ext cx="10699281" cy="5805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746" indent="-257873" lvl="1">
              <a:lnSpc>
                <a:spcPts val="3344"/>
              </a:lnSpc>
              <a:buFont typeface="Arial"/>
              <a:buChar char="•"/>
            </a:pPr>
            <a:r>
              <a:rPr lang="en-US" b="true" sz="2388">
                <a:solidFill>
                  <a:srgbClr val="FF758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povećana količina estrogena povećava rizik za neke karcinome, a s druge strane, zbog njegova manjka ugroženo je vitalno zdravlje i reprodukcija</a:t>
            </a:r>
          </a:p>
          <a:p>
            <a:pPr algn="l" marL="515746" indent="-257873" lvl="1">
              <a:lnSpc>
                <a:spcPts val="3344"/>
              </a:lnSpc>
              <a:buFont typeface="Arial"/>
              <a:buChar char="•"/>
            </a:pPr>
            <a:r>
              <a:rPr lang="en-US" b="true" sz="2388">
                <a:solidFill>
                  <a:srgbClr val="FF758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manjak estrogena najčešće nastaje prestankom funkcije jajnika kod </a:t>
            </a:r>
            <a:r>
              <a:rPr lang="en-US" b="true" sz="2388" u="sng">
                <a:solidFill>
                  <a:srgbClr val="FF758F"/>
                </a:solidFill>
                <a:latin typeface="Public Sans Bold"/>
                <a:ea typeface="Public Sans Bold"/>
                <a:cs typeface="Public Sans Bold"/>
                <a:sym typeface="Public Sans Bold"/>
                <a:hlinkClick r:id="rId24" tooltip="https://www.adiva.hr/zdravlje/zensko-zdravlje/prehrana-i-pripravci-za-ublazavanje-simptoma-menopauze-19/"/>
              </a:rPr>
              <a:t>žena koje se približavaju ili su ušle u menopauzu</a:t>
            </a:r>
          </a:p>
          <a:p>
            <a:pPr algn="l" marL="515746" indent="-257873" lvl="1">
              <a:lnSpc>
                <a:spcPts val="3344"/>
              </a:lnSpc>
              <a:buFont typeface="Arial"/>
              <a:buChar char="•"/>
            </a:pPr>
            <a:r>
              <a:rPr lang="en-US" b="true" sz="2388">
                <a:solidFill>
                  <a:srgbClr val="FF758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kod mlađih žena uzrok manjka može biti povezan s poremećajem prehrane, pojačanim vježbanjem, stresom, reproduktivnim metaboličkim poremećajem poput sindroma policističnih jajnika, autoimunom bolesti, poremećajem rada štitnjače, šećernom bolesti i drugo</a:t>
            </a:r>
          </a:p>
          <a:p>
            <a:pPr algn="l" marL="515746" indent="-257873" lvl="1">
              <a:lnSpc>
                <a:spcPts val="3344"/>
              </a:lnSpc>
              <a:buFont typeface="Arial"/>
              <a:buChar char="•"/>
            </a:pPr>
            <a:r>
              <a:rPr lang="en-US" b="true" sz="2388">
                <a:solidFill>
                  <a:srgbClr val="FF758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povišena razina estrogena najčešće je posljedica neispravnog metabolizma estrogena koji uzrokuje preveliku proizvodnju loših estrogena ili pak općenito stvaranje više estrogena u odnosu na njegov oponirajući hormon progesteron koji također nastaje u jajnik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D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06221" y="3006639"/>
            <a:ext cx="11926187" cy="4711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743"/>
              </a:lnSpc>
            </a:pPr>
            <a:r>
              <a:rPr lang="en-US" sz="19079" spc="-801">
                <a:solidFill>
                  <a:srgbClr val="FF758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HVALA NA POZORNOSTI!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899631" y="-790284"/>
            <a:ext cx="3386430" cy="3308041"/>
          </a:xfrm>
          <a:custGeom>
            <a:avLst/>
            <a:gdLst/>
            <a:ahLst/>
            <a:cxnLst/>
            <a:rect r="r" b="b" t="t" l="l"/>
            <a:pathLst>
              <a:path h="3308041" w="3386430">
                <a:moveTo>
                  <a:pt x="0" y="0"/>
                </a:moveTo>
                <a:lnTo>
                  <a:pt x="3386431" y="0"/>
                </a:lnTo>
                <a:lnTo>
                  <a:pt x="3386431" y="3308041"/>
                </a:lnTo>
                <a:lnTo>
                  <a:pt x="0" y="33080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112564" y="7624765"/>
            <a:ext cx="3611347" cy="3573510"/>
          </a:xfrm>
          <a:custGeom>
            <a:avLst/>
            <a:gdLst/>
            <a:ahLst/>
            <a:cxnLst/>
            <a:rect r="r" b="b" t="t" l="l"/>
            <a:pathLst>
              <a:path h="3573510" w="3611347">
                <a:moveTo>
                  <a:pt x="0" y="0"/>
                </a:moveTo>
                <a:lnTo>
                  <a:pt x="3611347" y="0"/>
                </a:lnTo>
                <a:lnTo>
                  <a:pt x="3611347" y="3573510"/>
                </a:lnTo>
                <a:lnTo>
                  <a:pt x="0" y="3573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64772" y="9507591"/>
            <a:ext cx="3823437" cy="3381367"/>
          </a:xfrm>
          <a:custGeom>
            <a:avLst/>
            <a:gdLst/>
            <a:ahLst/>
            <a:cxnLst/>
            <a:rect r="r" b="b" t="t" l="l"/>
            <a:pathLst>
              <a:path h="3381367" w="3823437">
                <a:moveTo>
                  <a:pt x="0" y="0"/>
                </a:moveTo>
                <a:lnTo>
                  <a:pt x="3823437" y="0"/>
                </a:lnTo>
                <a:lnTo>
                  <a:pt x="3823437" y="3381367"/>
                </a:lnTo>
                <a:lnTo>
                  <a:pt x="0" y="33813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7636189" y="4642641"/>
            <a:ext cx="3520143" cy="3463214"/>
          </a:xfrm>
          <a:custGeom>
            <a:avLst/>
            <a:gdLst/>
            <a:ahLst/>
            <a:cxnLst/>
            <a:rect r="r" b="b" t="t" l="l"/>
            <a:pathLst>
              <a:path h="3463214" w="3520143">
                <a:moveTo>
                  <a:pt x="0" y="0"/>
                </a:moveTo>
                <a:lnTo>
                  <a:pt x="3520143" y="0"/>
                </a:lnTo>
                <a:lnTo>
                  <a:pt x="3520143" y="3463213"/>
                </a:lnTo>
                <a:lnTo>
                  <a:pt x="0" y="34632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869083" y="9656281"/>
            <a:ext cx="3722835" cy="3064865"/>
          </a:xfrm>
          <a:custGeom>
            <a:avLst/>
            <a:gdLst/>
            <a:ahLst/>
            <a:cxnLst/>
            <a:rect r="r" b="b" t="t" l="l"/>
            <a:pathLst>
              <a:path h="3064865" w="3722835">
                <a:moveTo>
                  <a:pt x="0" y="0"/>
                </a:moveTo>
                <a:lnTo>
                  <a:pt x="3722835" y="0"/>
                </a:lnTo>
                <a:lnTo>
                  <a:pt x="3722835" y="3064865"/>
                </a:lnTo>
                <a:lnTo>
                  <a:pt x="0" y="30648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2972825" y="-1028700"/>
            <a:ext cx="4158368" cy="3423423"/>
          </a:xfrm>
          <a:custGeom>
            <a:avLst/>
            <a:gdLst/>
            <a:ahLst/>
            <a:cxnLst/>
            <a:rect r="r" b="b" t="t" l="l"/>
            <a:pathLst>
              <a:path h="3423423" w="4158368">
                <a:moveTo>
                  <a:pt x="0" y="0"/>
                </a:moveTo>
                <a:lnTo>
                  <a:pt x="4158368" y="0"/>
                </a:lnTo>
                <a:lnTo>
                  <a:pt x="4158368" y="3423423"/>
                </a:lnTo>
                <a:lnTo>
                  <a:pt x="0" y="34234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-5400000">
            <a:off x="5956261" y="-2827785"/>
            <a:ext cx="3541693" cy="3484415"/>
          </a:xfrm>
          <a:custGeom>
            <a:avLst/>
            <a:gdLst/>
            <a:ahLst/>
            <a:cxnLst/>
            <a:rect r="r" b="b" t="t" l="l"/>
            <a:pathLst>
              <a:path h="3484415" w="3541693">
                <a:moveTo>
                  <a:pt x="0" y="0"/>
                </a:moveTo>
                <a:lnTo>
                  <a:pt x="3541693" y="0"/>
                </a:lnTo>
                <a:lnTo>
                  <a:pt x="3541693" y="3484415"/>
                </a:lnTo>
                <a:lnTo>
                  <a:pt x="0" y="34844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2565602" y="-2386382"/>
            <a:ext cx="4026316" cy="3250119"/>
          </a:xfrm>
          <a:custGeom>
            <a:avLst/>
            <a:gdLst/>
            <a:ahLst/>
            <a:cxnLst/>
            <a:rect r="r" b="b" t="t" l="l"/>
            <a:pathLst>
              <a:path h="3250119" w="4026316">
                <a:moveTo>
                  <a:pt x="0" y="0"/>
                </a:moveTo>
                <a:lnTo>
                  <a:pt x="4026316" y="0"/>
                </a:lnTo>
                <a:lnTo>
                  <a:pt x="4026316" y="3250119"/>
                </a:lnTo>
                <a:lnTo>
                  <a:pt x="0" y="32501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498783" y="-3227987"/>
            <a:ext cx="3255836" cy="4114800"/>
          </a:xfrm>
          <a:custGeom>
            <a:avLst/>
            <a:gdLst/>
            <a:ahLst/>
            <a:cxnLst/>
            <a:rect r="r" b="b" t="t" l="l"/>
            <a:pathLst>
              <a:path h="4114800" w="3255836">
                <a:moveTo>
                  <a:pt x="0" y="0"/>
                </a:moveTo>
                <a:lnTo>
                  <a:pt x="3255835" y="0"/>
                </a:lnTo>
                <a:lnTo>
                  <a:pt x="32558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043331" y="9398018"/>
            <a:ext cx="3711287" cy="3581392"/>
          </a:xfrm>
          <a:custGeom>
            <a:avLst/>
            <a:gdLst/>
            <a:ahLst/>
            <a:cxnLst/>
            <a:rect r="r" b="b" t="t" l="l"/>
            <a:pathLst>
              <a:path h="3581392" w="3711287">
                <a:moveTo>
                  <a:pt x="0" y="0"/>
                </a:moveTo>
                <a:lnTo>
                  <a:pt x="3711287" y="0"/>
                </a:lnTo>
                <a:lnTo>
                  <a:pt x="3711287" y="3581392"/>
                </a:lnTo>
                <a:lnTo>
                  <a:pt x="0" y="358139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6691546" y="8924241"/>
            <a:ext cx="3192907" cy="4528946"/>
          </a:xfrm>
          <a:custGeom>
            <a:avLst/>
            <a:gdLst/>
            <a:ahLst/>
            <a:cxnLst/>
            <a:rect r="r" b="b" t="t" l="l"/>
            <a:pathLst>
              <a:path h="4528946" w="3192907">
                <a:moveTo>
                  <a:pt x="0" y="0"/>
                </a:moveTo>
                <a:lnTo>
                  <a:pt x="3192908" y="0"/>
                </a:lnTo>
                <a:lnTo>
                  <a:pt x="3192908" y="4528946"/>
                </a:lnTo>
                <a:lnTo>
                  <a:pt x="0" y="452894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D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27872" y="1266825"/>
            <a:ext cx="6541211" cy="1353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31"/>
              </a:lnSpc>
            </a:pPr>
            <a:r>
              <a:rPr lang="en-US" sz="10464" spc="-439">
                <a:solidFill>
                  <a:srgbClr val="FF758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IZVORI: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899631" y="-790284"/>
            <a:ext cx="3386430" cy="3308041"/>
          </a:xfrm>
          <a:custGeom>
            <a:avLst/>
            <a:gdLst/>
            <a:ahLst/>
            <a:cxnLst/>
            <a:rect r="r" b="b" t="t" l="l"/>
            <a:pathLst>
              <a:path h="3308041" w="3386430">
                <a:moveTo>
                  <a:pt x="0" y="0"/>
                </a:moveTo>
                <a:lnTo>
                  <a:pt x="3386431" y="0"/>
                </a:lnTo>
                <a:lnTo>
                  <a:pt x="3386431" y="3308041"/>
                </a:lnTo>
                <a:lnTo>
                  <a:pt x="0" y="33080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112564" y="7624765"/>
            <a:ext cx="3611347" cy="3573510"/>
          </a:xfrm>
          <a:custGeom>
            <a:avLst/>
            <a:gdLst/>
            <a:ahLst/>
            <a:cxnLst/>
            <a:rect r="r" b="b" t="t" l="l"/>
            <a:pathLst>
              <a:path h="3573510" w="3611347">
                <a:moveTo>
                  <a:pt x="0" y="0"/>
                </a:moveTo>
                <a:lnTo>
                  <a:pt x="3611347" y="0"/>
                </a:lnTo>
                <a:lnTo>
                  <a:pt x="3611347" y="3573510"/>
                </a:lnTo>
                <a:lnTo>
                  <a:pt x="0" y="3573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64772" y="9507591"/>
            <a:ext cx="3823437" cy="3381367"/>
          </a:xfrm>
          <a:custGeom>
            <a:avLst/>
            <a:gdLst/>
            <a:ahLst/>
            <a:cxnLst/>
            <a:rect r="r" b="b" t="t" l="l"/>
            <a:pathLst>
              <a:path h="3381367" w="3823437">
                <a:moveTo>
                  <a:pt x="0" y="0"/>
                </a:moveTo>
                <a:lnTo>
                  <a:pt x="3823437" y="0"/>
                </a:lnTo>
                <a:lnTo>
                  <a:pt x="3823437" y="3381367"/>
                </a:lnTo>
                <a:lnTo>
                  <a:pt x="0" y="33813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7636189" y="4642641"/>
            <a:ext cx="3520143" cy="3463214"/>
          </a:xfrm>
          <a:custGeom>
            <a:avLst/>
            <a:gdLst/>
            <a:ahLst/>
            <a:cxnLst/>
            <a:rect r="r" b="b" t="t" l="l"/>
            <a:pathLst>
              <a:path h="3463214" w="3520143">
                <a:moveTo>
                  <a:pt x="0" y="0"/>
                </a:moveTo>
                <a:lnTo>
                  <a:pt x="3520143" y="0"/>
                </a:lnTo>
                <a:lnTo>
                  <a:pt x="3520143" y="3463213"/>
                </a:lnTo>
                <a:lnTo>
                  <a:pt x="0" y="34632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869083" y="9656281"/>
            <a:ext cx="3722835" cy="3064865"/>
          </a:xfrm>
          <a:custGeom>
            <a:avLst/>
            <a:gdLst/>
            <a:ahLst/>
            <a:cxnLst/>
            <a:rect r="r" b="b" t="t" l="l"/>
            <a:pathLst>
              <a:path h="3064865" w="3722835">
                <a:moveTo>
                  <a:pt x="0" y="0"/>
                </a:moveTo>
                <a:lnTo>
                  <a:pt x="3722835" y="0"/>
                </a:lnTo>
                <a:lnTo>
                  <a:pt x="3722835" y="3064865"/>
                </a:lnTo>
                <a:lnTo>
                  <a:pt x="0" y="30648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2972825" y="-1028700"/>
            <a:ext cx="4158368" cy="3423423"/>
          </a:xfrm>
          <a:custGeom>
            <a:avLst/>
            <a:gdLst/>
            <a:ahLst/>
            <a:cxnLst/>
            <a:rect r="r" b="b" t="t" l="l"/>
            <a:pathLst>
              <a:path h="3423423" w="4158368">
                <a:moveTo>
                  <a:pt x="0" y="0"/>
                </a:moveTo>
                <a:lnTo>
                  <a:pt x="4158368" y="0"/>
                </a:lnTo>
                <a:lnTo>
                  <a:pt x="4158368" y="3423423"/>
                </a:lnTo>
                <a:lnTo>
                  <a:pt x="0" y="34234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-5400000">
            <a:off x="5956261" y="-2827785"/>
            <a:ext cx="3541693" cy="3484415"/>
          </a:xfrm>
          <a:custGeom>
            <a:avLst/>
            <a:gdLst/>
            <a:ahLst/>
            <a:cxnLst/>
            <a:rect r="r" b="b" t="t" l="l"/>
            <a:pathLst>
              <a:path h="3484415" w="3541693">
                <a:moveTo>
                  <a:pt x="0" y="0"/>
                </a:moveTo>
                <a:lnTo>
                  <a:pt x="3541693" y="0"/>
                </a:lnTo>
                <a:lnTo>
                  <a:pt x="3541693" y="3484415"/>
                </a:lnTo>
                <a:lnTo>
                  <a:pt x="0" y="34844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2565602" y="-2386382"/>
            <a:ext cx="4026316" cy="3250119"/>
          </a:xfrm>
          <a:custGeom>
            <a:avLst/>
            <a:gdLst/>
            <a:ahLst/>
            <a:cxnLst/>
            <a:rect r="r" b="b" t="t" l="l"/>
            <a:pathLst>
              <a:path h="3250119" w="4026316">
                <a:moveTo>
                  <a:pt x="0" y="0"/>
                </a:moveTo>
                <a:lnTo>
                  <a:pt x="4026316" y="0"/>
                </a:lnTo>
                <a:lnTo>
                  <a:pt x="4026316" y="3250119"/>
                </a:lnTo>
                <a:lnTo>
                  <a:pt x="0" y="32501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498783" y="-3227987"/>
            <a:ext cx="3255836" cy="4114800"/>
          </a:xfrm>
          <a:custGeom>
            <a:avLst/>
            <a:gdLst/>
            <a:ahLst/>
            <a:cxnLst/>
            <a:rect r="r" b="b" t="t" l="l"/>
            <a:pathLst>
              <a:path h="4114800" w="3255836">
                <a:moveTo>
                  <a:pt x="0" y="0"/>
                </a:moveTo>
                <a:lnTo>
                  <a:pt x="3255835" y="0"/>
                </a:lnTo>
                <a:lnTo>
                  <a:pt x="32558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043331" y="9398018"/>
            <a:ext cx="3711287" cy="3581392"/>
          </a:xfrm>
          <a:custGeom>
            <a:avLst/>
            <a:gdLst/>
            <a:ahLst/>
            <a:cxnLst/>
            <a:rect r="r" b="b" t="t" l="l"/>
            <a:pathLst>
              <a:path h="3581392" w="3711287">
                <a:moveTo>
                  <a:pt x="0" y="0"/>
                </a:moveTo>
                <a:lnTo>
                  <a:pt x="3711287" y="0"/>
                </a:lnTo>
                <a:lnTo>
                  <a:pt x="3711287" y="3581392"/>
                </a:lnTo>
                <a:lnTo>
                  <a:pt x="0" y="358139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6691546" y="8924241"/>
            <a:ext cx="3192907" cy="4528946"/>
          </a:xfrm>
          <a:custGeom>
            <a:avLst/>
            <a:gdLst/>
            <a:ahLst/>
            <a:cxnLst/>
            <a:rect r="r" b="b" t="t" l="l"/>
            <a:pathLst>
              <a:path h="4528946" w="3192907">
                <a:moveTo>
                  <a:pt x="0" y="0"/>
                </a:moveTo>
                <a:lnTo>
                  <a:pt x="3192908" y="0"/>
                </a:lnTo>
                <a:lnTo>
                  <a:pt x="3192908" y="4528946"/>
                </a:lnTo>
                <a:lnTo>
                  <a:pt x="0" y="452894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4" id="14"/>
          <p:cNvSpPr txBox="true"/>
          <p:nvPr/>
        </p:nvSpPr>
        <p:spPr>
          <a:xfrm rot="0">
            <a:off x="2122324" y="3438648"/>
            <a:ext cx="14043351" cy="2341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6599" indent="-358299" lvl="1">
              <a:lnSpc>
                <a:spcPts val="4646"/>
              </a:lnSpc>
              <a:buFont typeface="Arial"/>
              <a:buChar char="•"/>
            </a:pPr>
            <a:r>
              <a:rPr lang="en-US" b="true" sz="331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https://www.adiva.hr/zdravlje/zensko-zdravlje/razgovarali-smo-sa-strucnjakinjom-o-estrogenu-hormonu-koji-cini-zenu/</a:t>
            </a:r>
          </a:p>
          <a:p>
            <a:pPr algn="l" marL="716599" indent="-358299" lvl="1">
              <a:lnSpc>
                <a:spcPts val="4646"/>
              </a:lnSpc>
              <a:buFont typeface="Arial"/>
              <a:buChar char="•"/>
            </a:pPr>
            <a:r>
              <a:rPr lang="en-US" b="true" sz="331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https://www.broadwayclinic.com/article/things-that-you-need-to-understand-about-estrogen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DAGZpCzoCZ8</dc:identifier>
  <dcterms:modified xsi:type="dcterms:W3CDTF">2011-08-01T06:04:30Z</dcterms:modified>
  <cp:revision>1</cp:revision>
  <dc:title>estrogen</dc:title>
</cp:coreProperties>
</file>