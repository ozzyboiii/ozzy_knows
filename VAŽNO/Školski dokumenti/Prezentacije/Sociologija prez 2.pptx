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6"/>
  </p:notesMasterIdLst>
  <p:handoutMasterIdLst>
    <p:handoutMasterId r:id="rId87"/>
  </p:handoutMasterIdLst>
  <p:sldIdLst>
    <p:sldId id="569" r:id="rId2"/>
    <p:sldId id="570" r:id="rId3"/>
    <p:sldId id="571" r:id="rId4"/>
    <p:sldId id="572" r:id="rId5"/>
    <p:sldId id="573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507" r:id="rId24"/>
    <p:sldId id="508" r:id="rId25"/>
    <p:sldId id="509" r:id="rId26"/>
    <p:sldId id="510" r:id="rId27"/>
    <p:sldId id="511" r:id="rId28"/>
    <p:sldId id="512" r:id="rId29"/>
    <p:sldId id="513" r:id="rId30"/>
    <p:sldId id="514" r:id="rId31"/>
    <p:sldId id="515" r:id="rId32"/>
    <p:sldId id="516" r:id="rId33"/>
    <p:sldId id="517" r:id="rId34"/>
    <p:sldId id="518" r:id="rId35"/>
    <p:sldId id="519" r:id="rId36"/>
    <p:sldId id="520" r:id="rId37"/>
    <p:sldId id="521" r:id="rId38"/>
    <p:sldId id="522" r:id="rId39"/>
    <p:sldId id="523" r:id="rId40"/>
    <p:sldId id="524" r:id="rId41"/>
    <p:sldId id="525" r:id="rId42"/>
    <p:sldId id="526" r:id="rId43"/>
    <p:sldId id="527" r:id="rId44"/>
    <p:sldId id="528" r:id="rId45"/>
    <p:sldId id="529" r:id="rId46"/>
    <p:sldId id="530" r:id="rId47"/>
    <p:sldId id="531" r:id="rId48"/>
    <p:sldId id="532" r:id="rId49"/>
    <p:sldId id="533" r:id="rId50"/>
    <p:sldId id="534" r:id="rId51"/>
    <p:sldId id="535" r:id="rId52"/>
    <p:sldId id="536" r:id="rId53"/>
    <p:sldId id="537" r:id="rId54"/>
    <p:sldId id="538" r:id="rId55"/>
    <p:sldId id="539" r:id="rId56"/>
    <p:sldId id="540" r:id="rId57"/>
    <p:sldId id="541" r:id="rId58"/>
    <p:sldId id="542" r:id="rId59"/>
    <p:sldId id="543" r:id="rId60"/>
    <p:sldId id="544" r:id="rId61"/>
    <p:sldId id="545" r:id="rId62"/>
    <p:sldId id="546" r:id="rId63"/>
    <p:sldId id="547" r:id="rId64"/>
    <p:sldId id="548" r:id="rId65"/>
    <p:sldId id="549" r:id="rId66"/>
    <p:sldId id="550" r:id="rId67"/>
    <p:sldId id="551" r:id="rId68"/>
    <p:sldId id="552" r:id="rId69"/>
    <p:sldId id="553" r:id="rId70"/>
    <p:sldId id="554" r:id="rId71"/>
    <p:sldId id="555" r:id="rId72"/>
    <p:sldId id="556" r:id="rId73"/>
    <p:sldId id="557" r:id="rId74"/>
    <p:sldId id="558" r:id="rId75"/>
    <p:sldId id="559" r:id="rId76"/>
    <p:sldId id="560" r:id="rId77"/>
    <p:sldId id="561" r:id="rId78"/>
    <p:sldId id="562" r:id="rId79"/>
    <p:sldId id="563" r:id="rId80"/>
    <p:sldId id="564" r:id="rId81"/>
    <p:sldId id="565" r:id="rId82"/>
    <p:sldId id="566" r:id="rId83"/>
    <p:sldId id="567" r:id="rId84"/>
    <p:sldId id="568" r:id="rId8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21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  <p15:guide id="7" pos="71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1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howGuides="1">
      <p:cViewPr varScale="1">
        <p:scale>
          <a:sx n="86" d="100"/>
          <a:sy n="86" d="100"/>
        </p:scale>
        <p:origin x="738" y="90"/>
      </p:cViewPr>
      <p:guideLst>
        <p:guide orient="horz" pos="2160"/>
        <p:guide orient="horz" pos="1008"/>
        <p:guide orient="horz" pos="3888"/>
        <p:guide orient="horz" pos="321"/>
        <p:guide pos="3839"/>
        <p:guide pos="1007"/>
        <p:guide pos="71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2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D24A-EF38-4949-81EA-C39AA50871C5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6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F328-D78C-4AE3-9BD5-6819CFE7241A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8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3FD6-3C14-4BAD-B096-2ECF8D7D1C88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31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5541-7853-4DCC-906F-39CE0BB88B8E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96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790FE-2B5A-46A8-B4F6-76CB6FDA68AC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2738-2C3A-4E5B-A4DB-9708318E767B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26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1C49-F74B-47FE-8050-CE9AAF0717AC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5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F57B2-B504-486D-85D3-4C584AEF2C6C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45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10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C8C5-A9A9-4B3A-B134-0E3A713D185C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2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0574-43A3-46A0-8870-1B2305CBE5B3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828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0574-43A3-46A0-8870-1B2305CBE5B3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9609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0574-43A3-46A0-8870-1B2305CBE5B3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01962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0574-43A3-46A0-8870-1B2305CBE5B3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6779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0574-43A3-46A0-8870-1B2305CBE5B3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073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0574-43A3-46A0-8870-1B2305CBE5B3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1864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9A895-DC24-4A80-9E4B-77E8C98B8261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9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491E-4104-40E9-885C-6629BDFE1DBB}" type="datetime1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1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4F0574-43A3-46A0-8870-1B2305CBE5B3}" type="datetime1">
              <a:rPr lang="en-US" smtClean="0"/>
              <a:pPr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454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100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poligamijamormoni" TargetMode="External"/><Relationship Id="rId2" Type="http://schemas.openxmlformats.org/officeDocument/2006/relationships/hyperlink" Target="http://bit.ly/egzogamijabosn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bit.ly/edomaajka" TargetMode="External"/><Relationship Id="rId4" Type="http://schemas.openxmlformats.org/officeDocument/2006/relationships/hyperlink" Target="http://bit.ly/egzogamijatunis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PKKQnijnsM&amp;ab_channel=politizane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DEVIJANTNOST</a:t>
            </a:r>
            <a:r>
              <a:rPr lang="hr-HR" dirty="0"/>
              <a:t/>
            </a:r>
            <a:br>
              <a:rPr lang="hr-HR" dirty="0"/>
            </a:b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781" y="2052919"/>
            <a:ext cx="11521280" cy="4195481"/>
          </a:xfrm>
        </p:spPr>
        <p:txBody>
          <a:bodyPr/>
          <a:lstStyle/>
          <a:p>
            <a:r>
              <a:rPr lang="hr-HR" sz="2400" dirty="0" smtClean="0"/>
              <a:t>Devijantnost </a:t>
            </a:r>
            <a:r>
              <a:rPr lang="hr-HR" sz="2400" dirty="0"/>
              <a:t>je ponašanje koje preko prihvatljive mjere odstupa od normi što ih većina </a:t>
            </a:r>
            <a:r>
              <a:rPr lang="hr-HR" sz="2400" dirty="0" smtClean="0"/>
              <a:t>članova</a:t>
            </a:r>
            <a:r>
              <a:rPr lang="en-US" sz="2400" dirty="0" smtClean="0"/>
              <a:t> </a:t>
            </a:r>
            <a:r>
              <a:rPr lang="hr-HR" sz="2400" dirty="0" smtClean="0"/>
              <a:t>skupine </a:t>
            </a:r>
            <a:r>
              <a:rPr lang="hr-HR" sz="2400" dirty="0"/>
              <a:t>ili društva prihvaća. Takvo se ponašanje najčešće negativno vrednuje i </a:t>
            </a:r>
            <a:r>
              <a:rPr lang="hr-HR" sz="2400" dirty="0" smtClean="0"/>
              <a:t>izaziva</a:t>
            </a:r>
            <a:r>
              <a:rPr lang="en-US" sz="2400" dirty="0" smtClean="0"/>
              <a:t> </a:t>
            </a:r>
            <a:r>
              <a:rPr lang="hr-HR" sz="2400" dirty="0" smtClean="0"/>
              <a:t>neprijateljske </a:t>
            </a:r>
            <a:r>
              <a:rPr lang="hr-HR" sz="2400" dirty="0"/>
              <a:t>reakcije. </a:t>
            </a:r>
            <a:endParaRPr lang="en-US" sz="2400" dirty="0" smtClean="0"/>
          </a:p>
          <a:p>
            <a:r>
              <a:rPr lang="en-US" sz="2400" dirty="0"/>
              <a:t>O</a:t>
            </a:r>
            <a:r>
              <a:rPr lang="hr-HR" sz="2400" dirty="0" smtClean="0"/>
              <a:t> </a:t>
            </a:r>
            <a:r>
              <a:rPr lang="hr-HR" sz="2400" dirty="0"/>
              <a:t>devijantnosti obično mislimo kao o socijalnom </a:t>
            </a:r>
            <a:r>
              <a:rPr lang="en-US" sz="2400" dirty="0" smtClean="0"/>
              <a:t>p</a:t>
            </a:r>
            <a:r>
              <a:rPr lang="hr-HR" sz="2400" dirty="0" smtClean="0"/>
              <a:t>roblemu,</a:t>
            </a:r>
            <a:r>
              <a:rPr lang="hr-HR" sz="2400" dirty="0"/>
              <a:t> potencijalnoj opasnosti za društvo, takvo ponašanje može imati i pozitivne funkcije za cjelinu društva.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2022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SOCIOLOŠKA OBJAŠNJENJA DEVIJANTNOSTI</a:t>
            </a:r>
            <a:r>
              <a:rPr lang="hr-HR" dirty="0"/>
              <a:t/>
            </a:r>
            <a:br>
              <a:rPr lang="hr-HR" dirty="0"/>
            </a:b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2052919"/>
            <a:ext cx="11521280" cy="4616441"/>
          </a:xfrm>
        </p:spPr>
        <p:txBody>
          <a:bodyPr>
            <a:normAutofit fontScale="92500"/>
          </a:bodyPr>
          <a:lstStyle/>
          <a:p>
            <a:r>
              <a:rPr lang="hr-HR" b="1" dirty="0"/>
              <a:t>a) TEORIJA STRUKTURALNOG PRITISKA</a:t>
            </a:r>
            <a:endParaRPr lang="hr-HR" dirty="0"/>
          </a:p>
          <a:p>
            <a:r>
              <a:rPr lang="hr-HR" dirty="0"/>
              <a:t>Tijekom brzih socijalnih promjena ljudi često postaju nesigurni glede toga što se od njih očekuje i teško im je priladogoditi svoje ponašanje konvencionalnim normama. Stare norme ne čine se relevantnima za datu situaciju, a nove su nejasne i nedovoljno određene da bi pružile sigurne putokaze za ponašanje. To je situacija </a:t>
            </a:r>
            <a:r>
              <a:rPr lang="hr-HR" b="1" dirty="0"/>
              <a:t>anomije</a:t>
            </a:r>
            <a:r>
              <a:rPr lang="hr-HR" dirty="0"/>
              <a:t> u kojoj se može očekivati učestalo devijantno ponašanje. </a:t>
            </a:r>
          </a:p>
          <a:p>
            <a:r>
              <a:rPr lang="hr-HR" dirty="0"/>
              <a:t>Sociolog Robert Merton ponudio je </a:t>
            </a:r>
            <a:r>
              <a:rPr lang="hr-HR" b="1" dirty="0"/>
              <a:t>pet odgovora</a:t>
            </a:r>
            <a:r>
              <a:rPr lang="hr-HR" dirty="0"/>
              <a:t> na dvojbu u izboru kulturnih ciljeva (npr. bogatstvo, uspjeh, status, prihvaćenost...) i sredstava (načini kako postići kulturne ciljeve – npr. putem obrazovanja).</a:t>
            </a:r>
          </a:p>
          <a:p>
            <a:r>
              <a:rPr lang="hr-HR" dirty="0"/>
              <a:t> 1. </a:t>
            </a:r>
            <a:r>
              <a:rPr lang="hr-HR" b="1" dirty="0"/>
              <a:t>Konformnost </a:t>
            </a:r>
            <a:r>
              <a:rPr lang="hr-HR" dirty="0"/>
              <a:t>imamo kada ljudi prihvaćaju i kulturno definirane ciljeve i institucionalizirana sredstva. </a:t>
            </a:r>
            <a:r>
              <a:rPr lang="hr-HR" b="1" dirty="0"/>
              <a:t>2. Inovaciju</a:t>
            </a:r>
            <a:r>
              <a:rPr lang="hr-HR" dirty="0"/>
              <a:t> odlikuje prihvaćanje ciljeva ali napuštanje dozvoljenih sredstava. </a:t>
            </a:r>
            <a:r>
              <a:rPr lang="hr-HR" b="1" dirty="0"/>
              <a:t>3. Ritualizam</a:t>
            </a:r>
            <a:r>
              <a:rPr lang="hr-HR" dirty="0"/>
              <a:t> znači napuštanje ili zanemarivanje ciljeva, ali uporno ostajanje pri postojećim sredstvima. </a:t>
            </a:r>
            <a:r>
              <a:rPr lang="hr-HR" b="1" dirty="0"/>
              <a:t>4. Povlačenje</a:t>
            </a:r>
            <a:r>
              <a:rPr lang="hr-HR" dirty="0"/>
              <a:t> je karakteristično za ljude koji su „ispali“ iz društva: oni odbacuju i ciljeve i sredstva. </a:t>
            </a:r>
            <a:r>
              <a:rPr lang="hr-HR" b="1" dirty="0"/>
              <a:t>5.</a:t>
            </a:r>
            <a:r>
              <a:rPr lang="hr-HR" dirty="0"/>
              <a:t> U</a:t>
            </a:r>
            <a:r>
              <a:rPr lang="hr-HR" b="1" dirty="0"/>
              <a:t> pobunama</a:t>
            </a:r>
            <a:r>
              <a:rPr lang="hr-HR" dirty="0"/>
              <a:t>, anarhijama i radikalnim situacijama ljudi također odbacuju i kulturne ciljeve i odobrena sredstva i zamjenjuju ih novim normama. 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8032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b) TEORIJE KULTURNE TRANSMISIJE</a:t>
            </a:r>
            <a:endParaRPr lang="hr-HR" dirty="0"/>
          </a:p>
          <a:p>
            <a:r>
              <a:rPr lang="hr-HR" dirty="0"/>
              <a:t>Teorije kulturne transmisije naglašavaju sličnosti između načina na koji se uči devijantno ponašanje i načina na koji seuči normalno ponašanje. Taj fenomen se naziva </a:t>
            </a:r>
            <a:r>
              <a:rPr lang="hr-HR" b="1" dirty="0"/>
              <a:t>diferencijalna asocijacija</a:t>
            </a:r>
            <a:r>
              <a:rPr lang="hr-HR" dirty="0"/>
              <a:t>. Pojedinci postaju delinkventi ili kriminalci kroz povezivanje (asocijaciju) s nositeljima kriminalnih normi. Većina devijantnog ponašanja uči se u primarnim grupama, ponajprije grupama vršnjaka. </a:t>
            </a:r>
          </a:p>
          <a:p>
            <a:endParaRPr lang="en-US" dirty="0" smtClean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5016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c)</a:t>
            </a:r>
            <a:r>
              <a:rPr lang="hr-HR" dirty="0"/>
              <a:t> </a:t>
            </a:r>
            <a:r>
              <a:rPr lang="hr-HR" b="1" dirty="0"/>
              <a:t>KONFLIKTNA PERSPEKTIVA</a:t>
            </a:r>
            <a:r>
              <a:rPr lang="hr-HR" dirty="0"/>
              <a:t> na devijantnost polazi od pretpostavke o postojanju suprotstavljenih  interesa različitih društvenih grupa. Moćne društvene grupe kontroliraju izradu zakona i njihovo provođenje, nastojeći vlastite vrijednosti i norme nametnuti čitavom društvu. Konfliktna perspektiva na devijantnost polazi od uvida da se u kapitalističkom društvu većina prekršaja normi i zakona odnosi na povredu vlasništva, dok je u manjoj mjeri prisutan kriminal počinjen od strane velikih poduzeća.</a:t>
            </a:r>
          </a:p>
          <a:p>
            <a:r>
              <a:rPr lang="hr-HR" dirty="0"/>
              <a:t> </a:t>
            </a:r>
          </a:p>
          <a:p>
            <a:r>
              <a:rPr lang="hr-HR" dirty="0"/>
              <a:t>Zakon nije uvijek neutralan, nego promiče interese i vrijednosti samo nekih društvenih grupa.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9380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332656"/>
            <a:ext cx="11521280" cy="6408711"/>
          </a:xfrm>
        </p:spPr>
        <p:txBody>
          <a:bodyPr>
            <a:noAutofit/>
          </a:bodyPr>
          <a:lstStyle/>
          <a:p>
            <a:r>
              <a:rPr lang="hr-HR" sz="1800" b="1" dirty="0"/>
              <a:t>d) TEORIJA ETIKETIRANJA</a:t>
            </a:r>
            <a:endParaRPr lang="hr-HR" sz="1800" dirty="0"/>
          </a:p>
          <a:p>
            <a:r>
              <a:rPr lang="hr-HR" sz="1800" dirty="0"/>
              <a:t>Teorija etiketiranja pristupa devijantnosti sa stajališta socijalne interakcije. U središtu pozornosti je proces kojim neki ljudi bivaju označeni devijantnima, počinju sebe doživljavati  kao devijantne, te se konačno zaista počnu tako i ponašati. </a:t>
            </a:r>
          </a:p>
          <a:p>
            <a:r>
              <a:rPr lang="hr-HR" sz="1800" dirty="0"/>
              <a:t>1.Nijedan čin nije po sebi devijantan. Ono „loše“ u nekom činu ne proizlazi iz njegova sadržaja, nego iz načina na koji ga drugi ljudi definiraju i reagiraju na nj. </a:t>
            </a:r>
          </a:p>
          <a:p>
            <a:r>
              <a:rPr lang="hr-HR" sz="1800" dirty="0"/>
              <a:t>2. Većina ljudi se ponaša manje ili više devijantno pa ne stoji podjela na devijantne i „normalne“. Takve pojave se nazivaju </a:t>
            </a:r>
            <a:r>
              <a:rPr lang="hr-HR" sz="1800" b="1" dirty="0"/>
              <a:t>primarnom devijantnošću</a:t>
            </a:r>
            <a:r>
              <a:rPr lang="hr-HR" sz="1800" dirty="0"/>
              <a:t> – kršenje normi koje uglavnom prolazi nezapaženo.</a:t>
            </a:r>
          </a:p>
          <a:p>
            <a:r>
              <a:rPr lang="hr-HR" sz="1800" dirty="0"/>
              <a:t>3.  Devijantnost ovisi o tome koja pravila društvo izabire, u kojimih prigodama i prema kojim ljudima provodi. Teorija etiketiranja slična konfliktnoj perspektivi u poimanju devijantnosti upozoravajući da izbor pravila, prigode i osobe na koje će se pravila primjenjivati ovise o strukturi moći u društvu. </a:t>
            </a:r>
          </a:p>
          <a:p>
            <a:r>
              <a:rPr lang="hr-HR" sz="1800" dirty="0"/>
              <a:t>4. Označavanje (etiketiranje) pojedinaca kao devijantnih stvara povoljne uvjete za </a:t>
            </a:r>
            <a:r>
              <a:rPr lang="hr-HR" sz="1800" b="1" dirty="0"/>
              <a:t>sekundarnu devijantnost</a:t>
            </a:r>
            <a:r>
              <a:rPr lang="hr-HR" sz="1800" dirty="0"/>
              <a:t> –  devijantnost koju sami pojedinci usvajaju kao odgovor na reakcije okoline. Nova se devijantnost proizvodi putem neprijateljskih reakcija onih koji stvaraju i poštuju pravila. Etiketa pridaje pojedincu status devijantne osobe, a on/ona postupno prihvaća taj status i tako se ponaša. Ljudi etiketirani kao devijantni obično bivaju  odbačeni i izolirani, što ih tjera da potraže društvo sebi sličnih. Participacija u devijantnoj subkulturi postaje način rješavanja frustitajućih situacija i nalaženja emocionalne podrške. Istodobno, priključivanje devijantnoj grupi učvršćuje devijantnu sliku vlastite ličnosti, potpomaže devijantni stil života i oslabljuje veze s „normalnim“ dijelom društva.</a:t>
            </a:r>
          </a:p>
          <a:p>
            <a:r>
              <a:rPr lang="hr-HR" sz="1800" dirty="0"/>
              <a:t> </a:t>
            </a:r>
          </a:p>
          <a:p>
            <a:endParaRPr lang="hr-HR" sz="1800" dirty="0"/>
          </a:p>
        </p:txBody>
      </p:sp>
    </p:spTree>
    <p:extLst>
      <p:ext uri="{BB962C8B-B14F-4D97-AF65-F5344CB8AC3E}">
        <p14:creationId xmlns:p14="http://schemas.microsoft.com/office/powerpoint/2010/main" val="392103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IDENTITET – INDIVIDUALNI I KOLEKTIVNI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988840"/>
            <a:ext cx="8944211" cy="4195481"/>
          </a:xfrm>
        </p:spPr>
        <p:txBody>
          <a:bodyPr/>
          <a:lstStyle/>
          <a:p>
            <a:pPr algn="just"/>
            <a:r>
              <a:rPr lang="en-US" sz="2400" dirty="0" err="1" smtClean="0"/>
              <a:t>Zadatak</a:t>
            </a:r>
            <a:r>
              <a:rPr lang="en-US" sz="2400" dirty="0" smtClean="0"/>
              <a:t>: </a:t>
            </a:r>
            <a:r>
              <a:rPr lang="en-US" sz="2400" dirty="0" err="1" smtClean="0"/>
              <a:t>uzmite</a:t>
            </a:r>
            <a:r>
              <a:rPr lang="en-US" sz="2400" dirty="0" smtClean="0"/>
              <a:t> </a:t>
            </a:r>
            <a:r>
              <a:rPr lang="en-US" sz="2400" dirty="0" err="1" smtClean="0"/>
              <a:t>papir</a:t>
            </a:r>
            <a:r>
              <a:rPr lang="en-US" sz="2400" dirty="0" smtClean="0"/>
              <a:t> A4 </a:t>
            </a:r>
            <a:r>
              <a:rPr lang="en-US" sz="2400" dirty="0" err="1" smtClean="0"/>
              <a:t>i</a:t>
            </a:r>
            <a:r>
              <a:rPr lang="en-US" sz="2400" dirty="0" smtClean="0"/>
              <a:t> od </a:t>
            </a:r>
            <a:r>
              <a:rPr lang="en-US" sz="2400" dirty="0" err="1" smtClean="0"/>
              <a:t>njega</a:t>
            </a:r>
            <a:r>
              <a:rPr lang="en-US" sz="2400" dirty="0" smtClean="0"/>
              <a:t> </a:t>
            </a:r>
            <a:r>
              <a:rPr lang="en-US" sz="2400" dirty="0" err="1" smtClean="0"/>
              <a:t>napravite</a:t>
            </a:r>
            <a:r>
              <a:rPr lang="en-US" sz="2400" dirty="0" smtClean="0"/>
              <a:t> 10 </a:t>
            </a:r>
            <a:r>
              <a:rPr lang="en-US" sz="2400" dirty="0" err="1" smtClean="0"/>
              <a:t>jednakih</a:t>
            </a:r>
            <a:r>
              <a:rPr lang="en-US" sz="2400" dirty="0" smtClean="0"/>
              <a:t> </a:t>
            </a:r>
            <a:r>
              <a:rPr lang="en-US" sz="2400" dirty="0" err="1" smtClean="0"/>
              <a:t>malih</a:t>
            </a:r>
            <a:r>
              <a:rPr lang="en-US" sz="2400" dirty="0" smtClean="0"/>
              <a:t> </a:t>
            </a:r>
            <a:r>
              <a:rPr lang="en-US" sz="2400" dirty="0" err="1" smtClean="0"/>
              <a:t>papirića</a:t>
            </a:r>
            <a:r>
              <a:rPr lang="en-US" sz="2400" dirty="0" smtClean="0"/>
              <a:t>. Na </a:t>
            </a:r>
            <a:r>
              <a:rPr lang="en-US" sz="2400" dirty="0" err="1" smtClean="0"/>
              <a:t>svakom</a:t>
            </a:r>
            <a:r>
              <a:rPr lang="en-US" sz="2400" dirty="0" smtClean="0"/>
              <a:t> od </a:t>
            </a:r>
            <a:r>
              <a:rPr lang="en-US" sz="2400" dirty="0" err="1" smtClean="0"/>
              <a:t>njih</a:t>
            </a:r>
            <a:r>
              <a:rPr lang="en-US" sz="2400" dirty="0" smtClean="0"/>
              <a:t> </a:t>
            </a:r>
            <a:r>
              <a:rPr lang="en-US" sz="2400" dirty="0" err="1" smtClean="0"/>
              <a:t>odgovorite</a:t>
            </a:r>
            <a:r>
              <a:rPr lang="en-US" sz="2400" dirty="0" smtClean="0"/>
              <a:t> </a:t>
            </a:r>
            <a:r>
              <a:rPr lang="en-US" sz="2400" dirty="0" err="1" smtClean="0"/>
              <a:t>jednom</a:t>
            </a:r>
            <a:r>
              <a:rPr lang="en-US" sz="2400" dirty="0" smtClean="0"/>
              <a:t>  </a:t>
            </a:r>
            <a:r>
              <a:rPr lang="en-US" sz="2400" dirty="0" err="1" smtClean="0"/>
              <a:t>riječi</a:t>
            </a:r>
            <a:r>
              <a:rPr lang="en-US" sz="2400" dirty="0" smtClean="0"/>
              <a:t>,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pitanje</a:t>
            </a:r>
            <a:r>
              <a:rPr lang="en-US" sz="2400" dirty="0" smtClean="0"/>
              <a:t>: </a:t>
            </a:r>
            <a:r>
              <a:rPr lang="en-US" sz="2400" b="1" dirty="0" err="1" smtClean="0"/>
              <a:t>Tko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sam</a:t>
            </a:r>
            <a:r>
              <a:rPr lang="en-US" sz="2400" b="1" dirty="0" smtClean="0"/>
              <a:t> ja?</a:t>
            </a:r>
          </a:p>
          <a:p>
            <a:pPr marL="0" indent="0">
              <a:buNone/>
            </a:pPr>
            <a:r>
              <a:rPr lang="en-US" sz="2400" dirty="0" smtClean="0"/>
              <a:t>(</a:t>
            </a:r>
            <a:r>
              <a:rPr lang="en-US" sz="2400" dirty="0" err="1" smtClean="0"/>
              <a:t>osobine</a:t>
            </a:r>
            <a:r>
              <a:rPr lang="en-US" sz="2400" dirty="0" smtClean="0"/>
              <a:t>, </a:t>
            </a:r>
            <a:r>
              <a:rPr lang="en-US" sz="2400" dirty="0" err="1" smtClean="0"/>
              <a:t>uloge</a:t>
            </a:r>
            <a:r>
              <a:rPr lang="en-US" sz="2400" dirty="0" smtClean="0"/>
              <a:t>, </a:t>
            </a:r>
            <a:r>
              <a:rPr lang="en-US" sz="2400" dirty="0" err="1" smtClean="0"/>
              <a:t>navike</a:t>
            </a:r>
            <a:r>
              <a:rPr lang="en-US" sz="2400" dirty="0" smtClean="0"/>
              <a:t>, </a:t>
            </a:r>
            <a:r>
              <a:rPr lang="en-US" sz="2400" dirty="0" err="1" smtClean="0"/>
              <a:t>sve</a:t>
            </a:r>
            <a:r>
              <a:rPr lang="en-US" sz="2400" dirty="0" smtClean="0"/>
              <a:t> </a:t>
            </a:r>
            <a:r>
              <a:rPr lang="en-US" sz="2400" dirty="0" err="1" smtClean="0"/>
              <a:t>što</a:t>
            </a:r>
            <a:r>
              <a:rPr lang="en-US" sz="2400" dirty="0" smtClean="0"/>
              <a:t> </a:t>
            </a:r>
            <a:r>
              <a:rPr lang="en-US" sz="2400" dirty="0" err="1" smtClean="0"/>
              <a:t>vam</a:t>
            </a:r>
            <a:r>
              <a:rPr lang="en-US" sz="2400" dirty="0" smtClean="0"/>
              <a:t> se </a:t>
            </a:r>
            <a:r>
              <a:rPr lang="en-US" sz="2400" dirty="0" err="1" smtClean="0"/>
              <a:t>čini</a:t>
            </a:r>
            <a:r>
              <a:rPr lang="en-US" sz="2400" dirty="0" smtClean="0"/>
              <a:t> </a:t>
            </a:r>
            <a:r>
              <a:rPr lang="en-US" sz="2400" dirty="0" err="1" smtClean="0"/>
              <a:t>važnim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vas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osobu</a:t>
            </a:r>
            <a:r>
              <a:rPr lang="en-US" sz="2400" dirty="0" smtClean="0"/>
              <a:t>…)</a:t>
            </a:r>
          </a:p>
          <a:p>
            <a:r>
              <a:rPr lang="en-US" sz="2400" dirty="0" err="1" smtClean="0"/>
              <a:t>Složite</a:t>
            </a:r>
            <a:r>
              <a:rPr lang="en-US" sz="2400" dirty="0" smtClean="0"/>
              <a:t> </a:t>
            </a:r>
            <a:r>
              <a:rPr lang="en-US" sz="2400" dirty="0" err="1" smtClean="0"/>
              <a:t>papiriće</a:t>
            </a:r>
            <a:r>
              <a:rPr lang="en-US" sz="2400" dirty="0" smtClean="0"/>
              <a:t> </a:t>
            </a:r>
            <a:r>
              <a:rPr lang="en-US" sz="2400" dirty="0" err="1" smtClean="0"/>
              <a:t>ispred</a:t>
            </a:r>
            <a:r>
              <a:rPr lang="en-US" sz="2400" dirty="0" smtClean="0"/>
              <a:t> </a:t>
            </a:r>
            <a:r>
              <a:rPr lang="en-US" sz="2400" dirty="0" err="1" smtClean="0"/>
              <a:t>sebe</a:t>
            </a:r>
            <a:r>
              <a:rPr lang="en-US" sz="2400" dirty="0" smtClean="0"/>
              <a:t> </a:t>
            </a:r>
            <a:r>
              <a:rPr lang="en-US" sz="2400" dirty="0" err="1" smtClean="0"/>
              <a:t>te</a:t>
            </a:r>
            <a:r>
              <a:rPr lang="en-US" sz="2400" dirty="0" smtClean="0"/>
              <a:t> 5 </a:t>
            </a:r>
            <a:r>
              <a:rPr lang="en-US" sz="2400" dirty="0" err="1" smtClean="0"/>
              <a:t>papirića</a:t>
            </a:r>
            <a:r>
              <a:rPr lang="en-US" sz="2400" dirty="0" smtClean="0"/>
              <a:t> </a:t>
            </a:r>
            <a:r>
              <a:rPr lang="en-US" sz="2400" dirty="0" err="1" smtClean="0"/>
              <a:t>odbacite</a:t>
            </a:r>
            <a:r>
              <a:rPr lang="en-US" sz="2400" dirty="0" smtClean="0"/>
              <a:t> – </a:t>
            </a:r>
            <a:r>
              <a:rPr lang="en-US" sz="2400" dirty="0" err="1" smtClean="0"/>
              <a:t>tih</a:t>
            </a:r>
            <a:r>
              <a:rPr lang="en-US" sz="2400" dirty="0" smtClean="0"/>
              <a:t> </a:t>
            </a:r>
            <a:r>
              <a:rPr lang="en-US" sz="2400" dirty="0" err="1" smtClean="0"/>
              <a:t>osobina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uloga</a:t>
            </a:r>
            <a:r>
              <a:rPr lang="en-US" sz="2400" dirty="0" smtClean="0"/>
              <a:t> se </a:t>
            </a:r>
            <a:r>
              <a:rPr lang="en-US" sz="2400" dirty="0" err="1" smtClean="0"/>
              <a:t>morate</a:t>
            </a:r>
            <a:r>
              <a:rPr lang="en-US" sz="2400" dirty="0" smtClean="0"/>
              <a:t> </a:t>
            </a:r>
            <a:r>
              <a:rPr lang="en-US" sz="2400" dirty="0" err="1" smtClean="0"/>
              <a:t>odreći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Je li </a:t>
            </a:r>
            <a:r>
              <a:rPr lang="en-US" sz="2400" dirty="0" err="1" smtClean="0"/>
              <a:t>bilo</a:t>
            </a:r>
            <a:r>
              <a:rPr lang="en-US" sz="2400" dirty="0" smtClean="0"/>
              <a:t> </a:t>
            </a:r>
            <a:r>
              <a:rPr lang="en-US" sz="2400" dirty="0" err="1" smtClean="0"/>
              <a:t>lako</a:t>
            </a:r>
            <a:r>
              <a:rPr lang="en-US" sz="2400" dirty="0" smtClean="0"/>
              <a:t> </a:t>
            </a:r>
            <a:r>
              <a:rPr lang="en-US" sz="2400" dirty="0" err="1" smtClean="0"/>
              <a:t>odbaciti</a:t>
            </a:r>
            <a:r>
              <a:rPr lang="en-US" sz="2400" dirty="0" smtClean="0"/>
              <a:t> </a:t>
            </a:r>
            <a:r>
              <a:rPr lang="en-US" sz="2400" dirty="0" err="1" smtClean="0"/>
              <a:t>listiće</a:t>
            </a:r>
            <a:r>
              <a:rPr lang="en-US" sz="2400" dirty="0" smtClean="0"/>
              <a:t>? </a:t>
            </a:r>
            <a:r>
              <a:rPr lang="en-US" sz="2400" dirty="0" err="1" smtClean="0"/>
              <a:t>Jeste</a:t>
            </a:r>
            <a:r>
              <a:rPr lang="en-US" sz="2400" dirty="0" smtClean="0"/>
              <a:t> li vi </a:t>
            </a:r>
            <a:r>
              <a:rPr lang="en-US" sz="2400" dirty="0" err="1" smtClean="0"/>
              <a:t>dalje</a:t>
            </a:r>
            <a:r>
              <a:rPr lang="en-US" sz="2400" dirty="0" smtClean="0"/>
              <a:t> ta </a:t>
            </a:r>
            <a:r>
              <a:rPr lang="en-US" sz="2400" dirty="0" err="1" smtClean="0"/>
              <a:t>osoba</a:t>
            </a:r>
            <a:r>
              <a:rPr lang="en-US" sz="2400" dirty="0" smtClean="0"/>
              <a:t> </a:t>
            </a:r>
            <a:r>
              <a:rPr lang="en-US" sz="2400" dirty="0" err="1" smtClean="0"/>
              <a:t>nakon</a:t>
            </a:r>
            <a:r>
              <a:rPr lang="en-US" sz="2400" dirty="0" smtClean="0"/>
              <a:t> </a:t>
            </a:r>
            <a:r>
              <a:rPr lang="en-US" sz="2400" dirty="0" err="1" smtClean="0"/>
              <a:t>odbacivanja</a:t>
            </a:r>
            <a:r>
              <a:rPr lang="en-US" sz="2400" dirty="0" smtClean="0"/>
              <a:t> </a:t>
            </a:r>
            <a:r>
              <a:rPr lang="en-US" sz="2400" dirty="0" err="1" smtClean="0"/>
              <a:t>listića</a:t>
            </a:r>
            <a:r>
              <a:rPr lang="en-US" sz="2400" dirty="0" smtClean="0"/>
              <a:t>?</a:t>
            </a:r>
            <a:endParaRPr lang="hr-HR" sz="2400" dirty="0"/>
          </a:p>
        </p:txBody>
      </p:sp>
      <p:sp>
        <p:nvSpPr>
          <p:cNvPr id="4" name="Explosion 1 3"/>
          <p:cNvSpPr/>
          <p:nvPr/>
        </p:nvSpPr>
        <p:spPr>
          <a:xfrm>
            <a:off x="742985" y="1988840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4984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980728"/>
            <a:ext cx="9840957" cy="568863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IDENTITET – </a:t>
            </a:r>
            <a:r>
              <a:rPr lang="en-US" sz="2400" dirty="0" err="1" smtClean="0"/>
              <a:t>skup</a:t>
            </a:r>
            <a:r>
              <a:rPr lang="en-US" sz="2400" dirty="0" smtClean="0"/>
              <a:t> </a:t>
            </a:r>
            <a:r>
              <a:rPr lang="en-US" sz="2400" dirty="0" err="1" smtClean="0"/>
              <a:t>ideja</a:t>
            </a:r>
            <a:r>
              <a:rPr lang="en-US" sz="2400" dirty="0" smtClean="0"/>
              <a:t> o tome </a:t>
            </a:r>
            <a:r>
              <a:rPr lang="en-US" sz="2400" dirty="0" err="1" smtClean="0"/>
              <a:t>tko</a:t>
            </a:r>
            <a:r>
              <a:rPr lang="en-US" sz="2400" dirty="0" smtClean="0"/>
              <a:t> </a:t>
            </a:r>
            <a:r>
              <a:rPr lang="en-US" sz="2400" dirty="0" err="1" smtClean="0"/>
              <a:t>smo</a:t>
            </a:r>
            <a:r>
              <a:rPr lang="en-US" sz="2400" dirty="0" smtClean="0"/>
              <a:t>, </a:t>
            </a:r>
            <a:r>
              <a:rPr lang="en-US" sz="2400" dirty="0" err="1" smtClean="0"/>
              <a:t>što</a:t>
            </a:r>
            <a:r>
              <a:rPr lang="en-US" sz="2400" dirty="0" smtClean="0"/>
              <a:t> </a:t>
            </a:r>
            <a:r>
              <a:rPr lang="en-US" sz="2400" dirty="0" err="1" smtClean="0"/>
              <a:t>smo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kakvi</a:t>
            </a:r>
            <a:r>
              <a:rPr lang="en-US" sz="2400" dirty="0" smtClean="0"/>
              <a:t> </a:t>
            </a:r>
            <a:r>
              <a:rPr lang="en-US" sz="2400" dirty="0" err="1" smtClean="0"/>
              <a:t>smo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Identitet</a:t>
            </a:r>
            <a:r>
              <a:rPr lang="en-US" sz="2400" dirty="0" smtClean="0"/>
              <a:t> </a:t>
            </a:r>
            <a:r>
              <a:rPr lang="en-US" sz="2400" dirty="0" err="1" smtClean="0"/>
              <a:t>stječemo</a:t>
            </a:r>
            <a:r>
              <a:rPr lang="en-US" sz="2400" dirty="0" smtClean="0"/>
              <a:t> </a:t>
            </a:r>
            <a:r>
              <a:rPr lang="en-US" sz="2400" dirty="0" err="1" smtClean="0"/>
              <a:t>procesom</a:t>
            </a:r>
            <a:r>
              <a:rPr lang="en-US" sz="2400" dirty="0" smtClean="0"/>
              <a:t> SOCIJALIZACIJE</a:t>
            </a:r>
          </a:p>
          <a:p>
            <a:endParaRPr lang="en-US" sz="2400" dirty="0"/>
          </a:p>
          <a:p>
            <a:r>
              <a:rPr lang="en-US" sz="2400" dirty="0" err="1" smtClean="0"/>
              <a:t>Vratite</a:t>
            </a:r>
            <a:r>
              <a:rPr lang="en-US" sz="2400" dirty="0" smtClean="0"/>
              <a:t> </a:t>
            </a:r>
            <a:r>
              <a:rPr lang="en-US" sz="2400" dirty="0" err="1" smtClean="0"/>
              <a:t>onih</a:t>
            </a:r>
            <a:r>
              <a:rPr lang="en-US" sz="2400" dirty="0" smtClean="0"/>
              <a:t> 5 </a:t>
            </a:r>
            <a:r>
              <a:rPr lang="en-US" sz="2400" dirty="0" err="1" smtClean="0"/>
              <a:t>papirića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ste</a:t>
            </a:r>
            <a:r>
              <a:rPr lang="en-US" sz="2400" dirty="0" smtClean="0"/>
              <a:t> </a:t>
            </a:r>
            <a:r>
              <a:rPr lang="en-US" sz="2400" dirty="0" err="1" smtClean="0"/>
              <a:t>maknuli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sve</a:t>
            </a:r>
            <a:r>
              <a:rPr lang="en-US" sz="2400" dirty="0" smtClean="0"/>
              <a:t> </a:t>
            </a:r>
            <a:r>
              <a:rPr lang="en-US" sz="2400" dirty="0" err="1" smtClean="0"/>
              <a:t>ih</a:t>
            </a:r>
            <a:r>
              <a:rPr lang="en-US" sz="2400" dirty="0" smtClean="0"/>
              <a:t> </a:t>
            </a:r>
            <a:r>
              <a:rPr lang="en-US" sz="2400" dirty="0" err="1" smtClean="0"/>
              <a:t>stavite</a:t>
            </a:r>
            <a:r>
              <a:rPr lang="en-US" sz="2400" dirty="0" smtClean="0"/>
              <a:t> </a:t>
            </a:r>
            <a:r>
              <a:rPr lang="en-US" sz="2400" dirty="0" err="1" smtClean="0"/>
              <a:t>ispred</a:t>
            </a:r>
            <a:r>
              <a:rPr lang="en-US" sz="2400" dirty="0" smtClean="0"/>
              <a:t> </a:t>
            </a:r>
            <a:r>
              <a:rPr lang="en-US" sz="2400" dirty="0" err="1" smtClean="0"/>
              <a:t>sebe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err="1" smtClean="0"/>
              <a:t>Identitet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usvajamo</a:t>
            </a:r>
            <a:r>
              <a:rPr lang="en-US" sz="2400" dirty="0" smtClean="0"/>
              <a:t> u </a:t>
            </a:r>
            <a:r>
              <a:rPr lang="en-US" sz="2400" dirty="0" err="1" smtClean="0"/>
              <a:t>prvim</a:t>
            </a:r>
            <a:r>
              <a:rPr lang="en-US" sz="2400" dirty="0" smtClean="0"/>
              <a:t> </a:t>
            </a:r>
            <a:r>
              <a:rPr lang="en-US" sz="2400" dirty="0" err="1" smtClean="0"/>
              <a:t>godinama</a:t>
            </a:r>
            <a:r>
              <a:rPr lang="en-US" sz="2400" dirty="0" smtClean="0"/>
              <a:t> </a:t>
            </a:r>
            <a:r>
              <a:rPr lang="en-US" sz="2400" dirty="0" err="1" smtClean="0"/>
              <a:t>tijekom</a:t>
            </a:r>
            <a:r>
              <a:rPr lang="en-US" sz="2400" dirty="0" smtClean="0"/>
              <a:t> </a:t>
            </a:r>
            <a:r>
              <a:rPr lang="en-US" sz="2400" dirty="0" err="1" smtClean="0"/>
              <a:t>primarne</a:t>
            </a:r>
            <a:r>
              <a:rPr lang="en-US" sz="2400" dirty="0" smtClean="0"/>
              <a:t> </a:t>
            </a:r>
            <a:r>
              <a:rPr lang="en-US" sz="2400" dirty="0" err="1" smtClean="0"/>
              <a:t>socijalizacije</a:t>
            </a:r>
            <a:r>
              <a:rPr lang="en-US" sz="2400" dirty="0" smtClean="0"/>
              <a:t> </a:t>
            </a:r>
            <a:r>
              <a:rPr lang="en-US" sz="2400" dirty="0" err="1" smtClean="0"/>
              <a:t>života</a:t>
            </a:r>
            <a:r>
              <a:rPr lang="en-US" sz="2400" dirty="0" smtClean="0"/>
              <a:t> </a:t>
            </a:r>
            <a:r>
              <a:rPr lang="en-US" sz="2400" dirty="0" err="1" smtClean="0"/>
              <a:t>nazivamo</a:t>
            </a:r>
            <a:r>
              <a:rPr lang="en-US" sz="2400" dirty="0" smtClean="0"/>
              <a:t> PRIMARNI IDENTITET, a </a:t>
            </a:r>
            <a:r>
              <a:rPr lang="en-US" sz="2400" dirty="0" err="1" smtClean="0"/>
              <a:t>onaj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usvajamo</a:t>
            </a:r>
            <a:r>
              <a:rPr lang="en-US" sz="2400" dirty="0" smtClean="0"/>
              <a:t> </a:t>
            </a:r>
            <a:r>
              <a:rPr lang="en-US" sz="2400" dirty="0" err="1" smtClean="0"/>
              <a:t>tijekom</a:t>
            </a:r>
            <a:r>
              <a:rPr lang="en-US" sz="2400" dirty="0" smtClean="0"/>
              <a:t> </a:t>
            </a:r>
            <a:r>
              <a:rPr lang="en-US" sz="2400" dirty="0" err="1" smtClean="0"/>
              <a:t>sekundarne</a:t>
            </a:r>
            <a:r>
              <a:rPr lang="en-US" sz="2400" dirty="0" smtClean="0"/>
              <a:t> </a:t>
            </a:r>
            <a:r>
              <a:rPr lang="en-US" sz="2400" dirty="0" err="1" smtClean="0"/>
              <a:t>socijalizacije</a:t>
            </a:r>
            <a:r>
              <a:rPr lang="en-US" sz="2400" dirty="0" smtClean="0"/>
              <a:t>, SEKUNDARNI IDENTITET</a:t>
            </a:r>
            <a:endParaRPr lang="hr-HR" sz="2400" dirty="0"/>
          </a:p>
        </p:txBody>
      </p:sp>
      <p:sp>
        <p:nvSpPr>
          <p:cNvPr id="4" name="Explosion 1 3"/>
          <p:cNvSpPr/>
          <p:nvPr/>
        </p:nvSpPr>
        <p:spPr>
          <a:xfrm>
            <a:off x="333772" y="3614565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1269876" y="3614565"/>
            <a:ext cx="9505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Na </a:t>
            </a:r>
            <a:r>
              <a:rPr lang="en-US" sz="2400" dirty="0" err="1" smtClean="0"/>
              <a:t>jednu</a:t>
            </a:r>
            <a:r>
              <a:rPr lang="en-US" sz="2400" dirty="0" smtClean="0"/>
              <a:t> </a:t>
            </a:r>
            <a:r>
              <a:rPr lang="en-US" sz="2400" dirty="0" err="1" smtClean="0"/>
              <a:t>stranu</a:t>
            </a:r>
            <a:r>
              <a:rPr lang="en-US" sz="2400" dirty="0" smtClean="0"/>
              <a:t> </a:t>
            </a:r>
            <a:r>
              <a:rPr lang="en-US" sz="2400" dirty="0" err="1" smtClean="0"/>
              <a:t>stavite</a:t>
            </a:r>
            <a:r>
              <a:rPr lang="en-US" sz="2400" dirty="0" smtClean="0"/>
              <a:t> one </a:t>
            </a:r>
            <a:r>
              <a:rPr lang="en-US" sz="2400" dirty="0" err="1" smtClean="0"/>
              <a:t>identitete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je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utjecala</a:t>
            </a:r>
            <a:r>
              <a:rPr lang="en-US" sz="2400" dirty="0" smtClean="0"/>
              <a:t> </a:t>
            </a:r>
            <a:r>
              <a:rPr lang="en-US" sz="2400" dirty="0" err="1" smtClean="0"/>
              <a:t>primarna</a:t>
            </a:r>
            <a:r>
              <a:rPr lang="en-US" sz="2400" dirty="0" smtClean="0"/>
              <a:t> </a:t>
            </a:r>
            <a:r>
              <a:rPr lang="en-US" sz="2400" dirty="0" err="1" smtClean="0"/>
              <a:t>socijalizacija</a:t>
            </a:r>
            <a:r>
              <a:rPr lang="en-US" sz="2400" dirty="0" smtClean="0"/>
              <a:t>, a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drugu</a:t>
            </a:r>
            <a:r>
              <a:rPr lang="en-US" sz="2400" dirty="0" smtClean="0"/>
              <a:t> </a:t>
            </a:r>
            <a:r>
              <a:rPr lang="en-US" sz="2400" dirty="0" err="1" smtClean="0"/>
              <a:t>stranu</a:t>
            </a:r>
            <a:r>
              <a:rPr lang="en-US" sz="2400" dirty="0" smtClean="0"/>
              <a:t> one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je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utjecala</a:t>
            </a:r>
            <a:r>
              <a:rPr lang="en-US" sz="2400" dirty="0" smtClean="0"/>
              <a:t> </a:t>
            </a:r>
            <a:r>
              <a:rPr lang="en-US" sz="2400" dirty="0" err="1" smtClean="0"/>
              <a:t>sekundarna</a:t>
            </a:r>
            <a:r>
              <a:rPr lang="en-US" sz="2400" dirty="0" smtClean="0"/>
              <a:t> </a:t>
            </a:r>
            <a:r>
              <a:rPr lang="en-US" sz="2400" dirty="0" err="1" smtClean="0"/>
              <a:t>socijalizacija</a:t>
            </a:r>
            <a:r>
              <a:rPr lang="en-US" sz="2400" dirty="0" smtClean="0"/>
              <a:t>. </a:t>
            </a:r>
            <a:r>
              <a:rPr lang="en-US" sz="2400" dirty="0" err="1" smtClean="0"/>
              <a:t>Prepišite</a:t>
            </a:r>
            <a:r>
              <a:rPr lang="en-US" sz="2400" dirty="0" smtClean="0"/>
              <a:t> u </a:t>
            </a:r>
            <a:r>
              <a:rPr lang="en-US" sz="2400" dirty="0" err="1" smtClean="0"/>
              <a:t>bilježnicu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1434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452719"/>
            <a:ext cx="9401293" cy="579568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Koji od </a:t>
            </a:r>
            <a:r>
              <a:rPr lang="en-US" sz="2400" dirty="0" err="1" smtClean="0"/>
              <a:t>svojih</a:t>
            </a:r>
            <a:r>
              <a:rPr lang="en-US" sz="2400" dirty="0" smtClean="0"/>
              <a:t> </a:t>
            </a:r>
            <a:r>
              <a:rPr lang="en-US" sz="2400" dirty="0" err="1" smtClean="0"/>
              <a:t>identiteta</a:t>
            </a:r>
            <a:r>
              <a:rPr lang="en-US" sz="2400" dirty="0" smtClean="0"/>
              <a:t> </a:t>
            </a:r>
            <a:r>
              <a:rPr lang="en-US" sz="2400" dirty="0" err="1" smtClean="0"/>
              <a:t>niste</a:t>
            </a:r>
            <a:r>
              <a:rPr lang="en-US" sz="2400" dirty="0" smtClean="0"/>
              <a:t> </a:t>
            </a:r>
            <a:r>
              <a:rPr lang="en-US" sz="2400" dirty="0" err="1" smtClean="0"/>
              <a:t>sami</a:t>
            </a:r>
            <a:r>
              <a:rPr lang="en-US" sz="2400" dirty="0" smtClean="0"/>
              <a:t> </a:t>
            </a:r>
            <a:r>
              <a:rPr lang="en-US" sz="2400" dirty="0" err="1" smtClean="0"/>
              <a:t>izabrali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algn="just"/>
            <a:r>
              <a:rPr lang="en-US" sz="2400" dirty="0"/>
              <a:t>Na </a:t>
            </a:r>
            <a:r>
              <a:rPr lang="en-US" sz="2400" dirty="0" err="1"/>
              <a:t>temelju</a:t>
            </a:r>
            <a:r>
              <a:rPr lang="en-US" sz="2400" dirty="0"/>
              <a:t> </a:t>
            </a:r>
            <a:r>
              <a:rPr lang="en-US" sz="2400" dirty="0" err="1"/>
              <a:t>bioloških</a:t>
            </a:r>
            <a:r>
              <a:rPr lang="en-US" sz="2400" dirty="0"/>
              <a:t> </a:t>
            </a:r>
            <a:r>
              <a:rPr lang="en-US" sz="2400" dirty="0" err="1"/>
              <a:t>značajki</a:t>
            </a:r>
            <a:r>
              <a:rPr lang="en-US" sz="2400" dirty="0"/>
              <a:t> </a:t>
            </a:r>
            <a:r>
              <a:rPr lang="en-US" sz="2400" dirty="0" err="1"/>
              <a:t>odeđuje</a:t>
            </a:r>
            <a:r>
              <a:rPr lang="en-US" sz="2400" dirty="0"/>
              <a:t> se </a:t>
            </a:r>
            <a:r>
              <a:rPr lang="en-US" sz="2400" dirty="0" err="1"/>
              <a:t>pripadnost</a:t>
            </a:r>
            <a:r>
              <a:rPr lang="en-US" sz="2400" dirty="0"/>
              <a:t> </a:t>
            </a:r>
            <a:r>
              <a:rPr lang="en-US" sz="2400" dirty="0" err="1"/>
              <a:t>određenom</a:t>
            </a:r>
            <a:r>
              <a:rPr lang="en-US" sz="2400" dirty="0"/>
              <a:t> RODU I SPOLU </a:t>
            </a:r>
            <a:r>
              <a:rPr lang="en-US" sz="2400" dirty="0" err="1"/>
              <a:t>te</a:t>
            </a:r>
            <a:r>
              <a:rPr lang="en-US" sz="2400" dirty="0"/>
              <a:t> se </a:t>
            </a:r>
            <a:r>
              <a:rPr lang="en-US" sz="2400" dirty="0" err="1"/>
              <a:t>prema</a:t>
            </a:r>
            <a:r>
              <a:rPr lang="en-US" sz="2400" dirty="0"/>
              <a:t> tome </a:t>
            </a:r>
            <a:r>
              <a:rPr lang="en-US" sz="2400" dirty="0" err="1"/>
              <a:t>odgaja</a:t>
            </a:r>
            <a:r>
              <a:rPr lang="en-US" sz="2400" dirty="0"/>
              <a:t> </a:t>
            </a:r>
            <a:r>
              <a:rPr lang="en-US" sz="2400" dirty="0" err="1"/>
              <a:t>dijete</a:t>
            </a:r>
            <a:r>
              <a:rPr lang="en-US" sz="2400" dirty="0"/>
              <a:t>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razvija</a:t>
            </a:r>
            <a:r>
              <a:rPr lang="en-US" sz="2400" dirty="0"/>
              <a:t> </a:t>
            </a:r>
            <a:r>
              <a:rPr lang="en-US" sz="2400" dirty="0" err="1"/>
              <a:t>svoju</a:t>
            </a:r>
            <a:r>
              <a:rPr lang="en-US" sz="2400" dirty="0"/>
              <a:t> </a:t>
            </a:r>
            <a:r>
              <a:rPr lang="en-US" sz="2400" dirty="0" smtClean="0"/>
              <a:t>OSOBNOST</a:t>
            </a:r>
          </a:p>
          <a:p>
            <a:pPr algn="just"/>
            <a:r>
              <a:rPr lang="en-US" sz="2400" dirty="0" err="1"/>
              <a:t>Kada</a:t>
            </a:r>
            <a:r>
              <a:rPr lang="en-US" sz="2400" dirty="0"/>
              <a:t> </a:t>
            </a:r>
            <a:r>
              <a:rPr lang="en-US" sz="2400" dirty="0" err="1"/>
              <a:t>dijete</a:t>
            </a:r>
            <a:r>
              <a:rPr lang="en-US" sz="2400" dirty="0"/>
              <a:t> </a:t>
            </a:r>
            <a:r>
              <a:rPr lang="en-US" sz="2400" dirty="0" err="1"/>
              <a:t>uočava</a:t>
            </a:r>
            <a:r>
              <a:rPr lang="en-US" sz="2400" dirty="0"/>
              <a:t> da se </a:t>
            </a:r>
            <a:r>
              <a:rPr lang="en-US" sz="2400" dirty="0" err="1"/>
              <a:t>razlikuje</a:t>
            </a:r>
            <a:r>
              <a:rPr lang="en-US" sz="2400" dirty="0"/>
              <a:t> od </a:t>
            </a:r>
            <a:r>
              <a:rPr lang="en-US" sz="2400" dirty="0" err="1"/>
              <a:t>drugih</a:t>
            </a:r>
            <a:r>
              <a:rPr lang="en-US" sz="2400" dirty="0"/>
              <a:t> </a:t>
            </a:r>
            <a:r>
              <a:rPr lang="en-US" sz="2400" dirty="0" err="1"/>
              <a:t>ljudi</a:t>
            </a:r>
            <a:r>
              <a:rPr lang="en-US" sz="2400" dirty="0"/>
              <a:t> u </a:t>
            </a:r>
            <a:r>
              <a:rPr lang="en-US" sz="2400" dirty="0" err="1"/>
              <a:t>svojoj</a:t>
            </a:r>
            <a:r>
              <a:rPr lang="en-US" sz="2400" dirty="0"/>
              <a:t> </a:t>
            </a:r>
            <a:r>
              <a:rPr lang="en-US" sz="2400" dirty="0" err="1"/>
              <a:t>okolini</a:t>
            </a:r>
            <a:r>
              <a:rPr lang="en-US" sz="2400" dirty="0"/>
              <a:t>, ono </a:t>
            </a:r>
            <a:r>
              <a:rPr lang="en-US" sz="2400" dirty="0" err="1"/>
              <a:t>razvija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INDIVIDUALNI IDENTITET </a:t>
            </a:r>
            <a:r>
              <a:rPr lang="en-US" sz="2400" dirty="0"/>
              <a:t>– </a:t>
            </a:r>
            <a:r>
              <a:rPr lang="en-US" sz="2400" dirty="0" err="1"/>
              <a:t>naglašava</a:t>
            </a:r>
            <a:r>
              <a:rPr lang="en-US" sz="2400" dirty="0"/>
              <a:t> </a:t>
            </a:r>
            <a:r>
              <a:rPr lang="en-US" sz="2400" dirty="0" err="1"/>
              <a:t>razlike</a:t>
            </a:r>
            <a:r>
              <a:rPr lang="en-US" sz="2400" dirty="0"/>
              <a:t> u </a:t>
            </a:r>
            <a:r>
              <a:rPr lang="en-US" sz="2400" dirty="0" err="1"/>
              <a:t>odnosu</a:t>
            </a:r>
            <a:r>
              <a:rPr lang="en-US" sz="2400" dirty="0"/>
              <a:t> </a:t>
            </a:r>
            <a:r>
              <a:rPr lang="en-US" sz="2400" dirty="0" err="1"/>
              <a:t>prema</a:t>
            </a:r>
            <a:r>
              <a:rPr lang="en-US" sz="2400" dirty="0"/>
              <a:t> </a:t>
            </a:r>
            <a:r>
              <a:rPr lang="en-US" sz="2400" dirty="0" err="1"/>
              <a:t>drugima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err="1"/>
              <a:t>Socijalizacijom</a:t>
            </a:r>
            <a:r>
              <a:rPr lang="en-US" sz="2400" dirty="0"/>
              <a:t> u </a:t>
            </a:r>
            <a:r>
              <a:rPr lang="en-US" sz="2400" dirty="0" err="1"/>
              <a:t>svojoj</a:t>
            </a:r>
            <a:r>
              <a:rPr lang="en-US" sz="2400" dirty="0"/>
              <a:t> </a:t>
            </a:r>
            <a:r>
              <a:rPr lang="en-US" sz="2400" dirty="0" err="1"/>
              <a:t>okolini</a:t>
            </a:r>
            <a:r>
              <a:rPr lang="en-US" sz="2400" dirty="0"/>
              <a:t> </a:t>
            </a:r>
            <a:r>
              <a:rPr lang="en-US" sz="2400" dirty="0" err="1"/>
              <a:t>dijete</a:t>
            </a:r>
            <a:r>
              <a:rPr lang="en-US" sz="2400" dirty="0"/>
              <a:t> </a:t>
            </a:r>
            <a:r>
              <a:rPr lang="en-US" sz="2400" dirty="0" err="1"/>
              <a:t>uočava</a:t>
            </a:r>
            <a:r>
              <a:rPr lang="en-US" sz="2400" dirty="0"/>
              <a:t> </a:t>
            </a:r>
            <a:r>
              <a:rPr lang="en-US" sz="2400" dirty="0" err="1"/>
              <a:t>sličnosti</a:t>
            </a:r>
            <a:r>
              <a:rPr lang="en-US" sz="2400" dirty="0"/>
              <a:t> s </a:t>
            </a:r>
            <a:r>
              <a:rPr lang="en-US" sz="2400" dirty="0" err="1"/>
              <a:t>članovima</a:t>
            </a:r>
            <a:r>
              <a:rPr lang="en-US" sz="2400" dirty="0"/>
              <a:t> </a:t>
            </a:r>
            <a:r>
              <a:rPr lang="en-US" sz="2400" dirty="0" err="1"/>
              <a:t>svoje</a:t>
            </a:r>
            <a:r>
              <a:rPr lang="en-US" sz="2400" dirty="0"/>
              <a:t> </a:t>
            </a:r>
            <a:r>
              <a:rPr lang="en-US" sz="2400" dirty="0" err="1"/>
              <a:t>obitelji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ljudi</a:t>
            </a:r>
            <a:r>
              <a:rPr lang="en-US" sz="2400" dirty="0"/>
              <a:t> </a:t>
            </a:r>
            <a:r>
              <a:rPr lang="en-US" sz="2400" dirty="0" err="1"/>
              <a:t>koji</a:t>
            </a:r>
            <a:r>
              <a:rPr lang="en-US" sz="2400" dirty="0"/>
              <a:t> </a:t>
            </a:r>
            <a:r>
              <a:rPr lang="en-US" sz="2400" dirty="0" err="1"/>
              <a:t>ga</a:t>
            </a:r>
            <a:r>
              <a:rPr lang="en-US" sz="2400" dirty="0"/>
              <a:t> </a:t>
            </a:r>
            <a:r>
              <a:rPr lang="en-US" sz="2400" dirty="0" err="1"/>
              <a:t>okružuju</a:t>
            </a:r>
            <a:r>
              <a:rPr lang="en-US" sz="2400" dirty="0"/>
              <a:t> (SRODSTVO, ETNICITET)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taj</a:t>
            </a:r>
            <a:r>
              <a:rPr lang="en-US" sz="2400" dirty="0"/>
              <a:t> </a:t>
            </a:r>
            <a:r>
              <a:rPr lang="en-US" sz="2400" dirty="0" err="1"/>
              <a:t>način</a:t>
            </a:r>
            <a:r>
              <a:rPr lang="en-US" sz="2400" dirty="0"/>
              <a:t> </a:t>
            </a:r>
            <a:r>
              <a:rPr lang="en-US" sz="2400" dirty="0" err="1"/>
              <a:t>razvija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KOLEKTIVNI IDENTITET</a:t>
            </a:r>
            <a:endParaRPr lang="hr-HR" sz="2400" b="1" dirty="0">
              <a:solidFill>
                <a:srgbClr val="C00000"/>
              </a:solidFill>
            </a:endParaRP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 smtClean="0"/>
          </a:p>
          <a:p>
            <a:pPr algn="just"/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250245" y="1170984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PRIMARNI IDENTITET</a:t>
            </a:r>
          </a:p>
        </p:txBody>
      </p:sp>
    </p:spTree>
    <p:extLst>
      <p:ext uri="{BB962C8B-B14F-4D97-AF65-F5344CB8AC3E}">
        <p14:creationId xmlns:p14="http://schemas.microsoft.com/office/powerpoint/2010/main" val="419523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452719"/>
            <a:ext cx="9401293" cy="579568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Rod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spol</a:t>
            </a:r>
            <a:r>
              <a:rPr lang="en-US" sz="2400" dirty="0"/>
              <a:t>, </a:t>
            </a:r>
            <a:r>
              <a:rPr lang="en-US" sz="2400" dirty="0" err="1"/>
              <a:t>osobnost</a:t>
            </a:r>
            <a:r>
              <a:rPr lang="en-US" sz="2400" dirty="0"/>
              <a:t>, </a:t>
            </a:r>
            <a:r>
              <a:rPr lang="en-US" sz="2400" dirty="0" err="1"/>
              <a:t>etnicitet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srodstvo</a:t>
            </a:r>
            <a:r>
              <a:rPr lang="en-US" sz="2400" dirty="0"/>
              <a:t> </a:t>
            </a:r>
            <a:r>
              <a:rPr lang="en-US" sz="2400" dirty="0" err="1"/>
              <a:t>značajke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primarnog</a:t>
            </a:r>
            <a:r>
              <a:rPr lang="en-US" sz="2400" dirty="0"/>
              <a:t> </a:t>
            </a:r>
            <a:r>
              <a:rPr lang="en-US" sz="2400" dirty="0" err="1" smtClean="0"/>
              <a:t>identiteta</a:t>
            </a:r>
            <a:endParaRPr lang="en-US" sz="2400" dirty="0" smtClean="0"/>
          </a:p>
          <a:p>
            <a:pPr algn="just"/>
            <a:endParaRPr lang="en-US" sz="2400" dirty="0"/>
          </a:p>
          <a:p>
            <a:pPr algn="just"/>
            <a:r>
              <a:rPr lang="en-US" sz="2400" dirty="0" err="1"/>
              <a:t>Kako</a:t>
            </a:r>
            <a:r>
              <a:rPr lang="en-US" sz="2400" dirty="0"/>
              <a:t> </a:t>
            </a:r>
            <a:r>
              <a:rPr lang="en-US" sz="2400" dirty="0" err="1"/>
              <a:t>ste</a:t>
            </a:r>
            <a:r>
              <a:rPr lang="en-US" sz="2400" dirty="0"/>
              <a:t> se </a:t>
            </a:r>
            <a:r>
              <a:rPr lang="en-US" sz="2400" dirty="0" err="1"/>
              <a:t>osjećali</a:t>
            </a:r>
            <a:r>
              <a:rPr lang="en-US" sz="2400" dirty="0"/>
              <a:t> </a:t>
            </a:r>
            <a:r>
              <a:rPr lang="en-US" sz="2400" dirty="0" err="1"/>
              <a:t>dok</a:t>
            </a:r>
            <a:r>
              <a:rPr lang="en-US" sz="2400" dirty="0"/>
              <a:t> </a:t>
            </a:r>
            <a:r>
              <a:rPr lang="en-US" sz="2400" dirty="0" err="1"/>
              <a:t>ste</a:t>
            </a:r>
            <a:r>
              <a:rPr lang="en-US" sz="2400" dirty="0"/>
              <a:t> </a:t>
            </a:r>
            <a:r>
              <a:rPr lang="en-US" sz="2400" dirty="0" err="1"/>
              <a:t>micali</a:t>
            </a:r>
            <a:r>
              <a:rPr lang="en-US" sz="2400" dirty="0"/>
              <a:t> </a:t>
            </a:r>
            <a:r>
              <a:rPr lang="en-US" sz="2400" dirty="0" err="1"/>
              <a:t>papiriće</a:t>
            </a:r>
            <a:r>
              <a:rPr lang="en-US" sz="2400" dirty="0" smtClean="0"/>
              <a:t>?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 err="1"/>
              <a:t>Odgovarajući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pitanje</a:t>
            </a:r>
            <a:r>
              <a:rPr lang="en-US" sz="2400" dirty="0"/>
              <a:t> </a:t>
            </a:r>
            <a:r>
              <a:rPr lang="en-US" sz="2400" i="1" dirty="0" err="1"/>
              <a:t>Tko</a:t>
            </a:r>
            <a:r>
              <a:rPr lang="en-US" sz="2400" i="1" dirty="0"/>
              <a:t> </a:t>
            </a:r>
            <a:r>
              <a:rPr lang="en-US" sz="2400" i="1" dirty="0" err="1"/>
              <a:t>sam</a:t>
            </a:r>
            <a:r>
              <a:rPr lang="en-US" sz="2400" i="1" dirty="0"/>
              <a:t> ja? </a:t>
            </a:r>
            <a:r>
              <a:rPr lang="en-US" sz="2400" dirty="0" err="1"/>
              <a:t>osvijestili</a:t>
            </a:r>
            <a:r>
              <a:rPr lang="en-US" sz="2400" dirty="0"/>
              <a:t> </a:t>
            </a:r>
            <a:r>
              <a:rPr lang="en-US" sz="2400" dirty="0" err="1"/>
              <a:t>ste</a:t>
            </a:r>
            <a:r>
              <a:rPr lang="en-US" sz="2400" dirty="0"/>
              <a:t> </a:t>
            </a:r>
            <a:r>
              <a:rPr lang="en-US" sz="2400" dirty="0" err="1"/>
              <a:t>svoju</a:t>
            </a:r>
            <a:r>
              <a:rPr lang="en-US" sz="2400" dirty="0"/>
              <a:t> </a:t>
            </a:r>
            <a:r>
              <a:rPr lang="en-US" sz="2400" dirty="0" err="1"/>
              <a:t>osobnost</a:t>
            </a:r>
            <a:r>
              <a:rPr lang="en-US" sz="2400" dirty="0"/>
              <a:t>, </a:t>
            </a:r>
            <a:r>
              <a:rPr lang="en-US" sz="2400" dirty="0" err="1"/>
              <a:t>odnosno</a:t>
            </a:r>
            <a:r>
              <a:rPr lang="en-US" sz="2400" dirty="0"/>
              <a:t> </a:t>
            </a:r>
            <a:r>
              <a:rPr lang="en-US" sz="2400" dirty="0" err="1"/>
              <a:t>osjećaj</a:t>
            </a:r>
            <a:r>
              <a:rPr lang="en-US" sz="2400" dirty="0"/>
              <a:t> </a:t>
            </a:r>
            <a:r>
              <a:rPr lang="en-US" sz="2400" dirty="0" err="1"/>
              <a:t>vlastitog</a:t>
            </a:r>
            <a:r>
              <a:rPr lang="en-US" sz="2400" dirty="0"/>
              <a:t> </a:t>
            </a:r>
            <a:r>
              <a:rPr lang="en-US" sz="2400" dirty="0" smtClean="0"/>
              <a:t>JA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 err="1"/>
              <a:t>Maske</a:t>
            </a:r>
            <a:r>
              <a:rPr lang="en-US" sz="2400" dirty="0"/>
              <a:t>… </a:t>
            </a:r>
            <a:r>
              <a:rPr lang="en-US" sz="2400" dirty="0" err="1"/>
              <a:t>gubimo</a:t>
            </a:r>
            <a:r>
              <a:rPr lang="en-US" sz="2400" dirty="0"/>
              <a:t> li </a:t>
            </a:r>
            <a:r>
              <a:rPr lang="en-US" sz="2400" dirty="0" err="1"/>
              <a:t>identitet</a:t>
            </a:r>
            <a:r>
              <a:rPr lang="en-US" sz="2400" dirty="0"/>
              <a:t> </a:t>
            </a:r>
            <a:r>
              <a:rPr lang="en-US" sz="2400" dirty="0" err="1"/>
              <a:t>kada</a:t>
            </a:r>
            <a:r>
              <a:rPr lang="en-US" sz="2400" dirty="0"/>
              <a:t> se ne </a:t>
            </a:r>
            <a:r>
              <a:rPr lang="en-US" sz="2400" dirty="0" err="1"/>
              <a:t>vidi</a:t>
            </a:r>
            <a:r>
              <a:rPr lang="en-US" sz="2400" dirty="0"/>
              <a:t> lice?</a:t>
            </a:r>
            <a:endParaRPr lang="hr-HR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310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479" y="452718"/>
            <a:ext cx="4095475" cy="5773564"/>
          </a:xfrm>
        </p:spPr>
      </p:pic>
      <p:sp>
        <p:nvSpPr>
          <p:cNvPr id="5" name="TextBox 4"/>
          <p:cNvSpPr txBox="1"/>
          <p:nvPr/>
        </p:nvSpPr>
        <p:spPr>
          <a:xfrm>
            <a:off x="645943" y="1052736"/>
            <a:ext cx="6960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Kojeg</a:t>
            </a:r>
            <a:r>
              <a:rPr lang="en-US" sz="2400" dirty="0" smtClean="0"/>
              <a:t> je </a:t>
            </a:r>
            <a:r>
              <a:rPr lang="en-US" sz="2400" dirty="0" err="1" smtClean="0"/>
              <a:t>spola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roda</a:t>
            </a:r>
            <a:r>
              <a:rPr lang="en-US" sz="2400" dirty="0" smtClean="0"/>
              <a:t> </a:t>
            </a:r>
            <a:r>
              <a:rPr lang="en-US" sz="2400" dirty="0" err="1" smtClean="0"/>
              <a:t>osoba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slici</a:t>
            </a:r>
            <a:r>
              <a:rPr lang="en-US" sz="2400" dirty="0" smtClean="0"/>
              <a:t>?</a:t>
            </a:r>
            <a:endParaRPr lang="hr-HR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12506" y="1622415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U </a:t>
            </a:r>
            <a:r>
              <a:rPr lang="en-US" sz="2400" dirty="0" err="1" smtClean="0"/>
              <a:t>čemu</a:t>
            </a:r>
            <a:r>
              <a:rPr lang="en-US" sz="2400" dirty="0" smtClean="0"/>
              <a:t> je </a:t>
            </a:r>
            <a:r>
              <a:rPr lang="en-US" sz="2400" dirty="0" err="1" smtClean="0"/>
              <a:t>razlika</a:t>
            </a:r>
            <a:r>
              <a:rPr lang="en-US" sz="2400" dirty="0" smtClean="0"/>
              <a:t> </a:t>
            </a:r>
            <a:r>
              <a:rPr lang="en-US" sz="2400" dirty="0" err="1" smtClean="0"/>
              <a:t>između</a:t>
            </a:r>
            <a:r>
              <a:rPr lang="en-US" sz="2400" dirty="0" smtClean="0"/>
              <a:t> </a:t>
            </a:r>
            <a:r>
              <a:rPr lang="en-US" sz="2400" dirty="0" err="1" smtClean="0"/>
              <a:t>pojmova</a:t>
            </a:r>
            <a:r>
              <a:rPr lang="en-US" sz="2400" dirty="0" smtClean="0"/>
              <a:t> </a:t>
            </a:r>
            <a:r>
              <a:rPr lang="en-US" sz="2400" dirty="0" err="1" smtClean="0"/>
              <a:t>spola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roda</a:t>
            </a:r>
            <a:r>
              <a:rPr lang="en-US" sz="2400" dirty="0" smtClean="0"/>
              <a:t>?</a:t>
            </a:r>
            <a:endParaRPr lang="hr-HR" sz="2400" dirty="0"/>
          </a:p>
        </p:txBody>
      </p:sp>
      <p:sp>
        <p:nvSpPr>
          <p:cNvPr id="7" name="Explosion 1 6"/>
          <p:cNvSpPr/>
          <p:nvPr/>
        </p:nvSpPr>
        <p:spPr>
          <a:xfrm>
            <a:off x="241048" y="2432070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8" name="TextBox 7"/>
          <p:cNvSpPr txBox="1"/>
          <p:nvPr/>
        </p:nvSpPr>
        <p:spPr>
          <a:xfrm>
            <a:off x="983963" y="2432070"/>
            <a:ext cx="6622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Što</a:t>
            </a:r>
            <a:r>
              <a:rPr lang="en-US" sz="2400" dirty="0" smtClean="0"/>
              <a:t> se </a:t>
            </a:r>
            <a:r>
              <a:rPr lang="en-US" sz="2400" dirty="0" err="1" smtClean="0"/>
              <a:t>očekuje</a:t>
            </a:r>
            <a:r>
              <a:rPr lang="en-US" sz="2400" dirty="0" smtClean="0"/>
              <a:t> od </a:t>
            </a:r>
            <a:r>
              <a:rPr lang="en-US" sz="2400" dirty="0" err="1" smtClean="0"/>
              <a:t>žena</a:t>
            </a:r>
            <a:r>
              <a:rPr lang="en-US" sz="2400" dirty="0" smtClean="0"/>
              <a:t>, a </a:t>
            </a:r>
            <a:r>
              <a:rPr lang="en-US" sz="2400" dirty="0" err="1" smtClean="0"/>
              <a:t>što</a:t>
            </a:r>
            <a:r>
              <a:rPr lang="en-US" sz="2400" dirty="0" smtClean="0"/>
              <a:t> od </a:t>
            </a:r>
            <a:r>
              <a:rPr lang="en-US" sz="2400" dirty="0" err="1" smtClean="0"/>
              <a:t>muškaraca</a:t>
            </a:r>
            <a:r>
              <a:rPr lang="en-US" sz="2400" dirty="0" smtClean="0"/>
              <a:t> u </a:t>
            </a:r>
            <a:r>
              <a:rPr lang="en-US" sz="2400" dirty="0" err="1" smtClean="0"/>
              <a:t>našem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društvu</a:t>
            </a:r>
            <a:r>
              <a:rPr lang="en-US" sz="2400" dirty="0" smtClean="0"/>
              <a:t>? </a:t>
            </a:r>
            <a:r>
              <a:rPr lang="en-US" sz="2400" dirty="0" err="1" smtClean="0"/>
              <a:t>Napišite</a:t>
            </a:r>
            <a:r>
              <a:rPr lang="en-US" sz="2400" dirty="0" smtClean="0"/>
              <a:t> u </a:t>
            </a:r>
            <a:r>
              <a:rPr lang="en-US" sz="2400" dirty="0" err="1" smtClean="0"/>
              <a:t>bilježnicu</a:t>
            </a:r>
            <a:r>
              <a:rPr lang="en-US" sz="2400" dirty="0" smtClean="0"/>
              <a:t>.</a:t>
            </a:r>
            <a:endParaRPr lang="hr-HR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77788" y="4149080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Sada</a:t>
            </a:r>
            <a:r>
              <a:rPr lang="en-US" sz="2400" dirty="0" smtClean="0"/>
              <a:t> </a:t>
            </a:r>
            <a:r>
              <a:rPr lang="en-US" sz="2400" dirty="0" err="1" smtClean="0"/>
              <a:t>zamijenite</a:t>
            </a:r>
            <a:r>
              <a:rPr lang="en-US" sz="2400" dirty="0" smtClean="0"/>
              <a:t> </a:t>
            </a:r>
            <a:r>
              <a:rPr lang="en-US" sz="2400" dirty="0" err="1" smtClean="0"/>
              <a:t>karakteristike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ono </a:t>
            </a:r>
            <a:r>
              <a:rPr lang="en-US" sz="2400" dirty="0" err="1" smtClean="0"/>
              <a:t>što</a:t>
            </a:r>
            <a:r>
              <a:rPr lang="en-US" sz="2400" dirty="0" smtClean="0"/>
              <a:t> se </a:t>
            </a:r>
            <a:r>
              <a:rPr lang="en-US" sz="2400" dirty="0" err="1" smtClean="0"/>
              <a:t>pridodali</a:t>
            </a:r>
            <a:r>
              <a:rPr lang="en-US" sz="2400" dirty="0" smtClean="0"/>
              <a:t> </a:t>
            </a:r>
            <a:r>
              <a:rPr lang="en-US" sz="2400" dirty="0" err="1" smtClean="0"/>
              <a:t>ženama</a:t>
            </a:r>
            <a:r>
              <a:rPr lang="en-US" sz="2400" dirty="0" smtClean="0"/>
              <a:t>, </a:t>
            </a:r>
            <a:r>
              <a:rPr lang="en-US" sz="2400" dirty="0" err="1" smtClean="0"/>
              <a:t>sada</a:t>
            </a:r>
            <a:r>
              <a:rPr lang="en-US" sz="2400" dirty="0" smtClean="0"/>
              <a:t> </a:t>
            </a:r>
            <a:r>
              <a:rPr lang="en-US" sz="2400" dirty="0" err="1" smtClean="0"/>
              <a:t>pridodajte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muškarcima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obrnuto</a:t>
            </a:r>
            <a:r>
              <a:rPr lang="en-US" sz="2400" dirty="0" smtClean="0"/>
              <a:t>.</a:t>
            </a:r>
            <a:endParaRPr lang="hr-HR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77788" y="5661248"/>
            <a:ext cx="727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Sve</a:t>
            </a:r>
            <a:r>
              <a:rPr lang="en-US" sz="2400" dirty="0" smtClean="0"/>
              <a:t> </a:t>
            </a:r>
            <a:r>
              <a:rPr lang="en-US" sz="2400" dirty="0" err="1" smtClean="0"/>
              <a:t>značajke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smo</a:t>
            </a:r>
            <a:r>
              <a:rPr lang="en-US" sz="2400" dirty="0" smtClean="0"/>
              <a:t> </a:t>
            </a:r>
            <a:r>
              <a:rPr lang="en-US" sz="2400" dirty="0" err="1" smtClean="0"/>
              <a:t>mogli</a:t>
            </a:r>
            <a:r>
              <a:rPr lang="en-US" sz="2400" dirty="0" smtClean="0"/>
              <a:t> </a:t>
            </a:r>
            <a:r>
              <a:rPr lang="en-US" sz="2400" dirty="0" err="1" smtClean="0"/>
              <a:t>zamijeniti</a:t>
            </a:r>
            <a:r>
              <a:rPr lang="en-US" sz="2400" dirty="0" smtClean="0"/>
              <a:t> </a:t>
            </a:r>
            <a:r>
              <a:rPr lang="en-US" sz="2400" dirty="0" err="1" smtClean="0"/>
              <a:t>predstavljaju</a:t>
            </a:r>
            <a:r>
              <a:rPr lang="en-US" sz="2400" dirty="0" smtClean="0"/>
              <a:t> ROD.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42685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452719"/>
            <a:ext cx="9401293" cy="579568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ROD je </a:t>
            </a:r>
            <a:r>
              <a:rPr lang="en-US" sz="2400" dirty="0" err="1" smtClean="0"/>
              <a:t>kulturno</a:t>
            </a:r>
            <a:r>
              <a:rPr lang="en-US" sz="2400" dirty="0" smtClean="0"/>
              <a:t> </a:t>
            </a:r>
            <a:r>
              <a:rPr lang="en-US" sz="2400" dirty="0" err="1" smtClean="0"/>
              <a:t>određen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odnosi</a:t>
            </a:r>
            <a:r>
              <a:rPr lang="en-US" sz="2400" dirty="0" smtClean="0"/>
              <a:t> se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sociokulturno</a:t>
            </a:r>
            <a:r>
              <a:rPr lang="en-US" sz="2400" dirty="0" smtClean="0"/>
              <a:t> </a:t>
            </a:r>
            <a:r>
              <a:rPr lang="en-US" sz="2400" dirty="0" err="1" smtClean="0"/>
              <a:t>određenje</a:t>
            </a:r>
            <a:r>
              <a:rPr lang="en-US" sz="2400" dirty="0" smtClean="0"/>
              <a:t> </a:t>
            </a:r>
            <a:r>
              <a:rPr lang="en-US" sz="2400" dirty="0" err="1" smtClean="0"/>
              <a:t>spolnih</a:t>
            </a:r>
            <a:r>
              <a:rPr lang="en-US" sz="2400" dirty="0" smtClean="0"/>
              <a:t> </a:t>
            </a:r>
            <a:r>
              <a:rPr lang="en-US" sz="2400" dirty="0" err="1" smtClean="0"/>
              <a:t>razlika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SPOL je </a:t>
            </a:r>
            <a:r>
              <a:rPr lang="en-US" sz="2400" dirty="0" err="1" smtClean="0"/>
              <a:t>biološki</a:t>
            </a:r>
            <a:r>
              <a:rPr lang="en-US" sz="2400" dirty="0" smtClean="0"/>
              <a:t> </a:t>
            </a:r>
            <a:r>
              <a:rPr lang="en-US" sz="2400" dirty="0" err="1" smtClean="0"/>
              <a:t>određen</a:t>
            </a:r>
            <a:r>
              <a:rPr lang="en-US" sz="2400" dirty="0" smtClean="0"/>
              <a:t>, a </a:t>
            </a:r>
            <a:r>
              <a:rPr lang="en-US" sz="2400" dirty="0" err="1" smtClean="0"/>
              <a:t>označuje</a:t>
            </a:r>
            <a:r>
              <a:rPr lang="en-US" sz="2400" dirty="0" smtClean="0"/>
              <a:t> </a:t>
            </a:r>
            <a:r>
              <a:rPr lang="en-US" sz="2400" dirty="0" err="1" smtClean="0"/>
              <a:t>tjelesne</a:t>
            </a:r>
            <a:r>
              <a:rPr lang="en-US" sz="2400" dirty="0" smtClean="0"/>
              <a:t> </a:t>
            </a:r>
            <a:r>
              <a:rPr lang="en-US" sz="2400" dirty="0" err="1" smtClean="0"/>
              <a:t>značajke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muškaraca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žena</a:t>
            </a:r>
            <a:r>
              <a:rPr lang="en-US" sz="2400" dirty="0" smtClean="0"/>
              <a:t> </a:t>
            </a:r>
            <a:endParaRPr lang="hr-HR" sz="2400" dirty="0" smtClean="0"/>
          </a:p>
          <a:p>
            <a:r>
              <a:rPr lang="en-US" sz="2400" dirty="0"/>
              <a:t>https://www.youtube.com/watch?v=u2Zem9ILPbc&amp;ab_channel=BuzzFeedVideo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SRODSTVO – </a:t>
            </a:r>
            <a:r>
              <a:rPr lang="en-US" sz="2400" dirty="0" err="1" smtClean="0"/>
              <a:t>veza</a:t>
            </a:r>
            <a:r>
              <a:rPr lang="en-US" sz="2400" dirty="0" smtClean="0"/>
              <a:t> s </a:t>
            </a:r>
            <a:r>
              <a:rPr lang="en-US" sz="2400" dirty="0" err="1" smtClean="0"/>
              <a:t>obitelji</a:t>
            </a:r>
            <a:r>
              <a:rPr lang="en-US" sz="2400" dirty="0" smtClean="0"/>
              <a:t> je </a:t>
            </a:r>
            <a:r>
              <a:rPr lang="hr-HR" sz="2400" dirty="0" smtClean="0"/>
              <a:t>t</a:t>
            </a:r>
            <a:r>
              <a:rPr lang="en-US" sz="2400" dirty="0" err="1" smtClean="0"/>
              <a:t>rajan</a:t>
            </a:r>
            <a:r>
              <a:rPr lang="en-US" sz="2400" dirty="0" smtClean="0"/>
              <a:t> </a:t>
            </a:r>
            <a:r>
              <a:rPr lang="en-US" sz="2400" dirty="0" err="1" smtClean="0"/>
              <a:t>izvor</a:t>
            </a:r>
            <a:r>
              <a:rPr lang="en-US" sz="2400" dirty="0" smtClean="0"/>
              <a:t> </a:t>
            </a:r>
            <a:r>
              <a:rPr lang="en-US" sz="2400" dirty="0" err="1" smtClean="0"/>
              <a:t>primarnog</a:t>
            </a:r>
            <a:r>
              <a:rPr lang="en-US" sz="2400" dirty="0" smtClean="0"/>
              <a:t> </a:t>
            </a:r>
            <a:r>
              <a:rPr lang="en-US" sz="2400" dirty="0" err="1" smtClean="0"/>
              <a:t>identiteta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ETNICITET – </a:t>
            </a:r>
            <a:r>
              <a:rPr lang="en-US" sz="2400" dirty="0" err="1" smtClean="0"/>
              <a:t>označuje</a:t>
            </a:r>
            <a:r>
              <a:rPr lang="en-US" sz="2400" dirty="0" smtClean="0"/>
              <a:t> </a:t>
            </a:r>
            <a:r>
              <a:rPr lang="en-US" sz="2400" dirty="0" err="1" smtClean="0"/>
              <a:t>pripadnost</a:t>
            </a:r>
            <a:r>
              <a:rPr lang="en-US" sz="2400" dirty="0" smtClean="0"/>
              <a:t> </a:t>
            </a:r>
            <a:r>
              <a:rPr lang="en-US" sz="2400" dirty="0" err="1" smtClean="0"/>
              <a:t>etničkoj</a:t>
            </a:r>
            <a:r>
              <a:rPr lang="en-US" sz="2400" dirty="0" smtClean="0"/>
              <a:t> </a:t>
            </a:r>
            <a:r>
              <a:rPr lang="en-US" sz="2400" dirty="0" err="1" smtClean="0"/>
              <a:t>zajednici</a:t>
            </a:r>
            <a:r>
              <a:rPr lang="en-US" sz="2400" dirty="0" smtClean="0"/>
              <a:t>, </a:t>
            </a:r>
            <a:r>
              <a:rPr lang="en-US" sz="2400" dirty="0" err="1" smtClean="0"/>
              <a:t>npr</a:t>
            </a:r>
            <a:r>
              <a:rPr lang="en-US" sz="2400" dirty="0" smtClean="0"/>
              <a:t>. </a:t>
            </a:r>
            <a:r>
              <a:rPr lang="en-US" sz="2400" dirty="0" err="1"/>
              <a:t>e</a:t>
            </a:r>
            <a:r>
              <a:rPr lang="en-US" sz="2400" dirty="0" err="1" smtClean="0"/>
              <a:t>tničkoj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rasnoj</a:t>
            </a:r>
            <a:r>
              <a:rPr lang="en-US" sz="2400" dirty="0" smtClean="0"/>
              <a:t> </a:t>
            </a:r>
            <a:r>
              <a:rPr lang="en-US" sz="2400" dirty="0" err="1" smtClean="0"/>
              <a:t>grupi</a:t>
            </a:r>
            <a:r>
              <a:rPr lang="en-US" sz="2400" dirty="0" smtClean="0"/>
              <a:t> (</a:t>
            </a:r>
            <a:r>
              <a:rPr lang="en-US" sz="2400" dirty="0" err="1" smtClean="0"/>
              <a:t>Talijani</a:t>
            </a:r>
            <a:r>
              <a:rPr lang="en-US" sz="2400" dirty="0" smtClean="0"/>
              <a:t>, </a:t>
            </a:r>
            <a:r>
              <a:rPr lang="en-US" sz="2400" dirty="0" err="1" smtClean="0"/>
              <a:t>Židovi</a:t>
            </a:r>
            <a:r>
              <a:rPr lang="en-US" sz="2400" dirty="0" smtClean="0"/>
              <a:t>…)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27966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SEKUNDARNI IDENTITET</a:t>
            </a:r>
            <a:endParaRPr lang="hr-HR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1124745"/>
            <a:ext cx="9401293" cy="5123656"/>
          </a:xfrm>
        </p:spPr>
        <p:txBody>
          <a:bodyPr/>
          <a:lstStyle/>
          <a:p>
            <a:endParaRPr lang="en-US" dirty="0" smtClean="0"/>
          </a:p>
          <a:p>
            <a:r>
              <a:rPr lang="en-US" sz="2400" dirty="0" err="1" smtClean="0"/>
              <a:t>Zanimanje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stil</a:t>
            </a:r>
            <a:r>
              <a:rPr lang="en-US" sz="2400" dirty="0" smtClean="0"/>
              <a:t> </a:t>
            </a:r>
            <a:r>
              <a:rPr lang="en-US" sz="2400" dirty="0" err="1" smtClean="0"/>
              <a:t>života</a:t>
            </a:r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KRIZA IDENTITETA</a:t>
            </a:r>
          </a:p>
          <a:p>
            <a:pPr marL="0" indent="0">
              <a:buNone/>
            </a:pPr>
            <a:r>
              <a:rPr lang="en-US" sz="2400" dirty="0" err="1" smtClean="0"/>
              <a:t>Česta</a:t>
            </a:r>
            <a:r>
              <a:rPr lang="en-US" sz="2400" dirty="0" smtClean="0"/>
              <a:t> u </a:t>
            </a:r>
            <a:r>
              <a:rPr lang="en-US" sz="2400" dirty="0" err="1" smtClean="0"/>
              <a:t>adolescentskoj</a:t>
            </a:r>
            <a:r>
              <a:rPr lang="en-US" sz="2400" dirty="0" smtClean="0"/>
              <a:t> </a:t>
            </a:r>
            <a:r>
              <a:rPr lang="en-US" sz="2400" dirty="0" err="1" smtClean="0"/>
              <a:t>dobi</a:t>
            </a:r>
            <a:r>
              <a:rPr lang="en-US" sz="2400" dirty="0" smtClean="0"/>
              <a:t> (</a:t>
            </a:r>
            <a:r>
              <a:rPr lang="en-US" sz="2400" dirty="0" err="1" smtClean="0"/>
              <a:t>buntovništvo</a:t>
            </a:r>
            <a:r>
              <a:rPr lang="en-US" sz="2400" dirty="0" smtClean="0"/>
              <a:t>, </a:t>
            </a:r>
            <a:r>
              <a:rPr lang="en-US" sz="2400" dirty="0" err="1" smtClean="0"/>
              <a:t>kršenje</a:t>
            </a:r>
            <a:r>
              <a:rPr lang="en-US" sz="2400" dirty="0" smtClean="0"/>
              <a:t> </a:t>
            </a:r>
            <a:r>
              <a:rPr lang="en-US" sz="2400" dirty="0" err="1" smtClean="0"/>
              <a:t>pravila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r>
              <a:rPr lang="en-US" sz="2400" dirty="0" err="1" smtClean="0"/>
              <a:t>Može</a:t>
            </a:r>
            <a:r>
              <a:rPr lang="en-US" sz="2400" dirty="0" smtClean="0"/>
              <a:t> se </a:t>
            </a:r>
            <a:r>
              <a:rPr lang="en-US" sz="2400" dirty="0" err="1" smtClean="0"/>
              <a:t>javiti</a:t>
            </a:r>
            <a:r>
              <a:rPr lang="en-US" sz="2400" dirty="0" smtClean="0"/>
              <a:t> u </a:t>
            </a:r>
            <a:r>
              <a:rPr lang="en-US" sz="2400" dirty="0" err="1" smtClean="0"/>
              <a:t>bilo</a:t>
            </a:r>
            <a:r>
              <a:rPr lang="en-US" sz="2400" dirty="0" smtClean="0"/>
              <a:t> </a:t>
            </a:r>
            <a:r>
              <a:rPr lang="en-US" sz="2400" dirty="0" err="1" smtClean="0"/>
              <a:t>kojoj</a:t>
            </a:r>
            <a:r>
              <a:rPr lang="en-US" sz="2400" dirty="0" smtClean="0"/>
              <a:t> </a:t>
            </a:r>
            <a:r>
              <a:rPr lang="en-US" sz="2400" smtClean="0"/>
              <a:t>dobi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06310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SUBKULTURE I KONTRAKULTURE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556792"/>
            <a:ext cx="8944211" cy="5112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Podsjetimo</a:t>
            </a:r>
            <a:r>
              <a:rPr lang="en-US" sz="2400" dirty="0"/>
              <a:t> se : </a:t>
            </a:r>
            <a:r>
              <a:rPr lang="en-US" sz="2400" dirty="0" err="1"/>
              <a:t>norme</a:t>
            </a:r>
            <a:r>
              <a:rPr lang="en-US" sz="2400" dirty="0"/>
              <a:t>, </a:t>
            </a:r>
            <a:r>
              <a:rPr lang="en-US" sz="2400" dirty="0" err="1"/>
              <a:t>vrijednosti</a:t>
            </a:r>
            <a:r>
              <a:rPr lang="en-US" sz="2400" dirty="0"/>
              <a:t>, </a:t>
            </a:r>
            <a:r>
              <a:rPr lang="en-US" sz="2400" dirty="0" err="1"/>
              <a:t>jezik</a:t>
            </a:r>
            <a:r>
              <a:rPr lang="en-US" sz="2400" dirty="0"/>
              <a:t>, </a:t>
            </a:r>
            <a:r>
              <a:rPr lang="en-US" sz="2400" dirty="0" err="1"/>
              <a:t>simboli</a:t>
            </a:r>
            <a:r>
              <a:rPr lang="en-US" sz="2400" dirty="0"/>
              <a:t>, </a:t>
            </a:r>
            <a:r>
              <a:rPr lang="en-US" sz="2400" dirty="0" err="1"/>
              <a:t>rituali</a:t>
            </a:r>
            <a:r>
              <a:rPr lang="en-US" sz="2400" dirty="0" smtClean="0"/>
              <a:t>…</a:t>
            </a:r>
          </a:p>
          <a:p>
            <a:pPr marL="0" indent="0">
              <a:buNone/>
            </a:pPr>
            <a:r>
              <a:rPr lang="en-US" sz="2400" dirty="0" err="1"/>
              <a:t>Napišite</a:t>
            </a:r>
            <a:r>
              <a:rPr lang="en-US" sz="2400" dirty="0"/>
              <a:t> u </a:t>
            </a:r>
            <a:r>
              <a:rPr lang="en-US" sz="2400" dirty="0" err="1"/>
              <a:t>bilježnicu</a:t>
            </a:r>
            <a:r>
              <a:rPr lang="en-US" sz="2400" dirty="0"/>
              <a:t> </a:t>
            </a:r>
            <a:r>
              <a:rPr lang="en-US" sz="2400" dirty="0" err="1"/>
              <a:t>jednu</a:t>
            </a:r>
            <a:r>
              <a:rPr lang="en-US" sz="2400" dirty="0"/>
              <a:t> </a:t>
            </a:r>
            <a:r>
              <a:rPr lang="en-US" sz="2400" dirty="0" err="1"/>
              <a:t>normu</a:t>
            </a:r>
            <a:r>
              <a:rPr lang="en-US" sz="2400" dirty="0"/>
              <a:t>, </a:t>
            </a:r>
            <a:r>
              <a:rPr lang="en-US" sz="2400" dirty="0" err="1"/>
              <a:t>vrijednost</a:t>
            </a:r>
            <a:r>
              <a:rPr lang="en-US" sz="2400" dirty="0"/>
              <a:t>, </a:t>
            </a:r>
            <a:r>
              <a:rPr lang="en-US" sz="2400" dirty="0" err="1"/>
              <a:t>simbol</a:t>
            </a:r>
            <a:r>
              <a:rPr lang="en-US" sz="2400" dirty="0"/>
              <a:t>, ritual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jezičnu</a:t>
            </a:r>
            <a:r>
              <a:rPr lang="en-US" sz="2400" dirty="0"/>
              <a:t> </a:t>
            </a:r>
            <a:r>
              <a:rPr lang="en-US" sz="2400" dirty="0" err="1"/>
              <a:t>specifičnost</a:t>
            </a:r>
            <a:r>
              <a:rPr lang="en-US" sz="2400" dirty="0"/>
              <a:t> </a:t>
            </a:r>
            <a:r>
              <a:rPr lang="en-US" sz="2400" dirty="0" err="1"/>
              <a:t>koja</a:t>
            </a:r>
            <a:r>
              <a:rPr lang="en-US" sz="2400" dirty="0"/>
              <a:t> </a:t>
            </a:r>
            <a:r>
              <a:rPr lang="en-US" sz="2400" smtClean="0"/>
              <a:t>vrijedi </a:t>
            </a:r>
            <a:r>
              <a:rPr lang="en-US" sz="2400" dirty="0"/>
              <a:t>u </a:t>
            </a:r>
            <a:r>
              <a:rPr lang="en-US" sz="2400" dirty="0" err="1"/>
              <a:t>vašem</a:t>
            </a:r>
            <a:r>
              <a:rPr lang="en-US" sz="2400" dirty="0"/>
              <a:t> </a:t>
            </a:r>
            <a:r>
              <a:rPr lang="en-US" sz="2400" dirty="0" err="1"/>
              <a:t>razredu</a:t>
            </a:r>
            <a:r>
              <a:rPr lang="en-US" sz="2400" dirty="0"/>
              <a:t>. (</a:t>
            </a:r>
            <a:r>
              <a:rPr lang="en-US" sz="2400" dirty="0" err="1"/>
              <a:t>kojih</a:t>
            </a:r>
            <a:r>
              <a:rPr lang="en-US" sz="2400" dirty="0"/>
              <a:t> se </a:t>
            </a:r>
            <a:r>
              <a:rPr lang="en-US" sz="2400" dirty="0" err="1"/>
              <a:t>pravila</a:t>
            </a:r>
            <a:r>
              <a:rPr lang="en-US" sz="2400" dirty="0"/>
              <a:t> </a:t>
            </a:r>
            <a:r>
              <a:rPr lang="en-US" sz="2400" dirty="0" err="1"/>
              <a:t>ponašanja</a:t>
            </a:r>
            <a:r>
              <a:rPr lang="en-US" sz="2400" dirty="0"/>
              <a:t> </a:t>
            </a:r>
            <a:r>
              <a:rPr lang="en-US" sz="2400" dirty="0" err="1"/>
              <a:t>pridržavate</a:t>
            </a:r>
            <a:r>
              <a:rPr lang="en-US" sz="2400" dirty="0"/>
              <a:t> u </a:t>
            </a:r>
            <a:r>
              <a:rPr lang="en-US" sz="2400" dirty="0" err="1"/>
              <a:t>svom</a:t>
            </a:r>
            <a:r>
              <a:rPr lang="en-US" sz="2400" dirty="0"/>
              <a:t> </a:t>
            </a:r>
            <a:r>
              <a:rPr lang="en-US" sz="2400" dirty="0" err="1"/>
              <a:t>razredu</a:t>
            </a:r>
            <a:r>
              <a:rPr lang="en-US" sz="2400" dirty="0"/>
              <a:t>, </a:t>
            </a:r>
            <a:r>
              <a:rPr lang="en-US" sz="2400" dirty="0" err="1"/>
              <a:t>kakvim</a:t>
            </a:r>
            <a:r>
              <a:rPr lang="en-US" sz="2400" dirty="0"/>
              <a:t> </a:t>
            </a:r>
            <a:r>
              <a:rPr lang="en-US" sz="2400" dirty="0" err="1"/>
              <a:t>jezikom</a:t>
            </a:r>
            <a:r>
              <a:rPr lang="en-US" sz="2400" dirty="0"/>
              <a:t> </a:t>
            </a:r>
            <a:r>
              <a:rPr lang="en-US" sz="2400" dirty="0" err="1"/>
              <a:t>komunicirate</a:t>
            </a:r>
            <a:r>
              <a:rPr lang="en-US" sz="2400" dirty="0"/>
              <a:t>,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smatrate</a:t>
            </a:r>
            <a:r>
              <a:rPr lang="en-US" sz="2400" dirty="0"/>
              <a:t> </a:t>
            </a:r>
            <a:r>
              <a:rPr lang="en-US" sz="2400" dirty="0" err="1"/>
              <a:t>vrijednim</a:t>
            </a:r>
            <a:r>
              <a:rPr lang="en-US" sz="2400" dirty="0"/>
              <a:t>, </a:t>
            </a:r>
            <a:r>
              <a:rPr lang="en-US" sz="2400" dirty="0" err="1"/>
              <a:t>koji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vam</a:t>
            </a:r>
            <a:r>
              <a:rPr lang="en-US" sz="2400" dirty="0"/>
              <a:t> </a:t>
            </a:r>
            <a:r>
              <a:rPr lang="en-US" sz="2400" dirty="0" err="1"/>
              <a:t>zajednički</a:t>
            </a:r>
            <a:r>
              <a:rPr lang="en-US" sz="2400" dirty="0"/>
              <a:t> </a:t>
            </a:r>
            <a:r>
              <a:rPr lang="en-US" sz="2400" dirty="0" err="1"/>
              <a:t>rituali</a:t>
            </a:r>
            <a:r>
              <a:rPr lang="en-US" sz="2400" dirty="0"/>
              <a:t>, </a:t>
            </a:r>
            <a:r>
              <a:rPr lang="en-US" sz="2400" dirty="0" err="1"/>
              <a:t>postoje</a:t>
            </a:r>
            <a:r>
              <a:rPr lang="en-US" sz="2400" dirty="0"/>
              <a:t> li </a:t>
            </a:r>
            <a:r>
              <a:rPr lang="en-US" sz="2400" dirty="0" err="1"/>
              <a:t>neki</a:t>
            </a:r>
            <a:r>
              <a:rPr lang="en-US" sz="2400" dirty="0"/>
              <a:t> </a:t>
            </a:r>
            <a:r>
              <a:rPr lang="en-US" sz="2400" dirty="0" err="1"/>
              <a:t>simboli</a:t>
            </a:r>
            <a:r>
              <a:rPr lang="en-US" sz="2400" dirty="0"/>
              <a:t> </a:t>
            </a:r>
            <a:r>
              <a:rPr lang="en-US" sz="2400" dirty="0" err="1"/>
              <a:t>po</a:t>
            </a:r>
            <a:r>
              <a:rPr lang="en-US" sz="2400" dirty="0"/>
              <a:t> </a:t>
            </a:r>
            <a:r>
              <a:rPr lang="en-US" sz="2400" dirty="0" err="1"/>
              <a:t>kojima</a:t>
            </a:r>
            <a:r>
              <a:rPr lang="en-US" sz="2400" dirty="0"/>
              <a:t> </a:t>
            </a:r>
            <a:r>
              <a:rPr lang="en-US" sz="2400" dirty="0" err="1"/>
              <a:t>ste</a:t>
            </a:r>
            <a:r>
              <a:rPr lang="en-US" sz="2400" dirty="0"/>
              <a:t> </a:t>
            </a:r>
            <a:r>
              <a:rPr lang="en-US" sz="2400" dirty="0" err="1"/>
              <a:t>prepoznatljivi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err="1"/>
              <a:t>Primijećujete</a:t>
            </a:r>
            <a:r>
              <a:rPr lang="en-US" sz="2400" dirty="0"/>
              <a:t> da s </a:t>
            </a:r>
            <a:r>
              <a:rPr lang="en-US" sz="2400" dirty="0" err="1"/>
              <a:t>nekim</a:t>
            </a:r>
            <a:r>
              <a:rPr lang="en-US" sz="2400" dirty="0"/>
              <a:t> </a:t>
            </a:r>
            <a:r>
              <a:rPr lang="en-US" sz="2400" dirty="0" err="1"/>
              <a:t>učenicima</a:t>
            </a:r>
            <a:r>
              <a:rPr lang="en-US" sz="2400" dirty="0"/>
              <a:t> </a:t>
            </a:r>
            <a:r>
              <a:rPr lang="en-US" sz="2400" dirty="0" err="1"/>
              <a:t>iz</a:t>
            </a:r>
            <a:r>
              <a:rPr lang="en-US" sz="2400" dirty="0"/>
              <a:t> </a:t>
            </a:r>
            <a:r>
              <a:rPr lang="en-US" sz="2400" dirty="0" err="1"/>
              <a:t>razreda</a:t>
            </a:r>
            <a:r>
              <a:rPr lang="en-US" sz="2400" dirty="0"/>
              <a:t> </a:t>
            </a:r>
            <a:r>
              <a:rPr lang="en-US" sz="2400" dirty="0" err="1"/>
              <a:t>imate</a:t>
            </a:r>
            <a:r>
              <a:rPr lang="en-US" sz="2400" dirty="0"/>
              <a:t> </a:t>
            </a:r>
            <a:r>
              <a:rPr lang="en-US" sz="2400" dirty="0" err="1"/>
              <a:t>više</a:t>
            </a:r>
            <a:r>
              <a:rPr lang="en-US" sz="2400" dirty="0"/>
              <a:t> toga </a:t>
            </a:r>
            <a:r>
              <a:rPr lang="en-US" sz="2400" dirty="0" err="1"/>
              <a:t>zajedničkog</a:t>
            </a:r>
            <a:r>
              <a:rPr lang="en-US" sz="2400" dirty="0"/>
              <a:t> </a:t>
            </a:r>
            <a:r>
              <a:rPr lang="en-US" sz="2400" dirty="0" err="1"/>
              <a:t>nego</a:t>
            </a:r>
            <a:r>
              <a:rPr lang="en-US" sz="2400" dirty="0"/>
              <a:t> s </a:t>
            </a:r>
            <a:r>
              <a:rPr lang="en-US" sz="2400" dirty="0" err="1"/>
              <a:t>drugima</a:t>
            </a:r>
            <a:r>
              <a:rPr lang="en-US" sz="2400" dirty="0"/>
              <a:t> (</a:t>
            </a:r>
            <a:r>
              <a:rPr lang="en-US" sz="2400" dirty="0" err="1"/>
              <a:t>npr</a:t>
            </a:r>
            <a:r>
              <a:rPr lang="en-US" sz="2400" dirty="0"/>
              <a:t>…)</a:t>
            </a:r>
          </a:p>
          <a:p>
            <a:pPr marL="0" indent="0">
              <a:buNone/>
            </a:pPr>
            <a:endParaRPr lang="en-US" sz="2400" dirty="0"/>
          </a:p>
          <a:p>
            <a:endParaRPr lang="hr-HR" sz="2400" dirty="0"/>
          </a:p>
        </p:txBody>
      </p:sp>
      <p:sp>
        <p:nvSpPr>
          <p:cNvPr id="4" name="Explosion 1 3"/>
          <p:cNvSpPr/>
          <p:nvPr/>
        </p:nvSpPr>
        <p:spPr>
          <a:xfrm>
            <a:off x="359129" y="2060848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6788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9083" y="1399772"/>
            <a:ext cx="436963" cy="64110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"/>
            <a:ext cx="10047236" cy="624840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Manje</a:t>
            </a:r>
            <a:r>
              <a:rPr lang="en-US" sz="2400" dirty="0" smtClean="0"/>
              <a:t> </a:t>
            </a:r>
            <a:r>
              <a:rPr lang="en-US" sz="2400" dirty="0" err="1" smtClean="0"/>
              <a:t>grupe</a:t>
            </a:r>
            <a:r>
              <a:rPr lang="en-US" sz="2400" dirty="0" smtClean="0"/>
              <a:t> </a:t>
            </a:r>
            <a:r>
              <a:rPr lang="en-US" sz="2400" dirty="0" err="1" smtClean="0"/>
              <a:t>unutar</a:t>
            </a:r>
            <a:r>
              <a:rPr lang="en-US" sz="2400" dirty="0" smtClean="0"/>
              <a:t> </a:t>
            </a:r>
            <a:r>
              <a:rPr lang="en-US" sz="2400" dirty="0" err="1" smtClean="0"/>
              <a:t>dominantne</a:t>
            </a:r>
            <a:r>
              <a:rPr lang="en-US" sz="2400" dirty="0" smtClean="0"/>
              <a:t> </a:t>
            </a:r>
            <a:r>
              <a:rPr lang="en-US" sz="2400" dirty="0" err="1" smtClean="0"/>
              <a:t>kulture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dijele</a:t>
            </a:r>
            <a:r>
              <a:rPr lang="en-US" sz="2400" dirty="0" smtClean="0"/>
              <a:t> </a:t>
            </a:r>
            <a:r>
              <a:rPr lang="en-US" sz="2400" dirty="0" err="1" smtClean="0"/>
              <a:t>zajedničke</a:t>
            </a:r>
            <a:r>
              <a:rPr lang="en-US" sz="2400" dirty="0" smtClean="0"/>
              <a:t> </a:t>
            </a:r>
            <a:r>
              <a:rPr lang="en-US" sz="2400" dirty="0" err="1" smtClean="0"/>
              <a:t>norme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vrijednosti</a:t>
            </a:r>
            <a:r>
              <a:rPr lang="en-US" sz="2400" dirty="0" smtClean="0"/>
              <a:t> </a:t>
            </a:r>
            <a:r>
              <a:rPr lang="en-US" sz="2400" dirty="0" err="1" smtClean="0"/>
              <a:t>te</a:t>
            </a:r>
            <a:r>
              <a:rPr lang="en-US" sz="2400" dirty="0" smtClean="0"/>
              <a:t> </a:t>
            </a:r>
            <a:r>
              <a:rPr lang="en-US" sz="2400" dirty="0" err="1" smtClean="0"/>
              <a:t>obrasce</a:t>
            </a:r>
            <a:r>
              <a:rPr lang="en-US" sz="2400" dirty="0" smtClean="0"/>
              <a:t> </a:t>
            </a:r>
            <a:r>
              <a:rPr lang="en-US" sz="2400" dirty="0" err="1" smtClean="0"/>
              <a:t>ponašanja</a:t>
            </a:r>
            <a:r>
              <a:rPr lang="en-US" sz="2400" dirty="0" smtClean="0"/>
              <a:t> </a:t>
            </a:r>
            <a:r>
              <a:rPr lang="en-US" sz="2400" dirty="0" err="1" smtClean="0"/>
              <a:t>kojima</a:t>
            </a:r>
            <a:r>
              <a:rPr lang="en-US" sz="2400" dirty="0" smtClean="0"/>
              <a:t> se </a:t>
            </a:r>
            <a:r>
              <a:rPr lang="en-US" sz="2400" dirty="0" err="1" smtClean="0"/>
              <a:t>razlikuju</a:t>
            </a:r>
            <a:r>
              <a:rPr lang="en-US" sz="2400" dirty="0" smtClean="0"/>
              <a:t> od </a:t>
            </a:r>
            <a:r>
              <a:rPr lang="en-US" sz="2400" dirty="0" err="1" smtClean="0"/>
              <a:t>većine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društva</a:t>
            </a:r>
            <a:r>
              <a:rPr lang="en-US" sz="2400" dirty="0" smtClean="0"/>
              <a:t> </a:t>
            </a:r>
            <a:r>
              <a:rPr lang="en-US" sz="2400" dirty="0" err="1" smtClean="0"/>
              <a:t>nazivamo</a:t>
            </a:r>
            <a:r>
              <a:rPr lang="en-US" sz="2400" dirty="0" smtClean="0"/>
              <a:t> </a:t>
            </a:r>
            <a:r>
              <a:rPr lang="en-US" sz="2400" b="1" dirty="0" smtClean="0"/>
              <a:t>SU</a:t>
            </a:r>
            <a:r>
              <a:rPr lang="hr-HR" sz="2400" b="1" dirty="0"/>
              <a:t>B</a:t>
            </a:r>
            <a:r>
              <a:rPr lang="en-US" sz="2400" b="1" dirty="0" smtClean="0"/>
              <a:t>KULTURAMA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To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varijacije</a:t>
            </a:r>
            <a:r>
              <a:rPr lang="en-US" sz="2400" dirty="0" smtClean="0"/>
              <a:t> </a:t>
            </a:r>
            <a:r>
              <a:rPr lang="en-US" sz="2400" dirty="0" err="1" smtClean="0"/>
              <a:t>unutar</a:t>
            </a:r>
            <a:r>
              <a:rPr lang="en-US" sz="2400" dirty="0" smtClean="0"/>
              <a:t> </a:t>
            </a:r>
            <a:r>
              <a:rPr lang="en-US" sz="2400" dirty="0" err="1" smtClean="0"/>
              <a:t>dominantne</a:t>
            </a:r>
            <a:r>
              <a:rPr lang="en-US" sz="2400" dirty="0" smtClean="0"/>
              <a:t> </a:t>
            </a:r>
            <a:r>
              <a:rPr lang="en-US" sz="2400" dirty="0" err="1" smtClean="0"/>
              <a:t>kulture</a:t>
            </a:r>
            <a:r>
              <a:rPr lang="en-US" sz="2400" dirty="0" smtClean="0"/>
              <a:t> </a:t>
            </a:r>
            <a:r>
              <a:rPr lang="en-US" sz="2400" dirty="0" err="1" smtClean="0"/>
              <a:t>čije</a:t>
            </a:r>
            <a:r>
              <a:rPr lang="en-US" sz="2400" dirty="0" smtClean="0"/>
              <a:t> se </a:t>
            </a:r>
            <a:r>
              <a:rPr lang="en-US" sz="2400" dirty="0" err="1" smtClean="0"/>
              <a:t>norme</a:t>
            </a:r>
            <a:r>
              <a:rPr lang="en-US" sz="2400" dirty="0" smtClean="0"/>
              <a:t>, </a:t>
            </a:r>
            <a:r>
              <a:rPr lang="en-US" sz="2400" dirty="0" err="1" smtClean="0"/>
              <a:t>vrijednosti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ponašanja</a:t>
            </a:r>
            <a:r>
              <a:rPr lang="en-US" sz="2400" dirty="0" smtClean="0"/>
              <a:t> </a:t>
            </a:r>
            <a:r>
              <a:rPr lang="en-US" sz="2400" dirty="0" err="1" smtClean="0"/>
              <a:t>manje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razlikuju</a:t>
            </a:r>
            <a:r>
              <a:rPr lang="en-US" sz="2400" dirty="0" smtClean="0"/>
              <a:t> od </a:t>
            </a:r>
            <a:r>
              <a:rPr lang="en-US" sz="2400" dirty="0" err="1" smtClean="0"/>
              <a:t>normi</a:t>
            </a:r>
            <a:r>
              <a:rPr lang="en-US" sz="2400" dirty="0" smtClean="0"/>
              <a:t>, </a:t>
            </a:r>
            <a:r>
              <a:rPr lang="en-US" sz="2400" dirty="0" err="1" smtClean="0"/>
              <a:t>vrijednosti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ponašanja</a:t>
            </a:r>
            <a:r>
              <a:rPr lang="en-US" sz="2400" dirty="0" smtClean="0"/>
              <a:t> </a:t>
            </a:r>
            <a:r>
              <a:rPr lang="en-US" sz="2400" dirty="0" err="1" smtClean="0"/>
              <a:t>dominantne</a:t>
            </a:r>
            <a:r>
              <a:rPr lang="en-US" sz="2400" dirty="0" smtClean="0"/>
              <a:t> </a:t>
            </a:r>
            <a:r>
              <a:rPr lang="en-US" sz="2400" dirty="0" err="1" smtClean="0"/>
              <a:t>kulture</a:t>
            </a:r>
            <a:r>
              <a:rPr lang="en-US" sz="2400" dirty="0" smtClean="0"/>
              <a:t> </a:t>
            </a:r>
          </a:p>
          <a:p>
            <a:r>
              <a:rPr lang="en-US" sz="2400" dirty="0" err="1" smtClean="0"/>
              <a:t>Pojam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hr-HR" sz="2400" dirty="0" smtClean="0"/>
              <a:t>b</a:t>
            </a:r>
            <a:r>
              <a:rPr lang="en-US" sz="2400" dirty="0" err="1" smtClean="0"/>
              <a:t>kulture</a:t>
            </a:r>
            <a:r>
              <a:rPr lang="en-US" sz="2400" dirty="0" smtClean="0"/>
              <a:t> </a:t>
            </a:r>
            <a:r>
              <a:rPr lang="en-US" sz="2400" dirty="0" err="1" smtClean="0"/>
              <a:t>počeo</a:t>
            </a:r>
            <a:r>
              <a:rPr lang="en-US" sz="2400" dirty="0" smtClean="0"/>
              <a:t> se </a:t>
            </a:r>
            <a:r>
              <a:rPr lang="en-US" sz="2400" dirty="0" err="1" smtClean="0"/>
              <a:t>koristiti</a:t>
            </a:r>
            <a:r>
              <a:rPr lang="en-US" sz="2400" dirty="0" smtClean="0"/>
              <a:t> </a:t>
            </a:r>
            <a:r>
              <a:rPr lang="en-US" sz="2400" dirty="0" err="1" smtClean="0"/>
              <a:t>sredinom</a:t>
            </a:r>
            <a:r>
              <a:rPr lang="en-US" sz="2400" dirty="0" smtClean="0"/>
              <a:t> </a:t>
            </a:r>
            <a:r>
              <a:rPr lang="en-US" sz="2400" dirty="0" err="1" smtClean="0"/>
              <a:t>prošlog</a:t>
            </a:r>
            <a:r>
              <a:rPr lang="en-US" sz="2400" dirty="0" smtClean="0"/>
              <a:t> </a:t>
            </a:r>
            <a:r>
              <a:rPr lang="en-US" sz="2400" dirty="0" err="1" smtClean="0"/>
              <a:t>stoljeća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pripadnike</a:t>
            </a:r>
            <a:r>
              <a:rPr lang="en-US" sz="2400" dirty="0" smtClean="0"/>
              <a:t> </a:t>
            </a:r>
            <a:r>
              <a:rPr lang="en-US" sz="2400" dirty="0" err="1" smtClean="0"/>
              <a:t>različitih</a:t>
            </a:r>
            <a:r>
              <a:rPr lang="en-US" sz="2400" dirty="0" smtClean="0"/>
              <a:t> </a:t>
            </a:r>
            <a:r>
              <a:rPr lang="en-US" sz="2400" dirty="0" err="1" smtClean="0"/>
              <a:t>etničkih</a:t>
            </a:r>
            <a:r>
              <a:rPr lang="en-US" sz="2400" dirty="0" smtClean="0"/>
              <a:t> </a:t>
            </a:r>
            <a:r>
              <a:rPr lang="en-US" sz="2400" dirty="0" err="1" smtClean="0"/>
              <a:t>skupina</a:t>
            </a:r>
            <a:r>
              <a:rPr lang="en-US" sz="2400" dirty="0" smtClean="0"/>
              <a:t> u </a:t>
            </a:r>
            <a:r>
              <a:rPr lang="en-US" sz="2400" dirty="0" err="1" smtClean="0"/>
              <a:t>američkom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društvu</a:t>
            </a:r>
            <a:r>
              <a:rPr lang="en-US" sz="2400" dirty="0" smtClean="0"/>
              <a:t> (</a:t>
            </a:r>
            <a:r>
              <a:rPr lang="en-US" sz="2400" dirty="0" err="1" smtClean="0"/>
              <a:t>npr</a:t>
            </a:r>
            <a:r>
              <a:rPr lang="en-US" sz="2400" dirty="0" smtClean="0"/>
              <a:t>.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Židove</a:t>
            </a:r>
            <a:r>
              <a:rPr lang="en-US" sz="2400" dirty="0" smtClean="0"/>
              <a:t>, </a:t>
            </a:r>
            <a:r>
              <a:rPr lang="en-US" sz="2400" dirty="0" err="1" smtClean="0"/>
              <a:t>Poljake</a:t>
            </a:r>
            <a:r>
              <a:rPr lang="en-US" sz="2400" dirty="0" smtClean="0"/>
              <a:t>, </a:t>
            </a:r>
            <a:r>
              <a:rPr lang="en-US" sz="2400" dirty="0" err="1" smtClean="0"/>
              <a:t>Talijane</a:t>
            </a:r>
            <a:r>
              <a:rPr lang="en-US" sz="2400" dirty="0" smtClean="0"/>
              <a:t>…)</a:t>
            </a:r>
            <a:endParaRPr lang="hr-HR" sz="2400" dirty="0"/>
          </a:p>
        </p:txBody>
      </p:sp>
      <p:pic>
        <p:nvPicPr>
          <p:cNvPr id="1026" name="Picture 2" descr="How Jewish Should the Jewish State Be? The Question Shadows an Israeli Vote  - The New York Tim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78" y="4200221"/>
            <a:ext cx="3038084" cy="2027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True Stories Behind 'The Godfather' - Biograp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180" y="4147859"/>
            <a:ext cx="3737497" cy="210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n by Map Dreamer on Poland | Polish people, Poland people, Traditional  outfi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8195" y="4147859"/>
            <a:ext cx="3143194" cy="204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90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452719"/>
            <a:ext cx="9713464" cy="579568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60ih </a:t>
            </a:r>
            <a:r>
              <a:rPr lang="en-US" sz="2400" dirty="0" err="1" smtClean="0"/>
              <a:t>godina</a:t>
            </a:r>
            <a:r>
              <a:rPr lang="en-US" sz="2400" dirty="0" smtClean="0"/>
              <a:t> </a:t>
            </a:r>
            <a:r>
              <a:rPr lang="en-US" sz="2400" dirty="0" err="1" smtClean="0"/>
              <a:t>prošlog</a:t>
            </a:r>
            <a:r>
              <a:rPr lang="en-US" sz="2400" dirty="0" smtClean="0"/>
              <a:t> </a:t>
            </a:r>
            <a:r>
              <a:rPr lang="en-US" sz="2400" dirty="0" err="1" smtClean="0"/>
              <a:t>stoljeća</a:t>
            </a:r>
            <a:r>
              <a:rPr lang="en-US" sz="2400" dirty="0" smtClean="0"/>
              <a:t> </a:t>
            </a:r>
            <a:r>
              <a:rPr lang="en-US" sz="2400" dirty="0" err="1" smtClean="0"/>
              <a:t>govorilo</a:t>
            </a:r>
            <a:r>
              <a:rPr lang="en-US" sz="2400" dirty="0" smtClean="0"/>
              <a:t> se o </a:t>
            </a:r>
            <a:r>
              <a:rPr lang="en-US" sz="2400" dirty="0" err="1" smtClean="0"/>
              <a:t>su</a:t>
            </a:r>
            <a:r>
              <a:rPr lang="hr-HR" sz="2400" dirty="0" smtClean="0"/>
              <a:t>b</a:t>
            </a:r>
            <a:r>
              <a:rPr lang="en-US" sz="2400" dirty="0" err="1" smtClean="0"/>
              <a:t>kulturi</a:t>
            </a:r>
            <a:r>
              <a:rPr lang="en-US" sz="2400" dirty="0" smtClean="0"/>
              <a:t> </a:t>
            </a:r>
            <a:r>
              <a:rPr lang="en-US" sz="2400" dirty="0" err="1" smtClean="0"/>
              <a:t>mladih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slušaju</a:t>
            </a:r>
            <a:r>
              <a:rPr lang="en-US" sz="2400" dirty="0" smtClean="0"/>
              <a:t> jazz </a:t>
            </a:r>
            <a:r>
              <a:rPr lang="en-US" sz="2400" dirty="0" err="1" smtClean="0"/>
              <a:t>ili</a:t>
            </a:r>
            <a:r>
              <a:rPr lang="en-US" sz="2400" dirty="0" smtClean="0"/>
              <a:t> hippie </a:t>
            </a:r>
            <a:r>
              <a:rPr lang="en-US" sz="2400" dirty="0" err="1" smtClean="0"/>
              <a:t>pokretu</a:t>
            </a:r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70ih </a:t>
            </a:r>
            <a:r>
              <a:rPr lang="en-US" sz="2400" dirty="0" err="1" smtClean="0"/>
              <a:t>godina</a:t>
            </a:r>
            <a:r>
              <a:rPr lang="en-US" sz="2400" dirty="0" smtClean="0"/>
              <a:t> </a:t>
            </a:r>
            <a:r>
              <a:rPr lang="en-US" sz="2400" dirty="0" err="1" smtClean="0"/>
              <a:t>pojam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hr-HR" sz="2400" dirty="0" smtClean="0"/>
              <a:t>b</a:t>
            </a:r>
            <a:r>
              <a:rPr lang="en-US" sz="2400" dirty="0" err="1" smtClean="0"/>
              <a:t>kulture</a:t>
            </a:r>
            <a:r>
              <a:rPr lang="en-US" sz="2400" dirty="0" smtClean="0"/>
              <a:t> </a:t>
            </a:r>
            <a:r>
              <a:rPr lang="en-US" sz="2400" dirty="0" err="1" smtClean="0"/>
              <a:t>veže</a:t>
            </a:r>
            <a:r>
              <a:rPr lang="en-US" sz="2400" dirty="0" smtClean="0"/>
              <a:t> se </a:t>
            </a:r>
            <a:r>
              <a:rPr lang="en-US" sz="2400" dirty="0" err="1" smtClean="0"/>
              <a:t>uz</a:t>
            </a:r>
            <a:r>
              <a:rPr lang="en-US" sz="2400" dirty="0" smtClean="0"/>
              <a:t> </a:t>
            </a:r>
            <a:r>
              <a:rPr lang="en-US" sz="2400" dirty="0" err="1" smtClean="0"/>
              <a:t>mlade</a:t>
            </a:r>
            <a:r>
              <a:rPr lang="en-US" sz="2400" dirty="0" smtClean="0"/>
              <a:t>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što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rockeri</a:t>
            </a:r>
            <a:r>
              <a:rPr lang="en-US" sz="2400" dirty="0" smtClean="0"/>
              <a:t>, </a:t>
            </a:r>
            <a:r>
              <a:rPr lang="en-US" sz="2400" dirty="0" err="1" smtClean="0"/>
              <a:t>punkeri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nogometni</a:t>
            </a:r>
            <a:r>
              <a:rPr lang="en-US" sz="2400" dirty="0" smtClean="0"/>
              <a:t> </a:t>
            </a:r>
            <a:r>
              <a:rPr lang="en-US" sz="2400" dirty="0" err="1" smtClean="0"/>
              <a:t>navijači</a:t>
            </a:r>
            <a:endParaRPr lang="hr-HR" sz="2400" dirty="0"/>
          </a:p>
        </p:txBody>
      </p:sp>
      <p:pic>
        <p:nvPicPr>
          <p:cNvPr id="2052" name="Picture 4" descr="Portal za škole - Širom svijeta - Sjedinjene Američke Drža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789" y="1412775"/>
            <a:ext cx="2906455" cy="225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IPPIE RAINBOW | Hippie style, Hippie movement, Woodstock hipp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20" y="1257927"/>
            <a:ext cx="2664296" cy="231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narchy Stick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92" y="4603282"/>
            <a:ext cx="2125772" cy="212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msterdam altercations: 100 England hooligans detained - AS.co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631" y="4410131"/>
            <a:ext cx="4232952" cy="23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Best Rolling Stones 70s Songs: 20 Rock'n'Roll Classics | uDiscov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36" y="4817401"/>
            <a:ext cx="3112645" cy="186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07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765" y="620688"/>
            <a:ext cx="9785472" cy="604867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Danas </a:t>
            </a:r>
            <a:r>
              <a:rPr lang="en-US" sz="2400" dirty="0" err="1" smtClean="0"/>
              <a:t>možemo</a:t>
            </a:r>
            <a:r>
              <a:rPr lang="en-US" sz="2400" dirty="0" smtClean="0"/>
              <a:t> </a:t>
            </a:r>
            <a:r>
              <a:rPr lang="en-US" sz="2400" dirty="0" err="1" smtClean="0"/>
              <a:t>govoriti</a:t>
            </a:r>
            <a:r>
              <a:rPr lang="en-US" sz="2400" dirty="0" smtClean="0"/>
              <a:t> o </a:t>
            </a:r>
            <a:r>
              <a:rPr lang="en-US" sz="2400" dirty="0" err="1" smtClean="0"/>
              <a:t>su</a:t>
            </a:r>
            <a:r>
              <a:rPr lang="hr-HR" sz="2400" dirty="0" smtClean="0"/>
              <a:t>b</a:t>
            </a:r>
            <a:r>
              <a:rPr lang="en-US" sz="2400" dirty="0" err="1" smtClean="0"/>
              <a:t>kulturi</a:t>
            </a:r>
            <a:r>
              <a:rPr lang="en-US" sz="2400" dirty="0" smtClean="0"/>
              <a:t> </a:t>
            </a:r>
            <a:r>
              <a:rPr lang="en-US" sz="2400" dirty="0" err="1" smtClean="0"/>
              <a:t>hipstera</a:t>
            </a:r>
            <a:r>
              <a:rPr lang="en-US" sz="2400" dirty="0" smtClean="0"/>
              <a:t>, </a:t>
            </a:r>
            <a:r>
              <a:rPr lang="en-US" sz="2400" dirty="0" err="1" smtClean="0"/>
              <a:t>youtubera</a:t>
            </a:r>
            <a:r>
              <a:rPr lang="en-US" sz="2400" dirty="0" smtClean="0"/>
              <a:t>, </a:t>
            </a:r>
            <a:r>
              <a:rPr lang="en-US" sz="2400" dirty="0" err="1" smtClean="0"/>
              <a:t>gamera</a:t>
            </a:r>
            <a:r>
              <a:rPr lang="en-US" sz="2400" dirty="0" smtClean="0"/>
              <a:t>, </a:t>
            </a:r>
            <a:r>
              <a:rPr lang="en-US" sz="2400" dirty="0" err="1" smtClean="0"/>
              <a:t>navijača</a:t>
            </a:r>
            <a:r>
              <a:rPr lang="en-US" sz="2400" dirty="0" smtClean="0"/>
              <a:t>… (</a:t>
            </a:r>
            <a:r>
              <a:rPr lang="en-US" sz="2400" dirty="0" err="1" smtClean="0"/>
              <a:t>rituali</a:t>
            </a:r>
            <a:r>
              <a:rPr lang="en-US" sz="2400" dirty="0" smtClean="0"/>
              <a:t>, </a:t>
            </a:r>
            <a:r>
              <a:rPr lang="en-US" sz="2400" dirty="0" err="1" smtClean="0"/>
              <a:t>norme</a:t>
            </a:r>
            <a:r>
              <a:rPr lang="en-US" sz="2400" dirty="0" smtClean="0"/>
              <a:t>, </a:t>
            </a:r>
            <a:r>
              <a:rPr lang="en-US" sz="2400" dirty="0" err="1" smtClean="0"/>
              <a:t>jezik</a:t>
            </a:r>
            <a:r>
              <a:rPr lang="en-US" sz="2400" dirty="0" smtClean="0"/>
              <a:t>, </a:t>
            </a:r>
            <a:r>
              <a:rPr lang="en-US" sz="2400" dirty="0" err="1" smtClean="0"/>
              <a:t>vrijednosti</a:t>
            </a:r>
            <a:r>
              <a:rPr lang="en-US" sz="2400" dirty="0" smtClean="0"/>
              <a:t>, </a:t>
            </a:r>
            <a:r>
              <a:rPr lang="en-US" sz="2400" dirty="0" err="1" smtClean="0"/>
              <a:t>simboli</a:t>
            </a:r>
            <a:r>
              <a:rPr lang="en-US" sz="2400" dirty="0" smtClean="0"/>
              <a:t>…)</a:t>
            </a:r>
            <a:endParaRPr lang="hr-HR" sz="2400" dirty="0"/>
          </a:p>
        </p:txBody>
      </p:sp>
      <p:pic>
        <p:nvPicPr>
          <p:cNvPr id="3074" name="Picture 2" descr="Ricki Hall! #beard #styles #mens #fashion #hairstyles #hipsters #boys  #tattoos | Hipster beard, Hipster man, Hipster loo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85" y="1973309"/>
            <a:ext cx="2593267" cy="3763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YouTubers: Who are they, and why do kids like them so much? | Family And  M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284" y="2636912"/>
            <a:ext cx="4040433" cy="269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latforms, gadgets cater to gamers' increased activities during COVID-19 -  Thu, July 30 2020 - The Jakarta Pos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596" y="2495667"/>
            <a:ext cx="4248472" cy="283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28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452719"/>
            <a:ext cx="9713464" cy="579568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Su</a:t>
            </a:r>
            <a:r>
              <a:rPr lang="hr-HR" sz="2400" dirty="0" smtClean="0"/>
              <a:t>b</a:t>
            </a:r>
            <a:r>
              <a:rPr lang="en-US" sz="2400" dirty="0" err="1" smtClean="0"/>
              <a:t>kulture</a:t>
            </a:r>
            <a:r>
              <a:rPr lang="en-US" sz="2400" dirty="0" smtClean="0"/>
              <a:t> </a:t>
            </a:r>
            <a:r>
              <a:rPr lang="en-US" sz="2400" dirty="0" err="1" smtClean="0"/>
              <a:t>čije</a:t>
            </a:r>
            <a:r>
              <a:rPr lang="en-US" sz="2400" dirty="0" smtClean="0"/>
              <a:t> se </a:t>
            </a:r>
            <a:r>
              <a:rPr lang="en-US" sz="2400" dirty="0" err="1" smtClean="0"/>
              <a:t>vrijednosti</a:t>
            </a:r>
            <a:r>
              <a:rPr lang="en-US" sz="2400" dirty="0" smtClean="0"/>
              <a:t>, </a:t>
            </a:r>
            <a:r>
              <a:rPr lang="en-US" sz="2400" dirty="0" err="1" smtClean="0"/>
              <a:t>norme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stil</a:t>
            </a:r>
            <a:r>
              <a:rPr lang="en-US" sz="2400" dirty="0" smtClean="0"/>
              <a:t> </a:t>
            </a:r>
            <a:r>
              <a:rPr lang="en-US" sz="2400" dirty="0" err="1" smtClean="0"/>
              <a:t>života</a:t>
            </a:r>
            <a:r>
              <a:rPr lang="en-US" sz="2400" dirty="0" smtClean="0"/>
              <a:t> u </a:t>
            </a:r>
            <a:r>
              <a:rPr lang="en-US" sz="2400" dirty="0" err="1" smtClean="0"/>
              <a:t>potpunosti</a:t>
            </a:r>
            <a:r>
              <a:rPr lang="en-US" sz="2400" dirty="0" smtClean="0"/>
              <a:t> </a:t>
            </a:r>
            <a:r>
              <a:rPr lang="en-US" sz="2400" dirty="0" err="1" smtClean="0"/>
              <a:t>suprotstavljaju</a:t>
            </a:r>
            <a:r>
              <a:rPr lang="en-US" sz="2400" dirty="0" smtClean="0"/>
              <a:t> </a:t>
            </a:r>
            <a:r>
              <a:rPr lang="en-US" sz="2400" dirty="0" err="1" smtClean="0"/>
              <a:t>dominantnoj</a:t>
            </a:r>
            <a:r>
              <a:rPr lang="en-US" sz="2400" dirty="0" smtClean="0"/>
              <a:t> </a:t>
            </a:r>
            <a:r>
              <a:rPr lang="en-US" sz="2400" dirty="0" err="1" smtClean="0"/>
              <a:t>kulturi</a:t>
            </a:r>
            <a:r>
              <a:rPr lang="en-US" sz="2400" dirty="0" smtClean="0"/>
              <a:t>, </a:t>
            </a:r>
            <a:r>
              <a:rPr lang="en-US" sz="2400" dirty="0" err="1" smtClean="0"/>
              <a:t>kritiziraju</a:t>
            </a:r>
            <a:r>
              <a:rPr lang="en-US" sz="2400" dirty="0" smtClean="0"/>
              <a:t> je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odbacuju</a:t>
            </a:r>
            <a:r>
              <a:rPr lang="en-US" sz="2400" dirty="0" smtClean="0"/>
              <a:t> </a:t>
            </a:r>
            <a:r>
              <a:rPr lang="en-US" sz="2400" dirty="0" err="1" smtClean="0"/>
              <a:t>zovu</a:t>
            </a:r>
            <a:r>
              <a:rPr lang="en-US" sz="2400" dirty="0" smtClean="0"/>
              <a:t> se </a:t>
            </a:r>
            <a:r>
              <a:rPr lang="en-US" sz="2400" b="1" dirty="0" smtClean="0"/>
              <a:t>KONTRAKULTURE</a:t>
            </a:r>
          </a:p>
          <a:p>
            <a:r>
              <a:rPr lang="en-US" sz="2400" dirty="0" err="1" smtClean="0"/>
              <a:t>Punkeri</a:t>
            </a:r>
            <a:r>
              <a:rPr lang="en-US" sz="2400" dirty="0" smtClean="0"/>
              <a:t>, </a:t>
            </a:r>
            <a:r>
              <a:rPr lang="en-US" sz="2400" dirty="0" err="1" smtClean="0"/>
              <a:t>hipiji</a:t>
            </a:r>
            <a:r>
              <a:rPr lang="en-US" sz="2400" dirty="0" smtClean="0"/>
              <a:t>, </a:t>
            </a:r>
            <a:r>
              <a:rPr lang="en-US" sz="2400" dirty="0" err="1" smtClean="0"/>
              <a:t>antiglobalistički</a:t>
            </a:r>
            <a:r>
              <a:rPr lang="en-US" sz="2400" dirty="0" smtClean="0"/>
              <a:t> </a:t>
            </a:r>
            <a:r>
              <a:rPr lang="en-US" sz="2400" dirty="0" err="1" smtClean="0"/>
              <a:t>pokreti</a:t>
            </a:r>
            <a:r>
              <a:rPr lang="en-US" sz="2400" dirty="0" smtClean="0"/>
              <a:t> (</a:t>
            </a:r>
            <a:r>
              <a:rPr lang="en-US" sz="2400" dirty="0" err="1" smtClean="0"/>
              <a:t>anonimusi</a:t>
            </a:r>
            <a:r>
              <a:rPr lang="en-US" sz="2400" dirty="0" smtClean="0"/>
              <a:t>)</a:t>
            </a:r>
          </a:p>
          <a:p>
            <a:endParaRPr lang="hr-HR" sz="2400" dirty="0"/>
          </a:p>
        </p:txBody>
      </p:sp>
      <p:pic>
        <p:nvPicPr>
          <p:cNvPr id="4098" name="Picture 2" descr="Punk, Boots, Punk hair, (colourful) Skinny jeans, Patterned jeans, Leather  spiked jackets, Badges! | Punk costume, Punk fashion, 80s punk fash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6" y="2348880"/>
            <a:ext cx="2736304" cy="3648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ippie | History, Lifestyle, &amp; Beliefs | Britann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077" y="2996952"/>
            <a:ext cx="3920480" cy="259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nonymous attacks Boeing in protest against CISPA | The World from PR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674" y="2885311"/>
            <a:ext cx="5000749" cy="281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06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SAMOVREDNOVANJE:</a:t>
            </a:r>
          </a:p>
          <a:p>
            <a:pPr marL="0" indent="0">
              <a:buNone/>
            </a:pPr>
            <a:r>
              <a:rPr lang="en-US" sz="2400" dirty="0" err="1" smtClean="0"/>
              <a:t>Možete</a:t>
            </a:r>
            <a:r>
              <a:rPr lang="en-US" sz="2400" dirty="0" smtClean="0"/>
              <a:t> li </a:t>
            </a:r>
            <a:r>
              <a:rPr lang="en-US" sz="2400" dirty="0" err="1" smtClean="0"/>
              <a:t>sami</a:t>
            </a:r>
            <a:r>
              <a:rPr lang="en-US" sz="2400" dirty="0" smtClean="0"/>
              <a:t> </a:t>
            </a:r>
            <a:r>
              <a:rPr lang="en-US" sz="2400" dirty="0" err="1" smtClean="0"/>
              <a:t>navesti</a:t>
            </a:r>
            <a:r>
              <a:rPr lang="en-US" sz="2400" dirty="0" smtClean="0"/>
              <a:t> </a:t>
            </a:r>
            <a:r>
              <a:rPr lang="en-US" sz="2400" dirty="0" err="1" smtClean="0"/>
              <a:t>jednu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hr-HR" sz="2400" dirty="0" smtClean="0"/>
              <a:t>b</a:t>
            </a:r>
            <a:r>
              <a:rPr lang="en-US" sz="2400" dirty="0" err="1" smtClean="0"/>
              <a:t>kulturu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odrediti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norme</a:t>
            </a:r>
            <a:r>
              <a:rPr lang="en-US" sz="2400" dirty="0" smtClean="0"/>
              <a:t>, </a:t>
            </a:r>
            <a:r>
              <a:rPr lang="en-US" sz="2400" dirty="0" err="1" smtClean="0"/>
              <a:t>vrijednosti</a:t>
            </a:r>
            <a:r>
              <a:rPr lang="en-US" sz="2400" dirty="0" smtClean="0"/>
              <a:t>, </a:t>
            </a:r>
            <a:r>
              <a:rPr lang="en-US" sz="2400" dirty="0" err="1" smtClean="0"/>
              <a:t>rituali</a:t>
            </a:r>
            <a:r>
              <a:rPr lang="en-US" sz="2400" dirty="0" smtClean="0"/>
              <a:t>, </a:t>
            </a:r>
            <a:r>
              <a:rPr lang="en-US" sz="2400" dirty="0" err="1" smtClean="0"/>
              <a:t>jeziki</a:t>
            </a:r>
            <a:r>
              <a:rPr lang="en-US" sz="2400" dirty="0" smtClean="0"/>
              <a:t> </a:t>
            </a:r>
            <a:r>
              <a:rPr lang="en-US" sz="2400" dirty="0" err="1" smtClean="0"/>
              <a:t>simboli</a:t>
            </a:r>
            <a:r>
              <a:rPr lang="en-US" sz="2400" dirty="0" smtClean="0"/>
              <a:t> </a:t>
            </a:r>
            <a:r>
              <a:rPr lang="en-US" sz="2400" dirty="0" err="1" smtClean="0"/>
              <a:t>karakteristični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tu</a:t>
            </a:r>
            <a:r>
              <a:rPr lang="en-US" sz="2400" dirty="0" smtClean="0"/>
              <a:t> </a:t>
            </a:r>
            <a:r>
              <a:rPr lang="en-US" sz="2400" dirty="0" err="1" smtClean="0"/>
              <a:t>supkulturu</a:t>
            </a:r>
            <a:r>
              <a:rPr lang="en-US" sz="2400" dirty="0" smtClean="0"/>
              <a:t>?</a:t>
            </a:r>
            <a:endParaRPr lang="hr-HR" sz="2400" dirty="0"/>
          </a:p>
        </p:txBody>
      </p:sp>
      <p:sp>
        <p:nvSpPr>
          <p:cNvPr id="5" name="Explosion 1 4"/>
          <p:cNvSpPr/>
          <p:nvPr/>
        </p:nvSpPr>
        <p:spPr>
          <a:xfrm>
            <a:off x="360110" y="2564904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8803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993" y="2492896"/>
            <a:ext cx="9402274" cy="3984394"/>
          </a:xfrm>
        </p:spPr>
        <p:txBody>
          <a:bodyPr/>
          <a:lstStyle/>
          <a:p>
            <a:pPr algn="ctr"/>
            <a:r>
              <a:rPr lang="hr-HR" dirty="0" smtClean="0"/>
              <a:t>OBITELJ I FUNKCIJE OBITELJI</a:t>
            </a:r>
            <a:br>
              <a:rPr lang="hr-HR" dirty="0" smtClean="0"/>
            </a:br>
            <a:r>
              <a:rPr lang="hr-HR" dirty="0" smtClean="0"/>
              <a:t>SASTAV I VRSTE OBITELJI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046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908721"/>
            <a:ext cx="8944211" cy="5339680"/>
          </a:xfrm>
        </p:spPr>
        <p:txBody>
          <a:bodyPr/>
          <a:lstStyle/>
          <a:p>
            <a:r>
              <a:rPr lang="hr-HR" dirty="0" smtClean="0"/>
              <a:t>ŠTO JE OBITELJ? (popunite 1. i 2. stupac) </a:t>
            </a:r>
          </a:p>
          <a:p>
            <a:endParaRPr lang="hr-HR" dirty="0"/>
          </a:p>
          <a:p>
            <a:pPr marL="0" indent="0">
              <a:buNone/>
            </a:pPr>
            <a:endParaRPr lang="hr-HR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512188" y="1988840"/>
          <a:ext cx="8125884" cy="45365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8628">
                  <a:extLst>
                    <a:ext uri="{9D8B030D-6E8A-4147-A177-3AD203B41FA5}">
                      <a16:colId xmlns:a16="http://schemas.microsoft.com/office/drawing/2014/main" val="3338455651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1169503586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1743555746"/>
                    </a:ext>
                  </a:extLst>
                </a:gridCol>
              </a:tblGrid>
              <a:tr h="741371">
                <a:tc>
                  <a:txBody>
                    <a:bodyPr/>
                    <a:lstStyle/>
                    <a:p>
                      <a:pPr algn="ctr"/>
                      <a:r>
                        <a:rPr lang="hr-HR" dirty="0" smtClean="0"/>
                        <a:t>ZNAM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 smtClean="0"/>
                        <a:t>ŽELIM ZNATI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 smtClean="0"/>
                        <a:t>NAUČILA/NAUČIO SAM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399052"/>
                  </a:ext>
                </a:extLst>
              </a:tr>
              <a:tr h="3795133"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5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18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6" y="1152983"/>
            <a:ext cx="6696744" cy="4975618"/>
          </a:xfrm>
        </p:spPr>
      </p:pic>
      <p:sp>
        <p:nvSpPr>
          <p:cNvPr id="5" name="TextBox 4"/>
          <p:cNvSpPr txBox="1"/>
          <p:nvPr/>
        </p:nvSpPr>
        <p:spPr>
          <a:xfrm>
            <a:off x="7223292" y="2167925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Mijenja</a:t>
            </a:r>
            <a:r>
              <a:rPr lang="en-US" sz="2400" dirty="0" smtClean="0"/>
              <a:t> li se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?</a:t>
            </a:r>
            <a:endParaRPr lang="hr-HR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223292" y="1276946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Podaci</a:t>
            </a:r>
            <a:r>
              <a:rPr lang="en-US" sz="2400" dirty="0" smtClean="0"/>
              <a:t> </a:t>
            </a:r>
            <a:r>
              <a:rPr lang="en-US" sz="2400" dirty="0" err="1" smtClean="0"/>
              <a:t>prema</a:t>
            </a:r>
            <a:r>
              <a:rPr lang="en-US" sz="2400" dirty="0" smtClean="0"/>
              <a:t> </a:t>
            </a:r>
            <a:r>
              <a:rPr lang="en-US" sz="2400" dirty="0" err="1" smtClean="0"/>
              <a:t>popisu</a:t>
            </a:r>
            <a:r>
              <a:rPr lang="en-US" sz="2400" dirty="0" smtClean="0"/>
              <a:t> </a:t>
            </a:r>
            <a:r>
              <a:rPr lang="en-US" sz="2400" dirty="0" err="1" smtClean="0"/>
              <a:t>stanovništva</a:t>
            </a:r>
            <a:r>
              <a:rPr lang="en-US" sz="2400" dirty="0" smtClean="0"/>
              <a:t> </a:t>
            </a:r>
            <a:r>
              <a:rPr lang="en-US" sz="2400" dirty="0" err="1" smtClean="0"/>
              <a:t>iz</a:t>
            </a:r>
            <a:r>
              <a:rPr lang="en-US" sz="2400" dirty="0" smtClean="0"/>
              <a:t> 2011.</a:t>
            </a:r>
            <a:endParaRPr lang="hr-HR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212497" y="2689572"/>
            <a:ext cx="48245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Neki</a:t>
            </a:r>
            <a:r>
              <a:rPr lang="en-US" sz="2400" dirty="0" smtClean="0"/>
              <a:t> </a:t>
            </a:r>
            <a:r>
              <a:rPr lang="en-US" sz="2400" dirty="0" err="1" smtClean="0"/>
              <a:t>tvrde</a:t>
            </a:r>
            <a:r>
              <a:rPr lang="en-US" sz="2400" dirty="0" smtClean="0"/>
              <a:t> da </a:t>
            </a:r>
            <a:r>
              <a:rPr lang="en-US" sz="2400" dirty="0" err="1" smtClean="0"/>
              <a:t>klasična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 </a:t>
            </a:r>
            <a:r>
              <a:rPr lang="en-US" sz="2400" dirty="0" err="1" smtClean="0"/>
              <a:t>nestaje</a:t>
            </a:r>
            <a:r>
              <a:rPr lang="en-US" sz="2400" dirty="0" smtClean="0"/>
              <a:t>, </a:t>
            </a:r>
            <a:r>
              <a:rPr lang="en-US" sz="2400" dirty="0" err="1" smtClean="0"/>
              <a:t>te</a:t>
            </a:r>
            <a:r>
              <a:rPr lang="en-US" sz="2400" dirty="0" smtClean="0"/>
              <a:t> da je </a:t>
            </a:r>
            <a:r>
              <a:rPr lang="en-US" sz="2400" dirty="0" err="1" smtClean="0"/>
              <a:t>zamjenjuju</a:t>
            </a:r>
            <a:r>
              <a:rPr lang="en-US" sz="2400" dirty="0" smtClean="0"/>
              <a:t> </a:t>
            </a:r>
            <a:r>
              <a:rPr lang="en-US" sz="2400" dirty="0" err="1" smtClean="0"/>
              <a:t>mnogobrojni</a:t>
            </a:r>
            <a:r>
              <a:rPr lang="en-US" sz="2400" dirty="0" smtClean="0"/>
              <a:t> </a:t>
            </a:r>
            <a:r>
              <a:rPr lang="en-US" sz="2400" dirty="0" err="1" smtClean="0"/>
              <a:t>različiti</a:t>
            </a:r>
            <a:r>
              <a:rPr lang="en-US" sz="2400" dirty="0" smtClean="0"/>
              <a:t> </a:t>
            </a:r>
            <a:r>
              <a:rPr lang="en-US" sz="2400" dirty="0" err="1" smtClean="0"/>
              <a:t>načini</a:t>
            </a:r>
            <a:r>
              <a:rPr lang="en-US" sz="2400" dirty="0" smtClean="0"/>
              <a:t> </a:t>
            </a:r>
            <a:r>
              <a:rPr lang="en-US" sz="2400" dirty="0" err="1" smtClean="0"/>
              <a:t>življenja</a:t>
            </a:r>
            <a:r>
              <a:rPr lang="en-US" sz="2400" dirty="0" smtClean="0"/>
              <a:t> u </a:t>
            </a:r>
            <a:r>
              <a:rPr lang="en-US" sz="2400" dirty="0" err="1" smtClean="0"/>
              <a:t>zajednicama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Zlatno</a:t>
            </a:r>
            <a:r>
              <a:rPr lang="en-US" sz="2400" dirty="0" smtClean="0"/>
              <a:t> </a:t>
            </a:r>
            <a:r>
              <a:rPr lang="en-US" sz="2400" dirty="0" err="1" smtClean="0"/>
              <a:t>doba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obitelji</a:t>
            </a:r>
            <a:r>
              <a:rPr lang="en-US" sz="2400" dirty="0" smtClean="0"/>
              <a:t> je </a:t>
            </a:r>
            <a:r>
              <a:rPr lang="en-US" sz="2400" dirty="0" err="1" smtClean="0"/>
              <a:t>pred</a:t>
            </a:r>
            <a:r>
              <a:rPr lang="en-US" sz="2400" dirty="0" smtClean="0"/>
              <a:t> </a:t>
            </a:r>
            <a:r>
              <a:rPr lang="en-US" sz="2400" dirty="0" err="1" smtClean="0"/>
              <a:t>nama</a:t>
            </a:r>
            <a:r>
              <a:rPr lang="en-US" sz="2400" dirty="0" smtClean="0"/>
              <a:t> </a:t>
            </a:r>
            <a:r>
              <a:rPr lang="en-US" sz="2400" dirty="0" err="1" smtClean="0"/>
              <a:t>jer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muškarac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žena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ravnopravni</a:t>
            </a:r>
            <a:r>
              <a:rPr lang="en-US" sz="2400" dirty="0" smtClean="0"/>
              <a:t>, pa </a:t>
            </a:r>
            <a:r>
              <a:rPr lang="en-US" sz="2400" dirty="0" err="1" smtClean="0"/>
              <a:t>mogu</a:t>
            </a:r>
            <a:r>
              <a:rPr lang="en-US" sz="2400" dirty="0" smtClean="0"/>
              <a:t> </a:t>
            </a:r>
            <a:r>
              <a:rPr lang="en-US" sz="2400" dirty="0" err="1" smtClean="0"/>
              <a:t>birati</a:t>
            </a:r>
            <a:r>
              <a:rPr lang="en-US" sz="2400" dirty="0" smtClean="0"/>
              <a:t> </a:t>
            </a:r>
            <a:r>
              <a:rPr lang="en-US" sz="2400" dirty="0" err="1" smtClean="0"/>
              <a:t>partnere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živjeti</a:t>
            </a:r>
            <a:r>
              <a:rPr lang="en-US" sz="2400" dirty="0" smtClean="0"/>
              <a:t> u </a:t>
            </a:r>
            <a:r>
              <a:rPr lang="en-US" sz="2400" dirty="0" err="1" smtClean="0"/>
              <a:t>slozi</a:t>
            </a:r>
            <a:r>
              <a:rPr lang="en-US" sz="2400" dirty="0"/>
              <a:t>.</a:t>
            </a:r>
            <a:endParaRPr lang="hr-HR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102524" y="602128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smtClean="0"/>
              <a:t>OBITELJ postaje svjestan izbor!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5073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7358" y="2052919"/>
            <a:ext cx="11665296" cy="4195481"/>
          </a:xfrm>
        </p:spPr>
        <p:txBody>
          <a:bodyPr>
            <a:normAutofit/>
          </a:bodyPr>
          <a:lstStyle/>
          <a:p>
            <a:r>
              <a:rPr lang="hr-HR" sz="2400" dirty="0" smtClean="0"/>
              <a:t>Napišite u bilježnicu što za vas znači obitelj i zašto vam je važna?</a:t>
            </a:r>
            <a:endParaRPr lang="hr-HR" sz="2400" dirty="0"/>
          </a:p>
        </p:txBody>
      </p:sp>
      <p:sp>
        <p:nvSpPr>
          <p:cNvPr id="6" name="Explosion 1 5"/>
          <p:cNvSpPr/>
          <p:nvPr/>
        </p:nvSpPr>
        <p:spPr>
          <a:xfrm>
            <a:off x="261765" y="2052919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7" name="TextBox 6"/>
          <p:cNvSpPr txBox="1"/>
          <p:nvPr/>
        </p:nvSpPr>
        <p:spPr>
          <a:xfrm>
            <a:off x="633222" y="2780928"/>
            <a:ext cx="1042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 smtClean="0"/>
              <a:t>Najvažnija društvena institucija.</a:t>
            </a:r>
            <a:endParaRPr lang="hr-HR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27358" y="3414968"/>
            <a:ext cx="10579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 smtClean="0"/>
              <a:t>Univerzalna. </a:t>
            </a:r>
            <a:r>
              <a:rPr lang="hr-HR" sz="2400" dirty="0"/>
              <a:t>Zajedničke karakteristike u različitim kulturama</a:t>
            </a:r>
          </a:p>
          <a:p>
            <a:r>
              <a:rPr lang="hr-HR" sz="2400" dirty="0" smtClean="0"/>
              <a:t> </a:t>
            </a:r>
            <a:endParaRPr lang="hr-HR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89756" y="4445636"/>
            <a:ext cx="11809311" cy="1200329"/>
          </a:xfrm>
          <a:prstGeom prst="rect">
            <a:avLst/>
          </a:prstGeom>
          <a:solidFill>
            <a:srgbClr val="B01513"/>
          </a:solidFill>
          <a:ln>
            <a:solidFill>
              <a:srgbClr val="B01513"/>
            </a:solidFill>
          </a:ln>
        </p:spPr>
        <p:txBody>
          <a:bodyPr wrap="square" rtlCol="0">
            <a:spAutoFit/>
          </a:bodyPr>
          <a:lstStyle/>
          <a:p>
            <a:r>
              <a:rPr lang="hr-HR" sz="2400" dirty="0" smtClean="0"/>
              <a:t>OBITELJ je </a:t>
            </a:r>
            <a:r>
              <a:rPr lang="hr-HR" sz="2400" u="sng" dirty="0" smtClean="0"/>
              <a:t>primarna</a:t>
            </a:r>
            <a:r>
              <a:rPr lang="hr-HR" sz="2400" dirty="0" smtClean="0"/>
              <a:t> društvena grupa povezana brakom, srodstvom ili posvajanjem čiji članovi žive zajedno te emocionalno i ekonomski skrbe za potomstvo.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39210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188640"/>
            <a:ext cx="10489029" cy="6480719"/>
          </a:xfrm>
        </p:spPr>
        <p:txBody>
          <a:bodyPr>
            <a:normAutofit/>
          </a:bodyPr>
          <a:lstStyle/>
          <a:p>
            <a:r>
              <a:rPr lang="hr-HR" sz="2400" dirty="0" smtClean="0"/>
              <a:t>Obitelj ima mnogobrojne </a:t>
            </a:r>
            <a:r>
              <a:rPr lang="hr-HR" sz="2400" b="1" dirty="0" smtClean="0"/>
              <a:t>funkcije</a:t>
            </a:r>
            <a:r>
              <a:rPr lang="hr-HR" sz="2400" dirty="0" smtClean="0"/>
              <a:t>:</a:t>
            </a:r>
          </a:p>
          <a:p>
            <a:pPr marL="0" indent="0">
              <a:buNone/>
            </a:pPr>
            <a:r>
              <a:rPr lang="hr-HR" sz="2400" b="1" dirty="0" smtClean="0"/>
              <a:t>1. REPRODUKCIJA</a:t>
            </a:r>
          </a:p>
          <a:p>
            <a:pPr marL="0" indent="0">
              <a:buNone/>
            </a:pPr>
            <a:r>
              <a:rPr lang="hr-HR" sz="2400" dirty="0" smtClean="0"/>
              <a:t>Društvo da bi se održalo mora obnavljati svoje članove iz generacije u generaciju.</a:t>
            </a:r>
          </a:p>
          <a:p>
            <a:pPr marL="0" indent="0">
              <a:buNone/>
            </a:pPr>
            <a:r>
              <a:rPr lang="hr-HR" sz="2400" b="1" dirty="0" smtClean="0"/>
              <a:t>2. REGULACIJA SPOLNOG PONAŠANJA</a:t>
            </a:r>
          </a:p>
          <a:p>
            <a:pPr marL="0" indent="0">
              <a:buNone/>
            </a:pPr>
            <a:r>
              <a:rPr lang="hr-HR" sz="2400" dirty="0" smtClean="0"/>
              <a:t>Nigdje ne postoji potpuna sloboda u spolnome ponašanju već svako društvo ga nastoji urediti. U svim društvima postoje norme koje ograničavaju ili zabranjuju spolne aktivnosti izvan bračne zajednice i te norme onda doprinose stabilizaciji društva.</a:t>
            </a:r>
            <a:r>
              <a:rPr lang="en-US" sz="2400" dirty="0" smtClean="0"/>
              <a:t> </a:t>
            </a:r>
            <a:r>
              <a:rPr lang="en-US" sz="2400" dirty="0" err="1" smtClean="0"/>
              <a:t>Međutim</a:t>
            </a:r>
            <a:r>
              <a:rPr lang="en-US" sz="2400" dirty="0" smtClean="0"/>
              <a:t>, </a:t>
            </a:r>
            <a:r>
              <a:rPr lang="en-US" sz="2400" dirty="0" err="1" smtClean="0"/>
              <a:t>danas</a:t>
            </a:r>
            <a:r>
              <a:rPr lang="en-US" sz="2400" dirty="0" smtClean="0"/>
              <a:t> se </a:t>
            </a:r>
            <a:r>
              <a:rPr lang="en-US" sz="2400" dirty="0" err="1" smtClean="0"/>
              <a:t>mnoga</a:t>
            </a:r>
            <a:r>
              <a:rPr lang="en-US" sz="2400" dirty="0" smtClean="0"/>
              <a:t> </a:t>
            </a:r>
            <a:r>
              <a:rPr lang="en-US" sz="2400" dirty="0" err="1" smtClean="0"/>
              <a:t>djeca</a:t>
            </a:r>
            <a:r>
              <a:rPr lang="en-US" sz="2400" dirty="0" smtClean="0"/>
              <a:t> </a:t>
            </a:r>
            <a:r>
              <a:rPr lang="en-US" sz="2400" dirty="0" err="1" smtClean="0"/>
              <a:t>rađaju</a:t>
            </a:r>
            <a:r>
              <a:rPr lang="en-US" sz="2400" dirty="0" smtClean="0"/>
              <a:t> </a:t>
            </a:r>
            <a:r>
              <a:rPr lang="en-US" sz="2400" dirty="0" err="1" smtClean="0"/>
              <a:t>izvan</a:t>
            </a:r>
            <a:r>
              <a:rPr lang="en-US" sz="2400" dirty="0" smtClean="0"/>
              <a:t> </a:t>
            </a:r>
            <a:r>
              <a:rPr lang="en-US" sz="2400" dirty="0" err="1" smtClean="0"/>
              <a:t>bračne</a:t>
            </a:r>
            <a:r>
              <a:rPr lang="en-US" sz="2400" dirty="0" smtClean="0"/>
              <a:t> </a:t>
            </a:r>
            <a:r>
              <a:rPr lang="en-US" sz="2400" dirty="0" err="1" smtClean="0"/>
              <a:t>zajednice</a:t>
            </a:r>
            <a:r>
              <a:rPr lang="en-US" sz="2400" dirty="0" smtClean="0"/>
              <a:t>, pa se </a:t>
            </a:r>
            <a:r>
              <a:rPr lang="en-US" sz="2400" dirty="0" err="1" smtClean="0"/>
              <a:t>mnogi</a:t>
            </a:r>
            <a:r>
              <a:rPr lang="en-US" sz="2400" dirty="0" smtClean="0"/>
              <a:t> </a:t>
            </a:r>
            <a:r>
              <a:rPr lang="en-US" sz="2400" dirty="0" err="1" smtClean="0"/>
              <a:t>brakovi</a:t>
            </a:r>
            <a:r>
              <a:rPr lang="en-US" sz="2400" dirty="0" smtClean="0"/>
              <a:t> </a:t>
            </a:r>
            <a:r>
              <a:rPr lang="en-US" sz="2400" dirty="0" err="1" smtClean="0"/>
              <a:t>zasnivaju</a:t>
            </a:r>
            <a:r>
              <a:rPr lang="en-US" sz="2400" dirty="0" smtClean="0"/>
              <a:t> </a:t>
            </a:r>
            <a:r>
              <a:rPr lang="en-US" sz="2400" dirty="0" err="1" smtClean="0"/>
              <a:t>tek</a:t>
            </a:r>
            <a:r>
              <a:rPr lang="en-US" sz="2400" dirty="0" smtClean="0"/>
              <a:t> </a:t>
            </a:r>
            <a:r>
              <a:rPr lang="en-US" sz="2400" dirty="0" err="1" smtClean="0"/>
              <a:t>nakon</a:t>
            </a:r>
            <a:r>
              <a:rPr lang="en-US" sz="2400" dirty="0" smtClean="0"/>
              <a:t> </a:t>
            </a:r>
            <a:r>
              <a:rPr lang="en-US" sz="2400" dirty="0" err="1" smtClean="0"/>
              <a:t>rođenja</a:t>
            </a:r>
            <a:r>
              <a:rPr lang="en-US" sz="2400" dirty="0" smtClean="0"/>
              <a:t> </a:t>
            </a:r>
            <a:r>
              <a:rPr lang="en-US" sz="2400" dirty="0" err="1" smtClean="0"/>
              <a:t>djece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3. SOCIJALIZACIJA</a:t>
            </a:r>
          </a:p>
          <a:p>
            <a:pPr marL="0" indent="0">
              <a:buNone/>
            </a:pPr>
            <a:r>
              <a:rPr lang="en-US" sz="2400" dirty="0" err="1" smtClean="0"/>
              <a:t>Obitelj</a:t>
            </a:r>
            <a:r>
              <a:rPr lang="en-US" sz="2400" dirty="0" smtClean="0"/>
              <a:t> je </a:t>
            </a:r>
            <a:r>
              <a:rPr lang="en-US" sz="2400" dirty="0" err="1" smtClean="0"/>
              <a:t>posrednik</a:t>
            </a:r>
            <a:r>
              <a:rPr lang="en-US" sz="2400" dirty="0" smtClean="0"/>
              <a:t> </a:t>
            </a:r>
            <a:r>
              <a:rPr lang="en-US" sz="2400" dirty="0" err="1" smtClean="0"/>
              <a:t>između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pojedinca</a:t>
            </a:r>
            <a:r>
              <a:rPr lang="en-US" sz="2400" dirty="0" smtClean="0"/>
              <a:t> </a:t>
            </a:r>
            <a:r>
              <a:rPr lang="hr-HR" sz="2400" dirty="0" smtClean="0"/>
              <a:t>i zajednice jer roditelji unutar obitelji prenose vrijednosti i norme te jezik vlastite kulture. Tu se izravno utječe na psihički, emocionalni i socijalni razvoj djeteta.</a:t>
            </a:r>
          </a:p>
        </p:txBody>
      </p:sp>
    </p:spTree>
    <p:extLst>
      <p:ext uri="{BB962C8B-B14F-4D97-AF65-F5344CB8AC3E}">
        <p14:creationId xmlns:p14="http://schemas.microsoft.com/office/powerpoint/2010/main" val="230571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765" y="452719"/>
            <a:ext cx="9785472" cy="5795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2400" b="1" dirty="0" smtClean="0"/>
              <a:t>4. EMOCIONALNA PODRŠKA I SKRB</a:t>
            </a:r>
          </a:p>
          <a:p>
            <a:pPr marL="0" indent="0">
              <a:buNone/>
            </a:pPr>
            <a:r>
              <a:rPr lang="hr-HR" sz="2400" dirty="0" smtClean="0"/>
              <a:t>Od svog rođenja dijete ovisi o odraslim članovima obitelji i zato obitelj treba biti mjesto koje pruža brigu, sigurnost, s</a:t>
            </a:r>
            <a:r>
              <a:rPr lang="en-US" sz="2400" dirty="0" smtClean="0"/>
              <a:t>k</a:t>
            </a:r>
            <a:r>
              <a:rPr lang="hr-HR" sz="2400" dirty="0" smtClean="0"/>
              <a:t>rb i zaštitu. Bitna je i emocionalna podrška, to jest da se dijete osjeća prihvaćeno i voljeno.</a:t>
            </a:r>
          </a:p>
          <a:p>
            <a:pPr marL="0" indent="0">
              <a:buNone/>
            </a:pPr>
            <a:r>
              <a:rPr lang="hr-HR" sz="2400" b="1" dirty="0" smtClean="0"/>
              <a:t>5. PRIDAVANJE SOCIJALNOG POLOŽAJA</a:t>
            </a:r>
          </a:p>
          <a:p>
            <a:pPr marL="0" indent="0">
              <a:buNone/>
            </a:pPr>
            <a:r>
              <a:rPr lang="hr-HR" sz="2400" dirty="0" smtClean="0"/>
              <a:t>Svakom članu obitelji pripisan je određeni položaj. To može biti kći, sin, unuk ili unuka, brat ili sestra. Obitelj tako smješta svoje članove u mrežu određenih odnosa u kojoj se dijete uči odnosima unutar obitelji. Međutim, dijete razvija i osjećaj pripadnosti široj društvenoj grupi kao što su etnička grupa, religijska grupa, rasna ili nacionalna pripadnost. Obitelj može utjecati na buduće položaje svojih članova (izbor škole ili fakulteta)</a:t>
            </a:r>
          </a:p>
          <a:p>
            <a:pPr marL="0" indent="0">
              <a:buNone/>
            </a:pPr>
            <a:endParaRPr lang="hr-HR" sz="2400" b="1" dirty="0"/>
          </a:p>
        </p:txBody>
      </p:sp>
    </p:spTree>
    <p:extLst>
      <p:ext uri="{BB962C8B-B14F-4D97-AF65-F5344CB8AC3E}">
        <p14:creationId xmlns:p14="http://schemas.microsoft.com/office/powerpoint/2010/main" val="371373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781" y="2276871"/>
            <a:ext cx="9641456" cy="3971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2400" b="1" dirty="0" smtClean="0"/>
              <a:t>6. EKONOMSKA FUNKCIJA</a:t>
            </a:r>
          </a:p>
          <a:p>
            <a:pPr marL="0" indent="0">
              <a:buNone/>
            </a:pPr>
            <a:r>
              <a:rPr lang="hr-HR" sz="2400" dirty="0" smtClean="0"/>
              <a:t>Služi tome da se kvalitetno ispune sve dosad navedene funkcije. Obitelj mora svojim radom i prihodima osigurati zadovoljenje egzistencijalnih potreba (hrana, odjeća, obuća, stambeni prostor...).</a:t>
            </a:r>
          </a:p>
          <a:p>
            <a:pPr marL="0" indent="0">
              <a:buNone/>
            </a:pPr>
            <a:endParaRPr lang="hr-HR" sz="2400" dirty="0"/>
          </a:p>
          <a:p>
            <a:pPr marL="0" indent="0" algn="ctr">
              <a:buNone/>
            </a:pPr>
            <a:endParaRPr lang="hr-HR" sz="2400" dirty="0" smtClean="0"/>
          </a:p>
          <a:p>
            <a:pPr marL="0" indent="0">
              <a:buNone/>
            </a:pPr>
            <a:endParaRPr lang="hr-HR" sz="2400" b="1" dirty="0"/>
          </a:p>
        </p:txBody>
      </p:sp>
    </p:spTree>
    <p:extLst>
      <p:ext uri="{BB962C8B-B14F-4D97-AF65-F5344CB8AC3E}">
        <p14:creationId xmlns:p14="http://schemas.microsoft.com/office/powerpoint/2010/main" val="282152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452719"/>
            <a:ext cx="9401293" cy="57956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r-HR" sz="3200" b="1" dirty="0" smtClean="0"/>
              <a:t>SASTAV OBITELJI</a:t>
            </a:r>
          </a:p>
          <a:p>
            <a:pPr marL="0" indent="0" algn="just">
              <a:buNone/>
            </a:pPr>
            <a:endParaRPr lang="hr-HR" sz="2400" dirty="0"/>
          </a:p>
        </p:txBody>
      </p:sp>
      <p:sp>
        <p:nvSpPr>
          <p:cNvPr id="4" name="Explosion 1 3"/>
          <p:cNvSpPr/>
          <p:nvPr/>
        </p:nvSpPr>
        <p:spPr>
          <a:xfrm>
            <a:off x="273504" y="1580942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1269876" y="1601221"/>
            <a:ext cx="90730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dirty="0" smtClean="0"/>
              <a:t>Uzmite prazan A4 list papira i na sredini tog lista napišite svoje ime. S lijeve strane svog imena napišite ime svoje majke, ime oca, ime brata ili sestre ako ih imate.</a:t>
            </a:r>
          </a:p>
          <a:p>
            <a:r>
              <a:rPr lang="hr-HR" sz="2400" dirty="0" smtClean="0"/>
              <a:t>Nakon toga, s desne strane svojeg imena napišite opet ime svojeg oca, majke, brata i/ili sestre ali dodajte i imena svojih djedova, baka, majčine sestre, brata, te očevog brata i/ili sestre ako ih imate.</a:t>
            </a:r>
            <a:endParaRPr lang="en-US" sz="2400" dirty="0" smtClean="0"/>
          </a:p>
          <a:p>
            <a:endParaRPr lang="en-US" sz="2400" dirty="0"/>
          </a:p>
          <a:p>
            <a:endParaRPr lang="hr-HR" sz="2400" dirty="0" smtClean="0"/>
          </a:p>
          <a:p>
            <a:endParaRPr lang="hr-HR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266926" y="4232711"/>
            <a:ext cx="7992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Ako</a:t>
            </a:r>
            <a:r>
              <a:rPr lang="en-US" sz="2400" dirty="0" smtClean="0"/>
              <a:t> </a:t>
            </a:r>
            <a:r>
              <a:rPr lang="en-US" sz="2400" dirty="0" err="1" smtClean="0"/>
              <a:t>zaokružimo</a:t>
            </a:r>
            <a:r>
              <a:rPr lang="en-US" sz="2400" dirty="0" smtClean="0"/>
              <a:t> vas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osobe</a:t>
            </a:r>
            <a:r>
              <a:rPr lang="en-US" sz="2400" dirty="0" smtClean="0"/>
              <a:t> s </a:t>
            </a:r>
            <a:r>
              <a:rPr lang="en-US" sz="2400" dirty="0" err="1" smtClean="0"/>
              <a:t>lijeve</a:t>
            </a:r>
            <a:r>
              <a:rPr lang="en-US" sz="2400" dirty="0" smtClean="0"/>
              <a:t> </a:t>
            </a:r>
            <a:r>
              <a:rPr lang="en-US" sz="2400" dirty="0" err="1" smtClean="0"/>
              <a:t>strane</a:t>
            </a:r>
            <a:r>
              <a:rPr lang="en-US" sz="2400" dirty="0" smtClean="0"/>
              <a:t>, </a:t>
            </a:r>
            <a:r>
              <a:rPr lang="en-US" sz="2400" dirty="0" err="1" smtClean="0"/>
              <a:t>onda</a:t>
            </a:r>
            <a:r>
              <a:rPr lang="en-US" sz="2400" dirty="0" smtClean="0"/>
              <a:t> to </a:t>
            </a:r>
            <a:r>
              <a:rPr lang="en-US" sz="2400" dirty="0" err="1" smtClean="0"/>
              <a:t>čini</a:t>
            </a:r>
            <a:r>
              <a:rPr lang="en-US" sz="2400" dirty="0" smtClean="0"/>
              <a:t> </a:t>
            </a:r>
            <a:r>
              <a:rPr lang="en-US" sz="2400" b="1" dirty="0" smtClean="0"/>
              <a:t>NUKLEARNU OBITELJ</a:t>
            </a:r>
            <a:r>
              <a:rPr lang="en-US" sz="2400" dirty="0" smtClean="0"/>
              <a:t>. 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74605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NUKLEARNA OBITELJ </a:t>
            </a:r>
            <a:r>
              <a:rPr lang="en-US" sz="2400" dirty="0" smtClean="0"/>
              <a:t>- </a:t>
            </a:r>
            <a:r>
              <a:rPr lang="en-US" sz="2400" dirty="0" err="1"/>
              <a:t>Čine</a:t>
            </a:r>
            <a:r>
              <a:rPr lang="en-US" sz="2400" dirty="0"/>
              <a:t> </a:t>
            </a:r>
            <a:r>
              <a:rPr lang="en-US" sz="2400" dirty="0" err="1"/>
              <a:t>ju</a:t>
            </a:r>
            <a:r>
              <a:rPr lang="en-US" sz="2400" dirty="0"/>
              <a:t> </a:t>
            </a:r>
            <a:r>
              <a:rPr lang="en-US" sz="2400" dirty="0" err="1"/>
              <a:t>roditelji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djeca</a:t>
            </a:r>
            <a:r>
              <a:rPr lang="en-US" sz="2400" dirty="0"/>
              <a:t>. </a:t>
            </a:r>
            <a:r>
              <a:rPr lang="en-US" sz="2400" dirty="0" err="1"/>
              <a:t>Prisutna</a:t>
            </a:r>
            <a:r>
              <a:rPr lang="en-US" sz="2400" dirty="0"/>
              <a:t> je u </a:t>
            </a:r>
            <a:r>
              <a:rPr lang="en-US" sz="2400" dirty="0" err="1" smtClean="0"/>
              <a:t>modernim</a:t>
            </a:r>
            <a:r>
              <a:rPr lang="en-US" sz="2400" dirty="0" smtClean="0"/>
              <a:t> </a:t>
            </a:r>
            <a:r>
              <a:rPr lang="en-US" sz="2400" dirty="0" err="1"/>
              <a:t>društvima</a:t>
            </a:r>
            <a:r>
              <a:rPr lang="en-US" sz="2400" dirty="0"/>
              <a:t>. </a:t>
            </a:r>
            <a:r>
              <a:rPr lang="en-US" sz="2400" dirty="0" err="1"/>
              <a:t>Članovi</a:t>
            </a:r>
            <a:r>
              <a:rPr lang="en-US" sz="2400" dirty="0"/>
              <a:t> </a:t>
            </a:r>
            <a:r>
              <a:rPr lang="en-US" sz="2400" dirty="0" err="1"/>
              <a:t>nuklearne</a:t>
            </a:r>
            <a:r>
              <a:rPr lang="en-US" sz="2400" dirty="0"/>
              <a:t> </a:t>
            </a:r>
            <a:r>
              <a:rPr lang="en-US" sz="2400" dirty="0" err="1"/>
              <a:t>obitelji</a:t>
            </a:r>
            <a:r>
              <a:rPr lang="en-US" sz="2400" dirty="0"/>
              <a:t> </a:t>
            </a:r>
            <a:r>
              <a:rPr lang="en-US" sz="2400" dirty="0" err="1"/>
              <a:t>žive</a:t>
            </a:r>
            <a:r>
              <a:rPr lang="en-US" sz="2400" dirty="0"/>
              <a:t> </a:t>
            </a:r>
            <a:r>
              <a:rPr lang="en-US" sz="2400" dirty="0" err="1"/>
              <a:t>zajedno</a:t>
            </a:r>
            <a:r>
              <a:rPr lang="en-US" sz="2400" dirty="0"/>
              <a:t>,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obiteljska</a:t>
            </a:r>
            <a:r>
              <a:rPr lang="en-US" sz="2400" dirty="0"/>
              <a:t> </a:t>
            </a:r>
            <a:r>
              <a:rPr lang="en-US" sz="2400" dirty="0" err="1"/>
              <a:t>jezgra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prostorno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odvojeni</a:t>
            </a:r>
            <a:r>
              <a:rPr lang="en-US" sz="2400" dirty="0"/>
              <a:t> od </a:t>
            </a:r>
            <a:r>
              <a:rPr lang="en-US" sz="2400" dirty="0" err="1"/>
              <a:t>ostalih</a:t>
            </a:r>
            <a:r>
              <a:rPr lang="en-US" sz="2400" dirty="0"/>
              <a:t> </a:t>
            </a:r>
            <a:r>
              <a:rPr lang="en-US" sz="2400" dirty="0" err="1"/>
              <a:t>srodnika</a:t>
            </a:r>
            <a:r>
              <a:rPr lang="en-US" sz="2400" dirty="0"/>
              <a:t>, no s </a:t>
            </a:r>
            <a:r>
              <a:rPr lang="en-US" sz="2400" dirty="0" err="1"/>
              <a:t>njima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/>
              <a:t>dalje</a:t>
            </a:r>
            <a:r>
              <a:rPr lang="en-US" sz="2400" dirty="0"/>
              <a:t> </a:t>
            </a:r>
            <a:r>
              <a:rPr lang="en-US" sz="2400" dirty="0" err="1"/>
              <a:t>povezani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hr-HR" sz="2400" dirty="0"/>
          </a:p>
          <a:p>
            <a:pPr marL="0" indent="0">
              <a:buNone/>
            </a:pPr>
            <a:r>
              <a:rPr lang="en-US" sz="2400" dirty="0" err="1" smtClean="0"/>
              <a:t>Ako</a:t>
            </a:r>
            <a:r>
              <a:rPr lang="en-US" sz="2400" dirty="0" smtClean="0"/>
              <a:t> </a:t>
            </a:r>
            <a:r>
              <a:rPr lang="en-US" sz="2400" dirty="0" err="1" smtClean="0"/>
              <a:t>zaokružimo</a:t>
            </a:r>
            <a:r>
              <a:rPr lang="en-US" sz="2400" dirty="0" smtClean="0"/>
              <a:t> vas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osobe</a:t>
            </a:r>
            <a:r>
              <a:rPr lang="en-US" sz="2400" dirty="0" smtClean="0"/>
              <a:t> s </a:t>
            </a:r>
            <a:r>
              <a:rPr lang="en-US" sz="2400" dirty="0" err="1" smtClean="0"/>
              <a:t>desne</a:t>
            </a:r>
            <a:r>
              <a:rPr lang="en-US" sz="2400" dirty="0" smtClean="0"/>
              <a:t> </a:t>
            </a:r>
            <a:r>
              <a:rPr lang="en-US" sz="2400" dirty="0" err="1" smtClean="0"/>
              <a:t>strane</a:t>
            </a:r>
            <a:r>
              <a:rPr lang="en-US" sz="2400" dirty="0" smtClean="0"/>
              <a:t>, </a:t>
            </a:r>
            <a:r>
              <a:rPr lang="en-US" sz="2400" dirty="0" err="1" smtClean="0"/>
              <a:t>onda</a:t>
            </a:r>
            <a:r>
              <a:rPr lang="en-US" sz="2400" dirty="0" smtClean="0"/>
              <a:t> to </a:t>
            </a:r>
            <a:r>
              <a:rPr lang="en-US" sz="2400" dirty="0" err="1" smtClean="0"/>
              <a:t>čini</a:t>
            </a:r>
            <a:r>
              <a:rPr lang="en-US" sz="2400" dirty="0" smtClean="0"/>
              <a:t> PROŠIRENU OBITELJ.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0682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PROŠIRENA OBITELJ </a:t>
            </a:r>
            <a:r>
              <a:rPr lang="en-US" sz="2400" dirty="0" smtClean="0"/>
              <a:t> - </a:t>
            </a:r>
            <a:r>
              <a:rPr lang="en-US" sz="2400" dirty="0" err="1" smtClean="0"/>
              <a:t>Čine</a:t>
            </a:r>
            <a:r>
              <a:rPr lang="en-US" sz="2400" dirty="0" smtClean="0"/>
              <a:t> </a:t>
            </a:r>
            <a:r>
              <a:rPr lang="en-US" sz="2400" dirty="0" err="1" smtClean="0"/>
              <a:t>ju</a:t>
            </a:r>
            <a:r>
              <a:rPr lang="en-US" sz="2400" dirty="0" smtClean="0"/>
              <a:t> </a:t>
            </a:r>
            <a:r>
              <a:rPr lang="en-US" sz="2400" dirty="0" err="1" smtClean="0"/>
              <a:t>roditelji</a:t>
            </a:r>
            <a:r>
              <a:rPr lang="en-US" sz="2400" dirty="0" smtClean="0"/>
              <a:t>, </a:t>
            </a:r>
            <a:r>
              <a:rPr lang="en-US" sz="2400" dirty="0" err="1" smtClean="0"/>
              <a:t>djeca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ostali</a:t>
            </a:r>
            <a:r>
              <a:rPr lang="en-US" sz="2400" dirty="0" smtClean="0"/>
              <a:t> </a:t>
            </a:r>
            <a:r>
              <a:rPr lang="en-US" sz="2400" dirty="0" err="1" smtClean="0"/>
              <a:t>srodnici</a:t>
            </a:r>
            <a:r>
              <a:rPr lang="en-US" sz="2400" dirty="0" smtClean="0"/>
              <a:t>. </a:t>
            </a:r>
            <a:r>
              <a:rPr lang="en-US" sz="2400" dirty="0" err="1" smtClean="0"/>
              <a:t>Takvu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 </a:t>
            </a:r>
            <a:r>
              <a:rPr lang="en-US" sz="2400" dirty="0" err="1" smtClean="0"/>
              <a:t>čini</a:t>
            </a:r>
            <a:r>
              <a:rPr lang="en-US" sz="2400" dirty="0" smtClean="0"/>
              <a:t>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naraštaja</a:t>
            </a:r>
            <a:r>
              <a:rPr lang="en-US" sz="2400" dirty="0" smtClean="0"/>
              <a:t> </a:t>
            </a:r>
            <a:r>
              <a:rPr lang="en-US" sz="2400" dirty="0" err="1" smtClean="0"/>
              <a:t>povezanih</a:t>
            </a:r>
            <a:r>
              <a:rPr lang="en-US" sz="2400" dirty="0" smtClean="0"/>
              <a:t> </a:t>
            </a:r>
            <a:r>
              <a:rPr lang="en-US" sz="2400" dirty="0" err="1" smtClean="0"/>
              <a:t>krvnim</a:t>
            </a:r>
            <a:r>
              <a:rPr lang="en-US" sz="2400" dirty="0" smtClean="0"/>
              <a:t> </a:t>
            </a:r>
            <a:r>
              <a:rPr lang="en-US" sz="2400" dirty="0" err="1" smtClean="0"/>
              <a:t>srodstvom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prisutnija</a:t>
            </a:r>
            <a:r>
              <a:rPr lang="en-US" sz="2400" dirty="0" smtClean="0"/>
              <a:t> je u </a:t>
            </a:r>
            <a:r>
              <a:rPr lang="en-US" sz="2400" dirty="0" err="1" smtClean="0"/>
              <a:t>tradicionalnim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društvima</a:t>
            </a:r>
            <a:endParaRPr lang="hr-HR" sz="2400" b="1" dirty="0"/>
          </a:p>
        </p:txBody>
      </p:sp>
    </p:spTree>
    <p:extLst>
      <p:ext uri="{BB962C8B-B14F-4D97-AF65-F5344CB8AC3E}">
        <p14:creationId xmlns:p14="http://schemas.microsoft.com/office/powerpoint/2010/main" val="285063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788" y="452718"/>
            <a:ext cx="9793087" cy="62166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 smtClean="0"/>
              <a:t>VRSTE OBITELJI</a:t>
            </a:r>
          </a:p>
          <a:p>
            <a:pPr marL="0" indent="0">
              <a:buNone/>
            </a:pPr>
            <a:r>
              <a:rPr lang="en-US" sz="2400" dirty="0" err="1"/>
              <a:t>O</a:t>
            </a:r>
            <a:r>
              <a:rPr lang="en-US" sz="2400" dirty="0" err="1" smtClean="0"/>
              <a:t>bitelji</a:t>
            </a:r>
            <a:r>
              <a:rPr lang="en-US" sz="2400" dirty="0" smtClean="0"/>
              <a:t> se </a:t>
            </a:r>
            <a:r>
              <a:rPr lang="en-US" sz="2400" dirty="0" err="1" smtClean="0"/>
              <a:t>razlikuju</a:t>
            </a:r>
            <a:r>
              <a:rPr lang="en-US" sz="2400" dirty="0" smtClean="0"/>
              <a:t> s </a:t>
            </a:r>
            <a:r>
              <a:rPr lang="en-US" sz="2400" b="1" dirty="0" err="1" smtClean="0"/>
              <a:t>obzirom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nasljeđivanje</a:t>
            </a:r>
            <a:r>
              <a:rPr lang="en-US" sz="2400" dirty="0" smtClean="0"/>
              <a:t>, s </a:t>
            </a:r>
            <a:r>
              <a:rPr lang="en-US" sz="2400" b="1" dirty="0" err="1" smtClean="0"/>
              <a:t>obzirom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obitavanje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s </a:t>
            </a:r>
            <a:r>
              <a:rPr lang="en-US" sz="2400" b="1" dirty="0" err="1" smtClean="0"/>
              <a:t>obzirom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odnos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moći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MATRIJARHAT I PATRIJARHAT?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 smtClean="0"/>
              <a:t>Matrijarhat</a:t>
            </a:r>
            <a:r>
              <a:rPr lang="en-US" sz="2400" dirty="0" smtClean="0"/>
              <a:t> </a:t>
            </a:r>
            <a:r>
              <a:rPr lang="en-US" sz="2400" dirty="0" err="1" smtClean="0"/>
              <a:t>podrazumijeva</a:t>
            </a:r>
            <a:r>
              <a:rPr lang="en-US" sz="2400" dirty="0" smtClean="0"/>
              <a:t> </a:t>
            </a:r>
            <a:r>
              <a:rPr lang="en-US" sz="2400" dirty="0" err="1" smtClean="0"/>
              <a:t>oblik</a:t>
            </a:r>
            <a:r>
              <a:rPr lang="en-US" sz="2400" dirty="0" smtClean="0"/>
              <a:t> </a:t>
            </a:r>
            <a:r>
              <a:rPr lang="en-US" sz="2400" dirty="0" err="1" smtClean="0"/>
              <a:t>vladavine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tradicije</a:t>
            </a:r>
            <a:r>
              <a:rPr lang="en-US" sz="2400" dirty="0" smtClean="0"/>
              <a:t> u </a:t>
            </a:r>
            <a:r>
              <a:rPr lang="en-US" sz="2400" dirty="0" err="1" smtClean="0"/>
              <a:t>kojoj</a:t>
            </a:r>
            <a:r>
              <a:rPr lang="en-US" sz="2400" dirty="0" smtClean="0"/>
              <a:t> je </a:t>
            </a:r>
            <a:r>
              <a:rPr lang="en-US" sz="2400" dirty="0" err="1" smtClean="0"/>
              <a:t>društvena</a:t>
            </a:r>
            <a:r>
              <a:rPr lang="en-US" sz="2400" dirty="0" smtClean="0"/>
              <a:t> </a:t>
            </a:r>
            <a:r>
              <a:rPr lang="en-US" sz="2400" dirty="0" err="1" smtClean="0"/>
              <a:t>moć</a:t>
            </a:r>
            <a:r>
              <a:rPr lang="en-US" sz="2400" dirty="0" smtClean="0"/>
              <a:t> u </a:t>
            </a:r>
            <a:r>
              <a:rPr lang="en-US" sz="2400" dirty="0" err="1" smtClean="0"/>
              <a:t>rukama</a:t>
            </a:r>
            <a:r>
              <a:rPr lang="en-US" sz="2400" dirty="0" smtClean="0"/>
              <a:t> </a:t>
            </a:r>
            <a:r>
              <a:rPr lang="en-US" sz="2400" dirty="0" err="1" smtClean="0"/>
              <a:t>najstarije</a:t>
            </a:r>
            <a:r>
              <a:rPr lang="en-US" sz="2400" dirty="0" smtClean="0"/>
              <a:t> </a:t>
            </a:r>
            <a:r>
              <a:rPr lang="en-US" sz="2400" dirty="0" err="1" smtClean="0"/>
              <a:t>žene</a:t>
            </a:r>
            <a:r>
              <a:rPr lang="en-US" sz="2400" dirty="0" smtClean="0"/>
              <a:t> u </a:t>
            </a:r>
            <a:r>
              <a:rPr lang="en-US" sz="2400" dirty="0" err="1" smtClean="0"/>
              <a:t>zajednici</a:t>
            </a:r>
            <a:r>
              <a:rPr lang="en-US" sz="2400" dirty="0" smtClean="0"/>
              <a:t>, </a:t>
            </a:r>
            <a:r>
              <a:rPr lang="en-US" sz="2400" dirty="0" err="1" smtClean="0"/>
              <a:t>dok</a:t>
            </a:r>
            <a:r>
              <a:rPr lang="en-US" sz="2400" dirty="0" smtClean="0"/>
              <a:t> </a:t>
            </a:r>
            <a:r>
              <a:rPr lang="en-US" sz="2400" b="1" dirty="0" err="1" smtClean="0"/>
              <a:t>patrijarhat</a:t>
            </a:r>
            <a:r>
              <a:rPr lang="en-US" sz="2400" dirty="0" smtClean="0"/>
              <a:t> </a:t>
            </a:r>
            <a:r>
              <a:rPr lang="en-US" sz="2400" dirty="0" err="1" smtClean="0"/>
              <a:t>podrazumijeva</a:t>
            </a:r>
            <a:r>
              <a:rPr lang="en-US" sz="2400" dirty="0" smtClean="0"/>
              <a:t> </a:t>
            </a:r>
            <a:r>
              <a:rPr lang="en-US" sz="2400" dirty="0" err="1" smtClean="0"/>
              <a:t>oblik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društvene</a:t>
            </a:r>
            <a:r>
              <a:rPr lang="en-US" sz="2400" dirty="0" smtClean="0"/>
              <a:t> </a:t>
            </a:r>
            <a:r>
              <a:rPr lang="en-US" sz="2400" dirty="0" err="1" smtClean="0"/>
              <a:t>organizacije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pak</a:t>
            </a:r>
            <a:r>
              <a:rPr lang="en-US" sz="2400" dirty="0" smtClean="0"/>
              <a:t> </a:t>
            </a:r>
            <a:r>
              <a:rPr lang="en-US" sz="2400" dirty="0" err="1" smtClean="0"/>
              <a:t>sustav</a:t>
            </a:r>
            <a:r>
              <a:rPr lang="en-US" sz="2400" dirty="0" smtClean="0"/>
              <a:t> u </a:t>
            </a:r>
            <a:r>
              <a:rPr lang="en-US" sz="2400" dirty="0" err="1" smtClean="0"/>
              <a:t>kojem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muškarci</a:t>
            </a:r>
            <a:r>
              <a:rPr lang="en-US" sz="2400" dirty="0" smtClean="0"/>
              <a:t> </a:t>
            </a:r>
            <a:r>
              <a:rPr lang="en-US" sz="2400" dirty="0" err="1" smtClean="0"/>
              <a:t>imaju</a:t>
            </a:r>
            <a:r>
              <a:rPr lang="en-US" sz="2400" dirty="0" smtClean="0"/>
              <a:t> </a:t>
            </a:r>
            <a:r>
              <a:rPr lang="en-US" sz="2400" dirty="0" err="1" smtClean="0"/>
              <a:t>primarnu</a:t>
            </a:r>
            <a:r>
              <a:rPr lang="en-US" sz="2400" dirty="0" smtClean="0"/>
              <a:t> </a:t>
            </a:r>
            <a:r>
              <a:rPr lang="en-US" sz="2400" dirty="0" err="1" smtClean="0"/>
              <a:t>kontrolu</a:t>
            </a:r>
            <a:r>
              <a:rPr lang="en-US" sz="2400" dirty="0" smtClean="0"/>
              <a:t> </a:t>
            </a:r>
            <a:r>
              <a:rPr lang="en-US" sz="2400" dirty="0" err="1" smtClean="0"/>
              <a:t>nad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društvenim</a:t>
            </a:r>
            <a:r>
              <a:rPr lang="en-US" sz="2400" dirty="0" smtClean="0"/>
              <a:t>, </a:t>
            </a:r>
            <a:r>
              <a:rPr lang="en-US" sz="2400" dirty="0" err="1" smtClean="0"/>
              <a:t>političko</a:t>
            </a:r>
            <a:r>
              <a:rPr lang="en-US" sz="2400" dirty="0" smtClean="0"/>
              <a:t> </a:t>
            </a:r>
            <a:r>
              <a:rPr lang="en-US" sz="2400" dirty="0" err="1" smtClean="0"/>
              <a:t>ekonomskim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kulturnim</a:t>
            </a:r>
            <a:r>
              <a:rPr lang="en-US" sz="2400" dirty="0" smtClean="0"/>
              <a:t> </a:t>
            </a:r>
            <a:r>
              <a:rPr lang="en-US" sz="2400" dirty="0" err="1" smtClean="0"/>
              <a:t>institucijama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 err="1" smtClean="0"/>
              <a:t>Sve</a:t>
            </a:r>
            <a:r>
              <a:rPr lang="en-US" sz="2400" dirty="0" smtClean="0"/>
              <a:t> tri </a:t>
            </a:r>
            <a:r>
              <a:rPr lang="en-US" sz="2400" dirty="0" err="1" smtClean="0"/>
              <a:t>navedene</a:t>
            </a:r>
            <a:r>
              <a:rPr lang="en-US" sz="2400" dirty="0" smtClean="0"/>
              <a:t> </a:t>
            </a:r>
            <a:r>
              <a:rPr lang="en-US" sz="2400" dirty="0" err="1" smtClean="0"/>
              <a:t>vrste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obitelji</a:t>
            </a:r>
            <a:r>
              <a:rPr lang="en-US" sz="2400" dirty="0" smtClean="0"/>
              <a:t> </a:t>
            </a:r>
            <a:r>
              <a:rPr lang="en-US" sz="2400" dirty="0" err="1" smtClean="0"/>
              <a:t>vežu</a:t>
            </a:r>
            <a:r>
              <a:rPr lang="en-US" sz="2400" dirty="0" smtClean="0"/>
              <a:t> se </a:t>
            </a:r>
            <a:r>
              <a:rPr lang="en-US" sz="2400" dirty="0" err="1" smtClean="0"/>
              <a:t>uz</a:t>
            </a:r>
            <a:r>
              <a:rPr lang="en-US" sz="2400" dirty="0" smtClean="0"/>
              <a:t> ta </a:t>
            </a:r>
            <a:r>
              <a:rPr lang="en-US" sz="2400" dirty="0" err="1" smtClean="0"/>
              <a:t>dva</a:t>
            </a:r>
            <a:r>
              <a:rPr lang="en-US" sz="2400" dirty="0" smtClean="0"/>
              <a:t> </a:t>
            </a:r>
            <a:r>
              <a:rPr lang="en-US" sz="2400" dirty="0" err="1" smtClean="0"/>
              <a:t>pojma</a:t>
            </a:r>
            <a:r>
              <a:rPr lang="en-US" sz="2400" dirty="0" smtClean="0"/>
              <a:t>. </a:t>
            </a:r>
            <a:endParaRPr lang="en-US" sz="2400" dirty="0"/>
          </a:p>
          <a:p>
            <a:pPr marL="0" indent="0">
              <a:buNone/>
            </a:pP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92948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452719"/>
            <a:ext cx="9713464" cy="57956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 smtClean="0"/>
              <a:t>OBITELJI S OBZIROM NA NASLJEĐIVANJE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hr-HR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650444" y="1077752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MATRILINERANA</a:t>
            </a:r>
            <a:endParaRPr lang="hr-HR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77788" y="1119252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PATRILINERANA</a:t>
            </a:r>
            <a:endParaRPr lang="hr-HR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308505" y="1035293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BILINERANA</a:t>
            </a:r>
            <a:endParaRPr lang="hr-HR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32793" y="1696334"/>
            <a:ext cx="33853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Podrijetlo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imovina</a:t>
            </a:r>
            <a:r>
              <a:rPr lang="en-US" sz="2000" dirty="0" smtClean="0"/>
              <a:t> se </a:t>
            </a:r>
            <a:r>
              <a:rPr lang="en-US" sz="2000" dirty="0" err="1" smtClean="0"/>
              <a:t>nasljeđuje</a:t>
            </a:r>
            <a:r>
              <a:rPr lang="en-US" sz="2000" dirty="0" smtClean="0"/>
              <a:t> </a:t>
            </a:r>
            <a:r>
              <a:rPr lang="en-US" sz="2000" dirty="0" err="1" smtClean="0"/>
              <a:t>prema</a:t>
            </a:r>
            <a:r>
              <a:rPr lang="en-US" sz="2000" dirty="0" smtClean="0"/>
              <a:t> </a:t>
            </a:r>
            <a:r>
              <a:rPr lang="en-US" sz="2000" dirty="0" err="1" smtClean="0"/>
              <a:t>očevoj</a:t>
            </a:r>
            <a:r>
              <a:rPr lang="en-US" sz="2000" dirty="0" smtClean="0"/>
              <a:t> </a:t>
            </a:r>
            <a:r>
              <a:rPr lang="en-US" sz="2000" dirty="0" err="1" smtClean="0"/>
              <a:t>strani</a:t>
            </a:r>
            <a:r>
              <a:rPr lang="en-US" sz="2000" dirty="0" smtClean="0"/>
              <a:t>. To </a:t>
            </a:r>
            <a:r>
              <a:rPr lang="en-US" sz="2000" dirty="0" err="1" smtClean="0"/>
              <a:t>podrazumijeva</a:t>
            </a:r>
            <a:r>
              <a:rPr lang="en-US" sz="2000" dirty="0" smtClean="0"/>
              <a:t> da </a:t>
            </a:r>
            <a:r>
              <a:rPr lang="en-US" sz="2000" dirty="0" err="1" smtClean="0"/>
              <a:t>žena</a:t>
            </a:r>
            <a:r>
              <a:rPr lang="en-US" sz="2000" dirty="0" smtClean="0"/>
              <a:t> </a:t>
            </a:r>
            <a:r>
              <a:rPr lang="en-US" sz="2000" dirty="0" err="1" smtClean="0"/>
              <a:t>preuzme</a:t>
            </a:r>
            <a:r>
              <a:rPr lang="en-US" sz="2000" dirty="0" smtClean="0"/>
              <a:t> </a:t>
            </a:r>
            <a:r>
              <a:rPr lang="en-US" sz="2000" dirty="0" err="1" smtClean="0"/>
              <a:t>suprugovo</a:t>
            </a:r>
            <a:r>
              <a:rPr lang="en-US" sz="2000" dirty="0" smtClean="0"/>
              <a:t> </a:t>
            </a:r>
            <a:r>
              <a:rPr lang="en-US" sz="2000" dirty="0" err="1" smtClean="0"/>
              <a:t>prezime</a:t>
            </a:r>
            <a:r>
              <a:rPr lang="en-US" sz="2000" dirty="0" smtClean="0"/>
              <a:t>, a time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djeca</a:t>
            </a:r>
            <a:r>
              <a:rPr lang="en-US" sz="2000" dirty="0" smtClean="0"/>
              <a:t>. </a:t>
            </a:r>
            <a:r>
              <a:rPr lang="en-US" sz="2000" dirty="0" err="1" smtClean="0"/>
              <a:t>Imovina</a:t>
            </a:r>
            <a:r>
              <a:rPr lang="en-US" sz="2000" dirty="0" smtClean="0"/>
              <a:t> se </a:t>
            </a:r>
            <a:r>
              <a:rPr lang="en-US" sz="2000" dirty="0" err="1" smtClean="0"/>
              <a:t>prenosi</a:t>
            </a:r>
            <a:r>
              <a:rPr lang="en-US" sz="2000" dirty="0" smtClean="0"/>
              <a:t> </a:t>
            </a:r>
            <a:r>
              <a:rPr lang="en-US" sz="2000" dirty="0" err="1" smtClean="0"/>
              <a:t>na</a:t>
            </a:r>
            <a:r>
              <a:rPr lang="en-US" sz="2000" dirty="0" smtClean="0"/>
              <a:t> </a:t>
            </a:r>
            <a:r>
              <a:rPr lang="en-US" sz="2000" dirty="0" err="1" smtClean="0"/>
              <a:t>mušku</a:t>
            </a:r>
            <a:r>
              <a:rPr lang="en-US" sz="2000" dirty="0" smtClean="0"/>
              <a:t> </a:t>
            </a:r>
            <a:r>
              <a:rPr lang="en-US" sz="2000" dirty="0" err="1" smtClean="0"/>
              <a:t>djecu</a:t>
            </a:r>
            <a:r>
              <a:rPr lang="en-US" sz="2000" dirty="0" smtClean="0"/>
              <a:t> </a:t>
            </a:r>
            <a:r>
              <a:rPr lang="en-US" sz="2000" dirty="0" err="1" smtClean="0"/>
              <a:t>jer</a:t>
            </a:r>
            <a:r>
              <a:rPr lang="en-US" sz="2000" dirty="0" smtClean="0"/>
              <a:t> se </a:t>
            </a:r>
            <a:r>
              <a:rPr lang="en-US" sz="2000" dirty="0" err="1" smtClean="0"/>
              <a:t>očekuje</a:t>
            </a:r>
            <a:r>
              <a:rPr lang="en-US" sz="2000" dirty="0" smtClean="0"/>
              <a:t> da </a:t>
            </a:r>
            <a:r>
              <a:rPr lang="en-US" sz="2000" dirty="0" err="1" smtClean="0"/>
              <a:t>muška</a:t>
            </a:r>
            <a:r>
              <a:rPr lang="en-US" sz="2000" dirty="0" smtClean="0"/>
              <a:t> </a:t>
            </a:r>
            <a:r>
              <a:rPr lang="en-US" sz="2000" dirty="0" err="1" smtClean="0"/>
              <a:t>djeca</a:t>
            </a:r>
            <a:r>
              <a:rPr lang="en-US" sz="2000" dirty="0" smtClean="0"/>
              <a:t> </a:t>
            </a:r>
            <a:r>
              <a:rPr lang="en-US" sz="2000" dirty="0" err="1" smtClean="0"/>
              <a:t>ostaju</a:t>
            </a:r>
            <a:r>
              <a:rPr lang="en-US" sz="2000" dirty="0" smtClean="0"/>
              <a:t> </a:t>
            </a:r>
            <a:r>
              <a:rPr lang="en-US" sz="2000" dirty="0" err="1" smtClean="0"/>
              <a:t>na</a:t>
            </a:r>
            <a:r>
              <a:rPr lang="en-US" sz="2000" dirty="0" smtClean="0"/>
              <a:t> </a:t>
            </a:r>
            <a:r>
              <a:rPr lang="en-US" sz="2000" dirty="0" err="1" smtClean="0"/>
              <a:t>obiteljskom</a:t>
            </a:r>
            <a:r>
              <a:rPr lang="en-US" sz="2000" dirty="0" smtClean="0"/>
              <a:t> </a:t>
            </a:r>
            <a:r>
              <a:rPr lang="en-US" sz="2000" dirty="0" err="1" smtClean="0"/>
              <a:t>imanju</a:t>
            </a:r>
            <a:r>
              <a:rPr lang="en-US" sz="2000" dirty="0" smtClean="0"/>
              <a:t>. </a:t>
            </a:r>
            <a:r>
              <a:rPr lang="en-US" sz="2000" dirty="0" err="1" smtClean="0"/>
              <a:t>Prisutno</a:t>
            </a:r>
            <a:r>
              <a:rPr lang="en-US" sz="2000" dirty="0" smtClean="0"/>
              <a:t> u </a:t>
            </a:r>
            <a:r>
              <a:rPr lang="en-US" sz="2000" dirty="0" err="1" smtClean="0"/>
              <a:t>većini</a:t>
            </a:r>
            <a:r>
              <a:rPr lang="en-US" sz="2000" dirty="0" smtClean="0"/>
              <a:t> </a:t>
            </a:r>
            <a:r>
              <a:rPr lang="en-US" sz="2000" dirty="0" err="1" smtClean="0"/>
              <a:t>tradicionalnih</a:t>
            </a:r>
            <a:r>
              <a:rPr lang="en-US" sz="2000" dirty="0" smtClean="0"/>
              <a:t> </a:t>
            </a:r>
            <a:r>
              <a:rPr lang="en-US" sz="2000" dirty="0" err="1" smtClean="0"/>
              <a:t>društava</a:t>
            </a:r>
            <a:r>
              <a:rPr lang="en-US" sz="2000" dirty="0" smtClean="0"/>
              <a:t>, pa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Hrvatskoj</a:t>
            </a:r>
            <a:r>
              <a:rPr lang="en-US" sz="2000" dirty="0" smtClean="0"/>
              <a:t>. Danas se to </a:t>
            </a:r>
            <a:r>
              <a:rPr lang="en-US" sz="2000" dirty="0" err="1" smtClean="0"/>
              <a:t>sve</a:t>
            </a:r>
            <a:r>
              <a:rPr lang="en-US" sz="2000" dirty="0" smtClean="0"/>
              <a:t> </a:t>
            </a:r>
            <a:r>
              <a:rPr lang="en-US" sz="2000" dirty="0" err="1" smtClean="0"/>
              <a:t>mijenja</a:t>
            </a:r>
            <a:r>
              <a:rPr lang="en-US" sz="2000" dirty="0" smtClean="0"/>
              <a:t>, pa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ženska</a:t>
            </a:r>
            <a:r>
              <a:rPr lang="en-US" sz="2000" dirty="0" smtClean="0"/>
              <a:t> </a:t>
            </a:r>
            <a:r>
              <a:rPr lang="en-US" sz="2000" dirty="0" err="1" smtClean="0"/>
              <a:t>djeca</a:t>
            </a:r>
            <a:r>
              <a:rPr lang="en-US" sz="2000" dirty="0" smtClean="0"/>
              <a:t> </a:t>
            </a:r>
            <a:r>
              <a:rPr lang="en-US" sz="2000" dirty="0" err="1" smtClean="0"/>
              <a:t>nasljeđuju</a:t>
            </a:r>
            <a:r>
              <a:rPr lang="en-US" sz="2000" dirty="0" smtClean="0"/>
              <a:t> </a:t>
            </a:r>
            <a:r>
              <a:rPr lang="en-US" sz="2000" dirty="0" err="1" smtClean="0"/>
              <a:t>imovinu</a:t>
            </a:r>
            <a:r>
              <a:rPr lang="en-US" sz="2000" dirty="0" smtClean="0"/>
              <a:t>.</a:t>
            </a:r>
            <a:endParaRPr lang="hr-HR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4650444" y="1719344"/>
            <a:ext cx="31001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Podrijetlo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imovina</a:t>
            </a:r>
            <a:r>
              <a:rPr lang="en-US" sz="2000" dirty="0" smtClean="0"/>
              <a:t> se </a:t>
            </a:r>
            <a:r>
              <a:rPr lang="en-US" sz="2000" dirty="0" err="1" smtClean="0"/>
              <a:t>nasljeđuje</a:t>
            </a:r>
            <a:r>
              <a:rPr lang="en-US" sz="2000" dirty="0" smtClean="0"/>
              <a:t> </a:t>
            </a:r>
            <a:r>
              <a:rPr lang="en-US" sz="2000" dirty="0" err="1" smtClean="0"/>
              <a:t>prema</a:t>
            </a:r>
            <a:r>
              <a:rPr lang="en-US" sz="2000" dirty="0" smtClean="0"/>
              <a:t> </a:t>
            </a:r>
            <a:r>
              <a:rPr lang="en-US" sz="2000" dirty="0" err="1" smtClean="0"/>
              <a:t>majčinoj</a:t>
            </a:r>
            <a:r>
              <a:rPr lang="en-US" sz="2000" dirty="0" smtClean="0"/>
              <a:t> </a:t>
            </a:r>
            <a:r>
              <a:rPr lang="en-US" sz="2000" dirty="0" err="1" smtClean="0"/>
              <a:t>strani</a:t>
            </a:r>
            <a:r>
              <a:rPr lang="en-US" sz="2000" dirty="0" smtClean="0"/>
              <a:t>. </a:t>
            </a:r>
            <a:r>
              <a:rPr lang="en-US" sz="2000" dirty="0" err="1" smtClean="0"/>
              <a:t>Takav</a:t>
            </a:r>
            <a:r>
              <a:rPr lang="en-US" sz="2000" dirty="0" smtClean="0"/>
              <a:t> </a:t>
            </a:r>
            <a:r>
              <a:rPr lang="en-US" sz="2000" dirty="0" err="1" smtClean="0"/>
              <a:t>oblik</a:t>
            </a:r>
            <a:r>
              <a:rPr lang="en-US" sz="2000" dirty="0" smtClean="0"/>
              <a:t> </a:t>
            </a:r>
            <a:r>
              <a:rPr lang="en-US" sz="2000" dirty="0" err="1" smtClean="0"/>
              <a:t>nasljeđivanje</a:t>
            </a:r>
            <a:r>
              <a:rPr lang="en-US" sz="2000" dirty="0" smtClean="0"/>
              <a:t> </a:t>
            </a:r>
            <a:r>
              <a:rPr lang="en-US" sz="2000" dirty="0" err="1" smtClean="0"/>
              <a:t>prisutan</a:t>
            </a:r>
            <a:r>
              <a:rPr lang="en-US" sz="2000" dirty="0" smtClean="0"/>
              <a:t> je </a:t>
            </a:r>
            <a:r>
              <a:rPr lang="en-US" sz="2000" dirty="0" err="1" smtClean="0"/>
              <a:t>kod</a:t>
            </a:r>
            <a:r>
              <a:rPr lang="en-US" sz="2000" dirty="0" smtClean="0"/>
              <a:t> </a:t>
            </a:r>
            <a:r>
              <a:rPr lang="en-US" sz="2000" dirty="0" err="1" smtClean="0"/>
              <a:t>Židova</a:t>
            </a:r>
            <a:r>
              <a:rPr lang="en-US" sz="2000" dirty="0" smtClean="0"/>
              <a:t>.</a:t>
            </a:r>
            <a:endParaRPr lang="hr-HR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542685" y="1696334"/>
            <a:ext cx="3312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Priznaje</a:t>
            </a:r>
            <a:r>
              <a:rPr lang="en-US" dirty="0" smtClean="0"/>
              <a:t> se </a:t>
            </a:r>
            <a:r>
              <a:rPr lang="en-US" dirty="0" err="1" smtClean="0"/>
              <a:t>podrijetlo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imovina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po</a:t>
            </a:r>
            <a:r>
              <a:rPr lang="en-US" dirty="0" smtClean="0"/>
              <a:t> </a:t>
            </a:r>
            <a:r>
              <a:rPr lang="en-US" dirty="0" err="1" smtClean="0"/>
              <a:t>očevoj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po</a:t>
            </a:r>
            <a:r>
              <a:rPr lang="en-US" dirty="0" smtClean="0"/>
              <a:t> </a:t>
            </a:r>
            <a:r>
              <a:rPr lang="en-US" dirty="0" err="1" smtClean="0"/>
              <a:t>majčinoj</a:t>
            </a:r>
            <a:r>
              <a:rPr lang="en-US" dirty="0" smtClean="0"/>
              <a:t> </a:t>
            </a:r>
            <a:r>
              <a:rPr lang="en-US" dirty="0" err="1" smtClean="0"/>
              <a:t>strani</a:t>
            </a:r>
            <a:r>
              <a:rPr lang="en-US" dirty="0" smtClean="0"/>
              <a:t>, to jest </a:t>
            </a:r>
            <a:r>
              <a:rPr lang="en-US" dirty="0" err="1" smtClean="0"/>
              <a:t>obje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linije</a:t>
            </a:r>
            <a:r>
              <a:rPr lang="en-US" dirty="0" smtClean="0"/>
              <a:t> </a:t>
            </a:r>
            <a:r>
              <a:rPr lang="en-US" dirty="0" err="1" smtClean="0"/>
              <a:t>jednako</a:t>
            </a:r>
            <a:r>
              <a:rPr lang="en-US" dirty="0" smtClean="0"/>
              <a:t> </a:t>
            </a:r>
            <a:r>
              <a:rPr lang="en-US" dirty="0" err="1" smtClean="0"/>
              <a:t>važne</a:t>
            </a:r>
            <a:r>
              <a:rPr lang="en-US" dirty="0" smtClean="0"/>
              <a:t>. </a:t>
            </a:r>
            <a:r>
              <a:rPr lang="en-US" dirty="0" err="1" smtClean="0"/>
              <a:t>Ovaj</a:t>
            </a:r>
            <a:r>
              <a:rPr lang="en-US" dirty="0" smtClean="0"/>
              <a:t> </a:t>
            </a:r>
            <a:r>
              <a:rPr lang="en-US" dirty="0" err="1" smtClean="0"/>
              <a:t>oblik</a:t>
            </a:r>
            <a:r>
              <a:rPr lang="en-US" dirty="0" smtClean="0"/>
              <a:t> </a:t>
            </a:r>
            <a:r>
              <a:rPr lang="en-US" dirty="0" err="1" smtClean="0"/>
              <a:t>nasljeđvanja</a:t>
            </a:r>
            <a:r>
              <a:rPr lang="en-US" dirty="0" smtClean="0"/>
              <a:t> je </a:t>
            </a:r>
            <a:r>
              <a:rPr lang="en-US" dirty="0" err="1" smtClean="0"/>
              <a:t>prisutan</a:t>
            </a:r>
            <a:r>
              <a:rPr lang="en-US" dirty="0" smtClean="0"/>
              <a:t> u </a:t>
            </a:r>
            <a:r>
              <a:rPr lang="en-US" dirty="0" err="1" smtClean="0"/>
              <a:t>modernim</a:t>
            </a:r>
            <a:r>
              <a:rPr lang="en-US" dirty="0" smtClean="0"/>
              <a:t> </a:t>
            </a:r>
            <a:r>
              <a:rPr lang="en-US" dirty="0" err="1" smtClean="0"/>
              <a:t>društvima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8046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2052919"/>
            <a:ext cx="9959939" cy="4195481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Spada</a:t>
            </a:r>
            <a:r>
              <a:rPr lang="en-US" sz="2400" dirty="0" smtClean="0"/>
              <a:t> li </a:t>
            </a:r>
            <a:r>
              <a:rPr lang="en-US" sz="2400" dirty="0" err="1" smtClean="0"/>
              <a:t>vaša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 u </a:t>
            </a:r>
            <a:r>
              <a:rPr lang="en-US" sz="2400" dirty="0" err="1" smtClean="0"/>
              <a:t>patrlinearnu</a:t>
            </a:r>
            <a:r>
              <a:rPr lang="en-US" sz="2400" dirty="0" smtClean="0"/>
              <a:t>, </a:t>
            </a:r>
            <a:r>
              <a:rPr lang="en-US" sz="2400" dirty="0" err="1" smtClean="0"/>
              <a:t>matrilinearnu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bilinearnu</a:t>
            </a:r>
            <a:r>
              <a:rPr lang="en-US" sz="2400" dirty="0" smtClean="0"/>
              <a:t>?</a:t>
            </a:r>
            <a:endParaRPr lang="hr-HR" sz="2400" dirty="0"/>
          </a:p>
        </p:txBody>
      </p:sp>
      <p:sp>
        <p:nvSpPr>
          <p:cNvPr id="5" name="Explosion 1 4"/>
          <p:cNvSpPr/>
          <p:nvPr/>
        </p:nvSpPr>
        <p:spPr>
          <a:xfrm>
            <a:off x="731567" y="2052919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3096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797" y="452719"/>
            <a:ext cx="9497440" cy="57956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 smtClean="0"/>
              <a:t>OBITELJI S OBZIROM NA OBITAVANJE</a:t>
            </a:r>
          </a:p>
          <a:p>
            <a:pPr marL="0" indent="0" algn="ctr">
              <a:buNone/>
            </a:pPr>
            <a:endParaRPr lang="en-US" sz="3200" b="1" dirty="0"/>
          </a:p>
          <a:p>
            <a:pPr marL="0" indent="0" algn="just">
              <a:buNone/>
            </a:pPr>
            <a:endParaRPr lang="hr-HR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89756" y="1988840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PATRILOKALNE</a:t>
            </a:r>
            <a:endParaRPr lang="hr-HR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90156" y="1988839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MATRILOKALNE</a:t>
            </a:r>
            <a:endParaRPr lang="hr-HR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966620" y="1988839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NEOLOKALNE</a:t>
            </a:r>
            <a:endParaRPr lang="hr-HR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94196" y="2586097"/>
            <a:ext cx="2881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Život</a:t>
            </a:r>
            <a:r>
              <a:rPr lang="en-US" sz="2400" dirty="0" smtClean="0"/>
              <a:t> u </a:t>
            </a:r>
            <a:r>
              <a:rPr lang="en-US" sz="2400" dirty="0" err="1" smtClean="0"/>
              <a:t>suprugovu</a:t>
            </a:r>
            <a:r>
              <a:rPr lang="en-US" sz="2400" dirty="0" smtClean="0"/>
              <a:t> </a:t>
            </a:r>
            <a:r>
              <a:rPr lang="en-US" sz="2400" dirty="0" err="1" smtClean="0"/>
              <a:t>domaćinstvu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Ovaj</a:t>
            </a:r>
            <a:r>
              <a:rPr lang="en-US" sz="2400" dirty="0" smtClean="0"/>
              <a:t> tip </a:t>
            </a:r>
            <a:r>
              <a:rPr lang="en-US" sz="2400" dirty="0" err="1" smtClean="0"/>
              <a:t>prevladava</a:t>
            </a:r>
            <a:r>
              <a:rPr lang="en-US" sz="2400" dirty="0" smtClean="0"/>
              <a:t> u </a:t>
            </a:r>
            <a:r>
              <a:rPr lang="en-US" sz="2400" dirty="0" err="1" smtClean="0"/>
              <a:t>većini</a:t>
            </a:r>
            <a:r>
              <a:rPr lang="en-US" sz="2400" dirty="0" smtClean="0"/>
              <a:t> </a:t>
            </a:r>
            <a:r>
              <a:rPr lang="en-US" sz="2400" dirty="0" err="1" smtClean="0"/>
              <a:t>tradicionalnih</a:t>
            </a:r>
            <a:r>
              <a:rPr lang="en-US" sz="2400" dirty="0" smtClean="0"/>
              <a:t> </a:t>
            </a:r>
            <a:r>
              <a:rPr lang="en-US" sz="2400" dirty="0" err="1" smtClean="0"/>
              <a:t>društava</a:t>
            </a:r>
            <a:r>
              <a:rPr lang="en-US" sz="2400" dirty="0" smtClean="0"/>
              <a:t>, pa </a:t>
            </a:r>
            <a:r>
              <a:rPr lang="en-US" sz="2400" dirty="0" err="1" smtClean="0"/>
              <a:t>i</a:t>
            </a:r>
            <a:r>
              <a:rPr lang="en-US" sz="2400" dirty="0" smtClean="0"/>
              <a:t> u </a:t>
            </a:r>
            <a:r>
              <a:rPr lang="en-US" sz="2400" dirty="0" err="1" smtClean="0"/>
              <a:t>Hrvatskoj</a:t>
            </a:r>
            <a:r>
              <a:rPr lang="en-US" sz="2400" dirty="0" smtClean="0"/>
              <a:t>.</a:t>
            </a:r>
            <a:endParaRPr lang="hr-HR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49358" y="2586095"/>
            <a:ext cx="3456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Život</a:t>
            </a:r>
            <a:r>
              <a:rPr lang="en-US" sz="2400" dirty="0" smtClean="0"/>
              <a:t> u </a:t>
            </a:r>
            <a:r>
              <a:rPr lang="en-US" sz="2400" dirty="0" err="1" smtClean="0"/>
              <a:t>supruginu</a:t>
            </a:r>
            <a:r>
              <a:rPr lang="en-US" sz="2400" dirty="0" smtClean="0"/>
              <a:t> </a:t>
            </a:r>
            <a:r>
              <a:rPr lang="en-US" sz="2400" dirty="0" err="1" smtClean="0"/>
              <a:t>domaćinstvu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Danas </a:t>
            </a:r>
            <a:r>
              <a:rPr lang="en-US" sz="2400" dirty="0" err="1" smtClean="0"/>
              <a:t>ovih</a:t>
            </a:r>
            <a:r>
              <a:rPr lang="en-US" sz="2400" dirty="0" smtClean="0"/>
              <a:t> </a:t>
            </a:r>
            <a:r>
              <a:rPr lang="en-US" sz="2400" dirty="0" err="1" smtClean="0"/>
              <a:t>varijanti</a:t>
            </a:r>
            <a:r>
              <a:rPr lang="en-U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u </a:t>
            </a:r>
            <a:r>
              <a:rPr lang="en-US" sz="2400" dirty="0" err="1" smtClean="0"/>
              <a:t>Hrvatskoj</a:t>
            </a:r>
            <a:r>
              <a:rPr lang="en-US" sz="2400" dirty="0" smtClean="0"/>
              <a:t>.</a:t>
            </a:r>
            <a:endParaRPr lang="hr-HR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894612" y="2607923"/>
            <a:ext cx="3528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Život</a:t>
            </a:r>
            <a:r>
              <a:rPr lang="en-US" sz="2400" dirty="0" smtClean="0"/>
              <a:t> </a:t>
            </a:r>
            <a:r>
              <a:rPr lang="en-US" sz="2400" dirty="0" err="1" smtClean="0"/>
              <a:t>neovisan</a:t>
            </a:r>
            <a:r>
              <a:rPr lang="en-US" sz="2400" dirty="0" smtClean="0"/>
              <a:t> o </a:t>
            </a:r>
            <a:r>
              <a:rPr lang="en-US" sz="2400" dirty="0" err="1" smtClean="0"/>
              <a:t>roditeljima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Karakteristično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moderna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društva</a:t>
            </a:r>
            <a:r>
              <a:rPr lang="en-US" sz="2400" dirty="0" smtClean="0"/>
              <a:t>.</a:t>
            </a:r>
            <a:endParaRPr lang="hr-HR" sz="2400" dirty="0"/>
          </a:p>
        </p:txBody>
      </p:sp>
      <p:sp>
        <p:nvSpPr>
          <p:cNvPr id="10" name="Explosion 1 9"/>
          <p:cNvSpPr/>
          <p:nvPr/>
        </p:nvSpPr>
        <p:spPr>
          <a:xfrm>
            <a:off x="274485" y="5861878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11" name="TextBox 10"/>
          <p:cNvSpPr txBox="1"/>
          <p:nvPr/>
        </p:nvSpPr>
        <p:spPr>
          <a:xfrm>
            <a:off x="1125860" y="5845502"/>
            <a:ext cx="9793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Spada</a:t>
            </a:r>
            <a:r>
              <a:rPr lang="en-US" sz="2400" dirty="0" smtClean="0"/>
              <a:t> li </a:t>
            </a:r>
            <a:r>
              <a:rPr lang="en-US" sz="2400" dirty="0" err="1" smtClean="0"/>
              <a:t>vaša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 u </a:t>
            </a:r>
            <a:r>
              <a:rPr lang="en-US" sz="2400" dirty="0" err="1" smtClean="0"/>
              <a:t>patrilokalnu</a:t>
            </a:r>
            <a:r>
              <a:rPr lang="en-US" sz="2400" dirty="0" smtClean="0"/>
              <a:t>, </a:t>
            </a:r>
            <a:r>
              <a:rPr lang="en-US" sz="2400" dirty="0" err="1" smtClean="0"/>
              <a:t>matrilokalnu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neolokalnu</a:t>
            </a:r>
            <a:r>
              <a:rPr lang="en-US" sz="2400" dirty="0" smtClean="0"/>
              <a:t>?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49581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0" grpId="0" animBg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452719"/>
            <a:ext cx="9713464" cy="57956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 smtClean="0"/>
              <a:t>OBITELJ S OBZIROM NA ODNOS MOĆI</a:t>
            </a:r>
            <a:endParaRPr lang="hr-HR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32793" y="131194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PATRIJARHALNA</a:t>
            </a:r>
            <a:endParaRPr lang="hr-HR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38681" y="129066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MATRIJARHALNA</a:t>
            </a:r>
            <a:endParaRPr lang="hr-HR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686700" y="1290667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EGALITARNA</a:t>
            </a:r>
            <a:endParaRPr lang="hr-HR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61764" y="1937389"/>
            <a:ext cx="338437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Naglašava</a:t>
            </a:r>
            <a:r>
              <a:rPr lang="en-US" sz="2200" dirty="0" smtClean="0"/>
              <a:t> </a:t>
            </a:r>
            <a:r>
              <a:rPr lang="en-US" sz="2200" dirty="0" err="1" smtClean="0"/>
              <a:t>ulogu</a:t>
            </a:r>
            <a:r>
              <a:rPr lang="en-US" sz="2200" dirty="0" smtClean="0"/>
              <a:t> </a:t>
            </a:r>
            <a:r>
              <a:rPr lang="en-US" sz="2200" dirty="0" err="1" smtClean="0"/>
              <a:t>najstarijeg</a:t>
            </a:r>
            <a:r>
              <a:rPr lang="en-US" sz="2200" dirty="0" smtClean="0"/>
              <a:t> </a:t>
            </a:r>
            <a:r>
              <a:rPr lang="en-US" sz="2200" dirty="0" err="1" smtClean="0"/>
              <a:t>muškarca</a:t>
            </a:r>
            <a:r>
              <a:rPr lang="en-US" sz="2200" dirty="0" smtClean="0"/>
              <a:t>, </a:t>
            </a:r>
            <a:r>
              <a:rPr lang="en-US" sz="2200" dirty="0" err="1" smtClean="0"/>
              <a:t>te</a:t>
            </a:r>
            <a:r>
              <a:rPr lang="en-US" sz="2200" dirty="0" smtClean="0"/>
              <a:t> on </a:t>
            </a:r>
            <a:r>
              <a:rPr lang="en-US" sz="2200" dirty="0" err="1" smtClean="0"/>
              <a:t>ima</a:t>
            </a:r>
            <a:r>
              <a:rPr lang="en-US" sz="2200" dirty="0" smtClean="0"/>
              <a:t> </a:t>
            </a:r>
            <a:r>
              <a:rPr lang="en-US" sz="2200" dirty="0" err="1" smtClean="0"/>
              <a:t>pravo</a:t>
            </a:r>
            <a:r>
              <a:rPr lang="en-US" sz="2200" dirty="0" smtClean="0"/>
              <a:t> </a:t>
            </a:r>
            <a:r>
              <a:rPr lang="en-US" sz="2200" dirty="0" err="1" smtClean="0"/>
              <a:t>donošenja</a:t>
            </a:r>
            <a:r>
              <a:rPr lang="en-US" sz="2200" dirty="0" smtClean="0"/>
              <a:t> </a:t>
            </a:r>
            <a:r>
              <a:rPr lang="en-US" sz="2200" dirty="0" err="1" smtClean="0"/>
              <a:t>bitnih</a:t>
            </a:r>
            <a:r>
              <a:rPr lang="en-US" sz="2200" dirty="0" smtClean="0"/>
              <a:t> </a:t>
            </a:r>
            <a:r>
              <a:rPr lang="en-US" sz="2200" dirty="0" err="1" smtClean="0"/>
              <a:t>odluka</a:t>
            </a:r>
            <a:r>
              <a:rPr lang="en-US" sz="2200" dirty="0" smtClean="0"/>
              <a:t>, a </a:t>
            </a:r>
            <a:r>
              <a:rPr lang="en-US" sz="2200" dirty="0" err="1" smtClean="0"/>
              <a:t>ako</a:t>
            </a:r>
            <a:r>
              <a:rPr lang="en-US" sz="2200" dirty="0" smtClean="0"/>
              <a:t> u </a:t>
            </a:r>
            <a:r>
              <a:rPr lang="en-US" sz="2200" dirty="0" err="1" smtClean="0"/>
              <a:t>obitelj</a:t>
            </a:r>
            <a:r>
              <a:rPr lang="en-US" sz="2200" dirty="0" smtClean="0"/>
              <a:t> </a:t>
            </a:r>
            <a:r>
              <a:rPr lang="en-US" sz="2200" dirty="0" err="1" smtClean="0"/>
              <a:t>nije</a:t>
            </a:r>
            <a:r>
              <a:rPr lang="en-US" sz="2200" dirty="0" smtClean="0"/>
              <a:t> </a:t>
            </a:r>
            <a:r>
              <a:rPr lang="en-US" sz="2200" dirty="0" err="1" smtClean="0"/>
              <a:t>bilo</a:t>
            </a:r>
            <a:r>
              <a:rPr lang="en-US" sz="2200" dirty="0" smtClean="0"/>
              <a:t> </a:t>
            </a:r>
            <a:r>
              <a:rPr lang="en-US" sz="2200" dirty="0" err="1" smtClean="0"/>
              <a:t>najstarijeg</a:t>
            </a:r>
            <a:r>
              <a:rPr lang="en-US" sz="2200" dirty="0" smtClean="0"/>
              <a:t> </a:t>
            </a:r>
            <a:r>
              <a:rPr lang="en-US" sz="2200" dirty="0" err="1" smtClean="0"/>
              <a:t>muškarca</a:t>
            </a:r>
            <a:r>
              <a:rPr lang="en-US" sz="2200" dirty="0" smtClean="0"/>
              <a:t>, </a:t>
            </a:r>
            <a:r>
              <a:rPr lang="en-US" sz="2200" dirty="0" err="1" smtClean="0"/>
              <a:t>onda</a:t>
            </a:r>
            <a:r>
              <a:rPr lang="en-US" sz="2200" dirty="0" smtClean="0"/>
              <a:t> </a:t>
            </a:r>
            <a:r>
              <a:rPr lang="en-US" sz="2200" dirty="0" err="1" smtClean="0"/>
              <a:t>tu</a:t>
            </a:r>
            <a:r>
              <a:rPr lang="en-US" sz="2200" dirty="0" smtClean="0"/>
              <a:t> </a:t>
            </a:r>
            <a:r>
              <a:rPr lang="en-US" sz="2200" dirty="0" err="1" smtClean="0"/>
              <a:t>odluku</a:t>
            </a:r>
            <a:r>
              <a:rPr lang="en-US" sz="2200" dirty="0" smtClean="0"/>
              <a:t> </a:t>
            </a:r>
            <a:r>
              <a:rPr lang="en-US" sz="2200" dirty="0" err="1" smtClean="0"/>
              <a:t>donosi</a:t>
            </a:r>
            <a:r>
              <a:rPr lang="en-US" sz="2200" dirty="0" smtClean="0"/>
              <a:t> </a:t>
            </a:r>
            <a:r>
              <a:rPr lang="en-US" sz="2200" dirty="0" err="1" smtClean="0"/>
              <a:t>najstariji</a:t>
            </a:r>
            <a:r>
              <a:rPr lang="en-US" sz="2200" dirty="0" smtClean="0"/>
              <a:t> </a:t>
            </a:r>
            <a:r>
              <a:rPr lang="en-US" sz="2200" dirty="0" err="1" smtClean="0"/>
              <a:t>dječak</a:t>
            </a:r>
            <a:r>
              <a:rPr lang="en-US" sz="2200" dirty="0" smtClean="0"/>
              <a:t>.</a:t>
            </a:r>
          </a:p>
          <a:p>
            <a:r>
              <a:rPr lang="en-US" sz="2200" dirty="0" err="1" smtClean="0"/>
              <a:t>Mnoge</a:t>
            </a:r>
            <a:r>
              <a:rPr lang="en-US" sz="2200" dirty="0" smtClean="0"/>
              <a:t> </a:t>
            </a:r>
            <a:r>
              <a:rPr lang="en-US" sz="2200" dirty="0" err="1" smtClean="0"/>
              <a:t>islamske</a:t>
            </a:r>
            <a:r>
              <a:rPr lang="en-US" sz="2200" dirty="0" smtClean="0"/>
              <a:t> </a:t>
            </a:r>
            <a:r>
              <a:rPr lang="en-US" sz="2200" dirty="0" err="1" smtClean="0"/>
              <a:t>zemlje</a:t>
            </a:r>
            <a:r>
              <a:rPr lang="en-US" sz="2200" dirty="0" smtClean="0"/>
              <a:t>, u </a:t>
            </a:r>
            <a:r>
              <a:rPr lang="en-US" sz="2200" dirty="0" err="1" smtClean="0"/>
              <a:t>povijesti</a:t>
            </a:r>
            <a:r>
              <a:rPr lang="en-US" sz="2200" dirty="0" smtClean="0"/>
              <a:t> </a:t>
            </a:r>
            <a:r>
              <a:rPr lang="en-US" sz="2200" dirty="0" err="1" smtClean="0"/>
              <a:t>kod</a:t>
            </a:r>
            <a:r>
              <a:rPr lang="en-US" sz="2200" dirty="0" smtClean="0"/>
              <a:t> </a:t>
            </a:r>
            <a:r>
              <a:rPr lang="en-US" sz="2200" dirty="0" err="1" smtClean="0"/>
              <a:t>Grka</a:t>
            </a:r>
            <a:r>
              <a:rPr lang="en-US" sz="2200" dirty="0" smtClean="0"/>
              <a:t>, </a:t>
            </a:r>
            <a:r>
              <a:rPr lang="en-US" sz="2200" dirty="0" err="1" smtClean="0"/>
              <a:t>Rimljana</a:t>
            </a:r>
            <a:r>
              <a:rPr lang="en-US" sz="2200" dirty="0" smtClean="0"/>
              <a:t>, </a:t>
            </a:r>
            <a:r>
              <a:rPr lang="en-US" sz="2200" dirty="0" err="1" smtClean="0"/>
              <a:t>Židova</a:t>
            </a:r>
            <a:r>
              <a:rPr lang="en-US" sz="2200" dirty="0" smtClean="0"/>
              <a:t>, </a:t>
            </a:r>
            <a:r>
              <a:rPr lang="en-US" sz="2200" dirty="0" err="1" smtClean="0"/>
              <a:t>tradicionalna</a:t>
            </a:r>
            <a:r>
              <a:rPr lang="en-US" sz="2200" dirty="0" smtClean="0"/>
              <a:t> </a:t>
            </a:r>
            <a:r>
              <a:rPr lang="en-US" sz="2200" dirty="0" err="1" smtClean="0"/>
              <a:t>društva</a:t>
            </a:r>
            <a:r>
              <a:rPr lang="en-US" sz="2200" dirty="0" smtClean="0"/>
              <a:t>.</a:t>
            </a:r>
            <a:endParaRPr lang="hr-HR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4120855" y="1937389"/>
            <a:ext cx="364396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Žena</a:t>
            </a:r>
            <a:r>
              <a:rPr lang="en-US" sz="2200" dirty="0" smtClean="0"/>
              <a:t> </a:t>
            </a:r>
            <a:r>
              <a:rPr lang="en-US" sz="2200" dirty="0" err="1" smtClean="0"/>
              <a:t>donosi</a:t>
            </a:r>
            <a:r>
              <a:rPr lang="en-US" sz="2200" dirty="0" smtClean="0"/>
              <a:t> </a:t>
            </a:r>
            <a:r>
              <a:rPr lang="en-US" sz="2200" dirty="0" err="1" smtClean="0"/>
              <a:t>najvažnije</a:t>
            </a:r>
            <a:r>
              <a:rPr lang="en-US" sz="2200" dirty="0" smtClean="0"/>
              <a:t> </a:t>
            </a:r>
            <a:r>
              <a:rPr lang="en-US" sz="2200" dirty="0" err="1" smtClean="0"/>
              <a:t>odlike</a:t>
            </a:r>
            <a:r>
              <a:rPr lang="en-US" sz="2200" dirty="0" smtClean="0"/>
              <a:t>, no </a:t>
            </a:r>
            <a:r>
              <a:rPr lang="en-US" sz="2200" dirty="0" err="1" smtClean="0"/>
              <a:t>takve</a:t>
            </a:r>
            <a:r>
              <a:rPr lang="en-US" sz="2200" dirty="0" smtClean="0"/>
              <a:t> </a:t>
            </a:r>
            <a:r>
              <a:rPr lang="en-US" sz="2200" dirty="0" err="1" smtClean="0"/>
              <a:t>obitelji</a:t>
            </a:r>
            <a:r>
              <a:rPr lang="en-US" sz="2200" dirty="0" smtClean="0"/>
              <a:t> </a:t>
            </a:r>
            <a:r>
              <a:rPr lang="en-US" sz="2200" dirty="0" err="1" smtClean="0"/>
              <a:t>su</a:t>
            </a:r>
            <a:r>
              <a:rPr lang="en-US" sz="2200" dirty="0" smtClean="0"/>
              <a:t> </a:t>
            </a:r>
            <a:r>
              <a:rPr lang="en-US" sz="2200" dirty="0" err="1" smtClean="0"/>
              <a:t>specifične</a:t>
            </a:r>
            <a:r>
              <a:rPr lang="en-US" sz="2200" dirty="0" smtClean="0"/>
              <a:t> u </a:t>
            </a:r>
            <a:r>
              <a:rPr lang="en-US" sz="2200" dirty="0" err="1" smtClean="0"/>
              <a:t>onim</a:t>
            </a:r>
            <a:r>
              <a:rPr lang="en-US" sz="2200" dirty="0" smtClean="0"/>
              <a:t> </a:t>
            </a:r>
            <a:r>
              <a:rPr lang="en-US" sz="2200" dirty="0" err="1" smtClean="0"/>
              <a:t>situacijama</a:t>
            </a:r>
            <a:r>
              <a:rPr lang="en-US" sz="2200" dirty="0" smtClean="0"/>
              <a:t> </a:t>
            </a:r>
            <a:r>
              <a:rPr lang="en-US" sz="2200" dirty="0" err="1" smtClean="0"/>
              <a:t>ako</a:t>
            </a:r>
            <a:r>
              <a:rPr lang="en-US" sz="2200" dirty="0" smtClean="0"/>
              <a:t> </a:t>
            </a:r>
            <a:r>
              <a:rPr lang="en-US" sz="2200" dirty="0" err="1" smtClean="0"/>
              <a:t>su</a:t>
            </a:r>
            <a:r>
              <a:rPr lang="en-US" sz="2200" dirty="0" smtClean="0"/>
              <a:t> </a:t>
            </a:r>
            <a:r>
              <a:rPr lang="en-US" sz="2200" dirty="0" err="1" smtClean="0"/>
              <a:t>obitelji</a:t>
            </a:r>
            <a:r>
              <a:rPr lang="en-US" sz="2200" dirty="0" smtClean="0"/>
              <a:t> </a:t>
            </a:r>
            <a:r>
              <a:rPr lang="en-US" sz="2200" dirty="0" err="1" smtClean="0"/>
              <a:t>ostale</a:t>
            </a:r>
            <a:r>
              <a:rPr lang="en-US" sz="2200" dirty="0" smtClean="0"/>
              <a:t> bez </a:t>
            </a:r>
            <a:r>
              <a:rPr lang="en-US" sz="2200" dirty="0" err="1" smtClean="0"/>
              <a:t>supruga</a:t>
            </a:r>
            <a:r>
              <a:rPr lang="en-US" sz="2200" dirty="0" smtClean="0"/>
              <a:t> </a:t>
            </a:r>
            <a:r>
              <a:rPr lang="en-US" sz="2200" dirty="0" err="1" smtClean="0"/>
              <a:t>i</a:t>
            </a:r>
            <a:r>
              <a:rPr lang="en-US" sz="2200" dirty="0" smtClean="0"/>
              <a:t> </a:t>
            </a:r>
            <a:r>
              <a:rPr lang="en-US" sz="2200" dirty="0" err="1" smtClean="0"/>
              <a:t>oca</a:t>
            </a:r>
            <a:r>
              <a:rPr lang="en-US" sz="2200" dirty="0" smtClean="0"/>
              <a:t>, pa </a:t>
            </a:r>
            <a:r>
              <a:rPr lang="en-US" sz="2200" dirty="0" err="1" smtClean="0"/>
              <a:t>glavnu</a:t>
            </a:r>
            <a:r>
              <a:rPr lang="en-US" sz="2200" dirty="0" smtClean="0"/>
              <a:t> </a:t>
            </a:r>
            <a:r>
              <a:rPr lang="en-US" sz="2200" dirty="0" err="1" smtClean="0"/>
              <a:t>ulogu</a:t>
            </a:r>
            <a:r>
              <a:rPr lang="en-US" sz="2200" dirty="0" smtClean="0"/>
              <a:t> </a:t>
            </a:r>
            <a:r>
              <a:rPr lang="en-US" sz="2200" dirty="0" err="1" smtClean="0"/>
              <a:t>onda</a:t>
            </a:r>
            <a:r>
              <a:rPr lang="en-US" sz="2200" dirty="0" smtClean="0"/>
              <a:t> </a:t>
            </a:r>
            <a:r>
              <a:rPr lang="en-US" sz="2200" dirty="0" err="1" smtClean="0"/>
              <a:t>preuzima</a:t>
            </a:r>
            <a:r>
              <a:rPr lang="en-US" sz="2200" dirty="0" smtClean="0"/>
              <a:t> </a:t>
            </a:r>
            <a:r>
              <a:rPr lang="en-US" sz="2200" dirty="0" err="1" smtClean="0"/>
              <a:t>majka</a:t>
            </a:r>
            <a:r>
              <a:rPr lang="en-US" sz="2200" dirty="0" smtClean="0"/>
              <a:t>, to jest </a:t>
            </a:r>
            <a:r>
              <a:rPr lang="en-US" sz="2200" dirty="0" err="1" smtClean="0"/>
              <a:t>supruga</a:t>
            </a:r>
            <a:r>
              <a:rPr lang="en-US" sz="2200" dirty="0" smtClean="0"/>
              <a:t>. Danas </a:t>
            </a:r>
            <a:r>
              <a:rPr lang="en-US" sz="2200" dirty="0" err="1" smtClean="0"/>
              <a:t>takva</a:t>
            </a:r>
            <a:r>
              <a:rPr lang="en-US" sz="2200" dirty="0" smtClean="0"/>
              <a:t> </a:t>
            </a:r>
            <a:r>
              <a:rPr lang="en-US" sz="2200" dirty="0" err="1" smtClean="0"/>
              <a:t>vrsta</a:t>
            </a:r>
            <a:r>
              <a:rPr lang="en-US" sz="2200" dirty="0" smtClean="0"/>
              <a:t> </a:t>
            </a:r>
            <a:r>
              <a:rPr lang="en-US" sz="2200" dirty="0" err="1" smtClean="0"/>
              <a:t>obitelji</a:t>
            </a:r>
            <a:r>
              <a:rPr lang="en-US" sz="2200" dirty="0" smtClean="0"/>
              <a:t> </a:t>
            </a:r>
            <a:r>
              <a:rPr lang="en-US" sz="2200" dirty="0" err="1" smtClean="0"/>
              <a:t>postoje</a:t>
            </a:r>
            <a:r>
              <a:rPr lang="en-US" sz="2200" dirty="0" smtClean="0"/>
              <a:t> u </a:t>
            </a:r>
            <a:r>
              <a:rPr lang="en-US" sz="2200" dirty="0" err="1" smtClean="0"/>
              <a:t>zabačenijim</a:t>
            </a:r>
            <a:r>
              <a:rPr lang="en-US" sz="2200" dirty="0" smtClean="0"/>
              <a:t> </a:t>
            </a:r>
            <a:r>
              <a:rPr lang="en-US" sz="2200" dirty="0" err="1" smtClean="0"/>
              <a:t>dijelovima</a:t>
            </a:r>
            <a:r>
              <a:rPr lang="en-US" sz="2200" dirty="0" smtClean="0"/>
              <a:t> </a:t>
            </a:r>
            <a:r>
              <a:rPr lang="en-US" sz="2200" dirty="0" err="1" smtClean="0"/>
              <a:t>svijeta</a:t>
            </a:r>
            <a:r>
              <a:rPr lang="en-US" sz="2200" dirty="0" smtClean="0"/>
              <a:t>, </a:t>
            </a:r>
            <a:r>
              <a:rPr lang="en-US" sz="2200" dirty="0" err="1" smtClean="0"/>
              <a:t>neka</a:t>
            </a:r>
            <a:r>
              <a:rPr lang="en-US" sz="2200" dirty="0" smtClean="0"/>
              <a:t> </a:t>
            </a:r>
            <a:r>
              <a:rPr lang="en-US" sz="2200" dirty="0" err="1" smtClean="0"/>
              <a:t>afrička</a:t>
            </a:r>
            <a:r>
              <a:rPr lang="en-US" sz="2200" dirty="0" smtClean="0"/>
              <a:t>, </a:t>
            </a:r>
            <a:r>
              <a:rPr lang="en-US" sz="2200" dirty="0" err="1" smtClean="0"/>
              <a:t>azijska</a:t>
            </a:r>
            <a:r>
              <a:rPr lang="en-US" sz="2200" dirty="0" smtClean="0"/>
              <a:t> </a:t>
            </a:r>
            <a:r>
              <a:rPr lang="en-US" sz="2200" dirty="0" err="1" smtClean="0"/>
              <a:t>i</a:t>
            </a:r>
            <a:r>
              <a:rPr lang="en-US" sz="2200" dirty="0" smtClean="0"/>
              <a:t> </a:t>
            </a:r>
            <a:r>
              <a:rPr lang="en-US" sz="2200" dirty="0" err="1" smtClean="0"/>
              <a:t>indonezijska</a:t>
            </a:r>
            <a:r>
              <a:rPr lang="en-US" sz="2200" dirty="0" smtClean="0"/>
              <a:t> </a:t>
            </a:r>
            <a:r>
              <a:rPr lang="en-US" sz="2200" dirty="0" err="1" smtClean="0"/>
              <a:t>plemena</a:t>
            </a:r>
            <a:r>
              <a:rPr lang="en-US" sz="2200" dirty="0" smtClean="0"/>
              <a:t>.</a:t>
            </a:r>
            <a:endParaRPr lang="hr-HR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8038627" y="1937389"/>
            <a:ext cx="415019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Sve</a:t>
            </a:r>
            <a:r>
              <a:rPr lang="en-US" sz="2200" dirty="0" smtClean="0"/>
              <a:t> </a:t>
            </a:r>
            <a:r>
              <a:rPr lang="en-US" sz="2200" dirty="0" err="1" smtClean="0"/>
              <a:t>su</a:t>
            </a:r>
            <a:r>
              <a:rPr lang="en-US" sz="2200" dirty="0" smtClean="0"/>
              <a:t> </a:t>
            </a:r>
            <a:r>
              <a:rPr lang="en-US" sz="2200" dirty="0" err="1" smtClean="0"/>
              <a:t>češće</a:t>
            </a:r>
            <a:r>
              <a:rPr lang="en-US" sz="2200" dirty="0" smtClean="0"/>
              <a:t> </a:t>
            </a:r>
            <a:r>
              <a:rPr lang="en-US" sz="2200" dirty="0" err="1" smtClean="0"/>
              <a:t>danas</a:t>
            </a:r>
            <a:r>
              <a:rPr lang="en-US" sz="2200" dirty="0" smtClean="0"/>
              <a:t>, a </a:t>
            </a:r>
            <a:r>
              <a:rPr lang="en-US" sz="2200" dirty="0" err="1" smtClean="0"/>
              <a:t>za</a:t>
            </a:r>
            <a:r>
              <a:rPr lang="en-US" sz="2200" dirty="0" smtClean="0"/>
              <a:t> </a:t>
            </a:r>
            <a:r>
              <a:rPr lang="en-US" sz="2200" dirty="0" err="1" smtClean="0"/>
              <a:t>njih</a:t>
            </a:r>
            <a:r>
              <a:rPr lang="en-US" sz="2200" dirty="0" smtClean="0"/>
              <a:t> je </a:t>
            </a:r>
            <a:r>
              <a:rPr lang="en-US" sz="2200" dirty="0" err="1" smtClean="0"/>
              <a:t>specifično</a:t>
            </a:r>
            <a:r>
              <a:rPr lang="en-US" sz="2200" dirty="0" smtClean="0"/>
              <a:t> da </a:t>
            </a:r>
            <a:r>
              <a:rPr lang="en-US" sz="2200" dirty="0" err="1" smtClean="0"/>
              <a:t>sve</a:t>
            </a:r>
            <a:r>
              <a:rPr lang="en-US" sz="2200" dirty="0" smtClean="0"/>
              <a:t> </a:t>
            </a:r>
            <a:r>
              <a:rPr lang="en-US" sz="2200" dirty="0" err="1" smtClean="0"/>
              <a:t>odluke</a:t>
            </a:r>
            <a:r>
              <a:rPr lang="en-US" sz="2200" dirty="0" smtClean="0"/>
              <a:t> </a:t>
            </a:r>
            <a:r>
              <a:rPr lang="en-US" sz="2200" dirty="0" err="1" smtClean="0"/>
              <a:t>supružnici</a:t>
            </a:r>
            <a:r>
              <a:rPr lang="en-US" sz="2200" dirty="0" smtClean="0"/>
              <a:t> </a:t>
            </a:r>
            <a:r>
              <a:rPr lang="en-US" sz="2200" dirty="0" err="1" smtClean="0"/>
              <a:t>ili</a:t>
            </a:r>
            <a:r>
              <a:rPr lang="en-US" sz="2200" dirty="0" smtClean="0"/>
              <a:t> </a:t>
            </a:r>
            <a:r>
              <a:rPr lang="en-US" sz="2200" dirty="0" err="1" smtClean="0"/>
              <a:t>partneri</a:t>
            </a:r>
            <a:r>
              <a:rPr lang="en-US" sz="2200" dirty="0" smtClean="0"/>
              <a:t> </a:t>
            </a:r>
            <a:r>
              <a:rPr lang="en-US" sz="2200" dirty="0" err="1" smtClean="0"/>
              <a:t>donose</a:t>
            </a:r>
            <a:r>
              <a:rPr lang="en-US" sz="2200" dirty="0" smtClean="0"/>
              <a:t> </a:t>
            </a:r>
            <a:r>
              <a:rPr lang="en-US" sz="2200" dirty="0" err="1" smtClean="0"/>
              <a:t>zajedno</a:t>
            </a:r>
            <a:r>
              <a:rPr lang="en-US" sz="2200" dirty="0" smtClean="0"/>
              <a:t>, a </a:t>
            </a:r>
            <a:r>
              <a:rPr lang="en-US" sz="2200" dirty="0" err="1" smtClean="0"/>
              <a:t>najčešći</a:t>
            </a:r>
            <a:r>
              <a:rPr lang="en-US" sz="2200" dirty="0" smtClean="0"/>
              <a:t> je </a:t>
            </a:r>
            <a:r>
              <a:rPr lang="en-US" sz="2200" dirty="0" err="1" smtClean="0"/>
              <a:t>oblik</a:t>
            </a:r>
            <a:r>
              <a:rPr lang="en-US" sz="2200" dirty="0" smtClean="0"/>
              <a:t> </a:t>
            </a:r>
            <a:r>
              <a:rPr lang="en-US" sz="2200" dirty="0" err="1" smtClean="0"/>
              <a:t>odnos</a:t>
            </a:r>
            <a:r>
              <a:rPr lang="en-US" sz="2200" dirty="0" smtClean="0"/>
              <a:t> </a:t>
            </a:r>
            <a:r>
              <a:rPr lang="en-US" sz="2200" dirty="0" err="1" smtClean="0"/>
              <a:t>unutar</a:t>
            </a:r>
            <a:r>
              <a:rPr lang="en-US" sz="2200" dirty="0" smtClean="0"/>
              <a:t> </a:t>
            </a:r>
            <a:r>
              <a:rPr lang="en-US" sz="2200" dirty="0" err="1" smtClean="0"/>
              <a:t>modernih</a:t>
            </a:r>
            <a:r>
              <a:rPr lang="en-US" sz="2200" dirty="0" smtClean="0"/>
              <a:t> </a:t>
            </a:r>
            <a:r>
              <a:rPr lang="en-US" sz="2200" dirty="0" err="1" smtClean="0"/>
              <a:t>društava</a:t>
            </a:r>
            <a:r>
              <a:rPr lang="en-US" sz="2200" dirty="0" smtClean="0"/>
              <a:t>. </a:t>
            </a:r>
            <a:r>
              <a:rPr lang="en-US" sz="2200" dirty="0" err="1" smtClean="0"/>
              <a:t>Specifično</a:t>
            </a:r>
            <a:r>
              <a:rPr lang="en-US" sz="2200" dirty="0" smtClean="0"/>
              <a:t> </a:t>
            </a:r>
            <a:r>
              <a:rPr lang="en-US" sz="2200" dirty="0" err="1" smtClean="0"/>
              <a:t>za</a:t>
            </a:r>
            <a:r>
              <a:rPr lang="en-US" sz="2200" dirty="0" smtClean="0"/>
              <a:t> </a:t>
            </a:r>
            <a:r>
              <a:rPr lang="en-US" sz="2200" dirty="0" err="1" smtClean="0"/>
              <a:t>suvremena</a:t>
            </a:r>
            <a:r>
              <a:rPr lang="en-US" sz="2200" dirty="0" smtClean="0"/>
              <a:t>, </a:t>
            </a:r>
            <a:r>
              <a:rPr lang="en-US" sz="2200" dirty="0" err="1" smtClean="0"/>
              <a:t>demokratska</a:t>
            </a:r>
            <a:r>
              <a:rPr lang="en-US" sz="2200" dirty="0" smtClean="0"/>
              <a:t> </a:t>
            </a:r>
            <a:r>
              <a:rPr lang="en-US" sz="2200" dirty="0" err="1" smtClean="0"/>
              <a:t>društva</a:t>
            </a:r>
            <a:r>
              <a:rPr lang="en-US" sz="2200" dirty="0" smtClean="0"/>
              <a:t>.</a:t>
            </a:r>
            <a:endParaRPr lang="hr-HR" sz="2200" dirty="0"/>
          </a:p>
        </p:txBody>
      </p:sp>
    </p:spTree>
    <p:extLst>
      <p:ext uri="{BB962C8B-B14F-4D97-AF65-F5344CB8AC3E}">
        <p14:creationId xmlns:p14="http://schemas.microsoft.com/office/powerpoint/2010/main" val="57724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Explosion 1 3"/>
          <p:cNvSpPr/>
          <p:nvPr/>
        </p:nvSpPr>
        <p:spPr>
          <a:xfrm>
            <a:off x="731567" y="2052919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1474482" y="2052919"/>
            <a:ext cx="10380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Zašto</a:t>
            </a:r>
            <a:r>
              <a:rPr lang="en-US" sz="2400" dirty="0" smtClean="0"/>
              <a:t> </a:t>
            </a:r>
            <a:r>
              <a:rPr lang="en-US" sz="2400" dirty="0" err="1" smtClean="0"/>
              <a:t>danas</a:t>
            </a:r>
            <a:r>
              <a:rPr lang="en-U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</a:t>
            </a:r>
            <a:r>
              <a:rPr lang="en-US" sz="2400" dirty="0" err="1" smtClean="0"/>
              <a:t>sve</a:t>
            </a:r>
            <a:r>
              <a:rPr lang="en-US" sz="2400" dirty="0" smtClean="0"/>
              <a:t>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bilinearnih</a:t>
            </a:r>
            <a:r>
              <a:rPr lang="en-US" sz="2400" dirty="0" smtClean="0"/>
              <a:t>, </a:t>
            </a:r>
            <a:r>
              <a:rPr lang="en-US" sz="2400" dirty="0" err="1" smtClean="0"/>
              <a:t>neolokalnih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egalitarnih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obitelji</a:t>
            </a:r>
            <a:r>
              <a:rPr lang="en-US" sz="2400" dirty="0" smtClean="0"/>
              <a:t>? Koji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uzroci</a:t>
            </a:r>
            <a:r>
              <a:rPr lang="en-US" sz="2400" dirty="0" smtClean="0"/>
              <a:t> tome? </a:t>
            </a:r>
            <a:r>
              <a:rPr lang="en-US" sz="2400" dirty="0" err="1" smtClean="0"/>
              <a:t>Što</a:t>
            </a:r>
            <a:r>
              <a:rPr lang="en-US" sz="2400" dirty="0" smtClean="0"/>
              <a:t> </a:t>
            </a:r>
            <a:r>
              <a:rPr lang="en-US" sz="2400" dirty="0" err="1" smtClean="0"/>
              <a:t>mislite</a:t>
            </a:r>
            <a:r>
              <a:rPr lang="en-US" sz="2400" dirty="0" smtClean="0"/>
              <a:t> da je </a:t>
            </a:r>
            <a:r>
              <a:rPr lang="en-US" sz="2400" dirty="0" err="1" smtClean="0"/>
              <a:t>utjecalo</a:t>
            </a:r>
            <a:r>
              <a:rPr lang="en-US" sz="2400" dirty="0" smtClean="0"/>
              <a:t> da </a:t>
            </a:r>
            <a:r>
              <a:rPr lang="en-US" sz="2400" dirty="0" err="1" smtClean="0"/>
              <a:t>takve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obitelji</a:t>
            </a:r>
            <a:r>
              <a:rPr lang="en-US" sz="2400" dirty="0" smtClean="0"/>
              <a:t> </a:t>
            </a:r>
            <a:r>
              <a:rPr lang="en-US" sz="2400" dirty="0" err="1" smtClean="0"/>
              <a:t>sve</a:t>
            </a:r>
            <a:r>
              <a:rPr lang="en-US" sz="2400" dirty="0" smtClean="0"/>
              <a:t>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susrećemo</a:t>
            </a:r>
            <a:r>
              <a:rPr lang="en-US" sz="2400" dirty="0" smtClean="0"/>
              <a:t> u </a:t>
            </a:r>
            <a:r>
              <a:rPr lang="en-US" sz="2400" dirty="0" err="1" smtClean="0"/>
              <a:t>modernome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društvu</a:t>
            </a:r>
            <a:r>
              <a:rPr lang="en-US" sz="2400" dirty="0" smtClean="0"/>
              <a:t>?</a:t>
            </a:r>
            <a:endParaRPr lang="hr-HR" sz="2400" dirty="0"/>
          </a:p>
        </p:txBody>
      </p:sp>
      <p:sp>
        <p:nvSpPr>
          <p:cNvPr id="6" name="Explosion 1 5"/>
          <p:cNvSpPr/>
          <p:nvPr/>
        </p:nvSpPr>
        <p:spPr>
          <a:xfrm>
            <a:off x="731567" y="3898631"/>
            <a:ext cx="742915" cy="50405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7" name="TextBox 6"/>
          <p:cNvSpPr txBox="1"/>
          <p:nvPr/>
        </p:nvSpPr>
        <p:spPr>
          <a:xfrm>
            <a:off x="1590104" y="3898631"/>
            <a:ext cx="10408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Vratite</a:t>
            </a:r>
            <a:r>
              <a:rPr lang="en-US" sz="2400" dirty="0" smtClean="0"/>
              <a:t> se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tablicu</a:t>
            </a:r>
            <a:r>
              <a:rPr lang="en-US" sz="2400" dirty="0" smtClean="0"/>
              <a:t> s </a:t>
            </a:r>
            <a:r>
              <a:rPr lang="en-US" sz="2400" dirty="0" err="1" smtClean="0"/>
              <a:t>početka</a:t>
            </a:r>
            <a:r>
              <a:rPr lang="en-US" sz="2400" dirty="0" smtClean="0"/>
              <a:t> </a:t>
            </a:r>
            <a:r>
              <a:rPr lang="en-US" sz="2400" dirty="0" err="1" smtClean="0"/>
              <a:t>lekcije</a:t>
            </a:r>
            <a:r>
              <a:rPr lang="en-US" sz="2400" dirty="0" smtClean="0"/>
              <a:t>. U </a:t>
            </a:r>
            <a:r>
              <a:rPr lang="en-US" sz="2400" dirty="0" err="1" smtClean="0"/>
              <a:t>treći</a:t>
            </a:r>
            <a:r>
              <a:rPr lang="en-US" sz="2400" dirty="0" smtClean="0"/>
              <a:t> </a:t>
            </a:r>
            <a:r>
              <a:rPr lang="en-US" sz="2400" dirty="0" err="1" smtClean="0"/>
              <a:t>stupac</a:t>
            </a:r>
            <a:r>
              <a:rPr lang="en-US" sz="2400" dirty="0" smtClean="0"/>
              <a:t> </a:t>
            </a:r>
            <a:r>
              <a:rPr lang="en-US" sz="2400" dirty="0" err="1" smtClean="0"/>
              <a:t>upišite</a:t>
            </a:r>
            <a:r>
              <a:rPr lang="en-US" sz="2400" dirty="0" smtClean="0"/>
              <a:t> </a:t>
            </a:r>
            <a:r>
              <a:rPr lang="en-US" sz="2400" dirty="0" err="1" smtClean="0"/>
              <a:t>podatke</a:t>
            </a:r>
            <a:r>
              <a:rPr lang="en-US" sz="2400" dirty="0" smtClean="0"/>
              <a:t> o </a:t>
            </a:r>
            <a:r>
              <a:rPr lang="en-US" sz="2400" dirty="0" err="1" smtClean="0"/>
              <a:t>pojmu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ste</a:t>
            </a:r>
            <a:r>
              <a:rPr lang="en-US" sz="2400" dirty="0" smtClean="0"/>
              <a:t> </a:t>
            </a:r>
            <a:r>
              <a:rPr lang="en-US" sz="2400" dirty="0" err="1" smtClean="0"/>
              <a:t>naučili</a:t>
            </a:r>
            <a:r>
              <a:rPr lang="en-US" sz="2400" dirty="0" smtClean="0"/>
              <a:t>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73938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4272426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BRAK I VRSTE BRAKA</a:t>
            </a:r>
            <a:endParaRPr lang="hr-HR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0442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756" y="1268761"/>
            <a:ext cx="11665295" cy="4979640"/>
          </a:xfrm>
        </p:spPr>
        <p:txBody>
          <a:bodyPr>
            <a:normAutofit/>
          </a:bodyPr>
          <a:lstStyle/>
          <a:p>
            <a:r>
              <a:rPr lang="en-US" sz="2700" dirty="0" err="1" smtClean="0"/>
              <a:t>Okosnicu</a:t>
            </a:r>
            <a:r>
              <a:rPr lang="en-US" sz="2700" dirty="0" smtClean="0"/>
              <a:t> </a:t>
            </a:r>
            <a:r>
              <a:rPr lang="en-US" sz="2700" dirty="0" err="1" smtClean="0"/>
              <a:t>obitelji</a:t>
            </a:r>
            <a:r>
              <a:rPr lang="en-US" sz="2700" dirty="0" smtClean="0"/>
              <a:t> </a:t>
            </a:r>
            <a:r>
              <a:rPr lang="en-US" sz="2700" dirty="0" err="1" smtClean="0"/>
              <a:t>čini</a:t>
            </a:r>
            <a:r>
              <a:rPr lang="en-US" sz="2700" dirty="0" smtClean="0"/>
              <a:t> </a:t>
            </a:r>
            <a:r>
              <a:rPr lang="en-US" sz="2700" dirty="0" err="1" smtClean="0"/>
              <a:t>bračna</a:t>
            </a:r>
            <a:r>
              <a:rPr lang="en-US" sz="2700" dirty="0" smtClean="0"/>
              <a:t> </a:t>
            </a:r>
            <a:r>
              <a:rPr lang="en-US" sz="2700" dirty="0" err="1" smtClean="0"/>
              <a:t>zajednica</a:t>
            </a:r>
            <a:endParaRPr lang="en-US" sz="2700" dirty="0" smtClean="0"/>
          </a:p>
          <a:p>
            <a:r>
              <a:rPr lang="en-US" sz="2700" dirty="0" err="1" smtClean="0"/>
              <a:t>Obitelj</a:t>
            </a:r>
            <a:r>
              <a:rPr lang="en-US" sz="2700" dirty="0" smtClean="0"/>
              <a:t> </a:t>
            </a:r>
            <a:r>
              <a:rPr lang="en-US" sz="2700" dirty="0" err="1" smtClean="0"/>
              <a:t>uglavnom</a:t>
            </a:r>
            <a:r>
              <a:rPr lang="en-US" sz="2700" dirty="0" smtClean="0"/>
              <a:t> </a:t>
            </a:r>
            <a:r>
              <a:rPr lang="en-US" sz="2700" dirty="0" err="1" smtClean="0"/>
              <a:t>nastaje</a:t>
            </a:r>
            <a:r>
              <a:rPr lang="en-US" sz="2700" dirty="0" smtClean="0"/>
              <a:t> BRAKOM. </a:t>
            </a:r>
          </a:p>
          <a:p>
            <a:r>
              <a:rPr lang="en-US" sz="2700" dirty="0" smtClean="0"/>
              <a:t>BRAK je </a:t>
            </a:r>
            <a:r>
              <a:rPr lang="en-US" sz="2700" dirty="0" err="1" smtClean="0"/>
              <a:t>društveno</a:t>
            </a:r>
            <a:r>
              <a:rPr lang="en-US" sz="2700" dirty="0" smtClean="0"/>
              <a:t> </a:t>
            </a:r>
            <a:r>
              <a:rPr lang="en-US" sz="2700" dirty="0" err="1" smtClean="0"/>
              <a:t>prihvaćena</a:t>
            </a:r>
            <a:r>
              <a:rPr lang="en-US" sz="2700" dirty="0" smtClean="0"/>
              <a:t> </a:t>
            </a:r>
            <a:r>
              <a:rPr lang="en-US" sz="2700" dirty="0" err="1" smtClean="0"/>
              <a:t>seksualna</a:t>
            </a:r>
            <a:r>
              <a:rPr lang="en-US" sz="2700" dirty="0" smtClean="0"/>
              <a:t> </a:t>
            </a:r>
            <a:r>
              <a:rPr lang="en-US" sz="2700" dirty="0" err="1" smtClean="0"/>
              <a:t>zajednica</a:t>
            </a:r>
            <a:r>
              <a:rPr lang="en-US" sz="2700" dirty="0" smtClean="0"/>
              <a:t> od </a:t>
            </a:r>
            <a:r>
              <a:rPr lang="en-US" sz="2700" dirty="0" err="1" smtClean="0"/>
              <a:t>dviju</a:t>
            </a:r>
            <a:r>
              <a:rPr lang="en-US" sz="2700" dirty="0" smtClean="0"/>
              <a:t> </a:t>
            </a:r>
            <a:r>
              <a:rPr lang="en-US" sz="2700" dirty="0" err="1" smtClean="0"/>
              <a:t>ili</a:t>
            </a:r>
            <a:r>
              <a:rPr lang="en-US" sz="2700" dirty="0" smtClean="0"/>
              <a:t> </a:t>
            </a:r>
            <a:r>
              <a:rPr lang="en-US" sz="2700" dirty="0" err="1" smtClean="0"/>
              <a:t>više</a:t>
            </a:r>
            <a:r>
              <a:rPr lang="en-US" sz="2700" dirty="0" smtClean="0"/>
              <a:t> </a:t>
            </a:r>
            <a:r>
              <a:rPr lang="en-US" sz="2700" dirty="0" err="1" smtClean="0"/>
              <a:t>osoba</a:t>
            </a:r>
            <a:endParaRPr lang="en-US" sz="2700" dirty="0" smtClean="0"/>
          </a:p>
          <a:p>
            <a:r>
              <a:rPr lang="en-US" sz="2700" dirty="0" err="1" smtClean="0"/>
              <a:t>Ima</a:t>
            </a:r>
            <a:r>
              <a:rPr lang="en-US" sz="2700" dirty="0" smtClean="0"/>
              <a:t> li </a:t>
            </a:r>
            <a:r>
              <a:rPr lang="en-US" sz="2700" dirty="0" err="1" smtClean="0"/>
              <a:t>nešto</a:t>
            </a:r>
            <a:r>
              <a:rPr lang="en-US" sz="2700" dirty="0" smtClean="0"/>
              <a:t> </a:t>
            </a:r>
            <a:r>
              <a:rPr lang="en-US" sz="2700" dirty="0" err="1" smtClean="0"/>
              <a:t>sporno</a:t>
            </a:r>
            <a:r>
              <a:rPr lang="en-US" sz="2700" dirty="0" smtClean="0"/>
              <a:t> u </a:t>
            </a:r>
            <a:r>
              <a:rPr lang="en-US" sz="2700" dirty="0" err="1" smtClean="0"/>
              <a:t>ovakvoj</a:t>
            </a:r>
            <a:r>
              <a:rPr lang="en-US" sz="2700" dirty="0" smtClean="0"/>
              <a:t> </a:t>
            </a:r>
            <a:r>
              <a:rPr lang="en-US" sz="2700" dirty="0" err="1" smtClean="0"/>
              <a:t>definiciji</a:t>
            </a:r>
            <a:r>
              <a:rPr lang="en-US" sz="2700" dirty="0" smtClean="0"/>
              <a:t>?</a:t>
            </a:r>
          </a:p>
          <a:p>
            <a:r>
              <a:rPr lang="en-US" sz="2700" dirty="0" err="1" smtClean="0"/>
              <a:t>Kvantitativno</a:t>
            </a:r>
            <a:r>
              <a:rPr lang="en-US" sz="2700" dirty="0" smtClean="0"/>
              <a:t> </a:t>
            </a:r>
            <a:r>
              <a:rPr lang="en-US" sz="2700" dirty="0" err="1" smtClean="0"/>
              <a:t>obilježje</a:t>
            </a:r>
            <a:r>
              <a:rPr lang="en-US" sz="2700" dirty="0" smtClean="0"/>
              <a:t> </a:t>
            </a:r>
            <a:r>
              <a:rPr lang="en-US" sz="2700" dirty="0" err="1" smtClean="0"/>
              <a:t>koje</a:t>
            </a:r>
            <a:r>
              <a:rPr lang="en-US" sz="2700" dirty="0" smtClean="0"/>
              <a:t> </a:t>
            </a:r>
            <a:r>
              <a:rPr lang="en-US" sz="2700" dirty="0" err="1" smtClean="0"/>
              <a:t>govori</a:t>
            </a:r>
            <a:r>
              <a:rPr lang="en-US" sz="2700" dirty="0" smtClean="0"/>
              <a:t> o </a:t>
            </a:r>
            <a:r>
              <a:rPr lang="en-US" sz="2700" dirty="0" err="1" smtClean="0"/>
              <a:t>broju</a:t>
            </a:r>
            <a:r>
              <a:rPr lang="en-US" sz="2700" dirty="0" smtClean="0"/>
              <a:t> </a:t>
            </a:r>
            <a:r>
              <a:rPr lang="en-US" sz="2700" dirty="0" err="1" smtClean="0"/>
              <a:t>ljudi</a:t>
            </a:r>
            <a:r>
              <a:rPr lang="en-US" sz="2700" dirty="0" smtClean="0"/>
              <a:t> u </a:t>
            </a:r>
            <a:r>
              <a:rPr lang="en-US" sz="2700" dirty="0" err="1" smtClean="0"/>
              <a:t>bračnoj</a:t>
            </a:r>
            <a:r>
              <a:rPr lang="en-US" sz="2700" dirty="0" smtClean="0"/>
              <a:t> </a:t>
            </a:r>
            <a:r>
              <a:rPr lang="en-US" sz="2700" dirty="0" err="1" smtClean="0"/>
              <a:t>zajednici</a:t>
            </a:r>
            <a:r>
              <a:rPr lang="en-US" sz="2700" dirty="0" smtClean="0"/>
              <a:t>…</a:t>
            </a:r>
          </a:p>
          <a:p>
            <a:r>
              <a:rPr lang="en-US" sz="2700" dirty="0" smtClean="0"/>
              <a:t>“</a:t>
            </a:r>
            <a:r>
              <a:rPr lang="en-US" sz="2700" i="1" dirty="0" err="1" smtClean="0"/>
              <a:t>osobe</a:t>
            </a:r>
            <a:r>
              <a:rPr lang="en-US" sz="2700" dirty="0" smtClean="0"/>
              <a:t>” – </a:t>
            </a:r>
            <a:r>
              <a:rPr lang="en-US" sz="2700" dirty="0" err="1" smtClean="0"/>
              <a:t>radi</a:t>
            </a:r>
            <a:r>
              <a:rPr lang="en-US" sz="2700" dirty="0" smtClean="0"/>
              <a:t> li se o </a:t>
            </a:r>
            <a:r>
              <a:rPr lang="en-US" sz="2700" dirty="0" err="1" smtClean="0"/>
              <a:t>heteroseksualnoj</a:t>
            </a:r>
            <a:r>
              <a:rPr lang="en-US" sz="2700" dirty="0" smtClean="0"/>
              <a:t> </a:t>
            </a:r>
            <a:r>
              <a:rPr lang="en-US" sz="2700" dirty="0" err="1" smtClean="0"/>
              <a:t>ili</a:t>
            </a:r>
            <a:r>
              <a:rPr lang="en-US" sz="2700" dirty="0" smtClean="0"/>
              <a:t> </a:t>
            </a:r>
            <a:r>
              <a:rPr lang="en-US" sz="2700" dirty="0" err="1" smtClean="0"/>
              <a:t>homoseksualnoj</a:t>
            </a:r>
            <a:r>
              <a:rPr lang="en-US" sz="2700" dirty="0" smtClean="0"/>
              <a:t> </a:t>
            </a:r>
            <a:r>
              <a:rPr lang="en-US" sz="2700" dirty="0" err="1" smtClean="0"/>
              <a:t>zajednici</a:t>
            </a:r>
            <a:endParaRPr lang="en-US" sz="2700" dirty="0" smtClean="0"/>
          </a:p>
          <a:p>
            <a:r>
              <a:rPr lang="en-US" sz="2700" dirty="0" smtClean="0"/>
              <a:t>U RH: “</a:t>
            </a:r>
            <a:r>
              <a:rPr lang="en-US" sz="2700" dirty="0" err="1" smtClean="0"/>
              <a:t>Brak</a:t>
            </a:r>
            <a:r>
              <a:rPr lang="en-US" sz="2700" dirty="0" smtClean="0"/>
              <a:t> je </a:t>
            </a:r>
            <a:r>
              <a:rPr lang="en-US" sz="2700" dirty="0" err="1" smtClean="0"/>
              <a:t>životna</a:t>
            </a:r>
            <a:r>
              <a:rPr lang="en-US" sz="2700" dirty="0" smtClean="0"/>
              <a:t> </a:t>
            </a:r>
            <a:r>
              <a:rPr lang="en-US" sz="2700" dirty="0" err="1" smtClean="0"/>
              <a:t>zajednica</a:t>
            </a:r>
            <a:r>
              <a:rPr lang="en-US" sz="2700" dirty="0" smtClean="0"/>
              <a:t> </a:t>
            </a:r>
            <a:r>
              <a:rPr lang="en-US" sz="2700" dirty="0" err="1" smtClean="0"/>
              <a:t>žene</a:t>
            </a:r>
            <a:r>
              <a:rPr lang="en-US" sz="2700" dirty="0" smtClean="0"/>
              <a:t> </a:t>
            </a:r>
            <a:r>
              <a:rPr lang="en-US" sz="2700" dirty="0" err="1" smtClean="0"/>
              <a:t>i</a:t>
            </a:r>
            <a:r>
              <a:rPr lang="en-US" sz="2700" dirty="0" smtClean="0"/>
              <a:t> </a:t>
            </a:r>
            <a:r>
              <a:rPr lang="en-US" sz="2700" dirty="0" err="1" smtClean="0"/>
              <a:t>muškarca</a:t>
            </a:r>
            <a:r>
              <a:rPr lang="en-US" sz="2700" dirty="0" smtClean="0"/>
              <a:t>”, </a:t>
            </a:r>
            <a:r>
              <a:rPr lang="en-US" sz="2700" dirty="0" err="1" smtClean="0"/>
              <a:t>Ustav</a:t>
            </a:r>
            <a:r>
              <a:rPr lang="en-US" sz="2700" dirty="0" smtClean="0"/>
              <a:t> RH, </a:t>
            </a:r>
            <a:r>
              <a:rPr lang="en-US" sz="2700" dirty="0" err="1" smtClean="0"/>
              <a:t>članak</a:t>
            </a:r>
            <a:r>
              <a:rPr lang="en-US" sz="2700" dirty="0" smtClean="0"/>
              <a:t> 62.</a:t>
            </a:r>
            <a:endParaRPr lang="hr-HR" sz="2700" dirty="0"/>
          </a:p>
        </p:txBody>
      </p:sp>
      <p:sp>
        <p:nvSpPr>
          <p:cNvPr id="4" name="Oval 3"/>
          <p:cNvSpPr/>
          <p:nvPr/>
        </p:nvSpPr>
        <p:spPr>
          <a:xfrm>
            <a:off x="9184121" y="2452580"/>
            <a:ext cx="1728192" cy="432048"/>
          </a:xfrm>
          <a:prstGeom prst="ellipse">
            <a:avLst/>
          </a:prstGeom>
          <a:solidFill>
            <a:schemeClr val="accent1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Oval 4"/>
          <p:cNvSpPr/>
          <p:nvPr/>
        </p:nvSpPr>
        <p:spPr>
          <a:xfrm>
            <a:off x="645943" y="2859496"/>
            <a:ext cx="911052" cy="432048"/>
          </a:xfrm>
          <a:prstGeom prst="ellipse">
            <a:avLst/>
          </a:prstGeom>
          <a:solidFill>
            <a:schemeClr val="accent1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7423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</a:rPr>
              <a:t>Kratka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povijest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braka</a:t>
            </a:r>
            <a:endParaRPr lang="hr-HR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http://bit.ly/povijestbraka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2778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 smtClean="0"/>
              <a:t>VRSTE BRAKA </a:t>
            </a:r>
            <a:r>
              <a:rPr lang="en-US" sz="2800" dirty="0" smtClean="0"/>
              <a:t>(</a:t>
            </a:r>
            <a:r>
              <a:rPr lang="en-US" sz="2800" dirty="0" err="1" smtClean="0"/>
              <a:t>prema</a:t>
            </a:r>
            <a:r>
              <a:rPr lang="en-US" sz="2800" dirty="0" smtClean="0"/>
              <a:t> </a:t>
            </a:r>
            <a:r>
              <a:rPr lang="en-US" sz="2800" dirty="0" err="1" smtClean="0"/>
              <a:t>broju</a:t>
            </a:r>
            <a:r>
              <a:rPr lang="en-US" sz="2800" dirty="0" smtClean="0"/>
              <a:t> </a:t>
            </a:r>
            <a:r>
              <a:rPr lang="en-US" sz="2800" dirty="0" err="1" smtClean="0"/>
              <a:t>supružnika</a:t>
            </a:r>
            <a:r>
              <a:rPr lang="en-US" sz="2800" dirty="0" smtClean="0"/>
              <a:t>)</a:t>
            </a:r>
            <a:endParaRPr lang="hr-H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hr-HR" dirty="0"/>
          </a:p>
        </p:txBody>
      </p:sp>
      <p:sp>
        <p:nvSpPr>
          <p:cNvPr id="4" name="Down Arrow 3"/>
          <p:cNvSpPr/>
          <p:nvPr/>
        </p:nvSpPr>
        <p:spPr>
          <a:xfrm rot="2517617">
            <a:off x="3384116" y="1299793"/>
            <a:ext cx="652579" cy="14597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Down Arrow 4"/>
          <p:cNvSpPr/>
          <p:nvPr/>
        </p:nvSpPr>
        <p:spPr>
          <a:xfrm rot="19499470">
            <a:off x="6633517" y="1340100"/>
            <a:ext cx="679564" cy="13661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xtBox 5"/>
          <p:cNvSpPr txBox="1"/>
          <p:nvPr/>
        </p:nvSpPr>
        <p:spPr>
          <a:xfrm>
            <a:off x="1453414" y="28508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MONOGAMIJA</a:t>
            </a:r>
            <a:endParaRPr lang="hr-HR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375755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</a:t>
            </a:r>
            <a:r>
              <a:rPr lang="en-US" sz="2400" dirty="0" err="1" smtClean="0"/>
              <a:t>Jedna</a:t>
            </a:r>
            <a:r>
              <a:rPr lang="en-US" sz="2400" dirty="0" smtClean="0"/>
              <a:t> </a:t>
            </a:r>
            <a:r>
              <a:rPr lang="en-US" sz="2400" dirty="0" err="1" smtClean="0"/>
              <a:t>osoba</a:t>
            </a:r>
            <a:r>
              <a:rPr lang="en-U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</a:t>
            </a:r>
            <a:r>
              <a:rPr lang="en-US" sz="2400" dirty="0" err="1" smtClean="0"/>
              <a:t>jednog</a:t>
            </a:r>
            <a:r>
              <a:rPr lang="en-US" sz="2400" dirty="0" smtClean="0"/>
              <a:t> </a:t>
            </a:r>
            <a:r>
              <a:rPr lang="en-US" sz="2400" dirty="0" err="1" smtClean="0"/>
              <a:t>supružnika</a:t>
            </a:r>
            <a:r>
              <a:rPr lang="en-US" sz="2400" dirty="0" smtClean="0"/>
              <a:t>)</a:t>
            </a:r>
            <a:endParaRPr lang="hr-HR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386487" y="2814975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POLIGAMIJA</a:t>
            </a:r>
            <a:endParaRPr lang="hr-HR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303108" y="3338195"/>
            <a:ext cx="5931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</a:t>
            </a:r>
            <a:r>
              <a:rPr lang="en-US" sz="2400" dirty="0" err="1" smtClean="0"/>
              <a:t>Jedna</a:t>
            </a:r>
            <a:r>
              <a:rPr lang="en-US" sz="2400" dirty="0" smtClean="0"/>
              <a:t> </a:t>
            </a:r>
            <a:r>
              <a:rPr lang="en-US" sz="2400" dirty="0" err="1" smtClean="0"/>
              <a:t>osoba</a:t>
            </a:r>
            <a:r>
              <a:rPr lang="en-U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supružnika</a:t>
            </a:r>
            <a:r>
              <a:rPr lang="en-US" sz="2400" dirty="0" smtClean="0"/>
              <a:t>)</a:t>
            </a:r>
            <a:endParaRPr lang="hr-HR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7638" y="3927051"/>
            <a:ext cx="59046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smtClean="0"/>
              <a:t>- </a:t>
            </a:r>
            <a:r>
              <a:rPr lang="en-US" sz="2200" b="1" dirty="0" smtClean="0"/>
              <a:t>UZASTOPNA MONOGAMIJA</a:t>
            </a:r>
            <a:r>
              <a:rPr lang="en-US" sz="2200" dirty="0" smtClean="0"/>
              <a:t>– </a:t>
            </a:r>
            <a:r>
              <a:rPr lang="en-US" sz="2200" dirty="0" err="1" smtClean="0"/>
              <a:t>kada</a:t>
            </a:r>
            <a:r>
              <a:rPr lang="en-US" sz="2200" dirty="0" smtClean="0"/>
              <a:t> </a:t>
            </a:r>
            <a:r>
              <a:rPr lang="en-US" sz="2200" dirty="0" err="1" smtClean="0"/>
              <a:t>osoba</a:t>
            </a:r>
            <a:r>
              <a:rPr lang="en-US" sz="2200" dirty="0" smtClean="0"/>
              <a:t> </a:t>
            </a:r>
            <a:r>
              <a:rPr lang="en-US" sz="2200" dirty="0" err="1" smtClean="0"/>
              <a:t>ima</a:t>
            </a:r>
            <a:r>
              <a:rPr lang="en-US" sz="2200" dirty="0" smtClean="0"/>
              <a:t> </a:t>
            </a:r>
            <a:r>
              <a:rPr lang="en-US" sz="2200" dirty="0" err="1" smtClean="0"/>
              <a:t>više</a:t>
            </a:r>
            <a:r>
              <a:rPr lang="en-US" sz="2200" dirty="0" smtClean="0"/>
              <a:t> </a:t>
            </a:r>
            <a:r>
              <a:rPr lang="en-US" sz="2200" dirty="0" err="1" smtClean="0"/>
              <a:t>supružnika</a:t>
            </a:r>
            <a:r>
              <a:rPr lang="en-US" sz="2200" dirty="0" smtClean="0"/>
              <a:t> </a:t>
            </a:r>
            <a:r>
              <a:rPr lang="en-US" sz="2200" dirty="0" err="1" smtClean="0"/>
              <a:t>tijekom</a:t>
            </a:r>
            <a:r>
              <a:rPr lang="en-US" sz="2200" dirty="0" smtClean="0"/>
              <a:t> </a:t>
            </a:r>
            <a:r>
              <a:rPr lang="en-US" sz="2200" dirty="0" err="1" smtClean="0"/>
              <a:t>života</a:t>
            </a:r>
            <a:r>
              <a:rPr lang="en-US" sz="2200" dirty="0" smtClean="0"/>
              <a:t>, no to je </a:t>
            </a:r>
            <a:r>
              <a:rPr lang="en-US" sz="2200" dirty="0" err="1" smtClean="0"/>
              <a:t>posljedica</a:t>
            </a:r>
            <a:r>
              <a:rPr lang="en-US" sz="2200" dirty="0" smtClean="0"/>
              <a:t> toga </a:t>
            </a:r>
            <a:r>
              <a:rPr lang="en-US" sz="2200" dirty="0" err="1" smtClean="0"/>
              <a:t>što</a:t>
            </a:r>
            <a:r>
              <a:rPr lang="en-US" sz="2200" dirty="0" smtClean="0"/>
              <a:t> je </a:t>
            </a:r>
            <a:r>
              <a:rPr lang="en-US" sz="2200" dirty="0" err="1" smtClean="0"/>
              <a:t>postala</a:t>
            </a:r>
            <a:r>
              <a:rPr lang="en-US" sz="2200" dirty="0" smtClean="0"/>
              <a:t> </a:t>
            </a:r>
            <a:r>
              <a:rPr lang="en-US" sz="2200" dirty="0" err="1" smtClean="0"/>
              <a:t>udovac</a:t>
            </a:r>
            <a:r>
              <a:rPr lang="en-US" sz="2200" dirty="0" smtClean="0"/>
              <a:t>/</a:t>
            </a:r>
            <a:r>
              <a:rPr lang="en-US" sz="2200" dirty="0" err="1" smtClean="0"/>
              <a:t>udovica</a:t>
            </a:r>
            <a:r>
              <a:rPr lang="en-US" sz="2200" dirty="0" smtClean="0"/>
              <a:t> </a:t>
            </a:r>
            <a:r>
              <a:rPr lang="en-US" sz="2200" dirty="0" err="1" smtClean="0"/>
              <a:t>ili</a:t>
            </a:r>
            <a:r>
              <a:rPr lang="en-US" sz="2200" dirty="0" smtClean="0"/>
              <a:t> </a:t>
            </a:r>
            <a:r>
              <a:rPr lang="en-US" sz="2200" dirty="0" err="1" smtClean="0"/>
              <a:t>nakon</a:t>
            </a:r>
            <a:r>
              <a:rPr lang="en-US" sz="2200" dirty="0" smtClean="0"/>
              <a:t> </a:t>
            </a:r>
            <a:r>
              <a:rPr lang="en-US" sz="2200" dirty="0" err="1" smtClean="0"/>
              <a:t>razvoda</a:t>
            </a:r>
            <a:r>
              <a:rPr lang="en-US" sz="2200" dirty="0" smtClean="0"/>
              <a:t> </a:t>
            </a:r>
            <a:r>
              <a:rPr lang="en-US" sz="2200" dirty="0" err="1" smtClean="0"/>
              <a:t>braka</a:t>
            </a:r>
            <a:endParaRPr lang="hr-HR" sz="2200" dirty="0"/>
          </a:p>
        </p:txBody>
      </p:sp>
    </p:spTree>
    <p:extLst>
      <p:ext uri="{BB962C8B-B14F-4D97-AF65-F5344CB8AC3E}">
        <p14:creationId xmlns:p14="http://schemas.microsoft.com/office/powerpoint/2010/main" val="173568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/>
              <a:t>POLIGAMIJA</a:t>
            </a:r>
            <a:r>
              <a:rPr lang="hr-HR" sz="4400" b="1" dirty="0"/>
              <a:t/>
            </a:r>
            <a:br>
              <a:rPr lang="hr-HR" sz="4400" b="1" dirty="0"/>
            </a:b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Down Arrow 5"/>
          <p:cNvSpPr/>
          <p:nvPr/>
        </p:nvSpPr>
        <p:spPr>
          <a:xfrm rot="2517617">
            <a:off x="3384116" y="1299793"/>
            <a:ext cx="652579" cy="14597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Down Arrow 6"/>
          <p:cNvSpPr/>
          <p:nvPr/>
        </p:nvSpPr>
        <p:spPr>
          <a:xfrm rot="19499470">
            <a:off x="6633517" y="1340100"/>
            <a:ext cx="679564" cy="13661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TextBox 7"/>
          <p:cNvSpPr txBox="1"/>
          <p:nvPr/>
        </p:nvSpPr>
        <p:spPr>
          <a:xfrm>
            <a:off x="1755642" y="2701298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POLIGINIJA</a:t>
            </a:r>
            <a:endParaRPr lang="hr-HR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670476" y="2669290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POLIANDRIJA</a:t>
            </a:r>
            <a:endParaRPr lang="hr-HR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78278" y="3332837"/>
            <a:ext cx="5402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Brak</a:t>
            </a:r>
            <a:r>
              <a:rPr lang="en-US" sz="2400" dirty="0" smtClean="0"/>
              <a:t> </a:t>
            </a:r>
            <a:r>
              <a:rPr lang="en-US" sz="2400" dirty="0" err="1" smtClean="0"/>
              <a:t>jednog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muškarca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žena</a:t>
            </a:r>
            <a:r>
              <a:rPr lang="en-US" sz="2400" dirty="0" smtClean="0"/>
              <a:t>. </a:t>
            </a:r>
            <a:r>
              <a:rPr lang="en-US" sz="2400" dirty="0" err="1" smtClean="0"/>
              <a:t>Muškarac</a:t>
            </a:r>
            <a:r>
              <a:rPr lang="en-US" sz="2400" dirty="0" smtClean="0"/>
              <a:t> stupa u </a:t>
            </a:r>
            <a:r>
              <a:rPr lang="en-US" sz="2400" dirty="0" err="1" smtClean="0"/>
              <a:t>brak</a:t>
            </a:r>
            <a:r>
              <a:rPr lang="en-US" sz="2400" dirty="0" smtClean="0"/>
              <a:t> s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žena</a:t>
            </a:r>
            <a:r>
              <a:rPr lang="en-US" sz="2400" dirty="0" smtClean="0"/>
              <a:t> </a:t>
            </a:r>
            <a:r>
              <a:rPr lang="en-US" sz="2400" dirty="0" err="1" smtClean="0"/>
              <a:t>postepeno</a:t>
            </a:r>
            <a:r>
              <a:rPr lang="en-US" sz="2400" dirty="0" smtClean="0"/>
              <a:t> </a:t>
            </a:r>
            <a:r>
              <a:rPr lang="en-US" sz="2400" dirty="0" err="1" smtClean="0"/>
              <a:t>tijekom</a:t>
            </a:r>
            <a:r>
              <a:rPr lang="en-US" sz="2400" dirty="0" smtClean="0"/>
              <a:t> </a:t>
            </a:r>
            <a:r>
              <a:rPr lang="en-US" sz="2400" dirty="0" err="1" smtClean="0"/>
              <a:t>života</a:t>
            </a:r>
            <a:endParaRPr lang="hr-HR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94412" y="3358571"/>
            <a:ext cx="55446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Brak</a:t>
            </a:r>
            <a:r>
              <a:rPr lang="en-US" sz="2400" dirty="0" smtClean="0"/>
              <a:t> </a:t>
            </a:r>
            <a:r>
              <a:rPr lang="en-US" sz="2400" dirty="0" err="1" smtClean="0"/>
              <a:t>jedne</a:t>
            </a:r>
            <a:r>
              <a:rPr lang="en-US" sz="2400" dirty="0" smtClean="0"/>
              <a:t> </a:t>
            </a:r>
            <a:r>
              <a:rPr lang="en-US" sz="2400" dirty="0" err="1" smtClean="0"/>
              <a:t>žena</a:t>
            </a:r>
            <a:r>
              <a:rPr lang="en-US" sz="2400" dirty="0" smtClean="0"/>
              <a:t> s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muškaraca</a:t>
            </a:r>
            <a:r>
              <a:rPr lang="en-US" sz="2400" dirty="0" smtClean="0"/>
              <a:t> s </a:t>
            </a:r>
            <a:r>
              <a:rPr lang="en-US" sz="2400" dirty="0" err="1" smtClean="0"/>
              <a:t>kojima</a:t>
            </a:r>
            <a:r>
              <a:rPr lang="en-US" sz="2400" dirty="0" smtClean="0"/>
              <a:t> stupa u </a:t>
            </a:r>
            <a:r>
              <a:rPr lang="en-US" sz="2400" dirty="0" err="1" smtClean="0"/>
              <a:t>brak</a:t>
            </a:r>
            <a:r>
              <a:rPr lang="en-US" sz="2400" dirty="0" smtClean="0"/>
              <a:t> </a:t>
            </a:r>
            <a:r>
              <a:rPr lang="en-US" sz="2400" dirty="0" err="1" smtClean="0"/>
              <a:t>istovremeno</a:t>
            </a:r>
            <a:r>
              <a:rPr lang="en-US" sz="2400" dirty="0" smtClean="0"/>
              <a:t> u </a:t>
            </a:r>
            <a:r>
              <a:rPr lang="en-US" sz="2400" dirty="0" err="1" smtClean="0"/>
              <a:t>jednoj</a:t>
            </a:r>
            <a:r>
              <a:rPr lang="en-US" sz="2400" dirty="0" smtClean="0"/>
              <a:t> </a:t>
            </a:r>
            <a:r>
              <a:rPr lang="en-US" sz="2400" dirty="0" err="1" smtClean="0"/>
              <a:t>ceremoniji</a:t>
            </a:r>
            <a:r>
              <a:rPr lang="en-US" sz="2400" dirty="0" smtClean="0"/>
              <a:t>. </a:t>
            </a:r>
            <a:r>
              <a:rPr lang="en-US" sz="2400" dirty="0" err="1" smtClean="0"/>
              <a:t>Ti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muškarci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najčešće</a:t>
            </a:r>
            <a:r>
              <a:rPr lang="en-US" sz="2400" dirty="0" smtClean="0"/>
              <a:t> </a:t>
            </a:r>
            <a:r>
              <a:rPr lang="en-US" sz="2400" dirty="0" err="1" smtClean="0"/>
              <a:t>braća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rođaci</a:t>
            </a:r>
            <a:r>
              <a:rPr lang="en-US" sz="2400" dirty="0" smtClean="0"/>
              <a:t> </a:t>
            </a:r>
            <a:r>
              <a:rPr lang="en-US" sz="2400" dirty="0" err="1" smtClean="0"/>
              <a:t>iz</a:t>
            </a:r>
            <a:r>
              <a:rPr lang="en-US" sz="2400" dirty="0" smtClean="0"/>
              <a:t> </a:t>
            </a:r>
            <a:r>
              <a:rPr lang="en-US" sz="2400" dirty="0" err="1" smtClean="0"/>
              <a:t>iste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obitelji</a:t>
            </a:r>
            <a:r>
              <a:rPr lang="en-US" sz="2400" dirty="0" smtClean="0"/>
              <a:t>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422482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/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POLIGINIJA</a:t>
            </a:r>
            <a:br>
              <a:rPr lang="en-US" dirty="0" smtClean="0"/>
            </a:br>
            <a:endParaRPr lang="hr-H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89756" y="1412777"/>
            <a:ext cx="11521279" cy="4835624"/>
          </a:xfrm>
        </p:spPr>
        <p:txBody>
          <a:bodyPr/>
          <a:lstStyle/>
          <a:p>
            <a:r>
              <a:rPr lang="en-US" sz="2400" dirty="0" smtClean="0"/>
              <a:t>U </a:t>
            </a:r>
            <a:r>
              <a:rPr lang="en-US" sz="2400" dirty="0" err="1" smtClean="0"/>
              <a:t>Africi</a:t>
            </a:r>
            <a:r>
              <a:rPr lang="en-US" sz="2400" dirty="0" smtClean="0"/>
              <a:t>, </a:t>
            </a:r>
            <a:r>
              <a:rPr lang="en-US" sz="2400" dirty="0" err="1" smtClean="0"/>
              <a:t>islamskim</a:t>
            </a:r>
            <a:r>
              <a:rPr lang="en-US" sz="2400" dirty="0" smtClean="0"/>
              <a:t> </a:t>
            </a:r>
            <a:r>
              <a:rPr lang="en-US" sz="2400" dirty="0" err="1" smtClean="0"/>
              <a:t>zemljama</a:t>
            </a:r>
            <a:r>
              <a:rPr lang="en-US" sz="2400" dirty="0" smtClean="0"/>
              <a:t>, u </a:t>
            </a:r>
            <a:r>
              <a:rPr lang="en-US" sz="2400" dirty="0" err="1" smtClean="0"/>
              <a:t>zapadnom</a:t>
            </a:r>
            <a:r>
              <a:rPr lang="en-US" sz="2400" dirty="0" smtClean="0"/>
              <a:t> </a:t>
            </a:r>
            <a:r>
              <a:rPr lang="en-US" sz="2400" dirty="0" err="1" smtClean="0"/>
              <a:t>svijetu</a:t>
            </a:r>
            <a:r>
              <a:rPr lang="en-US" sz="2400" dirty="0" smtClean="0"/>
              <a:t> </a:t>
            </a:r>
            <a:r>
              <a:rPr lang="en-US" sz="2400" dirty="0" err="1" smtClean="0"/>
              <a:t>Mormoni</a:t>
            </a:r>
            <a:r>
              <a:rPr lang="en-US" sz="2400" dirty="0" smtClean="0"/>
              <a:t>…</a:t>
            </a:r>
          </a:p>
          <a:p>
            <a:endParaRPr lang="en-US" dirty="0"/>
          </a:p>
          <a:p>
            <a:endParaRPr lang="hr-HR" dirty="0"/>
          </a:p>
        </p:txBody>
      </p:sp>
      <p:pic>
        <p:nvPicPr>
          <p:cNvPr id="1028" name="Picture 4" descr="POLYGYNY/POLYGAMY-WHAT DO YOU THINK? | Embracing Spiritual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6" y="2156279"/>
            <a:ext cx="3659869" cy="260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History Of Polygyny In Muslim Marriages ~ Muslim World Tod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188" y="2156279"/>
            <a:ext cx="3862704" cy="27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9756" y="5205964"/>
            <a:ext cx="11089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U </a:t>
            </a:r>
            <a:r>
              <a:rPr lang="en-US" sz="2400" dirty="0" err="1" smtClean="0"/>
              <a:t>Islamu</a:t>
            </a:r>
            <a:r>
              <a:rPr lang="en-US" sz="2400" dirty="0" smtClean="0"/>
              <a:t> je </a:t>
            </a:r>
            <a:r>
              <a:rPr lang="en-US" sz="2400" dirty="0" err="1" smtClean="0"/>
              <a:t>uvjet</a:t>
            </a:r>
            <a:r>
              <a:rPr lang="en-US" sz="2400" dirty="0" smtClean="0"/>
              <a:t> da </a:t>
            </a:r>
            <a:r>
              <a:rPr lang="en-US" sz="2400" dirty="0" err="1" smtClean="0"/>
              <a:t>muškarac</a:t>
            </a:r>
            <a:r>
              <a:rPr lang="en-US" sz="2400" dirty="0" smtClean="0"/>
              <a:t> mora </a:t>
            </a:r>
            <a:r>
              <a:rPr lang="en-US" sz="2400" dirty="0" err="1" smtClean="0"/>
              <a:t>ekonomski</a:t>
            </a:r>
            <a:r>
              <a:rPr lang="en-US" sz="2400" dirty="0" smtClean="0"/>
              <a:t> </a:t>
            </a:r>
            <a:r>
              <a:rPr lang="en-US" sz="2400" dirty="0" err="1" smtClean="0"/>
              <a:t>skrbiti</a:t>
            </a:r>
            <a:r>
              <a:rPr lang="en-US" sz="2400" dirty="0" smtClean="0"/>
              <a:t> o </a:t>
            </a:r>
            <a:r>
              <a:rPr lang="en-US" sz="2400" dirty="0" err="1" smtClean="0"/>
              <a:t>svakoj</a:t>
            </a:r>
            <a:r>
              <a:rPr lang="en-US" sz="2400" dirty="0" smtClean="0"/>
              <a:t> </a:t>
            </a:r>
            <a:r>
              <a:rPr lang="en-US" sz="2400" dirty="0" err="1" smtClean="0"/>
              <a:t>svojoj</a:t>
            </a:r>
            <a:r>
              <a:rPr lang="en-US" sz="2400" dirty="0" smtClean="0"/>
              <a:t> </a:t>
            </a:r>
            <a:r>
              <a:rPr lang="en-US" sz="2400" dirty="0" err="1" smtClean="0"/>
              <a:t>supruzi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o </a:t>
            </a:r>
            <a:r>
              <a:rPr lang="en-US" sz="2400" dirty="0" err="1" smtClean="0"/>
              <a:t>njihovoj</a:t>
            </a:r>
            <a:r>
              <a:rPr lang="en-US" sz="2400" dirty="0" smtClean="0"/>
              <a:t> </a:t>
            </a:r>
            <a:r>
              <a:rPr lang="en-US" sz="2400" dirty="0" err="1" smtClean="0"/>
              <a:t>zajedničkoj</a:t>
            </a:r>
            <a:r>
              <a:rPr lang="en-US" sz="2400" dirty="0" smtClean="0"/>
              <a:t> </a:t>
            </a:r>
            <a:r>
              <a:rPr lang="en-US" sz="2400" dirty="0" err="1" smtClean="0"/>
              <a:t>djeci</a:t>
            </a:r>
            <a:r>
              <a:rPr lang="en-US" sz="2400" dirty="0" smtClean="0"/>
              <a:t>. </a:t>
            </a:r>
            <a:r>
              <a:rPr lang="en-US" sz="2400" dirty="0" err="1" smtClean="0"/>
              <a:t>Zbog</a:t>
            </a:r>
            <a:r>
              <a:rPr lang="en-US" sz="2400" dirty="0" smtClean="0"/>
              <a:t> tog </a:t>
            </a:r>
            <a:r>
              <a:rPr lang="en-US" sz="2400" dirty="0" err="1" smtClean="0"/>
              <a:t>ekonomskog</a:t>
            </a:r>
            <a:r>
              <a:rPr lang="en-US" sz="2400" dirty="0" smtClean="0"/>
              <a:t> </a:t>
            </a:r>
            <a:r>
              <a:rPr lang="en-US" sz="2400" dirty="0" err="1" smtClean="0"/>
              <a:t>razloga</a:t>
            </a:r>
            <a:r>
              <a:rPr lang="en-US" sz="2400" dirty="0" smtClean="0"/>
              <a:t> </a:t>
            </a:r>
            <a:r>
              <a:rPr lang="en-US" sz="2400" dirty="0" err="1" smtClean="0"/>
              <a:t>ipak</a:t>
            </a:r>
            <a:r>
              <a:rPr lang="en-US" sz="2400" dirty="0" smtClean="0"/>
              <a:t> se </a:t>
            </a:r>
            <a:r>
              <a:rPr lang="en-US" sz="2400" dirty="0" err="1" smtClean="0"/>
              <a:t>većina</a:t>
            </a:r>
            <a:r>
              <a:rPr lang="en-US" sz="2400" dirty="0" smtClean="0"/>
              <a:t> </a:t>
            </a:r>
            <a:r>
              <a:rPr lang="en-US" sz="2400" dirty="0" err="1" smtClean="0"/>
              <a:t>muškaraca</a:t>
            </a:r>
            <a:r>
              <a:rPr lang="en-US" sz="2400" dirty="0" smtClean="0"/>
              <a:t> u </a:t>
            </a:r>
            <a:r>
              <a:rPr lang="en-US" sz="2400" dirty="0" err="1" smtClean="0"/>
              <a:t>islamskim</a:t>
            </a:r>
            <a:r>
              <a:rPr lang="en-US" sz="2400" dirty="0" smtClean="0"/>
              <a:t> </a:t>
            </a:r>
            <a:r>
              <a:rPr lang="en-US" sz="2400" dirty="0" err="1" smtClean="0"/>
              <a:t>državama</a:t>
            </a:r>
            <a:r>
              <a:rPr lang="en-US" sz="2400" dirty="0" smtClean="0"/>
              <a:t> </a:t>
            </a:r>
            <a:r>
              <a:rPr lang="en-US" sz="2400" dirty="0" err="1" smtClean="0"/>
              <a:t>odlučuje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monogamiju</a:t>
            </a:r>
            <a:r>
              <a:rPr lang="en-US" sz="2400" dirty="0" smtClean="0"/>
              <a:t>.</a:t>
            </a:r>
            <a:endParaRPr lang="hr-HR" sz="2400" dirty="0"/>
          </a:p>
        </p:txBody>
      </p:sp>
      <p:pic>
        <p:nvPicPr>
          <p:cNvPr id="1032" name="Picture 8" descr="A new Utah polygamous family on reality TV | Television | heraldextra.c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433" y="2250624"/>
            <a:ext cx="381000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5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POLIANDRIJA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1484785"/>
            <a:ext cx="9713464" cy="4763616"/>
          </a:xfrm>
        </p:spPr>
        <p:txBody>
          <a:bodyPr/>
          <a:lstStyle/>
          <a:p>
            <a:r>
              <a:rPr lang="en-US" sz="2400" dirty="0" err="1" smtClean="0"/>
              <a:t>Izrazito</a:t>
            </a:r>
            <a:r>
              <a:rPr lang="en-US" sz="2400" dirty="0" smtClean="0"/>
              <a:t> </a:t>
            </a:r>
            <a:r>
              <a:rPr lang="en-US" sz="2400" dirty="0" err="1" smtClean="0"/>
              <a:t>rijetka</a:t>
            </a:r>
            <a:r>
              <a:rPr lang="en-US" sz="2400" dirty="0" smtClean="0"/>
              <a:t>. </a:t>
            </a:r>
            <a:r>
              <a:rPr lang="en-US" sz="2400" dirty="0" err="1" smtClean="0"/>
              <a:t>Tek</a:t>
            </a:r>
            <a:r>
              <a:rPr lang="en-US" sz="2400" dirty="0" smtClean="0"/>
              <a:t> </a:t>
            </a:r>
            <a:r>
              <a:rPr lang="en-US" sz="2400" dirty="0" err="1" smtClean="0"/>
              <a:t>manje</a:t>
            </a:r>
            <a:r>
              <a:rPr lang="en-US" sz="2400" dirty="0" smtClean="0"/>
              <a:t> od 1 %</a:t>
            </a:r>
          </a:p>
          <a:p>
            <a:r>
              <a:rPr lang="en-US" sz="2400" dirty="0" smtClean="0"/>
              <a:t>Na </a:t>
            </a:r>
            <a:r>
              <a:rPr lang="en-US" sz="2400" dirty="0" err="1" smtClean="0"/>
              <a:t>Tibetu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u </a:t>
            </a:r>
            <a:r>
              <a:rPr lang="en-US" sz="2400" dirty="0" err="1" smtClean="0"/>
              <a:t>Nepalu</a:t>
            </a:r>
            <a:endParaRPr lang="en-US" sz="2400" dirty="0" smtClean="0"/>
          </a:p>
          <a:p>
            <a:r>
              <a:rPr lang="en-US" sz="2400" dirty="0" err="1" smtClean="0"/>
              <a:t>Razlog</a:t>
            </a:r>
            <a:r>
              <a:rPr lang="en-US" sz="2400" dirty="0" smtClean="0"/>
              <a:t>?</a:t>
            </a:r>
          </a:p>
          <a:p>
            <a:endParaRPr lang="en-US" dirty="0"/>
          </a:p>
          <a:p>
            <a:endParaRPr lang="hr-HR" dirty="0"/>
          </a:p>
        </p:txBody>
      </p:sp>
      <p:pic>
        <p:nvPicPr>
          <p:cNvPr id="2050" name="Picture 2" descr="Nepalese Woman Very Happy –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85" y="3068960"/>
            <a:ext cx="5544616" cy="27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raternal polyandry- Tibet, Nepal | 10 weirdest customs around the world |  Bride kidnapping, Nepal, Colorful rob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484" y="1916832"/>
            <a:ext cx="5084914" cy="337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63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5903" y="1631680"/>
            <a:ext cx="720080" cy="443136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1125860" y="1628800"/>
            <a:ext cx="1022513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Pogledajte</a:t>
            </a:r>
            <a:r>
              <a:rPr lang="en-US" sz="2400" dirty="0" smtClean="0"/>
              <a:t> </a:t>
            </a:r>
            <a:r>
              <a:rPr lang="en-US" sz="2400" dirty="0" err="1" smtClean="0"/>
              <a:t>bračne</a:t>
            </a:r>
            <a:r>
              <a:rPr lang="en-US" sz="2400" dirty="0" smtClean="0"/>
              <a:t> </a:t>
            </a:r>
            <a:r>
              <a:rPr lang="en-US" sz="2400" dirty="0" err="1" smtClean="0"/>
              <a:t>zajednice</a:t>
            </a:r>
            <a:r>
              <a:rPr lang="en-US" sz="2400" dirty="0" smtClean="0"/>
              <a:t> u </a:t>
            </a:r>
            <a:r>
              <a:rPr lang="en-US" sz="2400" dirty="0" err="1" smtClean="0"/>
              <a:t>svojoj</a:t>
            </a:r>
            <a:r>
              <a:rPr lang="en-US" sz="2400" dirty="0" smtClean="0"/>
              <a:t> </a:t>
            </a:r>
            <a:r>
              <a:rPr lang="en-US" sz="2400" dirty="0" err="1" smtClean="0"/>
              <a:t>okolini</a:t>
            </a:r>
            <a:r>
              <a:rPr lang="en-US" sz="2400" dirty="0" smtClean="0"/>
              <a:t>. </a:t>
            </a:r>
            <a:r>
              <a:rPr lang="en-US" sz="2400" dirty="0" err="1" smtClean="0"/>
              <a:t>Što</a:t>
            </a:r>
            <a:r>
              <a:rPr lang="en-US" sz="2400" dirty="0" smtClean="0"/>
              <a:t> </a:t>
            </a:r>
            <a:r>
              <a:rPr lang="en-US" sz="2400" dirty="0" err="1" smtClean="0"/>
              <a:t>ih</a:t>
            </a:r>
            <a:r>
              <a:rPr lang="en-US" sz="2400" dirty="0" smtClean="0"/>
              <a:t> je </a:t>
            </a:r>
            <a:r>
              <a:rPr lang="en-US" sz="2400" dirty="0" err="1" smtClean="0"/>
              <a:t>privuklo</a:t>
            </a:r>
            <a:r>
              <a:rPr lang="en-US" sz="2400" dirty="0" smtClean="0"/>
              <a:t>,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razlozi</a:t>
            </a:r>
            <a:r>
              <a:rPr lang="en-US" sz="2400" dirty="0" smtClean="0"/>
              <a:t> </a:t>
            </a:r>
            <a:r>
              <a:rPr lang="en-US" sz="2400" dirty="0" err="1" smtClean="0"/>
              <a:t>stupanja</a:t>
            </a:r>
            <a:r>
              <a:rPr lang="en-US" sz="2400" dirty="0" smtClean="0"/>
              <a:t> u </a:t>
            </a:r>
            <a:r>
              <a:rPr lang="en-US" sz="2400" dirty="0" err="1" smtClean="0"/>
              <a:t>brak</a:t>
            </a:r>
            <a:r>
              <a:rPr lang="en-US" sz="2400" dirty="0" smtClean="0"/>
              <a:t>. </a:t>
            </a:r>
            <a:r>
              <a:rPr lang="en-US" sz="2400" dirty="0" err="1" smtClean="0"/>
              <a:t>Usporedi</a:t>
            </a:r>
            <a:r>
              <a:rPr lang="en-US" sz="2400" dirty="0" smtClean="0"/>
              <a:t> </a:t>
            </a:r>
            <a:r>
              <a:rPr lang="en-US" sz="2400" dirty="0" err="1" smtClean="0"/>
              <a:t>oca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majku</a:t>
            </a:r>
            <a:r>
              <a:rPr lang="en-US" sz="2400" dirty="0" smtClean="0"/>
              <a:t>, </a:t>
            </a:r>
            <a:r>
              <a:rPr lang="en-US" sz="2400" dirty="0" err="1" smtClean="0"/>
              <a:t>baku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djeda</a:t>
            </a:r>
            <a:r>
              <a:rPr lang="en-US" sz="2400" dirty="0" smtClean="0"/>
              <a:t>, </a:t>
            </a:r>
            <a:r>
              <a:rPr lang="en-US" sz="2400" dirty="0" err="1" smtClean="0"/>
              <a:t>strica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strinu</a:t>
            </a:r>
            <a:r>
              <a:rPr lang="en-US" sz="2400" dirty="0" smtClean="0"/>
              <a:t>, </a:t>
            </a:r>
            <a:r>
              <a:rPr lang="en-US" sz="2400" dirty="0" err="1" smtClean="0"/>
              <a:t>susjeda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susjedu</a:t>
            </a:r>
            <a:r>
              <a:rPr lang="en-US" sz="2400" dirty="0" smtClean="0"/>
              <a:t>…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vjeroispovijesti</a:t>
            </a:r>
            <a:r>
              <a:rPr lang="en-US" sz="2400" dirty="0" smtClean="0"/>
              <a:t>, </a:t>
            </a:r>
            <a:r>
              <a:rPr lang="en-US" sz="2400" dirty="0" err="1" smtClean="0"/>
              <a:t>stupnja</a:t>
            </a:r>
            <a:r>
              <a:rPr lang="en-US" sz="2400" dirty="0" smtClean="0"/>
              <a:t> </a:t>
            </a:r>
            <a:r>
              <a:rPr lang="en-US" sz="2400" dirty="0" err="1" smtClean="0"/>
              <a:t>obrazovanja</a:t>
            </a:r>
            <a:r>
              <a:rPr lang="en-US" sz="2400" dirty="0" smtClean="0"/>
              <a:t>, </a:t>
            </a:r>
            <a:r>
              <a:rPr lang="en-US" sz="2400" dirty="0" err="1" smtClean="0"/>
              <a:t>kakve</a:t>
            </a:r>
            <a:r>
              <a:rPr lang="en-US" sz="2400" dirty="0" smtClean="0"/>
              <a:t> </a:t>
            </a:r>
            <a:r>
              <a:rPr lang="en-US" sz="2400" dirty="0" err="1" smtClean="0"/>
              <a:t>poslove</a:t>
            </a:r>
            <a:r>
              <a:rPr lang="en-US" sz="2400" dirty="0" smtClean="0"/>
              <a:t> </a:t>
            </a:r>
            <a:r>
              <a:rPr lang="en-US" sz="2400" dirty="0" err="1" smtClean="0"/>
              <a:t>rade</a:t>
            </a:r>
            <a:r>
              <a:rPr lang="en-US" sz="2400" dirty="0" smtClean="0"/>
              <a:t>, </a:t>
            </a:r>
            <a:r>
              <a:rPr lang="en-US" sz="2400" dirty="0" err="1" smtClean="0"/>
              <a:t>kakvog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materijalnog</a:t>
            </a:r>
            <a:r>
              <a:rPr lang="en-US" sz="2400" dirty="0" smtClean="0"/>
              <a:t> </a:t>
            </a:r>
            <a:r>
              <a:rPr lang="en-US" sz="2400" dirty="0" err="1" smtClean="0"/>
              <a:t>statusa</a:t>
            </a:r>
            <a:r>
              <a:rPr lang="en-US" sz="2400" dirty="0" smtClean="0"/>
              <a:t> </a:t>
            </a:r>
            <a:r>
              <a:rPr lang="en-US" sz="2400" dirty="0" err="1" smtClean="0"/>
              <a:t>bili</a:t>
            </a:r>
            <a:r>
              <a:rPr lang="en-US" sz="2400" dirty="0" smtClean="0"/>
              <a:t> </a:t>
            </a:r>
            <a:r>
              <a:rPr lang="en-US" sz="2400" dirty="0" err="1" smtClean="0"/>
              <a:t>prije</a:t>
            </a:r>
            <a:r>
              <a:rPr lang="en-US" sz="2400" dirty="0" smtClean="0"/>
              <a:t> </a:t>
            </a:r>
            <a:r>
              <a:rPr lang="en-US" sz="2400" dirty="0" err="1" smtClean="0"/>
              <a:t>nego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stupili</a:t>
            </a:r>
            <a:r>
              <a:rPr lang="en-US" sz="2400" dirty="0" smtClean="0"/>
              <a:t> u </a:t>
            </a:r>
            <a:r>
              <a:rPr lang="en-US" sz="2400" dirty="0" err="1" smtClean="0"/>
              <a:t>brak</a:t>
            </a:r>
            <a:r>
              <a:rPr lang="en-US" sz="2400" dirty="0" smtClean="0"/>
              <a:t>.</a:t>
            </a:r>
          </a:p>
          <a:p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285903" y="5157192"/>
            <a:ext cx="11497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Vrlo</a:t>
            </a:r>
            <a:r>
              <a:rPr lang="en-US" sz="2400" dirty="0" smtClean="0"/>
              <a:t> </a:t>
            </a:r>
            <a:r>
              <a:rPr lang="en-US" sz="2400" dirty="0" err="1" smtClean="0"/>
              <a:t>često</a:t>
            </a:r>
            <a:r>
              <a:rPr lang="en-US" sz="2400" dirty="0" smtClean="0"/>
              <a:t> </a:t>
            </a:r>
            <a:r>
              <a:rPr lang="en-US" sz="2400" dirty="0" err="1" smtClean="0"/>
              <a:t>ljudi</a:t>
            </a:r>
            <a:r>
              <a:rPr lang="en-US" sz="2400" dirty="0" smtClean="0"/>
              <a:t> </a:t>
            </a:r>
            <a:r>
              <a:rPr lang="en-US" sz="2400" dirty="0" err="1" smtClean="0"/>
              <a:t>stupaju</a:t>
            </a:r>
            <a:r>
              <a:rPr lang="en-US" sz="2400" dirty="0" smtClean="0"/>
              <a:t> u </a:t>
            </a:r>
            <a:r>
              <a:rPr lang="en-US" sz="2400" dirty="0" err="1" smtClean="0"/>
              <a:t>brak</a:t>
            </a:r>
            <a:r>
              <a:rPr lang="en-US" sz="2400" dirty="0" smtClean="0"/>
              <a:t> s </a:t>
            </a:r>
            <a:r>
              <a:rPr lang="en-US" sz="2400" dirty="0" err="1" smtClean="0"/>
              <a:t>onima</a:t>
            </a:r>
            <a:r>
              <a:rPr lang="en-US" sz="2400" dirty="0" smtClean="0"/>
              <a:t> s </a:t>
            </a:r>
            <a:r>
              <a:rPr lang="en-US" sz="2400" dirty="0" err="1" smtClean="0"/>
              <a:t>kojima</a:t>
            </a:r>
            <a:r>
              <a:rPr lang="en-US" sz="2400" dirty="0" smtClean="0"/>
              <a:t> se </a:t>
            </a:r>
            <a:r>
              <a:rPr lang="en-US" sz="2400" dirty="0" err="1" smtClean="0"/>
              <a:t>osjećaju</a:t>
            </a:r>
            <a:r>
              <a:rPr lang="en-US" sz="2400" dirty="0" smtClean="0"/>
              <a:t> </a:t>
            </a:r>
            <a:r>
              <a:rPr lang="en-US" sz="2400" dirty="0" err="1" smtClean="0"/>
              <a:t>bliskima</a:t>
            </a:r>
            <a:r>
              <a:rPr lang="en-US" sz="2400" dirty="0" smtClean="0"/>
              <a:t>, s </a:t>
            </a:r>
            <a:r>
              <a:rPr lang="en-US" sz="2400" dirty="0" err="1" smtClean="0"/>
              <a:t>kojima</a:t>
            </a:r>
            <a:r>
              <a:rPr lang="en-US" sz="2400" dirty="0" smtClean="0"/>
              <a:t> se </a:t>
            </a:r>
            <a:r>
              <a:rPr lang="en-US" sz="2400" dirty="0" err="1" smtClean="0"/>
              <a:t>mogu</a:t>
            </a:r>
            <a:r>
              <a:rPr lang="en-US" sz="2400" dirty="0" smtClean="0"/>
              <a:t> </a:t>
            </a:r>
            <a:r>
              <a:rPr lang="en-US" sz="2400" dirty="0" err="1" smtClean="0"/>
              <a:t>više</a:t>
            </a:r>
            <a:r>
              <a:rPr lang="en-US" sz="2400" dirty="0" smtClean="0"/>
              <a:t> </a:t>
            </a:r>
            <a:r>
              <a:rPr lang="en-US" sz="2400" dirty="0" err="1" smtClean="0"/>
              <a:t>povezati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imaju</a:t>
            </a:r>
            <a:r>
              <a:rPr lang="en-US" sz="2400" dirty="0" smtClean="0"/>
              <a:t> </a:t>
            </a:r>
            <a:r>
              <a:rPr lang="en-US" sz="2400" dirty="0" err="1" smtClean="0"/>
              <a:t>slične</a:t>
            </a:r>
            <a:r>
              <a:rPr lang="en-US" sz="2400" dirty="0" smtClean="0"/>
              <a:t> </a:t>
            </a:r>
            <a:r>
              <a:rPr lang="en-US" sz="2400" dirty="0" err="1" smtClean="0"/>
              <a:t>interese</a:t>
            </a:r>
            <a:r>
              <a:rPr lang="en-US" sz="2400" dirty="0" smtClean="0"/>
              <a:t>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48913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KULTURNA PRAVILA ZA SKLAPANJE BRAKA</a:t>
            </a:r>
            <a:endParaRPr lang="hr-HR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Down Arrow 3"/>
          <p:cNvSpPr/>
          <p:nvPr/>
        </p:nvSpPr>
        <p:spPr>
          <a:xfrm rot="2517617">
            <a:off x="3546423" y="1884280"/>
            <a:ext cx="652579" cy="14597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Down Arrow 4"/>
          <p:cNvSpPr/>
          <p:nvPr/>
        </p:nvSpPr>
        <p:spPr>
          <a:xfrm rot="19499470">
            <a:off x="7072892" y="1937526"/>
            <a:ext cx="679564" cy="13661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1816124" y="3330933"/>
            <a:ext cx="2787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ENDOGAMIJA</a:t>
            </a:r>
            <a:endParaRPr lang="hr-HR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52958" y="3338198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EGZOGAMIJA</a:t>
            </a:r>
            <a:endParaRPr lang="hr-HR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97769" y="3912986"/>
            <a:ext cx="44284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Uzima</a:t>
            </a:r>
            <a:r>
              <a:rPr lang="en-US" sz="2400" dirty="0" smtClean="0"/>
              <a:t> u </a:t>
            </a:r>
            <a:r>
              <a:rPr lang="en-US" sz="2400" dirty="0" err="1" smtClean="0"/>
              <a:t>obzir</a:t>
            </a:r>
            <a:r>
              <a:rPr lang="en-US" sz="2400" dirty="0" smtClean="0"/>
              <a:t>,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bračnog</a:t>
            </a:r>
            <a:r>
              <a:rPr lang="en-US" sz="2400" dirty="0" smtClean="0"/>
              <a:t> </a:t>
            </a:r>
            <a:r>
              <a:rPr lang="en-US" sz="2400" dirty="0" err="1" smtClean="0"/>
              <a:t>partnera</a:t>
            </a:r>
            <a:r>
              <a:rPr lang="en-US" sz="2400" dirty="0" smtClean="0"/>
              <a:t>, </a:t>
            </a:r>
            <a:r>
              <a:rPr lang="en-US" sz="2400" dirty="0" err="1"/>
              <a:t>osobu</a:t>
            </a:r>
            <a:r>
              <a:rPr lang="en-US" sz="2400" dirty="0" smtClean="0"/>
              <a:t> </a:t>
            </a:r>
            <a:r>
              <a:rPr lang="en-US" sz="2400" dirty="0" err="1" smtClean="0"/>
              <a:t>koja</a:t>
            </a:r>
            <a:r>
              <a:rPr lang="en-US" sz="2400" dirty="0" smtClean="0"/>
              <a:t> je </a:t>
            </a:r>
            <a:r>
              <a:rPr lang="en-US" sz="2400" dirty="0" err="1" smtClean="0"/>
              <a:t>iz</a:t>
            </a:r>
            <a:r>
              <a:rPr lang="en-US" sz="2400" dirty="0" smtClean="0"/>
              <a:t> </a:t>
            </a:r>
            <a:r>
              <a:rPr lang="en-US" sz="2400" dirty="0" err="1" smtClean="0"/>
              <a:t>iste</a:t>
            </a:r>
            <a:r>
              <a:rPr lang="en-US" sz="2400" dirty="0" smtClean="0"/>
              <a:t> </a:t>
            </a:r>
            <a:r>
              <a:rPr lang="en-US" sz="2400" dirty="0" err="1" smtClean="0"/>
              <a:t>regije</a:t>
            </a:r>
            <a:r>
              <a:rPr lang="en-US" sz="2400" dirty="0" smtClean="0"/>
              <a:t>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mi, </a:t>
            </a:r>
            <a:r>
              <a:rPr lang="en-US" sz="2400" dirty="0" err="1" smtClean="0"/>
              <a:t>koja</a:t>
            </a:r>
            <a:r>
              <a:rPr lang="en-US" sz="2400" dirty="0" smtClean="0"/>
              <a:t> </a:t>
            </a:r>
            <a:r>
              <a:rPr lang="en-US" sz="2400" dirty="0" err="1" smtClean="0"/>
              <a:t>pripada</a:t>
            </a:r>
            <a:r>
              <a:rPr lang="en-US" sz="2400" dirty="0" smtClean="0"/>
              <a:t> </a:t>
            </a:r>
            <a:r>
              <a:rPr lang="en-US" sz="2400" dirty="0" err="1" smtClean="0"/>
              <a:t>istoj</a:t>
            </a:r>
            <a:r>
              <a:rPr lang="en-US" sz="2400" dirty="0" smtClean="0"/>
              <a:t> </a:t>
            </a:r>
            <a:r>
              <a:rPr lang="en-US" sz="2400" dirty="0" err="1" smtClean="0"/>
              <a:t>vjerskoj</a:t>
            </a:r>
            <a:r>
              <a:rPr lang="en-US" sz="2400" dirty="0" smtClean="0"/>
              <a:t> </a:t>
            </a:r>
            <a:r>
              <a:rPr lang="en-US" sz="2400" dirty="0" err="1" smtClean="0"/>
              <a:t>skupini</a:t>
            </a:r>
            <a:r>
              <a:rPr lang="en-US" sz="2400" dirty="0" smtClean="0"/>
              <a:t>, </a:t>
            </a:r>
            <a:r>
              <a:rPr lang="en-US" sz="2400" dirty="0" err="1" smtClean="0"/>
              <a:t>koja</a:t>
            </a:r>
            <a:r>
              <a:rPr lang="en-US" sz="2400" dirty="0" smtClean="0"/>
              <a:t> je </a:t>
            </a:r>
            <a:r>
              <a:rPr lang="en-US" sz="2400" dirty="0" err="1" smtClean="0"/>
              <a:t>istog</a:t>
            </a:r>
            <a:r>
              <a:rPr lang="en-US" sz="2400" dirty="0" smtClean="0"/>
              <a:t> </a:t>
            </a:r>
            <a:r>
              <a:rPr lang="en-US" sz="2400" dirty="0" err="1" smtClean="0"/>
              <a:t>stupnja</a:t>
            </a:r>
            <a:r>
              <a:rPr lang="en-US" sz="2400" dirty="0" smtClean="0"/>
              <a:t> </a:t>
            </a:r>
            <a:r>
              <a:rPr lang="en-US" sz="2400" dirty="0" err="1" smtClean="0"/>
              <a:t>obrazovanja</a:t>
            </a:r>
            <a:r>
              <a:rPr lang="en-US" sz="2400" dirty="0" smtClean="0"/>
              <a:t>, </a:t>
            </a:r>
            <a:r>
              <a:rPr lang="en-US" sz="2400" dirty="0" err="1" smtClean="0"/>
              <a:t>koja</a:t>
            </a:r>
            <a:r>
              <a:rPr lang="en-US" sz="2400" dirty="0" smtClean="0"/>
              <a:t> je </a:t>
            </a:r>
            <a:r>
              <a:rPr lang="en-US" sz="2400" dirty="0" err="1" smtClean="0"/>
              <a:t>iste</a:t>
            </a:r>
            <a:r>
              <a:rPr lang="en-US" sz="2400" dirty="0" smtClean="0"/>
              <a:t> </a:t>
            </a:r>
            <a:r>
              <a:rPr lang="en-US" sz="2400" dirty="0" err="1" smtClean="0"/>
              <a:t>rase</a:t>
            </a:r>
            <a:r>
              <a:rPr lang="en-US" sz="2400" dirty="0" smtClean="0"/>
              <a:t>…</a:t>
            </a:r>
            <a:endParaRPr lang="hr-HR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722921" y="3869969"/>
            <a:ext cx="50070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Pravilo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dozvoljava</a:t>
            </a:r>
            <a:r>
              <a:rPr lang="en-US" sz="2400" dirty="0" smtClean="0"/>
              <a:t> da </a:t>
            </a:r>
            <a:r>
              <a:rPr lang="en-US" sz="2400" dirty="0" err="1" smtClean="0"/>
              <a:t>možemo</a:t>
            </a:r>
            <a:r>
              <a:rPr lang="en-US" sz="2400" dirty="0" smtClean="0"/>
              <a:t> </a:t>
            </a:r>
            <a:r>
              <a:rPr lang="en-US" sz="2400" dirty="0" err="1" smtClean="0"/>
              <a:t>istupiti</a:t>
            </a:r>
            <a:r>
              <a:rPr lang="en-US" sz="2400" dirty="0" smtClean="0"/>
              <a:t> </a:t>
            </a:r>
            <a:r>
              <a:rPr lang="en-US" sz="2400" dirty="0" err="1" smtClean="0"/>
              <a:t>iz</a:t>
            </a:r>
            <a:r>
              <a:rPr lang="en-US" sz="2400" dirty="0" smtClean="0"/>
              <a:t> </a:t>
            </a:r>
            <a:r>
              <a:rPr lang="en-US" sz="2400" dirty="0" err="1" smtClean="0"/>
              <a:t>svoje</a:t>
            </a:r>
            <a:r>
              <a:rPr lang="en-US" sz="2400" dirty="0" smtClean="0"/>
              <a:t> </a:t>
            </a:r>
            <a:r>
              <a:rPr lang="en-US" sz="2400" dirty="0" err="1" smtClean="0"/>
              <a:t>zajednice</a:t>
            </a:r>
            <a:r>
              <a:rPr lang="en-US" sz="2400" dirty="0" smtClean="0"/>
              <a:t> u </a:t>
            </a:r>
            <a:r>
              <a:rPr lang="en-US" sz="2400" dirty="0" err="1" smtClean="0"/>
              <a:t>tako</a:t>
            </a:r>
            <a:r>
              <a:rPr lang="en-US" sz="2400" dirty="0" smtClean="0"/>
              <a:t> </a:t>
            </a:r>
            <a:r>
              <a:rPr lang="en-US" sz="2400" dirty="0" err="1" smtClean="0"/>
              <a:t>zvani</a:t>
            </a:r>
            <a:r>
              <a:rPr lang="en-US" sz="2400" dirty="0" smtClean="0"/>
              <a:t> MIJEŠANI BRAK </a:t>
            </a:r>
            <a:r>
              <a:rPr lang="en-US" sz="2400" dirty="0" err="1" smtClean="0"/>
              <a:t>i</a:t>
            </a:r>
            <a:r>
              <a:rPr lang="en-US" sz="2400" dirty="0" smtClean="0"/>
              <a:t> ne </a:t>
            </a:r>
            <a:r>
              <a:rPr lang="en-US" sz="2400" dirty="0" err="1" smtClean="0"/>
              <a:t>moramo</a:t>
            </a:r>
            <a:r>
              <a:rPr lang="en-US" sz="2400" dirty="0" smtClean="0"/>
              <a:t> </a:t>
            </a:r>
            <a:r>
              <a:rPr lang="en-US" sz="2400" dirty="0" err="1" smtClean="0"/>
              <a:t>nužno</a:t>
            </a:r>
            <a:r>
              <a:rPr lang="en-US" sz="2400" dirty="0" smtClean="0"/>
              <a:t> </a:t>
            </a:r>
            <a:r>
              <a:rPr lang="en-US" sz="2400" dirty="0" err="1" smtClean="0"/>
              <a:t>imati</a:t>
            </a:r>
            <a:r>
              <a:rPr lang="en-US" sz="2400" dirty="0" smtClean="0"/>
              <a:t> </a:t>
            </a:r>
            <a:r>
              <a:rPr lang="en-US" sz="2400" dirty="0" err="1" smtClean="0"/>
              <a:t>sva</a:t>
            </a:r>
            <a:r>
              <a:rPr lang="en-US" sz="2400" dirty="0" smtClean="0"/>
              <a:t> ova </a:t>
            </a:r>
            <a:r>
              <a:rPr lang="en-US" sz="2400" dirty="0" err="1" smtClean="0"/>
              <a:t>obilježja</a:t>
            </a:r>
            <a:r>
              <a:rPr lang="en-US" sz="2400" dirty="0" smtClean="0"/>
              <a:t> </a:t>
            </a:r>
            <a:r>
              <a:rPr lang="en-US" sz="2400" dirty="0" err="1" smtClean="0"/>
              <a:t>identična</a:t>
            </a:r>
            <a:r>
              <a:rPr lang="en-US" sz="2400" dirty="0" smtClean="0"/>
              <a:t> </a:t>
            </a:r>
            <a:r>
              <a:rPr lang="en-US" sz="2400" dirty="0" err="1" smtClean="0"/>
              <a:t>našem</a:t>
            </a:r>
            <a:r>
              <a:rPr lang="en-US" sz="2400" dirty="0" smtClean="0"/>
              <a:t> </a:t>
            </a:r>
            <a:r>
              <a:rPr lang="en-US" sz="2400" dirty="0" err="1" smtClean="0"/>
              <a:t>supružniku</a:t>
            </a:r>
            <a:r>
              <a:rPr lang="en-US" sz="2400" dirty="0" smtClean="0"/>
              <a:t>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61728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3" y="452719"/>
            <a:ext cx="9713464" cy="579568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 </a:t>
            </a:r>
            <a:r>
              <a:rPr lang="en-US" sz="2400" dirty="0" err="1" smtClean="0"/>
              <a:t>prošlosti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česti</a:t>
            </a:r>
            <a:r>
              <a:rPr lang="en-US" sz="2400" dirty="0" smtClean="0"/>
              <a:t> </a:t>
            </a:r>
            <a:r>
              <a:rPr lang="en-US" sz="2400" dirty="0" err="1" smtClean="0"/>
              <a:t>bili</a:t>
            </a:r>
            <a:r>
              <a:rPr lang="en-US" sz="2400" dirty="0" smtClean="0"/>
              <a:t> </a:t>
            </a:r>
            <a:r>
              <a:rPr lang="en-US" sz="2400" dirty="0" err="1" smtClean="0"/>
              <a:t>dogovoreni</a:t>
            </a:r>
            <a:r>
              <a:rPr lang="en-US" sz="2400" dirty="0" smtClean="0"/>
              <a:t> </a:t>
            </a:r>
            <a:r>
              <a:rPr lang="en-US" sz="2400" dirty="0" err="1" smtClean="0"/>
              <a:t>brakovi</a:t>
            </a:r>
            <a:r>
              <a:rPr lang="en-US" sz="2400" dirty="0" smtClean="0"/>
              <a:t>, </a:t>
            </a:r>
            <a:r>
              <a:rPr lang="en-US" sz="2400" dirty="0" err="1" smtClean="0"/>
              <a:t>stoga</a:t>
            </a:r>
            <a:r>
              <a:rPr lang="en-US" sz="2400" dirty="0" smtClean="0"/>
              <a:t> je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češća</a:t>
            </a:r>
            <a:r>
              <a:rPr lang="en-US" sz="2400" dirty="0" smtClean="0"/>
              <a:t> </a:t>
            </a:r>
            <a:r>
              <a:rPr lang="en-US" sz="2400" dirty="0" err="1" smtClean="0"/>
              <a:t>bila</a:t>
            </a:r>
            <a:r>
              <a:rPr lang="en-US" sz="2400" dirty="0" smtClean="0"/>
              <a:t> </a:t>
            </a:r>
            <a:r>
              <a:rPr lang="en-US" sz="2400" dirty="0" err="1" smtClean="0"/>
              <a:t>endogamija</a:t>
            </a:r>
            <a:endParaRPr lang="en-US" sz="2400" dirty="0" smtClean="0"/>
          </a:p>
          <a:p>
            <a:r>
              <a:rPr lang="en-US" sz="2400" dirty="0" err="1" smtClean="0"/>
              <a:t>Otkad</a:t>
            </a:r>
            <a:r>
              <a:rPr lang="en-US" sz="2400" dirty="0" smtClean="0"/>
              <a:t> se </a:t>
            </a:r>
            <a:r>
              <a:rPr lang="en-US" sz="2400" dirty="0" err="1" smtClean="0"/>
              <a:t>počela</a:t>
            </a:r>
            <a:r>
              <a:rPr lang="en-US" sz="2400" dirty="0" smtClean="0"/>
              <a:t> </a:t>
            </a:r>
            <a:r>
              <a:rPr lang="en-US" sz="2400" dirty="0" err="1" smtClean="0"/>
              <a:t>masovno</a:t>
            </a:r>
            <a:r>
              <a:rPr lang="en-US" sz="2400" dirty="0" smtClean="0"/>
              <a:t> </a:t>
            </a:r>
            <a:r>
              <a:rPr lang="en-US" sz="2400" dirty="0" err="1" smtClean="0"/>
              <a:t>primijenjivati</a:t>
            </a:r>
            <a:r>
              <a:rPr lang="en-US" sz="2400" dirty="0" smtClean="0"/>
              <a:t> </a:t>
            </a:r>
            <a:r>
              <a:rPr lang="en-US" sz="2400" dirty="0" err="1" smtClean="0"/>
              <a:t>romantična</a:t>
            </a:r>
            <a:r>
              <a:rPr lang="en-US" sz="2400" dirty="0" smtClean="0"/>
              <a:t> </a:t>
            </a:r>
            <a:r>
              <a:rPr lang="en-US" sz="2400" dirty="0" err="1" smtClean="0"/>
              <a:t>ljubav</a:t>
            </a:r>
            <a:r>
              <a:rPr lang="en-US" sz="2400" dirty="0" smtClean="0"/>
              <a:t>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motiv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ulazak</a:t>
            </a:r>
            <a:r>
              <a:rPr lang="en-US" sz="2400" dirty="0" smtClean="0"/>
              <a:t> u </a:t>
            </a:r>
            <a:r>
              <a:rPr lang="en-US" sz="2400" dirty="0" err="1" smtClean="0"/>
              <a:t>brak</a:t>
            </a:r>
            <a:r>
              <a:rPr lang="en-US" sz="2400" dirty="0" smtClean="0"/>
              <a:t>, </a:t>
            </a:r>
            <a:r>
              <a:rPr lang="en-US" sz="2400" dirty="0" err="1" smtClean="0"/>
              <a:t>vidi</a:t>
            </a:r>
            <a:r>
              <a:rPr lang="en-US" sz="2400" dirty="0" smtClean="0"/>
              <a:t> se </a:t>
            </a:r>
            <a:r>
              <a:rPr lang="en-US" sz="2400" dirty="0" err="1" smtClean="0"/>
              <a:t>porast</a:t>
            </a:r>
            <a:r>
              <a:rPr lang="en-US" sz="2400" dirty="0" smtClean="0"/>
              <a:t> </a:t>
            </a:r>
            <a:r>
              <a:rPr lang="en-US" sz="2400" dirty="0" err="1" smtClean="0"/>
              <a:t>egzogamnih</a:t>
            </a:r>
            <a:r>
              <a:rPr lang="en-US" sz="2400" dirty="0" smtClean="0"/>
              <a:t> </a:t>
            </a:r>
            <a:r>
              <a:rPr lang="en-US" sz="2400" dirty="0" err="1" smtClean="0"/>
              <a:t>brakova</a:t>
            </a:r>
            <a:endParaRPr lang="en-US" sz="2400" dirty="0" smtClean="0"/>
          </a:p>
          <a:p>
            <a:endParaRPr lang="hr-HR" sz="2400" dirty="0"/>
          </a:p>
        </p:txBody>
      </p:sp>
      <p:pic>
        <p:nvPicPr>
          <p:cNvPr id="3074" name="Picture 2" descr="Kate Middleton and Prince William's Royal Wedding Day: A Look Ba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28" y="2559893"/>
            <a:ext cx="3649405" cy="364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ow Meghan Markle Prince Harry Wedding Will Break Royal Tradi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348" y="2620995"/>
            <a:ext cx="4968552" cy="352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91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33772" y="1412776"/>
            <a:ext cx="792088" cy="515144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32500" lnSpcReduction="20000"/>
          </a:bodyPr>
          <a:lstStyle/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1485900" y="1439515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Zadatak</a:t>
            </a:r>
            <a:r>
              <a:rPr lang="en-US" dirty="0" smtClean="0"/>
              <a:t> </a:t>
            </a:r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500166" y="2132856"/>
            <a:ext cx="564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http://bit.ly/prepoznajpravila</a:t>
            </a:r>
            <a:endParaRPr lang="hr-HR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00166" y="3861048"/>
            <a:ext cx="72504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http://bit.ly/egzogamijabosna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http://bit.ly/poligamijamormoni</a:t>
            </a:r>
            <a:r>
              <a:rPr lang="en-US" dirty="0" smtClean="0"/>
              <a:t> </a:t>
            </a:r>
          </a:p>
          <a:p>
            <a:r>
              <a:rPr lang="en-US" dirty="0" smtClean="0">
                <a:hlinkClick r:id="rId4"/>
              </a:rPr>
              <a:t>http://bit.ly/egzogamijatunis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http://bit.ly/edomaajka</a:t>
            </a:r>
            <a:r>
              <a:rPr lang="en-US" dirty="0" smtClean="0"/>
              <a:t> 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384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Zabrana</a:t>
            </a:r>
            <a:r>
              <a:rPr lang="en-US" dirty="0" smtClean="0"/>
              <a:t> </a:t>
            </a:r>
            <a:r>
              <a:rPr lang="en-US" dirty="0" err="1" smtClean="0"/>
              <a:t>incesta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548681"/>
            <a:ext cx="8944211" cy="56997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Incest </a:t>
            </a:r>
            <a:r>
              <a:rPr lang="en-US" sz="2400" dirty="0" err="1" smtClean="0"/>
              <a:t>podrazumijeva</a:t>
            </a:r>
            <a:r>
              <a:rPr lang="en-US" sz="2400" dirty="0" smtClean="0"/>
              <a:t> </a:t>
            </a:r>
            <a:r>
              <a:rPr lang="en-US" sz="2400" dirty="0" err="1" smtClean="0"/>
              <a:t>spolne</a:t>
            </a:r>
            <a:r>
              <a:rPr lang="en-US" sz="2400" dirty="0" smtClean="0"/>
              <a:t> </a:t>
            </a:r>
            <a:r>
              <a:rPr lang="en-US" sz="2400" dirty="0" err="1" smtClean="0"/>
              <a:t>odnose</a:t>
            </a:r>
            <a:r>
              <a:rPr lang="en-US" sz="2400" dirty="0" smtClean="0"/>
              <a:t> </a:t>
            </a:r>
            <a:r>
              <a:rPr lang="en-US" sz="2400" dirty="0" err="1" smtClean="0"/>
              <a:t>između</a:t>
            </a:r>
            <a:r>
              <a:rPr lang="en-US" sz="2400" dirty="0" smtClean="0"/>
              <a:t> </a:t>
            </a:r>
            <a:r>
              <a:rPr lang="en-US" sz="2400" dirty="0" err="1" smtClean="0"/>
              <a:t>bliskih</a:t>
            </a:r>
            <a:r>
              <a:rPr lang="en-US" sz="2400" dirty="0" smtClean="0"/>
              <a:t> </a:t>
            </a:r>
            <a:r>
              <a:rPr lang="en-US" sz="2400" dirty="0" err="1" smtClean="0"/>
              <a:t>srodnika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Incest je </a:t>
            </a:r>
            <a:r>
              <a:rPr lang="en-US" sz="2400" dirty="0" err="1" smtClean="0"/>
              <a:t>tabu</a:t>
            </a:r>
            <a:r>
              <a:rPr lang="en-US" sz="2400" dirty="0" smtClean="0"/>
              <a:t>, </a:t>
            </a:r>
            <a:r>
              <a:rPr lang="en-US" sz="2400" dirty="0" err="1" smtClean="0"/>
              <a:t>odnosno</a:t>
            </a:r>
            <a:r>
              <a:rPr lang="en-US" sz="2400" dirty="0" smtClean="0"/>
              <a:t> </a:t>
            </a:r>
            <a:r>
              <a:rPr lang="en-US" sz="2400" dirty="0" err="1" smtClean="0"/>
              <a:t>znači</a:t>
            </a:r>
            <a:r>
              <a:rPr lang="en-US" sz="2400" dirty="0" smtClean="0"/>
              <a:t> </a:t>
            </a:r>
            <a:r>
              <a:rPr lang="en-US" sz="2400" dirty="0" err="1" smtClean="0"/>
              <a:t>apsolutnu</a:t>
            </a:r>
            <a:r>
              <a:rPr lang="en-US" sz="2400" dirty="0" smtClean="0"/>
              <a:t> </a:t>
            </a:r>
            <a:r>
              <a:rPr lang="en-US" sz="2400" dirty="0" err="1" smtClean="0"/>
              <a:t>zabranu</a:t>
            </a:r>
            <a:endParaRPr lang="en-US" sz="2400" dirty="0" smtClean="0"/>
          </a:p>
          <a:p>
            <a:r>
              <a:rPr lang="en-US" sz="2400" dirty="0" err="1" smtClean="0"/>
              <a:t>Zabrana</a:t>
            </a:r>
            <a:r>
              <a:rPr lang="en-US" sz="2400" dirty="0" smtClean="0"/>
              <a:t> incest je </a:t>
            </a:r>
            <a:r>
              <a:rPr lang="en-US" sz="2400" dirty="0" err="1" smtClean="0"/>
              <a:t>kulturna</a:t>
            </a:r>
            <a:r>
              <a:rPr lang="en-US" sz="2400" dirty="0" smtClean="0"/>
              <a:t> </a:t>
            </a:r>
            <a:r>
              <a:rPr lang="en-US" sz="2400" dirty="0" err="1" smtClean="0"/>
              <a:t>univerzalija</a:t>
            </a:r>
            <a:r>
              <a:rPr lang="en-US" sz="2400" dirty="0" smtClean="0"/>
              <a:t> (</a:t>
            </a:r>
            <a:r>
              <a:rPr lang="en-US" sz="2400" dirty="0" err="1" smtClean="0"/>
              <a:t>prisutna</a:t>
            </a:r>
            <a:r>
              <a:rPr lang="en-US" sz="2400" dirty="0" smtClean="0"/>
              <a:t> je u </a:t>
            </a:r>
            <a:r>
              <a:rPr lang="en-US" sz="2400" dirty="0" err="1" smtClean="0"/>
              <a:t>svim</a:t>
            </a:r>
            <a:r>
              <a:rPr lang="en-US" sz="2400" dirty="0" smtClean="0"/>
              <a:t> </a:t>
            </a:r>
            <a:r>
              <a:rPr lang="en-US" sz="2400" dirty="0" err="1" smtClean="0"/>
              <a:t>kulturama</a:t>
            </a:r>
            <a:r>
              <a:rPr lang="en-US" sz="2400" dirty="0" smtClean="0"/>
              <a:t>)</a:t>
            </a:r>
          </a:p>
          <a:p>
            <a:r>
              <a:rPr lang="en-US" sz="2400" dirty="0" err="1" smtClean="0"/>
              <a:t>Razlozi</a:t>
            </a:r>
            <a:r>
              <a:rPr lang="en-US" sz="2400" dirty="0" smtClean="0"/>
              <a:t>…</a:t>
            </a:r>
          </a:p>
          <a:p>
            <a:r>
              <a:rPr lang="en-US" sz="2400" dirty="0" err="1" smtClean="0"/>
              <a:t>Biološki</a:t>
            </a:r>
            <a:r>
              <a:rPr lang="en-US" sz="2400" dirty="0" smtClean="0"/>
              <a:t> </a:t>
            </a:r>
            <a:r>
              <a:rPr lang="en-US" sz="2400" dirty="0" err="1" smtClean="0"/>
              <a:t>razlozi</a:t>
            </a:r>
            <a:r>
              <a:rPr lang="en-US" sz="2400" dirty="0" smtClean="0"/>
              <a:t> – </a:t>
            </a:r>
            <a:r>
              <a:rPr lang="en-US" sz="2400" dirty="0" err="1" smtClean="0"/>
              <a:t>genetske</a:t>
            </a:r>
            <a:r>
              <a:rPr lang="en-US" sz="2400" dirty="0" smtClean="0"/>
              <a:t> </a:t>
            </a:r>
            <a:r>
              <a:rPr lang="en-US" sz="2400" dirty="0" err="1" smtClean="0"/>
              <a:t>mutacije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nisu</a:t>
            </a:r>
            <a:r>
              <a:rPr lang="en-US" sz="2400" dirty="0" smtClean="0"/>
              <a:t> </a:t>
            </a:r>
            <a:r>
              <a:rPr lang="en-US" sz="2400" dirty="0" err="1" smtClean="0"/>
              <a:t>poželjne</a:t>
            </a:r>
            <a:endParaRPr lang="en-US" sz="2400" dirty="0" smtClean="0"/>
          </a:p>
          <a:p>
            <a:r>
              <a:rPr lang="en-US" sz="2400" dirty="0" err="1" smtClean="0"/>
              <a:t>Sociološki</a:t>
            </a:r>
            <a:r>
              <a:rPr lang="en-US" sz="2400" dirty="0" smtClean="0"/>
              <a:t> </a:t>
            </a:r>
            <a:r>
              <a:rPr lang="en-US" sz="2400" dirty="0" err="1" smtClean="0"/>
              <a:t>razlozi</a:t>
            </a:r>
            <a:r>
              <a:rPr lang="en-US" sz="2400" dirty="0" smtClean="0"/>
              <a:t> – </a:t>
            </a:r>
            <a:r>
              <a:rPr lang="en-US" sz="2400" dirty="0" err="1" smtClean="0"/>
              <a:t>emocionalne</a:t>
            </a:r>
            <a:r>
              <a:rPr lang="en-US" sz="2400" dirty="0" smtClean="0"/>
              <a:t> </a:t>
            </a:r>
            <a:r>
              <a:rPr lang="en-US" sz="2400" dirty="0" err="1" smtClean="0"/>
              <a:t>prirode</a:t>
            </a:r>
            <a:r>
              <a:rPr lang="en-US" sz="2400" dirty="0" smtClean="0"/>
              <a:t> (</a:t>
            </a:r>
            <a:r>
              <a:rPr lang="en-US" sz="2400" dirty="0" err="1" smtClean="0"/>
              <a:t>mogu</a:t>
            </a:r>
            <a:r>
              <a:rPr lang="en-US" sz="2400" dirty="0" smtClean="0"/>
              <a:t> </a:t>
            </a:r>
            <a:r>
              <a:rPr lang="en-US" sz="2400" dirty="0" err="1" smtClean="0"/>
              <a:t>izazvati</a:t>
            </a:r>
            <a:r>
              <a:rPr lang="en-US" sz="2400" dirty="0" smtClean="0"/>
              <a:t> </a:t>
            </a:r>
            <a:r>
              <a:rPr lang="en-US" sz="2400" dirty="0" err="1" smtClean="0"/>
              <a:t>ljubomoru</a:t>
            </a:r>
            <a:r>
              <a:rPr lang="en-US" sz="2400" dirty="0" smtClean="0"/>
              <a:t>,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narušiti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obiteljske</a:t>
            </a:r>
            <a:r>
              <a:rPr lang="en-US" sz="2400" dirty="0" smtClean="0"/>
              <a:t> </a:t>
            </a:r>
            <a:r>
              <a:rPr lang="en-US" sz="2400" dirty="0" err="1" smtClean="0"/>
              <a:t>odnose</a:t>
            </a:r>
            <a:r>
              <a:rPr lang="en-US" sz="2400" dirty="0" smtClean="0"/>
              <a:t>)</a:t>
            </a:r>
          </a:p>
          <a:p>
            <a:endParaRPr lang="en-US" sz="2400" dirty="0"/>
          </a:p>
          <a:p>
            <a:r>
              <a:rPr lang="en-US" sz="2400" dirty="0" err="1" smtClean="0"/>
              <a:t>Reakcija</a:t>
            </a:r>
            <a:r>
              <a:rPr lang="en-US" sz="2400" dirty="0" smtClean="0"/>
              <a:t> </a:t>
            </a:r>
            <a:r>
              <a:rPr lang="en-US" sz="2400" dirty="0" err="1" smtClean="0"/>
              <a:t>javnosti</a:t>
            </a:r>
            <a:r>
              <a:rPr lang="en-US" sz="2400" dirty="0" smtClean="0"/>
              <a:t> </a:t>
            </a:r>
            <a:r>
              <a:rPr lang="en-US" sz="2400" dirty="0" err="1" smtClean="0"/>
              <a:t>gunšanje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zgražanje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86939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80" y="594128"/>
            <a:ext cx="5184576" cy="583902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20" y="746319"/>
            <a:ext cx="5616624" cy="568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4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2616242"/>
          </a:xfrm>
        </p:spPr>
        <p:txBody>
          <a:bodyPr/>
          <a:lstStyle/>
          <a:p>
            <a:r>
              <a:rPr lang="en-US" dirty="0" smtClean="0"/>
              <a:t>DRUŠTVENA STRATIFIKACIJA I STRATIFIKACIJSKI SUSTAVI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2780928"/>
            <a:ext cx="8944211" cy="3888432"/>
          </a:xfrm>
        </p:spPr>
        <p:txBody>
          <a:bodyPr/>
          <a:lstStyle/>
          <a:p>
            <a:endParaRPr lang="hr-HR" dirty="0"/>
          </a:p>
          <a:p>
            <a:endParaRPr lang="hr-HR" dirty="0" smtClean="0"/>
          </a:p>
          <a:p>
            <a:endParaRPr lang="hr-HR" dirty="0"/>
          </a:p>
          <a:p>
            <a:endParaRPr lang="hr-HR" dirty="0" smtClean="0"/>
          </a:p>
          <a:p>
            <a:endParaRPr lang="hr-HR" dirty="0"/>
          </a:p>
        </p:txBody>
      </p:sp>
      <p:pic>
        <p:nvPicPr>
          <p:cNvPr id="1026" name="Picture 2" descr="Sestrin ponos: Svi govore o talentiranom i zgodnom bratu Blanke Vlašić -  tpor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43" y="2368356"/>
            <a:ext cx="2144113" cy="306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Develop More Employee-Owners In Your Compan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108" y="2255676"/>
            <a:ext cx="3712441" cy="247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7,590 Ceramic Worker Stock Photos, Images &amp; Photography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601" y="1582555"/>
            <a:ext cx="36385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reer Planning: How to Become a Hair Stylis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692" y="4077072"/>
            <a:ext cx="3312368" cy="220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70076" y="5013176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dirty="0" smtClean="0"/>
              <a:t>Koje nejednakosti uočavate?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72867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908721"/>
            <a:ext cx="8944211" cy="5339680"/>
          </a:xfrm>
        </p:spPr>
        <p:txBody>
          <a:bodyPr>
            <a:normAutofit/>
          </a:bodyPr>
          <a:lstStyle/>
          <a:p>
            <a:r>
              <a:rPr lang="en-US" sz="2400" dirty="0" err="1"/>
              <a:t>Nejednakosti</a:t>
            </a:r>
            <a:r>
              <a:rPr lang="en-US" sz="2400" dirty="0"/>
              <a:t>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nastaju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posljedica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fizičkih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karakteristika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dirty="0" err="1"/>
              <a:t>visok</a:t>
            </a:r>
            <a:r>
              <a:rPr lang="en-US" sz="2400" dirty="0"/>
              <a:t> – </a:t>
            </a:r>
            <a:r>
              <a:rPr lang="en-US" sz="2400" dirty="0" err="1"/>
              <a:t>nizak</a:t>
            </a:r>
            <a:r>
              <a:rPr lang="en-US" sz="2400" dirty="0"/>
              <a:t>, </a:t>
            </a:r>
            <a:r>
              <a:rPr lang="en-US" sz="2400" dirty="0" err="1"/>
              <a:t>plav</a:t>
            </a:r>
            <a:r>
              <a:rPr lang="en-US" sz="2400" dirty="0"/>
              <a:t> – </a:t>
            </a:r>
            <a:r>
              <a:rPr lang="en-US" sz="2400" dirty="0" err="1"/>
              <a:t>crn</a:t>
            </a:r>
            <a:r>
              <a:rPr lang="en-US" sz="2400" dirty="0"/>
              <a:t>…)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nastaju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posljedica</a:t>
            </a:r>
            <a:r>
              <a:rPr lang="en-US" sz="2400" dirty="0"/>
              <a:t> </a:t>
            </a:r>
            <a:r>
              <a:rPr lang="en-US" sz="2400" b="1" dirty="0" err="1"/>
              <a:t>osobina</a:t>
            </a:r>
            <a:r>
              <a:rPr lang="en-US" sz="2400" b="1" dirty="0"/>
              <a:t>, </a:t>
            </a:r>
            <a:r>
              <a:rPr lang="en-US" sz="2400" b="1" dirty="0" err="1"/>
              <a:t>tjelesne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ljepote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ili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nadarenosti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/>
              <a:t>pojedinca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nejednakosti</a:t>
            </a:r>
            <a:r>
              <a:rPr lang="en-US" sz="2400" dirty="0"/>
              <a:t>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nastaju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posljedica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obavljanja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različitih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funkcija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imamo</a:t>
            </a:r>
            <a:r>
              <a:rPr lang="en-US" sz="2400" dirty="0"/>
              <a:t> u </a:t>
            </a:r>
            <a:r>
              <a:rPr lang="en-US" sz="2400" dirty="0" err="1"/>
              <a:t>društvu</a:t>
            </a:r>
            <a:r>
              <a:rPr lang="en-US" sz="2400" dirty="0"/>
              <a:t> (</a:t>
            </a:r>
            <a:r>
              <a:rPr lang="en-US" sz="2400" dirty="0" err="1"/>
              <a:t>frizer</a:t>
            </a:r>
            <a:r>
              <a:rPr lang="en-US" sz="2400" dirty="0"/>
              <a:t>, </a:t>
            </a:r>
            <a:r>
              <a:rPr lang="en-US" sz="2400" dirty="0" err="1"/>
              <a:t>stolar</a:t>
            </a:r>
            <a:r>
              <a:rPr lang="en-US" sz="2400" dirty="0"/>
              <a:t>, </a:t>
            </a:r>
            <a:r>
              <a:rPr lang="en-US" sz="2400" dirty="0" err="1"/>
              <a:t>menadžer</a:t>
            </a:r>
            <a:r>
              <a:rPr lang="en-US" sz="2400" dirty="0" smtClean="0"/>
              <a:t>…) </a:t>
            </a:r>
            <a:r>
              <a:rPr lang="en-US" sz="2400" dirty="0" err="1" smtClean="0"/>
              <a:t>nazivamo</a:t>
            </a:r>
            <a:r>
              <a:rPr lang="en-US" sz="2400" dirty="0" smtClean="0"/>
              <a:t> </a:t>
            </a:r>
            <a:r>
              <a:rPr lang="hr-H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DRUŠTVENA DIFERENCIJACIJA</a:t>
            </a:r>
            <a:endParaRPr lang="hr-HR" sz="2400" dirty="0"/>
          </a:p>
          <a:p>
            <a:pPr marL="0" indent="0">
              <a:buNone/>
            </a:pPr>
            <a:endParaRPr lang="hr-HR" sz="2400" b="1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hr-HR" sz="2400" dirty="0" smtClean="0"/>
              <a:t>Nejednakost koja se odnosi na obavljanje različitih funkcija i uloga koje imamo u društvu jer ne možemo imati svi iste uloge, funkcije i položaje u društvu.</a:t>
            </a:r>
          </a:p>
          <a:p>
            <a:pPr marL="0" indent="0">
              <a:buNone/>
            </a:pPr>
            <a:r>
              <a:rPr lang="hr-HR" sz="2400" dirty="0" smtClean="0"/>
              <a:t>To je nejednakost koju ne vrednujemo.</a:t>
            </a:r>
          </a:p>
          <a:p>
            <a:pPr marL="0" indent="0">
              <a:buNone/>
            </a:pPr>
            <a:endParaRPr lang="hr-HR" dirty="0" smtClean="0"/>
          </a:p>
        </p:txBody>
      </p:sp>
    </p:spTree>
    <p:extLst>
      <p:ext uri="{BB962C8B-B14F-4D97-AF65-F5344CB8AC3E}">
        <p14:creationId xmlns:p14="http://schemas.microsoft.com/office/powerpoint/2010/main" val="45276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196753"/>
            <a:ext cx="8944211" cy="505164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Ako</a:t>
            </a:r>
            <a:r>
              <a:rPr lang="en-US" sz="2400" dirty="0" smtClean="0"/>
              <a:t> </a:t>
            </a:r>
            <a:r>
              <a:rPr lang="en-US" sz="2400" dirty="0" err="1" smtClean="0"/>
              <a:t>pripadnike</a:t>
            </a:r>
            <a:r>
              <a:rPr lang="en-US" sz="2400" dirty="0" smtClean="0"/>
              <a:t> </a:t>
            </a:r>
            <a:r>
              <a:rPr lang="en-US" sz="2400" dirty="0" err="1" smtClean="0"/>
              <a:t>jedne</a:t>
            </a:r>
            <a:r>
              <a:rPr lang="en-US" sz="2400" dirty="0" smtClean="0"/>
              <a:t> </a:t>
            </a:r>
            <a:r>
              <a:rPr lang="en-US" sz="2400" dirty="0" err="1" smtClean="0"/>
              <a:t>rase</a:t>
            </a:r>
            <a:r>
              <a:rPr lang="en-US" sz="2400" dirty="0" smtClean="0"/>
              <a:t> </a:t>
            </a:r>
            <a:r>
              <a:rPr lang="en-US" sz="2400" dirty="0" err="1" smtClean="0"/>
              <a:t>segregiramo</a:t>
            </a:r>
            <a:r>
              <a:rPr lang="en-US" sz="2400" dirty="0" smtClean="0"/>
              <a:t> u </a:t>
            </a:r>
            <a:r>
              <a:rPr lang="en-US" sz="2400" dirty="0" err="1" smtClean="0"/>
              <a:t>odnosu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drugu</a:t>
            </a:r>
            <a:r>
              <a:rPr lang="en-US" sz="2400" dirty="0" smtClean="0"/>
              <a:t> </a:t>
            </a:r>
            <a:r>
              <a:rPr lang="en-US" sz="2400" dirty="0" err="1" smtClean="0"/>
              <a:t>rasnu</a:t>
            </a:r>
            <a:r>
              <a:rPr lang="en-US" sz="2400" dirty="0" smtClean="0"/>
              <a:t> </a:t>
            </a:r>
            <a:r>
              <a:rPr lang="en-US" sz="2400" dirty="0" err="1" smtClean="0"/>
              <a:t>skupine</a:t>
            </a:r>
            <a:r>
              <a:rPr lang="en-US" sz="2400" dirty="0" smtClean="0"/>
              <a:t>, </a:t>
            </a:r>
            <a:r>
              <a:rPr lang="en-US" sz="2400" dirty="0" err="1" smtClean="0"/>
              <a:t>takav</a:t>
            </a:r>
            <a:r>
              <a:rPr lang="en-US" sz="2400" dirty="0" smtClean="0"/>
              <a:t> tip </a:t>
            </a:r>
            <a:r>
              <a:rPr lang="en-US" sz="2400" dirty="0" err="1" smtClean="0"/>
              <a:t>nejednakosti</a:t>
            </a:r>
            <a:r>
              <a:rPr lang="en-US" sz="2400" dirty="0" smtClean="0"/>
              <a:t> </a:t>
            </a:r>
            <a:r>
              <a:rPr lang="en-US" sz="2400" dirty="0" err="1" smtClean="0"/>
              <a:t>zovemo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DRUŠTVENA STRATIFIKACIJA</a:t>
            </a:r>
          </a:p>
          <a:p>
            <a:r>
              <a:rPr lang="en-US" sz="2400" dirty="0" err="1" smtClean="0"/>
              <a:t>Javlja</a:t>
            </a:r>
            <a:r>
              <a:rPr lang="en-US" sz="2400" dirty="0" smtClean="0"/>
              <a:t> </a:t>
            </a:r>
            <a:r>
              <a:rPr lang="en-US" sz="2400" dirty="0" err="1" smtClean="0"/>
              <a:t>kada</a:t>
            </a:r>
            <a:r>
              <a:rPr lang="en-US" sz="2400" dirty="0" smtClean="0"/>
              <a:t> </a:t>
            </a:r>
            <a:r>
              <a:rPr lang="en-US" sz="2400" dirty="0" err="1" smtClean="0"/>
              <a:t>postoji</a:t>
            </a:r>
            <a:r>
              <a:rPr lang="en-US" sz="2400" dirty="0" smtClean="0"/>
              <a:t> </a:t>
            </a:r>
            <a:r>
              <a:rPr lang="en-US" sz="2400" dirty="0" err="1" smtClean="0"/>
              <a:t>jedna</a:t>
            </a:r>
            <a:r>
              <a:rPr lang="en-US" sz="2400" dirty="0" smtClean="0"/>
              <a:t> </a:t>
            </a:r>
            <a:r>
              <a:rPr lang="en-US" sz="2400" dirty="0" err="1" smtClean="0"/>
              <a:t>skupina</a:t>
            </a:r>
            <a:r>
              <a:rPr lang="en-US" sz="2400" dirty="0" smtClean="0"/>
              <a:t> </a:t>
            </a:r>
            <a:r>
              <a:rPr lang="en-US" sz="2400" dirty="0" err="1" smtClean="0"/>
              <a:t>koja</a:t>
            </a:r>
            <a:r>
              <a:rPr lang="en-US" sz="2400" dirty="0" smtClean="0"/>
              <a:t> je </a:t>
            </a:r>
            <a:r>
              <a:rPr lang="en-US" sz="2400" dirty="0" err="1" smtClean="0"/>
              <a:t>iznad</a:t>
            </a:r>
            <a:r>
              <a:rPr lang="en-US" sz="2400" dirty="0" smtClean="0"/>
              <a:t> </a:t>
            </a:r>
            <a:r>
              <a:rPr lang="en-US" sz="2400" dirty="0" err="1" smtClean="0"/>
              <a:t>druge</a:t>
            </a:r>
            <a:r>
              <a:rPr lang="en-US" sz="2400" dirty="0" smtClean="0"/>
              <a:t> </a:t>
            </a:r>
            <a:r>
              <a:rPr lang="en-US" sz="2400" dirty="0" err="1" smtClean="0"/>
              <a:t>skupine</a:t>
            </a:r>
            <a:endParaRPr lang="en-US" sz="2400" dirty="0" smtClean="0"/>
          </a:p>
          <a:p>
            <a:r>
              <a:rPr lang="en-US" sz="2400" dirty="0" err="1" smtClean="0"/>
              <a:t>Prisutna</a:t>
            </a:r>
            <a:r>
              <a:rPr lang="en-US" sz="2400" dirty="0" smtClean="0"/>
              <a:t> </a:t>
            </a:r>
            <a:r>
              <a:rPr lang="en-US" sz="2400" dirty="0" err="1" smtClean="0"/>
              <a:t>kroz</a:t>
            </a:r>
            <a:r>
              <a:rPr lang="en-US" sz="2400" dirty="0" smtClean="0"/>
              <a:t> </a:t>
            </a:r>
            <a:r>
              <a:rPr lang="en-US" sz="2400" dirty="0" err="1" smtClean="0"/>
              <a:t>dugi</a:t>
            </a:r>
            <a:r>
              <a:rPr lang="en-US" sz="2400" dirty="0" smtClean="0"/>
              <a:t> </a:t>
            </a:r>
            <a:r>
              <a:rPr lang="en-US" sz="2400" dirty="0" err="1" smtClean="0"/>
              <a:t>niz</a:t>
            </a:r>
            <a:r>
              <a:rPr lang="en-US" sz="2400" dirty="0" smtClean="0"/>
              <a:t> </a:t>
            </a:r>
            <a:r>
              <a:rPr lang="en-US" sz="2400" dirty="0" err="1" smtClean="0"/>
              <a:t>godina</a:t>
            </a:r>
            <a:endParaRPr lang="en-US" sz="2400" dirty="0" smtClean="0"/>
          </a:p>
          <a:p>
            <a:r>
              <a:rPr lang="en-US" sz="2400" dirty="0" smtClean="0"/>
              <a:t>Ne </a:t>
            </a:r>
            <a:r>
              <a:rPr lang="en-US" sz="2400" dirty="0" err="1" smtClean="0"/>
              <a:t>postoji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nema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društvenu</a:t>
            </a:r>
            <a:r>
              <a:rPr lang="en-US" sz="2400" dirty="0" smtClean="0"/>
              <a:t> </a:t>
            </a:r>
            <a:r>
              <a:rPr lang="en-US" sz="2400" dirty="0" err="1" smtClean="0"/>
              <a:t>stratifikaciju</a:t>
            </a:r>
            <a:r>
              <a:rPr lang="en-US" sz="2400" dirty="0" smtClean="0"/>
              <a:t> </a:t>
            </a:r>
            <a:r>
              <a:rPr lang="en-US" sz="2400" dirty="0" err="1" smtClean="0"/>
              <a:t>osim</a:t>
            </a:r>
            <a:r>
              <a:rPr lang="en-US" sz="2400" dirty="0" smtClean="0"/>
              <a:t> </a:t>
            </a:r>
            <a:r>
              <a:rPr lang="en-US" sz="2400" dirty="0" err="1" smtClean="0"/>
              <a:t>možda</a:t>
            </a:r>
            <a:r>
              <a:rPr lang="en-US" sz="2400" dirty="0" smtClean="0"/>
              <a:t> </a:t>
            </a:r>
            <a:r>
              <a:rPr lang="en-US" sz="2400" dirty="0" err="1" smtClean="0"/>
              <a:t>lovačko</a:t>
            </a:r>
            <a:r>
              <a:rPr lang="en-US" sz="2400" dirty="0" smtClean="0"/>
              <a:t> </a:t>
            </a:r>
            <a:r>
              <a:rPr lang="en-US" sz="2400" dirty="0" err="1" smtClean="0"/>
              <a:t>sakupljačkih</a:t>
            </a:r>
            <a:r>
              <a:rPr lang="en-US" sz="2400" dirty="0" smtClean="0"/>
              <a:t> </a:t>
            </a:r>
            <a:r>
              <a:rPr lang="en-US" sz="2400" dirty="0" err="1" smtClean="0"/>
              <a:t>društava</a:t>
            </a:r>
            <a:endParaRPr lang="en-US" sz="2400" dirty="0" smtClean="0"/>
          </a:p>
          <a:p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DRUŠTVENA STRATIFIKACIJA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trajni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je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oblik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nejednakosti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koji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se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odnosi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društvene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skupine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koje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su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hijerarhijske</a:t>
            </a:r>
            <a:r>
              <a:rPr 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poredane</a:t>
            </a:r>
            <a:endParaRPr lang="en-US" sz="2400" b="1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9838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Osnovna</a:t>
            </a:r>
            <a:r>
              <a:rPr lang="en-US" sz="2400" dirty="0" smtClean="0"/>
              <a:t> </a:t>
            </a:r>
            <a:r>
              <a:rPr lang="en-US" sz="2400" dirty="0" err="1" smtClean="0"/>
              <a:t>komponenta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društvene</a:t>
            </a:r>
            <a:r>
              <a:rPr lang="en-US" sz="2400" dirty="0" smtClean="0"/>
              <a:t> </a:t>
            </a:r>
            <a:r>
              <a:rPr lang="en-US" sz="2400" dirty="0" err="1" smtClean="0"/>
              <a:t>stratifikacije</a:t>
            </a:r>
            <a:r>
              <a:rPr lang="en-US" sz="2400" dirty="0" smtClean="0"/>
              <a:t> je </a:t>
            </a:r>
            <a:r>
              <a:rPr lang="en-US" sz="2400" b="1" dirty="0" smtClean="0"/>
              <a:t>DRUŠTVENI SLOJ (</a:t>
            </a:r>
            <a:r>
              <a:rPr lang="en-US" sz="2400" b="1" dirty="0" err="1" smtClean="0"/>
              <a:t>socijalni</a:t>
            </a:r>
            <a:r>
              <a:rPr lang="en-US" sz="2400" b="1" dirty="0" smtClean="0"/>
              <a:t> stratum)</a:t>
            </a:r>
            <a:r>
              <a:rPr lang="hr-HR" sz="2400" b="1" dirty="0" smtClean="0"/>
              <a:t/>
            </a:r>
            <a:br>
              <a:rPr lang="hr-HR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dirty="0" err="1"/>
              <a:t>O</a:t>
            </a:r>
            <a:r>
              <a:rPr lang="en-US" sz="2400" dirty="0" err="1" smtClean="0"/>
              <a:t>dnosi</a:t>
            </a:r>
            <a:r>
              <a:rPr lang="en-US" sz="2400" dirty="0" smtClean="0"/>
              <a:t> se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skupinu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pojedinaca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imaju</a:t>
            </a:r>
            <a:r>
              <a:rPr lang="en-US" sz="2400" dirty="0" smtClean="0"/>
              <a:t> </a:t>
            </a:r>
            <a:r>
              <a:rPr lang="en-US" sz="2400" dirty="0" err="1" smtClean="0"/>
              <a:t>slične</a:t>
            </a:r>
            <a:r>
              <a:rPr lang="en-US" sz="2400" dirty="0" smtClean="0"/>
              <a:t> </a:t>
            </a:r>
            <a:r>
              <a:rPr lang="en-US" sz="2400" dirty="0" err="1" smtClean="0"/>
              <a:t>životne</a:t>
            </a:r>
            <a:r>
              <a:rPr lang="en-US" sz="2400" dirty="0" smtClean="0"/>
              <a:t> </a:t>
            </a:r>
            <a:r>
              <a:rPr lang="en-US" sz="2400" dirty="0" err="1" smtClean="0"/>
              <a:t>šanse</a:t>
            </a:r>
            <a:r>
              <a:rPr lang="en-US" sz="2400" dirty="0" smtClean="0"/>
              <a:t>.</a:t>
            </a:r>
            <a:r>
              <a:rPr lang="hr-HR" sz="2400" dirty="0" smtClean="0"/>
              <a:t/>
            </a:r>
            <a:br>
              <a:rPr lang="hr-HR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Pripadnici</a:t>
            </a:r>
            <a:r>
              <a:rPr lang="en-US" sz="2400" dirty="0" smtClean="0"/>
              <a:t> </a:t>
            </a:r>
            <a:r>
              <a:rPr lang="en-US" sz="2400" dirty="0" err="1" smtClean="0"/>
              <a:t>određenog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društvenog</a:t>
            </a:r>
            <a:r>
              <a:rPr lang="en-US" sz="2400" dirty="0" smtClean="0"/>
              <a:t> </a:t>
            </a:r>
            <a:r>
              <a:rPr lang="en-US" sz="2400" dirty="0" err="1" smtClean="0"/>
              <a:t>sloja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povezani</a:t>
            </a:r>
            <a:r>
              <a:rPr lang="en-US" sz="2400" dirty="0" smtClean="0"/>
              <a:t> </a:t>
            </a:r>
            <a:r>
              <a:rPr lang="en-US" sz="2400" dirty="0" err="1" smtClean="0"/>
              <a:t>odnosim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interakcijama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ih</a:t>
            </a:r>
            <a:r>
              <a:rPr lang="en-US" sz="2400" dirty="0" smtClean="0"/>
              <a:t> </a:t>
            </a:r>
            <a:r>
              <a:rPr lang="en-US" sz="2400" dirty="0" err="1" smtClean="0"/>
              <a:t>čine</a:t>
            </a:r>
            <a:r>
              <a:rPr lang="en-US" sz="2400" dirty="0" smtClean="0"/>
              <a:t> ZBILJSKOM I KOHEZIVNOM </a:t>
            </a:r>
            <a:r>
              <a:rPr lang="en-US" sz="2400" dirty="0" err="1" smtClean="0"/>
              <a:t>društvenom</a:t>
            </a:r>
            <a:r>
              <a:rPr lang="en-US" sz="2400" dirty="0" smtClean="0"/>
              <a:t> </a:t>
            </a:r>
            <a:r>
              <a:rPr lang="en-US" sz="2400" dirty="0" err="1" smtClean="0"/>
              <a:t>grupom</a:t>
            </a:r>
            <a:r>
              <a:rPr lang="en-US" sz="2400" dirty="0" smtClean="0"/>
              <a:t> – </a:t>
            </a:r>
            <a:r>
              <a:rPr lang="en-US" sz="2400" dirty="0" err="1" smtClean="0"/>
              <a:t>određeni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društveni</a:t>
            </a:r>
            <a:r>
              <a:rPr lang="en-US" sz="2400" dirty="0" smtClean="0"/>
              <a:t> </a:t>
            </a:r>
            <a:r>
              <a:rPr lang="en-US" sz="2400" dirty="0" err="1" smtClean="0"/>
              <a:t>sloj</a:t>
            </a:r>
            <a:r>
              <a:rPr lang="en-US" sz="2400" dirty="0" smtClean="0"/>
              <a:t> </a:t>
            </a:r>
            <a:r>
              <a:rPr lang="en-US" sz="2400" dirty="0" err="1" smtClean="0"/>
              <a:t>utječe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najvažnije</a:t>
            </a:r>
            <a:r>
              <a:rPr lang="en-US" sz="2400" dirty="0" smtClean="0"/>
              <a:t> </a:t>
            </a:r>
            <a:r>
              <a:rPr lang="en-US" sz="2400" dirty="0" err="1" smtClean="0"/>
              <a:t>aspekte</a:t>
            </a:r>
            <a:r>
              <a:rPr lang="en-US" sz="2400" dirty="0" smtClean="0"/>
              <a:t> </a:t>
            </a:r>
            <a:r>
              <a:rPr lang="en-US" sz="2400" dirty="0" err="1" smtClean="0"/>
              <a:t>života</a:t>
            </a:r>
            <a:r>
              <a:rPr lang="en-US" sz="2400" dirty="0" smtClean="0"/>
              <a:t> </a:t>
            </a:r>
            <a:r>
              <a:rPr lang="en-US" sz="2400" dirty="0" err="1" smtClean="0"/>
              <a:t>tih</a:t>
            </a:r>
            <a:r>
              <a:rPr lang="en-US" sz="2400" dirty="0" smtClean="0"/>
              <a:t> </a:t>
            </a:r>
            <a:r>
              <a:rPr lang="en-US" sz="2400" dirty="0" err="1" smtClean="0"/>
              <a:t>ljudi</a:t>
            </a:r>
            <a:r>
              <a:rPr lang="en-US" sz="2400" dirty="0" smtClean="0"/>
              <a:t> – </a:t>
            </a:r>
            <a:r>
              <a:rPr lang="en-US" sz="2400" dirty="0" err="1" smtClean="0"/>
              <a:t>očekivano</a:t>
            </a:r>
            <a:r>
              <a:rPr lang="en-US" sz="2400" dirty="0" smtClean="0"/>
              <a:t> </a:t>
            </a:r>
            <a:r>
              <a:rPr lang="hr-HR" sz="2400" dirty="0" err="1"/>
              <a:t>t</a:t>
            </a:r>
            <a:r>
              <a:rPr lang="en-US" sz="2400" dirty="0" err="1" smtClean="0"/>
              <a:t>rajanje</a:t>
            </a:r>
            <a:r>
              <a:rPr lang="en-US" sz="2400" dirty="0" smtClean="0"/>
              <a:t> </a:t>
            </a:r>
            <a:r>
              <a:rPr lang="en-US" sz="2400" dirty="0" err="1" smtClean="0"/>
              <a:t>života</a:t>
            </a:r>
            <a:r>
              <a:rPr lang="en-US" sz="2400" dirty="0" smtClean="0"/>
              <a:t>, </a:t>
            </a:r>
            <a:r>
              <a:rPr lang="en-US" sz="2400" dirty="0" err="1" smtClean="0"/>
              <a:t>obiteljski</a:t>
            </a:r>
            <a:r>
              <a:rPr lang="en-US" sz="2400" dirty="0" smtClean="0"/>
              <a:t> </a:t>
            </a:r>
            <a:r>
              <a:rPr lang="en-US" sz="2400" dirty="0" err="1" smtClean="0"/>
              <a:t>život</a:t>
            </a:r>
            <a:r>
              <a:rPr lang="en-US" sz="2400" dirty="0" smtClean="0"/>
              <a:t>, </a:t>
            </a:r>
            <a:r>
              <a:rPr lang="en-US" sz="2400" dirty="0" err="1" smtClean="0"/>
              <a:t>obrazovanje</a:t>
            </a:r>
            <a:r>
              <a:rPr lang="en-US" sz="2400" dirty="0" smtClean="0"/>
              <a:t>, </a:t>
            </a:r>
            <a:r>
              <a:rPr lang="en-US" sz="2400" dirty="0" err="1" smtClean="0"/>
              <a:t>religiju</a:t>
            </a:r>
            <a:r>
              <a:rPr lang="en-US" sz="2400" dirty="0" smtClean="0"/>
              <a:t>, </a:t>
            </a:r>
            <a:r>
              <a:rPr lang="en-US" sz="2400" dirty="0" err="1" smtClean="0"/>
              <a:t>politiku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njih</a:t>
            </a:r>
            <a:r>
              <a:rPr lang="hr-HR" sz="2400" dirty="0" smtClean="0"/>
              <a:t>o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 err="1" smtClean="0"/>
              <a:t>statove</a:t>
            </a:r>
            <a:endParaRPr lang="hr-HR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43" y="4653136"/>
            <a:ext cx="9401293" cy="159526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hr-HR" dirty="0" smtClean="0"/>
          </a:p>
          <a:p>
            <a:endParaRPr lang="hr-HR" dirty="0"/>
          </a:p>
          <a:p>
            <a:r>
              <a:rPr lang="en-US" dirty="0" smtClean="0"/>
              <a:t>  Dz. U </a:t>
            </a:r>
            <a:r>
              <a:rPr lang="en-US" dirty="0" err="1" smtClean="0"/>
              <a:t>bilježnice</a:t>
            </a:r>
            <a:r>
              <a:rPr lang="en-US" dirty="0" smtClean="0"/>
              <a:t> </a:t>
            </a:r>
            <a:r>
              <a:rPr lang="en-US" dirty="0" err="1" smtClean="0"/>
              <a:t>napišite</a:t>
            </a:r>
            <a:r>
              <a:rPr lang="en-US" dirty="0" smtClean="0"/>
              <a:t> </a:t>
            </a:r>
            <a:r>
              <a:rPr lang="en-US" dirty="0" err="1" smtClean="0"/>
              <a:t>glavna</a:t>
            </a:r>
            <a:r>
              <a:rPr lang="en-US" dirty="0" smtClean="0"/>
              <a:t> </a:t>
            </a:r>
            <a:r>
              <a:rPr lang="en-US" dirty="0" err="1" smtClean="0"/>
              <a:t>obilježja</a:t>
            </a:r>
            <a:r>
              <a:rPr lang="en-US" dirty="0" smtClean="0"/>
              <a:t> </a:t>
            </a:r>
            <a:r>
              <a:rPr lang="en-US" dirty="0" err="1" smtClean="0"/>
              <a:t>stratifikacijskih</a:t>
            </a:r>
            <a:r>
              <a:rPr lang="en-US" dirty="0" smtClean="0"/>
              <a:t> </a:t>
            </a:r>
            <a:r>
              <a:rPr lang="en-US" dirty="0" err="1" smtClean="0"/>
              <a:t>sustava</a:t>
            </a:r>
            <a:endParaRPr lang="hr-HR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249899" y="5450768"/>
            <a:ext cx="792088" cy="515144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879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</a:t>
            </a:r>
            <a:r>
              <a:rPr lang="en-US" sz="28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STRATIFIKACIJSKI SUSTAVI 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KROZ POVIJEST</a:t>
            </a:r>
            <a:endParaRPr lang="hr-HR" sz="2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5408" y="397866"/>
            <a:ext cx="7003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KLASE </a:t>
            </a:r>
          </a:p>
          <a:p>
            <a:r>
              <a:rPr lang="en-US" sz="2800" dirty="0" smtClean="0"/>
              <a:t>(bit.ly/</a:t>
            </a:r>
            <a:r>
              <a:rPr lang="en-US" sz="2800" dirty="0" err="1" smtClean="0"/>
              <a:t>strklasa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bit.ly/strklasa1)</a:t>
            </a:r>
            <a:endParaRPr lang="hr-HR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36498" y="3882231"/>
            <a:ext cx="3240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STALEŽI</a:t>
            </a:r>
          </a:p>
          <a:p>
            <a:r>
              <a:rPr lang="en-US" sz="2800" dirty="0" smtClean="0"/>
              <a:t>(bit.ly/</a:t>
            </a:r>
            <a:r>
              <a:rPr lang="en-US" sz="2800" dirty="0" err="1" smtClean="0"/>
              <a:t>strstalezi</a:t>
            </a:r>
            <a:r>
              <a:rPr lang="en-US" sz="2800" dirty="0" smtClean="0"/>
              <a:t>)</a:t>
            </a:r>
            <a:endParaRPr lang="hr-HR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526460" y="3882230"/>
            <a:ext cx="54522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ROPSTVO</a:t>
            </a:r>
          </a:p>
          <a:p>
            <a:r>
              <a:rPr lang="en-US" sz="2400" dirty="0" smtClean="0"/>
              <a:t>(bit.ly/</a:t>
            </a:r>
            <a:r>
              <a:rPr lang="en-US" sz="2400" dirty="0" err="1" smtClean="0"/>
              <a:t>strropstvo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bit.ly/strropstvo1) </a:t>
            </a:r>
            <a:endParaRPr lang="hr-HR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462564" y="269679"/>
            <a:ext cx="4356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KASTE</a:t>
            </a:r>
          </a:p>
          <a:p>
            <a:r>
              <a:rPr lang="en-US" sz="2800" dirty="0" smtClean="0"/>
              <a:t>(bit.ly/</a:t>
            </a:r>
            <a:r>
              <a:rPr lang="en-US" sz="2800" dirty="0" err="1" smtClean="0"/>
              <a:t>strkaste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bit.ly/strkaste1</a:t>
            </a:r>
            <a:endParaRPr lang="hr-HR" sz="2800" dirty="0"/>
          </a:p>
        </p:txBody>
      </p:sp>
      <p:pic>
        <p:nvPicPr>
          <p:cNvPr id="2050" name="Picture 2" descr="Opinion | Marco Rubio Wants to Be a Working-Class Hero. There's Just One  Problem. - The New York Tim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03" y="1608768"/>
            <a:ext cx="2304256" cy="12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Kasta | Veliki Rečn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444" y="1685576"/>
            <a:ext cx="2412471" cy="14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he British Monarchy Helped Mortgage Our Collective Future | Tim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4" y="5119285"/>
            <a:ext cx="2557615" cy="1704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BOLITION OF SLAVERY DAY - February 1, 2023 - National Toda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676" y="4882998"/>
            <a:ext cx="1793406" cy="1793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16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2" y="260648"/>
            <a:ext cx="11425133" cy="1400530"/>
          </a:xfrm>
        </p:spPr>
        <p:txBody>
          <a:bodyPr/>
          <a:lstStyle/>
          <a:p>
            <a:pPr algn="ctr"/>
            <a:r>
              <a:rPr lang="en-US" b="1" dirty="0" smtClean="0"/>
              <a:t>SOCIOLOŠKE PERSPEKTIVE O STRATIFIKACIJI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652" y="1052736"/>
            <a:ext cx="11758424" cy="4979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FUNKCIONALISTIČKA PERSPEKTIVA                             KONFLIKTNA PERSPEKTIVA  </a:t>
            </a:r>
            <a:endParaRPr lang="hr-HR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637698"/>
            <a:ext cx="75510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Društvo</a:t>
            </a:r>
            <a:r>
              <a:rPr lang="en-US" sz="2000" dirty="0" smtClean="0"/>
              <a:t> je s</a:t>
            </a:r>
            <a:r>
              <a:rPr lang="hr-HR" sz="2000" dirty="0" smtClean="0"/>
              <a:t>i</a:t>
            </a:r>
            <a:r>
              <a:rPr lang="en-US" sz="2000" dirty="0" smtClean="0"/>
              <a:t>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Različiti</a:t>
            </a:r>
            <a:r>
              <a:rPr lang="en-US" sz="2000" dirty="0" smtClean="0"/>
              <a:t> </a:t>
            </a:r>
            <a:r>
              <a:rPr lang="en-US" sz="2000" dirty="0" err="1" smtClean="0"/>
              <a:t>dijelovi</a:t>
            </a:r>
            <a:r>
              <a:rPr lang="en-US" sz="2000" dirty="0" smtClean="0"/>
              <a:t> </a:t>
            </a:r>
            <a:r>
              <a:rPr lang="en-US" sz="2000" dirty="0" err="1" smtClean="0"/>
              <a:t>društva</a:t>
            </a:r>
            <a:r>
              <a:rPr lang="en-US" sz="2000" dirty="0" smtClean="0"/>
              <a:t> </a:t>
            </a:r>
            <a:r>
              <a:rPr lang="en-US" sz="2000" dirty="0" err="1" smtClean="0"/>
              <a:t>pridonose</a:t>
            </a:r>
            <a:r>
              <a:rPr lang="en-US" sz="2000" dirty="0" smtClean="0"/>
              <a:t> </a:t>
            </a:r>
            <a:r>
              <a:rPr lang="en-US" sz="2000" dirty="0" err="1" smtClean="0"/>
              <a:t>redu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stabilnosti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Tako</a:t>
            </a:r>
            <a:r>
              <a:rPr lang="en-US" sz="2000" dirty="0" smtClean="0"/>
              <a:t> </a:t>
            </a:r>
            <a:r>
              <a:rPr lang="hr-HR" sz="2000" dirty="0" smtClean="0"/>
              <a:t>f. </a:t>
            </a:r>
            <a:r>
              <a:rPr lang="hr-HR" sz="2000" dirty="0"/>
              <a:t>p</a:t>
            </a:r>
            <a:r>
              <a:rPr lang="hr-HR" sz="2000" dirty="0" smtClean="0"/>
              <a:t>. </a:t>
            </a:r>
            <a:r>
              <a:rPr lang="en-US" sz="2000" dirty="0" err="1" smtClean="0"/>
              <a:t>promatra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startifikaciju</a:t>
            </a:r>
            <a:r>
              <a:rPr lang="en-US" sz="2000" dirty="0" smtClean="0"/>
              <a:t> – </a:t>
            </a:r>
            <a:r>
              <a:rPr lang="en-US" sz="2000" dirty="0" err="1" smtClean="0"/>
              <a:t>kako</a:t>
            </a:r>
            <a:r>
              <a:rPr lang="en-US" sz="2000" dirty="0" smtClean="0"/>
              <a:t> </a:t>
            </a:r>
            <a:r>
              <a:rPr lang="en-US" sz="2000" dirty="0" err="1" smtClean="0"/>
              <a:t>startifikacija</a:t>
            </a:r>
            <a:r>
              <a:rPr lang="en-US" sz="2000" dirty="0" smtClean="0"/>
              <a:t> </a:t>
            </a:r>
            <a:r>
              <a:rPr lang="en-US" sz="2000" dirty="0" err="1" smtClean="0"/>
              <a:t>pridonosi</a:t>
            </a:r>
            <a:r>
              <a:rPr lang="en-US" sz="2000" dirty="0" smtClean="0"/>
              <a:t> </a:t>
            </a:r>
            <a:r>
              <a:rPr lang="en-US" sz="2000" dirty="0" err="1" smtClean="0"/>
              <a:t>dobrom</a:t>
            </a:r>
            <a:r>
              <a:rPr lang="en-US" sz="2000" dirty="0" smtClean="0"/>
              <a:t> </a:t>
            </a:r>
            <a:r>
              <a:rPr lang="en-US" sz="2000" dirty="0" err="1" smtClean="0"/>
              <a:t>funkcioniranju</a:t>
            </a:r>
            <a:endParaRPr lang="hr-HR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Društvo se sastoji od različitih društvenih položaja koji su različito rangirani</a:t>
            </a:r>
            <a:r>
              <a:rPr lang="en-US" sz="2000" dirty="0" smtClean="0"/>
              <a:t> </a:t>
            </a:r>
            <a:r>
              <a:rPr lang="hr-HR" sz="2000" dirty="0" smtClean="0"/>
              <a:t>(neki položaji su bitniji za dobro funkcioniranje društva – zahtjevaju više talenata, znanja...)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Za motivaciju pojedinaca da razvijaju svoje vještine koriste se visoke plaće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Oni koji se ne trude i ne ulažu i svoje znanje, obavljaju poslove koji nisu toliko bitni za funkcioniranje društva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Po tome proizlazi stratifikacija u društvu – oni s visokim plaćama su na vrhu startifikacijske ljestivice i obrnuto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MERITOKRATSKO DRUŠTVO </a:t>
            </a:r>
            <a:r>
              <a:rPr lang="hr-HR" sz="2000" dirty="0" smtClean="0"/>
              <a:t>– društvo vrednuje pojedince na objektivan način, prema zalaganju, trudu...</a:t>
            </a:r>
            <a:r>
              <a:rPr lang="en-US" sz="2000" dirty="0" smtClean="0"/>
              <a:t> </a:t>
            </a:r>
            <a:endParaRPr lang="hr-HR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486420" y="1661949"/>
            <a:ext cx="472626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Stratifikacija ne integrirara društvo,već ga dijeli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Teoretičari smatraju da uvijek postoji vladajuća klasa i podređena klasa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Vladajuća klasa se služi stratifikacijom kako bi držala u pokornosti ostale dijelove društva i provodila svoje interse i vrijednosne sustave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smtClean="0"/>
              <a:t>U društvu će uvijek postojati zategnuti odnosi između poslodavaca i radnika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6629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57" y="116632"/>
            <a:ext cx="10081119" cy="1736616"/>
          </a:xfrm>
        </p:spPr>
        <p:txBody>
          <a:bodyPr/>
          <a:lstStyle/>
          <a:p>
            <a:r>
              <a:rPr lang="hr-HR" dirty="0" smtClean="0"/>
              <a:t>Društvena stratifikacija u modernim društvima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757" y="2052919"/>
            <a:ext cx="5616623" cy="4195481"/>
          </a:xfrm>
        </p:spPr>
        <p:txBody>
          <a:bodyPr/>
          <a:lstStyle/>
          <a:p>
            <a:r>
              <a:rPr lang="hr-HR" sz="2400" dirty="0" smtClean="0"/>
              <a:t>Društveni resursi: </a:t>
            </a:r>
            <a:r>
              <a:rPr lang="hr-HR" sz="2400" b="1" dirty="0" smtClean="0"/>
              <a:t>moć, ugled, bogatstvo</a:t>
            </a:r>
          </a:p>
          <a:p>
            <a:r>
              <a:rPr lang="hr-HR" sz="2400" dirty="0" smtClean="0"/>
              <a:t>Neravnomjerno raspoređeni</a:t>
            </a:r>
          </a:p>
          <a:p>
            <a:endParaRPr lang="hr-HR" dirty="0" smtClean="0"/>
          </a:p>
          <a:p>
            <a:endParaRPr lang="hr-HR" dirty="0"/>
          </a:p>
        </p:txBody>
      </p:sp>
      <p:pic>
        <p:nvPicPr>
          <p:cNvPr id="3076" name="Picture 4" descr="World's richest 1% has twice the wealth of the rest of humanity: Oxfam -  CGT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348" y="980728"/>
            <a:ext cx="5842992" cy="584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76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Moć 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 smtClean="0"/>
              <a:t>Vjerojatnost da pojedinac ili grupa ljudi uspije nametnuti svoju volju usprkos otporu drugih</a:t>
            </a:r>
          </a:p>
          <a:p>
            <a:r>
              <a:rPr lang="hr-HR" sz="2400" dirty="0" smtClean="0"/>
              <a:t>Pojedinac ima moć ako uspije nagovoriti nekoga da nešto napravi iako on to ne želi</a:t>
            </a:r>
          </a:p>
          <a:p>
            <a:endParaRPr lang="hr-HR" sz="2400" dirty="0"/>
          </a:p>
          <a:p>
            <a:r>
              <a:rPr lang="hr-HR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TEORIJA ELITE I PLURALISTIČKA TEORIJA</a:t>
            </a:r>
          </a:p>
        </p:txBody>
      </p:sp>
    </p:spTree>
    <p:extLst>
      <p:ext uri="{BB962C8B-B14F-4D97-AF65-F5344CB8AC3E}">
        <p14:creationId xmlns:p14="http://schemas.microsoft.com/office/powerpoint/2010/main" val="144598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r-HR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TEORIJA ELITE</a:t>
            </a:r>
          </a:p>
          <a:p>
            <a:r>
              <a:rPr lang="hr-HR" sz="2400" dirty="0" smtClean="0"/>
              <a:t>Govori o tome da isti pojedinci konstantno imau moć u svojim rukama,a to su pojedinci koji sjede na vrhu osnovnih društvenih institucija kao što su vojne institucije, političke i ekonomske institucije</a:t>
            </a:r>
          </a:p>
          <a:p>
            <a:r>
              <a:rPr lang="hr-HR" sz="2400" dirty="0" smtClean="0"/>
              <a:t>Oni donose odluke i utječu na sve nas</a:t>
            </a:r>
          </a:p>
          <a:p>
            <a:endParaRPr lang="hr-HR" sz="2400" dirty="0"/>
          </a:p>
          <a:p>
            <a:pPr marL="0" indent="0">
              <a:buNone/>
            </a:pPr>
            <a:r>
              <a:rPr lang="hr-HR" sz="2400" dirty="0" smtClean="0"/>
              <a:t>... Drugi teoretičari smatraju da je moć prisutna u svakome od nas, samo je pitanje na koji način je upotrebljava – </a:t>
            </a:r>
            <a:r>
              <a:rPr lang="hr-HR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PLURALISTIČKA TEORIJA</a:t>
            </a:r>
            <a:endParaRPr lang="hr-HR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02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Bogatstvo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268760"/>
            <a:ext cx="9239859" cy="5040559"/>
          </a:xfrm>
        </p:spPr>
        <p:txBody>
          <a:bodyPr>
            <a:normAutofit lnSpcReduction="10000"/>
          </a:bodyPr>
          <a:lstStyle/>
          <a:p>
            <a:r>
              <a:rPr lang="hr-HR" sz="2400" dirty="0" smtClean="0"/>
              <a:t>Dobro koje određeno društvo definira kao vrijedno</a:t>
            </a:r>
          </a:p>
          <a:p>
            <a:pPr marL="0" indent="0">
              <a:buNone/>
            </a:pPr>
            <a:r>
              <a:rPr lang="hr-HR" sz="2400" dirty="0">
                <a:hlinkClick r:id="rId2"/>
              </a:rPr>
              <a:t>https://</a:t>
            </a:r>
            <a:r>
              <a:rPr lang="hr-HR" sz="2400" dirty="0" smtClean="0">
                <a:hlinkClick r:id="rId2"/>
              </a:rPr>
              <a:t>www.youtube.com/watch?v=QPKKQnijnsM&amp;ab_channel=politizane</a:t>
            </a:r>
            <a:endParaRPr lang="hr-HR" sz="2400" dirty="0" smtClean="0"/>
          </a:p>
          <a:p>
            <a:pPr marL="0" indent="0">
              <a:buNone/>
            </a:pPr>
            <a:r>
              <a:rPr lang="hr-HR" sz="2400" dirty="0" smtClean="0"/>
              <a:t>Bogatstvo čine: </a:t>
            </a:r>
            <a:r>
              <a:rPr lang="hr-HR" sz="2400" b="1" dirty="0" smtClean="0"/>
              <a:t>VLASNIŠTVO, DOHODAK I ŽIVOTNI STANDARD</a:t>
            </a:r>
          </a:p>
          <a:p>
            <a:endParaRPr lang="hr-HR" sz="2400" b="1" dirty="0"/>
          </a:p>
          <a:p>
            <a:r>
              <a:rPr lang="hr-HR" sz="2400" b="1" dirty="0" smtClean="0"/>
              <a:t>1. vlasništvo – </a:t>
            </a:r>
            <a:r>
              <a:rPr lang="hr-HR" sz="2400" dirty="0" smtClean="0"/>
              <a:t>nekretnine, sredstva za proizvodnju (tvornica ili zemlja), ušteđevina, mirovina, dionice</a:t>
            </a:r>
          </a:p>
          <a:p>
            <a:r>
              <a:rPr lang="hr-HR" sz="2400" b="1" dirty="0" smtClean="0"/>
              <a:t>2. dohodak  - </a:t>
            </a:r>
            <a:r>
              <a:rPr lang="hr-HR" sz="2400" dirty="0" smtClean="0"/>
              <a:t>zarada. Temelji se na kvalifikacijama i vještinama na tržištu radne snage</a:t>
            </a:r>
          </a:p>
          <a:p>
            <a:pPr marL="0" indent="0">
              <a:buNone/>
            </a:pPr>
            <a:r>
              <a:rPr lang="hr-HR" sz="2400" dirty="0" smtClean="0"/>
              <a:t>Danas je često raslojavanje...</a:t>
            </a:r>
          </a:p>
          <a:p>
            <a:r>
              <a:rPr lang="hr-HR" sz="2400" b="1" dirty="0" smtClean="0"/>
              <a:t>3. životni standard – </a:t>
            </a:r>
            <a:r>
              <a:rPr lang="hr-HR" sz="2400" dirty="0" smtClean="0"/>
              <a:t>stanovanje, način prehrane, odjeća, pristup liječniku</a:t>
            </a:r>
            <a:endParaRPr lang="hr-HR" sz="2400" b="1" dirty="0"/>
          </a:p>
        </p:txBody>
      </p:sp>
    </p:spTree>
    <p:extLst>
      <p:ext uri="{BB962C8B-B14F-4D97-AF65-F5344CB8AC3E}">
        <p14:creationId xmlns:p14="http://schemas.microsoft.com/office/powerpoint/2010/main" val="97776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Ugled 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556793"/>
            <a:ext cx="8944211" cy="4691608"/>
          </a:xfrm>
        </p:spPr>
        <p:txBody>
          <a:bodyPr/>
          <a:lstStyle/>
          <a:p>
            <a:r>
              <a:rPr lang="hr-HR" sz="2400" dirty="0" smtClean="0"/>
              <a:t>Količina časti ili poštovanja povezana s društvenim položajem</a:t>
            </a:r>
          </a:p>
          <a:p>
            <a:r>
              <a:rPr lang="hr-HR" sz="2400" dirty="0" smtClean="0"/>
              <a:t>Visoki ugled: </a:t>
            </a:r>
          </a:p>
          <a:p>
            <a:endParaRPr lang="hr-HR" dirty="0"/>
          </a:p>
        </p:txBody>
      </p:sp>
      <p:pic>
        <p:nvPicPr>
          <p:cNvPr id="4098" name="Picture 2" descr="What's in a title? When it comes to 'Doctor,' more than you might thin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46" y="3440088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awyer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915" y="3440088"/>
            <a:ext cx="3482101" cy="243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12 Essential Engineering Skills for Your Resume | Indeed.c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650" y="3440088"/>
            <a:ext cx="3497582" cy="233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68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340769"/>
            <a:ext cx="8944211" cy="4907632"/>
          </a:xfrm>
        </p:spPr>
        <p:txBody>
          <a:bodyPr>
            <a:normAutofit/>
          </a:bodyPr>
          <a:lstStyle/>
          <a:p>
            <a:r>
              <a:rPr lang="hr-HR" sz="2400" dirty="0" smtClean="0"/>
              <a:t>Položaji s niskim ugledom:</a:t>
            </a:r>
            <a:endParaRPr lang="hr-HR" sz="2400" dirty="0"/>
          </a:p>
        </p:txBody>
      </p:sp>
      <p:pic>
        <p:nvPicPr>
          <p:cNvPr id="5124" name="Picture 4" descr="75,850 Taxi Driver Images, Stock Photos &amp; Vectors | Shutter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51" y="3212976"/>
            <a:ext cx="37147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miling bin men, playlists, a live stream from nursery… I'm starting to  enjoy my new routine | Family | The Guardi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902" y="2178616"/>
            <a:ext cx="3744416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9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797" y="1124745"/>
            <a:ext cx="9497440" cy="5123656"/>
          </a:xfrm>
        </p:spPr>
        <p:txBody>
          <a:bodyPr>
            <a:normAutofit/>
          </a:bodyPr>
          <a:lstStyle/>
          <a:p>
            <a:r>
              <a:rPr lang="hr-HR" sz="2400" dirty="0" smtClean="0"/>
              <a:t>Položaj je uvijek povezan s bogatstvom, obiteljskim vezama, društvenim vezama i obrazovnim postignučima</a:t>
            </a:r>
          </a:p>
          <a:p>
            <a:endParaRPr lang="hr-HR" sz="2400" dirty="0"/>
          </a:p>
          <a:p>
            <a:r>
              <a:rPr lang="hr-HR" sz="2400" dirty="0" smtClean="0"/>
              <a:t>Obrazovna startifikacija – promatramo skupine od osnovnog obrazovanja do visokog obrazovanja</a:t>
            </a:r>
          </a:p>
          <a:p>
            <a:endParaRPr lang="hr-HR" sz="2400" dirty="0"/>
          </a:p>
          <a:p>
            <a:r>
              <a:rPr lang="hr-HR" sz="2400" dirty="0" smtClean="0"/>
              <a:t>Startifikacijske razlike u obrazovnom sustavu?</a:t>
            </a:r>
          </a:p>
          <a:p>
            <a:endParaRPr lang="hr-HR" sz="2400" dirty="0"/>
          </a:p>
          <a:p>
            <a:r>
              <a:rPr lang="hr-HR" sz="2400" dirty="0" smtClean="0"/>
              <a:t>Viši slojevi imaju veću šansu za viša obrazovna postignuća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5226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800" dirty="0" smtClean="0"/>
              <a:t>Statusne nedosljednosti – nepoklapanje bogatstva, moći i ugleda s obzirom na društveni položaj (šef kriminalne organizacije...)</a:t>
            </a:r>
          </a:p>
          <a:p>
            <a:endParaRPr lang="hr-HR" sz="2800" dirty="0" smtClean="0"/>
          </a:p>
          <a:p>
            <a:r>
              <a:rPr lang="hr-HR" sz="2800" dirty="0" smtClean="0"/>
              <a:t>Socijalna stratifikacija u Hrvatskoj – podijelite na društvene slojeve i tipična zanimanja za određeni društveni sloj</a:t>
            </a:r>
            <a:endParaRPr lang="hr-HR" sz="2800" dirty="0"/>
          </a:p>
          <a:p>
            <a:endParaRPr lang="hr-HR" sz="2800" dirty="0"/>
          </a:p>
        </p:txBody>
      </p:sp>
      <p:sp>
        <p:nvSpPr>
          <p:cNvPr id="4" name="Content Placeholder 6"/>
          <p:cNvSpPr txBox="1">
            <a:spLocks/>
          </p:cNvSpPr>
          <p:nvPr/>
        </p:nvSpPr>
        <p:spPr>
          <a:xfrm>
            <a:off x="706981" y="4068952"/>
            <a:ext cx="792088" cy="515144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2454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SOCIJALNA MOBILNOST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412777"/>
            <a:ext cx="11927060" cy="4835624"/>
          </a:xfrm>
        </p:spPr>
        <p:txBody>
          <a:bodyPr>
            <a:normAutofit/>
          </a:bodyPr>
          <a:lstStyle/>
          <a:p>
            <a:r>
              <a:rPr lang="hr-HR" sz="2400" dirty="0" smtClean="0"/>
              <a:t>Pokretljivost pojedinca u društvu</a:t>
            </a:r>
          </a:p>
          <a:p>
            <a:pPr marL="0" indent="0">
              <a:buNone/>
            </a:pPr>
            <a:r>
              <a:rPr lang="hr-HR" sz="2400" b="1" dirty="0" smtClean="0"/>
              <a:t>VERTIKALNA MOBILNOST                                   HORIZONTALNA MOBILNOST</a:t>
            </a:r>
            <a:endParaRPr lang="hr-HR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814492" y="2452120"/>
            <a:ext cx="3960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400" dirty="0" smtClean="0"/>
              <a:t>Kretanje u prostoru, selidbe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400" dirty="0" smtClean="0"/>
              <a:t>migracije</a:t>
            </a:r>
            <a:endParaRPr lang="hr-HR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89756" y="2452120"/>
            <a:ext cx="47525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400" dirty="0" smtClean="0"/>
              <a:t>Kretanje na stratifikacijskoj ljestvici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400" dirty="0" smtClean="0"/>
              <a:t>Može biti prema gore ili prema dolje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400" dirty="0" smtClean="0"/>
              <a:t>MEĐUGENERACIJSKA MOBILNOST (roditelj kovinotokar, a dijete liječnik)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400" dirty="0" smtClean="0"/>
              <a:t>UNUTARGENERACIJSKA MOBILNOST (karijera pojedinca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76984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 smtClean="0"/>
              <a:t>ZATVORENI TIP DRUŠTVA – ne dozvoljava promjenu društvenih položaja – npr. kaste</a:t>
            </a:r>
          </a:p>
          <a:p>
            <a:endParaRPr lang="hr-HR" sz="2400" dirty="0" smtClean="0"/>
          </a:p>
          <a:p>
            <a:r>
              <a:rPr lang="hr-HR" sz="2400" dirty="0" smtClean="0"/>
              <a:t>OTVORENI TIP DRUŠTVA – ono gdje je pojedinac rođen na stratifikacijskoj ljestivici neće utjecati na to gdje će pojedinac završiti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80585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Temeljne</a:t>
            </a:r>
            <a:r>
              <a:rPr lang="en-US" dirty="0" smtClean="0"/>
              <a:t> </a:t>
            </a:r>
            <a:r>
              <a:rPr lang="en-US" dirty="0" err="1" smtClean="0"/>
              <a:t>sociološke</a:t>
            </a:r>
            <a:r>
              <a:rPr lang="en-US" dirty="0" smtClean="0"/>
              <a:t> perspective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FUNKCIONALISTIČKA PERSPEKTIVA (FUNKCIONALIZAM)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3140968"/>
            <a:ext cx="8944211" cy="3107432"/>
          </a:xfrm>
        </p:spPr>
        <p:txBody>
          <a:bodyPr/>
          <a:lstStyle/>
          <a:p>
            <a:r>
              <a:rPr lang="en-US" sz="2400" dirty="0" err="1" smtClean="0"/>
              <a:t>Polazi</a:t>
            </a:r>
            <a:r>
              <a:rPr lang="en-US" sz="2400" dirty="0" smtClean="0"/>
              <a:t> od </a:t>
            </a:r>
            <a:r>
              <a:rPr lang="en-US" sz="2400" dirty="0" err="1" smtClean="0"/>
              <a:t>stava</a:t>
            </a:r>
            <a:r>
              <a:rPr lang="en-US" sz="2400" dirty="0" smtClean="0"/>
              <a:t> da se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sastoji</a:t>
            </a:r>
            <a:r>
              <a:rPr lang="en-US" sz="2400" dirty="0" smtClean="0"/>
              <a:t> od </a:t>
            </a:r>
            <a:r>
              <a:rPr lang="en-US" sz="2400" dirty="0" err="1" smtClean="0"/>
              <a:t>dijelova</a:t>
            </a:r>
            <a:r>
              <a:rPr lang="en-US" sz="2400" dirty="0" smtClean="0"/>
              <a:t> – </a:t>
            </a:r>
            <a:r>
              <a:rPr lang="en-US" sz="2400" dirty="0" err="1" smtClean="0"/>
              <a:t>struktura</a:t>
            </a:r>
            <a:r>
              <a:rPr lang="en-US" sz="2400" dirty="0" smtClean="0"/>
              <a:t> (STRUKTURNI FUNKCIONALIZAM)</a:t>
            </a:r>
          </a:p>
          <a:p>
            <a:pPr marL="0" indent="0" algn="ctr">
              <a:buNone/>
            </a:pPr>
            <a:r>
              <a:rPr lang="en-US" sz="2400" dirty="0" smtClean="0"/>
              <a:t>DRUŠTVO</a:t>
            </a:r>
            <a:endParaRPr lang="en-US" sz="2400" dirty="0"/>
          </a:p>
          <a:p>
            <a:pPr marL="0" indent="0" algn="ctr">
              <a:buNone/>
            </a:pPr>
            <a:endParaRPr lang="hr-HR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294212" y="4437112"/>
            <a:ext cx="64807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6238428" y="4437112"/>
            <a:ext cx="57606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574650" y="4445248"/>
            <a:ext cx="480" cy="4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hat Is Family? Definition, Features, Types, and Func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001" y="4935427"/>
            <a:ext cx="1402543" cy="124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4" descr="32 Facts About Religion Around The World - Facts.ne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sp>
        <p:nvSpPr>
          <p:cNvPr id="13" name="AutoShape 6" descr="To understand today's world, more students should study religion (essay)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1032" name="Picture 8" descr="Which religion has the most followers worldwide? | Metro Ne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705" y="4938589"/>
            <a:ext cx="1559889" cy="103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 EU Institutions | EU-US Relations | European Parliament Liaison Office  in Washingt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526460" y="4951523"/>
            <a:ext cx="2110312" cy="108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998068" y="6314667"/>
            <a:ext cx="162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OBITELJ</a:t>
            </a:r>
            <a:endParaRPr lang="hr-HR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794705" y="6182132"/>
            <a:ext cx="155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RELIGIJA</a:t>
            </a:r>
            <a:endParaRPr lang="hr-HR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526460" y="6146097"/>
            <a:ext cx="211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POLITIČKE INSTITUCIJE</a:t>
            </a:r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121428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5" grpId="0"/>
      <p:bldP spid="1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196753"/>
            <a:ext cx="8944211" cy="505164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Funkcionalizam</a:t>
            </a:r>
            <a:r>
              <a:rPr lang="en-US" sz="2400" dirty="0" smtClean="0"/>
              <a:t> </a:t>
            </a:r>
            <a:r>
              <a:rPr lang="en-US" sz="2400" dirty="0" err="1" smtClean="0"/>
              <a:t>smatra</a:t>
            </a:r>
            <a:r>
              <a:rPr lang="en-US" sz="2400" dirty="0" smtClean="0"/>
              <a:t> da </a:t>
            </a:r>
            <a:r>
              <a:rPr lang="en-US" sz="2400" dirty="0" err="1" smtClean="0"/>
              <a:t>svi</a:t>
            </a:r>
            <a:r>
              <a:rPr lang="en-US" sz="2400" dirty="0" smtClean="0"/>
              <a:t> </a:t>
            </a:r>
            <a:r>
              <a:rPr lang="en-US" sz="2400" dirty="0" err="1" smtClean="0"/>
              <a:t>dijelovi</a:t>
            </a:r>
            <a:r>
              <a:rPr lang="en-US" sz="2400" dirty="0" smtClean="0"/>
              <a:t> </a:t>
            </a:r>
            <a:r>
              <a:rPr lang="en-US" sz="2400" dirty="0" err="1" smtClean="0"/>
              <a:t>pridonose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društvu</a:t>
            </a:r>
            <a:r>
              <a:rPr lang="en-US" sz="2400" dirty="0" smtClean="0"/>
              <a:t> u </a:t>
            </a:r>
            <a:r>
              <a:rPr lang="en-US" sz="2400" dirty="0" err="1" smtClean="0"/>
              <a:t>cjelini</a:t>
            </a:r>
            <a:r>
              <a:rPr lang="en-US" sz="2400" dirty="0" smtClean="0"/>
              <a:t> </a:t>
            </a:r>
          </a:p>
          <a:p>
            <a:r>
              <a:rPr lang="en-US" sz="2400" dirty="0" err="1" smtClean="0"/>
              <a:t>Zahvaljujući</a:t>
            </a:r>
            <a:r>
              <a:rPr lang="en-US" sz="2400" dirty="0" smtClean="0"/>
              <a:t> </a:t>
            </a:r>
            <a:r>
              <a:rPr lang="en-US" sz="2400" dirty="0" err="1" smtClean="0"/>
              <a:t>funkcioniranju</a:t>
            </a:r>
            <a:r>
              <a:rPr lang="en-US" sz="2400" dirty="0" smtClean="0"/>
              <a:t> </a:t>
            </a:r>
            <a:r>
              <a:rPr lang="en-US" sz="2400" dirty="0" err="1" smtClean="0"/>
              <a:t>dijelova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društva</a:t>
            </a:r>
            <a:r>
              <a:rPr lang="en-US" sz="2400" dirty="0" smtClean="0"/>
              <a:t>, </a:t>
            </a:r>
            <a:r>
              <a:rPr lang="en-US" sz="2400" dirty="0" err="1" smtClean="0"/>
              <a:t>postiže</a:t>
            </a:r>
            <a:r>
              <a:rPr lang="en-US" sz="2400" dirty="0" smtClean="0"/>
              <a:t> se </a:t>
            </a:r>
            <a:r>
              <a:rPr lang="en-US" sz="2400" dirty="0" err="1" smtClean="0"/>
              <a:t>stabilnost</a:t>
            </a:r>
            <a:r>
              <a:rPr lang="en-US" sz="2400" dirty="0" smtClean="0"/>
              <a:t> </a:t>
            </a:r>
            <a:r>
              <a:rPr lang="en-US" sz="2400" dirty="0" err="1" smtClean="0"/>
              <a:t>cjeline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stabilnost</a:t>
            </a:r>
            <a:r>
              <a:rPr lang="en-US" sz="2400" dirty="0" smtClean="0"/>
              <a:t> </a:t>
            </a:r>
            <a:r>
              <a:rPr lang="en-US" sz="2400" dirty="0" err="1" smtClean="0"/>
              <a:t>cijelog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društva</a:t>
            </a:r>
            <a:endParaRPr lang="en-US" sz="2400" dirty="0" smtClean="0"/>
          </a:p>
          <a:p>
            <a:r>
              <a:rPr lang="en-US" sz="2400" dirty="0" err="1" smtClean="0"/>
              <a:t>Primjer</a:t>
            </a:r>
            <a:r>
              <a:rPr lang="en-US" sz="2400" dirty="0" smtClean="0"/>
              <a:t>: </a:t>
            </a:r>
            <a:r>
              <a:rPr lang="en-US" sz="2400" dirty="0" err="1" smtClean="0"/>
              <a:t>obitelj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/>
              <a:t>Funkcionalisti</a:t>
            </a:r>
            <a:r>
              <a:rPr lang="en-US" sz="2400" dirty="0" smtClean="0"/>
              <a:t> </a:t>
            </a:r>
            <a:r>
              <a:rPr lang="en-US" sz="2400" dirty="0" err="1" smtClean="0"/>
              <a:t>smatraju</a:t>
            </a:r>
            <a:r>
              <a:rPr lang="en-US" sz="2400" dirty="0" smtClean="0"/>
              <a:t> da je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 </a:t>
            </a:r>
            <a:r>
              <a:rPr lang="en-US" sz="2400" dirty="0" err="1" smtClean="0"/>
              <a:t>vrlo</a:t>
            </a:r>
            <a:r>
              <a:rPr lang="en-US" sz="2400" dirty="0" smtClean="0"/>
              <a:t> </a:t>
            </a:r>
            <a:r>
              <a:rPr lang="en-US" sz="2400" dirty="0" err="1" smtClean="0"/>
              <a:t>bitna</a:t>
            </a:r>
            <a:r>
              <a:rPr lang="en-US" sz="2400" dirty="0" smtClean="0"/>
              <a:t> </a:t>
            </a:r>
            <a:r>
              <a:rPr lang="en-US" sz="2400" dirty="0" err="1" smtClean="0"/>
              <a:t>nositeljica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društvenih</a:t>
            </a:r>
            <a:r>
              <a:rPr lang="en-US" sz="2400" dirty="0" smtClean="0"/>
              <a:t> </a:t>
            </a:r>
            <a:r>
              <a:rPr lang="en-US" sz="2400" dirty="0" err="1" smtClean="0"/>
              <a:t>funkcija</a:t>
            </a:r>
            <a:r>
              <a:rPr lang="en-US" sz="2400" dirty="0" smtClean="0"/>
              <a:t> (</a:t>
            </a:r>
            <a:r>
              <a:rPr lang="en-US" sz="2400" dirty="0" err="1" smtClean="0"/>
              <a:t>reproduktivne</a:t>
            </a:r>
            <a:r>
              <a:rPr lang="en-US" sz="2400" dirty="0" smtClean="0"/>
              <a:t>, </a:t>
            </a:r>
            <a:r>
              <a:rPr lang="en-US" sz="2400" dirty="0" err="1" smtClean="0"/>
              <a:t>socijalizacijske</a:t>
            </a:r>
            <a:r>
              <a:rPr lang="en-US" sz="2400" dirty="0" smtClean="0"/>
              <a:t>, </a:t>
            </a:r>
            <a:r>
              <a:rPr lang="en-US" sz="2400" dirty="0" err="1" smtClean="0"/>
              <a:t>ekonomske</a:t>
            </a:r>
            <a:r>
              <a:rPr lang="en-US" sz="2400" dirty="0" smtClean="0"/>
              <a:t>, </a:t>
            </a:r>
            <a:r>
              <a:rPr lang="en-US" sz="2400" dirty="0" err="1" smtClean="0"/>
              <a:t>emocionalne</a:t>
            </a:r>
            <a:r>
              <a:rPr lang="en-US" sz="2400" dirty="0" smtClean="0"/>
              <a:t> </a:t>
            </a:r>
            <a:r>
              <a:rPr lang="en-US" sz="2400" dirty="0" err="1" smtClean="0"/>
              <a:t>funkcije</a:t>
            </a:r>
            <a:r>
              <a:rPr lang="en-US" sz="2400" dirty="0" smtClean="0"/>
              <a:t>…)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Funkcionalizam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smatra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da je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društvo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složen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sustav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čiji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dijelovi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nastoje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stvoriti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stabilnost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i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solidarnost</a:t>
            </a:r>
            <a:endParaRPr lang="en-US" sz="2400" b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788" y="160338"/>
            <a:ext cx="9937104" cy="1692910"/>
          </a:xfrm>
        </p:spPr>
        <p:txBody>
          <a:bodyPr/>
          <a:lstStyle/>
          <a:p>
            <a:r>
              <a:rPr lang="en-US" sz="3200" dirty="0" err="1" smtClean="0"/>
              <a:t>Teoretičari</a:t>
            </a:r>
            <a:r>
              <a:rPr lang="en-US" sz="3200" dirty="0" smtClean="0"/>
              <a:t> </a:t>
            </a:r>
            <a:r>
              <a:rPr lang="en-US" sz="3200" dirty="0" err="1" smtClean="0"/>
              <a:t>koji</a:t>
            </a:r>
            <a:r>
              <a:rPr lang="en-US" sz="3200" dirty="0" smtClean="0"/>
              <a:t> </a:t>
            </a:r>
            <a:r>
              <a:rPr lang="en-US" sz="3200" dirty="0" err="1" smtClean="0"/>
              <a:t>su</a:t>
            </a:r>
            <a:r>
              <a:rPr lang="en-US" sz="3200" dirty="0" smtClean="0"/>
              <a:t> </a:t>
            </a:r>
            <a:r>
              <a:rPr lang="en-US" sz="3200" dirty="0" err="1" smtClean="0"/>
              <a:t>utjecali</a:t>
            </a:r>
            <a:r>
              <a:rPr lang="en-US" sz="3200" dirty="0" smtClean="0"/>
              <a:t> </a:t>
            </a:r>
            <a:r>
              <a:rPr lang="en-US" sz="3200" dirty="0" err="1" smtClean="0"/>
              <a:t>na</a:t>
            </a:r>
            <a:r>
              <a:rPr lang="en-US" sz="3200" dirty="0" smtClean="0"/>
              <a:t> </a:t>
            </a:r>
            <a:r>
              <a:rPr lang="en-US" sz="3200" dirty="0" err="1" smtClean="0"/>
              <a:t>funkcionalističku</a:t>
            </a:r>
            <a:r>
              <a:rPr lang="en-US" sz="3200" dirty="0" smtClean="0"/>
              <a:t> </a:t>
            </a:r>
            <a:r>
              <a:rPr lang="en-US" sz="3200" dirty="0" err="1" smtClean="0"/>
              <a:t>perspektivu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2050" name="Picture 2" descr="Auguste Comte – Wikipedij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36" y="1556792"/>
            <a:ext cx="1954128" cy="2509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erbert Spencer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1146253"/>
            <a:ext cx="1548928" cy="2386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Émile Durkheim: The Father of Sociology and His Contributions to  Anthrop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2056" name="Picture 8" descr="Émile Durkheim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099" y="934202"/>
            <a:ext cx="2017737" cy="274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6760" y="406621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Auguste</a:t>
            </a:r>
            <a:r>
              <a:rPr lang="en-US" b="1" dirty="0" smtClean="0"/>
              <a:t> Comte</a:t>
            </a:r>
            <a:endParaRPr lang="hr-H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312591" y="3582136"/>
            <a:ext cx="2664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Herbert Spencer</a:t>
            </a:r>
          </a:p>
          <a:p>
            <a:pPr algn="ctr"/>
            <a:endParaRPr lang="hr-HR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317791" y="377533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Emile Durkheim</a:t>
            </a:r>
            <a:endParaRPr lang="hr-HR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312591" y="3868759"/>
            <a:ext cx="3091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društvo</a:t>
            </a:r>
            <a:r>
              <a:rPr lang="en-US" dirty="0" smtClean="0"/>
              <a:t> se </a:t>
            </a:r>
            <a:r>
              <a:rPr lang="en-US" dirty="0" err="1" smtClean="0"/>
              <a:t>razvija</a:t>
            </a:r>
            <a:r>
              <a:rPr lang="en-US" dirty="0" smtClean="0"/>
              <a:t> </a:t>
            </a:r>
            <a:r>
              <a:rPr lang="en-US" dirty="0" err="1" smtClean="0"/>
              <a:t>kroz</a:t>
            </a:r>
            <a:r>
              <a:rPr lang="en-US" dirty="0" smtClean="0"/>
              <a:t> </a:t>
            </a:r>
            <a:r>
              <a:rPr lang="en-US" dirty="0" err="1" smtClean="0"/>
              <a:t>evolucionističke</a:t>
            </a:r>
            <a:r>
              <a:rPr lang="en-US" dirty="0" smtClean="0"/>
              <a:t> </a:t>
            </a:r>
            <a:r>
              <a:rPr lang="en-US" dirty="0" err="1" smtClean="0"/>
              <a:t>principe</a:t>
            </a:r>
            <a:r>
              <a:rPr lang="en-US" dirty="0" smtClean="0"/>
              <a:t>)</a:t>
            </a:r>
            <a:endParaRPr lang="hr-HR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575130" y="4515090"/>
            <a:ext cx="711867" cy="615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764080" y="4261057"/>
            <a:ext cx="806072" cy="869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2323" y="5399477"/>
            <a:ext cx="518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DRUŠTVO                     LJUDSKI ORGANIZAM </a:t>
            </a:r>
            <a:endParaRPr lang="hr-HR" dirty="0"/>
          </a:p>
        </p:txBody>
      </p:sp>
      <p:sp>
        <p:nvSpPr>
          <p:cNvPr id="16" name="Left-Right Arrow 15"/>
          <p:cNvSpPr/>
          <p:nvPr/>
        </p:nvSpPr>
        <p:spPr>
          <a:xfrm>
            <a:off x="6598468" y="5445224"/>
            <a:ext cx="936104" cy="25263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7" name="TextBox 16"/>
          <p:cNvSpPr txBox="1"/>
          <p:nvPr/>
        </p:nvSpPr>
        <p:spPr>
          <a:xfrm>
            <a:off x="626760" y="5877272"/>
            <a:ext cx="10940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Organi</a:t>
            </a:r>
            <a:r>
              <a:rPr lang="en-US" sz="2400" dirty="0" smtClean="0"/>
              <a:t> – </a:t>
            </a:r>
            <a:r>
              <a:rPr lang="en-US" sz="2400" dirty="0" err="1" smtClean="0"/>
              <a:t>institucije</a:t>
            </a:r>
            <a:r>
              <a:rPr lang="en-US" sz="2400" dirty="0" smtClean="0"/>
              <a:t>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što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obitelj</a:t>
            </a:r>
            <a:r>
              <a:rPr lang="en-US" sz="2400" dirty="0" smtClean="0"/>
              <a:t>, </a:t>
            </a:r>
            <a:r>
              <a:rPr lang="en-US" sz="2400" dirty="0" err="1" smtClean="0"/>
              <a:t>religija</a:t>
            </a:r>
            <a:r>
              <a:rPr lang="en-US" sz="2400" dirty="0" smtClean="0"/>
              <a:t>, </a:t>
            </a:r>
            <a:r>
              <a:rPr lang="en-US" sz="2400" dirty="0" err="1" smtClean="0"/>
              <a:t>ekonomija</a:t>
            </a:r>
            <a:r>
              <a:rPr lang="en-US" sz="2400" dirty="0" smtClean="0"/>
              <a:t>, </a:t>
            </a:r>
            <a:r>
              <a:rPr lang="en-US" sz="2400" dirty="0" err="1" smtClean="0"/>
              <a:t>obrazovanje</a:t>
            </a:r>
            <a:r>
              <a:rPr lang="en-US" sz="2400" dirty="0" smtClean="0"/>
              <a:t> </a:t>
            </a:r>
            <a:r>
              <a:rPr lang="en-US" sz="2400" dirty="0" err="1" smtClean="0"/>
              <a:t>itd</a:t>
            </a:r>
            <a:r>
              <a:rPr lang="en-US" sz="2400" dirty="0" smtClean="0"/>
              <a:t>.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7361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5" grpId="0"/>
      <p:bldP spid="16" grpId="0" animBg="1"/>
      <p:bldP spid="1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72" y="908721"/>
            <a:ext cx="9569448" cy="533968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Društvo</a:t>
            </a:r>
            <a:r>
              <a:rPr lang="en-US" sz="2400" dirty="0" smtClean="0"/>
              <a:t> da bi </a:t>
            </a:r>
            <a:r>
              <a:rPr lang="en-US" sz="2400" dirty="0" err="1" smtClean="0"/>
              <a:t>opstalo</a:t>
            </a:r>
            <a:r>
              <a:rPr lang="en-US" sz="2400" dirty="0" smtClean="0"/>
              <a:t> mora </a:t>
            </a:r>
            <a:r>
              <a:rPr lang="en-US" sz="2400" dirty="0" err="1" smtClean="0"/>
              <a:t>stvoriti</a:t>
            </a:r>
            <a:r>
              <a:rPr lang="en-US" sz="2400" dirty="0" smtClean="0"/>
              <a:t> </a:t>
            </a:r>
            <a:r>
              <a:rPr lang="en-US" sz="2400" dirty="0" err="1" smtClean="0"/>
              <a:t>mogućnost</a:t>
            </a:r>
            <a:r>
              <a:rPr lang="en-US" sz="2400" dirty="0" smtClean="0"/>
              <a:t> da </a:t>
            </a:r>
            <a:r>
              <a:rPr lang="en-US" sz="2400" dirty="0" err="1" smtClean="0"/>
              <a:t>svi</a:t>
            </a:r>
            <a:r>
              <a:rPr lang="en-US" sz="2400" dirty="0" smtClean="0"/>
              <a:t> </a:t>
            </a:r>
            <a:r>
              <a:rPr lang="en-US" sz="2400" dirty="0" err="1" smtClean="0"/>
              <a:t>ti</a:t>
            </a:r>
            <a:r>
              <a:rPr lang="en-US" sz="2400" dirty="0" smtClean="0"/>
              <a:t> </a:t>
            </a:r>
            <a:r>
              <a:rPr lang="en-US" sz="2400" dirty="0" err="1" smtClean="0"/>
              <a:t>dijelovi</a:t>
            </a:r>
            <a:r>
              <a:rPr lang="en-US" sz="2400" dirty="0" smtClean="0"/>
              <a:t> </a:t>
            </a:r>
            <a:r>
              <a:rPr lang="en-US" sz="2400" dirty="0" err="1" smtClean="0"/>
              <a:t>unutar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društva</a:t>
            </a:r>
            <a:r>
              <a:rPr lang="en-US" sz="2400" dirty="0" smtClean="0"/>
              <a:t> </a:t>
            </a:r>
            <a:r>
              <a:rPr lang="en-US" sz="2400" dirty="0" err="1" smtClean="0"/>
              <a:t>funkcioniraju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TALCOTT PARSONS – </a:t>
            </a:r>
            <a:r>
              <a:rPr lang="en-US" sz="2400" dirty="0" err="1" smtClean="0"/>
              <a:t>američki</a:t>
            </a:r>
            <a:r>
              <a:rPr lang="en-US" sz="2400" dirty="0" smtClean="0"/>
              <a:t> </a:t>
            </a:r>
            <a:r>
              <a:rPr lang="en-US" sz="2400" dirty="0" err="1" smtClean="0"/>
              <a:t>sociolog</a:t>
            </a:r>
            <a:r>
              <a:rPr lang="en-US" sz="2400" dirty="0" smtClean="0"/>
              <a:t> </a:t>
            </a:r>
            <a:r>
              <a:rPr lang="en-US" sz="2400" dirty="0" err="1" smtClean="0"/>
              <a:t>funkcionalističke</a:t>
            </a:r>
            <a:r>
              <a:rPr lang="en-US" sz="2400" dirty="0" smtClean="0"/>
              <a:t> perspective </a:t>
            </a:r>
            <a:r>
              <a:rPr lang="en-US" sz="2400" dirty="0" err="1" smtClean="0"/>
              <a:t>smatra</a:t>
            </a:r>
            <a:r>
              <a:rPr lang="en-US" sz="2400" dirty="0" smtClean="0"/>
              <a:t> da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treba</a:t>
            </a:r>
            <a:r>
              <a:rPr lang="en-US" sz="2400" dirty="0" smtClean="0"/>
              <a:t> </a:t>
            </a:r>
            <a:r>
              <a:rPr lang="en-US" sz="2400" dirty="0" err="1" smtClean="0"/>
              <a:t>promatrati</a:t>
            </a:r>
            <a:r>
              <a:rPr lang="en-US" sz="2400" dirty="0" smtClean="0"/>
              <a:t>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sustav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je </a:t>
            </a:r>
            <a:r>
              <a:rPr lang="en-US" sz="2400" dirty="0" err="1" smtClean="0"/>
              <a:t>sastavljen</a:t>
            </a:r>
            <a:r>
              <a:rPr lang="en-US" sz="2400" dirty="0" smtClean="0"/>
              <a:t> od </a:t>
            </a:r>
            <a:r>
              <a:rPr lang="en-US" sz="2400" dirty="0" err="1" smtClean="0"/>
              <a:t>međusobno</a:t>
            </a:r>
            <a:r>
              <a:rPr lang="en-US" sz="2400" dirty="0" smtClean="0"/>
              <a:t> </a:t>
            </a:r>
            <a:r>
              <a:rPr lang="en-US" sz="2400" dirty="0" err="1" smtClean="0"/>
              <a:t>povezanih</a:t>
            </a:r>
            <a:r>
              <a:rPr lang="en-US" sz="2400" dirty="0" smtClean="0"/>
              <a:t> </a:t>
            </a:r>
            <a:r>
              <a:rPr lang="en-US" sz="2400" dirty="0" err="1" smtClean="0"/>
              <a:t>dijelova</a:t>
            </a:r>
            <a:endParaRPr lang="en-US" sz="2400" dirty="0" smtClean="0"/>
          </a:p>
          <a:p>
            <a:r>
              <a:rPr lang="en-US" sz="2400" dirty="0" smtClean="0"/>
              <a:t>Da bi </a:t>
            </a:r>
            <a:r>
              <a:rPr lang="en-US" sz="2400" dirty="0" err="1" smtClean="0"/>
              <a:t>ti</a:t>
            </a:r>
            <a:r>
              <a:rPr lang="en-US" sz="2400" dirty="0" smtClean="0"/>
              <a:t> </a:t>
            </a:r>
            <a:r>
              <a:rPr lang="en-US" sz="2400" dirty="0" err="1" smtClean="0"/>
              <a:t>dijelovi</a:t>
            </a:r>
            <a:r>
              <a:rPr lang="en-US" sz="2400" dirty="0" smtClean="0"/>
              <a:t> </a:t>
            </a:r>
            <a:r>
              <a:rPr lang="en-US" sz="2400" dirty="0" err="1" smtClean="0"/>
              <a:t>funkcinirali</a:t>
            </a:r>
            <a:r>
              <a:rPr lang="en-US" sz="2400" dirty="0" smtClean="0"/>
              <a:t>, </a:t>
            </a:r>
            <a:r>
              <a:rPr lang="en-US" sz="2400" dirty="0" err="1" smtClean="0"/>
              <a:t>potrebno</a:t>
            </a:r>
            <a:r>
              <a:rPr lang="en-US" sz="2400" dirty="0" smtClean="0"/>
              <a:t> je </a:t>
            </a:r>
            <a:r>
              <a:rPr lang="en-US" sz="2400" dirty="0" err="1" smtClean="0"/>
              <a:t>stvoriti</a:t>
            </a:r>
            <a:r>
              <a:rPr lang="en-US" sz="2400" dirty="0" smtClean="0"/>
              <a:t> “most”, </a:t>
            </a:r>
            <a:r>
              <a:rPr lang="en-US" sz="2400" dirty="0" err="1" smtClean="0"/>
              <a:t>razinu</a:t>
            </a:r>
            <a:r>
              <a:rPr lang="en-US" sz="2400" dirty="0" smtClean="0"/>
              <a:t> </a:t>
            </a:r>
            <a:r>
              <a:rPr lang="en-US" sz="2400" dirty="0" err="1" smtClean="0"/>
              <a:t>suglasja</a:t>
            </a:r>
            <a:r>
              <a:rPr lang="en-US" sz="2400" dirty="0" smtClean="0"/>
              <a:t>, </a:t>
            </a:r>
            <a:r>
              <a:rPr lang="en-US" sz="2400" dirty="0" err="1" smtClean="0"/>
              <a:t>odnosno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KONSENZUS </a:t>
            </a:r>
            <a:r>
              <a:rPr lang="en-US" sz="2400" dirty="0" smtClean="0"/>
              <a:t>(</a:t>
            </a:r>
            <a:r>
              <a:rPr lang="en-US" sz="2400" dirty="0" err="1" smtClean="0"/>
              <a:t>osnovna</a:t>
            </a:r>
            <a:r>
              <a:rPr lang="en-US" sz="2400" dirty="0" smtClean="0"/>
              <a:t> </a:t>
            </a:r>
            <a:r>
              <a:rPr lang="en-US" sz="2400" dirty="0" err="1" smtClean="0"/>
              <a:t>ideja</a:t>
            </a:r>
            <a:r>
              <a:rPr lang="en-US" sz="2400" dirty="0" smtClean="0"/>
              <a:t> </a:t>
            </a:r>
            <a:r>
              <a:rPr lang="en-US" sz="2400" dirty="0" err="1" smtClean="0"/>
              <a:t>koja</a:t>
            </a:r>
            <a:r>
              <a:rPr lang="en-US" sz="2400" dirty="0" smtClean="0"/>
              <a:t> </a:t>
            </a:r>
            <a:r>
              <a:rPr lang="en-US" sz="2400" dirty="0" err="1" smtClean="0"/>
              <a:t>omogućava</a:t>
            </a:r>
            <a:r>
              <a:rPr lang="en-US" sz="2400" dirty="0" smtClean="0"/>
              <a:t> </a:t>
            </a:r>
            <a:r>
              <a:rPr lang="en-US" sz="2400" dirty="0" err="1" smtClean="0"/>
              <a:t>opstanak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društva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S </a:t>
            </a:r>
            <a:r>
              <a:rPr lang="en-US" sz="2400" dirty="0" err="1" smtClean="0"/>
              <a:t>druge</a:t>
            </a:r>
            <a:r>
              <a:rPr lang="en-US" sz="2400" dirty="0" smtClean="0"/>
              <a:t> </a:t>
            </a:r>
            <a:r>
              <a:rPr lang="en-US" sz="2400" dirty="0" err="1" smtClean="0"/>
              <a:t>strane</a:t>
            </a:r>
            <a:r>
              <a:rPr lang="en-US" sz="2400" dirty="0" smtClean="0"/>
              <a:t>, ROBERT K. MERTON </a:t>
            </a:r>
            <a:r>
              <a:rPr lang="en-US" sz="2400" dirty="0" err="1" smtClean="0"/>
              <a:t>smatra</a:t>
            </a:r>
            <a:r>
              <a:rPr lang="en-US" sz="2400" dirty="0" smtClean="0"/>
              <a:t> da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treba</a:t>
            </a:r>
            <a:r>
              <a:rPr lang="en-US" sz="2400" dirty="0" smtClean="0"/>
              <a:t> </a:t>
            </a:r>
            <a:r>
              <a:rPr lang="en-US" sz="2400" dirty="0" err="1" smtClean="0"/>
              <a:t>promatrati</a:t>
            </a:r>
            <a:r>
              <a:rPr lang="en-US" sz="2400" dirty="0" smtClean="0"/>
              <a:t> </a:t>
            </a:r>
            <a:r>
              <a:rPr lang="en-US" sz="2400" dirty="0" err="1" smtClean="0"/>
              <a:t>kroz</a:t>
            </a:r>
            <a:r>
              <a:rPr lang="en-US" sz="2400" dirty="0" smtClean="0"/>
              <a:t> </a:t>
            </a:r>
            <a:r>
              <a:rPr lang="en-US" sz="2400" dirty="0" err="1" smtClean="0"/>
              <a:t>dvije</a:t>
            </a:r>
            <a:r>
              <a:rPr lang="en-US" sz="2400" dirty="0" smtClean="0"/>
              <a:t> </a:t>
            </a:r>
            <a:r>
              <a:rPr lang="en-US" sz="2400" dirty="0" err="1" smtClean="0"/>
              <a:t>funkcije</a:t>
            </a:r>
            <a:r>
              <a:rPr lang="en-US" sz="2400" dirty="0" smtClean="0"/>
              <a:t>: </a:t>
            </a:r>
            <a:r>
              <a:rPr lang="en-US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MANIFESTNE I LATENTNE FUNKCIJE</a:t>
            </a:r>
            <a:endParaRPr lang="hr-HR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074" name="Picture 2" descr="Talcott Parsons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693" y="1198996"/>
            <a:ext cx="1591791" cy="237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obert K. Merton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3285" y="4221088"/>
            <a:ext cx="1759657" cy="246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81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 smtClean="0"/>
              <a:t>Manifestne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funkcije</a:t>
            </a:r>
            <a:r>
              <a:rPr lang="en-US" sz="2400" b="1" dirty="0" smtClean="0"/>
              <a:t> </a:t>
            </a:r>
            <a:r>
              <a:rPr lang="en-US" sz="2400" dirty="0" smtClean="0"/>
              <a:t>– </a:t>
            </a:r>
            <a:r>
              <a:rPr lang="en-US" sz="2400" dirty="0" err="1" smtClean="0"/>
              <a:t>očite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namjeravane</a:t>
            </a:r>
            <a:r>
              <a:rPr lang="en-US" sz="2400" dirty="0" smtClean="0"/>
              <a:t> </a:t>
            </a:r>
            <a:r>
              <a:rPr lang="en-US" sz="2400" dirty="0" err="1" smtClean="0"/>
              <a:t>posljedice</a:t>
            </a:r>
            <a:r>
              <a:rPr lang="en-US" sz="2400" dirty="0" smtClean="0"/>
              <a:t> </a:t>
            </a:r>
            <a:r>
              <a:rPr lang="en-US" sz="2400" dirty="0" err="1" smtClean="0"/>
              <a:t>djelovanja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Latentne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funkcije</a:t>
            </a:r>
            <a:r>
              <a:rPr lang="en-US" sz="2400" b="1" dirty="0" smtClean="0"/>
              <a:t> </a:t>
            </a:r>
            <a:r>
              <a:rPr lang="en-US" sz="2400" dirty="0" smtClean="0"/>
              <a:t>– </a:t>
            </a:r>
            <a:r>
              <a:rPr lang="en-US" sz="2400" dirty="0" err="1" smtClean="0"/>
              <a:t>nenamjerne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nepredviđene</a:t>
            </a:r>
            <a:r>
              <a:rPr lang="en-US" sz="2400" dirty="0" smtClean="0"/>
              <a:t> </a:t>
            </a:r>
            <a:r>
              <a:rPr lang="en-US" sz="2400" dirty="0" err="1" smtClean="0"/>
              <a:t>posljedice</a:t>
            </a:r>
            <a:r>
              <a:rPr lang="en-US" sz="2400" dirty="0" smtClean="0"/>
              <a:t> </a:t>
            </a:r>
            <a:r>
              <a:rPr lang="en-US" sz="2400" dirty="0" err="1" smtClean="0"/>
              <a:t>djelovanja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Pr. </a:t>
            </a:r>
            <a:r>
              <a:rPr lang="en-US" sz="2400" dirty="0" err="1" smtClean="0"/>
              <a:t>Mjere</a:t>
            </a:r>
            <a:r>
              <a:rPr lang="en-US" sz="2400" dirty="0" smtClean="0"/>
              <a:t> </a:t>
            </a:r>
            <a:r>
              <a:rPr lang="en-US" sz="2400" dirty="0" err="1" smtClean="0"/>
              <a:t>protiv</a:t>
            </a:r>
            <a:r>
              <a:rPr lang="en-US" sz="2400" dirty="0" smtClean="0"/>
              <a:t> </a:t>
            </a:r>
            <a:r>
              <a:rPr lang="en-US" sz="2400" dirty="0" err="1" smtClean="0"/>
              <a:t>Covida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mentalno</a:t>
            </a:r>
            <a:r>
              <a:rPr lang="en-US" sz="2400" dirty="0" smtClean="0"/>
              <a:t> </a:t>
            </a:r>
            <a:r>
              <a:rPr lang="en-US" sz="2400" dirty="0" err="1" smtClean="0"/>
              <a:t>zdravlje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67342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548681"/>
            <a:ext cx="8944211" cy="569972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Što</a:t>
            </a:r>
            <a:r>
              <a:rPr lang="en-US" sz="2400" dirty="0" smtClean="0"/>
              <a:t> </a:t>
            </a:r>
            <a:r>
              <a:rPr lang="en-US" sz="2400" dirty="0" err="1" smtClean="0"/>
              <a:t>ako</a:t>
            </a:r>
            <a:r>
              <a:rPr lang="en-US" sz="2400" dirty="0" smtClean="0"/>
              <a:t> </a:t>
            </a:r>
            <a:r>
              <a:rPr lang="en-US" sz="2400" dirty="0" err="1" smtClean="0"/>
              <a:t>nam</a:t>
            </a:r>
            <a:r>
              <a:rPr lang="en-US" sz="2400" dirty="0" smtClean="0"/>
              <a:t> se </a:t>
            </a:r>
            <a:r>
              <a:rPr lang="en-US" sz="2400" dirty="0" err="1" smtClean="0"/>
              <a:t>dogode</a:t>
            </a:r>
            <a:r>
              <a:rPr lang="en-US" sz="2400" dirty="0" smtClean="0"/>
              <a:t> </a:t>
            </a:r>
            <a:r>
              <a:rPr lang="en-US" sz="2400" dirty="0" err="1" smtClean="0"/>
              <a:t>disfunkcionalne</a:t>
            </a:r>
            <a:r>
              <a:rPr lang="en-US" sz="2400" dirty="0" smtClean="0"/>
              <a:t> </a:t>
            </a:r>
            <a:r>
              <a:rPr lang="en-US" sz="2400" dirty="0" err="1" smtClean="0"/>
              <a:t>posljedice</a:t>
            </a:r>
            <a:r>
              <a:rPr lang="en-US" sz="2400" dirty="0" smtClean="0"/>
              <a:t>?</a:t>
            </a:r>
          </a:p>
          <a:p>
            <a:r>
              <a:rPr lang="en-US" sz="2400" dirty="0" err="1" smtClean="0"/>
              <a:t>Mogu</a:t>
            </a:r>
            <a:r>
              <a:rPr lang="en-US" sz="2400" dirty="0" smtClean="0"/>
              <a:t> li </a:t>
            </a:r>
            <a:r>
              <a:rPr lang="en-US" sz="2400" dirty="0" err="1" smtClean="0"/>
              <a:t>disfunkcionalne</a:t>
            </a:r>
            <a:r>
              <a:rPr lang="en-US" sz="2400" dirty="0" smtClean="0"/>
              <a:t> </a:t>
            </a:r>
            <a:r>
              <a:rPr lang="en-US" sz="2400" dirty="0" err="1" smtClean="0"/>
              <a:t>posljedice</a:t>
            </a:r>
            <a:r>
              <a:rPr lang="en-US" sz="2400" dirty="0" smtClean="0"/>
              <a:t> </a:t>
            </a:r>
            <a:r>
              <a:rPr lang="en-US" sz="2400" dirty="0" err="1" smtClean="0"/>
              <a:t>pomoći</a:t>
            </a:r>
            <a:r>
              <a:rPr lang="en-US" sz="2400" dirty="0" smtClean="0"/>
              <a:t> u </a:t>
            </a:r>
            <a:r>
              <a:rPr lang="en-US" sz="2400" dirty="0" err="1" smtClean="0"/>
              <a:t>opstanku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razvoju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društva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r>
              <a:rPr lang="en-US" sz="2400" dirty="0" err="1" smtClean="0"/>
              <a:t>Primjer</a:t>
            </a:r>
            <a:r>
              <a:rPr lang="en-US" sz="2400" dirty="0" smtClean="0"/>
              <a:t> </a:t>
            </a:r>
            <a:r>
              <a:rPr lang="en-US" sz="2400" dirty="0" err="1" smtClean="0"/>
              <a:t>siromaštva</a:t>
            </a:r>
            <a:r>
              <a:rPr lang="en-US" sz="2400" dirty="0" smtClean="0"/>
              <a:t>…</a:t>
            </a:r>
          </a:p>
          <a:p>
            <a:r>
              <a:rPr lang="en-US" sz="2400" dirty="0" err="1" smtClean="0"/>
              <a:t>Siromaštvo</a:t>
            </a:r>
            <a:r>
              <a:rPr lang="en-US" sz="2400" dirty="0" smtClean="0"/>
              <a:t> je </a:t>
            </a:r>
            <a:r>
              <a:rPr lang="en-US" sz="2400" dirty="0" err="1" smtClean="0"/>
              <a:t>veliki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društveni</a:t>
            </a:r>
            <a:r>
              <a:rPr lang="en-US" sz="2400" dirty="0" smtClean="0"/>
              <a:t> problem, no </a:t>
            </a:r>
            <a:r>
              <a:rPr lang="en-US" sz="2400" dirty="0" err="1" smtClean="0"/>
              <a:t>zbog</a:t>
            </a:r>
            <a:r>
              <a:rPr lang="en-US" sz="2400" dirty="0" smtClean="0"/>
              <a:t> </a:t>
            </a:r>
            <a:r>
              <a:rPr lang="en-US" sz="2400" dirty="0" err="1" smtClean="0"/>
              <a:t>postojanja</a:t>
            </a:r>
            <a:r>
              <a:rPr lang="en-US" sz="2400" dirty="0" smtClean="0"/>
              <a:t> </a:t>
            </a:r>
            <a:r>
              <a:rPr lang="en-US" sz="2400" dirty="0" err="1" smtClean="0"/>
              <a:t>siromaštva</a:t>
            </a:r>
            <a:r>
              <a:rPr lang="en-US" sz="2400" dirty="0" smtClean="0"/>
              <a:t> </a:t>
            </a:r>
            <a:r>
              <a:rPr lang="en-US" sz="2400" dirty="0" err="1" smtClean="0"/>
              <a:t>moguće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neke</a:t>
            </a:r>
            <a:r>
              <a:rPr lang="en-US" sz="2400" dirty="0" smtClean="0"/>
              <a:t> </a:t>
            </a:r>
            <a:r>
              <a:rPr lang="en-US" sz="2400" dirty="0" err="1" smtClean="0"/>
              <a:t>ekonomske</a:t>
            </a:r>
            <a:r>
              <a:rPr lang="en-US" sz="2400" dirty="0" smtClean="0"/>
              <a:t> </a:t>
            </a:r>
            <a:r>
              <a:rPr lang="en-US" sz="2400" dirty="0" err="1" smtClean="0"/>
              <a:t>funkcije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mnogi</a:t>
            </a:r>
            <a:r>
              <a:rPr lang="en-US" sz="2400" dirty="0" smtClean="0"/>
              <a:t> </a:t>
            </a:r>
            <a:r>
              <a:rPr lang="en-US" sz="2400" dirty="0" err="1" smtClean="0"/>
              <a:t>poslovi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bi </a:t>
            </a:r>
            <a:r>
              <a:rPr lang="en-US" sz="2400" dirty="0" err="1" smtClean="0"/>
              <a:t>inače</a:t>
            </a:r>
            <a:r>
              <a:rPr lang="en-US" sz="2400" dirty="0" smtClean="0"/>
              <a:t> </a:t>
            </a:r>
            <a:r>
              <a:rPr lang="en-US" sz="2400" dirty="0" err="1" smtClean="0"/>
              <a:t>bilo</a:t>
            </a:r>
            <a:r>
              <a:rPr lang="en-US" sz="2400" dirty="0" smtClean="0"/>
              <a:t> </a:t>
            </a:r>
            <a:r>
              <a:rPr lang="en-US" sz="2400" dirty="0" err="1" smtClean="0"/>
              <a:t>teško</a:t>
            </a:r>
            <a:r>
              <a:rPr lang="en-US" sz="2400" dirty="0" smtClean="0"/>
              <a:t> </a:t>
            </a:r>
            <a:r>
              <a:rPr lang="en-US" sz="2400" dirty="0" err="1" smtClean="0"/>
              <a:t>pronaći</a:t>
            </a:r>
            <a:r>
              <a:rPr lang="en-US" sz="2400" dirty="0" smtClean="0"/>
              <a:t> </a:t>
            </a:r>
            <a:r>
              <a:rPr lang="en-US" sz="2400" dirty="0" err="1" smtClean="0"/>
              <a:t>radnu</a:t>
            </a:r>
            <a:r>
              <a:rPr lang="en-US" sz="2400" dirty="0" smtClean="0"/>
              <a:t> </a:t>
            </a:r>
            <a:r>
              <a:rPr lang="en-US" sz="2400" dirty="0" err="1" smtClean="0"/>
              <a:t>snagu</a:t>
            </a:r>
            <a:endParaRPr lang="en-US" sz="2400" dirty="0" smtClean="0"/>
          </a:p>
          <a:p>
            <a:r>
              <a:rPr lang="en-US" sz="2400" dirty="0" err="1" smtClean="0"/>
              <a:t>Siromaštvo</a:t>
            </a:r>
            <a:r>
              <a:rPr lang="en-US" sz="2400" dirty="0" smtClean="0"/>
              <a:t> </a:t>
            </a:r>
            <a:r>
              <a:rPr lang="en-US" sz="2400" dirty="0" err="1" smtClean="0"/>
              <a:t>povlači</a:t>
            </a:r>
            <a:r>
              <a:rPr lang="en-US" sz="2400" dirty="0" smtClean="0"/>
              <a:t> </a:t>
            </a:r>
            <a:r>
              <a:rPr lang="en-US" sz="2400" dirty="0" err="1" smtClean="0"/>
              <a:t>niz</a:t>
            </a:r>
            <a:r>
              <a:rPr lang="en-US" sz="2400" dirty="0" smtClean="0"/>
              <a:t> </a:t>
            </a:r>
            <a:r>
              <a:rPr lang="en-US" sz="2400" dirty="0" err="1" smtClean="0"/>
              <a:t>profesija</a:t>
            </a:r>
            <a:r>
              <a:rPr lang="en-US" sz="2400" dirty="0" smtClean="0"/>
              <a:t> </a:t>
            </a:r>
            <a:r>
              <a:rPr lang="en-US" sz="2400" dirty="0" err="1" smtClean="0"/>
              <a:t>kojih</a:t>
            </a:r>
            <a:r>
              <a:rPr lang="en-US" sz="2400" dirty="0" smtClean="0"/>
              <a:t> ne bi </a:t>
            </a:r>
            <a:r>
              <a:rPr lang="en-US" sz="2400" dirty="0" err="1" smtClean="0"/>
              <a:t>bilo</a:t>
            </a:r>
            <a:r>
              <a:rPr lang="en-US" sz="2400" dirty="0" smtClean="0"/>
              <a:t> da </a:t>
            </a:r>
            <a:r>
              <a:rPr lang="en-US" sz="2400" dirty="0" err="1" smtClean="0"/>
              <a:t>siromaštvo</a:t>
            </a:r>
            <a:r>
              <a:rPr lang="en-US" sz="2400" dirty="0" smtClean="0"/>
              <a:t> ne </a:t>
            </a:r>
            <a:r>
              <a:rPr lang="en-US" sz="2400" dirty="0" err="1" smtClean="0"/>
              <a:t>postoji</a:t>
            </a:r>
            <a:r>
              <a:rPr lang="en-US" sz="2400" dirty="0" smtClean="0"/>
              <a:t> (</a:t>
            </a:r>
            <a:r>
              <a:rPr lang="en-US" sz="2400" dirty="0" err="1" smtClean="0"/>
              <a:t>socijalni</a:t>
            </a:r>
            <a:r>
              <a:rPr lang="en-US" sz="2400" dirty="0" smtClean="0"/>
              <a:t> </a:t>
            </a:r>
            <a:r>
              <a:rPr lang="en-US" sz="2400" dirty="0" err="1" smtClean="0"/>
              <a:t>radnici</a:t>
            </a:r>
            <a:r>
              <a:rPr lang="en-US" sz="2400" dirty="0" smtClean="0"/>
              <a:t>, </a:t>
            </a:r>
            <a:r>
              <a:rPr lang="en-US" sz="2400" dirty="0" err="1" smtClean="0"/>
              <a:t>kriminolozi</a:t>
            </a:r>
            <a:r>
              <a:rPr lang="en-US" sz="2400" dirty="0" smtClean="0"/>
              <a:t>, </a:t>
            </a:r>
            <a:r>
              <a:rPr lang="en-US" sz="2400" dirty="0" err="1" smtClean="0"/>
              <a:t>odvjetnici</a:t>
            </a:r>
            <a:r>
              <a:rPr lang="en-US" sz="2400" dirty="0" smtClean="0"/>
              <a:t>…)</a:t>
            </a:r>
            <a:endParaRPr lang="hr-HR" sz="2400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249899" y="5877272"/>
            <a:ext cx="792088" cy="515144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4" name="TextBox 3"/>
          <p:cNvSpPr txBox="1"/>
          <p:nvPr/>
        </p:nvSpPr>
        <p:spPr>
          <a:xfrm>
            <a:off x="1269876" y="5733256"/>
            <a:ext cx="10153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Kako</a:t>
            </a:r>
            <a:r>
              <a:rPr lang="en-US" sz="2400" dirty="0" smtClean="0"/>
              <a:t> bi </a:t>
            </a:r>
            <a:r>
              <a:rPr lang="en-US" sz="2400" dirty="0" err="1" smtClean="0"/>
              <a:t>funkcionalisti</a:t>
            </a:r>
            <a:r>
              <a:rPr lang="en-US" sz="2400" dirty="0" smtClean="0"/>
              <a:t> </a:t>
            </a:r>
            <a:r>
              <a:rPr lang="en-US" sz="2400" dirty="0" err="1" smtClean="0"/>
              <a:t>obasnili</a:t>
            </a:r>
            <a:r>
              <a:rPr lang="en-US" sz="2400" dirty="0" smtClean="0"/>
              <a:t> </a:t>
            </a:r>
            <a:r>
              <a:rPr lang="en-US" sz="2400" dirty="0" err="1" smtClean="0"/>
              <a:t>trenutno</a:t>
            </a:r>
            <a:r>
              <a:rPr lang="en-US" sz="2400" dirty="0" smtClean="0"/>
              <a:t> </a:t>
            </a:r>
            <a:r>
              <a:rPr lang="en-US" sz="2400" dirty="0" err="1" smtClean="0"/>
              <a:t>situaciju</a:t>
            </a:r>
            <a:r>
              <a:rPr lang="en-US" sz="2400" dirty="0" smtClean="0"/>
              <a:t> s </a:t>
            </a:r>
            <a:r>
              <a:rPr lang="en-US" sz="2400" dirty="0" err="1" smtClean="0"/>
              <a:t>inflacijom</a:t>
            </a:r>
            <a:r>
              <a:rPr lang="en-US" sz="2400" dirty="0" smtClean="0"/>
              <a:t> u </a:t>
            </a:r>
            <a:r>
              <a:rPr lang="en-US" sz="2400" dirty="0" err="1" smtClean="0"/>
              <a:t>hrvatskom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društvu</a:t>
            </a:r>
            <a:r>
              <a:rPr lang="en-US" sz="2400" dirty="0" smtClean="0"/>
              <a:t>?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47747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KONFLIKTNA TEORIJA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Kao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hr-HR" sz="2400" dirty="0" smtClean="0"/>
              <a:t>funkcionalistička, pripada makrosociološkom pristupu proučavanja društva</a:t>
            </a:r>
          </a:p>
          <a:p>
            <a:r>
              <a:rPr lang="hr-HR" sz="2400" dirty="0" smtClean="0"/>
              <a:t>Funkcionalisti polaze od pretpostavke da je za funkcioniranje društva bitan sklad i konsenzus, dok konfliktna perspektiva smatra da je za pozitivne društvene promjene često nužan </a:t>
            </a:r>
            <a:r>
              <a:rPr lang="hr-HR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SUKOB</a:t>
            </a:r>
            <a:r>
              <a:rPr lang="hr-HR" sz="2400" dirty="0" smtClean="0"/>
              <a:t>, odnosno </a:t>
            </a:r>
            <a:r>
              <a:rPr lang="hr-HR" sz="24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KONFLIKT</a:t>
            </a:r>
            <a:endParaRPr lang="en-US" sz="2400" b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26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020" y="456519"/>
            <a:ext cx="7770229" cy="1400530"/>
          </a:xfrm>
        </p:spPr>
        <p:txBody>
          <a:bodyPr/>
          <a:lstStyle/>
          <a:p>
            <a:pPr algn="just"/>
            <a:r>
              <a:rPr lang="hr-HR" sz="2800" dirty="0" smtClean="0"/>
              <a:t>TEORETIČAR KOJI JE UTJECAO NA KONFLIKTNU PERSPEKTIVU</a:t>
            </a:r>
            <a:endParaRPr lang="hr-H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endParaRPr lang="hr-HR" sz="2400" dirty="0"/>
          </a:p>
          <a:p>
            <a:r>
              <a:rPr lang="hr-HR" sz="2400" dirty="0" smtClean="0"/>
              <a:t>Iako se nije smatrao sociologom, njegove terojeske rasprave su snažno utjecale na razvoj sociologije</a:t>
            </a:r>
          </a:p>
          <a:p>
            <a:r>
              <a:rPr lang="hr-HR" sz="2400" dirty="0" smtClean="0"/>
              <a:t>Tri teorije: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2400" dirty="0" smtClean="0"/>
              <a:t>TEORIJA REVOLUCIJE/KOMUNIZAM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2400" dirty="0" smtClean="0"/>
              <a:t>HISTORIJSKI MATERIJALIZAM</a:t>
            </a:r>
          </a:p>
          <a:p>
            <a:pPr marL="457200" indent="-457200">
              <a:buFont typeface="+mj-lt"/>
              <a:buAutoNum type="arabicPeriod"/>
            </a:pPr>
            <a:r>
              <a:rPr lang="hr-HR" sz="2400" dirty="0" smtClean="0"/>
              <a:t>ALIJENACIJA/OTUĐENJE</a:t>
            </a:r>
          </a:p>
          <a:p>
            <a:pPr marL="0" indent="0">
              <a:buNone/>
            </a:pPr>
            <a:endParaRPr lang="hr-HR" dirty="0" smtClean="0"/>
          </a:p>
          <a:p>
            <a:endParaRPr lang="hr-HR" dirty="0"/>
          </a:p>
          <a:p>
            <a:endParaRPr lang="hr-HR" dirty="0"/>
          </a:p>
        </p:txBody>
      </p:sp>
      <p:pic>
        <p:nvPicPr>
          <p:cNvPr id="5122" name="Picture 2" descr="Karl Marx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17" y="0"/>
            <a:ext cx="1944216" cy="246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0917" y="2427711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b="1" dirty="0" smtClean="0"/>
              <a:t>Karl Marx</a:t>
            </a:r>
            <a:endParaRPr lang="hr-HR" sz="2400" b="1" dirty="0"/>
          </a:p>
        </p:txBody>
      </p:sp>
    </p:spTree>
    <p:extLst>
      <p:ext uri="{BB962C8B-B14F-4D97-AF65-F5344CB8AC3E}">
        <p14:creationId xmlns:p14="http://schemas.microsoft.com/office/powerpoint/2010/main" val="181141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052735"/>
            <a:ext cx="8944211" cy="5195665"/>
          </a:xfrm>
        </p:spPr>
        <p:txBody>
          <a:bodyPr>
            <a:noAutofit/>
          </a:bodyPr>
          <a:lstStyle/>
          <a:p>
            <a:r>
              <a:rPr lang="hr-HR" sz="2400" dirty="0" smtClean="0"/>
              <a:t>Živio u 19. st.</a:t>
            </a:r>
          </a:p>
          <a:p>
            <a:r>
              <a:rPr lang="hr-HR" sz="2400" dirty="0" smtClean="0"/>
              <a:t>Vrijeme kada su revolucije neminovne</a:t>
            </a:r>
          </a:p>
          <a:p>
            <a:r>
              <a:rPr lang="hr-HR" sz="2400" dirty="0" smtClean="0"/>
              <a:t>Prema njemu, revolucije će dokinuti sve dotadašnje koncepcije KAPITALISTIČKOGA USTROJA, te će nastupiti društvo jednakih i ravnopravnih ljudi koje on naziva KOMUNIZMOM</a:t>
            </a:r>
          </a:p>
          <a:p>
            <a:r>
              <a:rPr lang="hr-HR" sz="2400" dirty="0" smtClean="0"/>
              <a:t>Takvo učenje preuzeli pojedini politički poretci u 20. st.</a:t>
            </a:r>
          </a:p>
          <a:p>
            <a:endParaRPr lang="hr-HR" sz="2800" dirty="0"/>
          </a:p>
          <a:p>
            <a:pPr marL="0" indent="0">
              <a:buNone/>
            </a:pPr>
            <a:r>
              <a:rPr lang="hr-HR" sz="2800" dirty="0" smtClean="0"/>
              <a:t>Jesu li se u tim društvima uspostavili egalitarni poretci o kojima je Marx govorio?</a:t>
            </a:r>
            <a:endParaRPr lang="hr-HR" sz="2800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405780" y="4725144"/>
            <a:ext cx="792088" cy="515144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sp>
        <p:nvSpPr>
          <p:cNvPr id="4" name="TextBox 3"/>
          <p:cNvSpPr txBox="1"/>
          <p:nvPr/>
        </p:nvSpPr>
        <p:spPr>
          <a:xfrm>
            <a:off x="405780" y="521894"/>
            <a:ext cx="6804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b="1" dirty="0" smtClean="0"/>
              <a:t>TEORIJA REVOLUCIJE/KOMUNIZAM</a:t>
            </a:r>
            <a:endParaRPr lang="hr-HR" sz="2400" b="1" dirty="0"/>
          </a:p>
        </p:txBody>
      </p:sp>
    </p:spTree>
    <p:extLst>
      <p:ext uri="{BB962C8B-B14F-4D97-AF65-F5344CB8AC3E}">
        <p14:creationId xmlns:p14="http://schemas.microsoft.com/office/powerpoint/2010/main" val="415895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  </a:t>
            </a:r>
            <a:r>
              <a:rPr lang="hr-HR" sz="3200" b="1" dirty="0" smtClean="0"/>
              <a:t>HISTORIJSKI MATERIJALIZAM</a:t>
            </a:r>
            <a:endParaRPr lang="hr-HR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 smtClean="0"/>
              <a:t>Marx smatra da nisu vrijednosti, ideje ili religije bile presudne za razvoj čovječanstva</a:t>
            </a:r>
          </a:p>
          <a:p>
            <a:r>
              <a:rPr lang="hr-HR" sz="2400" dirty="0" smtClean="0"/>
              <a:t>Presudan je bio odnos u proizvodnji, koncept proizvodnog materijalnog života</a:t>
            </a:r>
          </a:p>
          <a:p>
            <a:r>
              <a:rPr lang="hr-HR" sz="2400" dirty="0"/>
              <a:t>Marx povijest vidi kao proces u kojem se zakonito izmjenjuju društveno-ekonomske formacije (robovlasništvo, feudalizam, kapitalizam), a one su određene isključivo stupnjem razvoja materijalnih proizvodnih snaga</a:t>
            </a:r>
          </a:p>
        </p:txBody>
      </p:sp>
    </p:spTree>
    <p:extLst>
      <p:ext uri="{BB962C8B-B14F-4D97-AF65-F5344CB8AC3E}">
        <p14:creationId xmlns:p14="http://schemas.microsoft.com/office/powerpoint/2010/main" val="269496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/>
              <a:t>Po Marksu, feudalci, vlasnici zemljišta i kapitalisti su zajedno uklješteni u borbi protiv vladavine radničke klase. Ova tvrdnja je sažeta u u poznatoj uvodnoj misli uvodnika u KOMUNISTIČKOM MANIFESTU:</a:t>
            </a:r>
          </a:p>
          <a:p>
            <a:pPr marL="0" indent="0">
              <a:buNone/>
            </a:pPr>
            <a:r>
              <a:rPr lang="hr-HR" sz="2400" dirty="0"/>
              <a:t> "Historija svih do sada postojećih društava je historija borbe klasa." Marks je predvidio propast kapitalizma kroz revoluciju radničke klase koja bi dovela do utopijskog "</a:t>
            </a:r>
            <a:r>
              <a:rPr lang="hr-HR" sz="2400" i="1" dirty="0"/>
              <a:t>besklasnog društva</a:t>
            </a:r>
            <a:r>
              <a:rPr lang="hr-HR" sz="24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8238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400" b="1" dirty="0" smtClean="0"/>
              <a:t>ALIJENACIJA/OTUĐENJE</a:t>
            </a:r>
            <a:endParaRPr lang="hr-HR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1052737"/>
            <a:ext cx="8944211" cy="5195664"/>
          </a:xfrm>
        </p:spPr>
        <p:txBody>
          <a:bodyPr>
            <a:noAutofit/>
          </a:bodyPr>
          <a:lstStyle/>
          <a:p>
            <a:r>
              <a:rPr lang="hr-HR" sz="2400" dirty="0" smtClean="0"/>
              <a:t>U kontekstu otuđenja od proizvoda svoga rada</a:t>
            </a:r>
          </a:p>
          <a:p>
            <a:r>
              <a:rPr lang="hr-HR" sz="2400" dirty="0" smtClean="0"/>
              <a:t>Čovjek kao radno proizvodno biće u periodu kapitalističke proizvodnje biva otuđen od krajnjeg proizvoda svoje kreacije</a:t>
            </a:r>
          </a:p>
          <a:p>
            <a:r>
              <a:rPr lang="hr-HR" sz="2400" dirty="0" smtClean="0"/>
              <a:t>Prema Marxu to dovodi do osjećaja alijenacije što se kasnije prelijeva u  ostale sfere društvenoga i privatnoga života</a:t>
            </a:r>
          </a:p>
          <a:p>
            <a:endParaRPr lang="hr-HR" sz="2400" dirty="0"/>
          </a:p>
          <a:p>
            <a:endParaRPr lang="hr-HR" sz="2400" dirty="0" smtClean="0"/>
          </a:p>
          <a:p>
            <a:pPr marL="0" indent="0">
              <a:buNone/>
            </a:pPr>
            <a:r>
              <a:rPr lang="hr-HR" sz="2400" dirty="0" smtClean="0"/>
              <a:t>Na koji način bi ekološka kriza mogla biti protumačena iz perspektive konfliktne teorije?</a:t>
            </a:r>
            <a:endParaRPr lang="hr-HR" sz="2400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09956" y="5013176"/>
            <a:ext cx="792088" cy="515144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3793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89757" y="2052638"/>
          <a:ext cx="11737302" cy="4209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12434">
                  <a:extLst>
                    <a:ext uri="{9D8B030D-6E8A-4147-A177-3AD203B41FA5}">
                      <a16:colId xmlns:a16="http://schemas.microsoft.com/office/drawing/2014/main" val="2052744185"/>
                    </a:ext>
                  </a:extLst>
                </a:gridCol>
                <a:gridCol w="3912434">
                  <a:extLst>
                    <a:ext uri="{9D8B030D-6E8A-4147-A177-3AD203B41FA5}">
                      <a16:colId xmlns:a16="http://schemas.microsoft.com/office/drawing/2014/main" val="1866450469"/>
                    </a:ext>
                  </a:extLst>
                </a:gridCol>
                <a:gridCol w="3912434">
                  <a:extLst>
                    <a:ext uri="{9D8B030D-6E8A-4147-A177-3AD203B41FA5}">
                      <a16:colId xmlns:a16="http://schemas.microsoft.com/office/drawing/2014/main" val="3376296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RAZINA</a:t>
                      </a:r>
                      <a:r>
                        <a:rPr lang="hr-HR" baseline="0" dirty="0" smtClean="0"/>
                        <a:t> ANALIZE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makrosociološka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makrosociološka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80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RAZINA ANALIZE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Društvo sastavljeno od međuovisnih</a:t>
                      </a:r>
                      <a:r>
                        <a:rPr lang="hr-HR" baseline="0" dirty="0" smtClean="0"/>
                        <a:t> dijelova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Društvo se sastoji od suprotstavljenih društvenih grupa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64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OSNOVA SOCIJALNE INTERAKCIJE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Konsenzus proizlazi iz zajedničkih vrijednosti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Sukob, moć, prisila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369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IZVOR DRUŠTVENIH PROMJENA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Promjene</a:t>
                      </a:r>
                      <a:r>
                        <a:rPr lang="hr-HR" baseline="0" dirty="0" smtClean="0"/>
                        <a:t> su odraz pronalaska rješenja za novonastale krize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Promjene su odraz sukoba zbog prevlasti nad resursima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9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NEDOSTACI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Konzervativizam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Teškoće u razumijevanju konsenzusa i stabilnosti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520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PREDNOSTI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Daje širu sliku društva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Povijesni pregled društvenih promjena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55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KLJUČNI POJMOVI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Struktura,</a:t>
                      </a:r>
                      <a:r>
                        <a:rPr lang="hr-HR" baseline="0" dirty="0" smtClean="0"/>
                        <a:t> funkcija (latentna i manifestna), disfunkcija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Nejednakost, moć, sukob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7697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50196" y="1412776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 smtClean="0"/>
              <a:t>FUNKCIONALIZAM</a:t>
            </a:r>
            <a:endParaRPr lang="hr-H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038628" y="1412776"/>
            <a:ext cx="388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 smtClean="0"/>
              <a:t>KONFLIKTNA</a:t>
            </a:r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414027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943" y="2204864"/>
            <a:ext cx="9402274" cy="1800200"/>
          </a:xfrm>
        </p:spPr>
        <p:txBody>
          <a:bodyPr/>
          <a:lstStyle/>
          <a:p>
            <a:r>
              <a:rPr lang="hr-HR" dirty="0" smtClean="0"/>
              <a:t>Temeljne sociološke perspektive:</a:t>
            </a:r>
            <a:br>
              <a:rPr lang="hr-HR" dirty="0" smtClean="0"/>
            </a:br>
            <a:r>
              <a:rPr lang="hr-HR" dirty="0" smtClean="0"/>
              <a:t>INTERAKCIONISTIČKA PERSPEKTIVA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1086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Kako možemo promatrati društvo?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25" y="2052919"/>
            <a:ext cx="9815923" cy="4328409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sz="2600" dirty="0"/>
          </a:p>
          <a:p>
            <a:r>
              <a:rPr lang="en-US" sz="2600" dirty="0" smtClean="0"/>
              <a:t>U </a:t>
            </a:r>
            <a:r>
              <a:rPr lang="en-US" sz="2600" dirty="0" err="1" smtClean="0"/>
              <a:t>sociologiji</a:t>
            </a:r>
            <a:r>
              <a:rPr lang="en-US" sz="2600" dirty="0" smtClean="0"/>
              <a:t> se </a:t>
            </a:r>
            <a:r>
              <a:rPr lang="en-US" sz="2600" dirty="0" err="1" smtClean="0"/>
              <a:t>proučavaju</a:t>
            </a:r>
            <a:r>
              <a:rPr lang="en-US" sz="2600" dirty="0" smtClean="0"/>
              <a:t> </a:t>
            </a:r>
            <a:r>
              <a:rPr lang="en-US" sz="2600" dirty="0" err="1" smtClean="0"/>
              <a:t>različiti</a:t>
            </a:r>
            <a:r>
              <a:rPr lang="en-US" sz="2600" dirty="0" smtClean="0"/>
              <a:t> </a:t>
            </a:r>
            <a:r>
              <a:rPr lang="en-US" sz="2600" dirty="0" err="1" smtClean="0"/>
              <a:t>aspekti</a:t>
            </a:r>
            <a:r>
              <a:rPr lang="en-US" sz="2600" dirty="0" smtClean="0"/>
              <a:t> </a:t>
            </a:r>
            <a:r>
              <a:rPr lang="en-US" sz="2600" dirty="0" err="1" smtClean="0"/>
              <a:t>društvenog</a:t>
            </a:r>
            <a:r>
              <a:rPr lang="en-US" sz="2600" dirty="0" smtClean="0"/>
              <a:t> </a:t>
            </a:r>
            <a:r>
              <a:rPr lang="en-US" sz="2600" dirty="0" err="1" smtClean="0"/>
              <a:t>života</a:t>
            </a:r>
            <a:endParaRPr lang="en-US" sz="2600" dirty="0" smtClean="0"/>
          </a:p>
          <a:p>
            <a:r>
              <a:rPr lang="en-US" sz="2600" dirty="0" err="1" smtClean="0"/>
              <a:t>Ponekad</a:t>
            </a:r>
            <a:r>
              <a:rPr lang="en-US" sz="2600" dirty="0" smtClean="0"/>
              <a:t> je to </a:t>
            </a:r>
            <a:r>
              <a:rPr lang="en-US" sz="2600" dirty="0" err="1" smtClean="0"/>
              <a:t>interacija</a:t>
            </a:r>
            <a:r>
              <a:rPr lang="en-US" sz="2600" dirty="0" smtClean="0"/>
              <a:t> </a:t>
            </a:r>
            <a:r>
              <a:rPr lang="en-US" sz="2600" dirty="0" err="1" smtClean="0"/>
              <a:t>učenika</a:t>
            </a:r>
            <a:r>
              <a:rPr lang="en-US" sz="2600" dirty="0" smtClean="0"/>
              <a:t> u </a:t>
            </a:r>
            <a:r>
              <a:rPr lang="en-US" sz="2600" dirty="0" err="1" smtClean="0"/>
              <a:t>razredu</a:t>
            </a:r>
            <a:r>
              <a:rPr lang="en-US" sz="2600" dirty="0" smtClean="0"/>
              <a:t>, a </a:t>
            </a:r>
            <a:r>
              <a:rPr lang="en-US" sz="2600" dirty="0" err="1" smtClean="0"/>
              <a:t>ponekad</a:t>
            </a:r>
            <a:r>
              <a:rPr lang="en-US" sz="2600" dirty="0" smtClean="0"/>
              <a:t> se </a:t>
            </a:r>
            <a:r>
              <a:rPr lang="en-US" sz="2600" dirty="0" err="1" smtClean="0"/>
              <a:t>proučava</a:t>
            </a:r>
            <a:r>
              <a:rPr lang="en-US" sz="2600" dirty="0" smtClean="0"/>
              <a:t> </a:t>
            </a:r>
            <a:r>
              <a:rPr lang="en-US" sz="2600" dirty="0" err="1" smtClean="0"/>
              <a:t>na</a:t>
            </a:r>
            <a:r>
              <a:rPr lang="en-US" sz="2600" dirty="0" smtClean="0"/>
              <a:t> </a:t>
            </a:r>
            <a:r>
              <a:rPr lang="en-US" sz="2600" dirty="0" err="1" smtClean="0"/>
              <a:t>koji</a:t>
            </a:r>
            <a:r>
              <a:rPr lang="en-US" sz="2600" dirty="0" smtClean="0"/>
              <a:t> </a:t>
            </a:r>
            <a:r>
              <a:rPr lang="en-US" sz="2600" dirty="0" err="1" smtClean="0"/>
              <a:t>način</a:t>
            </a:r>
            <a:r>
              <a:rPr lang="en-US" sz="2600" dirty="0" smtClean="0"/>
              <a:t> </a:t>
            </a:r>
            <a:r>
              <a:rPr lang="en-US" sz="2600" dirty="0" err="1" smtClean="0"/>
              <a:t>obrazovni</a:t>
            </a:r>
            <a:r>
              <a:rPr lang="en-US" sz="2600" dirty="0" smtClean="0"/>
              <a:t> </a:t>
            </a:r>
            <a:r>
              <a:rPr lang="en-US" sz="2600" dirty="0" err="1" smtClean="0"/>
              <a:t>sustav</a:t>
            </a:r>
            <a:r>
              <a:rPr lang="en-US" sz="2600" dirty="0" smtClean="0"/>
              <a:t> </a:t>
            </a:r>
            <a:r>
              <a:rPr lang="en-US" sz="2600" dirty="0" err="1" smtClean="0"/>
              <a:t>djeluje</a:t>
            </a:r>
            <a:r>
              <a:rPr lang="en-US" sz="2600" dirty="0" smtClean="0"/>
              <a:t> </a:t>
            </a:r>
            <a:r>
              <a:rPr lang="en-US" sz="2600" dirty="0" err="1" smtClean="0"/>
              <a:t>na</a:t>
            </a:r>
            <a:r>
              <a:rPr lang="en-US" sz="2600" dirty="0" smtClean="0"/>
              <a:t> </a:t>
            </a:r>
            <a:r>
              <a:rPr lang="en-US" sz="2600" dirty="0" err="1" smtClean="0"/>
              <a:t>učenike</a:t>
            </a:r>
            <a:endParaRPr lang="en-US" sz="2600" dirty="0" smtClean="0"/>
          </a:p>
          <a:p>
            <a:r>
              <a:rPr lang="en-US" sz="2600" dirty="0" err="1" smtClean="0"/>
              <a:t>Ovisno</a:t>
            </a:r>
            <a:r>
              <a:rPr lang="en-US" sz="2600" dirty="0" smtClean="0"/>
              <a:t> o </a:t>
            </a:r>
            <a:r>
              <a:rPr lang="en-US" sz="2600" dirty="0" err="1" smtClean="0"/>
              <a:t>vrsti</a:t>
            </a:r>
            <a:r>
              <a:rPr lang="en-US" sz="2600" dirty="0" smtClean="0"/>
              <a:t> </a:t>
            </a:r>
            <a:r>
              <a:rPr lang="en-US" sz="2600" dirty="0" err="1" smtClean="0"/>
              <a:t>analize</a:t>
            </a:r>
            <a:r>
              <a:rPr lang="en-US" sz="2600" dirty="0" smtClean="0"/>
              <a:t> </a:t>
            </a:r>
            <a:r>
              <a:rPr lang="en-US" sz="2600" dirty="0" err="1" smtClean="0"/>
              <a:t>kojom</a:t>
            </a:r>
            <a:r>
              <a:rPr lang="en-US" sz="2600" dirty="0" smtClean="0"/>
              <a:t> </a:t>
            </a:r>
            <a:r>
              <a:rPr lang="en-US" sz="2600" dirty="0" err="1" smtClean="0"/>
              <a:t>gledamo</a:t>
            </a:r>
            <a:r>
              <a:rPr lang="en-US" sz="2600" dirty="0" smtClean="0"/>
              <a:t> </a:t>
            </a:r>
            <a:r>
              <a:rPr lang="en-US" sz="2600" dirty="0" err="1" smtClean="0"/>
              <a:t>društvo</a:t>
            </a:r>
            <a:r>
              <a:rPr lang="en-US" sz="2600" dirty="0" smtClean="0"/>
              <a:t>, </a:t>
            </a:r>
            <a:r>
              <a:rPr lang="en-US" sz="2600" dirty="0" err="1" smtClean="0"/>
              <a:t>društvo</a:t>
            </a:r>
            <a:r>
              <a:rPr lang="en-US" sz="2600" dirty="0" smtClean="0"/>
              <a:t> </a:t>
            </a:r>
            <a:r>
              <a:rPr lang="en-US" sz="2600" dirty="0" err="1" smtClean="0"/>
              <a:t>proučavamo</a:t>
            </a:r>
            <a:r>
              <a:rPr lang="en-US" sz="2600" dirty="0" smtClean="0"/>
              <a:t> </a:t>
            </a:r>
            <a:r>
              <a:rPr lang="en-US" sz="2600" dirty="0" err="1" smtClean="0"/>
              <a:t>na</a:t>
            </a:r>
            <a:r>
              <a:rPr lang="en-US" sz="2600" dirty="0" smtClean="0"/>
              <a:t> </a:t>
            </a:r>
            <a:r>
              <a:rPr lang="en-US" sz="2600" dirty="0" err="1" smtClean="0"/>
              <a:t>makro</a:t>
            </a:r>
            <a:r>
              <a:rPr lang="en-US" sz="2600" dirty="0" smtClean="0"/>
              <a:t> </a:t>
            </a:r>
            <a:r>
              <a:rPr lang="en-US" sz="2600" dirty="0" err="1" smtClean="0"/>
              <a:t>ili</a:t>
            </a:r>
            <a:r>
              <a:rPr lang="en-US" sz="2600" dirty="0" smtClean="0"/>
              <a:t> </a:t>
            </a:r>
            <a:r>
              <a:rPr lang="en-US" sz="2600" dirty="0" err="1" smtClean="0"/>
              <a:t>mikrorazini</a:t>
            </a:r>
            <a:endParaRPr lang="hr-HR" sz="2600" dirty="0"/>
          </a:p>
        </p:txBody>
      </p:sp>
      <p:pic>
        <p:nvPicPr>
          <p:cNvPr id="7170" name="Picture 2" descr="Amazon.com: AmScope M150C-I 40X-1000X All-Metal Optical Glass Lenses  Cordless LED Student Biological Compound Microscope : Electron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83" y="1522315"/>
            <a:ext cx="2229927" cy="222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pace Launcher 76 mm Reflector Telescope - Space Arc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650" y="1199461"/>
            <a:ext cx="230425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As Crowdsensing Risks Exposing your Private Information, Researchers Work  to Hide it with Encryption, Cloaking, and Facial Blurring | IEEE Computer  Socie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429" y="1382936"/>
            <a:ext cx="3327551" cy="221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3367" y="1152983"/>
            <a:ext cx="264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MIKRORAZINA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9404868" y="3637162"/>
            <a:ext cx="249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MAKRORAZINA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7908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/>
              <a:t>Ako</a:t>
            </a:r>
            <a:r>
              <a:rPr lang="en-US" sz="2800" dirty="0" smtClean="0"/>
              <a:t> </a:t>
            </a:r>
            <a:r>
              <a:rPr lang="en-US" sz="2800" dirty="0" err="1" smtClean="0"/>
              <a:t>društvo</a:t>
            </a:r>
            <a:r>
              <a:rPr lang="en-US" sz="2800" dirty="0" smtClean="0"/>
              <a:t> </a:t>
            </a:r>
            <a:r>
              <a:rPr lang="en-US" sz="2800" dirty="0" err="1" smtClean="0"/>
              <a:t>proučavamo</a:t>
            </a:r>
            <a:r>
              <a:rPr lang="en-US" sz="2800" dirty="0" smtClean="0"/>
              <a:t>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makrorazini</a:t>
            </a:r>
            <a:r>
              <a:rPr lang="en-US" sz="2800" dirty="0" smtClean="0"/>
              <a:t>, </a:t>
            </a:r>
            <a:r>
              <a:rPr lang="en-US" sz="2800" dirty="0" err="1" smtClean="0"/>
              <a:t>onda</a:t>
            </a:r>
            <a:r>
              <a:rPr lang="en-US" sz="2800" dirty="0" smtClean="0"/>
              <a:t> </a:t>
            </a:r>
            <a:r>
              <a:rPr lang="en-US" sz="2800" dirty="0" err="1" smtClean="0"/>
              <a:t>proučavamo</a:t>
            </a:r>
            <a:r>
              <a:rPr lang="en-US" sz="2800" dirty="0" smtClean="0"/>
              <a:t> </a:t>
            </a:r>
            <a:r>
              <a:rPr lang="en-US" sz="2800" dirty="0" err="1" smtClean="0"/>
              <a:t>velike</a:t>
            </a:r>
            <a:r>
              <a:rPr lang="en-US" sz="2800" dirty="0" smtClean="0"/>
              <a:t> </a:t>
            </a:r>
            <a:r>
              <a:rPr lang="en-US" sz="2800" dirty="0" err="1" smtClean="0"/>
              <a:t>grupe</a:t>
            </a:r>
            <a:r>
              <a:rPr lang="en-US" sz="2800" dirty="0" smtClean="0"/>
              <a:t>, </a:t>
            </a:r>
            <a:r>
              <a:rPr lang="en-US" sz="2800" dirty="0" err="1" smtClean="0"/>
              <a:t>institucije</a:t>
            </a:r>
            <a:r>
              <a:rPr lang="en-US" sz="2800" dirty="0" smtClean="0"/>
              <a:t> </a:t>
            </a:r>
            <a:r>
              <a:rPr lang="en-US" sz="2800" dirty="0" err="1" smtClean="0"/>
              <a:t>ili</a:t>
            </a:r>
            <a:r>
              <a:rPr lang="en-US" sz="2800" dirty="0" smtClean="0"/>
              <a:t> </a:t>
            </a:r>
            <a:r>
              <a:rPr lang="en-US" sz="2800" dirty="0" err="1" smtClean="0"/>
              <a:t>društvenu</a:t>
            </a:r>
            <a:r>
              <a:rPr lang="en-US" sz="2800" dirty="0" smtClean="0"/>
              <a:t> </a:t>
            </a:r>
            <a:r>
              <a:rPr lang="en-US" sz="2800" dirty="0" err="1" smtClean="0"/>
              <a:t>strukturu</a:t>
            </a:r>
            <a:r>
              <a:rPr lang="en-US" sz="2800" dirty="0" smtClean="0"/>
              <a:t> (</a:t>
            </a:r>
            <a:r>
              <a:rPr lang="en-US" sz="2800" dirty="0" err="1" smtClean="0"/>
              <a:t>obrazovanje</a:t>
            </a:r>
            <a:r>
              <a:rPr lang="en-US" sz="2800" dirty="0" smtClean="0"/>
              <a:t>, </a:t>
            </a:r>
            <a:r>
              <a:rPr lang="en-US" sz="2800" dirty="0" err="1" smtClean="0"/>
              <a:t>religija</a:t>
            </a:r>
            <a:r>
              <a:rPr lang="en-US" sz="2800" dirty="0" smtClean="0"/>
              <a:t>, </a:t>
            </a:r>
            <a:r>
              <a:rPr lang="en-US" sz="2800" dirty="0" err="1" smtClean="0"/>
              <a:t>klase</a:t>
            </a:r>
            <a:r>
              <a:rPr lang="en-US" sz="2800" dirty="0" smtClean="0"/>
              <a:t>,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koji</a:t>
            </a:r>
            <a:r>
              <a:rPr lang="en-US" sz="2800" dirty="0" smtClean="0"/>
              <a:t> </a:t>
            </a:r>
            <a:r>
              <a:rPr lang="en-US" sz="2800" dirty="0" err="1" smtClean="0"/>
              <a:t>način</a:t>
            </a:r>
            <a:r>
              <a:rPr lang="en-US" sz="2800" dirty="0" smtClean="0"/>
              <a:t> nova </a:t>
            </a:r>
            <a:r>
              <a:rPr lang="en-US" sz="2800" dirty="0" err="1" smtClean="0"/>
              <a:t>tehnologija</a:t>
            </a:r>
            <a:r>
              <a:rPr lang="en-US" sz="2800" dirty="0" smtClean="0"/>
              <a:t> </a:t>
            </a:r>
            <a:r>
              <a:rPr lang="en-US" sz="2800" dirty="0" err="1" smtClean="0"/>
              <a:t>utječu</a:t>
            </a:r>
            <a:r>
              <a:rPr lang="en-US" sz="2800" dirty="0" smtClean="0"/>
              <a:t>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strukturu</a:t>
            </a:r>
            <a:r>
              <a:rPr lang="en-US" sz="2800" dirty="0" smtClean="0"/>
              <a:t> </a:t>
            </a:r>
            <a:r>
              <a:rPr lang="en-US" sz="2800" dirty="0" err="1" smtClean="0"/>
              <a:t>radne</a:t>
            </a:r>
            <a:r>
              <a:rPr lang="en-US" sz="2800" dirty="0" smtClean="0"/>
              <a:t> </a:t>
            </a:r>
            <a:r>
              <a:rPr lang="en-US" sz="2800" dirty="0" err="1" smtClean="0"/>
              <a:t>snage</a:t>
            </a:r>
            <a:r>
              <a:rPr lang="en-US" sz="2800" dirty="0" smtClean="0"/>
              <a:t>)</a:t>
            </a:r>
          </a:p>
          <a:p>
            <a:r>
              <a:rPr lang="en-US" sz="2800" dirty="0" err="1" smtClean="0"/>
              <a:t>Ako</a:t>
            </a:r>
            <a:r>
              <a:rPr lang="en-US" sz="2800" dirty="0" smtClean="0"/>
              <a:t> se </a:t>
            </a:r>
            <a:r>
              <a:rPr lang="en-US" sz="2800" dirty="0" err="1" smtClean="0"/>
              <a:t>društvo</a:t>
            </a:r>
            <a:r>
              <a:rPr lang="en-US" sz="2800" dirty="0" smtClean="0"/>
              <a:t> </a:t>
            </a:r>
            <a:r>
              <a:rPr lang="en-US" sz="2800" dirty="0" err="1" smtClean="0"/>
              <a:t>proučava</a:t>
            </a:r>
            <a:r>
              <a:rPr lang="en-US" sz="2800" dirty="0" smtClean="0"/>
              <a:t>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mikrorazini</a:t>
            </a:r>
            <a:r>
              <a:rPr lang="en-US" sz="2800" dirty="0" smtClean="0"/>
              <a:t>, </a:t>
            </a:r>
            <a:r>
              <a:rPr lang="en-US" sz="2800" dirty="0" err="1" smtClean="0"/>
              <a:t>onda</a:t>
            </a:r>
            <a:r>
              <a:rPr lang="en-US" sz="2800" dirty="0" smtClean="0"/>
              <a:t> se </a:t>
            </a:r>
            <a:r>
              <a:rPr lang="en-US" sz="2800" dirty="0" err="1" smtClean="0"/>
              <a:t>proučavaju</a:t>
            </a:r>
            <a:r>
              <a:rPr lang="en-US" sz="2800" dirty="0" smtClean="0"/>
              <a:t> </a:t>
            </a:r>
            <a:r>
              <a:rPr lang="en-US" sz="2800" dirty="0" err="1" smtClean="0"/>
              <a:t>interakcije</a:t>
            </a:r>
            <a:r>
              <a:rPr lang="en-US" sz="2800" dirty="0" smtClean="0"/>
              <a:t> </a:t>
            </a:r>
            <a:r>
              <a:rPr lang="en-US" sz="2800" dirty="0" err="1" smtClean="0"/>
              <a:t>malih</a:t>
            </a:r>
            <a:r>
              <a:rPr lang="en-US" sz="2800" dirty="0" smtClean="0"/>
              <a:t> </a:t>
            </a:r>
            <a:r>
              <a:rPr lang="en-US" sz="2800" dirty="0" err="1" smtClean="0"/>
              <a:t>razmjera</a:t>
            </a:r>
            <a:r>
              <a:rPr lang="en-US" sz="2800" dirty="0" smtClean="0"/>
              <a:t> (</a:t>
            </a:r>
            <a:r>
              <a:rPr lang="en-US" sz="2800" dirty="0" err="1" smtClean="0"/>
              <a:t>dnevne</a:t>
            </a:r>
            <a:r>
              <a:rPr lang="en-US" sz="2800" dirty="0" smtClean="0"/>
              <a:t> </a:t>
            </a:r>
            <a:r>
              <a:rPr lang="en-US" sz="2800" dirty="0" err="1" smtClean="0"/>
              <a:t>aktivnosti</a:t>
            </a:r>
            <a:r>
              <a:rPr lang="en-US" sz="2800" dirty="0" smtClean="0"/>
              <a:t> </a:t>
            </a:r>
            <a:r>
              <a:rPr lang="en-US" sz="2800" dirty="0" err="1" smtClean="0"/>
              <a:t>pojedinaca</a:t>
            </a:r>
            <a:r>
              <a:rPr lang="en-US" sz="2800" dirty="0" smtClean="0"/>
              <a:t>, </a:t>
            </a:r>
            <a:r>
              <a:rPr lang="en-US" sz="2800" dirty="0" err="1" smtClean="0"/>
              <a:t>npr</a:t>
            </a:r>
            <a:r>
              <a:rPr lang="en-US" sz="2800" dirty="0" smtClean="0"/>
              <a:t>. </a:t>
            </a:r>
            <a:r>
              <a:rPr lang="en-US" sz="2800" dirty="0" err="1" smtClean="0"/>
              <a:t>Razgovor</a:t>
            </a:r>
            <a:r>
              <a:rPr lang="en-US" sz="2800" dirty="0" smtClean="0"/>
              <a:t> </a:t>
            </a:r>
            <a:r>
              <a:rPr lang="en-US" sz="2800" dirty="0" err="1" smtClean="0"/>
              <a:t>između</a:t>
            </a:r>
            <a:r>
              <a:rPr lang="en-US" sz="2800" dirty="0" smtClean="0"/>
              <a:t> </a:t>
            </a:r>
            <a:r>
              <a:rPr lang="en-US" sz="2800" dirty="0" err="1" smtClean="0"/>
              <a:t>učenika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</a:t>
            </a:r>
            <a:r>
              <a:rPr lang="en-US" sz="2800" dirty="0" err="1" smtClean="0"/>
              <a:t>profesora</a:t>
            </a:r>
            <a:r>
              <a:rPr lang="en-US" sz="2800" dirty="0" smtClean="0"/>
              <a:t>)</a:t>
            </a:r>
            <a:endParaRPr lang="hr-HR" sz="2800" dirty="0"/>
          </a:p>
        </p:txBody>
      </p:sp>
    </p:spTree>
    <p:extLst>
      <p:ext uri="{BB962C8B-B14F-4D97-AF65-F5344CB8AC3E}">
        <p14:creationId xmlns:p14="http://schemas.microsoft.com/office/powerpoint/2010/main" val="42905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 smtClean="0"/>
              <a:t>Ponovimo</a:t>
            </a:r>
            <a:r>
              <a:rPr lang="en-US" sz="2800" dirty="0" smtClean="0"/>
              <a:t> (</a:t>
            </a:r>
            <a:r>
              <a:rPr lang="en-US" sz="2800" dirty="0" err="1" smtClean="0"/>
              <a:t>funkcionalizam</a:t>
            </a:r>
            <a:r>
              <a:rPr lang="en-US" sz="2800" dirty="0" smtClean="0"/>
              <a:t> </a:t>
            </a:r>
            <a:r>
              <a:rPr lang="en-US" sz="2800" dirty="0" err="1" smtClean="0"/>
              <a:t>ili</a:t>
            </a:r>
            <a:r>
              <a:rPr lang="en-US" sz="2800" dirty="0" smtClean="0"/>
              <a:t> </a:t>
            </a:r>
            <a:r>
              <a:rPr lang="en-US" sz="2800" dirty="0" err="1" smtClean="0"/>
              <a:t>konfliktna</a:t>
            </a:r>
            <a:r>
              <a:rPr lang="en-US" sz="2800" dirty="0" smtClean="0"/>
              <a:t> </a:t>
            </a:r>
            <a:r>
              <a:rPr lang="en-US" sz="2800" dirty="0" err="1" smtClean="0"/>
              <a:t>teorija</a:t>
            </a:r>
            <a:r>
              <a:rPr lang="en-US" sz="2800" dirty="0"/>
              <a:t>)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hr-H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765" y="1484783"/>
            <a:ext cx="11737304" cy="4763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                                                  </a:t>
            </a:r>
            <a:r>
              <a:rPr lang="en-US" b="1" dirty="0" err="1" smtClean="0"/>
              <a:t>Društvo</a:t>
            </a:r>
            <a:r>
              <a:rPr lang="en-US" b="1" dirty="0" smtClean="0"/>
              <a:t> </a:t>
            </a:r>
            <a:r>
              <a:rPr lang="en-US" b="1" dirty="0" err="1" smtClean="0"/>
              <a:t>čine</a:t>
            </a:r>
            <a:r>
              <a:rPr lang="en-US" b="1" dirty="0" smtClean="0"/>
              <a:t> </a:t>
            </a:r>
            <a:r>
              <a:rPr lang="en-US" b="1" dirty="0" err="1" smtClean="0"/>
              <a:t>suprotstavljene</a:t>
            </a:r>
            <a:r>
              <a:rPr lang="en-US" b="1" dirty="0" smtClean="0"/>
              <a:t> </a:t>
            </a:r>
            <a:r>
              <a:rPr lang="en-US" b="1" dirty="0" err="1" smtClean="0"/>
              <a:t>grupe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           </a:t>
            </a:r>
            <a:r>
              <a:rPr lang="en-US" b="1" dirty="0" err="1" smtClean="0"/>
              <a:t>Društvo</a:t>
            </a:r>
            <a:r>
              <a:rPr lang="en-US" b="1" dirty="0" smtClean="0"/>
              <a:t> </a:t>
            </a:r>
            <a:r>
              <a:rPr lang="en-US" b="1" dirty="0" err="1" smtClean="0"/>
              <a:t>čine</a:t>
            </a:r>
            <a:r>
              <a:rPr lang="en-US" b="1" dirty="0" smtClean="0"/>
              <a:t> </a:t>
            </a:r>
            <a:r>
              <a:rPr lang="en-US" b="1" dirty="0" err="1" smtClean="0"/>
              <a:t>međuovisni</a:t>
            </a:r>
            <a:r>
              <a:rPr lang="en-US" b="1" dirty="0" smtClean="0"/>
              <a:t> </a:t>
            </a:r>
            <a:r>
              <a:rPr lang="en-US" b="1" dirty="0" err="1" smtClean="0"/>
              <a:t>dijelovi</a:t>
            </a:r>
            <a:r>
              <a:rPr lang="en-US" b="1" dirty="0" smtClean="0"/>
              <a:t>                </a:t>
            </a:r>
            <a:r>
              <a:rPr lang="en-US" b="1" dirty="0" err="1" smtClean="0"/>
              <a:t>Stabilnost</a:t>
            </a:r>
            <a:r>
              <a:rPr lang="en-US" b="1" dirty="0" smtClean="0"/>
              <a:t> </a:t>
            </a:r>
            <a:r>
              <a:rPr lang="en-US" b="1" dirty="0" err="1" smtClean="0"/>
              <a:t>proizlazi</a:t>
            </a:r>
            <a:r>
              <a:rPr lang="en-US" b="1" dirty="0" smtClean="0"/>
              <a:t> </a:t>
            </a:r>
            <a:r>
              <a:rPr lang="en-US" b="1" dirty="0" err="1" smtClean="0"/>
              <a:t>iz</a:t>
            </a:r>
            <a:r>
              <a:rPr lang="en-US" b="1" dirty="0" smtClean="0"/>
              <a:t> </a:t>
            </a:r>
            <a:r>
              <a:rPr lang="en-US" b="1" dirty="0" err="1" smtClean="0"/>
              <a:t>prihvaćanje</a:t>
            </a:r>
            <a:r>
              <a:rPr lang="en-US" b="1" dirty="0" smtClean="0"/>
              <a:t> </a:t>
            </a:r>
            <a:r>
              <a:rPr lang="en-US" b="1" dirty="0" err="1" smtClean="0"/>
              <a:t>vrijednosti</a:t>
            </a:r>
            <a:r>
              <a:rPr lang="en-US" b="1" dirty="0" smtClean="0"/>
              <a:t>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                         </a:t>
            </a:r>
            <a:r>
              <a:rPr lang="en-US" b="1" dirty="0" err="1" smtClean="0"/>
              <a:t>Stabilnost</a:t>
            </a:r>
            <a:r>
              <a:rPr lang="en-US" b="1" dirty="0" smtClean="0"/>
              <a:t> </a:t>
            </a:r>
            <a:r>
              <a:rPr lang="en-US" b="1" dirty="0" err="1" smtClean="0"/>
              <a:t>proizlazi</a:t>
            </a:r>
            <a:r>
              <a:rPr lang="en-US" b="1" dirty="0" smtClean="0"/>
              <a:t> </a:t>
            </a:r>
            <a:r>
              <a:rPr lang="en-US" b="1" dirty="0" err="1" smtClean="0"/>
              <a:t>iz</a:t>
            </a:r>
            <a:r>
              <a:rPr lang="en-US" b="1" dirty="0" smtClean="0"/>
              <a:t> </a:t>
            </a:r>
            <a:r>
              <a:rPr lang="en-US" b="1" dirty="0" err="1" smtClean="0"/>
              <a:t>prisile</a:t>
            </a:r>
            <a:r>
              <a:rPr lang="en-US" b="1" dirty="0" smtClean="0"/>
              <a:t> </a:t>
            </a:r>
            <a:r>
              <a:rPr lang="en-US" b="1" dirty="0" err="1" smtClean="0"/>
              <a:t>i</a:t>
            </a:r>
            <a:r>
              <a:rPr lang="en-US" b="1" dirty="0" smtClean="0"/>
              <a:t> </a:t>
            </a:r>
            <a:r>
              <a:rPr lang="en-US" b="1" dirty="0" err="1" smtClean="0"/>
              <a:t>moći</a:t>
            </a:r>
            <a:r>
              <a:rPr lang="en-US" b="1" dirty="0" smtClean="0"/>
              <a:t> </a:t>
            </a:r>
            <a:r>
              <a:rPr lang="en-US" b="1" dirty="0" err="1" smtClean="0"/>
              <a:t>jedne</a:t>
            </a:r>
            <a:r>
              <a:rPr lang="en-US" b="1" dirty="0" smtClean="0"/>
              <a:t> </a:t>
            </a:r>
            <a:r>
              <a:rPr lang="en-US" b="1" dirty="0" err="1" smtClean="0"/>
              <a:t>grupe</a:t>
            </a:r>
            <a:r>
              <a:rPr lang="en-US" b="1" dirty="0" smtClean="0"/>
              <a:t> </a:t>
            </a:r>
            <a:r>
              <a:rPr lang="en-US" b="1" dirty="0" err="1" smtClean="0"/>
              <a:t>nad</a:t>
            </a:r>
            <a:r>
              <a:rPr lang="en-US" b="1" dirty="0" smtClean="0"/>
              <a:t> </a:t>
            </a:r>
            <a:r>
              <a:rPr lang="en-US" b="1" dirty="0" err="1" smtClean="0"/>
              <a:t>drugom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</a:t>
            </a:r>
          </a:p>
          <a:p>
            <a:pPr marL="0" indent="0">
              <a:buNone/>
            </a:pPr>
            <a:r>
              <a:rPr lang="en-US" b="1" dirty="0" err="1" smtClean="0"/>
              <a:t>Nejednakosti</a:t>
            </a:r>
            <a:r>
              <a:rPr lang="en-US" b="1" dirty="0" smtClean="0"/>
              <a:t> </a:t>
            </a:r>
            <a:r>
              <a:rPr lang="en-US" b="1" dirty="0" err="1" smtClean="0"/>
              <a:t>su</a:t>
            </a:r>
            <a:r>
              <a:rPr lang="en-US" b="1" dirty="0" smtClean="0"/>
              <a:t> </a:t>
            </a:r>
            <a:r>
              <a:rPr lang="en-US" b="1" dirty="0" err="1" smtClean="0"/>
              <a:t>nužne</a:t>
            </a:r>
            <a:r>
              <a:rPr lang="en-US" b="1" dirty="0" smtClean="0"/>
              <a:t>                             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                       </a:t>
            </a:r>
            <a:r>
              <a:rPr lang="en-US" b="1" dirty="0" err="1" smtClean="0"/>
              <a:t>Nejednakosti</a:t>
            </a:r>
            <a:r>
              <a:rPr lang="en-US" b="1" dirty="0" smtClean="0"/>
              <a:t> </a:t>
            </a:r>
            <a:r>
              <a:rPr lang="en-US" b="1" dirty="0" err="1" smtClean="0"/>
              <a:t>proizlaze</a:t>
            </a:r>
            <a:r>
              <a:rPr lang="en-US" b="1" dirty="0" smtClean="0"/>
              <a:t> </a:t>
            </a:r>
            <a:r>
              <a:rPr lang="en-US" b="1" dirty="0" err="1" smtClean="0"/>
              <a:t>iz</a:t>
            </a:r>
            <a:r>
              <a:rPr lang="en-US" b="1" dirty="0" smtClean="0"/>
              <a:t> </a:t>
            </a:r>
            <a:r>
              <a:rPr lang="en-US" b="1" dirty="0" err="1" smtClean="0"/>
              <a:t>potrebe</a:t>
            </a:r>
            <a:r>
              <a:rPr lang="en-US" b="1" dirty="0" smtClean="0"/>
              <a:t> da </a:t>
            </a:r>
            <a:r>
              <a:rPr lang="en-US" b="1" dirty="0" err="1" smtClean="0"/>
              <a:t>jedna</a:t>
            </a:r>
            <a:r>
              <a:rPr lang="en-US" b="1" dirty="0" smtClean="0"/>
              <a:t> </a:t>
            </a:r>
            <a:r>
              <a:rPr lang="en-US" b="1" dirty="0" err="1" smtClean="0"/>
              <a:t>grupa</a:t>
            </a:r>
            <a:r>
              <a:rPr lang="en-US" b="1" dirty="0" smtClean="0"/>
              <a:t> </a:t>
            </a:r>
            <a:r>
              <a:rPr lang="en-US" b="1" dirty="0" err="1" smtClean="0"/>
              <a:t>kontrolira</a:t>
            </a:r>
            <a:r>
              <a:rPr lang="en-US" b="1" dirty="0" smtClean="0"/>
              <a:t> </a:t>
            </a:r>
            <a:r>
              <a:rPr lang="en-US" b="1" dirty="0" err="1" smtClean="0"/>
              <a:t>društvene</a:t>
            </a:r>
            <a:r>
              <a:rPr lang="en-US" b="1" dirty="0" smtClean="0"/>
              <a:t> </a:t>
            </a:r>
            <a:r>
              <a:rPr lang="en-US" b="1" dirty="0" err="1" smtClean="0"/>
              <a:t>resurse</a:t>
            </a:r>
            <a:endParaRPr lang="en-US" b="1" dirty="0" smtClean="0"/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Oval 3"/>
          <p:cNvSpPr/>
          <p:nvPr/>
        </p:nvSpPr>
        <p:spPr>
          <a:xfrm>
            <a:off x="3718148" y="1196752"/>
            <a:ext cx="4896544" cy="936104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5" name="Oval 4"/>
          <p:cNvSpPr/>
          <p:nvPr/>
        </p:nvSpPr>
        <p:spPr>
          <a:xfrm>
            <a:off x="653111" y="2089362"/>
            <a:ext cx="4896544" cy="936104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6" name="Oval 5"/>
          <p:cNvSpPr/>
          <p:nvPr/>
        </p:nvSpPr>
        <p:spPr>
          <a:xfrm>
            <a:off x="6089625" y="2111109"/>
            <a:ext cx="5837435" cy="936104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7" name="Oval 6"/>
          <p:cNvSpPr/>
          <p:nvPr/>
        </p:nvSpPr>
        <p:spPr>
          <a:xfrm>
            <a:off x="1701924" y="3442968"/>
            <a:ext cx="7920880" cy="936104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8" name="Oval 7"/>
          <p:cNvSpPr/>
          <p:nvPr/>
        </p:nvSpPr>
        <p:spPr>
          <a:xfrm>
            <a:off x="261765" y="4264076"/>
            <a:ext cx="2952327" cy="936104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9" name="Oval 8"/>
          <p:cNvSpPr/>
          <p:nvPr/>
        </p:nvSpPr>
        <p:spPr>
          <a:xfrm>
            <a:off x="1683444" y="5085184"/>
            <a:ext cx="10099600" cy="995150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hr-HR" dirty="0"/>
          </a:p>
        </p:txBody>
      </p:sp>
      <p:sp>
        <p:nvSpPr>
          <p:cNvPr id="10" name="TextBox 9"/>
          <p:cNvSpPr txBox="1"/>
          <p:nvPr/>
        </p:nvSpPr>
        <p:spPr>
          <a:xfrm>
            <a:off x="9190756" y="112474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MAKRORAZINA</a:t>
            </a:r>
            <a:endParaRPr lang="hr-HR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914392" y="110976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  <a:endParaRPr lang="hr-HR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981795" y="208608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</a:t>
            </a:r>
            <a:endParaRPr lang="hr-HR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614692" y="2089362"/>
            <a:ext cx="5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</a:t>
            </a:r>
            <a:endParaRPr lang="hr-HR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469441" y="3335244"/>
            <a:ext cx="528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</a:t>
            </a:r>
            <a:endParaRPr lang="hr-HR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485900" y="4170827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</a:t>
            </a:r>
            <a:endParaRPr lang="hr-HR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258296" y="5041805"/>
            <a:ext cx="49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</a:t>
            </a:r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129577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INTERAKCIONISTIČKA PERSPEKTIVA (INTERAKCIONIZAM)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 smtClean="0"/>
              <a:t>Proučava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mikrorazini</a:t>
            </a:r>
            <a:endParaRPr lang="en-US" sz="2400" dirty="0" smtClean="0"/>
          </a:p>
          <a:p>
            <a:r>
              <a:rPr lang="en-US" sz="2400" dirty="0" err="1" smtClean="0"/>
              <a:t>Proučava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pojedince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njihove</a:t>
            </a:r>
            <a:r>
              <a:rPr lang="en-US" sz="2400" dirty="0" smtClean="0"/>
              <a:t> </a:t>
            </a:r>
            <a:r>
              <a:rPr lang="en-US" sz="2400" dirty="0" err="1" smtClean="0"/>
              <a:t>interakcije</a:t>
            </a:r>
            <a:endParaRPr lang="en-US" sz="2400" dirty="0" smtClean="0"/>
          </a:p>
          <a:p>
            <a:r>
              <a:rPr lang="en-US" sz="2400" dirty="0" err="1" smtClean="0"/>
              <a:t>Interakcije</a:t>
            </a:r>
            <a:r>
              <a:rPr lang="en-US" sz="2400" dirty="0" smtClean="0"/>
              <a:t> </a:t>
            </a:r>
            <a:r>
              <a:rPr lang="en-US" sz="2400" dirty="0" err="1" smtClean="0"/>
              <a:t>licem</a:t>
            </a:r>
            <a:r>
              <a:rPr lang="en-US" sz="2400" dirty="0" smtClean="0"/>
              <a:t> u lice (face to face)</a:t>
            </a:r>
          </a:p>
          <a:p>
            <a:r>
              <a:rPr lang="en-US" sz="2400" dirty="0" err="1" smtClean="0"/>
              <a:t>Iz</a:t>
            </a:r>
            <a:r>
              <a:rPr lang="en-US" sz="2400" dirty="0" smtClean="0"/>
              <a:t> </a:t>
            </a:r>
            <a:r>
              <a:rPr lang="en-US" sz="2400" dirty="0" err="1" smtClean="0"/>
              <a:t>interakcija</a:t>
            </a:r>
            <a:r>
              <a:rPr lang="en-US" sz="2400" dirty="0" smtClean="0"/>
              <a:t> </a:t>
            </a:r>
            <a:r>
              <a:rPr lang="en-US" sz="2400" dirty="0" err="1" smtClean="0"/>
              <a:t>među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pojedincima</a:t>
            </a:r>
            <a:r>
              <a:rPr lang="en-US" sz="2400" dirty="0" smtClean="0"/>
              <a:t> </a:t>
            </a:r>
            <a:r>
              <a:rPr lang="en-US" sz="2400" dirty="0" err="1" smtClean="0"/>
              <a:t>nastaje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održava</a:t>
            </a:r>
            <a:r>
              <a:rPr lang="en-US" sz="2400" dirty="0" smtClean="0"/>
              <a:t> se </a:t>
            </a:r>
            <a:r>
              <a:rPr lang="en-US" sz="2400" dirty="0" err="1" smtClean="0"/>
              <a:t>društvo</a:t>
            </a:r>
            <a:endParaRPr lang="en-US" sz="2400" dirty="0" smtClean="0"/>
          </a:p>
          <a:p>
            <a:r>
              <a:rPr lang="en-US" sz="2400" dirty="0" err="1" smtClean="0"/>
              <a:t>Interkacionizam</a:t>
            </a:r>
            <a:r>
              <a:rPr lang="en-US" sz="2400" dirty="0" smtClean="0"/>
              <a:t> se </a:t>
            </a:r>
            <a:r>
              <a:rPr lang="en-US" sz="2400" dirty="0" err="1" smtClean="0"/>
              <a:t>fokusira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vrlo</a:t>
            </a:r>
            <a:r>
              <a:rPr lang="en-US" sz="2400" dirty="0" smtClean="0"/>
              <a:t> </a:t>
            </a:r>
            <a:r>
              <a:rPr lang="en-US" sz="2400" dirty="0" err="1" smtClean="0"/>
              <a:t>detaljne</a:t>
            </a:r>
            <a:r>
              <a:rPr lang="en-US" sz="2400" dirty="0" smtClean="0"/>
              <a:t>, </a:t>
            </a:r>
            <a:r>
              <a:rPr lang="en-US" sz="2400" dirty="0" err="1" smtClean="0"/>
              <a:t>specifične</a:t>
            </a:r>
            <a:r>
              <a:rPr lang="en-US" sz="2400" dirty="0" smtClean="0"/>
              <a:t> </a:t>
            </a:r>
            <a:r>
              <a:rPr lang="en-US" sz="2400" dirty="0" err="1" smtClean="0"/>
              <a:t>aspekte</a:t>
            </a:r>
            <a:r>
              <a:rPr lang="en-US" sz="2400" dirty="0" smtClean="0"/>
              <a:t> </a:t>
            </a:r>
            <a:r>
              <a:rPr lang="en-US" sz="2400" dirty="0" err="1" smtClean="0"/>
              <a:t>svakodnevnog</a:t>
            </a:r>
            <a:r>
              <a:rPr lang="en-US" sz="2400" dirty="0" smtClean="0"/>
              <a:t> </a:t>
            </a:r>
            <a:r>
              <a:rPr lang="en-US" sz="2400" dirty="0" err="1" smtClean="0"/>
              <a:t>života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pojedinca</a:t>
            </a:r>
            <a:r>
              <a:rPr lang="en-US" sz="2400" dirty="0" smtClean="0"/>
              <a:t> (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način</a:t>
            </a:r>
            <a:r>
              <a:rPr lang="en-US" sz="2400" dirty="0" smtClean="0"/>
              <a:t> </a:t>
            </a:r>
            <a:r>
              <a:rPr lang="en-US" sz="2400" dirty="0" err="1" smtClean="0"/>
              <a:t>neki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pojedinac</a:t>
            </a:r>
            <a:r>
              <a:rPr lang="en-US" sz="2400" dirty="0" smtClean="0"/>
              <a:t> </a:t>
            </a:r>
            <a:r>
              <a:rPr lang="en-US" sz="2400" dirty="0" err="1" smtClean="0"/>
              <a:t>postaje</a:t>
            </a:r>
            <a:r>
              <a:rPr lang="en-US" sz="2400" dirty="0" smtClean="0"/>
              <a:t> </a:t>
            </a:r>
            <a:r>
              <a:rPr lang="en-US" sz="2400" dirty="0" err="1" smtClean="0"/>
              <a:t>devijantan</a:t>
            </a:r>
            <a:r>
              <a:rPr lang="en-US" sz="2400" dirty="0" smtClean="0"/>
              <a:t>?, </a:t>
            </a:r>
            <a:r>
              <a:rPr lang="en-US" sz="2400" dirty="0" err="1" smtClean="0"/>
              <a:t>zašto</a:t>
            </a:r>
            <a:r>
              <a:rPr lang="en-US" sz="2400" dirty="0" smtClean="0"/>
              <a:t> </a:t>
            </a:r>
            <a:r>
              <a:rPr lang="en-US" sz="2400" dirty="0" err="1" smtClean="0"/>
              <a:t>neki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pojedinci</a:t>
            </a:r>
            <a:r>
              <a:rPr lang="en-US" sz="2400" dirty="0" smtClean="0"/>
              <a:t> </a:t>
            </a:r>
            <a:r>
              <a:rPr lang="en-US" sz="2400" dirty="0" err="1" smtClean="0"/>
              <a:t>postaju</a:t>
            </a:r>
            <a:r>
              <a:rPr lang="en-US" sz="2400" dirty="0" smtClean="0"/>
              <a:t> </a:t>
            </a:r>
            <a:r>
              <a:rPr lang="en-US" sz="2400" dirty="0" err="1" smtClean="0"/>
              <a:t>devijantni</a:t>
            </a:r>
            <a:r>
              <a:rPr lang="en-US" sz="2400" dirty="0" smtClean="0"/>
              <a:t>, a  </a:t>
            </a:r>
            <a:r>
              <a:rPr lang="en-US" sz="2400" dirty="0" err="1" smtClean="0"/>
              <a:t>neki</a:t>
            </a:r>
            <a:r>
              <a:rPr lang="en-US" sz="2400" dirty="0" smtClean="0"/>
              <a:t> ne </a:t>
            </a:r>
            <a:r>
              <a:rPr lang="en-US" sz="2400" dirty="0" err="1" smtClean="0"/>
              <a:t>postaju</a:t>
            </a:r>
            <a:r>
              <a:rPr lang="en-US" sz="2400" dirty="0" smtClean="0"/>
              <a:t> </a:t>
            </a:r>
            <a:r>
              <a:rPr lang="en-US" sz="2400" dirty="0" err="1" smtClean="0"/>
              <a:t>devijantni</a:t>
            </a:r>
            <a:r>
              <a:rPr lang="en-US" sz="2400" dirty="0" smtClean="0"/>
              <a:t>?, </a:t>
            </a:r>
            <a:r>
              <a:rPr lang="en-US" sz="2400" dirty="0" err="1" smtClean="0"/>
              <a:t>kako</a:t>
            </a:r>
            <a:r>
              <a:rPr lang="en-US" sz="2400" dirty="0" smtClean="0"/>
              <a:t> </a:t>
            </a:r>
            <a:r>
              <a:rPr lang="en-US" sz="2400" dirty="0" err="1" smtClean="0"/>
              <a:t>izgleda</a:t>
            </a:r>
            <a:r>
              <a:rPr lang="en-US" sz="2400" dirty="0" smtClean="0"/>
              <a:t> process </a:t>
            </a:r>
            <a:r>
              <a:rPr lang="en-US" sz="2400" dirty="0" err="1" smtClean="0"/>
              <a:t>odlučivanja</a:t>
            </a:r>
            <a:r>
              <a:rPr lang="en-US" sz="2400" dirty="0" smtClean="0"/>
              <a:t> u </a:t>
            </a:r>
            <a:r>
              <a:rPr lang="en-US" sz="2400" dirty="0" err="1" smtClean="0"/>
              <a:t>nekoj</a:t>
            </a:r>
            <a:r>
              <a:rPr lang="en-US" sz="2400" dirty="0" smtClean="0"/>
              <a:t> </a:t>
            </a:r>
            <a:r>
              <a:rPr lang="en-US" sz="2400" dirty="0" err="1" smtClean="0"/>
              <a:t>grupi</a:t>
            </a:r>
            <a:r>
              <a:rPr lang="en-US" sz="2400" dirty="0" smtClean="0"/>
              <a:t>?,</a:t>
            </a:r>
          </a:p>
          <a:p>
            <a:pPr marL="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8884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Simboli</a:t>
            </a:r>
            <a:r>
              <a:rPr lang="en-US" dirty="0" smtClean="0"/>
              <a:t> </a:t>
            </a:r>
            <a:br>
              <a:rPr lang="en-US" dirty="0" smtClean="0"/>
            </a:b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48" y="1196752"/>
            <a:ext cx="11305256" cy="5544615"/>
          </a:xfrm>
        </p:spPr>
        <p:txBody>
          <a:bodyPr/>
          <a:lstStyle/>
          <a:p>
            <a:r>
              <a:rPr lang="en-US" dirty="0" err="1" smtClean="0"/>
              <a:t>Interpretacija</a:t>
            </a:r>
            <a:r>
              <a:rPr lang="en-US" dirty="0" smtClean="0"/>
              <a:t> </a:t>
            </a:r>
            <a:r>
              <a:rPr lang="en-US" dirty="0" err="1" smtClean="0"/>
              <a:t>slike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dirty="0" err="1" smtClean="0"/>
              <a:t>Zašto</a:t>
            </a:r>
            <a:r>
              <a:rPr lang="en-US" dirty="0" smtClean="0"/>
              <a:t> se </a:t>
            </a:r>
            <a:r>
              <a:rPr lang="en-US" dirty="0" err="1" smtClean="0"/>
              <a:t>dvoje</a:t>
            </a:r>
            <a:r>
              <a:rPr lang="en-US" dirty="0" smtClean="0"/>
              <a:t> </a:t>
            </a:r>
            <a:r>
              <a:rPr lang="en-US" dirty="0" err="1" smtClean="0"/>
              <a:t>ljudi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slici</a:t>
            </a:r>
            <a:r>
              <a:rPr lang="en-US" dirty="0" smtClean="0"/>
              <a:t> </a:t>
            </a:r>
            <a:r>
              <a:rPr lang="en-US" dirty="0" err="1" smtClean="0"/>
              <a:t>drži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ruke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Da bi </a:t>
            </a:r>
            <a:r>
              <a:rPr lang="en-US" sz="2400" dirty="0" err="1" smtClean="0"/>
              <a:t>neki</a:t>
            </a:r>
            <a:r>
              <a:rPr lang="en-US" sz="2400" dirty="0" smtClean="0"/>
              <a:t> </a:t>
            </a:r>
            <a:r>
              <a:rPr lang="en-US" sz="2400" dirty="0" err="1" smtClean="0"/>
              <a:t>čin</a:t>
            </a:r>
            <a:r>
              <a:rPr lang="en-US" sz="2400" dirty="0" smtClean="0"/>
              <a:t> bio </a:t>
            </a:r>
            <a:r>
              <a:rPr lang="en-US" sz="2400" dirty="0" err="1" smtClean="0"/>
              <a:t>shvatljiv</a:t>
            </a:r>
            <a:r>
              <a:rPr lang="en-US" sz="2400" dirty="0" smtClean="0"/>
              <a:t> </a:t>
            </a:r>
            <a:r>
              <a:rPr lang="en-US" sz="2400" dirty="0" err="1" smtClean="0"/>
              <a:t>nama</a:t>
            </a:r>
            <a:r>
              <a:rPr lang="en-US" sz="2400" dirty="0" smtClean="0"/>
              <a:t> </a:t>
            </a:r>
            <a:r>
              <a:rPr lang="en-US" sz="2400" dirty="0" err="1" smtClean="0"/>
              <a:t>ostalima</a:t>
            </a:r>
            <a:r>
              <a:rPr lang="en-US" sz="2400" dirty="0" smtClean="0"/>
              <a:t>,</a:t>
            </a:r>
          </a:p>
          <a:p>
            <a:pPr marL="0" indent="0">
              <a:buNone/>
            </a:pPr>
            <a:r>
              <a:rPr lang="en-US" sz="2400" dirty="0" err="1" smtClean="0"/>
              <a:t>moramo</a:t>
            </a:r>
            <a:r>
              <a:rPr lang="en-US" sz="2400" dirty="0" smtClean="0"/>
              <a:t> </a:t>
            </a:r>
            <a:r>
              <a:rPr lang="en-US" sz="2400" dirty="0" err="1" smtClean="0"/>
              <a:t>otkriti</a:t>
            </a:r>
            <a:r>
              <a:rPr lang="en-US" sz="2400" dirty="0" smtClean="0"/>
              <a:t> </a:t>
            </a:r>
            <a:r>
              <a:rPr lang="en-US" sz="2400" dirty="0" err="1" smtClean="0"/>
              <a:t>kakvo</a:t>
            </a:r>
            <a:r>
              <a:rPr lang="en-US" sz="2400" dirty="0" smtClean="0"/>
              <a:t> on </a:t>
            </a:r>
            <a:r>
              <a:rPr lang="en-US" sz="2400" dirty="0" err="1" smtClean="0"/>
              <a:t>značenje</a:t>
            </a:r>
            <a:r>
              <a:rPr lang="en-U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same </a:t>
            </a:r>
            <a:r>
              <a:rPr lang="en-US" sz="2400" dirty="0" err="1" smtClean="0"/>
              <a:t>aktere</a:t>
            </a:r>
            <a:endParaRPr lang="en-US" sz="2400" dirty="0" smtClean="0"/>
          </a:p>
          <a:p>
            <a:r>
              <a:rPr lang="en-US" sz="2400" dirty="0" err="1" smtClean="0"/>
              <a:t>Interakcionistička</a:t>
            </a:r>
            <a:r>
              <a:rPr lang="en-US" sz="2400" dirty="0" smtClean="0"/>
              <a:t> </a:t>
            </a:r>
            <a:r>
              <a:rPr lang="en-US" sz="2400" dirty="0" err="1" smtClean="0"/>
              <a:t>perspektiva</a:t>
            </a:r>
            <a:r>
              <a:rPr lang="en-US" sz="2400" dirty="0" smtClean="0"/>
              <a:t> </a:t>
            </a:r>
            <a:r>
              <a:rPr lang="en-US" sz="2400" dirty="0" err="1" smtClean="0"/>
              <a:t>pokušava</a:t>
            </a:r>
            <a:r>
              <a:rPr lang="en-US" sz="2400" dirty="0" smtClean="0"/>
              <a:t> </a:t>
            </a:r>
            <a:r>
              <a:rPr lang="en-US" sz="2400" dirty="0" err="1" smtClean="0"/>
              <a:t>otkriti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način</a:t>
            </a:r>
            <a:r>
              <a:rPr lang="en-US" sz="2400" dirty="0" smtClean="0"/>
              <a:t> mi </a:t>
            </a:r>
            <a:r>
              <a:rPr lang="en-US" sz="2400" dirty="0" err="1" smtClean="0"/>
              <a:t>pridajemo</a:t>
            </a:r>
            <a:r>
              <a:rPr lang="en-US" sz="2400" dirty="0" smtClean="0"/>
              <a:t> </a:t>
            </a:r>
            <a:r>
              <a:rPr lang="en-US" sz="2400" dirty="0" err="1" smtClean="0"/>
              <a:t>značenja</a:t>
            </a:r>
            <a:r>
              <a:rPr lang="en-US" sz="2400" dirty="0" smtClean="0"/>
              <a:t>,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način</a:t>
            </a:r>
            <a:r>
              <a:rPr lang="en-US" sz="2400" dirty="0" smtClean="0"/>
              <a:t> </a:t>
            </a:r>
            <a:r>
              <a:rPr lang="en-US" sz="2400" dirty="0" err="1" smtClean="0"/>
              <a:t>interpretiramo</a:t>
            </a:r>
            <a:r>
              <a:rPr lang="en-US" sz="2400" dirty="0" smtClean="0"/>
              <a:t> </a:t>
            </a:r>
            <a:r>
              <a:rPr lang="en-US" sz="2400" dirty="0" err="1" smtClean="0"/>
              <a:t>simbole</a:t>
            </a:r>
            <a:r>
              <a:rPr lang="en-US" sz="2400" dirty="0" smtClean="0"/>
              <a:t> </a:t>
            </a:r>
          </a:p>
          <a:p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interakcioniste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realnost</a:t>
            </a:r>
            <a:r>
              <a:rPr lang="en-US" sz="2400" dirty="0" smtClean="0"/>
              <a:t> </a:t>
            </a:r>
            <a:r>
              <a:rPr lang="en-US" sz="2400" dirty="0" err="1" smtClean="0"/>
              <a:t>ni</a:t>
            </a:r>
            <a:r>
              <a:rPr lang="en-US" sz="2400" dirty="0" smtClean="0"/>
              <a:t> ne </a:t>
            </a:r>
            <a:r>
              <a:rPr lang="en-US" sz="2400" dirty="0" err="1" smtClean="0"/>
              <a:t>postoji</a:t>
            </a:r>
            <a:endParaRPr lang="en-US" sz="2400" dirty="0" smtClean="0"/>
          </a:p>
          <a:p>
            <a:r>
              <a:rPr lang="en-US" sz="2400" dirty="0" err="1" smtClean="0"/>
              <a:t>Društvo</a:t>
            </a:r>
            <a:r>
              <a:rPr lang="en-US" sz="2400" dirty="0" smtClean="0"/>
              <a:t> se </a:t>
            </a:r>
            <a:r>
              <a:rPr lang="en-US" sz="2400" dirty="0" err="1" smtClean="0"/>
              <a:t>svaki</a:t>
            </a:r>
            <a:r>
              <a:rPr lang="en-US" sz="2400" dirty="0" smtClean="0"/>
              <a:t> put </a:t>
            </a:r>
            <a:r>
              <a:rPr lang="en-US" sz="2400" dirty="0" err="1" smtClean="0"/>
              <a:t>nanovo</a:t>
            </a:r>
            <a:r>
              <a:rPr lang="en-US" sz="2400" dirty="0" smtClean="0"/>
              <a:t> </a:t>
            </a:r>
            <a:r>
              <a:rPr lang="en-US" sz="2400" dirty="0" err="1" smtClean="0"/>
              <a:t>stvara</a:t>
            </a:r>
            <a:r>
              <a:rPr lang="en-US" sz="2400" dirty="0" smtClean="0"/>
              <a:t> </a:t>
            </a:r>
            <a:r>
              <a:rPr lang="en-US" sz="2400" dirty="0" err="1" smtClean="0"/>
              <a:t>kroz</a:t>
            </a:r>
            <a:r>
              <a:rPr lang="en-US" sz="2400" dirty="0" smtClean="0"/>
              <a:t> </a:t>
            </a:r>
            <a:r>
              <a:rPr lang="en-US" sz="2400" dirty="0" err="1" smtClean="0"/>
              <a:t>naše</a:t>
            </a:r>
            <a:r>
              <a:rPr lang="en-US" sz="2400" dirty="0" smtClean="0"/>
              <a:t> </a:t>
            </a:r>
            <a:r>
              <a:rPr lang="en-US" sz="2400" dirty="0" err="1" smtClean="0"/>
              <a:t>interakcije</a:t>
            </a:r>
            <a:endParaRPr lang="en-US" sz="2400" dirty="0" smtClean="0"/>
          </a:p>
          <a:p>
            <a:r>
              <a:rPr lang="en-US" sz="2400" dirty="0" err="1" smtClean="0"/>
              <a:t>Mi</a:t>
            </a:r>
            <a:r>
              <a:rPr lang="en-US" sz="2400" dirty="0" smtClean="0"/>
              <a:t> </a:t>
            </a:r>
            <a:r>
              <a:rPr lang="en-US" sz="2400" dirty="0" err="1" smtClean="0"/>
              <a:t>našim</a:t>
            </a:r>
            <a:r>
              <a:rPr lang="en-US" sz="2400" dirty="0" smtClean="0"/>
              <a:t> </a:t>
            </a:r>
            <a:r>
              <a:rPr lang="en-US" sz="2400" dirty="0" err="1" smtClean="0"/>
              <a:t>interakcijama</a:t>
            </a:r>
            <a:r>
              <a:rPr lang="en-US" sz="2400" dirty="0" smtClean="0"/>
              <a:t> </a:t>
            </a:r>
            <a:r>
              <a:rPr lang="en-US" sz="2400" dirty="0" err="1" smtClean="0"/>
              <a:t>stvaramo</a:t>
            </a:r>
            <a:r>
              <a:rPr lang="en-US" sz="2400" dirty="0" smtClean="0"/>
              <a:t>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mijenjamo</a:t>
            </a:r>
            <a:r>
              <a:rPr lang="en-US" sz="2400" dirty="0" smtClean="0"/>
              <a:t> </a:t>
            </a:r>
            <a:r>
              <a:rPr lang="en-US" sz="2400" dirty="0" err="1" smtClean="0"/>
              <a:t>ga</a:t>
            </a:r>
            <a:endParaRPr lang="hr-HR" sz="2400" dirty="0"/>
          </a:p>
        </p:txBody>
      </p:sp>
      <p:pic>
        <p:nvPicPr>
          <p:cNvPr id="9218" name="Picture 2" descr="420 Couple Having Tea And Holding Hands Stock Photos, Pictures &amp;  Royalty-Free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460" y="324607"/>
            <a:ext cx="4608512" cy="305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14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0036" y="452718"/>
            <a:ext cx="8712968" cy="640528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Weber </a:t>
            </a:r>
            <a:r>
              <a:rPr lang="en-US" sz="2400" dirty="0" err="1" smtClean="0"/>
              <a:t>utjecao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razvoj</a:t>
            </a:r>
            <a:r>
              <a:rPr lang="en-US" sz="2400" dirty="0" smtClean="0"/>
              <a:t> </a:t>
            </a:r>
            <a:r>
              <a:rPr lang="en-US" sz="2400" dirty="0" err="1" smtClean="0"/>
              <a:t>interakcionističke</a:t>
            </a:r>
            <a:r>
              <a:rPr lang="en-US" sz="2400" dirty="0" smtClean="0"/>
              <a:t> </a:t>
            </a:r>
            <a:r>
              <a:rPr lang="en-US" sz="2400" dirty="0" err="1" smtClean="0"/>
              <a:t>perspektive</a:t>
            </a:r>
            <a:endParaRPr lang="en-US" sz="2400" dirty="0" smtClean="0"/>
          </a:p>
          <a:p>
            <a:r>
              <a:rPr lang="en-US" sz="2400" dirty="0" err="1" smtClean="0"/>
              <a:t>Smatrao</a:t>
            </a:r>
            <a:r>
              <a:rPr lang="en-US" sz="2400" dirty="0" smtClean="0"/>
              <a:t> da </a:t>
            </a:r>
            <a:r>
              <a:rPr lang="en-US" sz="2400" dirty="0" err="1" smtClean="0"/>
              <a:t>društvo</a:t>
            </a:r>
            <a:r>
              <a:rPr lang="en-US" sz="2400" dirty="0" smtClean="0"/>
              <a:t> </a:t>
            </a:r>
            <a:r>
              <a:rPr lang="en-US" sz="2400" dirty="0" err="1" smtClean="0"/>
              <a:t>možemo</a:t>
            </a:r>
            <a:r>
              <a:rPr lang="en-US" sz="2400" dirty="0" smtClean="0"/>
              <a:t> </a:t>
            </a:r>
            <a:r>
              <a:rPr lang="en-US" sz="2400" dirty="0" err="1" smtClean="0"/>
              <a:t>razumijeti</a:t>
            </a:r>
            <a:r>
              <a:rPr lang="en-US" sz="2400" dirty="0" smtClean="0"/>
              <a:t> </a:t>
            </a:r>
            <a:r>
              <a:rPr lang="en-US" sz="2400" dirty="0" err="1" smtClean="0"/>
              <a:t>ako</a:t>
            </a:r>
            <a:r>
              <a:rPr lang="en-US" sz="2400" dirty="0" smtClean="0"/>
              <a:t> </a:t>
            </a:r>
            <a:r>
              <a:rPr lang="en-US" sz="2400" dirty="0" err="1" smtClean="0"/>
              <a:t>razumijevamo</a:t>
            </a:r>
            <a:r>
              <a:rPr lang="en-US" sz="2400" dirty="0" smtClean="0"/>
              <a:t> </a:t>
            </a:r>
            <a:r>
              <a:rPr lang="en-US" sz="2400" dirty="0" err="1" smtClean="0"/>
              <a:t>individualne</a:t>
            </a:r>
            <a:r>
              <a:rPr lang="en-US" sz="2400" dirty="0" smtClean="0"/>
              <a:t> motive </a:t>
            </a:r>
            <a:r>
              <a:rPr lang="en-US" sz="2400" dirty="0" err="1" smtClean="0"/>
              <a:t>svakog</a:t>
            </a:r>
            <a:r>
              <a:rPr lang="en-US" sz="2400" dirty="0" smtClean="0"/>
              <a:t> </a:t>
            </a:r>
            <a:r>
              <a:rPr lang="en-US" sz="2400" dirty="0" err="1" smtClean="0"/>
              <a:t>pojedinca</a:t>
            </a:r>
            <a:r>
              <a:rPr lang="hr-HR" sz="2400" dirty="0" smtClean="0"/>
              <a:t> koji sudjeluje u društvenom djelovanju</a:t>
            </a:r>
            <a:endParaRPr lang="en-US" sz="2400" dirty="0" smtClean="0"/>
          </a:p>
          <a:p>
            <a:r>
              <a:rPr lang="en-US" sz="2400" dirty="0" err="1" smtClean="0"/>
              <a:t>Moramo</a:t>
            </a:r>
            <a:r>
              <a:rPr lang="en-US" sz="2400" dirty="0" smtClean="0"/>
              <a:t> </a:t>
            </a:r>
            <a:r>
              <a:rPr lang="en-US" sz="2400" dirty="0" err="1" smtClean="0"/>
              <a:t>razumijeti</a:t>
            </a:r>
            <a:r>
              <a:rPr lang="en-US" sz="2400" dirty="0" smtClean="0"/>
              <a:t> motive </a:t>
            </a:r>
            <a:r>
              <a:rPr lang="en-US" sz="2400" dirty="0" err="1" smtClean="0"/>
              <a:t>pojedinaca</a:t>
            </a:r>
            <a:r>
              <a:rPr lang="en-US" sz="2400" dirty="0" smtClean="0"/>
              <a:t> </a:t>
            </a:r>
            <a:r>
              <a:rPr lang="hr-HR" sz="2400" dirty="0" smtClean="0"/>
              <a:t>i ući u subjektivne aspekte djelovanja</a:t>
            </a:r>
          </a:p>
          <a:p>
            <a:r>
              <a:rPr lang="hr-HR" sz="2400" dirty="0" smtClean="0"/>
              <a:t>George Herbert Mead razvio teoriju </a:t>
            </a:r>
            <a:r>
              <a:rPr lang="hr-HR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SIMBOLIČKOG INTERAKCIONIZMA</a:t>
            </a:r>
          </a:p>
          <a:p>
            <a:r>
              <a:rPr lang="hr-HR" sz="2400" dirty="0" smtClean="0"/>
              <a:t>Pojedinci ne žive samo u svojoj fizičkoj okolini, nego žive u svojoj simboličkoj okolini</a:t>
            </a:r>
          </a:p>
          <a:p>
            <a:r>
              <a:rPr lang="hr-HR" sz="2400" dirty="0" smtClean="0"/>
              <a:t>U  našem svakodnevnom životu pridajemo različita značenja stvarima koje nas okružuju (slikama, zvukovima, pojavama, procesima</a:t>
            </a:r>
          </a:p>
          <a:p>
            <a:r>
              <a:rPr lang="hr-HR" sz="2400" dirty="0" smtClean="0"/>
              <a:t>Mi stalno pridajemo značenja i na temelju toga se onda ponašamo</a:t>
            </a:r>
          </a:p>
          <a:p>
            <a:endParaRPr lang="hr-HR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242" name="Picture 2" descr="Max Weber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72" y="188640"/>
            <a:ext cx="1944216" cy="266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1764" y="306896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Max Weber</a:t>
            </a:r>
            <a:endParaRPr lang="hr-HR" b="1" dirty="0"/>
          </a:p>
        </p:txBody>
      </p:sp>
      <p:pic>
        <p:nvPicPr>
          <p:cNvPr id="10244" name="Picture 4" descr="George Herbert Mead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3439160"/>
            <a:ext cx="2099298" cy="258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6165304"/>
            <a:ext cx="270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 smtClean="0"/>
              <a:t>George Herbert Mead</a:t>
            </a:r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414215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025" y="452718"/>
            <a:ext cx="8945192" cy="1400530"/>
          </a:xfrm>
        </p:spPr>
        <p:txBody>
          <a:bodyPr/>
          <a:lstStyle/>
          <a:p>
            <a:r>
              <a:rPr lang="hr-HR" sz="2800" dirty="0" smtClean="0"/>
              <a:t>Razmisli i zapiši kako bi različite sociološke perspektive objasnile religiju?</a:t>
            </a:r>
            <a:endParaRPr lang="hr-H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Content Placeholder 6"/>
          <p:cNvSpPr txBox="1">
            <a:spLocks/>
          </p:cNvSpPr>
          <p:nvPr/>
        </p:nvSpPr>
        <p:spPr>
          <a:xfrm>
            <a:off x="310937" y="452718"/>
            <a:ext cx="792088" cy="515144"/>
          </a:xfrm>
          <a:prstGeom prst="irregularSeal1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      </a:t>
            </a:r>
            <a:endParaRPr lang="hr-HR" dirty="0"/>
          </a:p>
        </p:txBody>
      </p:sp>
      <p:pic>
        <p:nvPicPr>
          <p:cNvPr id="11266" name="Picture 2" descr="How Many Religions Are There in the World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119" y="1758645"/>
            <a:ext cx="7180022" cy="452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84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67195</TotalTime>
  <Words>4328</Words>
  <Application>Microsoft Office PowerPoint</Application>
  <PresentationFormat>Custom</PresentationFormat>
  <Paragraphs>483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Arial</vt:lpstr>
      <vt:lpstr>Century Gothic</vt:lpstr>
      <vt:lpstr>Wingdings</vt:lpstr>
      <vt:lpstr>Wingdings 3</vt:lpstr>
      <vt:lpstr>Ion</vt:lpstr>
      <vt:lpstr>DEVIJANTNOST </vt:lpstr>
      <vt:lpstr>SOCIOLOŠKA OBJAŠNJENJA DEVIJANTNOSTI </vt:lpstr>
      <vt:lpstr>PowerPoint Presentation</vt:lpstr>
      <vt:lpstr>PowerPoint Presentation</vt:lpstr>
      <vt:lpstr>PowerPoint Presentation</vt:lpstr>
      <vt:lpstr>IDENTITET – INDIVIDUALNI I KOLEKTIVNI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SEKUNDARNI IDENTITET</vt:lpstr>
      <vt:lpstr>SUBKULTURE I KONTRAKULTURE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OBITELJ I FUNKCIJE OBITELJI SASTAV I VRSTE OBITELJI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BRAK I VRSTE BRAKA</vt:lpstr>
      <vt:lpstr>PowerPoint Presentation</vt:lpstr>
      <vt:lpstr>Kratka povijest braka</vt:lpstr>
      <vt:lpstr>VRSTE BRAKA (prema broju supružnika)</vt:lpstr>
      <vt:lpstr>POLIGAMIJA </vt:lpstr>
      <vt:lpstr>POLIGINIJA </vt:lpstr>
      <vt:lpstr>POLIANDRIJA</vt:lpstr>
      <vt:lpstr>PowerPoint Presentation</vt:lpstr>
      <vt:lpstr>KULTURNA PRAVILA ZA SKLAPANJE BRAKA</vt:lpstr>
      <vt:lpstr>PowerPoint Presentation</vt:lpstr>
      <vt:lpstr>PowerPoint Presentation</vt:lpstr>
      <vt:lpstr>Zabrana incesta</vt:lpstr>
      <vt:lpstr>PowerPoint Presentation</vt:lpstr>
      <vt:lpstr>DRUŠTVENA STRATIFIKACIJA I STRATIFIKACIJSKI SUSTAVI</vt:lpstr>
      <vt:lpstr>PowerPoint Presentation</vt:lpstr>
      <vt:lpstr>PowerPoint Presentation</vt:lpstr>
      <vt:lpstr>Osnovna komponenta društvene stratifikacije je DRUŠTVENI SLOJ (socijalni stratum)  Odnosi se na skupinu pojedinaca koji imaju slične životne šanse.  Pripadnici određenog društvenog sloja su povezani odnosim i interakcijama koji ih čine ZBILJSKOM I KOHEZIVNOM društvenom grupom – određeni društveni sloj utječe na najvažnije aspekte života tih ljudi – očekivano trajanje života, obiteljski život, obrazovanje, religiju, politiku i njihove statove</vt:lpstr>
      <vt:lpstr>PowerPoint Presentation</vt:lpstr>
      <vt:lpstr>SOCIOLOŠKE PERSPEKTIVE O STRATIFIKACIJI</vt:lpstr>
      <vt:lpstr>Društvena stratifikacija u modernim društvima</vt:lpstr>
      <vt:lpstr>Moć </vt:lpstr>
      <vt:lpstr>PowerPoint Presentation</vt:lpstr>
      <vt:lpstr>Bogatstvo</vt:lpstr>
      <vt:lpstr>Ugled </vt:lpstr>
      <vt:lpstr>PowerPoint Presentation</vt:lpstr>
      <vt:lpstr>PowerPoint Presentation</vt:lpstr>
      <vt:lpstr>PowerPoint Presentation</vt:lpstr>
      <vt:lpstr>SOCIJALNA MOBILNOST</vt:lpstr>
      <vt:lpstr>PowerPoint Presentation</vt:lpstr>
      <vt:lpstr>Temeljne sociološke perspective  FUNKCIONALISTIČKA PERSPEKTIVA (FUNKCIONALIZAM)</vt:lpstr>
      <vt:lpstr>PowerPoint Presentation</vt:lpstr>
      <vt:lpstr>Teoretičari koji su utjecali na funkcionalističku perspektivu</vt:lpstr>
      <vt:lpstr>PowerPoint Presentation</vt:lpstr>
      <vt:lpstr>PowerPoint Presentation</vt:lpstr>
      <vt:lpstr>PowerPoint Presentation</vt:lpstr>
      <vt:lpstr>KONFLIKTNA TEORIJA</vt:lpstr>
      <vt:lpstr>TEORETIČAR KOJI JE UTJECAO NA KONFLIKTNU PERSPEKTIVU</vt:lpstr>
      <vt:lpstr>PowerPoint Presentation</vt:lpstr>
      <vt:lpstr>  HISTORIJSKI MATERIJALIZAM</vt:lpstr>
      <vt:lpstr>PowerPoint Presentation</vt:lpstr>
      <vt:lpstr>ALIJENACIJA/OTUĐENJE</vt:lpstr>
      <vt:lpstr>PowerPoint Presentation</vt:lpstr>
      <vt:lpstr>Temeljne sociološke perspektive: INTERAKCIONISTIČKA PERSPEKTIVA</vt:lpstr>
      <vt:lpstr>Kako možemo promatrati društvo?</vt:lpstr>
      <vt:lpstr>PowerPoint Presentation</vt:lpstr>
      <vt:lpstr>Ponovimo (funkcionalizam ili konfliktna teorija) </vt:lpstr>
      <vt:lpstr>INTERAKCIONISTIČKA PERSPEKTIVA (INTERAKCIONIZAM)</vt:lpstr>
      <vt:lpstr>Simboli  </vt:lpstr>
      <vt:lpstr>PowerPoint Presentation</vt:lpstr>
      <vt:lpstr>Razmisli i zapiši kako bi različite sociološke perspektive objasnile religiju?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DRUŠTVO I SOCIOLOGIJA</dc:title>
  <dc:creator>Maja Bachler</dc:creator>
  <cp:lastModifiedBy>Windows User</cp:lastModifiedBy>
  <cp:revision>369</cp:revision>
  <dcterms:created xsi:type="dcterms:W3CDTF">2020-08-29T13:07:53Z</dcterms:created>
  <dcterms:modified xsi:type="dcterms:W3CDTF">2023-09-10T16:43:15Z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74064300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