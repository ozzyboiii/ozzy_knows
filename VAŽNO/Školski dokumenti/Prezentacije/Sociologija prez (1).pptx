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56" r:id="rId3"/>
    <p:sldId id="257" r:id="rId4"/>
    <p:sldId id="258" r:id="rId5"/>
    <p:sldId id="259" r:id="rId6"/>
    <p:sldId id="260" r:id="rId7"/>
    <p:sldId id="261" r:id="rId8"/>
    <p:sldId id="262" r:id="rId9"/>
    <p:sldId id="263" r:id="rId10"/>
    <p:sldId id="264" r:id="rId11"/>
    <p:sldId id="265" r:id="rId12"/>
    <p:sldId id="266" r:id="rId13"/>
    <p:sldId id="358" r:id="rId14"/>
    <p:sldId id="359" r:id="rId15"/>
    <p:sldId id="268" r:id="rId16"/>
    <p:sldId id="269" r:id="rId17"/>
    <p:sldId id="270" r:id="rId18"/>
    <p:sldId id="271" r:id="rId19"/>
    <p:sldId id="272" r:id="rId20"/>
    <p:sldId id="273"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 id="324" r:id="rId71"/>
    <p:sldId id="325" r:id="rId72"/>
    <p:sldId id="326" r:id="rId73"/>
    <p:sldId id="327" r:id="rId74"/>
    <p:sldId id="328" r:id="rId75"/>
    <p:sldId id="329" r:id="rId76"/>
    <p:sldId id="330" r:id="rId77"/>
    <p:sldId id="331" r:id="rId78"/>
    <p:sldId id="332" r:id="rId79"/>
    <p:sldId id="333" r:id="rId80"/>
    <p:sldId id="334" r:id="rId81"/>
    <p:sldId id="335" r:id="rId82"/>
    <p:sldId id="336" r:id="rId83"/>
    <p:sldId id="337" r:id="rId84"/>
    <p:sldId id="338" r:id="rId85"/>
    <p:sldId id="339" r:id="rId86"/>
    <p:sldId id="340" r:id="rId87"/>
    <p:sldId id="341" r:id="rId88"/>
    <p:sldId id="342" r:id="rId89"/>
    <p:sldId id="343" r:id="rId90"/>
    <p:sldId id="344" r:id="rId91"/>
    <p:sldId id="345" r:id="rId92"/>
    <p:sldId id="346" r:id="rId93"/>
    <p:sldId id="347" r:id="rId94"/>
    <p:sldId id="348" r:id="rId95"/>
    <p:sldId id="349" r:id="rId96"/>
    <p:sldId id="350" r:id="rId97"/>
    <p:sldId id="351" r:id="rId98"/>
    <p:sldId id="352" r:id="rId99"/>
    <p:sldId id="353" r:id="rId100"/>
    <p:sldId id="354" r:id="rId101"/>
    <p:sldId id="355" r:id="rId102"/>
    <p:sldId id="356" r:id="rId103"/>
    <p:sldId id="357" r:id="rId104"/>
  </p:sldIdLst>
  <p:sldSz cx="12192000" cy="6858000"/>
  <p:notesSz cx="6858000" cy="9144000"/>
  <p:defaultTextStyle>
    <a:defPPr>
      <a:defRPr lang="sr-Latn-R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4" autoAdjust="0"/>
    <p:restoredTop sz="94660"/>
  </p:normalViewPr>
  <p:slideViewPr>
    <p:cSldViewPr snapToGrid="0">
      <p:cViewPr>
        <p:scale>
          <a:sx n="100" d="100"/>
          <a:sy n="100" d="100"/>
        </p:scale>
        <p:origin x="58" y="-6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07" Type="http://schemas.openxmlformats.org/officeDocument/2006/relationships/theme" Target="theme/theme1.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viewProps" Target="view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1.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hr-H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hr-HR"/>
          </a:p>
        </p:txBody>
      </p:sp>
      <p:sp>
        <p:nvSpPr>
          <p:cNvPr id="4" name="Date Placeholder 3"/>
          <p:cNvSpPr>
            <a:spLocks noGrp="1"/>
          </p:cNvSpPr>
          <p:nvPr>
            <p:ph type="dt" sz="half" idx="10"/>
          </p:nvPr>
        </p:nvSpPr>
        <p:spPr/>
        <p:txBody>
          <a:bodyPr/>
          <a:lstStyle/>
          <a:p>
            <a:fld id="{FF33B7FD-7301-4C2C-9DF6-6BF7F7747944}" type="datetimeFigureOut">
              <a:rPr lang="hr-HR" smtClean="0"/>
              <a:t>15.9.2024.</a:t>
            </a:fld>
            <a:endParaRPr lang="hr-HR"/>
          </a:p>
        </p:txBody>
      </p:sp>
      <p:sp>
        <p:nvSpPr>
          <p:cNvPr id="5" name="Footer Placeholder 4"/>
          <p:cNvSpPr>
            <a:spLocks noGrp="1"/>
          </p:cNvSpPr>
          <p:nvPr>
            <p:ph type="ftr" sz="quarter" idx="11"/>
          </p:nvPr>
        </p:nvSpPr>
        <p:spPr/>
        <p:txBody>
          <a:bodyPr/>
          <a:lstStyle/>
          <a:p>
            <a:endParaRPr lang="hr-HR"/>
          </a:p>
        </p:txBody>
      </p:sp>
      <p:sp>
        <p:nvSpPr>
          <p:cNvPr id="6" name="Slide Number Placeholder 5"/>
          <p:cNvSpPr>
            <a:spLocks noGrp="1"/>
          </p:cNvSpPr>
          <p:nvPr>
            <p:ph type="sldNum" sz="quarter" idx="12"/>
          </p:nvPr>
        </p:nvSpPr>
        <p:spPr/>
        <p:txBody>
          <a:bodyPr/>
          <a:lstStyle/>
          <a:p>
            <a:fld id="{089F3CDE-5BF5-4459-B9BB-EF016EF11392}" type="slidenum">
              <a:rPr lang="hr-HR" smtClean="0"/>
              <a:t>‹#›</a:t>
            </a:fld>
            <a:endParaRPr lang="hr-HR"/>
          </a:p>
        </p:txBody>
      </p:sp>
    </p:spTree>
    <p:extLst>
      <p:ext uri="{BB962C8B-B14F-4D97-AF65-F5344CB8AC3E}">
        <p14:creationId xmlns:p14="http://schemas.microsoft.com/office/powerpoint/2010/main" val="21830050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r-H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hr-HR"/>
          </a:p>
        </p:txBody>
      </p:sp>
      <p:sp>
        <p:nvSpPr>
          <p:cNvPr id="4" name="Date Placeholder 3"/>
          <p:cNvSpPr>
            <a:spLocks noGrp="1"/>
          </p:cNvSpPr>
          <p:nvPr>
            <p:ph type="dt" sz="half" idx="10"/>
          </p:nvPr>
        </p:nvSpPr>
        <p:spPr/>
        <p:txBody>
          <a:bodyPr/>
          <a:lstStyle/>
          <a:p>
            <a:fld id="{FF33B7FD-7301-4C2C-9DF6-6BF7F7747944}" type="datetimeFigureOut">
              <a:rPr lang="hr-HR" smtClean="0"/>
              <a:t>15.9.2024.</a:t>
            </a:fld>
            <a:endParaRPr lang="hr-HR"/>
          </a:p>
        </p:txBody>
      </p:sp>
      <p:sp>
        <p:nvSpPr>
          <p:cNvPr id="5" name="Footer Placeholder 4"/>
          <p:cNvSpPr>
            <a:spLocks noGrp="1"/>
          </p:cNvSpPr>
          <p:nvPr>
            <p:ph type="ftr" sz="quarter" idx="11"/>
          </p:nvPr>
        </p:nvSpPr>
        <p:spPr/>
        <p:txBody>
          <a:bodyPr/>
          <a:lstStyle/>
          <a:p>
            <a:endParaRPr lang="hr-HR"/>
          </a:p>
        </p:txBody>
      </p:sp>
      <p:sp>
        <p:nvSpPr>
          <p:cNvPr id="6" name="Slide Number Placeholder 5"/>
          <p:cNvSpPr>
            <a:spLocks noGrp="1"/>
          </p:cNvSpPr>
          <p:nvPr>
            <p:ph type="sldNum" sz="quarter" idx="12"/>
          </p:nvPr>
        </p:nvSpPr>
        <p:spPr/>
        <p:txBody>
          <a:bodyPr/>
          <a:lstStyle/>
          <a:p>
            <a:fld id="{089F3CDE-5BF5-4459-B9BB-EF016EF11392}" type="slidenum">
              <a:rPr lang="hr-HR" smtClean="0"/>
              <a:t>‹#›</a:t>
            </a:fld>
            <a:endParaRPr lang="hr-HR"/>
          </a:p>
        </p:txBody>
      </p:sp>
    </p:spTree>
    <p:extLst>
      <p:ext uri="{BB962C8B-B14F-4D97-AF65-F5344CB8AC3E}">
        <p14:creationId xmlns:p14="http://schemas.microsoft.com/office/powerpoint/2010/main" val="22918907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hr-H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F33B7FD-7301-4C2C-9DF6-6BF7F7747944}" type="datetimeFigureOut">
              <a:rPr lang="hr-HR" smtClean="0"/>
              <a:t>15.9.2024.</a:t>
            </a:fld>
            <a:endParaRPr lang="hr-HR"/>
          </a:p>
        </p:txBody>
      </p:sp>
      <p:sp>
        <p:nvSpPr>
          <p:cNvPr id="5" name="Footer Placeholder 4"/>
          <p:cNvSpPr>
            <a:spLocks noGrp="1"/>
          </p:cNvSpPr>
          <p:nvPr>
            <p:ph type="ftr" sz="quarter" idx="11"/>
          </p:nvPr>
        </p:nvSpPr>
        <p:spPr/>
        <p:txBody>
          <a:bodyPr/>
          <a:lstStyle/>
          <a:p>
            <a:endParaRPr lang="hr-HR"/>
          </a:p>
        </p:txBody>
      </p:sp>
      <p:sp>
        <p:nvSpPr>
          <p:cNvPr id="6" name="Slide Number Placeholder 5"/>
          <p:cNvSpPr>
            <a:spLocks noGrp="1"/>
          </p:cNvSpPr>
          <p:nvPr>
            <p:ph type="sldNum" sz="quarter" idx="12"/>
          </p:nvPr>
        </p:nvSpPr>
        <p:spPr/>
        <p:txBody>
          <a:bodyPr/>
          <a:lstStyle/>
          <a:p>
            <a:fld id="{089F3CDE-5BF5-4459-B9BB-EF016EF11392}" type="slidenum">
              <a:rPr lang="hr-HR" smtClean="0"/>
              <a:t>‹#›</a:t>
            </a:fld>
            <a:endParaRPr lang="hr-HR"/>
          </a:p>
        </p:txBody>
      </p:sp>
    </p:spTree>
    <p:extLst>
      <p:ext uri="{BB962C8B-B14F-4D97-AF65-F5344CB8AC3E}">
        <p14:creationId xmlns:p14="http://schemas.microsoft.com/office/powerpoint/2010/main" val="39177047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r-H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hr-H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hr-HR"/>
          </a:p>
        </p:txBody>
      </p:sp>
      <p:sp>
        <p:nvSpPr>
          <p:cNvPr id="5" name="Date Placeholder 4"/>
          <p:cNvSpPr>
            <a:spLocks noGrp="1"/>
          </p:cNvSpPr>
          <p:nvPr>
            <p:ph type="dt" sz="half" idx="10"/>
          </p:nvPr>
        </p:nvSpPr>
        <p:spPr/>
        <p:txBody>
          <a:bodyPr/>
          <a:lstStyle/>
          <a:p>
            <a:fld id="{FF33B7FD-7301-4C2C-9DF6-6BF7F7747944}" type="datetimeFigureOut">
              <a:rPr lang="hr-HR" smtClean="0"/>
              <a:t>15.9.2024.</a:t>
            </a:fld>
            <a:endParaRPr lang="hr-HR"/>
          </a:p>
        </p:txBody>
      </p:sp>
      <p:sp>
        <p:nvSpPr>
          <p:cNvPr id="6" name="Footer Placeholder 5"/>
          <p:cNvSpPr>
            <a:spLocks noGrp="1"/>
          </p:cNvSpPr>
          <p:nvPr>
            <p:ph type="ftr" sz="quarter" idx="11"/>
          </p:nvPr>
        </p:nvSpPr>
        <p:spPr/>
        <p:txBody>
          <a:bodyPr/>
          <a:lstStyle/>
          <a:p>
            <a:endParaRPr lang="hr-HR"/>
          </a:p>
        </p:txBody>
      </p:sp>
      <p:sp>
        <p:nvSpPr>
          <p:cNvPr id="7" name="Slide Number Placeholder 6"/>
          <p:cNvSpPr>
            <a:spLocks noGrp="1"/>
          </p:cNvSpPr>
          <p:nvPr>
            <p:ph type="sldNum" sz="quarter" idx="12"/>
          </p:nvPr>
        </p:nvSpPr>
        <p:spPr/>
        <p:txBody>
          <a:bodyPr/>
          <a:lstStyle/>
          <a:p>
            <a:fld id="{089F3CDE-5BF5-4459-B9BB-EF016EF11392}" type="slidenum">
              <a:rPr lang="hr-HR" smtClean="0"/>
              <a:t>‹#›</a:t>
            </a:fld>
            <a:endParaRPr lang="hr-HR"/>
          </a:p>
        </p:txBody>
      </p:sp>
    </p:spTree>
    <p:extLst>
      <p:ext uri="{BB962C8B-B14F-4D97-AF65-F5344CB8AC3E}">
        <p14:creationId xmlns:p14="http://schemas.microsoft.com/office/powerpoint/2010/main" val="28280348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hr-H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hr-H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hr-HR"/>
          </a:p>
        </p:txBody>
      </p:sp>
      <p:sp>
        <p:nvSpPr>
          <p:cNvPr id="7" name="Date Placeholder 6"/>
          <p:cNvSpPr>
            <a:spLocks noGrp="1"/>
          </p:cNvSpPr>
          <p:nvPr>
            <p:ph type="dt" sz="half" idx="10"/>
          </p:nvPr>
        </p:nvSpPr>
        <p:spPr/>
        <p:txBody>
          <a:bodyPr/>
          <a:lstStyle/>
          <a:p>
            <a:fld id="{FF33B7FD-7301-4C2C-9DF6-6BF7F7747944}" type="datetimeFigureOut">
              <a:rPr lang="hr-HR" smtClean="0"/>
              <a:t>15.9.2024.</a:t>
            </a:fld>
            <a:endParaRPr lang="hr-HR"/>
          </a:p>
        </p:txBody>
      </p:sp>
      <p:sp>
        <p:nvSpPr>
          <p:cNvPr id="8" name="Footer Placeholder 7"/>
          <p:cNvSpPr>
            <a:spLocks noGrp="1"/>
          </p:cNvSpPr>
          <p:nvPr>
            <p:ph type="ftr" sz="quarter" idx="11"/>
          </p:nvPr>
        </p:nvSpPr>
        <p:spPr/>
        <p:txBody>
          <a:bodyPr/>
          <a:lstStyle/>
          <a:p>
            <a:endParaRPr lang="hr-HR"/>
          </a:p>
        </p:txBody>
      </p:sp>
      <p:sp>
        <p:nvSpPr>
          <p:cNvPr id="9" name="Slide Number Placeholder 8"/>
          <p:cNvSpPr>
            <a:spLocks noGrp="1"/>
          </p:cNvSpPr>
          <p:nvPr>
            <p:ph type="sldNum" sz="quarter" idx="12"/>
          </p:nvPr>
        </p:nvSpPr>
        <p:spPr/>
        <p:txBody>
          <a:bodyPr/>
          <a:lstStyle/>
          <a:p>
            <a:fld id="{089F3CDE-5BF5-4459-B9BB-EF016EF11392}" type="slidenum">
              <a:rPr lang="hr-HR" smtClean="0"/>
              <a:t>‹#›</a:t>
            </a:fld>
            <a:endParaRPr lang="hr-HR"/>
          </a:p>
        </p:txBody>
      </p:sp>
    </p:spTree>
    <p:extLst>
      <p:ext uri="{BB962C8B-B14F-4D97-AF65-F5344CB8AC3E}">
        <p14:creationId xmlns:p14="http://schemas.microsoft.com/office/powerpoint/2010/main" val="26769563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r-HR"/>
          </a:p>
        </p:txBody>
      </p:sp>
      <p:sp>
        <p:nvSpPr>
          <p:cNvPr id="3" name="Date Placeholder 2"/>
          <p:cNvSpPr>
            <a:spLocks noGrp="1"/>
          </p:cNvSpPr>
          <p:nvPr>
            <p:ph type="dt" sz="half" idx="10"/>
          </p:nvPr>
        </p:nvSpPr>
        <p:spPr/>
        <p:txBody>
          <a:bodyPr/>
          <a:lstStyle/>
          <a:p>
            <a:fld id="{FF33B7FD-7301-4C2C-9DF6-6BF7F7747944}" type="datetimeFigureOut">
              <a:rPr lang="hr-HR" smtClean="0"/>
              <a:t>15.9.2024.</a:t>
            </a:fld>
            <a:endParaRPr lang="hr-HR"/>
          </a:p>
        </p:txBody>
      </p:sp>
      <p:sp>
        <p:nvSpPr>
          <p:cNvPr id="4" name="Footer Placeholder 3"/>
          <p:cNvSpPr>
            <a:spLocks noGrp="1"/>
          </p:cNvSpPr>
          <p:nvPr>
            <p:ph type="ftr" sz="quarter" idx="11"/>
          </p:nvPr>
        </p:nvSpPr>
        <p:spPr/>
        <p:txBody>
          <a:bodyPr/>
          <a:lstStyle/>
          <a:p>
            <a:endParaRPr lang="hr-HR"/>
          </a:p>
        </p:txBody>
      </p:sp>
      <p:sp>
        <p:nvSpPr>
          <p:cNvPr id="5" name="Slide Number Placeholder 4"/>
          <p:cNvSpPr>
            <a:spLocks noGrp="1"/>
          </p:cNvSpPr>
          <p:nvPr>
            <p:ph type="sldNum" sz="quarter" idx="12"/>
          </p:nvPr>
        </p:nvSpPr>
        <p:spPr/>
        <p:txBody>
          <a:bodyPr/>
          <a:lstStyle/>
          <a:p>
            <a:fld id="{089F3CDE-5BF5-4459-B9BB-EF016EF11392}" type="slidenum">
              <a:rPr lang="hr-HR" smtClean="0"/>
              <a:t>‹#›</a:t>
            </a:fld>
            <a:endParaRPr lang="hr-HR"/>
          </a:p>
        </p:txBody>
      </p:sp>
    </p:spTree>
    <p:extLst>
      <p:ext uri="{BB962C8B-B14F-4D97-AF65-F5344CB8AC3E}">
        <p14:creationId xmlns:p14="http://schemas.microsoft.com/office/powerpoint/2010/main" val="951620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F33B7FD-7301-4C2C-9DF6-6BF7F7747944}" type="datetimeFigureOut">
              <a:rPr lang="hr-HR" smtClean="0"/>
              <a:t>15.9.2024.</a:t>
            </a:fld>
            <a:endParaRPr lang="hr-HR"/>
          </a:p>
        </p:txBody>
      </p:sp>
      <p:sp>
        <p:nvSpPr>
          <p:cNvPr id="3" name="Footer Placeholder 2"/>
          <p:cNvSpPr>
            <a:spLocks noGrp="1"/>
          </p:cNvSpPr>
          <p:nvPr>
            <p:ph type="ftr" sz="quarter" idx="11"/>
          </p:nvPr>
        </p:nvSpPr>
        <p:spPr/>
        <p:txBody>
          <a:bodyPr/>
          <a:lstStyle/>
          <a:p>
            <a:endParaRPr lang="hr-HR"/>
          </a:p>
        </p:txBody>
      </p:sp>
      <p:sp>
        <p:nvSpPr>
          <p:cNvPr id="4" name="Slide Number Placeholder 3"/>
          <p:cNvSpPr>
            <a:spLocks noGrp="1"/>
          </p:cNvSpPr>
          <p:nvPr>
            <p:ph type="sldNum" sz="quarter" idx="12"/>
          </p:nvPr>
        </p:nvSpPr>
        <p:spPr/>
        <p:txBody>
          <a:bodyPr/>
          <a:lstStyle/>
          <a:p>
            <a:fld id="{089F3CDE-5BF5-4459-B9BB-EF016EF11392}" type="slidenum">
              <a:rPr lang="hr-HR" smtClean="0"/>
              <a:t>‹#›</a:t>
            </a:fld>
            <a:endParaRPr lang="hr-HR"/>
          </a:p>
        </p:txBody>
      </p:sp>
    </p:spTree>
    <p:extLst>
      <p:ext uri="{BB962C8B-B14F-4D97-AF65-F5344CB8AC3E}">
        <p14:creationId xmlns:p14="http://schemas.microsoft.com/office/powerpoint/2010/main" val="34924237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hr-H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hr-H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F33B7FD-7301-4C2C-9DF6-6BF7F7747944}" type="datetimeFigureOut">
              <a:rPr lang="hr-HR" smtClean="0"/>
              <a:t>15.9.2024.</a:t>
            </a:fld>
            <a:endParaRPr lang="hr-HR"/>
          </a:p>
        </p:txBody>
      </p:sp>
      <p:sp>
        <p:nvSpPr>
          <p:cNvPr id="6" name="Footer Placeholder 5"/>
          <p:cNvSpPr>
            <a:spLocks noGrp="1"/>
          </p:cNvSpPr>
          <p:nvPr>
            <p:ph type="ftr" sz="quarter" idx="11"/>
          </p:nvPr>
        </p:nvSpPr>
        <p:spPr/>
        <p:txBody>
          <a:bodyPr/>
          <a:lstStyle/>
          <a:p>
            <a:endParaRPr lang="hr-HR"/>
          </a:p>
        </p:txBody>
      </p:sp>
      <p:sp>
        <p:nvSpPr>
          <p:cNvPr id="7" name="Slide Number Placeholder 6"/>
          <p:cNvSpPr>
            <a:spLocks noGrp="1"/>
          </p:cNvSpPr>
          <p:nvPr>
            <p:ph type="sldNum" sz="quarter" idx="12"/>
          </p:nvPr>
        </p:nvSpPr>
        <p:spPr/>
        <p:txBody>
          <a:bodyPr/>
          <a:lstStyle/>
          <a:p>
            <a:fld id="{089F3CDE-5BF5-4459-B9BB-EF016EF11392}" type="slidenum">
              <a:rPr lang="hr-HR" smtClean="0"/>
              <a:t>‹#›</a:t>
            </a:fld>
            <a:endParaRPr lang="hr-HR"/>
          </a:p>
        </p:txBody>
      </p:sp>
    </p:spTree>
    <p:extLst>
      <p:ext uri="{BB962C8B-B14F-4D97-AF65-F5344CB8AC3E}">
        <p14:creationId xmlns:p14="http://schemas.microsoft.com/office/powerpoint/2010/main" val="34845557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hr-H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r-H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F33B7FD-7301-4C2C-9DF6-6BF7F7747944}" type="datetimeFigureOut">
              <a:rPr lang="hr-HR" smtClean="0"/>
              <a:t>15.9.2024.</a:t>
            </a:fld>
            <a:endParaRPr lang="hr-HR"/>
          </a:p>
        </p:txBody>
      </p:sp>
      <p:sp>
        <p:nvSpPr>
          <p:cNvPr id="6" name="Footer Placeholder 5"/>
          <p:cNvSpPr>
            <a:spLocks noGrp="1"/>
          </p:cNvSpPr>
          <p:nvPr>
            <p:ph type="ftr" sz="quarter" idx="11"/>
          </p:nvPr>
        </p:nvSpPr>
        <p:spPr/>
        <p:txBody>
          <a:bodyPr/>
          <a:lstStyle/>
          <a:p>
            <a:endParaRPr lang="hr-HR"/>
          </a:p>
        </p:txBody>
      </p:sp>
      <p:sp>
        <p:nvSpPr>
          <p:cNvPr id="7" name="Slide Number Placeholder 6"/>
          <p:cNvSpPr>
            <a:spLocks noGrp="1"/>
          </p:cNvSpPr>
          <p:nvPr>
            <p:ph type="sldNum" sz="quarter" idx="12"/>
          </p:nvPr>
        </p:nvSpPr>
        <p:spPr/>
        <p:txBody>
          <a:bodyPr/>
          <a:lstStyle/>
          <a:p>
            <a:fld id="{089F3CDE-5BF5-4459-B9BB-EF016EF11392}" type="slidenum">
              <a:rPr lang="hr-HR" smtClean="0"/>
              <a:t>‹#›</a:t>
            </a:fld>
            <a:endParaRPr lang="hr-HR"/>
          </a:p>
        </p:txBody>
      </p:sp>
    </p:spTree>
    <p:extLst>
      <p:ext uri="{BB962C8B-B14F-4D97-AF65-F5344CB8AC3E}">
        <p14:creationId xmlns:p14="http://schemas.microsoft.com/office/powerpoint/2010/main" val="31229129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r-H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hr-HR"/>
          </a:p>
        </p:txBody>
      </p:sp>
      <p:sp>
        <p:nvSpPr>
          <p:cNvPr id="4" name="Date Placeholder 3"/>
          <p:cNvSpPr>
            <a:spLocks noGrp="1"/>
          </p:cNvSpPr>
          <p:nvPr>
            <p:ph type="dt" sz="half" idx="10"/>
          </p:nvPr>
        </p:nvSpPr>
        <p:spPr/>
        <p:txBody>
          <a:bodyPr/>
          <a:lstStyle/>
          <a:p>
            <a:fld id="{FF33B7FD-7301-4C2C-9DF6-6BF7F7747944}" type="datetimeFigureOut">
              <a:rPr lang="hr-HR" smtClean="0"/>
              <a:t>15.9.2024.</a:t>
            </a:fld>
            <a:endParaRPr lang="hr-HR"/>
          </a:p>
        </p:txBody>
      </p:sp>
      <p:sp>
        <p:nvSpPr>
          <p:cNvPr id="5" name="Footer Placeholder 4"/>
          <p:cNvSpPr>
            <a:spLocks noGrp="1"/>
          </p:cNvSpPr>
          <p:nvPr>
            <p:ph type="ftr" sz="quarter" idx="11"/>
          </p:nvPr>
        </p:nvSpPr>
        <p:spPr/>
        <p:txBody>
          <a:bodyPr/>
          <a:lstStyle/>
          <a:p>
            <a:endParaRPr lang="hr-HR"/>
          </a:p>
        </p:txBody>
      </p:sp>
      <p:sp>
        <p:nvSpPr>
          <p:cNvPr id="6" name="Slide Number Placeholder 5"/>
          <p:cNvSpPr>
            <a:spLocks noGrp="1"/>
          </p:cNvSpPr>
          <p:nvPr>
            <p:ph type="sldNum" sz="quarter" idx="12"/>
          </p:nvPr>
        </p:nvSpPr>
        <p:spPr/>
        <p:txBody>
          <a:bodyPr/>
          <a:lstStyle/>
          <a:p>
            <a:fld id="{089F3CDE-5BF5-4459-B9BB-EF016EF11392}" type="slidenum">
              <a:rPr lang="hr-HR" smtClean="0"/>
              <a:t>‹#›</a:t>
            </a:fld>
            <a:endParaRPr lang="hr-HR"/>
          </a:p>
        </p:txBody>
      </p:sp>
    </p:spTree>
    <p:extLst>
      <p:ext uri="{BB962C8B-B14F-4D97-AF65-F5344CB8AC3E}">
        <p14:creationId xmlns:p14="http://schemas.microsoft.com/office/powerpoint/2010/main" val="19041892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hr-H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hr-HR"/>
          </a:p>
        </p:txBody>
      </p:sp>
      <p:sp>
        <p:nvSpPr>
          <p:cNvPr id="4" name="Date Placeholder 3"/>
          <p:cNvSpPr>
            <a:spLocks noGrp="1"/>
          </p:cNvSpPr>
          <p:nvPr>
            <p:ph type="dt" sz="half" idx="10"/>
          </p:nvPr>
        </p:nvSpPr>
        <p:spPr/>
        <p:txBody>
          <a:bodyPr/>
          <a:lstStyle/>
          <a:p>
            <a:fld id="{FF33B7FD-7301-4C2C-9DF6-6BF7F7747944}" type="datetimeFigureOut">
              <a:rPr lang="hr-HR" smtClean="0"/>
              <a:t>15.9.2024.</a:t>
            </a:fld>
            <a:endParaRPr lang="hr-HR"/>
          </a:p>
        </p:txBody>
      </p:sp>
      <p:sp>
        <p:nvSpPr>
          <p:cNvPr id="5" name="Footer Placeholder 4"/>
          <p:cNvSpPr>
            <a:spLocks noGrp="1"/>
          </p:cNvSpPr>
          <p:nvPr>
            <p:ph type="ftr" sz="quarter" idx="11"/>
          </p:nvPr>
        </p:nvSpPr>
        <p:spPr/>
        <p:txBody>
          <a:bodyPr/>
          <a:lstStyle/>
          <a:p>
            <a:endParaRPr lang="hr-HR"/>
          </a:p>
        </p:txBody>
      </p:sp>
      <p:sp>
        <p:nvSpPr>
          <p:cNvPr id="6" name="Slide Number Placeholder 5"/>
          <p:cNvSpPr>
            <a:spLocks noGrp="1"/>
          </p:cNvSpPr>
          <p:nvPr>
            <p:ph type="sldNum" sz="quarter" idx="12"/>
          </p:nvPr>
        </p:nvSpPr>
        <p:spPr/>
        <p:txBody>
          <a:bodyPr/>
          <a:lstStyle/>
          <a:p>
            <a:fld id="{089F3CDE-5BF5-4459-B9BB-EF016EF11392}" type="slidenum">
              <a:rPr lang="hr-HR" smtClean="0"/>
              <a:t>‹#›</a:t>
            </a:fld>
            <a:endParaRPr lang="hr-HR"/>
          </a:p>
        </p:txBody>
      </p:sp>
    </p:spTree>
    <p:extLst>
      <p:ext uri="{BB962C8B-B14F-4D97-AF65-F5344CB8AC3E}">
        <p14:creationId xmlns:p14="http://schemas.microsoft.com/office/powerpoint/2010/main" val="14926032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F33B7FD-7301-4C2C-9DF6-6BF7F7747944}" type="datetimeFigureOut">
              <a:rPr lang="hr-HR" smtClean="0"/>
              <a:t>15.9.2024.</a:t>
            </a:fld>
            <a:endParaRPr lang="hr-HR"/>
          </a:p>
        </p:txBody>
      </p:sp>
      <p:sp>
        <p:nvSpPr>
          <p:cNvPr id="5" name="Footer Placeholder 4"/>
          <p:cNvSpPr>
            <a:spLocks noGrp="1"/>
          </p:cNvSpPr>
          <p:nvPr>
            <p:ph type="ftr" sz="quarter" idx="11"/>
          </p:nvPr>
        </p:nvSpPr>
        <p:spPr/>
        <p:txBody>
          <a:bodyPr/>
          <a:lstStyle/>
          <a:p>
            <a:endParaRPr lang="hr-HR"/>
          </a:p>
        </p:txBody>
      </p:sp>
      <p:sp>
        <p:nvSpPr>
          <p:cNvPr id="6" name="Slide Number Placeholder 5"/>
          <p:cNvSpPr>
            <a:spLocks noGrp="1"/>
          </p:cNvSpPr>
          <p:nvPr>
            <p:ph type="sldNum" sz="quarter" idx="12"/>
          </p:nvPr>
        </p:nvSpPr>
        <p:spPr/>
        <p:txBody>
          <a:bodyPr/>
          <a:lstStyle/>
          <a:p>
            <a:fld id="{089F3CDE-5BF5-4459-B9BB-EF016EF11392}" type="slidenum">
              <a:rPr lang="hr-HR" smtClean="0"/>
              <a:t>‹#›</a:t>
            </a:fld>
            <a:endParaRPr lang="hr-HR"/>
          </a:p>
        </p:txBody>
      </p:sp>
    </p:spTree>
    <p:extLst>
      <p:ext uri="{BB962C8B-B14F-4D97-AF65-F5344CB8AC3E}">
        <p14:creationId xmlns:p14="http://schemas.microsoft.com/office/powerpoint/2010/main" val="26799764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FF33B7FD-7301-4C2C-9DF6-6BF7F7747944}" type="datetimeFigureOut">
              <a:rPr lang="hr-HR" smtClean="0"/>
              <a:t>15.9.2024.</a:t>
            </a:fld>
            <a:endParaRPr lang="hr-HR"/>
          </a:p>
        </p:txBody>
      </p:sp>
      <p:sp>
        <p:nvSpPr>
          <p:cNvPr id="5" name="Footer Placeholder 4"/>
          <p:cNvSpPr>
            <a:spLocks noGrp="1"/>
          </p:cNvSpPr>
          <p:nvPr>
            <p:ph type="ftr" sz="quarter" idx="11"/>
          </p:nvPr>
        </p:nvSpPr>
        <p:spPr/>
        <p:txBody>
          <a:bodyPr/>
          <a:lstStyle/>
          <a:p>
            <a:endParaRPr lang="hr-HR"/>
          </a:p>
        </p:txBody>
      </p:sp>
      <p:sp>
        <p:nvSpPr>
          <p:cNvPr id="6" name="Slide Number Placeholder 5"/>
          <p:cNvSpPr>
            <a:spLocks noGrp="1"/>
          </p:cNvSpPr>
          <p:nvPr>
            <p:ph type="sldNum" sz="quarter" idx="12"/>
          </p:nvPr>
        </p:nvSpPr>
        <p:spPr/>
        <p:txBody>
          <a:bodyPr/>
          <a:lstStyle/>
          <a:p>
            <a:fld id="{089F3CDE-5BF5-4459-B9BB-EF016EF11392}" type="slidenum">
              <a:rPr lang="hr-HR" smtClean="0"/>
              <a:t>‹#›</a:t>
            </a:fld>
            <a:endParaRPr lang="hr-HR"/>
          </a:p>
        </p:txBody>
      </p:sp>
    </p:spTree>
    <p:extLst>
      <p:ext uri="{BB962C8B-B14F-4D97-AF65-F5344CB8AC3E}">
        <p14:creationId xmlns:p14="http://schemas.microsoft.com/office/powerpoint/2010/main" val="3369676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F33B7FD-7301-4C2C-9DF6-6BF7F7747944}" type="datetimeFigureOut">
              <a:rPr lang="hr-HR" smtClean="0"/>
              <a:t>15.9.2024.</a:t>
            </a:fld>
            <a:endParaRPr lang="hr-HR"/>
          </a:p>
        </p:txBody>
      </p:sp>
      <p:sp>
        <p:nvSpPr>
          <p:cNvPr id="5" name="Footer Placeholder 4"/>
          <p:cNvSpPr>
            <a:spLocks noGrp="1"/>
          </p:cNvSpPr>
          <p:nvPr>
            <p:ph type="ftr" sz="quarter" idx="11"/>
          </p:nvPr>
        </p:nvSpPr>
        <p:spPr/>
        <p:txBody>
          <a:bodyPr/>
          <a:lstStyle/>
          <a:p>
            <a:endParaRPr lang="hr-HR"/>
          </a:p>
        </p:txBody>
      </p:sp>
      <p:sp>
        <p:nvSpPr>
          <p:cNvPr id="6" name="Slide Number Placeholder 5"/>
          <p:cNvSpPr>
            <a:spLocks noGrp="1"/>
          </p:cNvSpPr>
          <p:nvPr>
            <p:ph type="sldNum" sz="quarter" idx="12"/>
          </p:nvPr>
        </p:nvSpPr>
        <p:spPr/>
        <p:txBody>
          <a:bodyPr/>
          <a:lstStyle/>
          <a:p>
            <a:fld id="{089F3CDE-5BF5-4459-B9BB-EF016EF11392}" type="slidenum">
              <a:rPr lang="hr-HR" smtClean="0"/>
              <a:t>‹#›</a:t>
            </a:fld>
            <a:endParaRPr lang="hr-HR"/>
          </a:p>
        </p:txBody>
      </p:sp>
    </p:spTree>
    <p:extLst>
      <p:ext uri="{BB962C8B-B14F-4D97-AF65-F5344CB8AC3E}">
        <p14:creationId xmlns:p14="http://schemas.microsoft.com/office/powerpoint/2010/main" val="39993020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F33B7FD-7301-4C2C-9DF6-6BF7F7747944}" type="datetimeFigureOut">
              <a:rPr lang="hr-HR" smtClean="0"/>
              <a:t>15.9.2024.</a:t>
            </a:fld>
            <a:endParaRPr lang="hr-HR"/>
          </a:p>
        </p:txBody>
      </p:sp>
      <p:sp>
        <p:nvSpPr>
          <p:cNvPr id="6" name="Footer Placeholder 5"/>
          <p:cNvSpPr>
            <a:spLocks noGrp="1"/>
          </p:cNvSpPr>
          <p:nvPr>
            <p:ph type="ftr" sz="quarter" idx="11"/>
          </p:nvPr>
        </p:nvSpPr>
        <p:spPr/>
        <p:txBody>
          <a:bodyPr/>
          <a:lstStyle/>
          <a:p>
            <a:endParaRPr lang="hr-HR"/>
          </a:p>
        </p:txBody>
      </p:sp>
      <p:sp>
        <p:nvSpPr>
          <p:cNvPr id="7" name="Slide Number Placeholder 6"/>
          <p:cNvSpPr>
            <a:spLocks noGrp="1"/>
          </p:cNvSpPr>
          <p:nvPr>
            <p:ph type="sldNum" sz="quarter" idx="12"/>
          </p:nvPr>
        </p:nvSpPr>
        <p:spPr/>
        <p:txBody>
          <a:bodyPr/>
          <a:lstStyle/>
          <a:p>
            <a:fld id="{089F3CDE-5BF5-4459-B9BB-EF016EF11392}" type="slidenum">
              <a:rPr lang="hr-HR" smtClean="0"/>
              <a:t>‹#›</a:t>
            </a:fld>
            <a:endParaRPr lang="hr-HR"/>
          </a:p>
        </p:txBody>
      </p:sp>
    </p:spTree>
    <p:extLst>
      <p:ext uri="{BB962C8B-B14F-4D97-AF65-F5344CB8AC3E}">
        <p14:creationId xmlns:p14="http://schemas.microsoft.com/office/powerpoint/2010/main" val="20193681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F33B7FD-7301-4C2C-9DF6-6BF7F7747944}" type="datetimeFigureOut">
              <a:rPr lang="hr-HR" smtClean="0"/>
              <a:t>15.9.2024.</a:t>
            </a:fld>
            <a:endParaRPr lang="hr-HR"/>
          </a:p>
        </p:txBody>
      </p:sp>
      <p:sp>
        <p:nvSpPr>
          <p:cNvPr id="8" name="Footer Placeholder 7"/>
          <p:cNvSpPr>
            <a:spLocks noGrp="1"/>
          </p:cNvSpPr>
          <p:nvPr>
            <p:ph type="ftr" sz="quarter" idx="11"/>
          </p:nvPr>
        </p:nvSpPr>
        <p:spPr/>
        <p:txBody>
          <a:bodyPr/>
          <a:lstStyle/>
          <a:p>
            <a:endParaRPr lang="hr-HR"/>
          </a:p>
        </p:txBody>
      </p:sp>
      <p:sp>
        <p:nvSpPr>
          <p:cNvPr id="9" name="Slide Number Placeholder 8"/>
          <p:cNvSpPr>
            <a:spLocks noGrp="1"/>
          </p:cNvSpPr>
          <p:nvPr>
            <p:ph type="sldNum" sz="quarter" idx="12"/>
          </p:nvPr>
        </p:nvSpPr>
        <p:spPr/>
        <p:txBody>
          <a:bodyPr/>
          <a:lstStyle/>
          <a:p>
            <a:fld id="{089F3CDE-5BF5-4459-B9BB-EF016EF11392}" type="slidenum">
              <a:rPr lang="hr-HR" smtClean="0"/>
              <a:t>‹#›</a:t>
            </a:fld>
            <a:endParaRPr lang="hr-HR"/>
          </a:p>
        </p:txBody>
      </p:sp>
    </p:spTree>
    <p:extLst>
      <p:ext uri="{BB962C8B-B14F-4D97-AF65-F5344CB8AC3E}">
        <p14:creationId xmlns:p14="http://schemas.microsoft.com/office/powerpoint/2010/main" val="26343548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FF33B7FD-7301-4C2C-9DF6-6BF7F7747944}" type="datetimeFigureOut">
              <a:rPr lang="hr-HR" smtClean="0"/>
              <a:t>15.9.2024.</a:t>
            </a:fld>
            <a:endParaRPr lang="hr-HR"/>
          </a:p>
        </p:txBody>
      </p:sp>
      <p:sp>
        <p:nvSpPr>
          <p:cNvPr id="5" name="Footer Placeholder 3"/>
          <p:cNvSpPr>
            <a:spLocks noGrp="1"/>
          </p:cNvSpPr>
          <p:nvPr>
            <p:ph type="ftr" sz="quarter" idx="11"/>
          </p:nvPr>
        </p:nvSpPr>
        <p:spPr/>
        <p:txBody>
          <a:bodyPr/>
          <a:lstStyle/>
          <a:p>
            <a:endParaRPr lang="hr-HR"/>
          </a:p>
        </p:txBody>
      </p:sp>
      <p:sp>
        <p:nvSpPr>
          <p:cNvPr id="6" name="Slide Number Placeholder 4"/>
          <p:cNvSpPr>
            <a:spLocks noGrp="1"/>
          </p:cNvSpPr>
          <p:nvPr>
            <p:ph type="sldNum" sz="quarter" idx="12"/>
          </p:nvPr>
        </p:nvSpPr>
        <p:spPr/>
        <p:txBody>
          <a:bodyPr/>
          <a:lstStyle/>
          <a:p>
            <a:fld id="{089F3CDE-5BF5-4459-B9BB-EF016EF11392}" type="slidenum">
              <a:rPr lang="hr-HR" smtClean="0"/>
              <a:t>‹#›</a:t>
            </a:fld>
            <a:endParaRPr lang="hr-HR"/>
          </a:p>
        </p:txBody>
      </p:sp>
    </p:spTree>
    <p:extLst>
      <p:ext uri="{BB962C8B-B14F-4D97-AF65-F5344CB8AC3E}">
        <p14:creationId xmlns:p14="http://schemas.microsoft.com/office/powerpoint/2010/main" val="293192327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FF33B7FD-7301-4C2C-9DF6-6BF7F7747944}" type="datetimeFigureOut">
              <a:rPr lang="hr-HR" smtClean="0"/>
              <a:t>15.9.2024.</a:t>
            </a:fld>
            <a:endParaRPr lang="hr-HR"/>
          </a:p>
        </p:txBody>
      </p:sp>
      <p:sp>
        <p:nvSpPr>
          <p:cNvPr id="5" name="Footer Placeholder 2"/>
          <p:cNvSpPr>
            <a:spLocks noGrp="1"/>
          </p:cNvSpPr>
          <p:nvPr>
            <p:ph type="ftr" sz="quarter" idx="11"/>
          </p:nvPr>
        </p:nvSpPr>
        <p:spPr/>
        <p:txBody>
          <a:bodyPr/>
          <a:lstStyle/>
          <a:p>
            <a:endParaRPr lang="hr-HR"/>
          </a:p>
        </p:txBody>
      </p:sp>
      <p:sp>
        <p:nvSpPr>
          <p:cNvPr id="6" name="Slide Number Placeholder 3"/>
          <p:cNvSpPr>
            <a:spLocks noGrp="1"/>
          </p:cNvSpPr>
          <p:nvPr>
            <p:ph type="sldNum" sz="quarter" idx="12"/>
          </p:nvPr>
        </p:nvSpPr>
        <p:spPr/>
        <p:txBody>
          <a:bodyPr/>
          <a:lstStyle/>
          <a:p>
            <a:fld id="{089F3CDE-5BF5-4459-B9BB-EF016EF11392}" type="slidenum">
              <a:rPr lang="hr-HR" smtClean="0"/>
              <a:t>‹#›</a:t>
            </a:fld>
            <a:endParaRPr lang="hr-HR"/>
          </a:p>
        </p:txBody>
      </p:sp>
    </p:spTree>
    <p:extLst>
      <p:ext uri="{BB962C8B-B14F-4D97-AF65-F5344CB8AC3E}">
        <p14:creationId xmlns:p14="http://schemas.microsoft.com/office/powerpoint/2010/main" val="30716501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7" name="Date Placeholder 4"/>
          <p:cNvSpPr>
            <a:spLocks noGrp="1"/>
          </p:cNvSpPr>
          <p:nvPr>
            <p:ph type="dt" sz="half" idx="10"/>
          </p:nvPr>
        </p:nvSpPr>
        <p:spPr/>
        <p:txBody>
          <a:bodyPr/>
          <a:lstStyle/>
          <a:p>
            <a:fld id="{FF33B7FD-7301-4C2C-9DF6-6BF7F7747944}" type="datetimeFigureOut">
              <a:rPr lang="hr-HR" smtClean="0"/>
              <a:t>15.9.2024.</a:t>
            </a:fld>
            <a:endParaRPr lang="hr-HR"/>
          </a:p>
        </p:txBody>
      </p:sp>
      <p:sp>
        <p:nvSpPr>
          <p:cNvPr id="5" name="Footer Placeholder 5"/>
          <p:cNvSpPr>
            <a:spLocks noGrp="1"/>
          </p:cNvSpPr>
          <p:nvPr>
            <p:ph type="ftr" sz="quarter" idx="11"/>
          </p:nvPr>
        </p:nvSpPr>
        <p:spPr/>
        <p:txBody>
          <a:bodyPr/>
          <a:lstStyle/>
          <a:p>
            <a:endParaRPr lang="hr-HR"/>
          </a:p>
        </p:txBody>
      </p:sp>
      <p:sp>
        <p:nvSpPr>
          <p:cNvPr id="6" name="Slide Number Placeholder 6"/>
          <p:cNvSpPr>
            <a:spLocks noGrp="1"/>
          </p:cNvSpPr>
          <p:nvPr>
            <p:ph type="sldNum" sz="quarter" idx="12"/>
          </p:nvPr>
        </p:nvSpPr>
        <p:spPr/>
        <p:txBody>
          <a:bodyPr/>
          <a:lstStyle/>
          <a:p>
            <a:fld id="{089F3CDE-5BF5-4459-B9BB-EF016EF11392}" type="slidenum">
              <a:rPr lang="hr-HR" smtClean="0"/>
              <a:t>‹#›</a:t>
            </a:fld>
            <a:endParaRPr lang="hr-HR"/>
          </a:p>
        </p:txBody>
      </p:sp>
    </p:spTree>
    <p:extLst>
      <p:ext uri="{BB962C8B-B14F-4D97-AF65-F5344CB8AC3E}">
        <p14:creationId xmlns:p14="http://schemas.microsoft.com/office/powerpoint/2010/main" val="3626440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FF33B7FD-7301-4C2C-9DF6-6BF7F7747944}" type="datetimeFigureOut">
              <a:rPr lang="hr-HR" smtClean="0"/>
              <a:t>15.9.2024.</a:t>
            </a:fld>
            <a:endParaRPr lang="hr-HR"/>
          </a:p>
        </p:txBody>
      </p:sp>
      <p:sp>
        <p:nvSpPr>
          <p:cNvPr id="6" name="Footer Placeholder 5"/>
          <p:cNvSpPr>
            <a:spLocks noGrp="1"/>
          </p:cNvSpPr>
          <p:nvPr>
            <p:ph type="ftr" sz="quarter" idx="11"/>
          </p:nvPr>
        </p:nvSpPr>
        <p:spPr/>
        <p:txBody>
          <a:bodyPr/>
          <a:lstStyle/>
          <a:p>
            <a:endParaRPr lang="hr-HR"/>
          </a:p>
        </p:txBody>
      </p:sp>
      <p:sp>
        <p:nvSpPr>
          <p:cNvPr id="7" name="Slide Number Placeholder 6"/>
          <p:cNvSpPr>
            <a:spLocks noGrp="1"/>
          </p:cNvSpPr>
          <p:nvPr>
            <p:ph type="sldNum" sz="quarter" idx="12"/>
          </p:nvPr>
        </p:nvSpPr>
        <p:spPr/>
        <p:txBody>
          <a:bodyPr/>
          <a:lstStyle/>
          <a:p>
            <a:fld id="{089F3CDE-5BF5-4459-B9BB-EF016EF11392}" type="slidenum">
              <a:rPr lang="hr-HR" smtClean="0"/>
              <a:t>‹#›</a:t>
            </a:fld>
            <a:endParaRPr lang="hr-HR"/>
          </a:p>
        </p:txBody>
      </p:sp>
    </p:spTree>
    <p:extLst>
      <p:ext uri="{BB962C8B-B14F-4D97-AF65-F5344CB8AC3E}">
        <p14:creationId xmlns:p14="http://schemas.microsoft.com/office/powerpoint/2010/main" val="11929636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FF33B7FD-7301-4C2C-9DF6-6BF7F7747944}" type="datetimeFigureOut">
              <a:rPr lang="hr-HR" smtClean="0"/>
              <a:t>15.9.2024.</a:t>
            </a:fld>
            <a:endParaRPr lang="hr-HR"/>
          </a:p>
        </p:txBody>
      </p:sp>
      <p:sp>
        <p:nvSpPr>
          <p:cNvPr id="6" name="Footer Placeholder 5"/>
          <p:cNvSpPr>
            <a:spLocks noGrp="1"/>
          </p:cNvSpPr>
          <p:nvPr>
            <p:ph type="ftr" sz="quarter" idx="11"/>
          </p:nvPr>
        </p:nvSpPr>
        <p:spPr/>
        <p:txBody>
          <a:bodyPr/>
          <a:lstStyle/>
          <a:p>
            <a:endParaRPr lang="hr-HR"/>
          </a:p>
        </p:txBody>
      </p:sp>
      <p:sp>
        <p:nvSpPr>
          <p:cNvPr id="7" name="Slide Number Placeholder 6"/>
          <p:cNvSpPr>
            <a:spLocks noGrp="1"/>
          </p:cNvSpPr>
          <p:nvPr>
            <p:ph type="sldNum" sz="quarter" idx="12"/>
          </p:nvPr>
        </p:nvSpPr>
        <p:spPr/>
        <p:txBody>
          <a:bodyPr/>
          <a:lstStyle/>
          <a:p>
            <a:fld id="{089F3CDE-5BF5-4459-B9BB-EF016EF11392}" type="slidenum">
              <a:rPr lang="hr-HR" smtClean="0"/>
              <a:t>‹#›</a:t>
            </a:fld>
            <a:endParaRPr lang="hr-HR"/>
          </a:p>
        </p:txBody>
      </p:sp>
    </p:spTree>
    <p:extLst>
      <p:ext uri="{BB962C8B-B14F-4D97-AF65-F5344CB8AC3E}">
        <p14:creationId xmlns:p14="http://schemas.microsoft.com/office/powerpoint/2010/main" val="9219605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FF33B7FD-7301-4C2C-9DF6-6BF7F7747944}" type="datetimeFigureOut">
              <a:rPr lang="hr-HR" smtClean="0"/>
              <a:t>15.9.2024.</a:t>
            </a:fld>
            <a:endParaRPr lang="hr-HR"/>
          </a:p>
        </p:txBody>
      </p:sp>
      <p:sp>
        <p:nvSpPr>
          <p:cNvPr id="5" name="Footer Placeholder 4"/>
          <p:cNvSpPr>
            <a:spLocks noGrp="1"/>
          </p:cNvSpPr>
          <p:nvPr>
            <p:ph type="ftr" sz="quarter" idx="11"/>
          </p:nvPr>
        </p:nvSpPr>
        <p:spPr/>
        <p:txBody>
          <a:bodyPr/>
          <a:lstStyle/>
          <a:p>
            <a:endParaRPr lang="hr-HR"/>
          </a:p>
        </p:txBody>
      </p:sp>
      <p:sp>
        <p:nvSpPr>
          <p:cNvPr id="6" name="Slide Number Placeholder 5"/>
          <p:cNvSpPr>
            <a:spLocks noGrp="1"/>
          </p:cNvSpPr>
          <p:nvPr>
            <p:ph type="sldNum" sz="quarter" idx="12"/>
          </p:nvPr>
        </p:nvSpPr>
        <p:spPr/>
        <p:txBody>
          <a:bodyPr/>
          <a:lstStyle/>
          <a:p>
            <a:fld id="{089F3CDE-5BF5-4459-B9BB-EF016EF11392}" type="slidenum">
              <a:rPr lang="hr-HR" smtClean="0"/>
              <a:t>‹#›</a:t>
            </a:fld>
            <a:endParaRPr lang="hr-HR"/>
          </a:p>
        </p:txBody>
      </p:sp>
    </p:spTree>
    <p:extLst>
      <p:ext uri="{BB962C8B-B14F-4D97-AF65-F5344CB8AC3E}">
        <p14:creationId xmlns:p14="http://schemas.microsoft.com/office/powerpoint/2010/main" val="45031354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FF33B7FD-7301-4C2C-9DF6-6BF7F7747944}" type="datetimeFigureOut">
              <a:rPr lang="hr-HR" smtClean="0"/>
              <a:t>15.9.2024.</a:t>
            </a:fld>
            <a:endParaRPr lang="hr-HR"/>
          </a:p>
        </p:txBody>
      </p:sp>
      <p:sp>
        <p:nvSpPr>
          <p:cNvPr id="5" name="Footer Placeholder 4"/>
          <p:cNvSpPr>
            <a:spLocks noGrp="1"/>
          </p:cNvSpPr>
          <p:nvPr>
            <p:ph type="ftr" sz="quarter" idx="11"/>
          </p:nvPr>
        </p:nvSpPr>
        <p:spPr/>
        <p:txBody>
          <a:bodyPr/>
          <a:lstStyle/>
          <a:p>
            <a:endParaRPr lang="hr-HR"/>
          </a:p>
        </p:txBody>
      </p:sp>
      <p:sp>
        <p:nvSpPr>
          <p:cNvPr id="6" name="Slide Number Placeholder 5"/>
          <p:cNvSpPr>
            <a:spLocks noGrp="1"/>
          </p:cNvSpPr>
          <p:nvPr>
            <p:ph type="sldNum" sz="quarter" idx="12"/>
          </p:nvPr>
        </p:nvSpPr>
        <p:spPr/>
        <p:txBody>
          <a:bodyPr/>
          <a:lstStyle/>
          <a:p>
            <a:fld id="{089F3CDE-5BF5-4459-B9BB-EF016EF11392}" type="slidenum">
              <a:rPr lang="hr-HR" smtClean="0"/>
              <a:t>‹#›</a:t>
            </a:fld>
            <a:endParaRPr lang="hr-HR"/>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15332984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F33B7FD-7301-4C2C-9DF6-6BF7F7747944}" type="datetimeFigureOut">
              <a:rPr lang="hr-HR" smtClean="0"/>
              <a:t>15.9.2024.</a:t>
            </a:fld>
            <a:endParaRPr lang="hr-HR"/>
          </a:p>
        </p:txBody>
      </p:sp>
      <p:sp>
        <p:nvSpPr>
          <p:cNvPr id="5" name="Footer Placeholder 4"/>
          <p:cNvSpPr>
            <a:spLocks noGrp="1"/>
          </p:cNvSpPr>
          <p:nvPr>
            <p:ph type="ftr" sz="quarter" idx="11"/>
          </p:nvPr>
        </p:nvSpPr>
        <p:spPr/>
        <p:txBody>
          <a:bodyPr/>
          <a:lstStyle/>
          <a:p>
            <a:endParaRPr lang="hr-HR"/>
          </a:p>
        </p:txBody>
      </p:sp>
      <p:sp>
        <p:nvSpPr>
          <p:cNvPr id="6" name="Slide Number Placeholder 5"/>
          <p:cNvSpPr>
            <a:spLocks noGrp="1"/>
          </p:cNvSpPr>
          <p:nvPr>
            <p:ph type="sldNum" sz="quarter" idx="12"/>
          </p:nvPr>
        </p:nvSpPr>
        <p:spPr/>
        <p:txBody>
          <a:bodyPr/>
          <a:lstStyle/>
          <a:p>
            <a:fld id="{089F3CDE-5BF5-4459-B9BB-EF016EF11392}" type="slidenum">
              <a:rPr lang="hr-HR" smtClean="0"/>
              <a:t>‹#›</a:t>
            </a:fld>
            <a:endParaRPr lang="hr-HR"/>
          </a:p>
        </p:txBody>
      </p:sp>
    </p:spTree>
    <p:extLst>
      <p:ext uri="{BB962C8B-B14F-4D97-AF65-F5344CB8AC3E}">
        <p14:creationId xmlns:p14="http://schemas.microsoft.com/office/powerpoint/2010/main" val="164512551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FF33B7FD-7301-4C2C-9DF6-6BF7F7747944}" type="datetimeFigureOut">
              <a:rPr lang="hr-HR" smtClean="0"/>
              <a:t>15.9.2024.</a:t>
            </a:fld>
            <a:endParaRPr lang="hr-HR"/>
          </a:p>
        </p:txBody>
      </p:sp>
      <p:sp>
        <p:nvSpPr>
          <p:cNvPr id="4" name="Footer Placeholder 4"/>
          <p:cNvSpPr>
            <a:spLocks noGrp="1"/>
          </p:cNvSpPr>
          <p:nvPr>
            <p:ph type="ftr" sz="quarter" idx="11"/>
          </p:nvPr>
        </p:nvSpPr>
        <p:spPr/>
        <p:txBody>
          <a:bodyPr/>
          <a:lstStyle/>
          <a:p>
            <a:endParaRPr lang="hr-HR"/>
          </a:p>
        </p:txBody>
      </p:sp>
      <p:sp>
        <p:nvSpPr>
          <p:cNvPr id="6" name="Slide Number Placeholder 5"/>
          <p:cNvSpPr>
            <a:spLocks noGrp="1"/>
          </p:cNvSpPr>
          <p:nvPr>
            <p:ph type="sldNum" sz="quarter" idx="12"/>
          </p:nvPr>
        </p:nvSpPr>
        <p:spPr/>
        <p:txBody>
          <a:bodyPr/>
          <a:lstStyle/>
          <a:p>
            <a:fld id="{089F3CDE-5BF5-4459-B9BB-EF016EF11392}" type="slidenum">
              <a:rPr lang="hr-HR" smtClean="0"/>
              <a:t>‹#›</a:t>
            </a:fld>
            <a:endParaRPr lang="hr-HR"/>
          </a:p>
        </p:txBody>
      </p:sp>
    </p:spTree>
    <p:extLst>
      <p:ext uri="{BB962C8B-B14F-4D97-AF65-F5344CB8AC3E}">
        <p14:creationId xmlns:p14="http://schemas.microsoft.com/office/powerpoint/2010/main" val="159812035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FF33B7FD-7301-4C2C-9DF6-6BF7F7747944}" type="datetimeFigureOut">
              <a:rPr lang="hr-HR" smtClean="0"/>
              <a:t>15.9.2024.</a:t>
            </a:fld>
            <a:endParaRPr lang="hr-HR"/>
          </a:p>
        </p:txBody>
      </p:sp>
      <p:sp>
        <p:nvSpPr>
          <p:cNvPr id="4" name="Footer Placeholder 4"/>
          <p:cNvSpPr>
            <a:spLocks noGrp="1"/>
          </p:cNvSpPr>
          <p:nvPr>
            <p:ph type="ftr" sz="quarter" idx="11"/>
          </p:nvPr>
        </p:nvSpPr>
        <p:spPr/>
        <p:txBody>
          <a:bodyPr/>
          <a:lstStyle/>
          <a:p>
            <a:endParaRPr lang="hr-HR"/>
          </a:p>
        </p:txBody>
      </p:sp>
      <p:sp>
        <p:nvSpPr>
          <p:cNvPr id="6" name="Slide Number Placeholder 5"/>
          <p:cNvSpPr>
            <a:spLocks noGrp="1"/>
          </p:cNvSpPr>
          <p:nvPr>
            <p:ph type="sldNum" sz="quarter" idx="12"/>
          </p:nvPr>
        </p:nvSpPr>
        <p:spPr/>
        <p:txBody>
          <a:bodyPr/>
          <a:lstStyle/>
          <a:p>
            <a:fld id="{089F3CDE-5BF5-4459-B9BB-EF016EF11392}" type="slidenum">
              <a:rPr lang="hr-HR" smtClean="0"/>
              <a:t>‹#›</a:t>
            </a:fld>
            <a:endParaRPr lang="hr-HR"/>
          </a:p>
        </p:txBody>
      </p:sp>
    </p:spTree>
    <p:extLst>
      <p:ext uri="{BB962C8B-B14F-4D97-AF65-F5344CB8AC3E}">
        <p14:creationId xmlns:p14="http://schemas.microsoft.com/office/powerpoint/2010/main" val="8923538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F33B7FD-7301-4C2C-9DF6-6BF7F7747944}" type="datetimeFigureOut">
              <a:rPr lang="hr-HR" smtClean="0"/>
              <a:t>15.9.2024.</a:t>
            </a:fld>
            <a:endParaRPr lang="hr-HR"/>
          </a:p>
        </p:txBody>
      </p:sp>
      <p:sp>
        <p:nvSpPr>
          <p:cNvPr id="5" name="Footer Placeholder 4"/>
          <p:cNvSpPr>
            <a:spLocks noGrp="1"/>
          </p:cNvSpPr>
          <p:nvPr>
            <p:ph type="ftr" sz="quarter" idx="11"/>
          </p:nvPr>
        </p:nvSpPr>
        <p:spPr/>
        <p:txBody>
          <a:bodyPr/>
          <a:lstStyle/>
          <a:p>
            <a:endParaRPr lang="hr-HR"/>
          </a:p>
        </p:txBody>
      </p:sp>
      <p:sp>
        <p:nvSpPr>
          <p:cNvPr id="6" name="Slide Number Placeholder 5"/>
          <p:cNvSpPr>
            <a:spLocks noGrp="1"/>
          </p:cNvSpPr>
          <p:nvPr>
            <p:ph type="sldNum" sz="quarter" idx="12"/>
          </p:nvPr>
        </p:nvSpPr>
        <p:spPr/>
        <p:txBody>
          <a:bodyPr/>
          <a:lstStyle/>
          <a:p>
            <a:fld id="{089F3CDE-5BF5-4459-B9BB-EF016EF11392}" type="slidenum">
              <a:rPr lang="hr-HR" smtClean="0"/>
              <a:t>‹#›</a:t>
            </a:fld>
            <a:endParaRPr lang="hr-HR"/>
          </a:p>
        </p:txBody>
      </p:sp>
    </p:spTree>
    <p:extLst>
      <p:ext uri="{BB962C8B-B14F-4D97-AF65-F5344CB8AC3E}">
        <p14:creationId xmlns:p14="http://schemas.microsoft.com/office/powerpoint/2010/main" val="227791808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F33B7FD-7301-4C2C-9DF6-6BF7F7747944}" type="datetimeFigureOut">
              <a:rPr lang="hr-HR" smtClean="0"/>
              <a:t>15.9.2024.</a:t>
            </a:fld>
            <a:endParaRPr lang="hr-HR"/>
          </a:p>
        </p:txBody>
      </p:sp>
      <p:sp>
        <p:nvSpPr>
          <p:cNvPr id="5" name="Footer Placeholder 4"/>
          <p:cNvSpPr>
            <a:spLocks noGrp="1"/>
          </p:cNvSpPr>
          <p:nvPr>
            <p:ph type="ftr" sz="quarter" idx="11"/>
          </p:nvPr>
        </p:nvSpPr>
        <p:spPr/>
        <p:txBody>
          <a:bodyPr/>
          <a:lstStyle/>
          <a:p>
            <a:endParaRPr lang="hr-HR"/>
          </a:p>
        </p:txBody>
      </p:sp>
      <p:sp>
        <p:nvSpPr>
          <p:cNvPr id="6" name="Slide Number Placeholder 5"/>
          <p:cNvSpPr>
            <a:spLocks noGrp="1"/>
          </p:cNvSpPr>
          <p:nvPr>
            <p:ph type="sldNum" sz="quarter" idx="12"/>
          </p:nvPr>
        </p:nvSpPr>
        <p:spPr/>
        <p:txBody>
          <a:bodyPr/>
          <a:lstStyle/>
          <a:p>
            <a:fld id="{089F3CDE-5BF5-4459-B9BB-EF016EF11392}" type="slidenum">
              <a:rPr lang="hr-HR" smtClean="0"/>
              <a:t>‹#›</a:t>
            </a:fld>
            <a:endParaRPr lang="hr-HR"/>
          </a:p>
        </p:txBody>
      </p:sp>
    </p:spTree>
    <p:extLst>
      <p:ext uri="{BB962C8B-B14F-4D97-AF65-F5344CB8AC3E}">
        <p14:creationId xmlns:p14="http://schemas.microsoft.com/office/powerpoint/2010/main" val="16338031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theme" Target="../theme/theme2.xml"/><Relationship Id="rId3" Type="http://schemas.openxmlformats.org/officeDocument/2006/relationships/slideLayout" Target="../slideLayouts/slideLayout14.xml"/><Relationship Id="rId21" Type="http://schemas.openxmlformats.org/officeDocument/2006/relationships/image" Target="../media/image4.png"/><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image" Target="../media/image3.pn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image" Target="../media/image2.png"/><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hr-H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hr-H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F33B7FD-7301-4C2C-9DF6-6BF7F7747944}" type="datetimeFigureOut">
              <a:rPr lang="hr-HR" smtClean="0"/>
              <a:t>15.9.2024.</a:t>
            </a:fld>
            <a:endParaRPr lang="hr-H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hr-H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89F3CDE-5BF5-4459-B9BB-EF016EF11392}" type="slidenum">
              <a:rPr lang="hr-HR" smtClean="0"/>
              <a:t>‹#›</a:t>
            </a:fld>
            <a:endParaRPr lang="hr-HR"/>
          </a:p>
        </p:txBody>
      </p:sp>
    </p:spTree>
    <p:extLst>
      <p:ext uri="{BB962C8B-B14F-4D97-AF65-F5344CB8AC3E}">
        <p14:creationId xmlns:p14="http://schemas.microsoft.com/office/powerpoint/2010/main" val="11785072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r-Latn-R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FF33B7FD-7301-4C2C-9DF6-6BF7F7747944}" type="datetimeFigureOut">
              <a:rPr lang="hr-HR" smtClean="0"/>
              <a:t>15.9.2024.</a:t>
            </a:fld>
            <a:endParaRPr lang="hr-HR"/>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hr-HR"/>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089F3CDE-5BF5-4459-B9BB-EF016EF11392}" type="slidenum">
              <a:rPr lang="hr-HR" smtClean="0"/>
              <a:t>‹#›</a:t>
            </a:fld>
            <a:endParaRPr lang="hr-HR"/>
          </a:p>
        </p:txBody>
      </p:sp>
    </p:spTree>
    <p:extLst>
      <p:ext uri="{BB962C8B-B14F-4D97-AF65-F5344CB8AC3E}">
        <p14:creationId xmlns:p14="http://schemas.microsoft.com/office/powerpoint/2010/main" val="3353572603"/>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3.xml"/><Relationship Id="rId1" Type="http://schemas.openxmlformats.org/officeDocument/2006/relationships/vmlDrawing" Target="../drawings/vmlDrawing1.vml"/><Relationship Id="rId4" Type="http://schemas.openxmlformats.org/officeDocument/2006/relationships/image" Target="../media/image11.wmf"/></Relationships>
</file>

<file path=ppt/slides/_rels/slide2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13.xml"/><Relationship Id="rId4" Type="http://schemas.openxmlformats.org/officeDocument/2006/relationships/image" Target="../media/image15.jpe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13.xml"/><Relationship Id="rId5" Type="http://schemas.openxmlformats.org/officeDocument/2006/relationships/image" Target="../media/image21.jpeg"/><Relationship Id="rId4" Type="http://schemas.openxmlformats.org/officeDocument/2006/relationships/image" Target="../media/image20.jpe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13.xml"/><Relationship Id="rId6" Type="http://schemas.openxmlformats.org/officeDocument/2006/relationships/image" Target="../media/image26.jpeg"/><Relationship Id="rId5" Type="http://schemas.openxmlformats.org/officeDocument/2006/relationships/image" Target="../media/image25.jpeg"/><Relationship Id="rId4" Type="http://schemas.openxmlformats.org/officeDocument/2006/relationships/image" Target="../media/image24.jpe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slideLayout" Target="../slideLayouts/slideLayout13.xml"/><Relationship Id="rId5" Type="http://schemas.openxmlformats.org/officeDocument/2006/relationships/image" Target="../media/image33.jpeg"/><Relationship Id="rId4" Type="http://schemas.openxmlformats.org/officeDocument/2006/relationships/image" Target="../media/image32.jpeg"/></Relationships>
</file>

<file path=ppt/slides/_rels/slide6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3.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40.jpeg"/><Relationship Id="rId1" Type="http://schemas.openxmlformats.org/officeDocument/2006/relationships/slideLayout" Target="../slideLayouts/slideLayout13.xml"/><Relationship Id="rId6" Type="http://schemas.openxmlformats.org/officeDocument/2006/relationships/image" Target="../media/image44.jpeg"/><Relationship Id="rId5" Type="http://schemas.openxmlformats.org/officeDocument/2006/relationships/image" Target="../media/image43.jpeg"/><Relationship Id="rId4" Type="http://schemas.openxmlformats.org/officeDocument/2006/relationships/image" Target="../media/image42.jpe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3" Type="http://schemas.openxmlformats.org/officeDocument/2006/relationships/image" Target="../media/image47.jpeg"/><Relationship Id="rId7" Type="http://schemas.openxmlformats.org/officeDocument/2006/relationships/hyperlink" Target="https://www.youtube.com/watch?v=-BVeSykcQeE&amp;ab_channel=khanacademymedicine" TargetMode="External"/><Relationship Id="rId2" Type="http://schemas.openxmlformats.org/officeDocument/2006/relationships/image" Target="../media/image46.jpeg"/><Relationship Id="rId1" Type="http://schemas.openxmlformats.org/officeDocument/2006/relationships/slideLayout" Target="../slideLayouts/slideLayout13.xml"/><Relationship Id="rId6" Type="http://schemas.openxmlformats.org/officeDocument/2006/relationships/image" Target="../media/image50.png"/><Relationship Id="rId5" Type="http://schemas.openxmlformats.org/officeDocument/2006/relationships/image" Target="../media/image49.jpeg"/><Relationship Id="rId4" Type="http://schemas.openxmlformats.org/officeDocument/2006/relationships/image" Target="../media/image48.jpeg"/></Relationships>
</file>

<file path=ppt/slides/_rels/slide71.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image" Target="../media/image51.jpeg"/><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image" Target="../media/image53.jpeg"/><Relationship Id="rId1" Type="http://schemas.openxmlformats.org/officeDocument/2006/relationships/slideLayout" Target="../slideLayouts/slideLayout13.xml"/><Relationship Id="rId4" Type="http://schemas.openxmlformats.org/officeDocument/2006/relationships/image" Target="../media/image55.jpe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image" Target="../media/image56.jpeg"/><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image" Target="../media/image59.jpeg"/><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image" Target="../media/image61.jpeg"/><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image" Target="../media/image63.jpeg"/><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image" Target="../media/image64.jpeg"/><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image" Target="../media/image66.jpeg"/><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image" Target="../media/image68.jpeg"/><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3.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image" Target="../media/image70.jpeg"/><Relationship Id="rId1" Type="http://schemas.openxmlformats.org/officeDocument/2006/relationships/slideLayout" Target="../slideLayouts/slideLayout1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5.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image" Target="../media/image72.jpeg"/><Relationship Id="rId1" Type="http://schemas.openxmlformats.org/officeDocument/2006/relationships/slideLayout" Target="../slideLayouts/slideLayout13.xml"/><Relationship Id="rId5" Type="http://schemas.openxmlformats.org/officeDocument/2006/relationships/image" Target="../media/image75.jpeg"/><Relationship Id="rId4" Type="http://schemas.openxmlformats.org/officeDocument/2006/relationships/image" Target="../media/image74.jpe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1.xml.rels><?xml version="1.0" encoding="UTF-8" standalone="yes"?>
<Relationships xmlns="http://schemas.openxmlformats.org/package/2006/relationships"><Relationship Id="rId3" Type="http://schemas.openxmlformats.org/officeDocument/2006/relationships/image" Target="../media/image77.jpeg"/><Relationship Id="rId7" Type="http://schemas.openxmlformats.org/officeDocument/2006/relationships/image" Target="../media/image81.jpeg"/><Relationship Id="rId2" Type="http://schemas.openxmlformats.org/officeDocument/2006/relationships/image" Target="../media/image76.jpeg"/><Relationship Id="rId1" Type="http://schemas.openxmlformats.org/officeDocument/2006/relationships/slideLayout" Target="../slideLayouts/slideLayout13.xml"/><Relationship Id="rId6" Type="http://schemas.openxmlformats.org/officeDocument/2006/relationships/image" Target="../media/image80.jpeg"/><Relationship Id="rId5" Type="http://schemas.openxmlformats.org/officeDocument/2006/relationships/image" Target="../media/image79.jpeg"/><Relationship Id="rId4" Type="http://schemas.openxmlformats.org/officeDocument/2006/relationships/image" Target="../media/image78.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hr-HR"/>
          </a:p>
        </p:txBody>
      </p:sp>
      <p:sp>
        <p:nvSpPr>
          <p:cNvPr id="3" name="Subtitle 2"/>
          <p:cNvSpPr>
            <a:spLocks noGrp="1"/>
          </p:cNvSpPr>
          <p:nvPr>
            <p:ph type="subTitle" idx="1"/>
          </p:nvPr>
        </p:nvSpPr>
        <p:spPr/>
        <p:txBody>
          <a:bodyPr/>
          <a:lstStyle/>
          <a:p>
            <a:endParaRPr lang="hr-HR"/>
          </a:p>
        </p:txBody>
      </p:sp>
    </p:spTree>
    <p:extLst>
      <p:ext uri="{BB962C8B-B14F-4D97-AF65-F5344CB8AC3E}">
        <p14:creationId xmlns:p14="http://schemas.microsoft.com/office/powerpoint/2010/main" val="4045162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hr-HR"/>
          </a:p>
        </p:txBody>
      </p:sp>
      <p:sp>
        <p:nvSpPr>
          <p:cNvPr id="3" name="Content Placeholder 2"/>
          <p:cNvSpPr>
            <a:spLocks noGrp="1"/>
          </p:cNvSpPr>
          <p:nvPr>
            <p:ph idx="1"/>
          </p:nvPr>
        </p:nvSpPr>
        <p:spPr/>
        <p:txBody>
          <a:bodyPr>
            <a:normAutofit/>
          </a:bodyPr>
          <a:lstStyle/>
          <a:p>
            <a:r>
              <a:rPr lang="en-US" dirty="0"/>
              <a:t>Maja Bachler</a:t>
            </a:r>
          </a:p>
          <a:p>
            <a:r>
              <a:rPr lang="en-US" dirty="0"/>
              <a:t>Email: maja.psvp@gmail.com</a:t>
            </a:r>
            <a:endParaRPr lang="hr-HR" dirty="0"/>
          </a:p>
        </p:txBody>
      </p:sp>
    </p:spTree>
    <p:extLst>
      <p:ext uri="{BB962C8B-B14F-4D97-AF65-F5344CB8AC3E}">
        <p14:creationId xmlns:p14="http://schemas.microsoft.com/office/powerpoint/2010/main" val="41629858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ELEMENTI I KRITERIJI VREDNOVANJA</a:t>
            </a:r>
            <a:endParaRPr lang="hr-HR" dirty="0"/>
          </a:p>
        </p:txBody>
      </p:sp>
      <p:sp>
        <p:nvSpPr>
          <p:cNvPr id="3" name="Content Placeholder 2"/>
          <p:cNvSpPr>
            <a:spLocks noGrp="1"/>
          </p:cNvSpPr>
          <p:nvPr>
            <p:ph idx="1"/>
          </p:nvPr>
        </p:nvSpPr>
        <p:spPr>
          <a:xfrm>
            <a:off x="1104614" y="1772816"/>
            <a:ext cx="8944211" cy="4824537"/>
          </a:xfrm>
        </p:spPr>
        <p:txBody>
          <a:bodyPr>
            <a:normAutofit/>
          </a:bodyPr>
          <a:lstStyle/>
          <a:p>
            <a:r>
              <a:rPr lang="hr-HR" sz="2400" dirty="0"/>
              <a:t>Elementi vrednovanja s jednakom težinom ili udjelom u zaključnoj brojčanoj ocjeni su sljedeći: </a:t>
            </a:r>
            <a:r>
              <a:rPr lang="hr-HR" sz="2400" b="1" dirty="0"/>
              <a:t>usvojenost znanja i razvoj vještina</a:t>
            </a:r>
            <a:r>
              <a:rPr lang="hr-HR" sz="2400" dirty="0"/>
              <a:t>. </a:t>
            </a:r>
            <a:endParaRPr lang="en-US" sz="2400" dirty="0"/>
          </a:p>
          <a:p>
            <a:r>
              <a:rPr lang="hr-HR" sz="2400" dirty="0"/>
              <a:t>Osim uobičajenih </a:t>
            </a:r>
            <a:r>
              <a:rPr lang="hr-HR" sz="2400" b="1" dirty="0"/>
              <a:t>usmenih i pisanih provjera</a:t>
            </a:r>
            <a:r>
              <a:rPr lang="en-US" sz="2400" b="1" dirty="0"/>
              <a:t> </a:t>
            </a:r>
            <a:r>
              <a:rPr lang="en-US" sz="2400" dirty="0" err="1"/>
              <a:t>zastupljen</a:t>
            </a:r>
            <a:r>
              <a:rPr lang="en-US" sz="2400" dirty="0"/>
              <a:t> je </a:t>
            </a:r>
            <a:r>
              <a:rPr lang="en-US" sz="2400" b="1" dirty="0"/>
              <a:t>e</a:t>
            </a:r>
            <a:r>
              <a:rPr lang="hr-HR" sz="2400" b="1" dirty="0"/>
              <a:t>sej, plakat, mini istraživanje, prezentacije, terenski ili projektni rad</a:t>
            </a:r>
            <a:endParaRPr lang="en-US" sz="2400" b="1" dirty="0"/>
          </a:p>
        </p:txBody>
      </p:sp>
    </p:spTree>
    <p:extLst>
      <p:ext uri="{BB962C8B-B14F-4D97-AF65-F5344CB8AC3E}">
        <p14:creationId xmlns:p14="http://schemas.microsoft.com/office/powerpoint/2010/main" val="1609564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hr-HR"/>
          </a:p>
        </p:txBody>
      </p:sp>
      <p:sp>
        <p:nvSpPr>
          <p:cNvPr id="3" name="Content Placeholder 2"/>
          <p:cNvSpPr>
            <a:spLocks noGrp="1"/>
          </p:cNvSpPr>
          <p:nvPr>
            <p:ph idx="1"/>
          </p:nvPr>
        </p:nvSpPr>
        <p:spPr>
          <a:xfrm>
            <a:off x="1104614" y="1412777"/>
            <a:ext cx="8944211" cy="4835624"/>
          </a:xfrm>
        </p:spPr>
        <p:txBody>
          <a:bodyPr>
            <a:normAutofit/>
          </a:bodyPr>
          <a:lstStyle/>
          <a:p>
            <a:r>
              <a:rPr lang="hr-HR" sz="2400" b="1" dirty="0"/>
              <a:t>Pisanje sociološkoga eseja</a:t>
            </a:r>
            <a:r>
              <a:rPr lang="hr-HR" sz="2400" dirty="0"/>
              <a:t> </a:t>
            </a:r>
            <a:r>
              <a:rPr lang="en-US" sz="2400" dirty="0"/>
              <a:t>-</a:t>
            </a:r>
            <a:r>
              <a:rPr lang="hr-HR" sz="2400" dirty="0"/>
              <a:t> za vrednovanje svih ishoda učenja i poučavanja sociologije. </a:t>
            </a:r>
            <a:endParaRPr lang="en-US" sz="2400" dirty="0"/>
          </a:p>
          <a:p>
            <a:r>
              <a:rPr lang="hr-HR" sz="2400" dirty="0"/>
              <a:t>Riječ je o problemskome i kritičkome eseju kojim učenik, povezujući osobna ili grupna iskustva s društvenim kontekstom, primjenjuje sociološka znanja, razvija analitičke, istraživačke i komunikacijske vještine. </a:t>
            </a:r>
            <a:endParaRPr lang="en-US" sz="2400" dirty="0"/>
          </a:p>
          <a:p>
            <a:r>
              <a:rPr lang="hr-HR" sz="2400" dirty="0"/>
              <a:t>Vrednovanjem eseja procjenjuju se svi prethodno navedeni elementi: učenik pokazuje usvojenost znanja u dijelu eseja koji se odnosi na iznošenje i objašnjenje teze; izdvaja pro et contra dokaze u odnosu na tezu, pokazuje vještine analize te donosi zaključak ili predviđanja o tezi pokazujući vještine raspravljanja. </a:t>
            </a:r>
          </a:p>
        </p:txBody>
      </p:sp>
    </p:spTree>
    <p:extLst>
      <p:ext uri="{BB962C8B-B14F-4D97-AF65-F5344CB8AC3E}">
        <p14:creationId xmlns:p14="http://schemas.microsoft.com/office/powerpoint/2010/main" val="3415511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hr-HR"/>
          </a:p>
        </p:txBody>
      </p:sp>
      <p:sp>
        <p:nvSpPr>
          <p:cNvPr id="3" name="Content Placeholder 2"/>
          <p:cNvSpPr>
            <a:spLocks noGrp="1"/>
          </p:cNvSpPr>
          <p:nvPr>
            <p:ph idx="1"/>
          </p:nvPr>
        </p:nvSpPr>
        <p:spPr>
          <a:xfrm>
            <a:off x="1104614" y="1196752"/>
            <a:ext cx="8944211" cy="5051649"/>
          </a:xfrm>
        </p:spPr>
        <p:txBody>
          <a:bodyPr>
            <a:noAutofit/>
          </a:bodyPr>
          <a:lstStyle/>
          <a:p>
            <a:r>
              <a:rPr lang="en-US" sz="2400" dirty="0"/>
              <a:t>Na </a:t>
            </a:r>
            <a:r>
              <a:rPr lang="en-US" sz="2400" dirty="0" err="1"/>
              <a:t>ocjenu</a:t>
            </a:r>
            <a:r>
              <a:rPr lang="en-US" sz="2400" dirty="0"/>
              <a:t> </a:t>
            </a:r>
            <a:r>
              <a:rPr lang="en-US" sz="2400" dirty="0" err="1"/>
              <a:t>također</a:t>
            </a:r>
            <a:r>
              <a:rPr lang="en-US" sz="2400" dirty="0"/>
              <a:t> </a:t>
            </a:r>
            <a:r>
              <a:rPr lang="en-US" sz="2400" dirty="0" err="1"/>
              <a:t>utječe</a:t>
            </a:r>
            <a:r>
              <a:rPr lang="en-US" sz="2400" dirty="0"/>
              <a:t> </a:t>
            </a:r>
            <a:r>
              <a:rPr lang="en-US" sz="2400" dirty="0" err="1"/>
              <a:t>sljedeće</a:t>
            </a:r>
            <a:r>
              <a:rPr lang="en-US" sz="2400" dirty="0"/>
              <a:t>:</a:t>
            </a:r>
          </a:p>
          <a:p>
            <a:pPr marL="0" indent="0">
              <a:buNone/>
            </a:pPr>
            <a:r>
              <a:rPr lang="en-US" sz="2400" dirty="0"/>
              <a:t> 1. </a:t>
            </a:r>
            <a:r>
              <a:rPr lang="hr-HR" sz="2400" dirty="0"/>
              <a:t>odgovornost: Ispunjava sve obveze i izvršava zadatke, zadaće i radove u skladu s dogovorom; poštuje rokove; preuzima odgovornost za vlastito učenje i ponašanje u školskome okruženju; ulaže trud i ustraje u učenju i radu.</a:t>
            </a:r>
            <a:endParaRPr lang="en-US" sz="2400" dirty="0"/>
          </a:p>
          <a:p>
            <a:pPr marL="0" indent="0">
              <a:buNone/>
            </a:pPr>
            <a:r>
              <a:rPr lang="hr-HR" sz="2400" dirty="0"/>
              <a:t> 2. samostalnost i samoinicijativnost: Samostalno uči, rješava zadatke i izvršava aktivnosti; ispunjava obveze uz učiteljeve minimalne poticaje; na satu aktivno radi i uči, planira, prati i regulira vlastito učenje. </a:t>
            </a:r>
            <a:endParaRPr lang="en-US" sz="2400" dirty="0"/>
          </a:p>
          <a:p>
            <a:pPr marL="0" indent="0">
              <a:buNone/>
            </a:pPr>
            <a:r>
              <a:rPr lang="hr-HR" sz="2400" dirty="0"/>
              <a:t>3. komunikacija i suradnja: Uspješno komunicira i surađuje s drugim učenicima i učiteljem; Koristi se lista procjena i ljestvicom od tri stupnja: potrebna podrška, dobro, iznimno</a:t>
            </a:r>
          </a:p>
        </p:txBody>
      </p:sp>
    </p:spTree>
    <p:extLst>
      <p:ext uri="{BB962C8B-B14F-4D97-AF65-F5344CB8AC3E}">
        <p14:creationId xmlns:p14="http://schemas.microsoft.com/office/powerpoint/2010/main" val="30049575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hr-HR"/>
          </a:p>
        </p:txBody>
      </p:sp>
      <p:sp>
        <p:nvSpPr>
          <p:cNvPr id="3" name="Content Placeholder 2"/>
          <p:cNvSpPr>
            <a:spLocks noGrp="1"/>
          </p:cNvSpPr>
          <p:nvPr>
            <p:ph idx="1"/>
          </p:nvPr>
        </p:nvSpPr>
        <p:spPr>
          <a:xfrm>
            <a:off x="479377" y="116633"/>
            <a:ext cx="9569448" cy="6552727"/>
          </a:xfrm>
        </p:spPr>
        <p:txBody>
          <a:bodyPr>
            <a:normAutofit fontScale="92500" lnSpcReduction="10000"/>
          </a:bodyPr>
          <a:lstStyle/>
          <a:p>
            <a:r>
              <a:rPr lang="hr-HR" b="1" dirty="0"/>
              <a:t>KRITERIJI OCJENJIVANJA IZ NASTAVNOG PREDMETA </a:t>
            </a:r>
            <a:r>
              <a:rPr lang="hr-HR" b="1" i="1" dirty="0"/>
              <a:t>SOCIOLOGIJA</a:t>
            </a:r>
            <a:endParaRPr lang="hr-HR" dirty="0"/>
          </a:p>
          <a:p>
            <a:pPr marL="0" indent="0">
              <a:buNone/>
            </a:pPr>
            <a:r>
              <a:rPr lang="hr-HR" dirty="0"/>
              <a:t> </a:t>
            </a:r>
          </a:p>
          <a:p>
            <a:pPr marL="0" indent="0">
              <a:buNone/>
            </a:pPr>
            <a:r>
              <a:rPr lang="hr-HR" dirty="0"/>
              <a:t> </a:t>
            </a:r>
          </a:p>
          <a:p>
            <a:r>
              <a:rPr lang="hr-HR" b="1" dirty="0"/>
              <a:t>Elementi ocjenjivanja:  </a:t>
            </a:r>
            <a:r>
              <a:rPr lang="hr-HR" dirty="0"/>
              <a:t>usvojenost znanja i razvoj vještina</a:t>
            </a:r>
          </a:p>
          <a:p>
            <a:r>
              <a:rPr lang="hr-HR" dirty="0"/>
              <a:t> </a:t>
            </a:r>
          </a:p>
          <a:p>
            <a:r>
              <a:rPr lang="hr-HR" b="1" i="1" dirty="0"/>
              <a:t>Usvojenost</a:t>
            </a:r>
            <a:r>
              <a:rPr lang="hr-HR" dirty="0"/>
              <a:t> </a:t>
            </a:r>
            <a:r>
              <a:rPr lang="hr-HR" b="1" i="1" dirty="0"/>
              <a:t>znanja</a:t>
            </a:r>
            <a:endParaRPr lang="hr-HR" dirty="0"/>
          </a:p>
          <a:p>
            <a:pPr marL="0" indent="0">
              <a:buNone/>
            </a:pPr>
            <a:r>
              <a:rPr lang="hr-HR" dirty="0"/>
              <a:t>- utvrđuje se kroz usmene i pismene provjere znanja. </a:t>
            </a:r>
          </a:p>
          <a:p>
            <a:pPr marL="0" indent="0">
              <a:buNone/>
            </a:pPr>
            <a:r>
              <a:rPr lang="hr-HR" dirty="0"/>
              <a:t>Usmene provjere znanja provode se bez najave (učenik se može i dobrovoljno javiti za odgovaranje na bilo kojem satu), a pismene provjere znanja provode se u skladu s vremenikom pisanih provjera.</a:t>
            </a:r>
          </a:p>
          <a:p>
            <a:pPr marL="0" indent="0">
              <a:buNone/>
            </a:pPr>
            <a:r>
              <a:rPr lang="hr-HR" dirty="0"/>
              <a:t>Usmenom i pismenom provjerom znanja  provjerava se usvojenost sadržaja, prepoznavanje, razumijevanje, povezivanje, analiziranje, zaključivanje, primjena znanja na konkretnim situacijama, samostalno rješavanje problematike. </a:t>
            </a:r>
          </a:p>
          <a:p>
            <a:pPr marL="0" indent="0">
              <a:buNone/>
            </a:pPr>
            <a:r>
              <a:rPr lang="hr-HR" dirty="0"/>
              <a:t> </a:t>
            </a:r>
          </a:p>
          <a:p>
            <a:r>
              <a:rPr lang="hr-HR" b="1" i="1" dirty="0"/>
              <a:t>Razvoj vještina</a:t>
            </a:r>
            <a:endParaRPr lang="hr-HR" dirty="0"/>
          </a:p>
          <a:p>
            <a:pPr marL="0" indent="0">
              <a:buNone/>
            </a:pPr>
            <a:r>
              <a:rPr lang="hr-HR" i="1" dirty="0"/>
              <a:t>- </a:t>
            </a:r>
            <a:r>
              <a:rPr lang="hr-HR" dirty="0"/>
              <a:t>ocjenjuje se aktivnost učenika, samostalno rješavanje zadataka, primjena usvojenih sadržaja na konkretnim primjerima iz svakodnevnog života, samostalnost u iznošenju nastavnih sadržaja, odgovornost prema radu.</a:t>
            </a:r>
          </a:p>
          <a:p>
            <a:endParaRPr lang="hr-HR" dirty="0"/>
          </a:p>
        </p:txBody>
      </p:sp>
    </p:spTree>
    <p:extLst>
      <p:ext uri="{BB962C8B-B14F-4D97-AF65-F5344CB8AC3E}">
        <p14:creationId xmlns:p14="http://schemas.microsoft.com/office/powerpoint/2010/main" val="929323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hr-HR"/>
          </a:p>
        </p:txBody>
      </p:sp>
      <p:sp>
        <p:nvSpPr>
          <p:cNvPr id="4" name="Content Placeholder 3"/>
          <p:cNvSpPr>
            <a:spLocks noGrp="1"/>
          </p:cNvSpPr>
          <p:nvPr>
            <p:ph idx="1"/>
          </p:nvPr>
        </p:nvSpPr>
        <p:spPr/>
        <p:txBody>
          <a:bodyPr/>
          <a:lstStyle/>
          <a:p>
            <a:endParaRPr lang="hr-HR"/>
          </a:p>
        </p:txBody>
      </p:sp>
      <p:sp>
        <p:nvSpPr>
          <p:cNvPr id="5" name="Content Placeholder 2"/>
          <p:cNvSpPr txBox="1">
            <a:spLocks/>
          </p:cNvSpPr>
          <p:nvPr/>
        </p:nvSpPr>
        <p:spPr>
          <a:xfrm>
            <a:off x="1104614" y="548681"/>
            <a:ext cx="8944211" cy="6048672"/>
          </a:xfrm>
          <a:prstGeom prst="rect">
            <a:avLst/>
          </a:prstGeom>
        </p:spPr>
        <p:txBody>
          <a:bodyPr vert="horz" lIns="91440" tIns="45720" rIns="91440" bIns="45720" rtlCol="0">
            <a:normAutofit/>
          </a:bodyPr>
          <a:lstStyle>
            <a:lvl1pPr marL="342797" indent="-342797" algn="l" defTabSz="457063" rtl="0" eaLnBrk="1" latinLnBrk="0" hangingPunct="1">
              <a:spcBef>
                <a:spcPts val="1000"/>
              </a:spcBef>
              <a:spcAft>
                <a:spcPts val="0"/>
              </a:spcAft>
              <a:buClr>
                <a:schemeClr val="bg2">
                  <a:lumMod val="40000"/>
                  <a:lumOff val="60000"/>
                </a:schemeClr>
              </a:buClr>
              <a:buSzPct val="80000"/>
              <a:buFont typeface="Wingdings 3" charset="2"/>
              <a:buChar char=""/>
              <a:defRPr sz="1999" b="0" i="0" kern="1200">
                <a:solidFill>
                  <a:schemeClr val="tx1"/>
                </a:solidFill>
                <a:latin typeface="+mj-lt"/>
                <a:ea typeface="+mj-ea"/>
                <a:cs typeface="+mj-cs"/>
              </a:defRPr>
            </a:lvl1pPr>
            <a:lvl2pPr marL="742727" indent="-285664" algn="l" defTabSz="457063" rtl="0" eaLnBrk="1" latinLnBrk="0" hangingPunct="1">
              <a:spcBef>
                <a:spcPts val="1000"/>
              </a:spcBef>
              <a:spcAft>
                <a:spcPts val="0"/>
              </a:spcAft>
              <a:buClr>
                <a:schemeClr val="bg2">
                  <a:lumMod val="40000"/>
                  <a:lumOff val="60000"/>
                </a:schemeClr>
              </a:buClr>
              <a:buSzPct val="80000"/>
              <a:buFont typeface="Wingdings 3" charset="2"/>
              <a:buChar char=""/>
              <a:defRPr sz="1799" b="0" i="0" kern="1200">
                <a:solidFill>
                  <a:schemeClr val="tx1"/>
                </a:solidFill>
                <a:latin typeface="+mj-lt"/>
                <a:ea typeface="+mj-ea"/>
                <a:cs typeface="+mj-cs"/>
              </a:defRPr>
            </a:lvl2pPr>
            <a:lvl3pPr marL="1142657" indent="-228531" algn="l" defTabSz="457063"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599720" indent="-228531" algn="l" defTabSz="457063"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6783" indent="-228531" algn="l" defTabSz="457063"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5248" indent="-228531" algn="l" defTabSz="457063"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0908" indent="-228531" algn="l" defTabSz="457063"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7971" indent="-228531" algn="l" defTabSz="457063"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5034" indent="-228531" algn="l" defTabSz="457063"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endParaRPr lang="en-US" dirty="0"/>
          </a:p>
          <a:p>
            <a:r>
              <a:rPr lang="hr-HR" dirty="0"/>
              <a:t>Pri usmenom ispitivanju učenika se može ocijeniti ocjenom iz oba elementa, a pri</a:t>
            </a:r>
          </a:p>
          <a:p>
            <a:r>
              <a:rPr lang="hr-HR" dirty="0"/>
              <a:t>pismenom provjeravanju učenika se ocjenjuje jednom ocjenom i to prema sljedećim</a:t>
            </a:r>
          </a:p>
          <a:p>
            <a:r>
              <a:rPr lang="hr-HR" dirty="0"/>
              <a:t>kriterijima:</a:t>
            </a:r>
          </a:p>
          <a:p>
            <a:r>
              <a:rPr lang="hr-HR" dirty="0"/>
              <a:t>Nedovoljan 0 – 49%</a:t>
            </a:r>
          </a:p>
          <a:p>
            <a:r>
              <a:rPr lang="hr-HR" dirty="0"/>
              <a:t>Dovoljan 50% - 64%</a:t>
            </a:r>
          </a:p>
          <a:p>
            <a:r>
              <a:rPr lang="hr-HR" dirty="0"/>
              <a:t>Dobar 65% - 77%</a:t>
            </a:r>
          </a:p>
          <a:p>
            <a:r>
              <a:rPr lang="hr-HR" dirty="0"/>
              <a:t>Vrlo dobar 78% - 89%</a:t>
            </a:r>
          </a:p>
          <a:p>
            <a:r>
              <a:rPr lang="hr-HR" dirty="0"/>
              <a:t>Odličan 90% - 100%</a:t>
            </a:r>
          </a:p>
          <a:p>
            <a:endParaRPr lang="hr-HR" dirty="0"/>
          </a:p>
        </p:txBody>
      </p:sp>
    </p:spTree>
    <p:extLst>
      <p:ext uri="{BB962C8B-B14F-4D97-AF65-F5344CB8AC3E}">
        <p14:creationId xmlns:p14="http://schemas.microsoft.com/office/powerpoint/2010/main" val="4931964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hr-HR"/>
          </a:p>
        </p:txBody>
      </p:sp>
      <p:sp>
        <p:nvSpPr>
          <p:cNvPr id="3" name="Content Placeholder 2"/>
          <p:cNvSpPr>
            <a:spLocks noGrp="1"/>
          </p:cNvSpPr>
          <p:nvPr>
            <p:ph idx="1"/>
          </p:nvPr>
        </p:nvSpPr>
        <p:spPr/>
        <p:txBody>
          <a:bodyPr>
            <a:normAutofit fontScale="92500" lnSpcReduction="10000"/>
          </a:bodyPr>
          <a:lstStyle/>
          <a:p>
            <a:r>
              <a:rPr lang="hr-HR" dirty="0"/>
              <a:t>Ispravak ocjene</a:t>
            </a:r>
          </a:p>
          <a:p>
            <a:pPr marL="0" indent="0">
              <a:buNone/>
            </a:pPr>
            <a:r>
              <a:rPr lang="hr-HR" dirty="0"/>
              <a:t>Učenici koji su dobili ocjenu nedovoljan istu mogu ispraviti putem pisane ili usmene provjere.</a:t>
            </a:r>
            <a:endParaRPr lang="en-US" dirty="0"/>
          </a:p>
          <a:p>
            <a:endParaRPr lang="hr-HR" dirty="0"/>
          </a:p>
          <a:p>
            <a:r>
              <a:rPr lang="hr-HR" dirty="0"/>
              <a:t>Ostale napomene:</a:t>
            </a:r>
          </a:p>
          <a:p>
            <a:pPr marL="0" indent="0">
              <a:buNone/>
            </a:pPr>
            <a:r>
              <a:rPr lang="hr-HR" dirty="0"/>
              <a:t>Učenici koji ne dođu na najavljenu pismenu provjeru istu pišu na sljedećem satu kada dođu na nastavu. Svakom učeniku dozvoljena je samo jedna isprika za usmeno odgovaranje u</a:t>
            </a:r>
          </a:p>
          <a:p>
            <a:pPr marL="0" indent="0">
              <a:buNone/>
            </a:pPr>
            <a:r>
              <a:rPr lang="hr-HR" dirty="0"/>
              <a:t>polugodištu te u slučaju opravdanih razloga (bolest, pripremanje za natjecanja…) koje će potvrditi razrednik ili roditelj. Zaključne ocjene proizlaze na temelju svih ocjena dobivenih tijekom nastavne godine i na temelju bilješki o učeniku koje se vode tijekom nastave kroz godinu.</a:t>
            </a:r>
          </a:p>
        </p:txBody>
      </p:sp>
    </p:spTree>
    <p:extLst>
      <p:ext uri="{BB962C8B-B14F-4D97-AF65-F5344CB8AC3E}">
        <p14:creationId xmlns:p14="http://schemas.microsoft.com/office/powerpoint/2010/main" val="26246771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7531" y="1988840"/>
            <a:ext cx="9402274" cy="3240360"/>
          </a:xfrm>
        </p:spPr>
        <p:txBody>
          <a:bodyPr/>
          <a:lstStyle/>
          <a:p>
            <a:pPr algn="ctr"/>
            <a:r>
              <a:rPr lang="en-US" sz="6000" dirty="0"/>
              <a:t>DRUŠTVO I DRUŠTVENOST I DRUŠTVENA INTERKACIJA</a:t>
            </a:r>
            <a:endParaRPr lang="hr-HR" sz="6000" dirty="0"/>
          </a:p>
        </p:txBody>
      </p:sp>
      <p:sp>
        <p:nvSpPr>
          <p:cNvPr id="3" name="Content Placeholder 2"/>
          <p:cNvSpPr>
            <a:spLocks noGrp="1"/>
          </p:cNvSpPr>
          <p:nvPr>
            <p:ph idx="1"/>
          </p:nvPr>
        </p:nvSpPr>
        <p:spPr>
          <a:xfrm>
            <a:off x="1199457" y="4581129"/>
            <a:ext cx="8944211" cy="1531185"/>
          </a:xfrm>
        </p:spPr>
        <p:txBody>
          <a:bodyPr/>
          <a:lstStyle/>
          <a:p>
            <a:endParaRPr lang="hr-HR" dirty="0"/>
          </a:p>
        </p:txBody>
      </p:sp>
    </p:spTree>
    <p:extLst>
      <p:ext uri="{BB962C8B-B14F-4D97-AF65-F5344CB8AC3E}">
        <p14:creationId xmlns:p14="http://schemas.microsoft.com/office/powerpoint/2010/main" val="2127313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hr-HR"/>
          </a:p>
        </p:txBody>
      </p:sp>
      <p:sp>
        <p:nvSpPr>
          <p:cNvPr id="3" name="Content Placeholder 2"/>
          <p:cNvSpPr>
            <a:spLocks noGrp="1"/>
          </p:cNvSpPr>
          <p:nvPr>
            <p:ph idx="1"/>
          </p:nvPr>
        </p:nvSpPr>
        <p:spPr>
          <a:xfrm>
            <a:off x="1104614" y="1412777"/>
            <a:ext cx="8944211" cy="4835624"/>
          </a:xfrm>
        </p:spPr>
        <p:txBody>
          <a:bodyPr>
            <a:normAutofit/>
          </a:bodyPr>
          <a:lstStyle/>
          <a:p>
            <a:pPr marL="0" indent="0" algn="ctr">
              <a:buNone/>
            </a:pPr>
            <a:r>
              <a:rPr lang="en-US" sz="5400" b="1" dirty="0" err="1">
                <a:effectLst>
                  <a:outerShdw blurRad="38100" dist="38100" dir="2700000" algn="tl">
                    <a:srgbClr val="000000">
                      <a:alpha val="43137"/>
                    </a:srgbClr>
                  </a:outerShdw>
                </a:effectLst>
              </a:rPr>
              <a:t>Što</a:t>
            </a:r>
            <a:r>
              <a:rPr lang="en-US" sz="5400" b="1" dirty="0">
                <a:effectLst>
                  <a:outerShdw blurRad="38100" dist="38100" dir="2700000" algn="tl">
                    <a:srgbClr val="000000">
                      <a:alpha val="43137"/>
                    </a:srgbClr>
                  </a:outerShdw>
                </a:effectLst>
              </a:rPr>
              <a:t> je </a:t>
            </a:r>
            <a:r>
              <a:rPr lang="en-US" sz="5400" b="1" dirty="0" err="1">
                <a:effectLst>
                  <a:outerShdw blurRad="38100" dist="38100" dir="2700000" algn="tl">
                    <a:srgbClr val="000000">
                      <a:alpha val="43137"/>
                    </a:srgbClr>
                  </a:outerShdw>
                </a:effectLst>
              </a:rPr>
              <a:t>sociologija</a:t>
            </a:r>
            <a:r>
              <a:rPr lang="en-US" sz="5400" b="1" dirty="0">
                <a:effectLst>
                  <a:outerShdw blurRad="38100" dist="38100" dir="2700000" algn="tl">
                    <a:srgbClr val="000000">
                      <a:alpha val="43137"/>
                    </a:srgbClr>
                  </a:outerShdw>
                </a:effectLst>
              </a:rPr>
              <a:t>?</a:t>
            </a:r>
            <a:endParaRPr lang="hr-HR" sz="5400" b="1" dirty="0">
              <a:effectLst>
                <a:outerShdw blurRad="38100" dist="38100" dir="2700000" algn="tl">
                  <a:srgbClr val="000000">
                    <a:alpha val="43137"/>
                  </a:srgbClr>
                </a:outerShdw>
              </a:effectLst>
            </a:endParaRPr>
          </a:p>
          <a:p>
            <a:pPr marL="0" indent="0" algn="ctr">
              <a:buNone/>
            </a:pPr>
            <a:endParaRPr lang="en-US" sz="5400" b="1" dirty="0">
              <a:effectLst>
                <a:outerShdw blurRad="38100" dist="38100" dir="2700000" algn="tl">
                  <a:srgbClr val="000000">
                    <a:alpha val="43137"/>
                  </a:srgbClr>
                </a:outerShdw>
              </a:effectLst>
            </a:endParaRPr>
          </a:p>
          <a:p>
            <a:r>
              <a:rPr lang="en-US" sz="2400" dirty="0" err="1"/>
              <a:t>Sociologija</a:t>
            </a:r>
            <a:r>
              <a:rPr lang="en-US" sz="2400" dirty="0"/>
              <a:t> je </a:t>
            </a:r>
            <a:r>
              <a:rPr lang="en-US" sz="2400" dirty="0" err="1"/>
              <a:t>znanost</a:t>
            </a:r>
            <a:r>
              <a:rPr lang="en-US" sz="2400" dirty="0"/>
              <a:t> o </a:t>
            </a:r>
            <a:r>
              <a:rPr lang="en-US" sz="2400" dirty="0" err="1"/>
              <a:t>društvu</a:t>
            </a:r>
            <a:endParaRPr lang="en-US" sz="2400" dirty="0"/>
          </a:p>
          <a:p>
            <a:r>
              <a:rPr lang="en-US" sz="2400" dirty="0" err="1"/>
              <a:t>Znanost</a:t>
            </a:r>
            <a:r>
              <a:rPr lang="en-US" sz="2400" dirty="0"/>
              <a:t> </a:t>
            </a:r>
            <a:r>
              <a:rPr lang="en-US" sz="2400" dirty="0" err="1"/>
              <a:t>koja</a:t>
            </a:r>
            <a:r>
              <a:rPr lang="en-US" sz="2400" dirty="0"/>
              <a:t> se </a:t>
            </a:r>
            <a:r>
              <a:rPr lang="en-US" sz="2400" dirty="0" err="1"/>
              <a:t>bavi</a:t>
            </a:r>
            <a:r>
              <a:rPr lang="en-US" sz="2400" dirty="0"/>
              <a:t> </a:t>
            </a:r>
            <a:r>
              <a:rPr lang="en-US" sz="2400" dirty="0" err="1"/>
              <a:t>istraživanjem</a:t>
            </a:r>
            <a:r>
              <a:rPr lang="en-US" sz="2400" dirty="0"/>
              <a:t> </a:t>
            </a:r>
            <a:r>
              <a:rPr lang="hr-HR" sz="2400" dirty="0"/>
              <a:t>i tumačenjem društvenih ponašanja ljudi, društvenih pojava i odnosa, odnosno društva općenito</a:t>
            </a:r>
          </a:p>
          <a:p>
            <a:endParaRPr lang="hr-HR" dirty="0"/>
          </a:p>
        </p:txBody>
      </p:sp>
    </p:spTree>
    <p:extLst>
      <p:ext uri="{BB962C8B-B14F-4D97-AF65-F5344CB8AC3E}">
        <p14:creationId xmlns:p14="http://schemas.microsoft.com/office/powerpoint/2010/main" val="2126922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hr-HR" dirty="0"/>
          </a:p>
        </p:txBody>
      </p:sp>
      <p:sp>
        <p:nvSpPr>
          <p:cNvPr id="3" name="Content Placeholder 2"/>
          <p:cNvSpPr>
            <a:spLocks noGrp="1"/>
          </p:cNvSpPr>
          <p:nvPr>
            <p:ph idx="1"/>
          </p:nvPr>
        </p:nvSpPr>
        <p:spPr>
          <a:xfrm>
            <a:off x="3863752" y="764705"/>
            <a:ext cx="8326660" cy="5483697"/>
          </a:xfrm>
        </p:spPr>
        <p:txBody>
          <a:bodyPr>
            <a:normAutofit/>
          </a:bodyPr>
          <a:lstStyle/>
          <a:p>
            <a:pPr marL="0" indent="0">
              <a:buNone/>
            </a:pPr>
            <a:r>
              <a:rPr lang="hr-HR" b="1" dirty="0">
                <a:effectLst>
                  <a:outerShdw blurRad="38100" dist="38100" dir="2700000" algn="tl">
                    <a:srgbClr val="000000">
                      <a:alpha val="43137"/>
                    </a:srgbClr>
                  </a:outerShdw>
                </a:effectLst>
              </a:rPr>
              <a:t>Što je to društvo?</a:t>
            </a:r>
          </a:p>
          <a:p>
            <a:r>
              <a:rPr lang="hr-HR" sz="2400" dirty="0"/>
              <a:t>Pojam društvo može podrazumijevati državu ili zajednicu ili skupinu u kojoj živimo</a:t>
            </a:r>
            <a:endParaRPr lang="en-US" sz="2400" dirty="0"/>
          </a:p>
          <a:p>
            <a:r>
              <a:rPr lang="en-US" sz="2400" dirty="0" err="1"/>
              <a:t>Riječ</a:t>
            </a:r>
            <a:r>
              <a:rPr lang="en-US" sz="2400" dirty="0"/>
              <a:t> </a:t>
            </a:r>
            <a:r>
              <a:rPr lang="en-US" sz="2400" i="1" dirty="0" err="1"/>
              <a:t>društvo</a:t>
            </a:r>
            <a:endParaRPr lang="hr-HR" sz="2400" i="1" dirty="0"/>
          </a:p>
          <a:p>
            <a:r>
              <a:rPr lang="hr-HR" sz="2400" dirty="0"/>
              <a:t>Ljudi bez društva ne mogu postojati, tj. čovjek je dio društva</a:t>
            </a:r>
          </a:p>
          <a:p>
            <a:endParaRPr lang="hr-HR" sz="2400" dirty="0"/>
          </a:p>
          <a:p>
            <a:pPr marL="0" indent="0">
              <a:buNone/>
            </a:pPr>
            <a:r>
              <a:rPr lang="hr-HR" sz="2400" dirty="0"/>
              <a:t>Napišite u bilježnicu tri skupine ili zajednice kojima vi pripadate odnosno njihovi ste članovi (npr. obitelj)</a:t>
            </a:r>
          </a:p>
        </p:txBody>
      </p:sp>
      <p:sp>
        <p:nvSpPr>
          <p:cNvPr id="4" name="Explosion 1 3"/>
          <p:cNvSpPr/>
          <p:nvPr/>
        </p:nvSpPr>
        <p:spPr>
          <a:xfrm>
            <a:off x="3143672" y="4373655"/>
            <a:ext cx="648072" cy="504056"/>
          </a:xfrm>
          <a:prstGeom prst="irregularSeal1">
            <a:avLst/>
          </a:prstGeom>
          <a:solidFill>
            <a:schemeClr val="tx1"/>
          </a:solidFill>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pic>
        <p:nvPicPr>
          <p:cNvPr id="1028" name="Picture 4" descr="Characteristics of Human Society – article1000.c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670" y="1988840"/>
            <a:ext cx="3550066" cy="1881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9901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hr-HR"/>
          </a:p>
        </p:txBody>
      </p:sp>
      <p:sp>
        <p:nvSpPr>
          <p:cNvPr id="3" name="Content Placeholder 2"/>
          <p:cNvSpPr>
            <a:spLocks noGrp="1"/>
          </p:cNvSpPr>
          <p:nvPr>
            <p:ph idx="1"/>
          </p:nvPr>
        </p:nvSpPr>
        <p:spPr>
          <a:xfrm>
            <a:off x="156118" y="602166"/>
            <a:ext cx="12035882" cy="6066262"/>
          </a:xfrm>
        </p:spPr>
        <p:txBody>
          <a:bodyPr>
            <a:noAutofit/>
          </a:bodyPr>
          <a:lstStyle/>
          <a:p>
            <a:pPr fontAlgn="base"/>
            <a:r>
              <a:rPr lang="hr-HR" sz="2400" b="1" dirty="0"/>
              <a:t>Što je društvo?</a:t>
            </a:r>
          </a:p>
          <a:p>
            <a:pPr fontAlgn="base"/>
            <a:r>
              <a:rPr lang="hr-HR" sz="2400" dirty="0"/>
              <a:t>Sociologija definira društvo kao „skupinu ljudi s zajedničkim teritorijem, interakcijom i kulturom“. </a:t>
            </a:r>
            <a:endParaRPr lang="en-US" sz="2400" dirty="0"/>
          </a:p>
          <a:p>
            <a:pPr fontAlgn="base"/>
            <a:endParaRPr lang="en-US" sz="2400" dirty="0"/>
          </a:p>
          <a:p>
            <a:pPr fontAlgn="base"/>
            <a:r>
              <a:rPr lang="en-US" sz="2400" b="1" dirty="0" err="1"/>
              <a:t>Što</a:t>
            </a:r>
            <a:r>
              <a:rPr lang="en-US" sz="2400" b="1" dirty="0"/>
              <a:t> je </a:t>
            </a:r>
            <a:r>
              <a:rPr lang="en-US" sz="2400" b="1" dirty="0" err="1"/>
              <a:t>zajednica</a:t>
            </a:r>
            <a:r>
              <a:rPr lang="en-US" sz="2400" b="1" dirty="0"/>
              <a:t>?</a:t>
            </a:r>
          </a:p>
          <a:p>
            <a:pPr fontAlgn="base"/>
            <a:r>
              <a:rPr lang="hr-HR" sz="2400" dirty="0"/>
              <a:t> </a:t>
            </a:r>
            <a:r>
              <a:rPr lang="en-US" sz="2400" dirty="0"/>
              <a:t>Z</a:t>
            </a:r>
            <a:r>
              <a:rPr lang="hr-HR" sz="2400" dirty="0"/>
              <a:t>ajednica </a:t>
            </a:r>
            <a:r>
              <a:rPr lang="en-US" sz="2400" dirty="0"/>
              <a:t>je </a:t>
            </a:r>
            <a:r>
              <a:rPr lang="hr-HR" sz="2400" dirty="0"/>
              <a:t>skupina ljudi koji žive na istom mjestu ili imaju zajedničko obilježje</a:t>
            </a:r>
            <a:endParaRPr lang="en-US" sz="2400" dirty="0"/>
          </a:p>
          <a:p>
            <a:pPr fontAlgn="base"/>
            <a:endParaRPr lang="en-US" sz="2400" dirty="0"/>
          </a:p>
          <a:p>
            <a:pPr fontAlgn="base"/>
            <a:r>
              <a:rPr lang="hr-HR" sz="2400" dirty="0"/>
              <a:t>Društvo i zajednica. Istraži razlike…</a:t>
            </a:r>
          </a:p>
        </p:txBody>
      </p:sp>
    </p:spTree>
    <p:extLst>
      <p:ext uri="{BB962C8B-B14F-4D97-AF65-F5344CB8AC3E}">
        <p14:creationId xmlns:p14="http://schemas.microsoft.com/office/powerpoint/2010/main" val="1372368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slov 1">
            <a:extLst>
              <a:ext uri="{FF2B5EF4-FFF2-40B4-BE49-F238E27FC236}">
                <a16:creationId xmlns:a16="http://schemas.microsoft.com/office/drawing/2014/main" id="{B2273B10-C00D-4694-ABC1-6164D262F0BE}"/>
              </a:ext>
            </a:extLst>
          </p:cNvPr>
          <p:cNvSpPr>
            <a:spLocks noGrp="1"/>
          </p:cNvSpPr>
          <p:nvPr>
            <p:ph type="title"/>
          </p:nvPr>
        </p:nvSpPr>
        <p:spPr>
          <a:xfrm>
            <a:off x="587907" y="135113"/>
            <a:ext cx="9767396" cy="1400530"/>
          </a:xfrm>
        </p:spPr>
        <p:txBody>
          <a:bodyPr/>
          <a:lstStyle/>
          <a:p>
            <a:r>
              <a:rPr lang="hr-HR" dirty="0"/>
              <a:t>DRUŠTVO                         ZAJEDNICA</a:t>
            </a:r>
          </a:p>
        </p:txBody>
      </p:sp>
      <p:sp>
        <p:nvSpPr>
          <p:cNvPr id="3" name="Rezervirano mjesto sadržaja 2">
            <a:extLst>
              <a:ext uri="{FF2B5EF4-FFF2-40B4-BE49-F238E27FC236}">
                <a16:creationId xmlns:a16="http://schemas.microsoft.com/office/drawing/2014/main" id="{4F78C8A7-B882-4D13-8E75-A22D04168E06}"/>
              </a:ext>
            </a:extLst>
          </p:cNvPr>
          <p:cNvSpPr>
            <a:spLocks noGrp="1"/>
          </p:cNvSpPr>
          <p:nvPr>
            <p:ph idx="1"/>
          </p:nvPr>
        </p:nvSpPr>
        <p:spPr/>
        <p:txBody>
          <a:bodyPr/>
          <a:lstStyle/>
          <a:p>
            <a:endParaRPr lang="hr-HR" dirty="0"/>
          </a:p>
        </p:txBody>
      </p:sp>
      <p:sp>
        <p:nvSpPr>
          <p:cNvPr id="4" name="TekstniOkvir 3">
            <a:extLst>
              <a:ext uri="{FF2B5EF4-FFF2-40B4-BE49-F238E27FC236}">
                <a16:creationId xmlns:a16="http://schemas.microsoft.com/office/drawing/2014/main" id="{DA6C8C57-9D0C-43CA-8DAD-F228D5731371}"/>
              </a:ext>
            </a:extLst>
          </p:cNvPr>
          <p:cNvSpPr txBox="1"/>
          <p:nvPr/>
        </p:nvSpPr>
        <p:spPr>
          <a:xfrm>
            <a:off x="221941" y="1152983"/>
            <a:ext cx="4980374" cy="4832092"/>
          </a:xfrm>
          <a:prstGeom prst="rect">
            <a:avLst/>
          </a:prstGeom>
          <a:noFill/>
        </p:spPr>
        <p:txBody>
          <a:bodyPr wrap="square" rtlCol="0">
            <a:spAutoFit/>
          </a:bodyPr>
          <a:lstStyle/>
          <a:p>
            <a:pPr marL="285750" indent="-285750">
              <a:buFont typeface="Arial" panose="020B0604020202020204" pitchFamily="34" charset="0"/>
              <a:buChar char="•"/>
            </a:pPr>
            <a:r>
              <a:rPr lang="hr-HR" sz="2200" dirty="0"/>
              <a:t>Širi pojam</a:t>
            </a:r>
          </a:p>
          <a:p>
            <a:pPr marL="285750" indent="-285750">
              <a:buFont typeface="Arial" panose="020B0604020202020204" pitchFamily="34" charset="0"/>
              <a:buChar char="•"/>
            </a:pPr>
            <a:r>
              <a:rPr lang="hr-HR" sz="2200" dirty="0"/>
              <a:t>Veće skupine</a:t>
            </a:r>
          </a:p>
          <a:p>
            <a:pPr marL="285750" indent="-285750">
              <a:buFont typeface="Arial" panose="020B0604020202020204" pitchFamily="34" charset="0"/>
              <a:buChar char="•"/>
            </a:pPr>
            <a:r>
              <a:rPr lang="hr-HR" sz="2200" dirty="0"/>
              <a:t>Ljudi nisu nužno blisko povezani </a:t>
            </a:r>
          </a:p>
          <a:p>
            <a:pPr marL="285750" indent="-285750">
              <a:buFont typeface="Arial" panose="020B0604020202020204" pitchFamily="34" charset="0"/>
              <a:buChar char="•"/>
            </a:pPr>
            <a:r>
              <a:rPr lang="hr-HR" sz="2200" dirty="0"/>
              <a:t>Interakcije proizlaze iz organiziranih institucija</a:t>
            </a:r>
          </a:p>
          <a:p>
            <a:pPr marL="285750" indent="-285750">
              <a:buFont typeface="Arial" panose="020B0604020202020204" pitchFamily="34" charset="0"/>
              <a:buChar char="•"/>
            </a:pPr>
            <a:r>
              <a:rPr lang="hr-HR" sz="2200" dirty="0"/>
              <a:t>Počiva na racionalnoj volji uslijed koje se javlja potreba uza učlanjivanjem u organizacije i skupine</a:t>
            </a:r>
          </a:p>
          <a:p>
            <a:pPr marL="285750" indent="-285750">
              <a:buFont typeface="Arial" panose="020B0604020202020204" pitchFamily="34" charset="0"/>
              <a:buChar char="•"/>
            </a:pPr>
            <a:r>
              <a:rPr lang="hr-HR" sz="2200" dirty="0"/>
              <a:t>Stvaranje neosobnih veza</a:t>
            </a:r>
          </a:p>
          <a:p>
            <a:pPr marL="285750" indent="-285750">
              <a:buFont typeface="Arial" panose="020B0604020202020204" pitchFamily="34" charset="0"/>
              <a:buChar char="•"/>
            </a:pPr>
            <a:r>
              <a:rPr lang="hr-HR" sz="2200" dirty="0"/>
              <a:t>Zajednički geografski prostor ili unutar određenog političkog, kulturnog ili ekonomskog prostora</a:t>
            </a:r>
          </a:p>
          <a:p>
            <a:pPr marL="285750" indent="-285750">
              <a:buFont typeface="Arial" panose="020B0604020202020204" pitchFamily="34" charset="0"/>
              <a:buChar char="•"/>
            </a:pPr>
            <a:r>
              <a:rPr lang="hr-HR" sz="2200" dirty="0"/>
              <a:t>Primjer: hrvatsko društvo</a:t>
            </a:r>
          </a:p>
        </p:txBody>
      </p:sp>
      <p:sp>
        <p:nvSpPr>
          <p:cNvPr id="5" name="TekstniOkvir 4">
            <a:extLst>
              <a:ext uri="{FF2B5EF4-FFF2-40B4-BE49-F238E27FC236}">
                <a16:creationId xmlns:a16="http://schemas.microsoft.com/office/drawing/2014/main" id="{24E4BF54-419D-4ABC-B466-17BEFF6F803A}"/>
              </a:ext>
            </a:extLst>
          </p:cNvPr>
          <p:cNvSpPr txBox="1"/>
          <p:nvPr/>
        </p:nvSpPr>
        <p:spPr>
          <a:xfrm>
            <a:off x="6113736" y="1152983"/>
            <a:ext cx="5490357" cy="5170646"/>
          </a:xfrm>
          <a:prstGeom prst="rect">
            <a:avLst/>
          </a:prstGeom>
          <a:noFill/>
        </p:spPr>
        <p:txBody>
          <a:bodyPr wrap="square" rtlCol="0">
            <a:spAutoFit/>
          </a:bodyPr>
          <a:lstStyle/>
          <a:p>
            <a:pPr marL="285750" indent="-285750">
              <a:buFont typeface="Arial" panose="020B0604020202020204" pitchFamily="34" charset="0"/>
              <a:buChar char="•"/>
            </a:pPr>
            <a:r>
              <a:rPr lang="hr-HR" sz="2200" dirty="0"/>
              <a:t>Uži pojam</a:t>
            </a:r>
          </a:p>
          <a:p>
            <a:pPr marL="285750" indent="-285750">
              <a:buFont typeface="Arial" panose="020B0604020202020204" pitchFamily="34" charset="0"/>
              <a:buChar char="•"/>
            </a:pPr>
            <a:r>
              <a:rPr lang="hr-HR" sz="2200" dirty="0"/>
              <a:t>Manje skupine</a:t>
            </a:r>
          </a:p>
          <a:p>
            <a:pPr marL="285750" indent="-285750">
              <a:buFont typeface="Arial" panose="020B0604020202020204" pitchFamily="34" charset="0"/>
              <a:buChar char="•"/>
            </a:pPr>
            <a:r>
              <a:rPr lang="hr-HR" sz="2200" dirty="0"/>
              <a:t>Ostvarivanje dubljih i osobnijih veza </a:t>
            </a:r>
          </a:p>
          <a:p>
            <a:pPr marL="285750" indent="-285750">
              <a:buFont typeface="Arial" panose="020B0604020202020204" pitchFamily="34" charset="0"/>
              <a:buChar char="•"/>
            </a:pPr>
            <a:r>
              <a:rPr lang="hr-HR" sz="2200" dirty="0"/>
              <a:t>Intimnije grupe</a:t>
            </a:r>
          </a:p>
          <a:p>
            <a:pPr marL="285750" indent="-285750">
              <a:buFont typeface="Arial" panose="020B0604020202020204" pitchFamily="34" charset="0"/>
              <a:buChar char="•"/>
            </a:pPr>
            <a:r>
              <a:rPr lang="hr-HR" sz="2200" dirty="0"/>
              <a:t>Ljudi dijele zajedničke ciljeve, uvjerenja i </a:t>
            </a:r>
            <a:r>
              <a:rPr lang="hr-HR" sz="2200" dirty="0" err="1"/>
              <a:t>ineterese</a:t>
            </a:r>
            <a:endParaRPr lang="hr-HR" sz="2200" dirty="0"/>
          </a:p>
          <a:p>
            <a:pPr marL="285750" indent="-285750">
              <a:buFont typeface="Arial" panose="020B0604020202020204" pitchFamily="34" charset="0"/>
              <a:buChar char="•"/>
            </a:pPr>
            <a:r>
              <a:rPr lang="hr-HR" sz="2200" dirty="0"/>
              <a:t>Ljudi povezani</a:t>
            </a:r>
          </a:p>
          <a:p>
            <a:pPr marL="285750" indent="-285750">
              <a:buFont typeface="Arial" panose="020B0604020202020204" pitchFamily="34" charset="0"/>
              <a:buChar char="•"/>
            </a:pPr>
            <a:r>
              <a:rPr lang="hr-HR" sz="2200" dirty="0"/>
              <a:t>Temelji se na zajedničkom geografsko prostoru i kulturnim obilježjima</a:t>
            </a:r>
          </a:p>
          <a:p>
            <a:pPr marL="285750" indent="-285750">
              <a:buFont typeface="Arial" panose="020B0604020202020204" pitchFamily="34" charset="0"/>
              <a:buChar char="•"/>
            </a:pPr>
            <a:r>
              <a:rPr lang="hr-HR" sz="2200" dirty="0"/>
              <a:t>Počiva na prirodnoj volji uslijed koje se stvaraju bliske, emotivne i suradničke veze</a:t>
            </a:r>
          </a:p>
          <a:p>
            <a:pPr marL="285750" indent="-285750">
              <a:buFont typeface="Arial" panose="020B0604020202020204" pitchFamily="34" charset="0"/>
              <a:buChar char="•"/>
            </a:pPr>
            <a:r>
              <a:rPr lang="hr-HR" sz="2200" dirty="0"/>
              <a:t>Primjer: obitelj, sportski klub, vjerska zajednica</a:t>
            </a:r>
          </a:p>
        </p:txBody>
      </p:sp>
    </p:spTree>
    <p:extLst>
      <p:ext uri="{BB962C8B-B14F-4D97-AF65-F5344CB8AC3E}">
        <p14:creationId xmlns:p14="http://schemas.microsoft.com/office/powerpoint/2010/main" val="42463005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hr-HR"/>
          </a:p>
        </p:txBody>
      </p:sp>
      <p:sp>
        <p:nvSpPr>
          <p:cNvPr id="3" name="Content Placeholder 2"/>
          <p:cNvSpPr>
            <a:spLocks noGrp="1"/>
          </p:cNvSpPr>
          <p:nvPr>
            <p:ph idx="1"/>
          </p:nvPr>
        </p:nvSpPr>
        <p:spPr>
          <a:xfrm>
            <a:off x="2464421" y="1412777"/>
            <a:ext cx="9725992" cy="5112567"/>
          </a:xfrm>
        </p:spPr>
        <p:txBody>
          <a:bodyPr>
            <a:normAutofit/>
          </a:bodyPr>
          <a:lstStyle/>
          <a:p>
            <a:r>
              <a:rPr lang="en-US" sz="2300" dirty="0"/>
              <a:t>August Comte – </a:t>
            </a:r>
            <a:r>
              <a:rPr lang="en-US" sz="2300" dirty="0" err="1"/>
              <a:t>osnivač</a:t>
            </a:r>
            <a:r>
              <a:rPr lang="en-US" sz="2300" dirty="0"/>
              <a:t> </a:t>
            </a:r>
            <a:r>
              <a:rPr lang="en-US" sz="2300" dirty="0" err="1"/>
              <a:t>sociologije</a:t>
            </a:r>
            <a:r>
              <a:rPr lang="hr-HR" sz="2300" dirty="0"/>
              <a:t> </a:t>
            </a:r>
          </a:p>
          <a:p>
            <a:endParaRPr lang="hr-HR" sz="2300" dirty="0"/>
          </a:p>
          <a:p>
            <a:r>
              <a:rPr lang="hr-HR" sz="2300" i="1" dirty="0"/>
              <a:t>„Opažanjima se mogu razvijati spoznaje o društvu i predvidjeti  budući društveni događaji” </a:t>
            </a:r>
            <a:endParaRPr lang="en-US" sz="2300" i="1" dirty="0"/>
          </a:p>
          <a:p>
            <a:r>
              <a:rPr lang="en-US" sz="2300" i="1" dirty="0"/>
              <a:t>SOCIJALNA FIZIKA</a:t>
            </a:r>
            <a:endParaRPr lang="hr-HR" sz="2300" i="1" dirty="0"/>
          </a:p>
          <a:p>
            <a:r>
              <a:rPr lang="hr-HR" sz="2300" dirty="0"/>
              <a:t>Pozitivizam – sociologija će objasniti zakonitosti društva</a:t>
            </a:r>
            <a:endParaRPr lang="en-US" sz="2300" dirty="0"/>
          </a:p>
          <a:p>
            <a:endParaRPr lang="hr-HR" sz="2200" i="1" dirty="0"/>
          </a:p>
          <a:p>
            <a:endParaRPr lang="hr-HR" sz="2200" i="1" dirty="0"/>
          </a:p>
          <a:p>
            <a:endParaRPr lang="hr-HR" sz="2200" b="1" dirty="0"/>
          </a:p>
        </p:txBody>
      </p:sp>
      <p:pic>
        <p:nvPicPr>
          <p:cNvPr id="2050" name="Picture 2" descr="Auguste Comte – Wikipedija"/>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88" y="1556793"/>
            <a:ext cx="2280932" cy="292909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1588" y="4653137"/>
            <a:ext cx="2280932" cy="646331"/>
          </a:xfrm>
          <a:prstGeom prst="rect">
            <a:avLst/>
          </a:prstGeom>
          <a:noFill/>
        </p:spPr>
        <p:txBody>
          <a:bodyPr wrap="square" rtlCol="0">
            <a:spAutoFit/>
          </a:bodyPr>
          <a:lstStyle/>
          <a:p>
            <a:pPr algn="ctr"/>
            <a:r>
              <a:rPr lang="en-US" dirty="0" err="1"/>
              <a:t>Auguste</a:t>
            </a:r>
            <a:r>
              <a:rPr lang="en-US" dirty="0"/>
              <a:t> Comte, 1798.- 1857.</a:t>
            </a:r>
            <a:endParaRPr lang="hr-HR" dirty="0"/>
          </a:p>
        </p:txBody>
      </p:sp>
    </p:spTree>
    <p:extLst>
      <p:ext uri="{BB962C8B-B14F-4D97-AF65-F5344CB8AC3E}">
        <p14:creationId xmlns:p14="http://schemas.microsoft.com/office/powerpoint/2010/main" val="3940084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hr-HR"/>
          </a:p>
        </p:txBody>
      </p:sp>
      <p:sp>
        <p:nvSpPr>
          <p:cNvPr id="3" name="Content Placeholder 2"/>
          <p:cNvSpPr>
            <a:spLocks noGrp="1"/>
          </p:cNvSpPr>
          <p:nvPr>
            <p:ph idx="1"/>
          </p:nvPr>
        </p:nvSpPr>
        <p:spPr>
          <a:xfrm>
            <a:off x="5087888" y="1340769"/>
            <a:ext cx="6984776" cy="5184575"/>
          </a:xfrm>
        </p:spPr>
        <p:txBody>
          <a:bodyPr/>
          <a:lstStyle/>
          <a:p>
            <a:r>
              <a:rPr lang="hr-HR" sz="2400" dirty="0"/>
              <a:t>Na slici ljudi koji imaju mnoštvo međusobnih odnosa</a:t>
            </a:r>
          </a:p>
          <a:p>
            <a:r>
              <a:rPr lang="hr-HR" sz="2400" dirty="0"/>
              <a:t>Općenitija definicija društva: </a:t>
            </a:r>
            <a:r>
              <a:rPr lang="hr-HR" sz="2400" b="1" dirty="0"/>
              <a:t>Odnosi s drugim ljudskim bićima.</a:t>
            </a:r>
          </a:p>
          <a:p>
            <a:endParaRPr lang="hr-HR" sz="2200" b="1" dirty="0"/>
          </a:p>
          <a:p>
            <a:endParaRPr lang="hr-HR" sz="2200" b="1" dirty="0"/>
          </a:p>
          <a:p>
            <a:endParaRPr lang="hr-HR" b="1" dirty="0"/>
          </a:p>
        </p:txBody>
      </p:sp>
      <p:pic>
        <p:nvPicPr>
          <p:cNvPr id="3074" name="Picture 2" descr="Social Network Analytics. Social Network Analytics (with a Case… | by  Shreyansh nanawati | Analytics Vidhya | Mediu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848" y="1853248"/>
            <a:ext cx="4763764" cy="32305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8627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hr-HR"/>
          </a:p>
        </p:txBody>
      </p:sp>
      <p:sp>
        <p:nvSpPr>
          <p:cNvPr id="3" name="Content Placeholder 2"/>
          <p:cNvSpPr>
            <a:spLocks noGrp="1"/>
          </p:cNvSpPr>
          <p:nvPr>
            <p:ph idx="1"/>
          </p:nvPr>
        </p:nvSpPr>
        <p:spPr>
          <a:xfrm>
            <a:off x="4871864" y="1196752"/>
            <a:ext cx="7200800" cy="5184576"/>
          </a:xfrm>
        </p:spPr>
        <p:txBody>
          <a:bodyPr>
            <a:noAutofit/>
          </a:bodyPr>
          <a:lstStyle/>
          <a:p>
            <a:r>
              <a:rPr lang="hr-HR" sz="2200" dirty="0"/>
              <a:t> Razmislite kako ste se ponašali na posljednjem koncertu na kojem ste bili?</a:t>
            </a:r>
          </a:p>
          <a:p>
            <a:endParaRPr lang="hr-HR" sz="2200" dirty="0"/>
          </a:p>
          <a:p>
            <a:r>
              <a:rPr lang="hr-HR" sz="2200" dirty="0"/>
              <a:t>Nisu svi ljudi jednako poznavali pjesme, no svi se uključili na refrenu</a:t>
            </a:r>
          </a:p>
          <a:p>
            <a:r>
              <a:rPr lang="hr-HR" sz="2200" dirty="0"/>
              <a:t>Uključivali mobitel</a:t>
            </a:r>
          </a:p>
          <a:p>
            <a:r>
              <a:rPr lang="hr-HR" sz="2200" dirty="0"/>
              <a:t>Ljudi su se slikali i fotografije dijelili na društvenim mrežama</a:t>
            </a:r>
            <a:endParaRPr lang="en-US" sz="2200" dirty="0"/>
          </a:p>
          <a:p>
            <a:endParaRPr lang="en-US" sz="2200" dirty="0"/>
          </a:p>
          <a:p>
            <a:pPr marL="0" indent="0" algn="ctr">
              <a:buNone/>
            </a:pPr>
            <a:r>
              <a:rPr lang="en-US" sz="2200" dirty="0"/>
              <a:t>DRUŠTVENO PONAŠANJE</a:t>
            </a:r>
          </a:p>
          <a:p>
            <a:pPr algn="ctr">
              <a:buFont typeface="Courier New" panose="02070309020205020404" pitchFamily="49" charset="0"/>
              <a:buChar char="o"/>
            </a:pPr>
            <a:r>
              <a:rPr lang="en-US" sz="2200" dirty="0" err="1"/>
              <a:t>Odvija</a:t>
            </a:r>
            <a:r>
              <a:rPr lang="en-US" sz="2200" dirty="0"/>
              <a:t> se pod </a:t>
            </a:r>
            <a:r>
              <a:rPr lang="en-US" sz="2200" dirty="0" err="1"/>
              <a:t>utjecajem</a:t>
            </a:r>
            <a:r>
              <a:rPr lang="en-US" sz="2200" dirty="0"/>
              <a:t> </a:t>
            </a:r>
            <a:r>
              <a:rPr lang="en-US" sz="2200" dirty="0" err="1"/>
              <a:t>drugih</a:t>
            </a:r>
            <a:r>
              <a:rPr lang="en-US" sz="2200" dirty="0"/>
              <a:t> </a:t>
            </a:r>
            <a:r>
              <a:rPr lang="en-US" sz="2200" dirty="0" err="1"/>
              <a:t>ili</a:t>
            </a:r>
            <a:r>
              <a:rPr lang="en-US" sz="2200" dirty="0"/>
              <a:t> </a:t>
            </a:r>
            <a:r>
              <a:rPr lang="en-US" sz="2200" dirty="0" err="1"/>
              <a:t>sam</a:t>
            </a:r>
            <a:r>
              <a:rPr lang="en-US" sz="2200" dirty="0"/>
              <a:t> </a:t>
            </a:r>
            <a:r>
              <a:rPr lang="en-US" sz="2200" dirty="0" err="1"/>
              <a:t>pojedinac</a:t>
            </a:r>
            <a:r>
              <a:rPr lang="en-US" sz="2200" dirty="0"/>
              <a:t> </a:t>
            </a:r>
            <a:r>
              <a:rPr lang="en-US" sz="2200" dirty="0" err="1"/>
              <a:t>utječe</a:t>
            </a:r>
            <a:r>
              <a:rPr lang="en-US" sz="2200" dirty="0"/>
              <a:t> </a:t>
            </a:r>
            <a:r>
              <a:rPr lang="en-US" sz="2200" dirty="0" err="1"/>
              <a:t>na</a:t>
            </a:r>
            <a:r>
              <a:rPr lang="en-US" sz="2200" dirty="0"/>
              <a:t> </a:t>
            </a:r>
            <a:r>
              <a:rPr lang="en-US" sz="2200" dirty="0" err="1"/>
              <a:t>druge</a:t>
            </a:r>
            <a:r>
              <a:rPr lang="en-US" sz="2200" dirty="0"/>
              <a:t> </a:t>
            </a:r>
            <a:r>
              <a:rPr lang="en-US" sz="2200" dirty="0" err="1"/>
              <a:t>oko</a:t>
            </a:r>
            <a:r>
              <a:rPr lang="en-US" sz="2200" dirty="0"/>
              <a:t> </a:t>
            </a:r>
            <a:r>
              <a:rPr lang="en-US" sz="2200" dirty="0" err="1"/>
              <a:t>sebe</a:t>
            </a:r>
            <a:endParaRPr lang="en-US" sz="2200" dirty="0"/>
          </a:p>
        </p:txBody>
      </p:sp>
      <p:pic>
        <p:nvPicPr>
          <p:cNvPr id="4098" name="Picture 2" descr="How to shoot a concert — Blind Magazin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0" y="1690398"/>
            <a:ext cx="4499006" cy="2530691"/>
          </a:xfrm>
          <a:prstGeom prst="rect">
            <a:avLst/>
          </a:prstGeom>
          <a:noFill/>
          <a:extLst>
            <a:ext uri="{909E8E84-426E-40DD-AFC4-6F175D3DCCD1}">
              <a14:hiddenFill xmlns:a14="http://schemas.microsoft.com/office/drawing/2010/main">
                <a:solidFill>
                  <a:srgbClr val="FFFFFF"/>
                </a:solidFill>
              </a14:hiddenFill>
            </a:ext>
          </a:extLst>
        </p:spPr>
      </p:pic>
      <p:sp>
        <p:nvSpPr>
          <p:cNvPr id="6" name="Explosion 1 5"/>
          <p:cNvSpPr/>
          <p:nvPr/>
        </p:nvSpPr>
        <p:spPr>
          <a:xfrm>
            <a:off x="4664217" y="1217307"/>
            <a:ext cx="648072" cy="504056"/>
          </a:xfrm>
          <a:prstGeom prst="irregularSeal1">
            <a:avLst/>
          </a:prstGeom>
          <a:solidFill>
            <a:schemeClr val="tx1"/>
          </a:solidFill>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cxnSp>
        <p:nvCxnSpPr>
          <p:cNvPr id="17" name="Elbow Connector 16"/>
          <p:cNvCxnSpPr/>
          <p:nvPr/>
        </p:nvCxnSpPr>
        <p:spPr>
          <a:xfrm rot="16200000" flipH="1">
            <a:off x="8099724" y="4420695"/>
            <a:ext cx="745080" cy="345869"/>
          </a:xfrm>
          <a:prstGeom prst="bentConnector3">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12782" y="4581129"/>
            <a:ext cx="4715066" cy="20621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just"/>
            <a:r>
              <a:rPr lang="en-US" sz="2200" b="1" dirty="0" err="1"/>
              <a:t>Društveno</a:t>
            </a:r>
            <a:r>
              <a:rPr lang="en-US" sz="2200" b="1" dirty="0"/>
              <a:t> </a:t>
            </a:r>
            <a:r>
              <a:rPr lang="en-US" sz="2200" b="1" dirty="0" err="1"/>
              <a:t>ponašanje</a:t>
            </a:r>
            <a:r>
              <a:rPr lang="en-US" sz="2200" b="1" dirty="0"/>
              <a:t> je </a:t>
            </a:r>
            <a:r>
              <a:rPr lang="en-US" sz="2200" b="1" dirty="0" err="1"/>
              <a:t>svako</a:t>
            </a:r>
            <a:r>
              <a:rPr lang="en-US" sz="2200" b="1" dirty="0"/>
              <a:t> </a:t>
            </a:r>
            <a:r>
              <a:rPr lang="en-US" sz="2200" b="1" dirty="0" err="1"/>
              <a:t>ponašanje</a:t>
            </a:r>
            <a:r>
              <a:rPr lang="en-US" sz="2200" b="1" dirty="0"/>
              <a:t> </a:t>
            </a:r>
            <a:r>
              <a:rPr lang="en-US" sz="2200" b="1" dirty="0" err="1"/>
              <a:t>pojedinca</a:t>
            </a:r>
            <a:r>
              <a:rPr lang="en-US" sz="2200" b="1" dirty="0"/>
              <a:t> </a:t>
            </a:r>
            <a:r>
              <a:rPr lang="en-US" sz="2200" b="1" dirty="0" err="1"/>
              <a:t>koje</a:t>
            </a:r>
            <a:r>
              <a:rPr lang="en-US" sz="2200" b="1" dirty="0"/>
              <a:t> </a:t>
            </a:r>
            <a:r>
              <a:rPr lang="en-US" sz="2200" b="1" dirty="0" err="1"/>
              <a:t>uzim</a:t>
            </a:r>
            <a:r>
              <a:rPr lang="hr-HR" sz="2200" b="1" dirty="0"/>
              <a:t>a</a:t>
            </a:r>
            <a:r>
              <a:rPr lang="en-US" sz="2200" b="1" dirty="0"/>
              <a:t> u </a:t>
            </a:r>
            <a:r>
              <a:rPr lang="en-US" sz="2200" b="1" dirty="0" err="1"/>
              <a:t>obzir</a:t>
            </a:r>
            <a:r>
              <a:rPr lang="en-US" sz="2200" b="1" dirty="0"/>
              <a:t> </a:t>
            </a:r>
            <a:r>
              <a:rPr lang="en-US" sz="2200" b="1" dirty="0" err="1"/>
              <a:t>zajedničke</a:t>
            </a:r>
            <a:r>
              <a:rPr lang="en-US" sz="2200" b="1" dirty="0"/>
              <a:t> </a:t>
            </a:r>
            <a:r>
              <a:rPr lang="en-US" sz="2200" b="1" dirty="0" err="1"/>
              <a:t>norme</a:t>
            </a:r>
            <a:r>
              <a:rPr lang="en-US" sz="2200" b="1" dirty="0"/>
              <a:t> </a:t>
            </a:r>
            <a:r>
              <a:rPr lang="en-US" sz="2200" b="1" dirty="0" err="1"/>
              <a:t>i</a:t>
            </a:r>
            <a:r>
              <a:rPr lang="en-US" sz="2200" b="1" dirty="0"/>
              <a:t> </a:t>
            </a:r>
            <a:r>
              <a:rPr lang="en-US" sz="2200" b="1" dirty="0" err="1"/>
              <a:t>vrijednosti</a:t>
            </a:r>
            <a:r>
              <a:rPr lang="hr-HR" sz="2200" b="1" dirty="0"/>
              <a:t> neke grupe te osobna uvjerenja i motive</a:t>
            </a:r>
          </a:p>
          <a:p>
            <a:pPr algn="ctr"/>
            <a:endParaRPr lang="hr-HR" dirty="0"/>
          </a:p>
        </p:txBody>
      </p:sp>
    </p:spTree>
    <p:extLst>
      <p:ext uri="{BB962C8B-B14F-4D97-AF65-F5344CB8AC3E}">
        <p14:creationId xmlns:p14="http://schemas.microsoft.com/office/powerpoint/2010/main" val="7922082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animBg="1"/>
      <p:bldP spid="1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hr-HR"/>
          </a:p>
        </p:txBody>
      </p:sp>
      <p:sp>
        <p:nvSpPr>
          <p:cNvPr id="3" name="Content Placeholder 2"/>
          <p:cNvSpPr>
            <a:spLocks noGrp="1"/>
          </p:cNvSpPr>
          <p:nvPr>
            <p:ph idx="1"/>
          </p:nvPr>
        </p:nvSpPr>
        <p:spPr>
          <a:xfrm>
            <a:off x="1104614" y="1853249"/>
            <a:ext cx="3191187" cy="4395152"/>
          </a:xfrm>
        </p:spPr>
        <p:txBody>
          <a:bodyPr>
            <a:normAutofit/>
          </a:bodyPr>
          <a:lstStyle/>
          <a:p>
            <a:pPr marL="0" indent="0">
              <a:buNone/>
            </a:pPr>
            <a:endParaRPr lang="hr-HR" sz="2200" dirty="0"/>
          </a:p>
        </p:txBody>
      </p:sp>
      <p:sp>
        <p:nvSpPr>
          <p:cNvPr id="10" name="TextBox 9"/>
          <p:cNvSpPr txBox="1"/>
          <p:nvPr/>
        </p:nvSpPr>
        <p:spPr>
          <a:xfrm>
            <a:off x="519686" y="1540314"/>
            <a:ext cx="10328842" cy="461665"/>
          </a:xfrm>
          <a:prstGeom prst="rect">
            <a:avLst/>
          </a:prstGeom>
          <a:noFill/>
        </p:spPr>
        <p:txBody>
          <a:bodyPr wrap="square" rtlCol="0">
            <a:spAutoFit/>
          </a:bodyPr>
          <a:lstStyle/>
          <a:p>
            <a:pPr marL="285750" indent="-285750">
              <a:buFont typeface="Arial" panose="020B0604020202020204" pitchFamily="34" charset="0"/>
              <a:buChar char="•"/>
            </a:pPr>
            <a:r>
              <a:rPr lang="hr-HR" sz="2400" dirty="0"/>
              <a:t>Većina naših aktivnosti društveno određena</a:t>
            </a:r>
          </a:p>
        </p:txBody>
      </p:sp>
      <p:sp>
        <p:nvSpPr>
          <p:cNvPr id="11" name="TextBox 10"/>
          <p:cNvSpPr txBox="1"/>
          <p:nvPr/>
        </p:nvSpPr>
        <p:spPr>
          <a:xfrm>
            <a:off x="3584472" y="629763"/>
            <a:ext cx="3528392" cy="523220"/>
          </a:xfrm>
          <a:prstGeom prst="rect">
            <a:avLst/>
          </a:prstGeom>
          <a:noFill/>
        </p:spPr>
        <p:txBody>
          <a:bodyPr wrap="square" rtlCol="0">
            <a:spAutoFit/>
          </a:bodyPr>
          <a:lstStyle/>
          <a:p>
            <a:r>
              <a:rPr lang="hr-HR" sz="2800" b="1" dirty="0"/>
              <a:t>DRUŠTVENI ODNOSI</a:t>
            </a:r>
          </a:p>
        </p:txBody>
      </p:sp>
      <p:sp>
        <p:nvSpPr>
          <p:cNvPr id="12" name="TextBox 11"/>
          <p:cNvSpPr txBox="1"/>
          <p:nvPr/>
        </p:nvSpPr>
        <p:spPr>
          <a:xfrm>
            <a:off x="903249" y="3645025"/>
            <a:ext cx="8218449" cy="954107"/>
          </a:xfrm>
          <a:prstGeom prst="rect">
            <a:avLst/>
          </a:prstGeom>
          <a:solidFill>
            <a:srgbClr val="C00000"/>
          </a:solidFill>
        </p:spPr>
        <p:txBody>
          <a:bodyPr wrap="square" rtlCol="0">
            <a:spAutoFit/>
          </a:bodyPr>
          <a:lstStyle/>
          <a:p>
            <a:r>
              <a:rPr lang="hr-HR" sz="2800" dirty="0"/>
              <a:t>Društveni su odnosi skup veza i utjecaja koje pojedinci ostvaruju s drugim ljudima.</a:t>
            </a:r>
          </a:p>
        </p:txBody>
      </p:sp>
    </p:spTree>
    <p:extLst>
      <p:ext uri="{BB962C8B-B14F-4D97-AF65-F5344CB8AC3E}">
        <p14:creationId xmlns:p14="http://schemas.microsoft.com/office/powerpoint/2010/main" val="1474389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1000"/>
                                        <p:tgtEl>
                                          <p:spTgt spid="11"/>
                                        </p:tgtEl>
                                      </p:cBhvr>
                                    </p:animEffect>
                                    <p:anim calcmode="lin" valueType="num">
                                      <p:cBhvr>
                                        <p:cTn id="12" dur="1000" fill="hold"/>
                                        <p:tgtEl>
                                          <p:spTgt spid="11"/>
                                        </p:tgtEl>
                                        <p:attrNameLst>
                                          <p:attrName>ppt_x</p:attrName>
                                        </p:attrNameLst>
                                      </p:cBhvr>
                                      <p:tavLst>
                                        <p:tav tm="0">
                                          <p:val>
                                            <p:strVal val="#ppt_x"/>
                                          </p:val>
                                        </p:tav>
                                        <p:tav tm="100000">
                                          <p:val>
                                            <p:strVal val="#ppt_x"/>
                                          </p:val>
                                        </p:tav>
                                      </p:tavLst>
                                    </p:anim>
                                    <p:anim calcmode="lin" valueType="num">
                                      <p:cBhvr>
                                        <p:cTn id="13"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3614" y="353174"/>
            <a:ext cx="9402274" cy="1400530"/>
          </a:xfrm>
        </p:spPr>
        <p:txBody>
          <a:bodyPr/>
          <a:lstStyle/>
          <a:p>
            <a:endParaRPr lang="hr-HR" dirty="0"/>
          </a:p>
        </p:txBody>
      </p:sp>
      <p:sp>
        <p:nvSpPr>
          <p:cNvPr id="3" name="Content Placeholder 2"/>
          <p:cNvSpPr>
            <a:spLocks noGrp="1"/>
          </p:cNvSpPr>
          <p:nvPr>
            <p:ph idx="1"/>
          </p:nvPr>
        </p:nvSpPr>
        <p:spPr>
          <a:xfrm>
            <a:off x="551386" y="548681"/>
            <a:ext cx="3960439" cy="5699720"/>
          </a:xfrm>
        </p:spPr>
        <p:txBody>
          <a:bodyPr>
            <a:normAutofit/>
          </a:bodyPr>
          <a:lstStyle/>
          <a:p>
            <a:endParaRPr lang="hr-HR" sz="2200" dirty="0"/>
          </a:p>
        </p:txBody>
      </p:sp>
      <p:sp>
        <p:nvSpPr>
          <p:cNvPr id="6" name="Down Arrow 5"/>
          <p:cNvSpPr/>
          <p:nvPr/>
        </p:nvSpPr>
        <p:spPr>
          <a:xfrm rot="17349371">
            <a:off x="1211312" y="1596645"/>
            <a:ext cx="1224136" cy="2844123"/>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&lt;</a:t>
            </a:r>
            <a:endParaRPr lang="hr-HR" dirty="0"/>
          </a:p>
        </p:txBody>
      </p:sp>
      <p:sp>
        <p:nvSpPr>
          <p:cNvPr id="7" name="TextBox 6"/>
          <p:cNvSpPr txBox="1"/>
          <p:nvPr/>
        </p:nvSpPr>
        <p:spPr>
          <a:xfrm rot="1159173">
            <a:off x="418560" y="2805293"/>
            <a:ext cx="2658210" cy="369332"/>
          </a:xfrm>
          <a:prstGeom prst="rect">
            <a:avLst/>
          </a:prstGeom>
          <a:noFill/>
        </p:spPr>
        <p:txBody>
          <a:bodyPr wrap="square" rtlCol="0">
            <a:spAutoFit/>
          </a:bodyPr>
          <a:lstStyle/>
          <a:p>
            <a:r>
              <a:rPr lang="hr-HR" dirty="0"/>
              <a:t>GRUPA ILI ZAJEDNICA</a:t>
            </a:r>
          </a:p>
        </p:txBody>
      </p:sp>
      <p:sp>
        <p:nvSpPr>
          <p:cNvPr id="8" name="Down Arrow 7"/>
          <p:cNvSpPr/>
          <p:nvPr/>
        </p:nvSpPr>
        <p:spPr>
          <a:xfrm rot="3644723">
            <a:off x="8906170" y="754364"/>
            <a:ext cx="1224136" cy="3174108"/>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dirty="0"/>
          </a:p>
        </p:txBody>
      </p:sp>
      <p:sp>
        <p:nvSpPr>
          <p:cNvPr id="9" name="TextBox 8"/>
          <p:cNvSpPr txBox="1"/>
          <p:nvPr/>
        </p:nvSpPr>
        <p:spPr>
          <a:xfrm rot="19884899">
            <a:off x="8236206" y="1938044"/>
            <a:ext cx="2949304" cy="646331"/>
          </a:xfrm>
          <a:prstGeom prst="rect">
            <a:avLst/>
          </a:prstGeom>
          <a:noFill/>
        </p:spPr>
        <p:txBody>
          <a:bodyPr wrap="square" rtlCol="0">
            <a:spAutoFit/>
          </a:bodyPr>
          <a:lstStyle/>
          <a:p>
            <a:r>
              <a:rPr lang="en-US" dirty="0"/>
              <a:t>KOMUNIKACIJA – VERBALNA, NEVERBALNA</a:t>
            </a:r>
            <a:endParaRPr lang="hr-HR" dirty="0"/>
          </a:p>
        </p:txBody>
      </p:sp>
      <p:sp>
        <p:nvSpPr>
          <p:cNvPr id="10" name="Down Arrow 9"/>
          <p:cNvSpPr/>
          <p:nvPr/>
        </p:nvSpPr>
        <p:spPr>
          <a:xfrm rot="15512309">
            <a:off x="1124507" y="4302122"/>
            <a:ext cx="1224136" cy="2844123"/>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dirty="0"/>
          </a:p>
        </p:txBody>
      </p:sp>
      <p:sp>
        <p:nvSpPr>
          <p:cNvPr id="11" name="TextBox 10"/>
          <p:cNvSpPr txBox="1"/>
          <p:nvPr/>
        </p:nvSpPr>
        <p:spPr>
          <a:xfrm rot="20888530">
            <a:off x="912586" y="5539516"/>
            <a:ext cx="1728192" cy="369332"/>
          </a:xfrm>
          <a:prstGeom prst="rect">
            <a:avLst/>
          </a:prstGeom>
          <a:noFill/>
        </p:spPr>
        <p:txBody>
          <a:bodyPr wrap="square" rtlCol="0">
            <a:spAutoFit/>
          </a:bodyPr>
          <a:lstStyle/>
          <a:p>
            <a:r>
              <a:rPr lang="en-US" dirty="0"/>
              <a:t>UTJECAJ</a:t>
            </a:r>
            <a:endParaRPr lang="hr-HR" dirty="0"/>
          </a:p>
        </p:txBody>
      </p:sp>
      <p:sp>
        <p:nvSpPr>
          <p:cNvPr id="12" name="Down Arrow 11"/>
          <p:cNvSpPr/>
          <p:nvPr/>
        </p:nvSpPr>
        <p:spPr>
          <a:xfrm rot="5690777">
            <a:off x="9423820" y="2850978"/>
            <a:ext cx="1224136" cy="2844123"/>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dirty="0"/>
          </a:p>
        </p:txBody>
      </p:sp>
      <p:sp>
        <p:nvSpPr>
          <p:cNvPr id="13" name="TextBox 12"/>
          <p:cNvSpPr txBox="1"/>
          <p:nvPr/>
        </p:nvSpPr>
        <p:spPr>
          <a:xfrm rot="344770">
            <a:off x="9412060" y="4125555"/>
            <a:ext cx="2250160" cy="369332"/>
          </a:xfrm>
          <a:prstGeom prst="rect">
            <a:avLst/>
          </a:prstGeom>
          <a:noFill/>
        </p:spPr>
        <p:txBody>
          <a:bodyPr wrap="square" rtlCol="0">
            <a:spAutoFit/>
          </a:bodyPr>
          <a:lstStyle/>
          <a:p>
            <a:r>
              <a:rPr lang="en-US" dirty="0"/>
              <a:t>REAKCIJA</a:t>
            </a:r>
            <a:endParaRPr lang="hr-HR" dirty="0"/>
          </a:p>
        </p:txBody>
      </p:sp>
      <p:sp>
        <p:nvSpPr>
          <p:cNvPr id="14" name="Down Arrow 13"/>
          <p:cNvSpPr/>
          <p:nvPr/>
        </p:nvSpPr>
        <p:spPr>
          <a:xfrm rot="6344900">
            <a:off x="8891869" y="4458694"/>
            <a:ext cx="1224136" cy="2844123"/>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dirty="0"/>
          </a:p>
        </p:txBody>
      </p:sp>
      <p:sp>
        <p:nvSpPr>
          <p:cNvPr id="15" name="TextBox 14"/>
          <p:cNvSpPr txBox="1"/>
          <p:nvPr/>
        </p:nvSpPr>
        <p:spPr>
          <a:xfrm rot="967344">
            <a:off x="8225497" y="5772933"/>
            <a:ext cx="2983886" cy="369332"/>
          </a:xfrm>
          <a:prstGeom prst="rect">
            <a:avLst/>
          </a:prstGeom>
          <a:noFill/>
        </p:spPr>
        <p:txBody>
          <a:bodyPr wrap="square" rtlCol="0">
            <a:spAutoFit/>
          </a:bodyPr>
          <a:lstStyle/>
          <a:p>
            <a:r>
              <a:rPr lang="en-US" dirty="0"/>
              <a:t>SVJESNO, NESVJESNO</a:t>
            </a:r>
            <a:endParaRPr lang="hr-HR" dirty="0"/>
          </a:p>
        </p:txBody>
      </p:sp>
      <p:sp>
        <p:nvSpPr>
          <p:cNvPr id="16" name="TextBox 15"/>
          <p:cNvSpPr txBox="1"/>
          <p:nvPr/>
        </p:nvSpPr>
        <p:spPr>
          <a:xfrm>
            <a:off x="5365118" y="358298"/>
            <a:ext cx="4104456" cy="461665"/>
          </a:xfrm>
          <a:prstGeom prst="rect">
            <a:avLst/>
          </a:prstGeom>
          <a:noFill/>
        </p:spPr>
        <p:txBody>
          <a:bodyPr wrap="square" rtlCol="0">
            <a:spAutoFit/>
          </a:bodyPr>
          <a:lstStyle/>
          <a:p>
            <a:r>
              <a:rPr lang="en-US" sz="2400" b="1" dirty="0"/>
              <a:t>DRUŠTVENA INTERAKCIJA</a:t>
            </a:r>
            <a:endParaRPr lang="hr-HR" sz="2400" b="1" dirty="0"/>
          </a:p>
        </p:txBody>
      </p:sp>
      <p:pic>
        <p:nvPicPr>
          <p:cNvPr id="5126" name="Picture 6" descr="The Role of Social Interaction in Learn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66519" y="2281081"/>
            <a:ext cx="4695694" cy="39162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6780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additive="base">
                                        <p:cTn id="37" dur="500" fill="hold"/>
                                        <p:tgtEl>
                                          <p:spTgt spid="16"/>
                                        </p:tgtEl>
                                        <p:attrNameLst>
                                          <p:attrName>ppt_x</p:attrName>
                                        </p:attrNameLst>
                                      </p:cBhvr>
                                      <p:tavLst>
                                        <p:tav tm="0">
                                          <p:val>
                                            <p:strVal val="#ppt_x"/>
                                          </p:val>
                                        </p:tav>
                                        <p:tav tm="100000">
                                          <p:val>
                                            <p:strVal val="#ppt_x"/>
                                          </p:val>
                                        </p:tav>
                                      </p:tavLst>
                                    </p:anim>
                                    <p:anim calcmode="lin" valueType="num">
                                      <p:cBhvr additive="base">
                                        <p:cTn id="3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8" grpId="0" animBg="1"/>
      <p:bldP spid="9" grpId="0"/>
      <p:bldP spid="10" grpId="0" animBg="1"/>
      <p:bldP spid="11" grpId="0"/>
      <p:bldP spid="12" grpId="0" animBg="1"/>
      <p:bldP spid="13" grpId="0"/>
      <p:bldP spid="14" grpId="0" animBg="1"/>
      <p:bldP spid="15" grpId="0"/>
      <p:bldP spid="1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DRUŠTVENA INTERAKCIJA</a:t>
            </a:r>
            <a:endParaRPr lang="hr-HR" dirty="0"/>
          </a:p>
        </p:txBody>
      </p:sp>
      <p:sp>
        <p:nvSpPr>
          <p:cNvPr id="3" name="Content Placeholder 2"/>
          <p:cNvSpPr>
            <a:spLocks noGrp="1"/>
          </p:cNvSpPr>
          <p:nvPr>
            <p:ph idx="1"/>
          </p:nvPr>
        </p:nvSpPr>
        <p:spPr>
          <a:xfrm>
            <a:off x="263354" y="1484785"/>
            <a:ext cx="7920879" cy="4763616"/>
          </a:xfrm>
        </p:spPr>
        <p:txBody>
          <a:bodyPr>
            <a:normAutofit/>
          </a:bodyPr>
          <a:lstStyle/>
          <a:p>
            <a:r>
              <a:rPr lang="en-US" sz="2400" dirty="0" err="1"/>
              <a:t>Skup</a:t>
            </a:r>
            <a:r>
              <a:rPr lang="en-US" sz="2400" dirty="0"/>
              <a:t> </a:t>
            </a:r>
            <a:r>
              <a:rPr lang="en-US" sz="2400" dirty="0" err="1"/>
              <a:t>složenih</a:t>
            </a:r>
            <a:r>
              <a:rPr lang="en-US" sz="2400" dirty="0"/>
              <a:t> </a:t>
            </a:r>
            <a:r>
              <a:rPr lang="en-US" sz="2400" dirty="0" err="1"/>
              <a:t>postupaka</a:t>
            </a:r>
            <a:r>
              <a:rPr lang="en-US" sz="2400" dirty="0"/>
              <a:t> u </a:t>
            </a:r>
            <a:r>
              <a:rPr lang="en-US" sz="2400" dirty="0" err="1"/>
              <a:t>kojima</a:t>
            </a:r>
            <a:r>
              <a:rPr lang="en-US" sz="2400" dirty="0"/>
              <a:t> </a:t>
            </a:r>
            <a:r>
              <a:rPr lang="en-US" sz="2400" dirty="0" err="1"/>
              <a:t>članovi</a:t>
            </a:r>
            <a:r>
              <a:rPr lang="en-US" sz="2400" dirty="0"/>
              <a:t> </a:t>
            </a:r>
            <a:r>
              <a:rPr lang="en-US" sz="2400" dirty="0" err="1"/>
              <a:t>neke</a:t>
            </a:r>
            <a:r>
              <a:rPr lang="en-US" sz="2400" dirty="0"/>
              <a:t> </a:t>
            </a:r>
            <a:r>
              <a:rPr lang="en-US" sz="2400" dirty="0" err="1"/>
              <a:t>zajednice</a:t>
            </a:r>
            <a:r>
              <a:rPr lang="en-US" sz="2400" dirty="0"/>
              <a:t> </a:t>
            </a:r>
            <a:r>
              <a:rPr lang="en-US" sz="2400" dirty="0" err="1"/>
              <a:t>ili</a:t>
            </a:r>
            <a:r>
              <a:rPr lang="en-US" sz="2400" dirty="0"/>
              <a:t> </a:t>
            </a:r>
            <a:r>
              <a:rPr lang="en-US" sz="2400" dirty="0" err="1"/>
              <a:t>grupe</a:t>
            </a:r>
            <a:r>
              <a:rPr lang="en-US" sz="2400" dirty="0"/>
              <a:t> </a:t>
            </a:r>
            <a:r>
              <a:rPr lang="en-US" sz="2400" dirty="0" err="1"/>
              <a:t>sudjeluju</a:t>
            </a:r>
            <a:r>
              <a:rPr lang="en-US" sz="2400" dirty="0"/>
              <a:t>, </a:t>
            </a:r>
            <a:r>
              <a:rPr lang="en-US" sz="2400" dirty="0" err="1"/>
              <a:t>svjesno</a:t>
            </a:r>
            <a:r>
              <a:rPr lang="en-US" sz="2400" dirty="0"/>
              <a:t> </a:t>
            </a:r>
            <a:r>
              <a:rPr lang="en-US" sz="2400" dirty="0" err="1"/>
              <a:t>ili</a:t>
            </a:r>
            <a:r>
              <a:rPr lang="en-US" sz="2400" dirty="0"/>
              <a:t> </a:t>
            </a:r>
            <a:r>
              <a:rPr lang="en-US" sz="2400" dirty="0" err="1"/>
              <a:t>nesvjesno</a:t>
            </a:r>
            <a:r>
              <a:rPr lang="en-US" sz="2400" dirty="0"/>
              <a:t>, </a:t>
            </a:r>
            <a:r>
              <a:rPr lang="en-US" sz="2400" dirty="0" err="1"/>
              <a:t>kako</a:t>
            </a:r>
            <a:r>
              <a:rPr lang="en-US" sz="2400" dirty="0"/>
              <a:t> bi </a:t>
            </a:r>
            <a:r>
              <a:rPr lang="en-US" sz="2400" dirty="0" err="1"/>
              <a:t>prenijeli</a:t>
            </a:r>
            <a:r>
              <a:rPr lang="en-US" sz="2400" dirty="0"/>
              <a:t> </a:t>
            </a:r>
            <a:r>
              <a:rPr lang="en-US" sz="2400" dirty="0" err="1"/>
              <a:t>neku</a:t>
            </a:r>
            <a:r>
              <a:rPr lang="en-US" sz="2400" dirty="0"/>
              <a:t> </a:t>
            </a:r>
            <a:r>
              <a:rPr lang="en-US" sz="2400" dirty="0" err="1"/>
              <a:t>poruku</a:t>
            </a:r>
            <a:r>
              <a:rPr lang="en-US" sz="2400" dirty="0"/>
              <a:t> </a:t>
            </a:r>
            <a:r>
              <a:rPr lang="en-US" sz="2400" dirty="0" err="1"/>
              <a:t>ili</a:t>
            </a:r>
            <a:r>
              <a:rPr lang="en-US" sz="2400" dirty="0"/>
              <a:t> </a:t>
            </a:r>
            <a:r>
              <a:rPr lang="en-US" sz="2400" dirty="0" err="1"/>
              <a:t>ostvarili</a:t>
            </a:r>
            <a:r>
              <a:rPr lang="en-US" sz="2400" dirty="0"/>
              <a:t> </a:t>
            </a:r>
            <a:r>
              <a:rPr lang="en-US" sz="2400" dirty="0" err="1"/>
              <a:t>određeni</a:t>
            </a:r>
            <a:r>
              <a:rPr lang="en-US" sz="2400" dirty="0"/>
              <a:t> </a:t>
            </a:r>
            <a:r>
              <a:rPr lang="en-US" sz="2400" dirty="0" err="1"/>
              <a:t>odnos</a:t>
            </a:r>
            <a:endParaRPr lang="en-US" sz="2400" dirty="0"/>
          </a:p>
          <a:p>
            <a:endParaRPr lang="en-US" sz="2400" dirty="0"/>
          </a:p>
          <a:p>
            <a:r>
              <a:rPr lang="hr-HR" sz="2400" dirty="0"/>
              <a:t>KOMUNIKACIJA</a:t>
            </a:r>
            <a:endParaRPr lang="en-US" sz="2400" dirty="0"/>
          </a:p>
          <a:p>
            <a:r>
              <a:rPr lang="en-US" sz="2400" dirty="0"/>
              <a:t>I </a:t>
            </a:r>
            <a:r>
              <a:rPr lang="en-US" sz="2400" dirty="0" err="1"/>
              <a:t>današnja</a:t>
            </a:r>
            <a:r>
              <a:rPr lang="en-US" sz="2400" dirty="0"/>
              <a:t> </a:t>
            </a:r>
            <a:r>
              <a:rPr lang="en-US" sz="2400" dirty="0" err="1"/>
              <a:t>lekcija</a:t>
            </a:r>
            <a:r>
              <a:rPr lang="en-US" sz="2400" dirty="0"/>
              <a:t> je </a:t>
            </a:r>
            <a:r>
              <a:rPr lang="en-US" sz="2400" dirty="0" err="1"/>
              <a:t>interaktivna</a:t>
            </a:r>
            <a:endParaRPr lang="hr-HR" sz="2400" dirty="0"/>
          </a:p>
        </p:txBody>
      </p:sp>
      <p:graphicFrame>
        <p:nvGraphicFramePr>
          <p:cNvPr id="4" name="Object 3"/>
          <p:cNvGraphicFramePr>
            <a:graphicFrameLocks noChangeAspect="1"/>
          </p:cNvGraphicFramePr>
          <p:nvPr>
            <p:extLst/>
          </p:nvPr>
        </p:nvGraphicFramePr>
        <p:xfrm>
          <a:off x="8400256" y="2065846"/>
          <a:ext cx="3606154" cy="3510942"/>
        </p:xfrm>
        <a:graphic>
          <a:graphicData uri="http://schemas.openxmlformats.org/presentationml/2006/ole">
            <mc:AlternateContent xmlns:mc="http://schemas.openxmlformats.org/markup-compatibility/2006">
              <mc:Choice xmlns:v="urn:schemas-microsoft-com:vml" Requires="v">
                <p:oleObj spid="_x0000_s1049" name="Image" r:id="rId3" imgW="7669800" imgH="7466400" progId="Photoshop.Image.16">
                  <p:embed/>
                </p:oleObj>
              </mc:Choice>
              <mc:Fallback>
                <p:oleObj name="Image" r:id="rId3" imgW="7669800" imgH="7466400" progId="Photoshop.Image.16">
                  <p:embed/>
                  <p:pic>
                    <p:nvPicPr>
                      <p:cNvPr id="4" name="Object 3"/>
                      <p:cNvPicPr/>
                      <p:nvPr/>
                    </p:nvPicPr>
                    <p:blipFill>
                      <a:blip r:embed="rId4"/>
                      <a:stretch>
                        <a:fillRect/>
                      </a:stretch>
                    </p:blipFill>
                    <p:spPr>
                      <a:xfrm>
                        <a:off x="8400256" y="2065846"/>
                        <a:ext cx="3606154" cy="3510942"/>
                      </a:xfrm>
                      <a:prstGeom prst="rect">
                        <a:avLst/>
                      </a:prstGeom>
                    </p:spPr>
                  </p:pic>
                </p:oleObj>
              </mc:Fallback>
            </mc:AlternateContent>
          </a:graphicData>
        </a:graphic>
      </p:graphicFrame>
    </p:spTree>
    <p:extLst>
      <p:ext uri="{BB962C8B-B14F-4D97-AF65-F5344CB8AC3E}">
        <p14:creationId xmlns:p14="http://schemas.microsoft.com/office/powerpoint/2010/main" val="13666656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hr-HR"/>
          </a:p>
        </p:txBody>
      </p:sp>
      <p:sp>
        <p:nvSpPr>
          <p:cNvPr id="3" name="Content Placeholder 2"/>
          <p:cNvSpPr>
            <a:spLocks noGrp="1"/>
          </p:cNvSpPr>
          <p:nvPr>
            <p:ph idx="1"/>
          </p:nvPr>
        </p:nvSpPr>
        <p:spPr/>
        <p:txBody>
          <a:bodyPr/>
          <a:lstStyle/>
          <a:p>
            <a:pPr marL="0" indent="0">
              <a:buNone/>
            </a:pPr>
            <a:r>
              <a:rPr lang="en-US" altLang="sr-Latn-RS" sz="2400" b="1" dirty="0" err="1"/>
              <a:t>Društvene</a:t>
            </a:r>
            <a:r>
              <a:rPr lang="en-US" altLang="sr-Latn-RS" sz="2400" b="1" dirty="0"/>
              <a:t> </a:t>
            </a:r>
            <a:r>
              <a:rPr lang="en-US" altLang="sr-Latn-RS" sz="2400" b="1" dirty="0" err="1"/>
              <a:t>činjenice</a:t>
            </a:r>
            <a:r>
              <a:rPr lang="en-US" altLang="sr-Latn-RS" sz="2400" b="1" dirty="0"/>
              <a:t> </a:t>
            </a:r>
            <a:r>
              <a:rPr lang="en-US" altLang="sr-Latn-RS" sz="2400" dirty="0"/>
              <a:t>- </a:t>
            </a:r>
            <a:r>
              <a:rPr lang="hr-HR" altLang="sr-Latn-RS" sz="2400" dirty="0"/>
              <a:t>načini djelovanja, mišljenja i osjećanja </a:t>
            </a:r>
            <a:r>
              <a:rPr lang="hr-HR" altLang="sr-Latn-RS" sz="2400" b="1" dirty="0"/>
              <a:t>izvanjski</a:t>
            </a:r>
            <a:r>
              <a:rPr lang="hr-HR" altLang="sr-Latn-RS" sz="2400" dirty="0"/>
              <a:t> pojedincu, koji mu se </a:t>
            </a:r>
            <a:r>
              <a:rPr lang="hr-HR" altLang="sr-Latn-RS" sz="2400" b="1" dirty="0"/>
              <a:t>nameću prinudnom snagom</a:t>
            </a:r>
            <a:r>
              <a:rPr lang="hr-HR" altLang="sr-Latn-RS" sz="2400" dirty="0"/>
              <a:t>, htio on to ili ne</a:t>
            </a:r>
          </a:p>
          <a:p>
            <a:endParaRPr lang="en-US" sz="2400" dirty="0"/>
          </a:p>
          <a:p>
            <a:endParaRPr lang="en-US" altLang="sr-Latn-RS" sz="2400" dirty="0"/>
          </a:p>
          <a:p>
            <a:pPr marL="0" indent="0">
              <a:buNone/>
            </a:pPr>
            <a:r>
              <a:rPr lang="en-US" altLang="sr-Latn-RS" sz="2400" b="1" u="sng" dirty="0"/>
              <a:t>Emile Durkheim</a:t>
            </a:r>
          </a:p>
          <a:p>
            <a:endParaRPr lang="en-US" altLang="sr-Latn-RS" sz="2400" b="1" dirty="0"/>
          </a:p>
          <a:p>
            <a:r>
              <a:rPr lang="en-US" altLang="sr-Latn-RS" sz="2400" b="1" dirty="0" err="1"/>
              <a:t>Samoubojstvo</a:t>
            </a:r>
            <a:endParaRPr lang="en-US" altLang="sr-Latn-RS" sz="2400" b="1" dirty="0"/>
          </a:p>
          <a:p>
            <a:endParaRPr lang="en-US" altLang="sr-Latn-RS" sz="2000" b="1" dirty="0"/>
          </a:p>
          <a:p>
            <a:endParaRPr lang="hr-HR" dirty="0"/>
          </a:p>
        </p:txBody>
      </p:sp>
      <p:sp>
        <p:nvSpPr>
          <p:cNvPr id="4" name="Rectangle 3"/>
          <p:cNvSpPr/>
          <p:nvPr/>
        </p:nvSpPr>
        <p:spPr>
          <a:xfrm>
            <a:off x="1103312" y="2062976"/>
            <a:ext cx="7862268" cy="121548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pic>
        <p:nvPicPr>
          <p:cNvPr id="2050" name="Picture 2" descr="Émile Durkheim – Wikipedij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07076" y="3474532"/>
            <a:ext cx="2181225" cy="30861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3293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hr-HR"/>
          </a:p>
        </p:txBody>
      </p:sp>
      <p:sp>
        <p:nvSpPr>
          <p:cNvPr id="3" name="Content Placeholder 2"/>
          <p:cNvSpPr>
            <a:spLocks noGrp="1"/>
          </p:cNvSpPr>
          <p:nvPr>
            <p:ph idx="1"/>
          </p:nvPr>
        </p:nvSpPr>
        <p:spPr>
          <a:xfrm>
            <a:off x="407369" y="836713"/>
            <a:ext cx="9641456" cy="5411688"/>
          </a:xfrm>
        </p:spPr>
        <p:txBody>
          <a:bodyPr/>
          <a:lstStyle/>
          <a:p>
            <a:pPr marL="0" indent="0">
              <a:buNone/>
              <a:defRPr/>
            </a:pPr>
            <a:r>
              <a:rPr lang="en-US" sz="2400" dirty="0"/>
              <a:t>S</a:t>
            </a:r>
            <a:r>
              <a:rPr lang="hr-HR" sz="2400" dirty="0"/>
              <a:t>topa samoubojstva razlikuje </a:t>
            </a:r>
            <a:r>
              <a:rPr lang="en-US" sz="2400" dirty="0"/>
              <a:t>se </a:t>
            </a:r>
            <a:r>
              <a:rPr lang="hr-HR" sz="2400" dirty="0"/>
              <a:t>od jedne do druge društvene </a:t>
            </a:r>
            <a:r>
              <a:rPr lang="en-US" sz="2400" dirty="0" err="1"/>
              <a:t>grupe</a:t>
            </a:r>
            <a:r>
              <a:rPr lang="en-US" sz="2400" dirty="0"/>
              <a:t>. N</a:t>
            </a:r>
            <a:r>
              <a:rPr lang="hr-HR" sz="2400" dirty="0"/>
              <a:t>ajvažnije su sljedeće:</a:t>
            </a:r>
            <a:endParaRPr lang="en-US" sz="2400" dirty="0"/>
          </a:p>
          <a:p>
            <a:pPr>
              <a:defRPr/>
            </a:pPr>
            <a:endParaRPr lang="hr-HR" sz="2400" dirty="0"/>
          </a:p>
          <a:p>
            <a:pPr>
              <a:defRPr/>
            </a:pPr>
            <a:r>
              <a:rPr lang="en-US" sz="2400" b="1" dirty="0"/>
              <a:t>R</a:t>
            </a:r>
            <a:r>
              <a:rPr lang="hr-HR" sz="2400" b="1" dirty="0"/>
              <a:t>eligija – </a:t>
            </a:r>
            <a:r>
              <a:rPr lang="hr-HR" sz="2400" dirty="0"/>
              <a:t>među protestantima je veća stopa samoubojstava nego li među katolicima</a:t>
            </a:r>
          </a:p>
          <a:p>
            <a:pPr>
              <a:defRPr/>
            </a:pPr>
            <a:r>
              <a:rPr lang="en-US" sz="2400" b="1" dirty="0"/>
              <a:t>O</a:t>
            </a:r>
            <a:r>
              <a:rPr lang="hr-HR" sz="2400" b="1" dirty="0"/>
              <a:t>biteljski odnosi </a:t>
            </a:r>
            <a:r>
              <a:rPr lang="hr-HR" sz="2400" dirty="0"/>
              <a:t>– oženjeni ili udani imali manju stopu od samaca</a:t>
            </a:r>
          </a:p>
          <a:p>
            <a:pPr>
              <a:defRPr/>
            </a:pPr>
            <a:r>
              <a:rPr lang="en-US" sz="2400" b="1" dirty="0"/>
              <a:t>R</a:t>
            </a:r>
            <a:r>
              <a:rPr lang="hr-HR" sz="2400" b="1" dirty="0"/>
              <a:t>at i mir </a:t>
            </a:r>
            <a:r>
              <a:rPr lang="hr-HR" sz="2400" dirty="0"/>
              <a:t>– stopa samoubojstava opadala je u doba rata, bez obzira je li zemlj</a:t>
            </a:r>
            <a:r>
              <a:rPr lang="en-US" sz="2400" dirty="0"/>
              <a:t>a</a:t>
            </a:r>
            <a:r>
              <a:rPr lang="hr-HR" sz="2400" dirty="0"/>
              <a:t> dobivala ili gubila</a:t>
            </a:r>
          </a:p>
          <a:p>
            <a:pPr>
              <a:defRPr/>
            </a:pPr>
            <a:r>
              <a:rPr lang="en-US" sz="2400" b="1" dirty="0"/>
              <a:t>E</a:t>
            </a:r>
            <a:r>
              <a:rPr lang="hr-HR" sz="2400" b="1" dirty="0"/>
              <a:t>konomska kriza </a:t>
            </a:r>
            <a:r>
              <a:rPr lang="hr-HR" sz="2400" dirty="0"/>
              <a:t> - stopa se povećava za vrijeme ekonomske krize... zašto? Jer bankrot, nazaposlenost i oskudica potiču sklonost samoubojstvu</a:t>
            </a:r>
          </a:p>
          <a:p>
            <a:endParaRPr lang="hr-HR" dirty="0"/>
          </a:p>
        </p:txBody>
      </p:sp>
    </p:spTree>
    <p:extLst>
      <p:ext uri="{BB962C8B-B14F-4D97-AF65-F5344CB8AC3E}">
        <p14:creationId xmlns:p14="http://schemas.microsoft.com/office/powerpoint/2010/main" val="3108698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hr-HR"/>
          </a:p>
        </p:txBody>
      </p:sp>
      <p:sp>
        <p:nvSpPr>
          <p:cNvPr id="3" name="Content Placeholder 2"/>
          <p:cNvSpPr>
            <a:spLocks noGrp="1"/>
          </p:cNvSpPr>
          <p:nvPr>
            <p:ph idx="1"/>
          </p:nvPr>
        </p:nvSpPr>
        <p:spPr/>
        <p:txBody>
          <a:bodyPr/>
          <a:lstStyle/>
          <a:p>
            <a:pPr>
              <a:defRPr/>
            </a:pPr>
            <a:r>
              <a:rPr lang="en-US" sz="2400" b="1" dirty="0"/>
              <a:t>DRUŠTVENA SOLIDARNOST - </a:t>
            </a:r>
            <a:r>
              <a:rPr lang="hr-HR" sz="2400" b="1" dirty="0"/>
              <a:t>spone</a:t>
            </a:r>
            <a:r>
              <a:rPr lang="hr-HR" sz="2400" dirty="0"/>
              <a:t> koje drže ljude zajedno (moralne norme i osjećaji koji osiguravaju integraciju društva)</a:t>
            </a:r>
            <a:endParaRPr lang="en-US" sz="2400" b="1" dirty="0"/>
          </a:p>
          <a:p>
            <a:pPr>
              <a:defRPr/>
            </a:pPr>
            <a:endParaRPr lang="en-US" sz="2400" dirty="0"/>
          </a:p>
          <a:p>
            <a:pPr>
              <a:defRPr/>
            </a:pPr>
            <a:r>
              <a:rPr lang="en-US" sz="2400" b="1" dirty="0"/>
              <a:t>INTEGRACIJA I REGULACIJA</a:t>
            </a:r>
          </a:p>
          <a:p>
            <a:pPr marL="0" indent="0">
              <a:buNone/>
              <a:defRPr/>
            </a:pPr>
            <a:r>
              <a:rPr lang="hr-HR" sz="2400" b="1" dirty="0"/>
              <a:t>Integracija</a:t>
            </a:r>
            <a:r>
              <a:rPr lang="hr-HR" sz="2400" dirty="0"/>
              <a:t> – snaga povezanosti pojedinca s društvenom grupom. </a:t>
            </a:r>
            <a:endParaRPr lang="en-US" sz="2400" dirty="0"/>
          </a:p>
          <a:p>
            <a:pPr marL="0" indent="0">
              <a:buNone/>
              <a:defRPr/>
            </a:pPr>
            <a:r>
              <a:rPr lang="hr-HR" sz="2400" b="1" dirty="0"/>
              <a:t>Regulacija</a:t>
            </a:r>
            <a:r>
              <a:rPr lang="hr-HR" sz="2400" dirty="0"/>
              <a:t> – kontrola individualnih poriva i želja pomoću društvenih normi, pravila ponašanja. </a:t>
            </a:r>
          </a:p>
          <a:p>
            <a:endParaRPr lang="en-US" dirty="0"/>
          </a:p>
          <a:p>
            <a:endParaRPr lang="hr-HR" dirty="0"/>
          </a:p>
        </p:txBody>
      </p:sp>
    </p:spTree>
    <p:extLst>
      <p:ext uri="{BB962C8B-B14F-4D97-AF65-F5344CB8AC3E}">
        <p14:creationId xmlns:p14="http://schemas.microsoft.com/office/powerpoint/2010/main" val="2293198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r-HR" sz="2400" b="1" dirty="0"/>
              <a:t>Ovisno o tome jesu li te spone prejake ili preslabe, Durkheim razlikuje 4 tipa samoubojstva:</a:t>
            </a:r>
            <a:br>
              <a:rPr lang="hr-HR" sz="2400" b="1" dirty="0"/>
            </a:br>
            <a:endParaRPr lang="hr-HR" sz="2400" dirty="0"/>
          </a:p>
        </p:txBody>
      </p:sp>
      <p:sp>
        <p:nvSpPr>
          <p:cNvPr id="3" name="Content Placeholder 2"/>
          <p:cNvSpPr>
            <a:spLocks noGrp="1"/>
          </p:cNvSpPr>
          <p:nvPr>
            <p:ph idx="1"/>
          </p:nvPr>
        </p:nvSpPr>
        <p:spPr>
          <a:xfrm>
            <a:off x="407369" y="2052920"/>
            <a:ext cx="11449272" cy="4195481"/>
          </a:xfrm>
        </p:spPr>
        <p:txBody>
          <a:bodyPr>
            <a:normAutofit/>
          </a:bodyPr>
          <a:lstStyle/>
          <a:p>
            <a:r>
              <a:rPr lang="hr-HR" altLang="sr-Latn-RS" sz="2400" b="1" dirty="0"/>
              <a:t>Egoistično samoubojstvo –</a:t>
            </a:r>
            <a:r>
              <a:rPr lang="en-US" altLang="sr-Latn-RS" sz="2400" b="1" dirty="0"/>
              <a:t> </a:t>
            </a:r>
            <a:r>
              <a:rPr lang="hr-HR" altLang="sr-Latn-RS" sz="2400" dirty="0"/>
              <a:t>Naziva se tako jer nis</a:t>
            </a:r>
            <a:r>
              <a:rPr lang="en-US" altLang="sr-Latn-RS" sz="2400" dirty="0" err="1"/>
              <a:t>ka</a:t>
            </a:r>
            <a:r>
              <a:rPr lang="hr-HR" altLang="sr-Latn-RS" sz="2400" dirty="0"/>
              <a:t> integracija vodi izolaciji pojedinca koji postaje pretjerano fokusiran na sebe.</a:t>
            </a:r>
          </a:p>
          <a:p>
            <a:r>
              <a:rPr lang="hr-HR" altLang="sr-Latn-RS" sz="2400" b="1" dirty="0"/>
              <a:t>Anomično samoubojstvo</a:t>
            </a:r>
            <a:r>
              <a:rPr lang="hr-HR" altLang="sr-Latn-RS" sz="2400" dirty="0"/>
              <a:t> – proizlazi iz nedostatka regulacije. Pretjerane želje nisu ničim regulirane. </a:t>
            </a:r>
            <a:endParaRPr lang="en-US" altLang="sr-Latn-RS" sz="2400" dirty="0"/>
          </a:p>
          <a:p>
            <a:r>
              <a:rPr lang="hr-HR" altLang="sr-Latn-RS" sz="2400" b="1" dirty="0"/>
              <a:t>Altruistično samoubojstvo </a:t>
            </a:r>
            <a:r>
              <a:rPr lang="hr-HR" altLang="sr-Latn-RS" sz="2400" dirty="0"/>
              <a:t>– suprotno egoističnom. Pojedinac je previše integriran u zajednicu, spone su prejake. </a:t>
            </a:r>
            <a:endParaRPr lang="en-US" altLang="sr-Latn-RS" sz="2400" dirty="0"/>
          </a:p>
          <a:p>
            <a:r>
              <a:rPr lang="hr-HR" altLang="sr-Latn-RS" sz="2400" b="1" dirty="0"/>
              <a:t>Fatalistično samoubojstvo</a:t>
            </a:r>
            <a:r>
              <a:rPr lang="hr-HR" altLang="sr-Latn-RS" sz="2400" dirty="0"/>
              <a:t> – suprotno anomičnom. Rezultat je pretjerane regulacije</a:t>
            </a:r>
            <a:endParaRPr lang="hr-HR" sz="2400" dirty="0"/>
          </a:p>
        </p:txBody>
      </p:sp>
    </p:spTree>
    <p:extLst>
      <p:ext uri="{BB962C8B-B14F-4D97-AF65-F5344CB8AC3E}">
        <p14:creationId xmlns:p14="http://schemas.microsoft.com/office/powerpoint/2010/main" val="358340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hr-HR"/>
          </a:p>
        </p:txBody>
      </p:sp>
      <p:sp>
        <p:nvSpPr>
          <p:cNvPr id="3" name="Content Placeholder 2"/>
          <p:cNvSpPr>
            <a:spLocks noGrp="1"/>
          </p:cNvSpPr>
          <p:nvPr>
            <p:ph idx="1"/>
          </p:nvPr>
        </p:nvSpPr>
        <p:spPr>
          <a:xfrm>
            <a:off x="1487488" y="2052920"/>
            <a:ext cx="10369153" cy="4195481"/>
          </a:xfrm>
        </p:spPr>
        <p:txBody>
          <a:bodyPr>
            <a:normAutofit/>
          </a:bodyPr>
          <a:lstStyle/>
          <a:p>
            <a:pPr marL="0" indent="0">
              <a:buNone/>
              <a:defRPr/>
            </a:pPr>
            <a:r>
              <a:rPr lang="en-US" sz="2400" b="1" dirty="0" err="1"/>
              <a:t>Odredite</a:t>
            </a:r>
            <a:r>
              <a:rPr lang="en-US" sz="2400" b="1" dirty="0"/>
              <a:t> </a:t>
            </a:r>
            <a:r>
              <a:rPr lang="en-US" sz="2400" b="1" dirty="0" err="1"/>
              <a:t>tipove</a:t>
            </a:r>
            <a:r>
              <a:rPr lang="en-US" sz="2400" b="1" dirty="0"/>
              <a:t> </a:t>
            </a:r>
            <a:r>
              <a:rPr lang="en-US" sz="2400" b="1" dirty="0" err="1"/>
              <a:t>samoubojstva</a:t>
            </a:r>
            <a:r>
              <a:rPr lang="en-US" sz="2400" b="1" dirty="0"/>
              <a:t> </a:t>
            </a:r>
            <a:r>
              <a:rPr lang="hr-HR" sz="2400" b="1" dirty="0"/>
              <a:t>i razine društvenih spona (integracije/regulacije):</a:t>
            </a:r>
          </a:p>
          <a:p>
            <a:pPr marL="514350" indent="-514350">
              <a:buFont typeface="Arial" panose="020B0604020202020204" pitchFamily="34" charset="0"/>
              <a:buAutoNum type="arabicPeriod"/>
              <a:defRPr/>
            </a:pPr>
            <a:r>
              <a:rPr lang="hr-HR" sz="2400" dirty="0"/>
              <a:t>Vojnik poginuo bacivši se na granatu kako bi spasio ostale vojnike iz svoga voda.</a:t>
            </a:r>
          </a:p>
          <a:p>
            <a:pPr marL="514350" indent="-514350">
              <a:buFont typeface="Arial" panose="020B0604020202020204" pitchFamily="34" charset="0"/>
              <a:buAutoNum type="arabicPeriod"/>
              <a:defRPr/>
            </a:pPr>
            <a:r>
              <a:rPr lang="hr-HR" sz="2400" dirty="0"/>
              <a:t>Zatvorenik počinio samoubojstvo vješanjem u ćeliji.</a:t>
            </a:r>
          </a:p>
          <a:p>
            <a:pPr marL="514350" indent="-514350">
              <a:buFont typeface="Arial" panose="020B0604020202020204" pitchFamily="34" charset="0"/>
              <a:buAutoNum type="arabicPeriod"/>
              <a:defRPr/>
            </a:pPr>
            <a:r>
              <a:rPr lang="hr-HR" sz="2400" dirty="0"/>
              <a:t>Čovjek počinio samoubojstvo iako je nedavno osvojio glavni zgoditak na lutriji.</a:t>
            </a:r>
          </a:p>
          <a:p>
            <a:pPr marL="514350" indent="-514350">
              <a:buFont typeface="Arial" panose="020B0604020202020204" pitchFamily="34" charset="0"/>
              <a:buAutoNum type="arabicPeriod"/>
              <a:defRPr/>
            </a:pPr>
            <a:r>
              <a:rPr lang="hr-HR" sz="2400" dirty="0"/>
              <a:t>56godišnji neoženjeni muškarac počinio samoubostvo bacivši se sa vrha zgrade.</a:t>
            </a:r>
          </a:p>
          <a:p>
            <a:endParaRPr lang="hr-HR" sz="2400" dirty="0"/>
          </a:p>
        </p:txBody>
      </p:sp>
      <p:sp>
        <p:nvSpPr>
          <p:cNvPr id="4" name="Explosion 1 3"/>
          <p:cNvSpPr/>
          <p:nvPr/>
        </p:nvSpPr>
        <p:spPr>
          <a:xfrm>
            <a:off x="323495" y="2132856"/>
            <a:ext cx="648072" cy="504056"/>
          </a:xfrm>
          <a:prstGeom prst="irregularSeal1">
            <a:avLst/>
          </a:prstGeom>
          <a:solidFill>
            <a:schemeClr val="tx1"/>
          </a:solidFill>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Tree>
    <p:extLst>
      <p:ext uri="{BB962C8B-B14F-4D97-AF65-F5344CB8AC3E}">
        <p14:creationId xmlns:p14="http://schemas.microsoft.com/office/powerpoint/2010/main" val="3420673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r-HR" altLang="sr-Latn-RS" sz="3200" b="1" dirty="0"/>
              <a:t>MIKROSOCIOLOGIJA I MAKROSOCIOLOGIJA</a:t>
            </a:r>
            <a:br>
              <a:rPr lang="hr-HR" altLang="sr-Latn-RS" dirty="0"/>
            </a:br>
            <a:endParaRPr lang="hr-HR" dirty="0"/>
          </a:p>
        </p:txBody>
      </p:sp>
      <p:sp>
        <p:nvSpPr>
          <p:cNvPr id="3" name="Content Placeholder 2"/>
          <p:cNvSpPr>
            <a:spLocks noGrp="1"/>
          </p:cNvSpPr>
          <p:nvPr>
            <p:ph idx="1"/>
          </p:nvPr>
        </p:nvSpPr>
        <p:spPr/>
        <p:txBody>
          <a:bodyPr/>
          <a:lstStyle/>
          <a:p>
            <a:r>
              <a:rPr lang="hr-HR" altLang="sr-Latn-RS" sz="2400" b="1" dirty="0"/>
              <a:t>Mikrosociologija</a:t>
            </a:r>
            <a:r>
              <a:rPr lang="hr-HR" altLang="sr-Latn-RS" sz="2400" dirty="0"/>
              <a:t> izučava izbliza ljudsko ponašanje i promatra što se događa u interakcijama licem-u-lice. </a:t>
            </a:r>
            <a:endParaRPr lang="en-US" altLang="sr-Latn-RS" sz="2400" dirty="0"/>
          </a:p>
          <a:p>
            <a:endParaRPr lang="en-US" altLang="sr-Latn-RS" sz="2400" dirty="0"/>
          </a:p>
          <a:p>
            <a:r>
              <a:rPr lang="hr-HR" altLang="sr-Latn-RS" sz="2400" b="1" dirty="0"/>
              <a:t>Makrosociologija</a:t>
            </a:r>
            <a:r>
              <a:rPr lang="hr-HR" altLang="sr-Latn-RS" sz="2400" dirty="0"/>
              <a:t> je proučavanje većih grupa, institucija i društvenih sustava – države, klase, ekonomije, demografske promjene, utjecaj uvođenja novih tehnologija itd. </a:t>
            </a:r>
          </a:p>
          <a:p>
            <a:endParaRPr lang="hr-HR" dirty="0"/>
          </a:p>
        </p:txBody>
      </p:sp>
    </p:spTree>
    <p:extLst>
      <p:ext uri="{BB962C8B-B14F-4D97-AF65-F5344CB8AC3E}">
        <p14:creationId xmlns:p14="http://schemas.microsoft.com/office/powerpoint/2010/main" val="2841059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hr-HR"/>
          </a:p>
        </p:txBody>
      </p:sp>
      <p:sp>
        <p:nvSpPr>
          <p:cNvPr id="3" name="Content Placeholder 2"/>
          <p:cNvSpPr>
            <a:spLocks noGrp="1"/>
          </p:cNvSpPr>
          <p:nvPr>
            <p:ph idx="1"/>
          </p:nvPr>
        </p:nvSpPr>
        <p:spPr>
          <a:xfrm>
            <a:off x="479377" y="2052920"/>
            <a:ext cx="9569448" cy="4195481"/>
          </a:xfrm>
        </p:spPr>
        <p:txBody>
          <a:bodyPr/>
          <a:lstStyle/>
          <a:p>
            <a:pPr marL="0" indent="0">
              <a:buNone/>
            </a:pPr>
            <a:r>
              <a:rPr lang="hr-HR" altLang="sr-Latn-RS" sz="2400" b="1" dirty="0"/>
              <a:t>Primjeri makrosocioloških pitanja:</a:t>
            </a:r>
          </a:p>
          <a:p>
            <a:pPr marL="0" indent="0">
              <a:buNone/>
            </a:pPr>
            <a:r>
              <a:rPr lang="hr-HR" altLang="sr-Latn-RS" sz="2400" dirty="0"/>
              <a:t> Što je uzrokovalo prijelaz iz feudalizma u kapitalizam?</a:t>
            </a:r>
          </a:p>
          <a:p>
            <a:pPr marL="0" indent="0">
              <a:buNone/>
            </a:pPr>
            <a:r>
              <a:rPr lang="hr-HR" altLang="sr-Latn-RS" sz="2400" dirty="0"/>
              <a:t>Kako rasa utječe na obrazovna postignuća? </a:t>
            </a:r>
          </a:p>
          <a:p>
            <a:pPr marL="0" indent="0">
              <a:buNone/>
            </a:pPr>
            <a:r>
              <a:rPr lang="hr-HR" altLang="sr-Latn-RS" sz="2400" b="1" dirty="0"/>
              <a:t>Primjeri mikrosocioloških pitanja:</a:t>
            </a:r>
          </a:p>
          <a:p>
            <a:pPr marL="0" indent="0">
              <a:buNone/>
            </a:pPr>
            <a:r>
              <a:rPr lang="hr-HR" altLang="sr-Latn-RS" sz="2400" dirty="0"/>
              <a:t>Razgovaraju li doktori drukčije s pacijentima drugih rasa?</a:t>
            </a:r>
          </a:p>
          <a:p>
            <a:pPr marL="0" indent="0">
              <a:buNone/>
            </a:pPr>
            <a:r>
              <a:rPr lang="hr-HR" altLang="sr-Latn-RS" sz="2400" dirty="0"/>
              <a:t>Kako se ponašaju posjetitelji na rock koncertu?</a:t>
            </a:r>
          </a:p>
          <a:p>
            <a:endParaRPr lang="hr-HR" dirty="0"/>
          </a:p>
        </p:txBody>
      </p:sp>
    </p:spTree>
    <p:extLst>
      <p:ext uri="{BB962C8B-B14F-4D97-AF65-F5344CB8AC3E}">
        <p14:creationId xmlns:p14="http://schemas.microsoft.com/office/powerpoint/2010/main" val="38551416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r-HR" dirty="0"/>
              <a:t>Samovrednovanje</a:t>
            </a:r>
          </a:p>
        </p:txBody>
      </p:sp>
      <p:graphicFrame>
        <p:nvGraphicFramePr>
          <p:cNvPr id="4" name="Content Placeholder 3"/>
          <p:cNvGraphicFramePr>
            <a:graphicFrameLocks noGrp="1"/>
          </p:cNvGraphicFramePr>
          <p:nvPr>
            <p:ph idx="1"/>
            <p:extLst/>
          </p:nvPr>
        </p:nvGraphicFramePr>
        <p:xfrm>
          <a:off x="335360" y="1412778"/>
          <a:ext cx="9714445" cy="4824535"/>
        </p:xfrm>
        <a:graphic>
          <a:graphicData uri="http://schemas.openxmlformats.org/drawingml/2006/table">
            <a:tbl>
              <a:tblPr firstRow="1" bandRow="1">
                <a:tableStyleId>{69CF1AB2-1976-4502-BF36-3FF5EA218861}</a:tableStyleId>
              </a:tblPr>
              <a:tblGrid>
                <a:gridCol w="7056785">
                  <a:extLst>
                    <a:ext uri="{9D8B030D-6E8A-4147-A177-3AD203B41FA5}">
                      <a16:colId xmlns:a16="http://schemas.microsoft.com/office/drawing/2014/main" val="1771501977"/>
                    </a:ext>
                  </a:extLst>
                </a:gridCol>
                <a:gridCol w="1368152">
                  <a:extLst>
                    <a:ext uri="{9D8B030D-6E8A-4147-A177-3AD203B41FA5}">
                      <a16:colId xmlns:a16="http://schemas.microsoft.com/office/drawing/2014/main" val="1861616192"/>
                    </a:ext>
                  </a:extLst>
                </a:gridCol>
                <a:gridCol w="1289508">
                  <a:extLst>
                    <a:ext uri="{9D8B030D-6E8A-4147-A177-3AD203B41FA5}">
                      <a16:colId xmlns:a16="http://schemas.microsoft.com/office/drawing/2014/main" val="927483550"/>
                    </a:ext>
                  </a:extLst>
                </a:gridCol>
              </a:tblGrid>
              <a:tr h="544017">
                <a:tc>
                  <a:txBody>
                    <a:bodyPr/>
                    <a:lstStyle/>
                    <a:p>
                      <a:endParaRPr lang="hr-HR" b="1" dirty="0"/>
                    </a:p>
                  </a:txBody>
                  <a:tcPr/>
                </a:tc>
                <a:tc>
                  <a:txBody>
                    <a:bodyPr/>
                    <a:lstStyle/>
                    <a:p>
                      <a:pPr algn="ctr"/>
                      <a:r>
                        <a:rPr lang="hr-HR" dirty="0">
                          <a:sym typeface="Symbol" panose="05050102010706020507" pitchFamily="18" charset="2"/>
                        </a:rPr>
                        <a:t></a:t>
                      </a:r>
                      <a:endParaRPr lang="hr-HR" dirty="0"/>
                    </a:p>
                  </a:txBody>
                  <a:tcPr/>
                </a:tc>
                <a:tc>
                  <a:txBody>
                    <a:bodyPr/>
                    <a:lstStyle/>
                    <a:p>
                      <a:pPr algn="ctr"/>
                      <a:r>
                        <a:rPr lang="hr-HR" dirty="0"/>
                        <a:t>X</a:t>
                      </a:r>
                    </a:p>
                  </a:txBody>
                  <a:tcPr/>
                </a:tc>
                <a:extLst>
                  <a:ext uri="{0D108BD9-81ED-4DB2-BD59-A6C34878D82A}">
                    <a16:rowId xmlns:a16="http://schemas.microsoft.com/office/drawing/2014/main" val="2729433550"/>
                  </a:ext>
                </a:extLst>
              </a:tr>
              <a:tr h="930553">
                <a:tc>
                  <a:txBody>
                    <a:bodyPr/>
                    <a:lstStyle/>
                    <a:p>
                      <a:r>
                        <a:rPr lang="hr-HR" b="1" dirty="0"/>
                        <a:t>Znam navesti tri primjera pripadnosti skupini ili zajednici</a:t>
                      </a:r>
                    </a:p>
                  </a:txBody>
                  <a:tcPr/>
                </a:tc>
                <a:tc>
                  <a:txBody>
                    <a:bodyPr/>
                    <a:lstStyle/>
                    <a:p>
                      <a:endParaRPr lang="hr-HR"/>
                    </a:p>
                  </a:txBody>
                  <a:tcPr/>
                </a:tc>
                <a:tc>
                  <a:txBody>
                    <a:bodyPr/>
                    <a:lstStyle/>
                    <a:p>
                      <a:endParaRPr lang="hr-HR"/>
                    </a:p>
                  </a:txBody>
                  <a:tcPr/>
                </a:tc>
                <a:extLst>
                  <a:ext uri="{0D108BD9-81ED-4DB2-BD59-A6C34878D82A}">
                    <a16:rowId xmlns:a16="http://schemas.microsoft.com/office/drawing/2014/main" val="3139816229"/>
                  </a:ext>
                </a:extLst>
              </a:tr>
              <a:tr h="1209706">
                <a:tc>
                  <a:txBody>
                    <a:bodyPr/>
                    <a:lstStyle/>
                    <a:p>
                      <a:r>
                        <a:rPr lang="hr-HR" b="1" dirty="0"/>
                        <a:t>Razmišljanje o posljednjem koncertu pomoglo mi je shvatiti društvene odnose</a:t>
                      </a:r>
                    </a:p>
                  </a:txBody>
                  <a:tcPr/>
                </a:tc>
                <a:tc>
                  <a:txBody>
                    <a:bodyPr/>
                    <a:lstStyle/>
                    <a:p>
                      <a:endParaRPr lang="hr-HR"/>
                    </a:p>
                  </a:txBody>
                  <a:tcPr/>
                </a:tc>
                <a:tc>
                  <a:txBody>
                    <a:bodyPr/>
                    <a:lstStyle/>
                    <a:p>
                      <a:endParaRPr lang="hr-HR"/>
                    </a:p>
                  </a:txBody>
                  <a:tcPr/>
                </a:tc>
                <a:extLst>
                  <a:ext uri="{0D108BD9-81ED-4DB2-BD59-A6C34878D82A}">
                    <a16:rowId xmlns:a16="http://schemas.microsoft.com/office/drawing/2014/main" val="2196127201"/>
                  </a:ext>
                </a:extLst>
              </a:tr>
              <a:tr h="1209706">
                <a:tc>
                  <a:txBody>
                    <a:bodyPr/>
                    <a:lstStyle/>
                    <a:p>
                      <a:r>
                        <a:rPr lang="hr-HR" b="1" dirty="0"/>
                        <a:t>Znam navesti aktivnosti koje ostvarujem pod utjecajem društvenih odnosa</a:t>
                      </a:r>
                    </a:p>
                  </a:txBody>
                  <a:tcPr/>
                </a:tc>
                <a:tc>
                  <a:txBody>
                    <a:bodyPr/>
                    <a:lstStyle/>
                    <a:p>
                      <a:endParaRPr lang="hr-HR"/>
                    </a:p>
                  </a:txBody>
                  <a:tcPr/>
                </a:tc>
                <a:tc>
                  <a:txBody>
                    <a:bodyPr/>
                    <a:lstStyle/>
                    <a:p>
                      <a:endParaRPr lang="hr-HR"/>
                    </a:p>
                  </a:txBody>
                  <a:tcPr/>
                </a:tc>
                <a:extLst>
                  <a:ext uri="{0D108BD9-81ED-4DB2-BD59-A6C34878D82A}">
                    <a16:rowId xmlns:a16="http://schemas.microsoft.com/office/drawing/2014/main" val="1831581069"/>
                  </a:ext>
                </a:extLst>
              </a:tr>
              <a:tr h="930553">
                <a:tc>
                  <a:txBody>
                    <a:bodyPr/>
                    <a:lstStyle/>
                    <a:p>
                      <a:r>
                        <a:rPr lang="hr-HR" b="1" dirty="0"/>
                        <a:t>Mogu objasniti kako se ostvaruje</a:t>
                      </a:r>
                      <a:r>
                        <a:rPr lang="hr-HR" b="1" baseline="0" dirty="0"/>
                        <a:t> društvena interakcija</a:t>
                      </a:r>
                      <a:endParaRPr lang="hr-HR" b="1" dirty="0"/>
                    </a:p>
                  </a:txBody>
                  <a:tcPr/>
                </a:tc>
                <a:tc>
                  <a:txBody>
                    <a:bodyPr/>
                    <a:lstStyle/>
                    <a:p>
                      <a:endParaRPr lang="hr-HR" dirty="0"/>
                    </a:p>
                  </a:txBody>
                  <a:tcPr/>
                </a:tc>
                <a:tc>
                  <a:txBody>
                    <a:bodyPr/>
                    <a:lstStyle/>
                    <a:p>
                      <a:endParaRPr lang="hr-HR" dirty="0"/>
                    </a:p>
                  </a:txBody>
                  <a:tcPr/>
                </a:tc>
                <a:extLst>
                  <a:ext uri="{0D108BD9-81ED-4DB2-BD59-A6C34878D82A}">
                    <a16:rowId xmlns:a16="http://schemas.microsoft.com/office/drawing/2014/main" val="96378903"/>
                  </a:ext>
                </a:extLst>
              </a:tr>
            </a:tbl>
          </a:graphicData>
        </a:graphic>
      </p:graphicFrame>
    </p:spTree>
    <p:extLst>
      <p:ext uri="{BB962C8B-B14F-4D97-AF65-F5344CB8AC3E}">
        <p14:creationId xmlns:p14="http://schemas.microsoft.com/office/powerpoint/2010/main" val="18356691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7531" y="2276872"/>
            <a:ext cx="9402274" cy="2160240"/>
          </a:xfrm>
        </p:spPr>
        <p:txBody>
          <a:bodyPr/>
          <a:lstStyle/>
          <a:p>
            <a:pPr algn="ctr"/>
            <a:r>
              <a:rPr lang="hr-HR" b="1" dirty="0"/>
              <a:t>NORME I VRIJEDNOSTI; SIMBOLI, JEZIK I RITUALI</a:t>
            </a:r>
          </a:p>
        </p:txBody>
      </p:sp>
      <p:sp>
        <p:nvSpPr>
          <p:cNvPr id="3" name="Content Placeholder 2"/>
          <p:cNvSpPr>
            <a:spLocks noGrp="1"/>
          </p:cNvSpPr>
          <p:nvPr>
            <p:ph idx="1"/>
          </p:nvPr>
        </p:nvSpPr>
        <p:spPr>
          <a:xfrm>
            <a:off x="1104614" y="3717032"/>
            <a:ext cx="8944211" cy="2531368"/>
          </a:xfrm>
        </p:spPr>
        <p:txBody>
          <a:bodyPr/>
          <a:lstStyle/>
          <a:p>
            <a:endParaRPr lang="hr-HR" dirty="0"/>
          </a:p>
        </p:txBody>
      </p:sp>
    </p:spTree>
    <p:extLst>
      <p:ext uri="{BB962C8B-B14F-4D97-AF65-F5344CB8AC3E}">
        <p14:creationId xmlns:p14="http://schemas.microsoft.com/office/powerpoint/2010/main" val="3510851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hr-HR"/>
          </a:p>
        </p:txBody>
      </p:sp>
      <p:sp>
        <p:nvSpPr>
          <p:cNvPr id="3" name="Content Placeholder 2"/>
          <p:cNvSpPr>
            <a:spLocks noGrp="1"/>
          </p:cNvSpPr>
          <p:nvPr>
            <p:ph idx="1"/>
          </p:nvPr>
        </p:nvSpPr>
        <p:spPr/>
        <p:txBody>
          <a:bodyPr>
            <a:normAutofit/>
          </a:bodyPr>
          <a:lstStyle/>
          <a:p>
            <a:pPr marL="0" indent="0">
              <a:buNone/>
            </a:pPr>
            <a:r>
              <a:rPr lang="hr-HR" sz="2200" dirty="0"/>
              <a:t>PONOVIMO:</a:t>
            </a:r>
          </a:p>
          <a:p>
            <a:r>
              <a:rPr lang="hr-HR" sz="2200" dirty="0"/>
              <a:t>Što je društvo?</a:t>
            </a:r>
          </a:p>
          <a:p>
            <a:r>
              <a:rPr lang="hr-HR" sz="2200" dirty="0"/>
              <a:t>Što je društveno ponašanje?</a:t>
            </a:r>
            <a:endParaRPr lang="en-US" sz="2200" dirty="0"/>
          </a:p>
          <a:p>
            <a:endParaRPr lang="en-US" sz="2200" dirty="0"/>
          </a:p>
          <a:p>
            <a:r>
              <a:rPr lang="en-US" sz="2200" dirty="0" err="1"/>
              <a:t>Društvo</a:t>
            </a:r>
            <a:r>
              <a:rPr lang="en-US" sz="2200" dirty="0"/>
              <a:t> </a:t>
            </a:r>
            <a:r>
              <a:rPr lang="en-US" sz="2200" dirty="0" err="1"/>
              <a:t>podrazumijeva</a:t>
            </a:r>
            <a:r>
              <a:rPr lang="en-US" sz="2200" dirty="0"/>
              <a:t> </a:t>
            </a:r>
            <a:r>
              <a:rPr lang="en-US" sz="2200" dirty="0" err="1"/>
              <a:t>zajednicu</a:t>
            </a:r>
            <a:r>
              <a:rPr lang="en-US" sz="2200" dirty="0"/>
              <a:t> </a:t>
            </a:r>
            <a:r>
              <a:rPr lang="en-US" sz="2200" dirty="0" err="1"/>
              <a:t>ili</a:t>
            </a:r>
            <a:r>
              <a:rPr lang="en-US" sz="2200" dirty="0"/>
              <a:t> </a:t>
            </a:r>
            <a:r>
              <a:rPr lang="en-US" sz="2200" dirty="0" err="1"/>
              <a:t>skupinu</a:t>
            </a:r>
            <a:r>
              <a:rPr lang="en-US" sz="2200" dirty="0"/>
              <a:t> u </a:t>
            </a:r>
            <a:r>
              <a:rPr lang="en-US" sz="2200" dirty="0" err="1"/>
              <a:t>kojoj</a:t>
            </a:r>
            <a:r>
              <a:rPr lang="en-US" sz="2200" dirty="0"/>
              <a:t> </a:t>
            </a:r>
            <a:r>
              <a:rPr lang="en-US" sz="2200" dirty="0" err="1"/>
              <a:t>živimo</a:t>
            </a:r>
            <a:r>
              <a:rPr lang="hr-HR" sz="2200" dirty="0"/>
              <a:t> i djelujemo ili društvo je sustav povezanih i uzajamno uvjetovanih međudjelovanja svjesnih bića</a:t>
            </a:r>
          </a:p>
          <a:p>
            <a:r>
              <a:rPr lang="hr-HR" sz="2200" dirty="0"/>
              <a:t>Društveno ponašanje – svako ponašanje pojedinca koje uzima u obzir norme i vrijednosti neke grupe te osobna uvjerenja i motive</a:t>
            </a:r>
          </a:p>
        </p:txBody>
      </p:sp>
    </p:spTree>
    <p:extLst>
      <p:ext uri="{BB962C8B-B14F-4D97-AF65-F5344CB8AC3E}">
        <p14:creationId xmlns:p14="http://schemas.microsoft.com/office/powerpoint/2010/main" val="21086107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hr-HR"/>
          </a:p>
        </p:txBody>
      </p:sp>
      <p:sp>
        <p:nvSpPr>
          <p:cNvPr id="3" name="Content Placeholder 2"/>
          <p:cNvSpPr>
            <a:spLocks noGrp="1"/>
          </p:cNvSpPr>
          <p:nvPr>
            <p:ph idx="1"/>
          </p:nvPr>
        </p:nvSpPr>
        <p:spPr>
          <a:xfrm>
            <a:off x="1590" y="1"/>
            <a:ext cx="8254651" cy="6248401"/>
          </a:xfrm>
        </p:spPr>
        <p:txBody>
          <a:bodyPr>
            <a:normAutofit/>
          </a:bodyPr>
          <a:lstStyle/>
          <a:p>
            <a:r>
              <a:rPr lang="en-US" sz="2200" dirty="0" err="1"/>
              <a:t>Kako</a:t>
            </a:r>
            <a:r>
              <a:rPr lang="en-US" sz="2200" dirty="0"/>
              <a:t> se </a:t>
            </a:r>
            <a:r>
              <a:rPr lang="en-US" sz="2200" dirty="0" err="1"/>
              <a:t>odvija</a:t>
            </a:r>
            <a:r>
              <a:rPr lang="en-US" sz="2200" dirty="0"/>
              <a:t> </a:t>
            </a:r>
            <a:r>
              <a:rPr lang="en-US" sz="2200" dirty="0" err="1"/>
              <a:t>međusobno</a:t>
            </a:r>
            <a:r>
              <a:rPr lang="en-US" sz="2200" dirty="0"/>
              <a:t> </a:t>
            </a:r>
            <a:r>
              <a:rPr lang="en-US" sz="2200" dirty="0" err="1"/>
              <a:t>ponašanje</a:t>
            </a:r>
            <a:r>
              <a:rPr lang="en-US" sz="2200" dirty="0"/>
              <a:t> </a:t>
            </a:r>
            <a:r>
              <a:rPr lang="en-US" sz="2200" dirty="0" err="1"/>
              <a:t>pojedinaca</a:t>
            </a:r>
            <a:r>
              <a:rPr lang="en-US" sz="2200" dirty="0"/>
              <a:t> u </a:t>
            </a:r>
            <a:r>
              <a:rPr lang="en-US" sz="2200" dirty="0" err="1"/>
              <a:t>društvu</a:t>
            </a:r>
            <a:r>
              <a:rPr lang="en-US" sz="2200" dirty="0"/>
              <a:t>…</a:t>
            </a:r>
          </a:p>
          <a:p>
            <a:r>
              <a:rPr lang="en-US" sz="2200" dirty="0" err="1"/>
              <a:t>Društvima</a:t>
            </a:r>
            <a:r>
              <a:rPr lang="en-US" sz="2200" dirty="0"/>
              <a:t> je </a:t>
            </a:r>
            <a:r>
              <a:rPr lang="en-US" sz="2200" dirty="0" err="1"/>
              <a:t>zajedničko</a:t>
            </a:r>
            <a:r>
              <a:rPr lang="en-US" sz="2200" dirty="0"/>
              <a:t> da </a:t>
            </a:r>
            <a:r>
              <a:rPr lang="en-US" sz="2200" dirty="0" err="1"/>
              <a:t>su</a:t>
            </a:r>
            <a:r>
              <a:rPr lang="en-US" sz="2200" dirty="0"/>
              <a:t> </a:t>
            </a:r>
            <a:r>
              <a:rPr lang="en-US" sz="2200" dirty="0" err="1"/>
              <a:t>njihovi</a:t>
            </a:r>
            <a:r>
              <a:rPr lang="en-US" sz="2200" dirty="0"/>
              <a:t> </a:t>
            </a:r>
            <a:r>
              <a:rPr lang="en-US" sz="2200" dirty="0" err="1"/>
              <a:t>članovi</a:t>
            </a:r>
            <a:r>
              <a:rPr lang="en-US" sz="2200" dirty="0"/>
              <a:t> </a:t>
            </a:r>
            <a:r>
              <a:rPr lang="en-US" sz="2200" dirty="0" err="1"/>
              <a:t>organizirani</a:t>
            </a:r>
            <a:r>
              <a:rPr lang="en-US" sz="2200" dirty="0"/>
              <a:t> </a:t>
            </a:r>
            <a:r>
              <a:rPr lang="en-US" sz="2200" dirty="0" err="1"/>
              <a:t>pomoću</a:t>
            </a:r>
            <a:r>
              <a:rPr lang="en-US" sz="2200" dirty="0"/>
              <a:t> </a:t>
            </a:r>
            <a:r>
              <a:rPr lang="en-US" sz="2200" dirty="0" err="1"/>
              <a:t>strukturiranih</a:t>
            </a:r>
            <a:r>
              <a:rPr lang="en-US" sz="2200" dirty="0"/>
              <a:t> </a:t>
            </a:r>
            <a:r>
              <a:rPr lang="en-US" sz="2200" dirty="0" err="1"/>
              <a:t>društvenih</a:t>
            </a:r>
            <a:r>
              <a:rPr lang="en-US" sz="2200" dirty="0"/>
              <a:t> </a:t>
            </a:r>
            <a:r>
              <a:rPr lang="en-US" sz="2200" dirty="0" err="1"/>
              <a:t>odnosa</a:t>
            </a:r>
            <a:r>
              <a:rPr lang="en-US" sz="2200" dirty="0"/>
              <a:t>, u </a:t>
            </a:r>
            <a:r>
              <a:rPr lang="en-US" sz="2200" dirty="0" err="1"/>
              <a:t>skladu</a:t>
            </a:r>
            <a:r>
              <a:rPr lang="en-US" sz="2200" dirty="0"/>
              <a:t> s </a:t>
            </a:r>
            <a:r>
              <a:rPr lang="en-US" sz="2200" dirty="0" err="1"/>
              <a:t>njima</a:t>
            </a:r>
            <a:r>
              <a:rPr lang="en-US" sz="2200" dirty="0"/>
              <a:t> </a:t>
            </a:r>
            <a:r>
              <a:rPr lang="en-US" sz="2200" dirty="0" err="1"/>
              <a:t>jedinstvenom</a:t>
            </a:r>
            <a:r>
              <a:rPr lang="en-US" sz="2200" dirty="0"/>
              <a:t> </a:t>
            </a:r>
            <a:r>
              <a:rPr lang="en-US" sz="2200" b="1" dirty="0" err="1"/>
              <a:t>kulturom</a:t>
            </a:r>
            <a:endParaRPr lang="en-US" sz="2200" b="1" dirty="0"/>
          </a:p>
          <a:p>
            <a:r>
              <a:rPr lang="en-US" sz="2200" dirty="0" err="1"/>
              <a:t>Ponašanje</a:t>
            </a:r>
            <a:r>
              <a:rPr lang="en-US" sz="2200" dirty="0"/>
              <a:t> </a:t>
            </a:r>
            <a:r>
              <a:rPr lang="en-US" sz="2200" dirty="0" err="1"/>
              <a:t>pojedinaca</a:t>
            </a:r>
            <a:r>
              <a:rPr lang="en-US" sz="2200" dirty="0"/>
              <a:t> se </a:t>
            </a:r>
            <a:r>
              <a:rPr lang="en-US" sz="2200" dirty="0" err="1"/>
              <a:t>odvija</a:t>
            </a:r>
            <a:r>
              <a:rPr lang="en-US" sz="2200" dirty="0"/>
              <a:t> </a:t>
            </a:r>
            <a:r>
              <a:rPr lang="en-US" sz="2200" dirty="0" err="1"/>
              <a:t>po</a:t>
            </a:r>
            <a:r>
              <a:rPr lang="en-US" sz="2200" dirty="0"/>
              <a:t> </a:t>
            </a:r>
            <a:r>
              <a:rPr lang="en-US" sz="2200" dirty="0" err="1"/>
              <a:t>nekim</a:t>
            </a:r>
            <a:r>
              <a:rPr lang="en-US" sz="2200" dirty="0"/>
              <a:t> </a:t>
            </a:r>
            <a:r>
              <a:rPr lang="en-US" sz="2200" dirty="0" err="1"/>
              <a:t>društvenim</a:t>
            </a:r>
            <a:r>
              <a:rPr lang="en-US" sz="2200" dirty="0"/>
              <a:t> </a:t>
            </a:r>
            <a:r>
              <a:rPr lang="en-US" sz="2200" dirty="0" err="1"/>
              <a:t>pravilima</a:t>
            </a:r>
            <a:r>
              <a:rPr lang="en-US" sz="2200" dirty="0"/>
              <a:t> </a:t>
            </a:r>
            <a:r>
              <a:rPr lang="en-US" sz="2200" dirty="0" err="1"/>
              <a:t>i</a:t>
            </a:r>
            <a:r>
              <a:rPr lang="en-US" sz="2200" dirty="0"/>
              <a:t> </a:t>
            </a:r>
            <a:r>
              <a:rPr lang="hr-HR" sz="2200" dirty="0"/>
              <a:t>vrijednostima</a:t>
            </a:r>
          </a:p>
          <a:p>
            <a:r>
              <a:rPr lang="hr-HR" sz="2200" dirty="0"/>
              <a:t>Što god mi radili u društvu, ovisi o </a:t>
            </a:r>
            <a:r>
              <a:rPr lang="en-US" sz="2200" dirty="0"/>
              <a:t>KULTURI</a:t>
            </a:r>
            <a:endParaRPr lang="hr-HR" sz="2200" dirty="0"/>
          </a:p>
          <a:p>
            <a:r>
              <a:rPr lang="hr-HR" sz="2200" dirty="0"/>
              <a:t>Način na koji peremo suđe, prelazimo cestu, razgovaramo s drugima, gradimo kuće, definiramo što je lijepo ili ružno – </a:t>
            </a:r>
            <a:r>
              <a:rPr lang="hr-HR" sz="2200" b="1" u="sng" dirty="0">
                <a:solidFill>
                  <a:schemeClr val="accent1">
                    <a:lumMod val="40000"/>
                    <a:lumOff val="60000"/>
                  </a:schemeClr>
                </a:solidFill>
                <a:effectLst>
                  <a:outerShdw blurRad="38100" dist="38100" dir="2700000" algn="tl">
                    <a:srgbClr val="000000">
                      <a:alpha val="43137"/>
                    </a:srgbClr>
                  </a:outerShdw>
                </a:effectLst>
              </a:rPr>
              <a:t>sve je to društveno nasljeđe neke grupe ljudi, odnosno kultura</a:t>
            </a:r>
          </a:p>
        </p:txBody>
      </p:sp>
      <p:pic>
        <p:nvPicPr>
          <p:cNvPr id="8194" name="Picture 2" descr="Masai People – Malaikacam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95474" y="96295"/>
            <a:ext cx="3960440" cy="2640293"/>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106,925 Christmas Dinner Stock Photos, Pictures &amp; Royalty-Free Images -  iStock"/>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95801" y="4389910"/>
            <a:ext cx="3702135" cy="2468091"/>
          </a:xfrm>
          <a:prstGeom prst="rect">
            <a:avLst/>
          </a:prstGeom>
          <a:noFill/>
          <a:extLst>
            <a:ext uri="{909E8E84-426E-40DD-AFC4-6F175D3DCCD1}">
              <a14:hiddenFill xmlns:a14="http://schemas.microsoft.com/office/drawing/2010/main">
                <a:solidFill>
                  <a:srgbClr val="FFFFFF"/>
                </a:solidFill>
              </a14:hiddenFill>
            </a:ext>
          </a:extLst>
        </p:spPr>
      </p:pic>
      <p:pic>
        <p:nvPicPr>
          <p:cNvPr id="8198" name="Picture 6" descr="Inuit - Wikipedia"/>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07286" y="3224887"/>
            <a:ext cx="3639628" cy="29253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0017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hr-HR"/>
          </a:p>
        </p:txBody>
      </p:sp>
      <p:sp>
        <p:nvSpPr>
          <p:cNvPr id="3" name="Content Placeholder 2"/>
          <p:cNvSpPr>
            <a:spLocks noGrp="1"/>
          </p:cNvSpPr>
          <p:nvPr>
            <p:ph idx="1"/>
          </p:nvPr>
        </p:nvSpPr>
        <p:spPr>
          <a:xfrm>
            <a:off x="479377" y="332656"/>
            <a:ext cx="9865096" cy="6264696"/>
          </a:xfrm>
        </p:spPr>
        <p:txBody>
          <a:bodyPr>
            <a:normAutofit/>
          </a:bodyPr>
          <a:lstStyle/>
          <a:p>
            <a:r>
              <a:rPr lang="hr-HR" sz="2400" dirty="0"/>
              <a:t>Kultura se odnosi na naučene, a ne nasljeđene aspekte ljudskih društava, dok se društvo odnosi na ljude koji tu kulturu prakticiraju</a:t>
            </a:r>
          </a:p>
          <a:p>
            <a:r>
              <a:rPr lang="hr-HR" sz="2400" dirty="0"/>
              <a:t>Ljudsko društvo i kultura su povezani pojmovi – nema ljudskog društva bez kulture, ni kulture bez društva</a:t>
            </a:r>
          </a:p>
          <a:p>
            <a:endParaRPr lang="hr-HR" sz="2400" dirty="0"/>
          </a:p>
          <a:p>
            <a:pPr marL="0" indent="0">
              <a:buNone/>
            </a:pPr>
            <a:r>
              <a:rPr lang="hr-HR" sz="2400" b="1" dirty="0"/>
              <a:t>Opće značajke kulture</a:t>
            </a:r>
          </a:p>
          <a:p>
            <a:pPr>
              <a:buFont typeface="Courier New" panose="02070309020205020404" pitchFamily="49" charset="0"/>
              <a:buChar char="o"/>
            </a:pPr>
            <a:r>
              <a:rPr lang="hr-HR" sz="2400" dirty="0"/>
              <a:t>SIMBOLI</a:t>
            </a:r>
          </a:p>
          <a:p>
            <a:pPr>
              <a:buFont typeface="Courier New" panose="02070309020205020404" pitchFamily="49" charset="0"/>
              <a:buChar char="o"/>
            </a:pPr>
            <a:r>
              <a:rPr lang="hr-HR" sz="2400" dirty="0"/>
              <a:t>NAUČENA (uči se, ne rađamo se s njom)</a:t>
            </a:r>
          </a:p>
          <a:p>
            <a:pPr>
              <a:buFont typeface="Courier New" panose="02070309020205020404" pitchFamily="49" charset="0"/>
              <a:buChar char="o"/>
            </a:pPr>
            <a:r>
              <a:rPr lang="hr-HR" sz="2400" dirty="0"/>
              <a:t>ZAJEDNIČKA (dijelimo je s drugima)</a:t>
            </a:r>
          </a:p>
          <a:p>
            <a:pPr>
              <a:buFont typeface="Courier New" panose="02070309020205020404" pitchFamily="49" charset="0"/>
              <a:buChar char="o"/>
            </a:pPr>
            <a:r>
              <a:rPr lang="hr-HR" sz="2400" dirty="0"/>
              <a:t>KUMULATIVNA (neprestano raste, stalno joj se dodaju novi elementi)</a:t>
            </a:r>
          </a:p>
          <a:p>
            <a:pPr>
              <a:buFont typeface="Courier New" panose="02070309020205020404" pitchFamily="49" charset="0"/>
              <a:buChar char="o"/>
            </a:pPr>
            <a:r>
              <a:rPr lang="hr-HR" sz="2400" dirty="0"/>
              <a:t>NEPRESTANO SE MIJENJA</a:t>
            </a:r>
          </a:p>
          <a:p>
            <a:pPr marL="0" indent="0">
              <a:buNone/>
            </a:pPr>
            <a:endParaRPr lang="hr-HR" dirty="0"/>
          </a:p>
        </p:txBody>
      </p:sp>
    </p:spTree>
    <p:extLst>
      <p:ext uri="{BB962C8B-B14F-4D97-AF65-F5344CB8AC3E}">
        <p14:creationId xmlns:p14="http://schemas.microsoft.com/office/powerpoint/2010/main" val="771222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hr-HR"/>
          </a:p>
        </p:txBody>
      </p:sp>
      <p:sp>
        <p:nvSpPr>
          <p:cNvPr id="3" name="Content Placeholder 2"/>
          <p:cNvSpPr>
            <a:spLocks noGrp="1"/>
          </p:cNvSpPr>
          <p:nvPr>
            <p:ph idx="1"/>
          </p:nvPr>
        </p:nvSpPr>
        <p:spPr>
          <a:xfrm>
            <a:off x="1104614" y="1556793"/>
            <a:ext cx="8944211" cy="4691608"/>
          </a:xfrm>
        </p:spPr>
        <p:txBody>
          <a:bodyPr>
            <a:normAutofit/>
          </a:bodyPr>
          <a:lstStyle/>
          <a:p>
            <a:r>
              <a:rPr lang="hr-HR" sz="2400" dirty="0"/>
              <a:t>Kultura nekog društva obuhvaća </a:t>
            </a:r>
            <a:r>
              <a:rPr lang="hr-HR" sz="2400" b="1" dirty="0"/>
              <a:t>nevidljive aspekte kulture </a:t>
            </a:r>
            <a:r>
              <a:rPr lang="hr-HR" sz="2400" dirty="0"/>
              <a:t>– </a:t>
            </a:r>
            <a:r>
              <a:rPr lang="hr-HR" sz="2400" b="1" dirty="0"/>
              <a:t>NEMATERIJALNA KULTURA </a:t>
            </a:r>
            <a:r>
              <a:rPr lang="hr-HR" sz="2400" dirty="0"/>
              <a:t> (ideje, vrijednosti, običaji) i </a:t>
            </a:r>
            <a:r>
              <a:rPr lang="hr-HR" sz="2400" b="1" dirty="0"/>
              <a:t>vidljive aspekte kulture – MATERIJALNA KULTURA </a:t>
            </a:r>
            <a:r>
              <a:rPr lang="hr-HR" sz="2400" dirty="0"/>
              <a:t>(objekti i tehnologija, npr. zgrade, parkovi, alati itd.)</a:t>
            </a:r>
          </a:p>
          <a:p>
            <a:endParaRPr lang="hr-HR" sz="2400" dirty="0"/>
          </a:p>
          <a:p>
            <a:r>
              <a:rPr lang="hr-HR" sz="2400" dirty="0"/>
              <a:t>Sociologiju više zanima </a:t>
            </a:r>
            <a:r>
              <a:rPr lang="hr-HR" sz="2400" b="1" dirty="0"/>
              <a:t>nematerijalni</a:t>
            </a:r>
            <a:r>
              <a:rPr lang="hr-HR" sz="2400" dirty="0"/>
              <a:t> dio kulture, odnosno komponente kulture – </a:t>
            </a:r>
            <a:r>
              <a:rPr lang="hr-HR" sz="2400" b="1" dirty="0"/>
              <a:t>SIMBOLI, JEZIK, NORME, VRIJEDNOSTI I RITUALI</a:t>
            </a:r>
          </a:p>
          <a:p>
            <a:r>
              <a:rPr lang="hr-HR" sz="2400" dirty="0"/>
              <a:t>S obzirom da se te komponente nalaze u svim kulturama, nazivamo ih </a:t>
            </a:r>
            <a:r>
              <a:rPr lang="hr-HR" sz="2400" b="1" dirty="0"/>
              <a:t>KULTURNIM UNIVERZALIJAMA</a:t>
            </a:r>
          </a:p>
        </p:txBody>
      </p:sp>
    </p:spTree>
    <p:extLst>
      <p:ext uri="{BB962C8B-B14F-4D97-AF65-F5344CB8AC3E}">
        <p14:creationId xmlns:p14="http://schemas.microsoft.com/office/powerpoint/2010/main" val="35459485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hr-HR" b="1" dirty="0"/>
              <a:t>NORME</a:t>
            </a:r>
          </a:p>
        </p:txBody>
      </p:sp>
      <p:sp>
        <p:nvSpPr>
          <p:cNvPr id="3" name="Content Placeholder 2"/>
          <p:cNvSpPr>
            <a:spLocks noGrp="1"/>
          </p:cNvSpPr>
          <p:nvPr>
            <p:ph idx="1"/>
          </p:nvPr>
        </p:nvSpPr>
        <p:spPr>
          <a:xfrm>
            <a:off x="191345" y="1312671"/>
            <a:ext cx="7704856" cy="4935731"/>
          </a:xfrm>
        </p:spPr>
        <p:txBody>
          <a:bodyPr>
            <a:normAutofit/>
          </a:bodyPr>
          <a:lstStyle/>
          <a:p>
            <a:pPr marL="0" indent="0">
              <a:buNone/>
            </a:pPr>
            <a:r>
              <a:rPr lang="hr-HR" sz="2400" b="1" dirty="0"/>
              <a:t>Bit.ly/norme00</a:t>
            </a:r>
          </a:p>
          <a:p>
            <a:pPr marL="0" indent="0">
              <a:buNone/>
            </a:pPr>
            <a:r>
              <a:rPr lang="hr-HR" sz="2400" dirty="0"/>
              <a:t>Obratite pozornost na ponašanje ljudi u restoranu... Zašto ste se nasmijali?</a:t>
            </a:r>
          </a:p>
          <a:p>
            <a:r>
              <a:rPr lang="hr-HR" sz="2400" dirty="0"/>
              <a:t>Mr. Bean nije znao kada treba platiti večeru – nije se ponašao u restoranu na način kako društvo očekuje, odnosno nije poštivao društvene norme</a:t>
            </a:r>
          </a:p>
          <a:p>
            <a:pPr marL="0" indent="0">
              <a:buNone/>
            </a:pPr>
            <a:r>
              <a:rPr lang="hr-HR" sz="2400" dirty="0"/>
              <a:t>Što su društvene norme?</a:t>
            </a:r>
          </a:p>
          <a:p>
            <a:r>
              <a:rPr lang="hr-HR" sz="2600" b="1" dirty="0">
                <a:solidFill>
                  <a:schemeClr val="accent1">
                    <a:lumMod val="40000"/>
                    <a:lumOff val="60000"/>
                  </a:schemeClr>
                </a:solidFill>
                <a:effectLst>
                  <a:outerShdw blurRad="38100" dist="38100" dir="2700000" algn="tl">
                    <a:srgbClr val="000000">
                      <a:alpha val="43137"/>
                    </a:srgbClr>
                  </a:outerShdw>
                </a:effectLst>
              </a:rPr>
              <a:t>Norme su društvena pravila koja nam govore kako se trebamo ponašati u određenoj situaciji</a:t>
            </a:r>
          </a:p>
        </p:txBody>
      </p:sp>
      <p:pic>
        <p:nvPicPr>
          <p:cNvPr id="9218" name="Picture 2" descr="Why Eating Dinner Around 7 P.M. Can Actually Help You Live Longer | Martha  Stewart"/>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112225" y="1312671"/>
            <a:ext cx="3660919" cy="2440003"/>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descr="7 Steps of Handwashing: How to Wash Your Hands Properl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00256" y="4140812"/>
            <a:ext cx="3096344" cy="23222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28918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hr-HR"/>
          </a:p>
        </p:txBody>
      </p:sp>
      <p:sp>
        <p:nvSpPr>
          <p:cNvPr id="3" name="Content Placeholder 2"/>
          <p:cNvSpPr>
            <a:spLocks noGrp="1"/>
          </p:cNvSpPr>
          <p:nvPr>
            <p:ph idx="1"/>
          </p:nvPr>
        </p:nvSpPr>
        <p:spPr>
          <a:xfrm>
            <a:off x="1104614" y="1196753"/>
            <a:ext cx="8944211" cy="5051648"/>
          </a:xfrm>
        </p:spPr>
        <p:txBody>
          <a:bodyPr>
            <a:normAutofit/>
          </a:bodyPr>
          <a:lstStyle/>
          <a:p>
            <a:pPr marL="0" indent="0">
              <a:buNone/>
            </a:pPr>
            <a:r>
              <a:rPr lang="hr-HR" sz="2400" dirty="0"/>
              <a:t>Norme su:</a:t>
            </a:r>
          </a:p>
          <a:p>
            <a:endParaRPr lang="hr-HR" sz="2400" dirty="0"/>
          </a:p>
          <a:p>
            <a:pPr marL="0" indent="0">
              <a:buNone/>
            </a:pPr>
            <a:r>
              <a:rPr lang="hr-HR" sz="2400" b="1" dirty="0"/>
              <a:t>RELATIVNE</a:t>
            </a:r>
            <a:r>
              <a:rPr lang="hr-HR" sz="2400" dirty="0"/>
              <a:t> – razlikuju se od društva do društva</a:t>
            </a:r>
          </a:p>
          <a:p>
            <a:pPr marL="0" indent="0">
              <a:buNone/>
            </a:pPr>
            <a:endParaRPr lang="hr-HR" sz="2400" dirty="0"/>
          </a:p>
          <a:p>
            <a:pPr marL="0" indent="0">
              <a:buNone/>
            </a:pPr>
            <a:r>
              <a:rPr lang="hr-HR" sz="2400" b="1" dirty="0"/>
              <a:t>SPECIFIČNE</a:t>
            </a:r>
            <a:r>
              <a:rPr lang="hr-HR" sz="2400" dirty="0"/>
              <a:t> – društvo nam govori kako se trebamo ponašati u točno određenim situacijama</a:t>
            </a:r>
          </a:p>
          <a:p>
            <a:pPr marL="0" indent="0">
              <a:buNone/>
            </a:pPr>
            <a:endParaRPr lang="hr-HR" sz="2400" dirty="0"/>
          </a:p>
          <a:p>
            <a:pPr marL="0" indent="0">
              <a:buNone/>
            </a:pPr>
            <a:r>
              <a:rPr lang="hr-HR" sz="2400" dirty="0"/>
              <a:t>U bilježnicu zapišite tri norme koje se odnose na ponašanje u tramvaju</a:t>
            </a:r>
          </a:p>
        </p:txBody>
      </p:sp>
      <p:sp>
        <p:nvSpPr>
          <p:cNvPr id="4" name="Explosion 1 3"/>
          <p:cNvSpPr/>
          <p:nvPr/>
        </p:nvSpPr>
        <p:spPr>
          <a:xfrm>
            <a:off x="455560" y="4509120"/>
            <a:ext cx="648072" cy="504056"/>
          </a:xfrm>
          <a:prstGeom prst="irregularSeal1">
            <a:avLst/>
          </a:prstGeom>
          <a:solidFill>
            <a:schemeClr val="tx1"/>
          </a:solidFill>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Tree>
    <p:extLst>
      <p:ext uri="{BB962C8B-B14F-4D97-AF65-F5344CB8AC3E}">
        <p14:creationId xmlns:p14="http://schemas.microsoft.com/office/powerpoint/2010/main" val="22568838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hr-HR" dirty="0"/>
          </a:p>
        </p:txBody>
      </p:sp>
      <p:sp>
        <p:nvSpPr>
          <p:cNvPr id="3" name="Content Placeholder 2"/>
          <p:cNvSpPr>
            <a:spLocks noGrp="1"/>
          </p:cNvSpPr>
          <p:nvPr>
            <p:ph idx="1"/>
          </p:nvPr>
        </p:nvSpPr>
        <p:spPr>
          <a:xfrm>
            <a:off x="1104614" y="160339"/>
            <a:ext cx="8944211" cy="6088063"/>
          </a:xfrm>
        </p:spPr>
        <p:txBody>
          <a:bodyPr/>
          <a:lstStyle/>
          <a:p>
            <a:r>
              <a:rPr lang="hr-HR" sz="2200" dirty="0"/>
              <a:t>Norme se razlikuju s obzirom na oštrinu sankcija koje se javljaju kad ih prekršimo</a:t>
            </a:r>
          </a:p>
          <a:p>
            <a:endParaRPr lang="hr-HR" dirty="0"/>
          </a:p>
          <a:p>
            <a:pPr marL="0" indent="0" algn="ctr">
              <a:buNone/>
            </a:pPr>
            <a:r>
              <a:rPr lang="hr-HR" sz="3200" b="1" dirty="0">
                <a:effectLst>
                  <a:outerShdw blurRad="38100" dist="38100" dir="2700000" algn="tl">
                    <a:srgbClr val="000000">
                      <a:alpha val="43137"/>
                    </a:srgbClr>
                  </a:outerShdw>
                </a:effectLst>
              </a:rPr>
              <a:t>Vrste norma</a:t>
            </a:r>
          </a:p>
          <a:p>
            <a:pPr algn="ctr">
              <a:buFont typeface="Courier New" panose="02070309020205020404" pitchFamily="49" charset="0"/>
              <a:buChar char="o"/>
            </a:pPr>
            <a:r>
              <a:rPr lang="hr-HR" sz="3200" dirty="0">
                <a:effectLst>
                  <a:outerShdw blurRad="38100" dist="38100" dir="2700000" algn="tl">
                    <a:srgbClr val="000000">
                      <a:alpha val="43137"/>
                    </a:srgbClr>
                  </a:outerShdw>
                </a:effectLst>
              </a:rPr>
              <a:t>Folkways</a:t>
            </a:r>
          </a:p>
          <a:p>
            <a:pPr algn="ctr">
              <a:buFont typeface="Courier New" panose="02070309020205020404" pitchFamily="49" charset="0"/>
              <a:buChar char="o"/>
            </a:pPr>
            <a:r>
              <a:rPr lang="hr-HR" sz="3200" dirty="0">
                <a:effectLst>
                  <a:outerShdw blurRad="38100" dist="38100" dir="2700000" algn="tl">
                    <a:srgbClr val="000000">
                      <a:alpha val="43137"/>
                    </a:srgbClr>
                  </a:outerShdw>
                </a:effectLst>
              </a:rPr>
              <a:t>Mores/zakoni</a:t>
            </a:r>
          </a:p>
          <a:p>
            <a:pPr algn="ctr">
              <a:buFont typeface="Courier New" panose="02070309020205020404" pitchFamily="49" charset="0"/>
              <a:buChar char="o"/>
            </a:pPr>
            <a:r>
              <a:rPr lang="hr-HR" sz="3200" dirty="0">
                <a:effectLst>
                  <a:outerShdw blurRad="38100" dist="38100" dir="2700000" algn="tl">
                    <a:srgbClr val="000000">
                      <a:alpha val="43137"/>
                    </a:srgbClr>
                  </a:outerShdw>
                </a:effectLst>
              </a:rPr>
              <a:t>Tabui</a:t>
            </a:r>
          </a:p>
        </p:txBody>
      </p:sp>
      <p:sp>
        <p:nvSpPr>
          <p:cNvPr id="4" name="AutoShape 2" descr="Cartoon thief Vector Art Stock Images | Depositphotos"/>
          <p:cNvSpPr>
            <a:spLocks noChangeAspect="1" noChangeArrowheads="1"/>
          </p:cNvSpPr>
          <p:nvPr/>
        </p:nvSpPr>
        <p:spPr bwMode="auto">
          <a:xfrm>
            <a:off x="157163"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hr-HR"/>
          </a:p>
        </p:txBody>
      </p:sp>
      <p:pic>
        <p:nvPicPr>
          <p:cNvPr id="10244" name="Picture 4" descr="Thief Stock Illustration - Download Image Now - Burglar, Smiling, Adult -  iStoc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72265" y="910439"/>
            <a:ext cx="2867633" cy="2916473"/>
          </a:xfrm>
          <a:prstGeom prst="rect">
            <a:avLst/>
          </a:prstGeom>
          <a:noFill/>
          <a:extLst>
            <a:ext uri="{909E8E84-426E-40DD-AFC4-6F175D3DCCD1}">
              <a14:hiddenFill xmlns:a14="http://schemas.microsoft.com/office/drawing/2010/main">
                <a:solidFill>
                  <a:srgbClr val="FFFFFF"/>
                </a:solidFill>
              </a14:hiddenFill>
            </a:ext>
          </a:extLst>
        </p:spPr>
      </p:pic>
      <p:pic>
        <p:nvPicPr>
          <p:cNvPr id="10246" name="Picture 6" descr="The journalist was preparing for the interview, armed miscreants fired with  bullets - Edules"/>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930" y="1596572"/>
            <a:ext cx="3689759" cy="2075234"/>
          </a:xfrm>
          <a:prstGeom prst="rect">
            <a:avLst/>
          </a:prstGeom>
          <a:noFill/>
          <a:extLst>
            <a:ext uri="{909E8E84-426E-40DD-AFC4-6F175D3DCCD1}">
              <a14:hiddenFill xmlns:a14="http://schemas.microsoft.com/office/drawing/2010/main">
                <a:solidFill>
                  <a:srgbClr val="FFFFFF"/>
                </a:solidFill>
              </a14:hiddenFill>
            </a:ext>
          </a:extLst>
        </p:spPr>
      </p:pic>
      <p:pic>
        <p:nvPicPr>
          <p:cNvPr id="10248" name="Picture 8" descr="If a pregnant woman and I are standing in a full bus, should I tell a  teenager to give up their seat so that the pregnant woman can sit down -- o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81762" y="4119291"/>
            <a:ext cx="4300109" cy="2421490"/>
          </a:xfrm>
          <a:prstGeom prst="rect">
            <a:avLst/>
          </a:prstGeom>
          <a:noFill/>
          <a:extLst>
            <a:ext uri="{909E8E84-426E-40DD-AFC4-6F175D3DCCD1}">
              <a14:hiddenFill xmlns:a14="http://schemas.microsoft.com/office/drawing/2010/main">
                <a:solidFill>
                  <a:srgbClr val="FFFFFF"/>
                </a:solidFill>
              </a14:hiddenFill>
            </a:ext>
          </a:extLst>
        </p:spPr>
      </p:pic>
      <p:pic>
        <p:nvPicPr>
          <p:cNvPr id="10250" name="Picture 10" descr="The Wolf of Wall Street • Arvostelu | Film-O-Holic.com"/>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12140" y="3933748"/>
            <a:ext cx="4964579" cy="27925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5565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hr-HR"/>
          </a:p>
        </p:txBody>
      </p:sp>
      <p:sp>
        <p:nvSpPr>
          <p:cNvPr id="3" name="Content Placeholder 2"/>
          <p:cNvSpPr>
            <a:spLocks noGrp="1"/>
          </p:cNvSpPr>
          <p:nvPr>
            <p:ph idx="1"/>
          </p:nvPr>
        </p:nvSpPr>
        <p:spPr>
          <a:xfrm>
            <a:off x="1104614" y="548680"/>
            <a:ext cx="8944211" cy="6120680"/>
          </a:xfrm>
        </p:spPr>
        <p:txBody>
          <a:bodyPr>
            <a:normAutofit fontScale="92500" lnSpcReduction="20000"/>
          </a:bodyPr>
          <a:lstStyle/>
          <a:p>
            <a:r>
              <a:rPr lang="hr-HR" sz="2400" b="1" dirty="0">
                <a:solidFill>
                  <a:schemeClr val="accent1">
                    <a:lumMod val="20000"/>
                    <a:lumOff val="80000"/>
                  </a:schemeClr>
                </a:solidFill>
              </a:rPr>
              <a:t>Folkways</a:t>
            </a:r>
            <a:r>
              <a:rPr lang="hr-HR" sz="2400" dirty="0"/>
              <a:t> norme su one kojima društvo ne pridaje jako veliku važnost i njihovo kršenje izaziva blage ili nikakve sankcije (pravilo da se dignemo starijim osobama u tramvaju ili pravilo da ne bacamo papiriće po cesti)</a:t>
            </a:r>
          </a:p>
          <a:p>
            <a:pPr marL="0" indent="0">
              <a:buNone/>
            </a:pPr>
            <a:r>
              <a:rPr lang="hr-HR" sz="2400" dirty="0"/>
              <a:t>Ako pak bacimo papirić na ulicu, slijedit će reakcija društva u obliku komentara, ružnog pogleda ili će jednotavno reakcija društva izostati</a:t>
            </a:r>
          </a:p>
          <a:p>
            <a:r>
              <a:rPr lang="hr-HR" sz="2400" b="1" dirty="0">
                <a:solidFill>
                  <a:schemeClr val="accent1">
                    <a:lumMod val="20000"/>
                    <a:lumOff val="80000"/>
                  </a:schemeClr>
                </a:solidFill>
              </a:rPr>
              <a:t>Moresi</a:t>
            </a:r>
            <a:r>
              <a:rPr lang="hr-HR" sz="2400" dirty="0">
                <a:solidFill>
                  <a:schemeClr val="accent1">
                    <a:lumMod val="20000"/>
                    <a:lumOff val="80000"/>
                  </a:schemeClr>
                </a:solidFill>
              </a:rPr>
              <a:t> </a:t>
            </a:r>
            <a:r>
              <a:rPr lang="hr-HR" sz="2400" dirty="0"/>
              <a:t>– pravila koja su moralno obvezujuća i njihovo kršenje uzrokuje oštre sankcije</a:t>
            </a:r>
          </a:p>
          <a:p>
            <a:pPr marL="0" indent="0">
              <a:buNone/>
            </a:pPr>
            <a:r>
              <a:rPr lang="hr-HR" sz="2400" dirty="0"/>
              <a:t>Kada se dogodi ubojstvo ili financijska prevara, društvo će oštro reagirat i zbog toga će slijediti oštra sankcija kao što je </a:t>
            </a:r>
            <a:r>
              <a:rPr lang="hr-HR" sz="2400" b="1" dirty="0"/>
              <a:t>zatvor</a:t>
            </a:r>
            <a:r>
              <a:rPr lang="hr-HR" sz="2400" dirty="0"/>
              <a:t>, </a:t>
            </a:r>
            <a:r>
              <a:rPr lang="hr-HR" sz="2400" b="1" dirty="0"/>
              <a:t>smrtna kazna </a:t>
            </a:r>
            <a:r>
              <a:rPr lang="hr-HR" sz="2400" dirty="0"/>
              <a:t>ili </a:t>
            </a:r>
            <a:r>
              <a:rPr lang="hr-HR" sz="2400" b="1" dirty="0"/>
              <a:t>izopćenje iz zajednice</a:t>
            </a:r>
          </a:p>
          <a:p>
            <a:pPr marL="0" indent="0">
              <a:buNone/>
            </a:pPr>
            <a:r>
              <a:rPr lang="hr-HR" sz="2400" dirty="0"/>
              <a:t>U modernim društvima umjesto moresa koji su tipični za mala tradicionalna društva, javljaju se </a:t>
            </a:r>
            <a:r>
              <a:rPr lang="hr-HR" sz="2400" b="1" dirty="0">
                <a:solidFill>
                  <a:schemeClr val="accent1">
                    <a:lumMod val="20000"/>
                    <a:lumOff val="80000"/>
                  </a:schemeClr>
                </a:solidFill>
              </a:rPr>
              <a:t>zakoni</a:t>
            </a:r>
          </a:p>
          <a:p>
            <a:pPr marL="0" indent="0">
              <a:buNone/>
            </a:pPr>
            <a:r>
              <a:rPr lang="hr-HR" sz="2400" dirty="0"/>
              <a:t>Kako bi ljudi znali kako se treba ponašati u modernim društvima u kojima postoje različite kulture, došlo se do stvaranja zakona, odnosno do formalnih društvenih pravila</a:t>
            </a:r>
          </a:p>
          <a:p>
            <a:r>
              <a:rPr lang="hr-HR" sz="2400" dirty="0"/>
              <a:t>Provođenje i poštivanje zakona provode posebne društvene organizacije</a:t>
            </a:r>
            <a:r>
              <a:rPr lang="en-US" sz="2400" dirty="0"/>
              <a:t> – </a:t>
            </a:r>
            <a:r>
              <a:rPr lang="en-US" sz="2400" dirty="0" err="1"/>
              <a:t>policija</a:t>
            </a:r>
            <a:r>
              <a:rPr lang="en-US" sz="2400" dirty="0"/>
              <a:t> </a:t>
            </a:r>
            <a:r>
              <a:rPr lang="hr-HR" sz="2400" dirty="0"/>
              <a:t>i sudstvo</a:t>
            </a:r>
          </a:p>
        </p:txBody>
      </p:sp>
    </p:spTree>
    <p:extLst>
      <p:ext uri="{BB962C8B-B14F-4D97-AF65-F5344CB8AC3E}">
        <p14:creationId xmlns:p14="http://schemas.microsoft.com/office/powerpoint/2010/main" val="744939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hr-HR"/>
          </a:p>
        </p:txBody>
      </p:sp>
      <p:sp>
        <p:nvSpPr>
          <p:cNvPr id="3" name="Content Placeholder 2"/>
          <p:cNvSpPr>
            <a:spLocks noGrp="1"/>
          </p:cNvSpPr>
          <p:nvPr>
            <p:ph idx="1"/>
          </p:nvPr>
        </p:nvSpPr>
        <p:spPr>
          <a:xfrm>
            <a:off x="1104614" y="1412776"/>
            <a:ext cx="8944211" cy="4835625"/>
          </a:xfrm>
        </p:spPr>
        <p:txBody>
          <a:bodyPr>
            <a:normAutofit/>
          </a:bodyPr>
          <a:lstStyle/>
          <a:p>
            <a:r>
              <a:rPr lang="hr-HR" sz="2200" dirty="0"/>
              <a:t>Kada u društvu osim oštrih sankcija imamo i snažnu emocionalnu reakciju kao što je na primjer nevjerica, zgražanje, ljutnja, onda govorimo o </a:t>
            </a:r>
            <a:r>
              <a:rPr lang="hr-HR" sz="2200" b="1" dirty="0">
                <a:solidFill>
                  <a:schemeClr val="accent1">
                    <a:lumMod val="20000"/>
                    <a:lumOff val="80000"/>
                  </a:schemeClr>
                </a:solidFill>
                <a:effectLst>
                  <a:outerShdw blurRad="38100" dist="38100" dir="2700000" algn="tl">
                    <a:srgbClr val="000000">
                      <a:alpha val="43137"/>
                    </a:srgbClr>
                  </a:outerShdw>
                </a:effectLst>
              </a:rPr>
              <a:t>tabuima</a:t>
            </a:r>
          </a:p>
          <a:p>
            <a:r>
              <a:rPr lang="hr-HR" sz="2200" b="1" dirty="0">
                <a:solidFill>
                  <a:schemeClr val="accent1">
                    <a:lumMod val="20000"/>
                    <a:lumOff val="80000"/>
                  </a:schemeClr>
                </a:solidFill>
                <a:effectLst>
                  <a:outerShdw blurRad="38100" dist="38100" dir="2700000" algn="tl">
                    <a:srgbClr val="000000">
                      <a:alpha val="43137"/>
                    </a:srgbClr>
                  </a:outerShdw>
                </a:effectLst>
              </a:rPr>
              <a:t>Tabui </a:t>
            </a:r>
            <a:r>
              <a:rPr lang="hr-HR" sz="2200" dirty="0"/>
              <a:t>su norme koje apsolutno nikad ne bi smjeli prekršiti</a:t>
            </a:r>
          </a:p>
          <a:p>
            <a:r>
              <a:rPr lang="hr-HR" sz="2200" dirty="0"/>
              <a:t>Tabu znači apsolutnu zabranu</a:t>
            </a:r>
          </a:p>
          <a:p>
            <a:r>
              <a:rPr lang="hr-HR" sz="2200" dirty="0"/>
              <a:t>Tu spadaju kanibalizam i incest</a:t>
            </a:r>
          </a:p>
          <a:p>
            <a:r>
              <a:rPr lang="hr-HR" sz="2200" dirty="0"/>
              <a:t>Tabu kanibalizma znači apsolutnu zabranu jedenja ljudskog mesa, a tabu incesta apsolutnu zabranu imanja spolnih odnosa s krvnim srodnicima</a:t>
            </a:r>
          </a:p>
        </p:txBody>
      </p:sp>
    </p:spTree>
    <p:extLst>
      <p:ext uri="{BB962C8B-B14F-4D97-AF65-F5344CB8AC3E}">
        <p14:creationId xmlns:p14="http://schemas.microsoft.com/office/powerpoint/2010/main" val="30595232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hr-HR"/>
          </a:p>
        </p:txBody>
      </p:sp>
      <p:sp>
        <p:nvSpPr>
          <p:cNvPr id="3" name="Content Placeholder 2"/>
          <p:cNvSpPr>
            <a:spLocks noGrp="1"/>
          </p:cNvSpPr>
          <p:nvPr>
            <p:ph idx="1"/>
          </p:nvPr>
        </p:nvSpPr>
        <p:spPr>
          <a:xfrm>
            <a:off x="335361" y="908721"/>
            <a:ext cx="11377264" cy="5339680"/>
          </a:xfrm>
        </p:spPr>
        <p:txBody>
          <a:bodyPr>
            <a:normAutofit/>
          </a:bodyPr>
          <a:lstStyle/>
          <a:p>
            <a:r>
              <a:rPr lang="hr-HR" sz="2400" dirty="0"/>
              <a:t>Zašto je kanibalizam tabu?</a:t>
            </a:r>
          </a:p>
          <a:p>
            <a:r>
              <a:rPr lang="hr-HR" sz="2400" dirty="0"/>
              <a:t>1972. godine srušio se avion u Andama. Od 45 osoba stradalo njih 10. Spasilačke službe nisu odmah mogle pronaći pali avion, pa su ljudi morali čekati skoro 70ak dana da ih pronađu. U tih 70 dana samo ih je 16 preživjelo,a tih 16 osoba preživjelo jedući ljudsko meso. Nakon što su ih pronašli, društvo ih dočekalo raširenih ruku, no uskoro uslijedio hladan tuš. Javnost je počela reagirati i počeli su se pojavljivati natpisi u novinama zašto su preživjeli. Ti natpisi se pojavljivali zato što se kanibalizam smatra tabuom, apsolutnom zabranom. Nikad ne bi smjeli prekršiti tu normu</a:t>
            </a:r>
          </a:p>
          <a:p>
            <a:endParaRPr lang="hr-HR" sz="2400" dirty="0"/>
          </a:p>
          <a:p>
            <a:r>
              <a:rPr lang="hr-HR" sz="2400" dirty="0"/>
              <a:t>Postoje tradicionalna društa koja dozvoljavaju jedenje ljudskog mesa ali prvenstveno u ritualne svrhe, da bi se prenijea </a:t>
            </a:r>
            <a:r>
              <a:rPr lang="hr-HR" sz="2400" i="1" dirty="0"/>
              <a:t>mana</a:t>
            </a:r>
            <a:r>
              <a:rPr lang="hr-HR" sz="2400" dirty="0"/>
              <a:t>, odnosno životna energija s jedne osobe ne drugu</a:t>
            </a:r>
          </a:p>
          <a:p>
            <a:endParaRPr lang="hr-HR" sz="2400" dirty="0"/>
          </a:p>
        </p:txBody>
      </p:sp>
    </p:spTree>
    <p:extLst>
      <p:ext uri="{BB962C8B-B14F-4D97-AF65-F5344CB8AC3E}">
        <p14:creationId xmlns:p14="http://schemas.microsoft.com/office/powerpoint/2010/main" val="2170831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hr-HR"/>
          </a:p>
        </p:txBody>
      </p:sp>
      <p:sp>
        <p:nvSpPr>
          <p:cNvPr id="3" name="Content Placeholder 2"/>
          <p:cNvSpPr>
            <a:spLocks noGrp="1"/>
          </p:cNvSpPr>
          <p:nvPr>
            <p:ph idx="1"/>
          </p:nvPr>
        </p:nvSpPr>
        <p:spPr>
          <a:xfrm>
            <a:off x="1104614" y="1340769"/>
            <a:ext cx="8944211" cy="4907632"/>
          </a:xfrm>
        </p:spPr>
        <p:txBody>
          <a:bodyPr/>
          <a:lstStyle/>
          <a:p>
            <a:r>
              <a:rPr lang="hr-HR" sz="2400" dirty="0"/>
              <a:t>Tabu incesta univerzalniji od tabua kanibalizma</a:t>
            </a:r>
          </a:p>
          <a:p>
            <a:endParaRPr lang="hr-HR" sz="2400" dirty="0"/>
          </a:p>
          <a:p>
            <a:r>
              <a:rPr lang="hr-HR" sz="2400" dirty="0"/>
              <a:t>Smatra se da upravo postojanje tabua incesta je točka prijelaza ljudske vrste iz prirodnog stanja u kulturno stanje</a:t>
            </a:r>
          </a:p>
          <a:p>
            <a:endParaRPr lang="hr-HR" sz="2400" dirty="0"/>
          </a:p>
          <a:p>
            <a:endParaRPr lang="hr-HR" sz="2400" dirty="0"/>
          </a:p>
          <a:p>
            <a:endParaRPr lang="hr-HR" sz="2400" dirty="0"/>
          </a:p>
        </p:txBody>
      </p:sp>
    </p:spTree>
    <p:extLst>
      <p:ext uri="{BB962C8B-B14F-4D97-AF65-F5344CB8AC3E}">
        <p14:creationId xmlns:p14="http://schemas.microsoft.com/office/powerpoint/2010/main" val="19532088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hr-HR"/>
          </a:p>
        </p:txBody>
      </p:sp>
      <p:sp>
        <p:nvSpPr>
          <p:cNvPr id="3" name="Content Placeholder 2"/>
          <p:cNvSpPr>
            <a:spLocks noGrp="1"/>
          </p:cNvSpPr>
          <p:nvPr>
            <p:ph idx="1"/>
          </p:nvPr>
        </p:nvSpPr>
        <p:spPr>
          <a:xfrm>
            <a:off x="1104614" y="836713"/>
            <a:ext cx="8944211" cy="5411688"/>
          </a:xfrm>
        </p:spPr>
        <p:txBody>
          <a:bodyPr>
            <a:normAutofit fontScale="92500" lnSpcReduction="10000"/>
          </a:bodyPr>
          <a:lstStyle/>
          <a:p>
            <a:r>
              <a:rPr lang="hr-HR" dirty="0"/>
              <a:t>Društvo očekuje da se ponašamo prem aodređenim pravilima i sukladno tome reagira na naše ponašanje</a:t>
            </a:r>
          </a:p>
          <a:p>
            <a:r>
              <a:rPr lang="hr-HR" dirty="0"/>
              <a:t>Reakcija društva na naše ponašanje naziva se </a:t>
            </a:r>
            <a:r>
              <a:rPr lang="hr-HR" b="1" dirty="0">
                <a:solidFill>
                  <a:schemeClr val="accent1">
                    <a:lumMod val="20000"/>
                    <a:lumOff val="80000"/>
                  </a:schemeClr>
                </a:solidFill>
                <a:effectLst>
                  <a:outerShdw blurRad="38100" dist="38100" dir="2700000" algn="tl">
                    <a:srgbClr val="000000">
                      <a:alpha val="43137"/>
                    </a:srgbClr>
                  </a:outerShdw>
                </a:effectLst>
              </a:rPr>
              <a:t>SANKCIJOM</a:t>
            </a:r>
          </a:p>
          <a:p>
            <a:endParaRPr lang="hr-HR" dirty="0"/>
          </a:p>
          <a:p>
            <a:endParaRPr lang="hr-HR" dirty="0"/>
          </a:p>
          <a:p>
            <a:endParaRPr lang="hr-HR" dirty="0"/>
          </a:p>
          <a:p>
            <a:endParaRPr lang="hr-HR" dirty="0"/>
          </a:p>
          <a:p>
            <a:endParaRPr lang="hr-HR" dirty="0"/>
          </a:p>
          <a:p>
            <a:endParaRPr lang="hr-HR" dirty="0"/>
          </a:p>
          <a:p>
            <a:endParaRPr lang="hr-HR" dirty="0"/>
          </a:p>
          <a:p>
            <a:endParaRPr lang="hr-HR" dirty="0"/>
          </a:p>
          <a:p>
            <a:r>
              <a:rPr lang="hr-HR" dirty="0"/>
              <a:t>Formalne su reakcije od strane državnih institucija, a neformalne su reakcije od strane društva, naših prijatelja ili poznanika</a:t>
            </a:r>
          </a:p>
          <a:p>
            <a:r>
              <a:rPr lang="hr-HR" dirty="0"/>
              <a:t>Ocjena 5 i ocjena 1?</a:t>
            </a:r>
          </a:p>
        </p:txBody>
      </p:sp>
      <p:graphicFrame>
        <p:nvGraphicFramePr>
          <p:cNvPr id="4" name="Table 3"/>
          <p:cNvGraphicFramePr>
            <a:graphicFrameLocks noGrp="1"/>
          </p:cNvGraphicFramePr>
          <p:nvPr>
            <p:extLst/>
          </p:nvPr>
        </p:nvGraphicFramePr>
        <p:xfrm>
          <a:off x="1513776" y="2708922"/>
          <a:ext cx="8125884" cy="2336655"/>
        </p:xfrm>
        <a:graphic>
          <a:graphicData uri="http://schemas.openxmlformats.org/drawingml/2006/table">
            <a:tbl>
              <a:tblPr firstRow="1" bandRow="1">
                <a:tableStyleId>{69CF1AB2-1976-4502-BF36-3FF5EA218861}</a:tableStyleId>
              </a:tblPr>
              <a:tblGrid>
                <a:gridCol w="2708628">
                  <a:extLst>
                    <a:ext uri="{9D8B030D-6E8A-4147-A177-3AD203B41FA5}">
                      <a16:colId xmlns:a16="http://schemas.microsoft.com/office/drawing/2014/main" val="10044566"/>
                    </a:ext>
                  </a:extLst>
                </a:gridCol>
                <a:gridCol w="2708628">
                  <a:extLst>
                    <a:ext uri="{9D8B030D-6E8A-4147-A177-3AD203B41FA5}">
                      <a16:colId xmlns:a16="http://schemas.microsoft.com/office/drawing/2014/main" val="2396894488"/>
                    </a:ext>
                  </a:extLst>
                </a:gridCol>
                <a:gridCol w="2708628">
                  <a:extLst>
                    <a:ext uri="{9D8B030D-6E8A-4147-A177-3AD203B41FA5}">
                      <a16:colId xmlns:a16="http://schemas.microsoft.com/office/drawing/2014/main" val="808383537"/>
                    </a:ext>
                  </a:extLst>
                </a:gridCol>
              </a:tblGrid>
              <a:tr h="778885">
                <a:tc>
                  <a:txBody>
                    <a:bodyPr/>
                    <a:lstStyle/>
                    <a:p>
                      <a:pPr algn="ctr"/>
                      <a:r>
                        <a:rPr lang="hr-HR" dirty="0"/>
                        <a:t>SANKCIJE</a:t>
                      </a:r>
                    </a:p>
                  </a:txBody>
                  <a:tcPr/>
                </a:tc>
                <a:tc>
                  <a:txBody>
                    <a:bodyPr/>
                    <a:lstStyle/>
                    <a:p>
                      <a:pPr algn="ctr"/>
                      <a:r>
                        <a:rPr lang="hr-HR" dirty="0"/>
                        <a:t>POZITIVNE </a:t>
                      </a:r>
                    </a:p>
                  </a:txBody>
                  <a:tcPr/>
                </a:tc>
                <a:tc>
                  <a:txBody>
                    <a:bodyPr/>
                    <a:lstStyle/>
                    <a:p>
                      <a:pPr algn="ctr"/>
                      <a:r>
                        <a:rPr lang="hr-HR" dirty="0"/>
                        <a:t>NEGATIVNE</a:t>
                      </a:r>
                    </a:p>
                  </a:txBody>
                  <a:tcPr/>
                </a:tc>
                <a:extLst>
                  <a:ext uri="{0D108BD9-81ED-4DB2-BD59-A6C34878D82A}">
                    <a16:rowId xmlns:a16="http://schemas.microsoft.com/office/drawing/2014/main" val="2533860699"/>
                  </a:ext>
                </a:extLst>
              </a:tr>
              <a:tr h="778885">
                <a:tc>
                  <a:txBody>
                    <a:bodyPr/>
                    <a:lstStyle/>
                    <a:p>
                      <a:pPr algn="ctr"/>
                      <a:r>
                        <a:rPr lang="hr-HR" b="1" dirty="0"/>
                        <a:t>FORMALNE</a:t>
                      </a:r>
                    </a:p>
                  </a:txBody>
                  <a:tcPr/>
                </a:tc>
                <a:tc>
                  <a:txBody>
                    <a:bodyPr/>
                    <a:lstStyle/>
                    <a:p>
                      <a:pPr algn="ctr"/>
                      <a:r>
                        <a:rPr lang="hr-HR" dirty="0"/>
                        <a:t>POVEĆANJE PLAĆE</a:t>
                      </a:r>
                    </a:p>
                    <a:p>
                      <a:pPr algn="ctr"/>
                      <a:r>
                        <a:rPr lang="hr-HR" dirty="0"/>
                        <a:t>DIPLOMA</a:t>
                      </a:r>
                    </a:p>
                  </a:txBody>
                  <a:tcPr/>
                </a:tc>
                <a:tc>
                  <a:txBody>
                    <a:bodyPr/>
                    <a:lstStyle/>
                    <a:p>
                      <a:pPr algn="ctr"/>
                      <a:r>
                        <a:rPr lang="hr-HR" dirty="0"/>
                        <a:t>NOVČANA KAZNA</a:t>
                      </a:r>
                    </a:p>
                    <a:p>
                      <a:pPr algn="ctr"/>
                      <a:r>
                        <a:rPr lang="hr-HR" dirty="0"/>
                        <a:t>ZATVORSKA</a:t>
                      </a:r>
                      <a:r>
                        <a:rPr lang="hr-HR" baseline="0" dirty="0"/>
                        <a:t> KAZNA</a:t>
                      </a:r>
                      <a:endParaRPr lang="hr-HR" dirty="0"/>
                    </a:p>
                  </a:txBody>
                  <a:tcPr/>
                </a:tc>
                <a:extLst>
                  <a:ext uri="{0D108BD9-81ED-4DB2-BD59-A6C34878D82A}">
                    <a16:rowId xmlns:a16="http://schemas.microsoft.com/office/drawing/2014/main" val="2850502722"/>
                  </a:ext>
                </a:extLst>
              </a:tr>
              <a:tr h="778885">
                <a:tc>
                  <a:txBody>
                    <a:bodyPr/>
                    <a:lstStyle/>
                    <a:p>
                      <a:pPr algn="ctr"/>
                      <a:r>
                        <a:rPr lang="hr-HR" b="1" dirty="0"/>
                        <a:t>NEFORMALNE</a:t>
                      </a:r>
                    </a:p>
                  </a:txBody>
                  <a:tcPr/>
                </a:tc>
                <a:tc>
                  <a:txBody>
                    <a:bodyPr/>
                    <a:lstStyle/>
                    <a:p>
                      <a:pPr algn="ctr"/>
                      <a:r>
                        <a:rPr lang="hr-HR" dirty="0"/>
                        <a:t>OSMIJEH</a:t>
                      </a:r>
                    </a:p>
                    <a:p>
                      <a:pPr algn="ctr"/>
                      <a:r>
                        <a:rPr lang="hr-HR" dirty="0"/>
                        <a:t>POZDRAV</a:t>
                      </a:r>
                    </a:p>
                  </a:txBody>
                  <a:tcPr/>
                </a:tc>
                <a:tc>
                  <a:txBody>
                    <a:bodyPr/>
                    <a:lstStyle/>
                    <a:p>
                      <a:pPr algn="ctr"/>
                      <a:r>
                        <a:rPr lang="hr-HR" dirty="0"/>
                        <a:t>PONIŽENJE </a:t>
                      </a:r>
                    </a:p>
                    <a:p>
                      <a:pPr algn="ctr"/>
                      <a:r>
                        <a:rPr lang="hr-HR" dirty="0"/>
                        <a:t>UVREDA</a:t>
                      </a:r>
                    </a:p>
                  </a:txBody>
                  <a:tcPr/>
                </a:tc>
                <a:extLst>
                  <a:ext uri="{0D108BD9-81ED-4DB2-BD59-A6C34878D82A}">
                    <a16:rowId xmlns:a16="http://schemas.microsoft.com/office/drawing/2014/main" val="1240750850"/>
                  </a:ext>
                </a:extLst>
              </a:tr>
            </a:tbl>
          </a:graphicData>
        </a:graphic>
      </p:graphicFrame>
      <p:sp>
        <p:nvSpPr>
          <p:cNvPr id="5" name="Explosion 1 4"/>
          <p:cNvSpPr/>
          <p:nvPr/>
        </p:nvSpPr>
        <p:spPr>
          <a:xfrm>
            <a:off x="865704" y="5545216"/>
            <a:ext cx="648072" cy="504056"/>
          </a:xfrm>
          <a:prstGeom prst="irregularSeal1">
            <a:avLst/>
          </a:prstGeom>
          <a:solidFill>
            <a:schemeClr val="tx1"/>
          </a:solidFill>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Tree>
    <p:extLst>
      <p:ext uri="{BB962C8B-B14F-4D97-AF65-F5344CB8AC3E}">
        <p14:creationId xmlns:p14="http://schemas.microsoft.com/office/powerpoint/2010/main" val="450019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7531" y="116632"/>
            <a:ext cx="9402274" cy="1080120"/>
          </a:xfrm>
        </p:spPr>
        <p:txBody>
          <a:bodyPr/>
          <a:lstStyle/>
          <a:p>
            <a:pPr algn="ctr"/>
            <a:r>
              <a:rPr lang="hr-HR" b="1" dirty="0"/>
              <a:t>VRIJEDNOSTI</a:t>
            </a:r>
          </a:p>
        </p:txBody>
      </p:sp>
      <p:sp>
        <p:nvSpPr>
          <p:cNvPr id="3" name="Content Placeholder 2"/>
          <p:cNvSpPr>
            <a:spLocks noGrp="1"/>
          </p:cNvSpPr>
          <p:nvPr>
            <p:ph idx="1"/>
          </p:nvPr>
        </p:nvSpPr>
        <p:spPr>
          <a:xfrm>
            <a:off x="1588" y="980729"/>
            <a:ext cx="11999068" cy="5688632"/>
          </a:xfrm>
        </p:spPr>
        <p:txBody>
          <a:bodyPr>
            <a:normAutofit lnSpcReduction="10000"/>
          </a:bodyPr>
          <a:lstStyle/>
          <a:p>
            <a:r>
              <a:rPr lang="en-US" sz="2200" dirty="0" err="1"/>
              <a:t>Apstraktne</a:t>
            </a:r>
            <a:r>
              <a:rPr lang="en-US" sz="2200" dirty="0"/>
              <a:t> </a:t>
            </a:r>
            <a:r>
              <a:rPr lang="en-US" sz="2200" dirty="0" err="1"/>
              <a:t>ideje</a:t>
            </a:r>
            <a:r>
              <a:rPr lang="en-US" sz="2200" dirty="0"/>
              <a:t> o tome </a:t>
            </a:r>
            <a:r>
              <a:rPr lang="en-US" sz="2200" dirty="0" err="1"/>
              <a:t>što</a:t>
            </a:r>
            <a:r>
              <a:rPr lang="en-US" sz="2200" dirty="0"/>
              <a:t> je </a:t>
            </a:r>
            <a:r>
              <a:rPr lang="en-US" sz="2200" dirty="0" err="1"/>
              <a:t>vrijedno</a:t>
            </a:r>
            <a:r>
              <a:rPr lang="en-US" sz="2200" dirty="0"/>
              <a:t>, </a:t>
            </a:r>
            <a:r>
              <a:rPr lang="en-US" sz="2200" dirty="0" err="1"/>
              <a:t>ispravno</a:t>
            </a:r>
            <a:r>
              <a:rPr lang="en-US" sz="2200" dirty="0"/>
              <a:t> </a:t>
            </a:r>
            <a:r>
              <a:rPr lang="hr-HR" sz="2200" dirty="0"/>
              <a:t>i poželjno nazivamo </a:t>
            </a:r>
            <a:r>
              <a:rPr lang="hr-HR" sz="2200" b="1" dirty="0">
                <a:solidFill>
                  <a:schemeClr val="accent1">
                    <a:lumMod val="20000"/>
                    <a:lumOff val="80000"/>
                  </a:schemeClr>
                </a:solidFill>
                <a:effectLst>
                  <a:outerShdw blurRad="38100" dist="38100" dir="2700000" algn="tl">
                    <a:srgbClr val="000000">
                      <a:alpha val="43137"/>
                    </a:srgbClr>
                  </a:outerShdw>
                </a:effectLst>
              </a:rPr>
              <a:t>vrijednostima</a:t>
            </a:r>
          </a:p>
          <a:p>
            <a:r>
              <a:rPr lang="hr-HR" sz="2200" dirty="0"/>
              <a:t>One ne propisuju izravno što je prihvatljivo ili neprihvatljivo ponašanje nego služe kao mjerilo za prosudbu ljudi, pojava ili događaja</a:t>
            </a:r>
          </a:p>
          <a:p>
            <a:r>
              <a:rPr lang="hr-HR" sz="2200" dirty="0"/>
              <a:t>Društvene norme nastaju na temelju društvenih vrijednosti</a:t>
            </a:r>
          </a:p>
          <a:p>
            <a:r>
              <a:rPr lang="hr-HR" sz="2200" dirty="0"/>
              <a:t>Primjer vrijednosti </a:t>
            </a:r>
            <a:r>
              <a:rPr lang="hr-HR" sz="2200" i="1" dirty="0"/>
              <a:t>ljudski život </a:t>
            </a:r>
            <a:r>
              <a:rPr lang="hr-HR" sz="2200" dirty="0"/>
              <a:t>– različite društvene norme nam omogućuju da ostvarujemo tu vrijednost</a:t>
            </a:r>
          </a:p>
          <a:p>
            <a:r>
              <a:rPr lang="hr-HR" sz="2200" dirty="0"/>
              <a:t>Te različite društvene norme bi bile norma </a:t>
            </a:r>
            <a:r>
              <a:rPr lang="hr-HR" sz="2200" i="1" dirty="0"/>
              <a:t>Ne ubij </a:t>
            </a:r>
            <a:r>
              <a:rPr lang="hr-HR" sz="2200" dirty="0"/>
              <a:t>ili pridržavanje pravila za održavanje higijene ili pridržavanje prehrambenih pravila</a:t>
            </a:r>
          </a:p>
          <a:p>
            <a:r>
              <a:rPr lang="hr-HR" sz="2200" dirty="0"/>
              <a:t>Vrijednosti se razlikuju od kulture do kulture</a:t>
            </a:r>
          </a:p>
          <a:p>
            <a:r>
              <a:rPr lang="hr-HR" sz="2200" dirty="0"/>
              <a:t>Neke kulture više cijene </a:t>
            </a:r>
            <a:r>
              <a:rPr lang="hr-HR" sz="2200" b="1" dirty="0"/>
              <a:t>individualizam</a:t>
            </a:r>
            <a:r>
              <a:rPr lang="hr-HR" sz="2200" dirty="0"/>
              <a:t>, a neke više cijene </a:t>
            </a:r>
            <a:r>
              <a:rPr lang="hr-HR" sz="2200" b="1" dirty="0"/>
              <a:t>kolektivizam</a:t>
            </a:r>
          </a:p>
          <a:p>
            <a:r>
              <a:rPr lang="hr-HR" sz="2200" dirty="0"/>
              <a:t>Te vrijednosti možemo uočiti u obrazovnom sustavu Amerike i Rusije – u američkom društvu se neće blagonaklono gledati na prepisivanje tuđeg testa jer se time narušava vrijednsot individualnog postignuća. Za razliku od ruskog društva koje njeguje kolektivizam kao vrijednost gdje će si učenici pomagati i dopuštati međusobno prepisivanje</a:t>
            </a:r>
          </a:p>
        </p:txBody>
      </p:sp>
    </p:spTree>
    <p:extLst>
      <p:ext uri="{BB962C8B-B14F-4D97-AF65-F5344CB8AC3E}">
        <p14:creationId xmlns:p14="http://schemas.microsoft.com/office/powerpoint/2010/main" val="112251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hr-HR"/>
          </a:p>
        </p:txBody>
      </p:sp>
      <p:sp>
        <p:nvSpPr>
          <p:cNvPr id="3" name="Content Placeholder 2"/>
          <p:cNvSpPr>
            <a:spLocks noGrp="1"/>
          </p:cNvSpPr>
          <p:nvPr>
            <p:ph idx="1"/>
          </p:nvPr>
        </p:nvSpPr>
        <p:spPr/>
        <p:txBody>
          <a:bodyPr>
            <a:normAutofit/>
          </a:bodyPr>
          <a:lstStyle/>
          <a:p>
            <a:pPr marL="0" indent="0">
              <a:buNone/>
            </a:pPr>
            <a:r>
              <a:rPr lang="hr-HR" sz="2400" dirty="0"/>
              <a:t>U Bilježnicu upišite pet osobnih vrijednosti.</a:t>
            </a:r>
          </a:p>
          <a:p>
            <a:pPr marL="0" indent="0">
              <a:buNone/>
            </a:pPr>
            <a:r>
              <a:rPr lang="hr-HR" sz="2400" dirty="0"/>
              <a:t>Poredajte ih prema važnosti koje te vrijednosti imaju za vas. Komentirajte sa svojom kolegicom/kolegom iz razreda koliko su slične odnosno različite vaše liste vrijednosti</a:t>
            </a:r>
          </a:p>
        </p:txBody>
      </p:sp>
      <p:sp>
        <p:nvSpPr>
          <p:cNvPr id="4" name="Explosion 1 3"/>
          <p:cNvSpPr/>
          <p:nvPr/>
        </p:nvSpPr>
        <p:spPr>
          <a:xfrm>
            <a:off x="482230" y="2038412"/>
            <a:ext cx="648072" cy="504056"/>
          </a:xfrm>
          <a:prstGeom prst="irregularSeal1">
            <a:avLst/>
          </a:prstGeom>
          <a:solidFill>
            <a:schemeClr val="tx1"/>
          </a:solidFill>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Tree>
    <p:extLst>
      <p:ext uri="{BB962C8B-B14F-4D97-AF65-F5344CB8AC3E}">
        <p14:creationId xmlns:p14="http://schemas.microsoft.com/office/powerpoint/2010/main" val="6932165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hr-HR" dirty="0"/>
          </a:p>
        </p:txBody>
      </p:sp>
      <p:sp>
        <p:nvSpPr>
          <p:cNvPr id="3" name="Content Placeholder 2"/>
          <p:cNvSpPr>
            <a:spLocks noGrp="1"/>
          </p:cNvSpPr>
          <p:nvPr>
            <p:ph idx="1"/>
          </p:nvPr>
        </p:nvSpPr>
        <p:spPr>
          <a:xfrm>
            <a:off x="803950" y="908721"/>
            <a:ext cx="9396507" cy="5483097"/>
          </a:xfrm>
        </p:spPr>
        <p:txBody>
          <a:bodyPr/>
          <a:lstStyle/>
          <a:p>
            <a:r>
              <a:rPr lang="hr-HR" dirty="0"/>
              <a:t>Osim normi i vrijednosti, svaka kultura koristi </a:t>
            </a:r>
            <a:r>
              <a:rPr lang="hr-HR" b="1" dirty="0">
                <a:solidFill>
                  <a:schemeClr val="accent1">
                    <a:lumMod val="20000"/>
                    <a:lumOff val="80000"/>
                  </a:schemeClr>
                </a:solidFill>
                <a:effectLst>
                  <a:outerShdw blurRad="38100" dist="38100" dir="2700000" algn="tl">
                    <a:srgbClr val="000000">
                      <a:alpha val="43137"/>
                    </a:srgbClr>
                  </a:outerShdw>
                </a:effectLst>
              </a:rPr>
              <a:t>simbole </a:t>
            </a:r>
          </a:p>
          <a:p>
            <a:pPr marL="0" indent="0">
              <a:buNone/>
            </a:pPr>
            <a:r>
              <a:rPr lang="hr-HR" dirty="0"/>
              <a:t>Koje su od ovih slika ujedno i simboli?</a:t>
            </a:r>
          </a:p>
          <a:p>
            <a:pPr marL="0" indent="0">
              <a:buNone/>
            </a:pPr>
            <a:r>
              <a:rPr lang="hr-HR" dirty="0"/>
              <a:t>Sve!</a:t>
            </a:r>
          </a:p>
          <a:p>
            <a:pPr>
              <a:buFont typeface="Wingdings" panose="05000000000000000000" pitchFamily="2" charset="2"/>
              <a:buChar char="v"/>
            </a:pPr>
            <a:r>
              <a:rPr lang="hr-HR" b="1" dirty="0">
                <a:solidFill>
                  <a:schemeClr val="accent1">
                    <a:lumMod val="20000"/>
                    <a:lumOff val="80000"/>
                  </a:schemeClr>
                </a:solidFill>
                <a:effectLst>
                  <a:outerShdw blurRad="38100" dist="38100" dir="2700000" algn="tl">
                    <a:srgbClr val="000000">
                      <a:alpha val="43137"/>
                    </a:srgbClr>
                  </a:outerShdw>
                </a:effectLst>
              </a:rPr>
              <a:t>Simbol je fenomen kojemu je društveno pripisano određeno značenje</a:t>
            </a:r>
          </a:p>
          <a:p>
            <a:r>
              <a:rPr lang="hr-HR" dirty="0"/>
              <a:t>Tetovaža može biti ukras, osobni svjetonazor ili označavanje religijske pripadnosti</a:t>
            </a:r>
            <a:endParaRPr lang="en-US" dirty="0"/>
          </a:p>
          <a:p>
            <a:r>
              <a:rPr lang="en-US" dirty="0" err="1"/>
              <a:t>Pronađite</a:t>
            </a:r>
            <a:r>
              <a:rPr lang="en-US" dirty="0"/>
              <a:t> </a:t>
            </a:r>
            <a:r>
              <a:rPr lang="en-US" dirty="0" err="1"/>
              <a:t>na</a:t>
            </a:r>
            <a:r>
              <a:rPr lang="en-US" dirty="0"/>
              <a:t> </a:t>
            </a:r>
            <a:r>
              <a:rPr lang="en-US" dirty="0" err="1"/>
              <a:t>društvenim</a:t>
            </a:r>
            <a:r>
              <a:rPr lang="en-US" dirty="0"/>
              <a:t> </a:t>
            </a:r>
            <a:r>
              <a:rPr lang="en-US" dirty="0" err="1"/>
              <a:t>mrežama</a:t>
            </a:r>
            <a:r>
              <a:rPr lang="en-US" dirty="0"/>
              <a:t> </a:t>
            </a:r>
            <a:r>
              <a:rPr lang="en-US" dirty="0" err="1"/>
              <a:t>primjer</a:t>
            </a:r>
            <a:r>
              <a:rPr lang="en-US" dirty="0"/>
              <a:t> </a:t>
            </a:r>
            <a:r>
              <a:rPr lang="hr-HR" dirty="0"/>
              <a:t>tetovaže kojom se označava religijska pripadost</a:t>
            </a:r>
          </a:p>
          <a:p>
            <a:r>
              <a:rPr lang="hr-HR" dirty="0"/>
              <a:t>...tetovaže katolika u srednjoj Bosni</a:t>
            </a:r>
          </a:p>
        </p:txBody>
      </p:sp>
      <p:pic>
        <p:nvPicPr>
          <p:cNvPr id="12290" name="Picture 2" descr="Ink positive: how tattoos can heal the mind as well as adorn the body |  Psychology | The Guardia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9" y="4602571"/>
            <a:ext cx="3728035" cy="2236821"/>
          </a:xfrm>
          <a:prstGeom prst="rect">
            <a:avLst/>
          </a:prstGeom>
          <a:noFill/>
          <a:extLst>
            <a:ext uri="{909E8E84-426E-40DD-AFC4-6F175D3DCCD1}">
              <a14:hiddenFill xmlns:a14="http://schemas.microsoft.com/office/drawing/2010/main">
                <a:solidFill>
                  <a:srgbClr val="FFFFFF"/>
                </a:solidFill>
              </a14:hiddenFill>
            </a:ext>
          </a:extLst>
        </p:spPr>
      </p:pic>
      <p:pic>
        <p:nvPicPr>
          <p:cNvPr id="12292" name="Picture 4" descr="Premium Vector | Set of facebook emoji on a white background big set of 25  emoticon smile icons cartoon emoji set"/>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776658">
            <a:off x="9505994" y="4102690"/>
            <a:ext cx="2121868" cy="2121868"/>
          </a:xfrm>
          <a:prstGeom prst="rect">
            <a:avLst/>
          </a:prstGeom>
          <a:noFill/>
          <a:extLst>
            <a:ext uri="{909E8E84-426E-40DD-AFC4-6F175D3DCCD1}">
              <a14:hiddenFill xmlns:a14="http://schemas.microsoft.com/office/drawing/2010/main">
                <a:solidFill>
                  <a:srgbClr val="FFFFFF"/>
                </a:solidFill>
              </a14:hiddenFill>
            </a:ext>
          </a:extLst>
        </p:spPr>
      </p:pic>
      <p:pic>
        <p:nvPicPr>
          <p:cNvPr id="12294" name="Picture 6" descr="Hand heart - Wikipedia"/>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1230242">
            <a:off x="9372184" y="790169"/>
            <a:ext cx="2389486" cy="1628056"/>
          </a:xfrm>
          <a:prstGeom prst="rect">
            <a:avLst/>
          </a:prstGeom>
          <a:noFill/>
          <a:extLst>
            <a:ext uri="{909E8E84-426E-40DD-AFC4-6F175D3DCCD1}">
              <a14:hiddenFill xmlns:a14="http://schemas.microsoft.com/office/drawing/2010/main">
                <a:solidFill>
                  <a:srgbClr val="FFFFFF"/>
                </a:solidFill>
              </a14:hiddenFill>
            </a:ext>
          </a:extLst>
        </p:spPr>
      </p:pic>
      <p:pic>
        <p:nvPicPr>
          <p:cNvPr id="12298" name="Picture 10" descr="peace icon vector sign. pacifism, antiwar flat style symbol for web site  and mobile app. Free Vector 4154515 Vector Art at Vecteez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20491749">
            <a:off x="7204895" y="4553155"/>
            <a:ext cx="1330894" cy="1330894"/>
          </a:xfrm>
          <a:prstGeom prst="rect">
            <a:avLst/>
          </a:prstGeom>
          <a:noFill/>
          <a:extLst>
            <a:ext uri="{909E8E84-426E-40DD-AFC4-6F175D3DCCD1}">
              <a14:hiddenFill xmlns:a14="http://schemas.microsoft.com/office/drawing/2010/main">
                <a:solidFill>
                  <a:srgbClr val="FFFFFF"/>
                </a:solidFill>
              </a14:hiddenFill>
            </a:ext>
          </a:extLst>
        </p:spPr>
      </p:pic>
      <p:pic>
        <p:nvPicPr>
          <p:cNvPr id="12300" name="Picture 12" descr="yang i yin | Hrvatska enciklopedija"/>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647502" y="5218604"/>
            <a:ext cx="1402333" cy="1418887"/>
          </a:xfrm>
          <a:prstGeom prst="rect">
            <a:avLst/>
          </a:prstGeom>
          <a:noFill/>
          <a:extLst>
            <a:ext uri="{909E8E84-426E-40DD-AFC4-6F175D3DCCD1}">
              <a14:hiddenFill xmlns:a14="http://schemas.microsoft.com/office/drawing/2010/main">
                <a:solidFill>
                  <a:srgbClr val="FFFFFF"/>
                </a:solidFill>
              </a14:hiddenFill>
            </a:ext>
          </a:extLst>
        </p:spPr>
      </p:pic>
      <p:sp>
        <p:nvSpPr>
          <p:cNvPr id="10" name="Explosion 1 9"/>
          <p:cNvSpPr/>
          <p:nvPr/>
        </p:nvSpPr>
        <p:spPr>
          <a:xfrm>
            <a:off x="172844" y="1334556"/>
            <a:ext cx="648072" cy="504056"/>
          </a:xfrm>
          <a:prstGeom prst="irregularSeal1">
            <a:avLst/>
          </a:prstGeom>
          <a:solidFill>
            <a:schemeClr val="tx1"/>
          </a:solidFill>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Tree>
    <p:extLst>
      <p:ext uri="{BB962C8B-B14F-4D97-AF65-F5344CB8AC3E}">
        <p14:creationId xmlns:p14="http://schemas.microsoft.com/office/powerpoint/2010/main" val="4020518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0"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hr-HR"/>
          </a:p>
        </p:txBody>
      </p:sp>
      <p:sp>
        <p:nvSpPr>
          <p:cNvPr id="3" name="Content Placeholder 2"/>
          <p:cNvSpPr>
            <a:spLocks noGrp="1"/>
          </p:cNvSpPr>
          <p:nvPr>
            <p:ph idx="1"/>
          </p:nvPr>
        </p:nvSpPr>
        <p:spPr/>
        <p:txBody>
          <a:bodyPr>
            <a:normAutofit/>
          </a:bodyPr>
          <a:lstStyle/>
          <a:p>
            <a:r>
              <a:rPr lang="hr-HR" sz="2400" dirty="0"/>
              <a:t>Simboli su svuda oko nas</a:t>
            </a:r>
          </a:p>
          <a:p>
            <a:r>
              <a:rPr lang="hr-HR" sz="2400" dirty="0"/>
              <a:t>Simboli države?</a:t>
            </a:r>
          </a:p>
          <a:p>
            <a:r>
              <a:rPr lang="hr-HR" sz="2400" dirty="0"/>
              <a:t>Zastava i grb</a:t>
            </a:r>
          </a:p>
          <a:p>
            <a:r>
              <a:rPr lang="hr-HR" sz="2400" dirty="0"/>
              <a:t>Socijalni pokreti i subkulture</a:t>
            </a:r>
          </a:p>
          <a:p>
            <a:r>
              <a:rPr lang="hr-HR" sz="2400" dirty="0"/>
              <a:t>Npr. simbol mira...</a:t>
            </a:r>
          </a:p>
          <a:p>
            <a:r>
              <a:rPr lang="hr-HR" sz="2400" dirty="0"/>
              <a:t>Crvena boja na ruži simbol ljubavi</a:t>
            </a:r>
          </a:p>
          <a:p>
            <a:r>
              <a:rPr lang="hr-HR" sz="2400" dirty="0"/>
              <a:t>Na semaforu crvena boja znači </a:t>
            </a:r>
            <a:r>
              <a:rPr lang="en-US" sz="2400" dirty="0"/>
              <a:t>n</a:t>
            </a:r>
            <a:r>
              <a:rPr lang="hr-HR" sz="2400" dirty="0"/>
              <a:t>ešto drugo</a:t>
            </a:r>
          </a:p>
        </p:txBody>
      </p:sp>
    </p:spTree>
    <p:extLst>
      <p:ext uri="{BB962C8B-B14F-4D97-AF65-F5344CB8AC3E}">
        <p14:creationId xmlns:p14="http://schemas.microsoft.com/office/powerpoint/2010/main" val="2106228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hr-HR" dirty="0"/>
              <a:t>Jezik </a:t>
            </a:r>
          </a:p>
        </p:txBody>
      </p:sp>
      <p:sp>
        <p:nvSpPr>
          <p:cNvPr id="3" name="Content Placeholder 2"/>
          <p:cNvSpPr>
            <a:spLocks noGrp="1"/>
          </p:cNvSpPr>
          <p:nvPr>
            <p:ph idx="1"/>
          </p:nvPr>
        </p:nvSpPr>
        <p:spPr>
          <a:xfrm>
            <a:off x="1104614" y="1484785"/>
            <a:ext cx="8944211" cy="5256583"/>
          </a:xfrm>
        </p:spPr>
        <p:txBody>
          <a:bodyPr>
            <a:normAutofit/>
          </a:bodyPr>
          <a:lstStyle/>
          <a:p>
            <a:r>
              <a:rPr lang="hr-HR" sz="2200" dirty="0"/>
              <a:t>Simbol je i </a:t>
            </a:r>
            <a:r>
              <a:rPr lang="hr-HR" sz="2200" b="1" dirty="0">
                <a:solidFill>
                  <a:schemeClr val="accent1">
                    <a:lumMod val="20000"/>
                    <a:lumOff val="80000"/>
                  </a:schemeClr>
                </a:solidFill>
                <a:effectLst>
                  <a:outerShdw blurRad="38100" dist="38100" dir="2700000" algn="tl">
                    <a:srgbClr val="000000">
                      <a:alpha val="43137"/>
                    </a:srgbClr>
                  </a:outerShdw>
                </a:effectLst>
              </a:rPr>
              <a:t>jezik</a:t>
            </a:r>
          </a:p>
          <a:p>
            <a:r>
              <a:rPr lang="hr-HR" sz="2200" b="1" dirty="0">
                <a:solidFill>
                  <a:schemeClr val="accent1">
                    <a:lumMod val="20000"/>
                    <a:lumOff val="80000"/>
                  </a:schemeClr>
                </a:solidFill>
                <a:effectLst>
                  <a:outerShdw blurRad="38100" dist="38100" dir="2700000" algn="tl">
                    <a:srgbClr val="000000">
                      <a:alpha val="43137"/>
                    </a:srgbClr>
                  </a:outerShdw>
                </a:effectLst>
              </a:rPr>
              <a:t>Jezik </a:t>
            </a:r>
            <a:r>
              <a:rPr lang="hr-HR" sz="2200" dirty="0"/>
              <a:t>kao najbitnija komponenta ljudske kulture omogućava nam da najlakše prenesemo kulturu novim generacijama</a:t>
            </a:r>
          </a:p>
          <a:p>
            <a:r>
              <a:rPr lang="hr-HR" sz="2200" dirty="0"/>
              <a:t>S jezikom ne imenujemo samo određene predmete, nego i doživljavanje različite stvarnosti</a:t>
            </a:r>
          </a:p>
          <a:p>
            <a:r>
              <a:rPr lang="hr-HR" sz="2200" dirty="0"/>
              <a:t>U hrvatskom jetiku postoje riječi strah i sram i one omogućavaju da razlikujemo ta dva osjećaja</a:t>
            </a:r>
          </a:p>
          <a:p>
            <a:r>
              <a:rPr lang="hr-HR" sz="2200" dirty="0"/>
              <a:t>Australski Aboridžini, za razliku od nas, nemaju odvojene riječi za te osjećaje. Imaju jednu riječ</a:t>
            </a:r>
          </a:p>
          <a:p>
            <a:r>
              <a:rPr lang="hr-HR" sz="2200" dirty="0"/>
              <a:t>Na društvenim mrežama sve se više skraćuje jezik i koriste simboli</a:t>
            </a:r>
          </a:p>
          <a:p>
            <a:r>
              <a:rPr lang="hr-HR" sz="2200" dirty="0"/>
              <a:t>Koristite li vi skraćenice u virtualnom prostoru? Koje?</a:t>
            </a:r>
          </a:p>
        </p:txBody>
      </p:sp>
    </p:spTree>
    <p:extLst>
      <p:ext uri="{BB962C8B-B14F-4D97-AF65-F5344CB8AC3E}">
        <p14:creationId xmlns:p14="http://schemas.microsoft.com/office/powerpoint/2010/main" val="1167661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7531" y="548680"/>
            <a:ext cx="9402274" cy="1224136"/>
          </a:xfrm>
        </p:spPr>
        <p:txBody>
          <a:bodyPr/>
          <a:lstStyle/>
          <a:p>
            <a:pPr algn="ctr"/>
            <a:r>
              <a:rPr lang="hr-HR" dirty="0"/>
              <a:t>Rituali </a:t>
            </a:r>
          </a:p>
        </p:txBody>
      </p:sp>
      <p:sp>
        <p:nvSpPr>
          <p:cNvPr id="3" name="Content Placeholder 2"/>
          <p:cNvSpPr>
            <a:spLocks noGrp="1"/>
          </p:cNvSpPr>
          <p:nvPr>
            <p:ph idx="1"/>
          </p:nvPr>
        </p:nvSpPr>
        <p:spPr>
          <a:xfrm>
            <a:off x="1104614" y="3212976"/>
            <a:ext cx="10896043" cy="3645024"/>
          </a:xfrm>
        </p:spPr>
        <p:txBody>
          <a:bodyPr>
            <a:normAutofit/>
          </a:bodyPr>
          <a:lstStyle/>
          <a:p>
            <a:r>
              <a:rPr lang="hr-HR" sz="2200" b="1" dirty="0">
                <a:solidFill>
                  <a:schemeClr val="accent1">
                    <a:lumMod val="20000"/>
                    <a:lumOff val="80000"/>
                  </a:schemeClr>
                </a:solidFill>
                <a:effectLst>
                  <a:outerShdw blurRad="38100" dist="38100" dir="2700000" algn="tl">
                    <a:srgbClr val="000000">
                      <a:alpha val="43137"/>
                    </a:srgbClr>
                  </a:outerShdw>
                </a:effectLst>
              </a:rPr>
              <a:t>Rituali</a:t>
            </a:r>
            <a:r>
              <a:rPr lang="hr-HR" sz="2200" dirty="0"/>
              <a:t> su načini izražavanja središnjih vrijednosti nekog društva</a:t>
            </a:r>
          </a:p>
          <a:p>
            <a:r>
              <a:rPr lang="hr-HR" sz="2200" b="1" dirty="0"/>
              <a:t>RITUALI SOLIDARNOSTI </a:t>
            </a:r>
            <a:r>
              <a:rPr lang="hr-HR" sz="2200" dirty="0"/>
              <a:t>i </a:t>
            </a:r>
            <a:r>
              <a:rPr lang="hr-HR" sz="2200" b="1" dirty="0"/>
              <a:t>RITUALI PRIJELAZA</a:t>
            </a:r>
          </a:p>
          <a:p>
            <a:pPr>
              <a:buFont typeface="Courier New" panose="02070309020205020404" pitchFamily="49" charset="0"/>
              <a:buChar char="o"/>
            </a:pPr>
            <a:r>
              <a:rPr lang="hr-HR" sz="2200" dirty="0"/>
              <a:t>Rituali solidarnosti izazivaju osjećaj zajedništva kod pojedinaca i to se javlja za vrijeme državnih praznika, religijskih blagdana ili za vrijeme intoniranja himne</a:t>
            </a:r>
          </a:p>
          <a:p>
            <a:pPr>
              <a:buFont typeface="Courier New" panose="02070309020205020404" pitchFamily="49" charset="0"/>
              <a:buChar char="o"/>
            </a:pPr>
            <a:r>
              <a:rPr lang="hr-HR" sz="2200" dirty="0"/>
              <a:t>Rituali prijelaza označavaju prijelaz pojedinaca iz jednog društvenog položaja u drugi društveni položaj – rođenje, pubertet, vjenčanje, odlazak u mirovinu, inicijacija i sl.</a:t>
            </a:r>
          </a:p>
          <a:p>
            <a:pPr marL="0" indent="0">
              <a:buNone/>
            </a:pPr>
            <a:r>
              <a:rPr lang="hr-HR" sz="2200" dirty="0"/>
              <a:t>Bit.ly/32Tfcqh</a:t>
            </a:r>
          </a:p>
        </p:txBody>
      </p:sp>
      <p:pic>
        <p:nvPicPr>
          <p:cNvPr id="16386" name="Picture 2" descr="Croatian national football team hi-res stock photography and images - Alamy"/>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68209" y="52006"/>
            <a:ext cx="3585717" cy="2636881"/>
          </a:xfrm>
          <a:prstGeom prst="rect">
            <a:avLst/>
          </a:prstGeom>
          <a:noFill/>
          <a:extLst>
            <a:ext uri="{909E8E84-426E-40DD-AFC4-6F175D3DCCD1}">
              <a14:hiddenFill xmlns:a14="http://schemas.microsoft.com/office/drawing/2010/main">
                <a:solidFill>
                  <a:srgbClr val="FFFFFF"/>
                </a:solidFill>
              </a14:hiddenFill>
            </a:ext>
          </a:extLst>
        </p:spPr>
      </p:pic>
      <p:pic>
        <p:nvPicPr>
          <p:cNvPr id="16388" name="Picture 4" descr="The 23 Most Memorable Royal Weddings of All Time | Vogu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75520" y="5741"/>
            <a:ext cx="2282046" cy="30713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7040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hr-HR"/>
          </a:p>
        </p:txBody>
      </p:sp>
      <p:sp>
        <p:nvSpPr>
          <p:cNvPr id="3" name="Content Placeholder 2"/>
          <p:cNvSpPr>
            <a:spLocks noGrp="1"/>
          </p:cNvSpPr>
          <p:nvPr>
            <p:ph idx="1"/>
          </p:nvPr>
        </p:nvSpPr>
        <p:spPr>
          <a:xfrm>
            <a:off x="1104614" y="836713"/>
            <a:ext cx="8944211" cy="5411688"/>
          </a:xfrm>
        </p:spPr>
        <p:txBody>
          <a:bodyPr/>
          <a:lstStyle/>
          <a:p>
            <a:r>
              <a:rPr lang="hr-HR" sz="2300" dirty="0"/>
              <a:t>Rituali prijelaza su bitni za pojedinca jer označavaju prijelaz iz jedne životne faze u drugu životnu fazu ali su isto tako bitni i za društvo jer omogućuje društvu da zna kako se treba ponašati prema tom pojedincu u određenoj fazi njegova života</a:t>
            </a:r>
          </a:p>
          <a:p>
            <a:r>
              <a:rPr lang="hr-HR" sz="2300" dirty="0"/>
              <a:t>Obred brit milah – savez obrezivanja kod Židova gdje dječaci osmog dana života bivaju obrezani kao znak potvrde saveza s Bogom</a:t>
            </a:r>
          </a:p>
          <a:p>
            <a:r>
              <a:rPr lang="hr-HR" sz="2300" dirty="0"/>
              <a:t>Kod Katolika obred krštenja</a:t>
            </a:r>
          </a:p>
          <a:p>
            <a:r>
              <a:rPr lang="hr-HR" sz="2300" dirty="0"/>
              <a:t>Kod plemena Hamar u Etiopij</a:t>
            </a:r>
            <a:r>
              <a:rPr lang="en-US" sz="2300" dirty="0" err="1"/>
              <a:t>i</a:t>
            </a:r>
            <a:r>
              <a:rPr lang="hr-HR" sz="2300" dirty="0"/>
              <a:t> inicijacija uključuje preskakanje goveda koji su poslagani jedan pored drugog – mladići moraju četiri puta preskočiti tako poredana goveda kako bi im društvo dozvolilo da se ožene</a:t>
            </a:r>
          </a:p>
          <a:p>
            <a:endParaRPr lang="hr-HR" dirty="0"/>
          </a:p>
        </p:txBody>
      </p:sp>
    </p:spTree>
    <p:extLst>
      <p:ext uri="{BB962C8B-B14F-4D97-AF65-F5344CB8AC3E}">
        <p14:creationId xmlns:p14="http://schemas.microsoft.com/office/powerpoint/2010/main" val="10394428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1" name="Rectangle 5"/>
          <p:cNvSpPr>
            <a:spLocks noChangeArrowheads="1"/>
          </p:cNvSpPr>
          <p:nvPr/>
        </p:nvSpPr>
        <p:spPr bwMode="auto">
          <a:xfrm>
            <a:off x="-174286" y="4327100"/>
            <a:ext cx="6198278"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tabLst>
                <a:tab pos="228600" algn="l"/>
              </a:tabLst>
              <a:defRPr>
                <a:solidFill>
                  <a:schemeClr val="tx1"/>
                </a:solidFill>
                <a:latin typeface="Arial" panose="020B0604020202020204" pitchFamily="34" charset="0"/>
              </a:defRPr>
            </a:lvl1pPr>
            <a:lvl2pPr>
              <a:tabLst>
                <a:tab pos="228600" algn="l"/>
              </a:tabLst>
              <a:defRPr>
                <a:solidFill>
                  <a:schemeClr val="tx1"/>
                </a:solidFill>
                <a:latin typeface="Arial" panose="020B0604020202020204" pitchFamily="34" charset="0"/>
              </a:defRPr>
            </a:lvl2pPr>
            <a:lvl3pPr>
              <a:tabLst>
                <a:tab pos="228600" algn="l"/>
              </a:tabLst>
              <a:defRPr>
                <a:solidFill>
                  <a:schemeClr val="tx1"/>
                </a:solidFill>
                <a:latin typeface="Arial" panose="020B0604020202020204" pitchFamily="34" charset="0"/>
              </a:defRPr>
            </a:lvl3pPr>
            <a:lvl4pPr>
              <a:tabLst>
                <a:tab pos="228600" algn="l"/>
              </a:tabLst>
              <a:defRPr>
                <a:solidFill>
                  <a:schemeClr val="tx1"/>
                </a:solidFill>
                <a:latin typeface="Arial" panose="020B0604020202020204" pitchFamily="34" charset="0"/>
              </a:defRPr>
            </a:lvl4pPr>
            <a:lvl5pPr>
              <a:tabLst>
                <a:tab pos="228600" algn="l"/>
              </a:tabLst>
              <a:defRPr>
                <a:solidFill>
                  <a:schemeClr val="tx1"/>
                </a:solidFill>
                <a:latin typeface="Arial" panose="020B0604020202020204" pitchFamily="34" charset="0"/>
              </a:defRPr>
            </a:lvl5pPr>
            <a:lvl6pPr fontAlgn="base">
              <a:spcBef>
                <a:spcPct val="0"/>
              </a:spcBef>
              <a:spcAft>
                <a:spcPct val="0"/>
              </a:spcAft>
              <a:tabLst>
                <a:tab pos="228600" algn="l"/>
              </a:tabLst>
              <a:defRPr>
                <a:solidFill>
                  <a:schemeClr val="tx1"/>
                </a:solidFill>
                <a:latin typeface="Arial" panose="020B0604020202020204" pitchFamily="34" charset="0"/>
              </a:defRPr>
            </a:lvl6pPr>
            <a:lvl7pPr fontAlgn="base">
              <a:spcBef>
                <a:spcPct val="0"/>
              </a:spcBef>
              <a:spcAft>
                <a:spcPct val="0"/>
              </a:spcAft>
              <a:tabLst>
                <a:tab pos="228600" algn="l"/>
              </a:tabLst>
              <a:defRPr>
                <a:solidFill>
                  <a:schemeClr val="tx1"/>
                </a:solidFill>
                <a:latin typeface="Arial" panose="020B0604020202020204" pitchFamily="34" charset="0"/>
              </a:defRPr>
            </a:lvl7pPr>
            <a:lvl8pPr fontAlgn="base">
              <a:spcBef>
                <a:spcPct val="0"/>
              </a:spcBef>
              <a:spcAft>
                <a:spcPct val="0"/>
              </a:spcAft>
              <a:tabLst>
                <a:tab pos="228600" algn="l"/>
              </a:tabLst>
              <a:defRPr>
                <a:solidFill>
                  <a:schemeClr val="tx1"/>
                </a:solidFill>
                <a:latin typeface="Arial" panose="020B0604020202020204" pitchFamily="34" charset="0"/>
              </a:defRPr>
            </a:lvl8pPr>
            <a:lvl9pPr fontAlgn="base">
              <a:spcBef>
                <a:spcPct val="0"/>
              </a:spcBef>
              <a:spcAft>
                <a:spcPct val="0"/>
              </a:spcAft>
              <a:tabLst>
                <a:tab pos="228600" algn="l"/>
              </a:tabLst>
              <a:defRPr>
                <a:solidFill>
                  <a:schemeClr val="tx1"/>
                </a:solidFill>
                <a:latin typeface="Arial" panose="020B0604020202020204" pitchFamily="34" charset="0"/>
              </a:defRPr>
            </a:lvl9pPr>
          </a:lstStyle>
          <a:p>
            <a:pPr algn="ctr">
              <a:defRPr/>
            </a:pPr>
            <a:r>
              <a:rPr lang="hr-HR" altLang="sr-Latn-RS" sz="2800" b="1" dirty="0">
                <a:solidFill>
                  <a:schemeClr val="accent1">
                    <a:lumMod val="40000"/>
                    <a:lumOff val="60000"/>
                  </a:schemeClr>
                </a:solidFill>
                <a:latin typeface="+mj-lt"/>
              </a:rPr>
              <a:t>     </a:t>
            </a:r>
            <a:r>
              <a:rPr lang="en-US" altLang="sr-Latn-RS" sz="2800" b="1" dirty="0">
                <a:solidFill>
                  <a:schemeClr val="accent1">
                    <a:lumMod val="20000"/>
                    <a:lumOff val="80000"/>
                  </a:schemeClr>
                </a:solidFill>
                <a:latin typeface="+mj-lt"/>
              </a:rPr>
              <a:t>ETNOCENTRIZAM</a:t>
            </a:r>
            <a:endParaRPr lang="hr-HR" altLang="sr-Latn-RS" sz="2800" b="1" dirty="0">
              <a:solidFill>
                <a:schemeClr val="accent1">
                  <a:lumMod val="20000"/>
                  <a:lumOff val="80000"/>
                </a:schemeClr>
              </a:solidFill>
              <a:latin typeface="+mj-lt"/>
            </a:endParaRPr>
          </a:p>
          <a:p>
            <a:pPr algn="ctr">
              <a:defRPr/>
            </a:pPr>
            <a:r>
              <a:rPr lang="hr-HR" altLang="sr-Latn-RS" sz="2800" b="1" dirty="0">
                <a:latin typeface="+mj-lt"/>
              </a:rPr>
              <a:t> </a:t>
            </a:r>
            <a:r>
              <a:rPr lang="hr-HR" altLang="sr-Latn-RS" sz="2800" dirty="0">
                <a:latin typeface="+mj-lt"/>
              </a:rPr>
              <a:t>prosudba tuđe kulture prema standardima vlastite</a:t>
            </a:r>
            <a:endParaRPr lang="en-US" altLang="sr-Latn-RS" sz="2800" dirty="0">
              <a:latin typeface="+mj-lt"/>
            </a:endParaRPr>
          </a:p>
        </p:txBody>
      </p:sp>
      <p:sp>
        <p:nvSpPr>
          <p:cNvPr id="14342" name="Rectangle 6"/>
          <p:cNvSpPr>
            <a:spLocks noChangeArrowheads="1"/>
          </p:cNvSpPr>
          <p:nvPr/>
        </p:nvSpPr>
        <p:spPr bwMode="auto">
          <a:xfrm>
            <a:off x="1589" y="1863900"/>
            <a:ext cx="1218882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sto MT" panose="02040603050505030304" pitchFamily="18" charset="0"/>
              </a:defRPr>
            </a:lvl1pPr>
            <a:lvl2pPr marL="742950" indent="-285750">
              <a:defRPr>
                <a:solidFill>
                  <a:schemeClr val="tx1"/>
                </a:solidFill>
                <a:latin typeface="Calisto MT" panose="02040603050505030304" pitchFamily="18" charset="0"/>
              </a:defRPr>
            </a:lvl2pPr>
            <a:lvl3pPr marL="1143000" indent="-228600">
              <a:defRPr>
                <a:solidFill>
                  <a:schemeClr val="tx1"/>
                </a:solidFill>
                <a:latin typeface="Calisto MT" panose="02040603050505030304" pitchFamily="18" charset="0"/>
              </a:defRPr>
            </a:lvl3pPr>
            <a:lvl4pPr marL="1600200" indent="-228600">
              <a:defRPr>
                <a:solidFill>
                  <a:schemeClr val="tx1"/>
                </a:solidFill>
                <a:latin typeface="Calisto MT" panose="02040603050505030304" pitchFamily="18" charset="0"/>
              </a:defRPr>
            </a:lvl4pPr>
            <a:lvl5pPr marL="2057400" indent="-228600">
              <a:defRPr>
                <a:solidFill>
                  <a:schemeClr val="tx1"/>
                </a:solidFill>
                <a:latin typeface="Calisto MT" panose="02040603050505030304" pitchFamily="18" charset="0"/>
              </a:defRPr>
            </a:lvl5pPr>
            <a:lvl6pPr marL="2514600" indent="-228600" defTabSz="457200" fontAlgn="base">
              <a:spcBef>
                <a:spcPct val="0"/>
              </a:spcBef>
              <a:spcAft>
                <a:spcPct val="0"/>
              </a:spcAft>
              <a:defRPr>
                <a:solidFill>
                  <a:schemeClr val="tx1"/>
                </a:solidFill>
                <a:latin typeface="Calisto MT" panose="02040603050505030304" pitchFamily="18" charset="0"/>
              </a:defRPr>
            </a:lvl6pPr>
            <a:lvl7pPr marL="2971800" indent="-228600" defTabSz="457200" fontAlgn="base">
              <a:spcBef>
                <a:spcPct val="0"/>
              </a:spcBef>
              <a:spcAft>
                <a:spcPct val="0"/>
              </a:spcAft>
              <a:defRPr>
                <a:solidFill>
                  <a:schemeClr val="tx1"/>
                </a:solidFill>
                <a:latin typeface="Calisto MT" panose="02040603050505030304" pitchFamily="18" charset="0"/>
              </a:defRPr>
            </a:lvl7pPr>
            <a:lvl8pPr marL="3429000" indent="-228600" defTabSz="457200" fontAlgn="base">
              <a:spcBef>
                <a:spcPct val="0"/>
              </a:spcBef>
              <a:spcAft>
                <a:spcPct val="0"/>
              </a:spcAft>
              <a:defRPr>
                <a:solidFill>
                  <a:schemeClr val="tx1"/>
                </a:solidFill>
                <a:latin typeface="Calisto MT" panose="02040603050505030304" pitchFamily="18" charset="0"/>
              </a:defRPr>
            </a:lvl8pPr>
            <a:lvl9pPr marL="3886200" indent="-228600" defTabSz="457200" fontAlgn="base">
              <a:spcBef>
                <a:spcPct val="0"/>
              </a:spcBef>
              <a:spcAft>
                <a:spcPct val="0"/>
              </a:spcAft>
              <a:defRPr>
                <a:solidFill>
                  <a:schemeClr val="tx1"/>
                </a:solidFill>
                <a:latin typeface="Calisto MT" panose="02040603050505030304" pitchFamily="18" charset="0"/>
              </a:defRPr>
            </a:lvl9pPr>
          </a:lstStyle>
          <a:p>
            <a:pPr algn="ctr" eaLnBrk="1" hangingPunct="1"/>
            <a:r>
              <a:rPr lang="en-US" altLang="sr-Latn-RS" sz="3200" b="1" dirty="0">
                <a:latin typeface="+mj-lt"/>
              </a:rPr>
              <a:t>O</a:t>
            </a:r>
            <a:r>
              <a:rPr lang="hr-HR" altLang="sr-Latn-RS" sz="3200" b="1" dirty="0">
                <a:latin typeface="+mj-lt"/>
              </a:rPr>
              <a:t>dnos prema tuđoj kulturi</a:t>
            </a:r>
            <a:endParaRPr lang="en-US" altLang="sr-Latn-RS" sz="3200" b="1" dirty="0">
              <a:latin typeface="+mj-lt"/>
            </a:endParaRPr>
          </a:p>
        </p:txBody>
      </p:sp>
      <p:sp>
        <p:nvSpPr>
          <p:cNvPr id="14343" name="Rectangle 7"/>
          <p:cNvSpPr>
            <a:spLocks noChangeArrowheads="1"/>
          </p:cNvSpPr>
          <p:nvPr/>
        </p:nvSpPr>
        <p:spPr bwMode="auto">
          <a:xfrm>
            <a:off x="-142528" y="936955"/>
            <a:ext cx="1218882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sto MT" panose="02040603050505030304" pitchFamily="18" charset="0"/>
              </a:defRPr>
            </a:lvl1pPr>
            <a:lvl2pPr marL="742950" indent="-285750">
              <a:defRPr>
                <a:solidFill>
                  <a:schemeClr val="tx1"/>
                </a:solidFill>
                <a:latin typeface="Calisto MT" panose="02040603050505030304" pitchFamily="18" charset="0"/>
              </a:defRPr>
            </a:lvl2pPr>
            <a:lvl3pPr marL="1143000" indent="-228600">
              <a:defRPr>
                <a:solidFill>
                  <a:schemeClr val="tx1"/>
                </a:solidFill>
                <a:latin typeface="Calisto MT" panose="02040603050505030304" pitchFamily="18" charset="0"/>
              </a:defRPr>
            </a:lvl3pPr>
            <a:lvl4pPr marL="1600200" indent="-228600">
              <a:defRPr>
                <a:solidFill>
                  <a:schemeClr val="tx1"/>
                </a:solidFill>
                <a:latin typeface="Calisto MT" panose="02040603050505030304" pitchFamily="18" charset="0"/>
              </a:defRPr>
            </a:lvl4pPr>
            <a:lvl5pPr marL="2057400" indent="-228600">
              <a:defRPr>
                <a:solidFill>
                  <a:schemeClr val="tx1"/>
                </a:solidFill>
                <a:latin typeface="Calisto MT" panose="02040603050505030304" pitchFamily="18" charset="0"/>
              </a:defRPr>
            </a:lvl5pPr>
            <a:lvl6pPr marL="2514600" indent="-228600" defTabSz="457200" fontAlgn="base">
              <a:spcBef>
                <a:spcPct val="0"/>
              </a:spcBef>
              <a:spcAft>
                <a:spcPct val="0"/>
              </a:spcAft>
              <a:defRPr>
                <a:solidFill>
                  <a:schemeClr val="tx1"/>
                </a:solidFill>
                <a:latin typeface="Calisto MT" panose="02040603050505030304" pitchFamily="18" charset="0"/>
              </a:defRPr>
            </a:lvl6pPr>
            <a:lvl7pPr marL="2971800" indent="-228600" defTabSz="457200" fontAlgn="base">
              <a:spcBef>
                <a:spcPct val="0"/>
              </a:spcBef>
              <a:spcAft>
                <a:spcPct val="0"/>
              </a:spcAft>
              <a:defRPr>
                <a:solidFill>
                  <a:schemeClr val="tx1"/>
                </a:solidFill>
                <a:latin typeface="Calisto MT" panose="02040603050505030304" pitchFamily="18" charset="0"/>
              </a:defRPr>
            </a:lvl7pPr>
            <a:lvl8pPr marL="3429000" indent="-228600" defTabSz="457200" fontAlgn="base">
              <a:spcBef>
                <a:spcPct val="0"/>
              </a:spcBef>
              <a:spcAft>
                <a:spcPct val="0"/>
              </a:spcAft>
              <a:defRPr>
                <a:solidFill>
                  <a:schemeClr val="tx1"/>
                </a:solidFill>
                <a:latin typeface="Calisto MT" panose="02040603050505030304" pitchFamily="18" charset="0"/>
              </a:defRPr>
            </a:lvl8pPr>
            <a:lvl9pPr marL="3886200" indent="-228600" defTabSz="457200" fontAlgn="base">
              <a:spcBef>
                <a:spcPct val="0"/>
              </a:spcBef>
              <a:spcAft>
                <a:spcPct val="0"/>
              </a:spcAft>
              <a:defRPr>
                <a:solidFill>
                  <a:schemeClr val="tx1"/>
                </a:solidFill>
                <a:latin typeface="Calisto MT" panose="02040603050505030304" pitchFamily="18" charset="0"/>
              </a:defRPr>
            </a:lvl9pPr>
          </a:lstStyle>
          <a:p>
            <a:pPr algn="ctr" eaLnBrk="1" hangingPunct="1"/>
            <a:r>
              <a:rPr lang="hr-HR" altLang="sr-Latn-RS" sz="3600" b="1" dirty="0">
                <a:latin typeface="+mj-lt"/>
              </a:rPr>
              <a:t>Razlike među kulturama</a:t>
            </a:r>
            <a:endParaRPr lang="en-US" altLang="sr-Latn-RS" sz="3600" b="1" dirty="0">
              <a:latin typeface="+mj-lt"/>
            </a:endParaRPr>
          </a:p>
        </p:txBody>
      </p:sp>
      <p:sp>
        <p:nvSpPr>
          <p:cNvPr id="14344" name="Rectangle 8"/>
          <p:cNvSpPr>
            <a:spLocks noChangeArrowheads="1"/>
          </p:cNvSpPr>
          <p:nvPr/>
        </p:nvSpPr>
        <p:spPr bwMode="auto">
          <a:xfrm>
            <a:off x="6019538" y="4327100"/>
            <a:ext cx="6166421"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defRPr/>
            </a:pPr>
            <a:r>
              <a:rPr lang="en-US" altLang="sr-Latn-RS" sz="2800" b="1" dirty="0">
                <a:solidFill>
                  <a:schemeClr val="accent1">
                    <a:lumMod val="20000"/>
                    <a:lumOff val="80000"/>
                  </a:schemeClr>
                </a:solidFill>
              </a:rPr>
              <a:t>KULTURNI RELATIVIZAM</a:t>
            </a:r>
            <a:endParaRPr lang="hr-HR" altLang="sr-Latn-RS" sz="2800" b="1" dirty="0">
              <a:solidFill>
                <a:schemeClr val="accent1">
                  <a:lumMod val="20000"/>
                  <a:lumOff val="80000"/>
                </a:schemeClr>
              </a:solidFill>
            </a:endParaRPr>
          </a:p>
          <a:p>
            <a:pPr algn="ctr">
              <a:defRPr/>
            </a:pPr>
            <a:r>
              <a:rPr lang="hr-HR" altLang="sr-Latn-RS" sz="2800" dirty="0"/>
              <a:t>prosudba svakog dijela neke kulture sa stanovišta cjeline te kulture</a:t>
            </a:r>
            <a:endParaRPr lang="en-US" altLang="sr-Latn-RS" sz="2800" dirty="0"/>
          </a:p>
        </p:txBody>
      </p:sp>
      <p:sp>
        <p:nvSpPr>
          <p:cNvPr id="14345" name="Line 9"/>
          <p:cNvSpPr>
            <a:spLocks noChangeShapeType="1"/>
          </p:cNvSpPr>
          <p:nvPr/>
        </p:nvSpPr>
        <p:spPr bwMode="auto">
          <a:xfrm flipH="1">
            <a:off x="3575721" y="2701411"/>
            <a:ext cx="2016125" cy="1296987"/>
          </a:xfrm>
          <a:prstGeom prst="line">
            <a:avLst/>
          </a:prstGeom>
          <a:noFill/>
          <a:ln w="762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hr-HR"/>
          </a:p>
        </p:txBody>
      </p:sp>
      <p:sp>
        <p:nvSpPr>
          <p:cNvPr id="14348" name="Line 12"/>
          <p:cNvSpPr>
            <a:spLocks noChangeShapeType="1"/>
          </p:cNvSpPr>
          <p:nvPr/>
        </p:nvSpPr>
        <p:spPr bwMode="auto">
          <a:xfrm>
            <a:off x="6240017" y="2699326"/>
            <a:ext cx="1800225" cy="1225550"/>
          </a:xfrm>
          <a:prstGeom prst="line">
            <a:avLst/>
          </a:prstGeom>
          <a:noFill/>
          <a:ln w="762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hr-HR"/>
          </a:p>
        </p:txBody>
      </p:sp>
    </p:spTree>
    <p:extLst>
      <p:ext uri="{BB962C8B-B14F-4D97-AF65-F5344CB8AC3E}">
        <p14:creationId xmlns:p14="http://schemas.microsoft.com/office/powerpoint/2010/main" val="27850818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2" presetClass="entr" presetSubtype="0" fill="hold" nodeType="clickEffect">
                                  <p:stCondLst>
                                    <p:cond delay="0"/>
                                  </p:stCondLst>
                                  <p:childTnLst>
                                    <p:set>
                                      <p:cBhvr>
                                        <p:cTn id="6" dur="1" fill="hold">
                                          <p:stCondLst>
                                            <p:cond delay="0"/>
                                          </p:stCondLst>
                                        </p:cTn>
                                        <p:tgtEl>
                                          <p:spTgt spid="14343">
                                            <p:txEl>
                                              <p:pRg st="0" end="0"/>
                                            </p:txEl>
                                          </p:spTgt>
                                        </p:tgtEl>
                                        <p:attrNameLst>
                                          <p:attrName>style.visibility</p:attrName>
                                        </p:attrNameLst>
                                      </p:cBhvr>
                                      <p:to>
                                        <p:strVal val="visible"/>
                                      </p:to>
                                    </p:set>
                                    <p:animScale>
                                      <p:cBhvr>
                                        <p:cTn id="7" dur="1000" decel="50000" fill="hold">
                                          <p:stCondLst>
                                            <p:cond delay="0"/>
                                          </p:stCondLst>
                                        </p:cTn>
                                        <p:tgtEl>
                                          <p:spTgt spid="14343">
                                            <p:txEl>
                                              <p:pRg st="0" end="0"/>
                                            </p:txEl>
                                          </p:spTgt>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14343">
                                            <p:txEl>
                                              <p:pRg st="0" end="0"/>
                                            </p:txEl>
                                          </p:spTgt>
                                        </p:tgtEl>
                                        <p:attrNameLst>
                                          <p:attrName>ppt_x</p:attrName>
                                          <p:attrName>ppt_y</p:attrName>
                                        </p:attrNameLst>
                                      </p:cBhvr>
                                    </p:animMotion>
                                    <p:animEffect transition="in" filter="fade">
                                      <p:cBhvr>
                                        <p:cTn id="9" dur="1000"/>
                                        <p:tgtEl>
                                          <p:spTgt spid="14343">
                                            <p:txEl>
                                              <p:pRg st="0" end="0"/>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2" presetClass="entr" presetSubtype="0" fill="hold" nodeType="clickEffect">
                                  <p:stCondLst>
                                    <p:cond delay="0"/>
                                  </p:stCondLst>
                                  <p:childTnLst>
                                    <p:set>
                                      <p:cBhvr>
                                        <p:cTn id="13" dur="1" fill="hold">
                                          <p:stCondLst>
                                            <p:cond delay="0"/>
                                          </p:stCondLst>
                                        </p:cTn>
                                        <p:tgtEl>
                                          <p:spTgt spid="14342">
                                            <p:txEl>
                                              <p:pRg st="0" end="0"/>
                                            </p:txEl>
                                          </p:spTgt>
                                        </p:tgtEl>
                                        <p:attrNameLst>
                                          <p:attrName>style.visibility</p:attrName>
                                        </p:attrNameLst>
                                      </p:cBhvr>
                                      <p:to>
                                        <p:strVal val="visible"/>
                                      </p:to>
                                    </p:set>
                                    <p:animScale>
                                      <p:cBhvr>
                                        <p:cTn id="14" dur="1000" decel="50000" fill="hold">
                                          <p:stCondLst>
                                            <p:cond delay="0"/>
                                          </p:stCondLst>
                                        </p:cTn>
                                        <p:tgtEl>
                                          <p:spTgt spid="14342">
                                            <p:txEl>
                                              <p:pRg st="0" end="0"/>
                                            </p:txEl>
                                          </p:spTgt>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5" dur="1000" decel="50000" fill="hold">
                                          <p:stCondLst>
                                            <p:cond delay="0"/>
                                          </p:stCondLst>
                                        </p:cTn>
                                        <p:tgtEl>
                                          <p:spTgt spid="14342">
                                            <p:txEl>
                                              <p:pRg st="0" end="0"/>
                                            </p:txEl>
                                          </p:spTgt>
                                        </p:tgtEl>
                                        <p:attrNameLst>
                                          <p:attrName>ppt_x</p:attrName>
                                          <p:attrName>ppt_y</p:attrName>
                                        </p:attrNameLst>
                                      </p:cBhvr>
                                    </p:animMotion>
                                    <p:animEffect transition="in" filter="fade">
                                      <p:cBhvr>
                                        <p:cTn id="16" dur="1000"/>
                                        <p:tgtEl>
                                          <p:spTgt spid="14342">
                                            <p:txEl>
                                              <p:pRg st="0" end="0"/>
                                            </p:txEl>
                                          </p:spTgt>
                                        </p:tgtEl>
                                      </p:cBhvr>
                                    </p:animEffect>
                                  </p:childTnLst>
                                </p:cTn>
                              </p:par>
                              <p:par>
                                <p:cTn id="17" presetID="52" presetClass="entr" presetSubtype="0" fill="hold" nodeType="withEffect">
                                  <p:stCondLst>
                                    <p:cond delay="0"/>
                                  </p:stCondLst>
                                  <p:childTnLst>
                                    <p:set>
                                      <p:cBhvr>
                                        <p:cTn id="18" dur="1" fill="hold">
                                          <p:stCondLst>
                                            <p:cond delay="0"/>
                                          </p:stCondLst>
                                        </p:cTn>
                                        <p:tgtEl>
                                          <p:spTgt spid="14345"/>
                                        </p:tgtEl>
                                        <p:attrNameLst>
                                          <p:attrName>style.visibility</p:attrName>
                                        </p:attrNameLst>
                                      </p:cBhvr>
                                      <p:to>
                                        <p:strVal val="visible"/>
                                      </p:to>
                                    </p:set>
                                    <p:animScale>
                                      <p:cBhvr>
                                        <p:cTn id="19" dur="1000" decel="50000" fill="hold">
                                          <p:stCondLst>
                                            <p:cond delay="0"/>
                                          </p:stCondLst>
                                        </p:cTn>
                                        <p:tgtEl>
                                          <p:spTgt spid="14345"/>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0" dur="1000" decel="50000" fill="hold">
                                          <p:stCondLst>
                                            <p:cond delay="0"/>
                                          </p:stCondLst>
                                        </p:cTn>
                                        <p:tgtEl>
                                          <p:spTgt spid="14345"/>
                                        </p:tgtEl>
                                        <p:attrNameLst>
                                          <p:attrName>ppt_x</p:attrName>
                                          <p:attrName>ppt_y</p:attrName>
                                        </p:attrNameLst>
                                      </p:cBhvr>
                                    </p:animMotion>
                                    <p:animEffect transition="in" filter="fade">
                                      <p:cBhvr>
                                        <p:cTn id="21" dur="1000"/>
                                        <p:tgtEl>
                                          <p:spTgt spid="14345"/>
                                        </p:tgtEl>
                                      </p:cBhvr>
                                    </p:animEffect>
                                  </p:childTnLst>
                                </p:cTn>
                              </p:par>
                              <p:par>
                                <p:cTn id="22" presetID="52" presetClass="entr" presetSubtype="0" fill="hold" nodeType="withEffect">
                                  <p:stCondLst>
                                    <p:cond delay="0"/>
                                  </p:stCondLst>
                                  <p:childTnLst>
                                    <p:set>
                                      <p:cBhvr>
                                        <p:cTn id="23" dur="1" fill="hold">
                                          <p:stCondLst>
                                            <p:cond delay="0"/>
                                          </p:stCondLst>
                                        </p:cTn>
                                        <p:tgtEl>
                                          <p:spTgt spid="14348"/>
                                        </p:tgtEl>
                                        <p:attrNameLst>
                                          <p:attrName>style.visibility</p:attrName>
                                        </p:attrNameLst>
                                      </p:cBhvr>
                                      <p:to>
                                        <p:strVal val="visible"/>
                                      </p:to>
                                    </p:set>
                                    <p:animScale>
                                      <p:cBhvr>
                                        <p:cTn id="24" dur="1000" decel="50000" fill="hold">
                                          <p:stCondLst>
                                            <p:cond delay="0"/>
                                          </p:stCondLst>
                                        </p:cTn>
                                        <p:tgtEl>
                                          <p:spTgt spid="1434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5" dur="1000" decel="50000" fill="hold">
                                          <p:stCondLst>
                                            <p:cond delay="0"/>
                                          </p:stCondLst>
                                        </p:cTn>
                                        <p:tgtEl>
                                          <p:spTgt spid="14348"/>
                                        </p:tgtEl>
                                        <p:attrNameLst>
                                          <p:attrName>ppt_x</p:attrName>
                                          <p:attrName>ppt_y</p:attrName>
                                        </p:attrNameLst>
                                      </p:cBhvr>
                                    </p:animMotion>
                                    <p:animEffect transition="in" filter="fade">
                                      <p:cBhvr>
                                        <p:cTn id="26" dur="1000"/>
                                        <p:tgtEl>
                                          <p:spTgt spid="14348"/>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52" presetClass="entr" presetSubtype="0" fill="hold" nodeType="clickEffect">
                                  <p:stCondLst>
                                    <p:cond delay="0"/>
                                  </p:stCondLst>
                                  <p:childTnLst>
                                    <p:set>
                                      <p:cBhvr>
                                        <p:cTn id="30" dur="1" fill="hold">
                                          <p:stCondLst>
                                            <p:cond delay="0"/>
                                          </p:stCondLst>
                                        </p:cTn>
                                        <p:tgtEl>
                                          <p:spTgt spid="14341">
                                            <p:txEl>
                                              <p:pRg st="0" end="0"/>
                                            </p:txEl>
                                          </p:spTgt>
                                        </p:tgtEl>
                                        <p:attrNameLst>
                                          <p:attrName>style.visibility</p:attrName>
                                        </p:attrNameLst>
                                      </p:cBhvr>
                                      <p:to>
                                        <p:strVal val="visible"/>
                                      </p:to>
                                    </p:set>
                                    <p:animScale>
                                      <p:cBhvr>
                                        <p:cTn id="31" dur="1000" decel="50000" fill="hold">
                                          <p:stCondLst>
                                            <p:cond delay="0"/>
                                          </p:stCondLst>
                                        </p:cTn>
                                        <p:tgtEl>
                                          <p:spTgt spid="14341">
                                            <p:txEl>
                                              <p:pRg st="0" end="0"/>
                                            </p:txEl>
                                          </p:spTgt>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32" dur="1000" decel="50000" fill="hold">
                                          <p:stCondLst>
                                            <p:cond delay="0"/>
                                          </p:stCondLst>
                                        </p:cTn>
                                        <p:tgtEl>
                                          <p:spTgt spid="14341">
                                            <p:txEl>
                                              <p:pRg st="0" end="0"/>
                                            </p:txEl>
                                          </p:spTgt>
                                        </p:tgtEl>
                                        <p:attrNameLst>
                                          <p:attrName>ppt_x</p:attrName>
                                          <p:attrName>ppt_y</p:attrName>
                                        </p:attrNameLst>
                                      </p:cBhvr>
                                    </p:animMotion>
                                    <p:animEffect transition="in" filter="fade">
                                      <p:cBhvr>
                                        <p:cTn id="33" dur="1000"/>
                                        <p:tgtEl>
                                          <p:spTgt spid="14341">
                                            <p:txEl>
                                              <p:pRg st="0" end="0"/>
                                            </p:txEl>
                                          </p:spTgt>
                                        </p:tgtEl>
                                      </p:cBhvr>
                                    </p:animEffect>
                                  </p:childTnLst>
                                </p:cTn>
                              </p:par>
                              <p:par>
                                <p:cTn id="34" presetID="52" presetClass="entr" presetSubtype="0" fill="hold" nodeType="withEffect">
                                  <p:stCondLst>
                                    <p:cond delay="0"/>
                                  </p:stCondLst>
                                  <p:childTnLst>
                                    <p:set>
                                      <p:cBhvr>
                                        <p:cTn id="35" dur="1" fill="hold">
                                          <p:stCondLst>
                                            <p:cond delay="0"/>
                                          </p:stCondLst>
                                        </p:cTn>
                                        <p:tgtEl>
                                          <p:spTgt spid="14341">
                                            <p:txEl>
                                              <p:pRg st="1" end="1"/>
                                            </p:txEl>
                                          </p:spTgt>
                                        </p:tgtEl>
                                        <p:attrNameLst>
                                          <p:attrName>style.visibility</p:attrName>
                                        </p:attrNameLst>
                                      </p:cBhvr>
                                      <p:to>
                                        <p:strVal val="visible"/>
                                      </p:to>
                                    </p:set>
                                    <p:animScale>
                                      <p:cBhvr>
                                        <p:cTn id="36" dur="1000" decel="50000" fill="hold">
                                          <p:stCondLst>
                                            <p:cond delay="0"/>
                                          </p:stCondLst>
                                        </p:cTn>
                                        <p:tgtEl>
                                          <p:spTgt spid="14341">
                                            <p:txEl>
                                              <p:pRg st="1" end="1"/>
                                            </p:txEl>
                                          </p:spTgt>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37" dur="1000" decel="50000" fill="hold">
                                          <p:stCondLst>
                                            <p:cond delay="0"/>
                                          </p:stCondLst>
                                        </p:cTn>
                                        <p:tgtEl>
                                          <p:spTgt spid="14341">
                                            <p:txEl>
                                              <p:pRg st="1" end="1"/>
                                            </p:txEl>
                                          </p:spTgt>
                                        </p:tgtEl>
                                        <p:attrNameLst>
                                          <p:attrName>ppt_x</p:attrName>
                                          <p:attrName>ppt_y</p:attrName>
                                        </p:attrNameLst>
                                      </p:cBhvr>
                                    </p:animMotion>
                                    <p:animEffect transition="in" filter="fade">
                                      <p:cBhvr>
                                        <p:cTn id="38" dur="1000"/>
                                        <p:tgtEl>
                                          <p:spTgt spid="14341">
                                            <p:txEl>
                                              <p:pRg st="1" end="1"/>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52" presetClass="entr" presetSubtype="0" fill="hold" nodeType="clickEffect">
                                  <p:stCondLst>
                                    <p:cond delay="0"/>
                                  </p:stCondLst>
                                  <p:childTnLst>
                                    <p:set>
                                      <p:cBhvr>
                                        <p:cTn id="42" dur="1" fill="hold">
                                          <p:stCondLst>
                                            <p:cond delay="0"/>
                                          </p:stCondLst>
                                        </p:cTn>
                                        <p:tgtEl>
                                          <p:spTgt spid="14344">
                                            <p:txEl>
                                              <p:pRg st="0" end="0"/>
                                            </p:txEl>
                                          </p:spTgt>
                                        </p:tgtEl>
                                        <p:attrNameLst>
                                          <p:attrName>style.visibility</p:attrName>
                                        </p:attrNameLst>
                                      </p:cBhvr>
                                      <p:to>
                                        <p:strVal val="visible"/>
                                      </p:to>
                                    </p:set>
                                    <p:animScale>
                                      <p:cBhvr>
                                        <p:cTn id="43" dur="1000" decel="50000" fill="hold">
                                          <p:stCondLst>
                                            <p:cond delay="0"/>
                                          </p:stCondLst>
                                        </p:cTn>
                                        <p:tgtEl>
                                          <p:spTgt spid="14344">
                                            <p:txEl>
                                              <p:pRg st="0" end="0"/>
                                            </p:txEl>
                                          </p:spTgt>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44" dur="1000" decel="50000" fill="hold">
                                          <p:stCondLst>
                                            <p:cond delay="0"/>
                                          </p:stCondLst>
                                        </p:cTn>
                                        <p:tgtEl>
                                          <p:spTgt spid="14344">
                                            <p:txEl>
                                              <p:pRg st="0" end="0"/>
                                            </p:txEl>
                                          </p:spTgt>
                                        </p:tgtEl>
                                        <p:attrNameLst>
                                          <p:attrName>ppt_x</p:attrName>
                                          <p:attrName>ppt_y</p:attrName>
                                        </p:attrNameLst>
                                      </p:cBhvr>
                                    </p:animMotion>
                                    <p:animEffect transition="in" filter="fade">
                                      <p:cBhvr>
                                        <p:cTn id="45" dur="1000"/>
                                        <p:tgtEl>
                                          <p:spTgt spid="14344">
                                            <p:txEl>
                                              <p:pRg st="0" end="0"/>
                                            </p:txEl>
                                          </p:spTgt>
                                        </p:tgtEl>
                                      </p:cBhvr>
                                    </p:animEffect>
                                  </p:childTnLst>
                                </p:cTn>
                              </p:par>
                              <p:par>
                                <p:cTn id="46" presetID="52" presetClass="entr" presetSubtype="0" fill="hold" nodeType="withEffect">
                                  <p:stCondLst>
                                    <p:cond delay="0"/>
                                  </p:stCondLst>
                                  <p:childTnLst>
                                    <p:set>
                                      <p:cBhvr>
                                        <p:cTn id="47" dur="1" fill="hold">
                                          <p:stCondLst>
                                            <p:cond delay="0"/>
                                          </p:stCondLst>
                                        </p:cTn>
                                        <p:tgtEl>
                                          <p:spTgt spid="14344">
                                            <p:txEl>
                                              <p:pRg st="1" end="1"/>
                                            </p:txEl>
                                          </p:spTgt>
                                        </p:tgtEl>
                                        <p:attrNameLst>
                                          <p:attrName>style.visibility</p:attrName>
                                        </p:attrNameLst>
                                      </p:cBhvr>
                                      <p:to>
                                        <p:strVal val="visible"/>
                                      </p:to>
                                    </p:set>
                                    <p:animScale>
                                      <p:cBhvr>
                                        <p:cTn id="48" dur="1000" decel="50000" fill="hold">
                                          <p:stCondLst>
                                            <p:cond delay="0"/>
                                          </p:stCondLst>
                                        </p:cTn>
                                        <p:tgtEl>
                                          <p:spTgt spid="14344">
                                            <p:txEl>
                                              <p:pRg st="1" end="1"/>
                                            </p:txEl>
                                          </p:spTgt>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49" dur="1000" decel="50000" fill="hold">
                                          <p:stCondLst>
                                            <p:cond delay="0"/>
                                          </p:stCondLst>
                                        </p:cTn>
                                        <p:tgtEl>
                                          <p:spTgt spid="14344">
                                            <p:txEl>
                                              <p:pRg st="1" end="1"/>
                                            </p:txEl>
                                          </p:spTgt>
                                        </p:tgtEl>
                                        <p:attrNameLst>
                                          <p:attrName>ppt_x</p:attrName>
                                          <p:attrName>ppt_y</p:attrName>
                                        </p:attrNameLst>
                                      </p:cBhvr>
                                    </p:animMotion>
                                    <p:animEffect transition="in" filter="fade">
                                      <p:cBhvr>
                                        <p:cTn id="50" dur="1000"/>
                                        <p:tgtEl>
                                          <p:spTgt spid="1434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hr-HR"/>
          </a:p>
        </p:txBody>
      </p:sp>
      <p:sp>
        <p:nvSpPr>
          <p:cNvPr id="3" name="Content Placeholder 2"/>
          <p:cNvSpPr>
            <a:spLocks noGrp="1"/>
          </p:cNvSpPr>
          <p:nvPr>
            <p:ph idx="1"/>
          </p:nvPr>
        </p:nvSpPr>
        <p:spPr/>
        <p:txBody>
          <a:bodyPr>
            <a:normAutofit/>
          </a:bodyPr>
          <a:lstStyle/>
          <a:p>
            <a:pPr marL="0" indent="0">
              <a:buNone/>
            </a:pPr>
            <a:r>
              <a:rPr lang="en-US" dirty="0"/>
              <a:t>Koji </a:t>
            </a:r>
            <a:r>
              <a:rPr lang="en-US" dirty="0" err="1"/>
              <a:t>način</a:t>
            </a:r>
            <a:r>
              <a:rPr lang="en-US" dirty="0"/>
              <a:t> </a:t>
            </a:r>
            <a:r>
              <a:rPr lang="en-US" dirty="0" err="1"/>
              <a:t>sagledavanja</a:t>
            </a:r>
            <a:r>
              <a:rPr lang="en-US" dirty="0"/>
              <a:t> </a:t>
            </a:r>
            <a:r>
              <a:rPr lang="en-US" dirty="0" err="1"/>
              <a:t>drugih</a:t>
            </a:r>
            <a:r>
              <a:rPr lang="en-US" dirty="0"/>
              <a:t> </a:t>
            </a:r>
            <a:r>
              <a:rPr lang="en-US" dirty="0" err="1"/>
              <a:t>kultura</a:t>
            </a:r>
            <a:r>
              <a:rPr lang="en-US" dirty="0"/>
              <a:t> je </a:t>
            </a:r>
            <a:r>
              <a:rPr lang="en-US" dirty="0" err="1"/>
              <a:t>moralno</a:t>
            </a:r>
            <a:r>
              <a:rPr lang="en-US" dirty="0"/>
              <a:t> </a:t>
            </a:r>
            <a:r>
              <a:rPr lang="en-US" dirty="0" err="1"/>
              <a:t>opravdan</a:t>
            </a:r>
            <a:r>
              <a:rPr lang="en-US" dirty="0"/>
              <a:t> i </a:t>
            </a:r>
            <a:r>
              <a:rPr lang="en-US" dirty="0" err="1"/>
              <a:t>zašto</a:t>
            </a:r>
            <a:r>
              <a:rPr lang="en-US" dirty="0"/>
              <a:t>   </a:t>
            </a:r>
            <a:r>
              <a:rPr lang="en-US" dirty="0" err="1"/>
              <a:t>bismo</a:t>
            </a:r>
            <a:r>
              <a:rPr lang="en-US" dirty="0"/>
              <a:t> </a:t>
            </a:r>
            <a:r>
              <a:rPr lang="en-US" dirty="0" err="1"/>
              <a:t>upravo</a:t>
            </a:r>
            <a:r>
              <a:rPr lang="en-US" dirty="0"/>
              <a:t> </a:t>
            </a:r>
            <a:r>
              <a:rPr lang="en-US" dirty="0" err="1"/>
              <a:t>njega</a:t>
            </a:r>
            <a:r>
              <a:rPr lang="en-US" dirty="0"/>
              <a:t> </a:t>
            </a:r>
            <a:r>
              <a:rPr lang="en-US" dirty="0" err="1"/>
              <a:t>trebali</a:t>
            </a:r>
            <a:r>
              <a:rPr lang="en-US" dirty="0"/>
              <a:t> </a:t>
            </a:r>
            <a:r>
              <a:rPr lang="en-US" dirty="0" err="1"/>
              <a:t>koristiti</a:t>
            </a:r>
            <a:r>
              <a:rPr lang="en-US" dirty="0"/>
              <a:t>?</a:t>
            </a:r>
          </a:p>
        </p:txBody>
      </p:sp>
      <p:sp>
        <p:nvSpPr>
          <p:cNvPr id="4" name="Explosion 1 3"/>
          <p:cNvSpPr/>
          <p:nvPr/>
        </p:nvSpPr>
        <p:spPr>
          <a:xfrm>
            <a:off x="456541" y="2051247"/>
            <a:ext cx="648072" cy="504056"/>
          </a:xfrm>
          <a:prstGeom prst="irregularSeal1">
            <a:avLst/>
          </a:prstGeom>
          <a:solidFill>
            <a:schemeClr val="tx1"/>
          </a:solidFill>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Tree>
    <p:extLst>
      <p:ext uri="{BB962C8B-B14F-4D97-AF65-F5344CB8AC3E}">
        <p14:creationId xmlns:p14="http://schemas.microsoft.com/office/powerpoint/2010/main" val="1971238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Rectangle 4"/>
          <p:cNvSpPr>
            <a:spLocks noChangeArrowheads="1"/>
          </p:cNvSpPr>
          <p:nvPr/>
        </p:nvSpPr>
        <p:spPr bwMode="auto">
          <a:xfrm>
            <a:off x="537291" y="5656044"/>
            <a:ext cx="352779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tabLst>
                <a:tab pos="228600" algn="l"/>
              </a:tabLst>
              <a:defRPr>
                <a:solidFill>
                  <a:schemeClr val="tx1"/>
                </a:solidFill>
                <a:latin typeface="Arial" panose="020B0604020202020204" pitchFamily="34" charset="0"/>
              </a:defRPr>
            </a:lvl1pPr>
            <a:lvl2pPr>
              <a:tabLst>
                <a:tab pos="228600" algn="l"/>
              </a:tabLst>
              <a:defRPr>
                <a:solidFill>
                  <a:schemeClr val="tx1"/>
                </a:solidFill>
                <a:latin typeface="Arial" panose="020B0604020202020204" pitchFamily="34" charset="0"/>
              </a:defRPr>
            </a:lvl2pPr>
            <a:lvl3pPr>
              <a:tabLst>
                <a:tab pos="228600" algn="l"/>
              </a:tabLst>
              <a:defRPr>
                <a:solidFill>
                  <a:schemeClr val="tx1"/>
                </a:solidFill>
                <a:latin typeface="Arial" panose="020B0604020202020204" pitchFamily="34" charset="0"/>
              </a:defRPr>
            </a:lvl3pPr>
            <a:lvl4pPr>
              <a:tabLst>
                <a:tab pos="228600" algn="l"/>
              </a:tabLst>
              <a:defRPr>
                <a:solidFill>
                  <a:schemeClr val="tx1"/>
                </a:solidFill>
                <a:latin typeface="Arial" panose="020B0604020202020204" pitchFamily="34" charset="0"/>
              </a:defRPr>
            </a:lvl4pPr>
            <a:lvl5pPr>
              <a:tabLst>
                <a:tab pos="228600" algn="l"/>
              </a:tabLst>
              <a:defRPr>
                <a:solidFill>
                  <a:schemeClr val="tx1"/>
                </a:solidFill>
                <a:latin typeface="Arial" panose="020B0604020202020204" pitchFamily="34" charset="0"/>
              </a:defRPr>
            </a:lvl5pPr>
            <a:lvl6pPr fontAlgn="base">
              <a:spcBef>
                <a:spcPct val="0"/>
              </a:spcBef>
              <a:spcAft>
                <a:spcPct val="0"/>
              </a:spcAft>
              <a:tabLst>
                <a:tab pos="228600" algn="l"/>
              </a:tabLst>
              <a:defRPr>
                <a:solidFill>
                  <a:schemeClr val="tx1"/>
                </a:solidFill>
                <a:latin typeface="Arial" panose="020B0604020202020204" pitchFamily="34" charset="0"/>
              </a:defRPr>
            </a:lvl6pPr>
            <a:lvl7pPr fontAlgn="base">
              <a:spcBef>
                <a:spcPct val="0"/>
              </a:spcBef>
              <a:spcAft>
                <a:spcPct val="0"/>
              </a:spcAft>
              <a:tabLst>
                <a:tab pos="228600" algn="l"/>
              </a:tabLst>
              <a:defRPr>
                <a:solidFill>
                  <a:schemeClr val="tx1"/>
                </a:solidFill>
                <a:latin typeface="Arial" panose="020B0604020202020204" pitchFamily="34" charset="0"/>
              </a:defRPr>
            </a:lvl7pPr>
            <a:lvl8pPr fontAlgn="base">
              <a:spcBef>
                <a:spcPct val="0"/>
              </a:spcBef>
              <a:spcAft>
                <a:spcPct val="0"/>
              </a:spcAft>
              <a:tabLst>
                <a:tab pos="228600" algn="l"/>
              </a:tabLst>
              <a:defRPr>
                <a:solidFill>
                  <a:schemeClr val="tx1"/>
                </a:solidFill>
                <a:latin typeface="Arial" panose="020B0604020202020204" pitchFamily="34" charset="0"/>
              </a:defRPr>
            </a:lvl8pPr>
            <a:lvl9pPr fontAlgn="base">
              <a:spcBef>
                <a:spcPct val="0"/>
              </a:spcBef>
              <a:spcAft>
                <a:spcPct val="0"/>
              </a:spcAft>
              <a:tabLst>
                <a:tab pos="228600" algn="l"/>
              </a:tabLst>
              <a:defRPr>
                <a:solidFill>
                  <a:schemeClr val="tx1"/>
                </a:solidFill>
                <a:latin typeface="Arial" panose="020B0604020202020204" pitchFamily="34" charset="0"/>
              </a:defRPr>
            </a:lvl9pPr>
          </a:lstStyle>
          <a:p>
            <a:pPr algn="ctr">
              <a:defRPr/>
            </a:pPr>
            <a:r>
              <a:rPr lang="en-US" altLang="sr-Latn-RS" sz="2400" b="1" dirty="0">
                <a:solidFill>
                  <a:schemeClr val="accent1">
                    <a:lumMod val="20000"/>
                    <a:lumOff val="80000"/>
                  </a:schemeClr>
                </a:solidFill>
                <a:latin typeface="+mj-lt"/>
              </a:rPr>
              <a:t>POPULARNA KULTURA</a:t>
            </a:r>
            <a:endParaRPr lang="hr-HR" altLang="sr-Latn-RS" b="1" dirty="0">
              <a:solidFill>
                <a:schemeClr val="accent1">
                  <a:lumMod val="20000"/>
                  <a:lumOff val="80000"/>
                </a:schemeClr>
              </a:solidFill>
              <a:latin typeface="+mj-lt"/>
            </a:endParaRPr>
          </a:p>
        </p:txBody>
      </p:sp>
      <p:sp>
        <p:nvSpPr>
          <p:cNvPr id="16387" name="Rectangle 5"/>
          <p:cNvSpPr>
            <a:spLocks noChangeArrowheads="1"/>
          </p:cNvSpPr>
          <p:nvPr/>
        </p:nvSpPr>
        <p:spPr bwMode="auto">
          <a:xfrm>
            <a:off x="1589" y="310656"/>
            <a:ext cx="1218882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sto MT" panose="02040603050505030304" pitchFamily="18" charset="0"/>
              </a:defRPr>
            </a:lvl1pPr>
            <a:lvl2pPr marL="742950" indent="-285750">
              <a:defRPr>
                <a:solidFill>
                  <a:schemeClr val="tx1"/>
                </a:solidFill>
                <a:latin typeface="Calisto MT" panose="02040603050505030304" pitchFamily="18" charset="0"/>
              </a:defRPr>
            </a:lvl2pPr>
            <a:lvl3pPr marL="1143000" indent="-228600">
              <a:defRPr>
                <a:solidFill>
                  <a:schemeClr val="tx1"/>
                </a:solidFill>
                <a:latin typeface="Calisto MT" panose="02040603050505030304" pitchFamily="18" charset="0"/>
              </a:defRPr>
            </a:lvl3pPr>
            <a:lvl4pPr marL="1600200" indent="-228600">
              <a:defRPr>
                <a:solidFill>
                  <a:schemeClr val="tx1"/>
                </a:solidFill>
                <a:latin typeface="Calisto MT" panose="02040603050505030304" pitchFamily="18" charset="0"/>
              </a:defRPr>
            </a:lvl4pPr>
            <a:lvl5pPr marL="2057400" indent="-228600">
              <a:defRPr>
                <a:solidFill>
                  <a:schemeClr val="tx1"/>
                </a:solidFill>
                <a:latin typeface="Calisto MT" panose="02040603050505030304" pitchFamily="18" charset="0"/>
              </a:defRPr>
            </a:lvl5pPr>
            <a:lvl6pPr marL="2514600" indent="-228600" defTabSz="457200" fontAlgn="base">
              <a:spcBef>
                <a:spcPct val="0"/>
              </a:spcBef>
              <a:spcAft>
                <a:spcPct val="0"/>
              </a:spcAft>
              <a:defRPr>
                <a:solidFill>
                  <a:schemeClr val="tx1"/>
                </a:solidFill>
                <a:latin typeface="Calisto MT" panose="02040603050505030304" pitchFamily="18" charset="0"/>
              </a:defRPr>
            </a:lvl6pPr>
            <a:lvl7pPr marL="2971800" indent="-228600" defTabSz="457200" fontAlgn="base">
              <a:spcBef>
                <a:spcPct val="0"/>
              </a:spcBef>
              <a:spcAft>
                <a:spcPct val="0"/>
              </a:spcAft>
              <a:defRPr>
                <a:solidFill>
                  <a:schemeClr val="tx1"/>
                </a:solidFill>
                <a:latin typeface="Calisto MT" panose="02040603050505030304" pitchFamily="18" charset="0"/>
              </a:defRPr>
            </a:lvl7pPr>
            <a:lvl8pPr marL="3429000" indent="-228600" defTabSz="457200" fontAlgn="base">
              <a:spcBef>
                <a:spcPct val="0"/>
              </a:spcBef>
              <a:spcAft>
                <a:spcPct val="0"/>
              </a:spcAft>
              <a:defRPr>
                <a:solidFill>
                  <a:schemeClr val="tx1"/>
                </a:solidFill>
                <a:latin typeface="Calisto MT" panose="02040603050505030304" pitchFamily="18" charset="0"/>
              </a:defRPr>
            </a:lvl8pPr>
            <a:lvl9pPr marL="3886200" indent="-228600" defTabSz="457200" fontAlgn="base">
              <a:spcBef>
                <a:spcPct val="0"/>
              </a:spcBef>
              <a:spcAft>
                <a:spcPct val="0"/>
              </a:spcAft>
              <a:defRPr>
                <a:solidFill>
                  <a:schemeClr val="tx1"/>
                </a:solidFill>
                <a:latin typeface="Calisto MT" panose="02040603050505030304" pitchFamily="18" charset="0"/>
              </a:defRPr>
            </a:lvl9pPr>
          </a:lstStyle>
          <a:p>
            <a:pPr algn="ctr" eaLnBrk="1" hangingPunct="1"/>
            <a:r>
              <a:rPr lang="hr-HR" altLang="sr-Latn-RS" sz="2800" b="1" dirty="0">
                <a:latin typeface="+mj-lt"/>
              </a:rPr>
              <a:t>Kultura u suvremenom društvu</a:t>
            </a:r>
            <a:endParaRPr lang="en-US" altLang="sr-Latn-RS" sz="2800" b="1" dirty="0">
              <a:latin typeface="+mj-lt"/>
            </a:endParaRPr>
          </a:p>
        </p:txBody>
      </p:sp>
      <p:sp>
        <p:nvSpPr>
          <p:cNvPr id="16390" name="Rectangle 6"/>
          <p:cNvSpPr>
            <a:spLocks noChangeArrowheads="1"/>
          </p:cNvSpPr>
          <p:nvPr/>
        </p:nvSpPr>
        <p:spPr bwMode="auto">
          <a:xfrm>
            <a:off x="668910" y="1360421"/>
            <a:ext cx="241040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defRPr/>
            </a:pPr>
            <a:r>
              <a:rPr lang="en-US" altLang="sr-Latn-RS" sz="2400" b="1" dirty="0">
                <a:solidFill>
                  <a:schemeClr val="accent1">
                    <a:lumMod val="20000"/>
                    <a:lumOff val="80000"/>
                  </a:schemeClr>
                </a:solidFill>
              </a:rPr>
              <a:t>VISOKA KULTURA</a:t>
            </a:r>
          </a:p>
        </p:txBody>
      </p:sp>
      <p:sp>
        <p:nvSpPr>
          <p:cNvPr id="16391" name="Rectangle 7"/>
          <p:cNvSpPr>
            <a:spLocks noChangeArrowheads="1"/>
          </p:cNvSpPr>
          <p:nvPr/>
        </p:nvSpPr>
        <p:spPr bwMode="auto">
          <a:xfrm>
            <a:off x="4653384" y="1243014"/>
            <a:ext cx="2775696"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sto MT" panose="02040603050505030304" pitchFamily="18" charset="0"/>
              </a:defRPr>
            </a:lvl1pPr>
            <a:lvl2pPr marL="742950" indent="-285750">
              <a:defRPr>
                <a:solidFill>
                  <a:schemeClr val="tx1"/>
                </a:solidFill>
                <a:latin typeface="Calisto MT" panose="02040603050505030304" pitchFamily="18" charset="0"/>
              </a:defRPr>
            </a:lvl2pPr>
            <a:lvl3pPr marL="1143000" indent="-228600">
              <a:defRPr>
                <a:solidFill>
                  <a:schemeClr val="tx1"/>
                </a:solidFill>
                <a:latin typeface="Calisto MT" panose="02040603050505030304" pitchFamily="18" charset="0"/>
              </a:defRPr>
            </a:lvl3pPr>
            <a:lvl4pPr marL="1600200" indent="-228600">
              <a:defRPr>
                <a:solidFill>
                  <a:schemeClr val="tx1"/>
                </a:solidFill>
                <a:latin typeface="Calisto MT" panose="02040603050505030304" pitchFamily="18" charset="0"/>
              </a:defRPr>
            </a:lvl4pPr>
            <a:lvl5pPr marL="2057400" indent="-228600">
              <a:defRPr>
                <a:solidFill>
                  <a:schemeClr val="tx1"/>
                </a:solidFill>
                <a:latin typeface="Calisto MT" panose="02040603050505030304" pitchFamily="18" charset="0"/>
              </a:defRPr>
            </a:lvl5pPr>
            <a:lvl6pPr marL="2514600" indent="-228600" defTabSz="457200" fontAlgn="base">
              <a:spcBef>
                <a:spcPct val="0"/>
              </a:spcBef>
              <a:spcAft>
                <a:spcPct val="0"/>
              </a:spcAft>
              <a:defRPr>
                <a:solidFill>
                  <a:schemeClr val="tx1"/>
                </a:solidFill>
                <a:latin typeface="Calisto MT" panose="02040603050505030304" pitchFamily="18" charset="0"/>
              </a:defRPr>
            </a:lvl6pPr>
            <a:lvl7pPr marL="2971800" indent="-228600" defTabSz="457200" fontAlgn="base">
              <a:spcBef>
                <a:spcPct val="0"/>
              </a:spcBef>
              <a:spcAft>
                <a:spcPct val="0"/>
              </a:spcAft>
              <a:defRPr>
                <a:solidFill>
                  <a:schemeClr val="tx1"/>
                </a:solidFill>
                <a:latin typeface="Calisto MT" panose="02040603050505030304" pitchFamily="18" charset="0"/>
              </a:defRPr>
            </a:lvl7pPr>
            <a:lvl8pPr marL="3429000" indent="-228600" defTabSz="457200" fontAlgn="base">
              <a:spcBef>
                <a:spcPct val="0"/>
              </a:spcBef>
              <a:spcAft>
                <a:spcPct val="0"/>
              </a:spcAft>
              <a:defRPr>
                <a:solidFill>
                  <a:schemeClr val="tx1"/>
                </a:solidFill>
                <a:latin typeface="Calisto MT" panose="02040603050505030304" pitchFamily="18" charset="0"/>
              </a:defRPr>
            </a:lvl8pPr>
            <a:lvl9pPr marL="3886200" indent="-228600" defTabSz="457200" fontAlgn="base">
              <a:spcBef>
                <a:spcPct val="0"/>
              </a:spcBef>
              <a:spcAft>
                <a:spcPct val="0"/>
              </a:spcAft>
              <a:defRPr>
                <a:solidFill>
                  <a:schemeClr val="tx1"/>
                </a:solidFill>
                <a:latin typeface="Calisto MT" panose="02040603050505030304" pitchFamily="18" charset="0"/>
              </a:defRPr>
            </a:lvl9pPr>
          </a:lstStyle>
          <a:p>
            <a:pPr algn="ctr" eaLnBrk="1" hangingPunct="1"/>
            <a:r>
              <a:rPr lang="hr-HR" altLang="sr-Latn-RS" sz="2400" dirty="0">
                <a:latin typeface="+mj-lt"/>
              </a:rPr>
              <a:t>najvr</a:t>
            </a:r>
            <a:r>
              <a:rPr lang="en-US" altLang="sr-Latn-RS" sz="2400" dirty="0">
                <a:latin typeface="+mj-lt"/>
              </a:rPr>
              <a:t>j</a:t>
            </a:r>
            <a:r>
              <a:rPr lang="hr-HR" altLang="sr-Latn-RS" sz="2400" dirty="0">
                <a:latin typeface="+mj-lt"/>
              </a:rPr>
              <a:t>ednija djela,</a:t>
            </a:r>
          </a:p>
          <a:p>
            <a:pPr algn="ctr" eaLnBrk="1" hangingPunct="1"/>
            <a:r>
              <a:rPr lang="hr-HR" altLang="sr-Latn-RS" sz="2400" dirty="0">
                <a:latin typeface="+mj-lt"/>
              </a:rPr>
              <a:t> “ozbiljna” umjetnost</a:t>
            </a:r>
            <a:endParaRPr lang="en-US" altLang="sr-Latn-RS" sz="2400" dirty="0">
              <a:latin typeface="+mj-lt"/>
            </a:endParaRPr>
          </a:p>
        </p:txBody>
      </p:sp>
      <p:sp>
        <p:nvSpPr>
          <p:cNvPr id="16392" name="Rectangle 8"/>
          <p:cNvSpPr>
            <a:spLocks noChangeArrowheads="1"/>
          </p:cNvSpPr>
          <p:nvPr/>
        </p:nvSpPr>
        <p:spPr bwMode="auto">
          <a:xfrm>
            <a:off x="759607" y="2596636"/>
            <a:ext cx="2807692"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defRPr/>
            </a:pPr>
            <a:r>
              <a:rPr lang="en-US" altLang="sr-Latn-RS" sz="2400" b="1" dirty="0">
                <a:solidFill>
                  <a:schemeClr val="accent1">
                    <a:lumMod val="20000"/>
                    <a:lumOff val="80000"/>
                  </a:schemeClr>
                </a:solidFill>
              </a:rPr>
              <a:t>NARODNA “PUČKA” </a:t>
            </a:r>
          </a:p>
          <a:p>
            <a:pPr algn="ctr">
              <a:defRPr/>
            </a:pPr>
            <a:r>
              <a:rPr lang="en-US" altLang="sr-Latn-RS" sz="2400" b="1" dirty="0">
                <a:solidFill>
                  <a:schemeClr val="accent1">
                    <a:lumMod val="20000"/>
                    <a:lumOff val="80000"/>
                  </a:schemeClr>
                </a:solidFill>
              </a:rPr>
              <a:t>KULTURA</a:t>
            </a:r>
          </a:p>
        </p:txBody>
      </p:sp>
      <p:sp>
        <p:nvSpPr>
          <p:cNvPr id="16393" name="Rectangle 9"/>
          <p:cNvSpPr>
            <a:spLocks noChangeArrowheads="1"/>
          </p:cNvSpPr>
          <p:nvPr/>
        </p:nvSpPr>
        <p:spPr bwMode="auto">
          <a:xfrm>
            <a:off x="4506913" y="2472811"/>
            <a:ext cx="291782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sto MT" panose="02040603050505030304" pitchFamily="18" charset="0"/>
              </a:defRPr>
            </a:lvl1pPr>
            <a:lvl2pPr marL="742950" indent="-285750">
              <a:defRPr>
                <a:solidFill>
                  <a:schemeClr val="tx1"/>
                </a:solidFill>
                <a:latin typeface="Calisto MT" panose="02040603050505030304" pitchFamily="18" charset="0"/>
              </a:defRPr>
            </a:lvl2pPr>
            <a:lvl3pPr marL="1143000" indent="-228600">
              <a:defRPr>
                <a:solidFill>
                  <a:schemeClr val="tx1"/>
                </a:solidFill>
                <a:latin typeface="Calisto MT" panose="02040603050505030304" pitchFamily="18" charset="0"/>
              </a:defRPr>
            </a:lvl3pPr>
            <a:lvl4pPr marL="1600200" indent="-228600">
              <a:defRPr>
                <a:solidFill>
                  <a:schemeClr val="tx1"/>
                </a:solidFill>
                <a:latin typeface="Calisto MT" panose="02040603050505030304" pitchFamily="18" charset="0"/>
              </a:defRPr>
            </a:lvl4pPr>
            <a:lvl5pPr marL="2057400" indent="-228600">
              <a:defRPr>
                <a:solidFill>
                  <a:schemeClr val="tx1"/>
                </a:solidFill>
                <a:latin typeface="Calisto MT" panose="02040603050505030304" pitchFamily="18" charset="0"/>
              </a:defRPr>
            </a:lvl5pPr>
            <a:lvl6pPr marL="2514600" indent="-228600" defTabSz="457200" fontAlgn="base">
              <a:spcBef>
                <a:spcPct val="0"/>
              </a:spcBef>
              <a:spcAft>
                <a:spcPct val="0"/>
              </a:spcAft>
              <a:defRPr>
                <a:solidFill>
                  <a:schemeClr val="tx1"/>
                </a:solidFill>
                <a:latin typeface="Calisto MT" panose="02040603050505030304" pitchFamily="18" charset="0"/>
              </a:defRPr>
            </a:lvl6pPr>
            <a:lvl7pPr marL="2971800" indent="-228600" defTabSz="457200" fontAlgn="base">
              <a:spcBef>
                <a:spcPct val="0"/>
              </a:spcBef>
              <a:spcAft>
                <a:spcPct val="0"/>
              </a:spcAft>
              <a:defRPr>
                <a:solidFill>
                  <a:schemeClr val="tx1"/>
                </a:solidFill>
                <a:latin typeface="Calisto MT" panose="02040603050505030304" pitchFamily="18" charset="0"/>
              </a:defRPr>
            </a:lvl7pPr>
            <a:lvl8pPr marL="3429000" indent="-228600" defTabSz="457200" fontAlgn="base">
              <a:spcBef>
                <a:spcPct val="0"/>
              </a:spcBef>
              <a:spcAft>
                <a:spcPct val="0"/>
              </a:spcAft>
              <a:defRPr>
                <a:solidFill>
                  <a:schemeClr val="tx1"/>
                </a:solidFill>
                <a:latin typeface="Calisto MT" panose="02040603050505030304" pitchFamily="18" charset="0"/>
              </a:defRPr>
            </a:lvl8pPr>
            <a:lvl9pPr marL="3886200" indent="-228600" defTabSz="457200" fontAlgn="base">
              <a:spcBef>
                <a:spcPct val="0"/>
              </a:spcBef>
              <a:spcAft>
                <a:spcPct val="0"/>
              </a:spcAft>
              <a:defRPr>
                <a:solidFill>
                  <a:schemeClr val="tx1"/>
                </a:solidFill>
                <a:latin typeface="Calisto MT" panose="02040603050505030304" pitchFamily="18" charset="0"/>
              </a:defRPr>
            </a:lvl9pPr>
          </a:lstStyle>
          <a:p>
            <a:pPr algn="ctr" eaLnBrk="1" hangingPunct="1"/>
            <a:r>
              <a:rPr lang="hr-HR" altLang="sr-Latn-RS" sz="2400" dirty="0">
                <a:latin typeface="+mj-lt"/>
              </a:rPr>
              <a:t>folklor,</a:t>
            </a:r>
          </a:p>
          <a:p>
            <a:pPr algn="ctr" eaLnBrk="1" hangingPunct="1"/>
            <a:r>
              <a:rPr lang="hr-HR" altLang="sr-Latn-RS" sz="2400" dirty="0">
                <a:latin typeface="+mj-lt"/>
              </a:rPr>
              <a:t>narodno stvaralaštvo </a:t>
            </a:r>
            <a:endParaRPr lang="en-US" altLang="sr-Latn-RS" sz="2400" dirty="0">
              <a:latin typeface="+mj-lt"/>
            </a:endParaRPr>
          </a:p>
        </p:txBody>
      </p:sp>
      <p:sp>
        <p:nvSpPr>
          <p:cNvPr id="16394" name="Rectangle 10"/>
          <p:cNvSpPr>
            <a:spLocks noChangeArrowheads="1"/>
          </p:cNvSpPr>
          <p:nvPr/>
        </p:nvSpPr>
        <p:spPr bwMode="auto">
          <a:xfrm>
            <a:off x="8462899" y="2783535"/>
            <a:ext cx="2151808"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sto MT" panose="02040603050505030304" pitchFamily="18" charset="0"/>
              </a:defRPr>
            </a:lvl1pPr>
            <a:lvl2pPr marL="742950" indent="-285750">
              <a:defRPr>
                <a:solidFill>
                  <a:schemeClr val="tx1"/>
                </a:solidFill>
                <a:latin typeface="Calisto MT" panose="02040603050505030304" pitchFamily="18" charset="0"/>
              </a:defRPr>
            </a:lvl2pPr>
            <a:lvl3pPr marL="1143000" indent="-228600">
              <a:defRPr>
                <a:solidFill>
                  <a:schemeClr val="tx1"/>
                </a:solidFill>
                <a:latin typeface="Calisto MT" panose="02040603050505030304" pitchFamily="18" charset="0"/>
              </a:defRPr>
            </a:lvl3pPr>
            <a:lvl4pPr marL="1600200" indent="-228600">
              <a:defRPr>
                <a:solidFill>
                  <a:schemeClr val="tx1"/>
                </a:solidFill>
                <a:latin typeface="Calisto MT" panose="02040603050505030304" pitchFamily="18" charset="0"/>
              </a:defRPr>
            </a:lvl4pPr>
            <a:lvl5pPr marL="2057400" indent="-228600">
              <a:defRPr>
                <a:solidFill>
                  <a:schemeClr val="tx1"/>
                </a:solidFill>
                <a:latin typeface="Calisto MT" panose="02040603050505030304" pitchFamily="18" charset="0"/>
              </a:defRPr>
            </a:lvl5pPr>
            <a:lvl6pPr marL="2514600" indent="-228600" defTabSz="457200" fontAlgn="base">
              <a:spcBef>
                <a:spcPct val="0"/>
              </a:spcBef>
              <a:spcAft>
                <a:spcPct val="0"/>
              </a:spcAft>
              <a:defRPr>
                <a:solidFill>
                  <a:schemeClr val="tx1"/>
                </a:solidFill>
                <a:latin typeface="Calisto MT" panose="02040603050505030304" pitchFamily="18" charset="0"/>
              </a:defRPr>
            </a:lvl6pPr>
            <a:lvl7pPr marL="2971800" indent="-228600" defTabSz="457200" fontAlgn="base">
              <a:spcBef>
                <a:spcPct val="0"/>
              </a:spcBef>
              <a:spcAft>
                <a:spcPct val="0"/>
              </a:spcAft>
              <a:defRPr>
                <a:solidFill>
                  <a:schemeClr val="tx1"/>
                </a:solidFill>
                <a:latin typeface="Calisto MT" panose="02040603050505030304" pitchFamily="18" charset="0"/>
              </a:defRPr>
            </a:lvl7pPr>
            <a:lvl8pPr marL="3429000" indent="-228600" defTabSz="457200" fontAlgn="base">
              <a:spcBef>
                <a:spcPct val="0"/>
              </a:spcBef>
              <a:spcAft>
                <a:spcPct val="0"/>
              </a:spcAft>
              <a:defRPr>
                <a:solidFill>
                  <a:schemeClr val="tx1"/>
                </a:solidFill>
                <a:latin typeface="Calisto MT" panose="02040603050505030304" pitchFamily="18" charset="0"/>
              </a:defRPr>
            </a:lvl8pPr>
            <a:lvl9pPr marL="3886200" indent="-228600" defTabSz="457200" fontAlgn="base">
              <a:spcBef>
                <a:spcPct val="0"/>
              </a:spcBef>
              <a:spcAft>
                <a:spcPct val="0"/>
              </a:spcAft>
              <a:defRPr>
                <a:solidFill>
                  <a:schemeClr val="tx1"/>
                </a:solidFill>
                <a:latin typeface="Calisto MT" panose="02040603050505030304" pitchFamily="18" charset="0"/>
              </a:defRPr>
            </a:lvl9pPr>
          </a:lstStyle>
          <a:p>
            <a:pPr algn="ctr" eaLnBrk="1" hangingPunct="1"/>
            <a:r>
              <a:rPr lang="hr-HR" altLang="sr-Latn-RS" sz="2400" dirty="0">
                <a:latin typeface="+mj-lt"/>
              </a:rPr>
              <a:t>napjevi, plesovi,</a:t>
            </a:r>
          </a:p>
          <a:p>
            <a:pPr algn="ctr" eaLnBrk="1" hangingPunct="1"/>
            <a:r>
              <a:rPr lang="hr-HR" altLang="sr-Latn-RS" sz="2400" dirty="0">
                <a:latin typeface="+mj-lt"/>
              </a:rPr>
              <a:t> pripovijesti</a:t>
            </a:r>
            <a:endParaRPr lang="en-US" altLang="sr-Latn-RS" sz="2400" dirty="0">
              <a:latin typeface="+mj-lt"/>
            </a:endParaRPr>
          </a:p>
        </p:txBody>
      </p:sp>
      <p:sp>
        <p:nvSpPr>
          <p:cNvPr id="16395" name="Rectangle 11"/>
          <p:cNvSpPr>
            <a:spLocks noChangeArrowheads="1"/>
          </p:cNvSpPr>
          <p:nvPr/>
        </p:nvSpPr>
        <p:spPr bwMode="auto">
          <a:xfrm>
            <a:off x="781082" y="4311006"/>
            <a:ext cx="281230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defRPr/>
            </a:pPr>
            <a:r>
              <a:rPr lang="en-US" altLang="sr-Latn-RS" sz="2400" b="1" dirty="0">
                <a:solidFill>
                  <a:schemeClr val="accent1">
                    <a:lumMod val="20000"/>
                    <a:lumOff val="80000"/>
                  </a:schemeClr>
                </a:solidFill>
              </a:rPr>
              <a:t>MASOVNA KULTURA</a:t>
            </a:r>
          </a:p>
        </p:txBody>
      </p:sp>
      <p:sp>
        <p:nvSpPr>
          <p:cNvPr id="16396" name="Rectangle 12"/>
          <p:cNvSpPr>
            <a:spLocks noChangeArrowheads="1"/>
          </p:cNvSpPr>
          <p:nvPr/>
        </p:nvSpPr>
        <p:spPr bwMode="auto">
          <a:xfrm>
            <a:off x="5043553" y="4149727"/>
            <a:ext cx="1844544"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sto MT" panose="02040603050505030304" pitchFamily="18" charset="0"/>
              </a:defRPr>
            </a:lvl1pPr>
            <a:lvl2pPr marL="742950" indent="-285750">
              <a:defRPr>
                <a:solidFill>
                  <a:schemeClr val="tx1"/>
                </a:solidFill>
                <a:latin typeface="Calisto MT" panose="02040603050505030304" pitchFamily="18" charset="0"/>
              </a:defRPr>
            </a:lvl2pPr>
            <a:lvl3pPr marL="1143000" indent="-228600">
              <a:defRPr>
                <a:solidFill>
                  <a:schemeClr val="tx1"/>
                </a:solidFill>
                <a:latin typeface="Calisto MT" panose="02040603050505030304" pitchFamily="18" charset="0"/>
              </a:defRPr>
            </a:lvl3pPr>
            <a:lvl4pPr marL="1600200" indent="-228600">
              <a:defRPr>
                <a:solidFill>
                  <a:schemeClr val="tx1"/>
                </a:solidFill>
                <a:latin typeface="Calisto MT" panose="02040603050505030304" pitchFamily="18" charset="0"/>
              </a:defRPr>
            </a:lvl4pPr>
            <a:lvl5pPr marL="2057400" indent="-228600">
              <a:defRPr>
                <a:solidFill>
                  <a:schemeClr val="tx1"/>
                </a:solidFill>
                <a:latin typeface="Calisto MT" panose="02040603050505030304" pitchFamily="18" charset="0"/>
              </a:defRPr>
            </a:lvl5pPr>
            <a:lvl6pPr marL="2514600" indent="-228600" defTabSz="457200" fontAlgn="base">
              <a:spcBef>
                <a:spcPct val="0"/>
              </a:spcBef>
              <a:spcAft>
                <a:spcPct val="0"/>
              </a:spcAft>
              <a:defRPr>
                <a:solidFill>
                  <a:schemeClr val="tx1"/>
                </a:solidFill>
                <a:latin typeface="Calisto MT" panose="02040603050505030304" pitchFamily="18" charset="0"/>
              </a:defRPr>
            </a:lvl6pPr>
            <a:lvl7pPr marL="2971800" indent="-228600" defTabSz="457200" fontAlgn="base">
              <a:spcBef>
                <a:spcPct val="0"/>
              </a:spcBef>
              <a:spcAft>
                <a:spcPct val="0"/>
              </a:spcAft>
              <a:defRPr>
                <a:solidFill>
                  <a:schemeClr val="tx1"/>
                </a:solidFill>
                <a:latin typeface="Calisto MT" panose="02040603050505030304" pitchFamily="18" charset="0"/>
              </a:defRPr>
            </a:lvl7pPr>
            <a:lvl8pPr marL="3429000" indent="-228600" defTabSz="457200" fontAlgn="base">
              <a:spcBef>
                <a:spcPct val="0"/>
              </a:spcBef>
              <a:spcAft>
                <a:spcPct val="0"/>
              </a:spcAft>
              <a:defRPr>
                <a:solidFill>
                  <a:schemeClr val="tx1"/>
                </a:solidFill>
                <a:latin typeface="Calisto MT" panose="02040603050505030304" pitchFamily="18" charset="0"/>
              </a:defRPr>
            </a:lvl8pPr>
            <a:lvl9pPr marL="3886200" indent="-228600" defTabSz="457200" fontAlgn="base">
              <a:spcBef>
                <a:spcPct val="0"/>
              </a:spcBef>
              <a:spcAft>
                <a:spcPct val="0"/>
              </a:spcAft>
              <a:defRPr>
                <a:solidFill>
                  <a:schemeClr val="tx1"/>
                </a:solidFill>
                <a:latin typeface="Calisto MT" panose="02040603050505030304" pitchFamily="18" charset="0"/>
              </a:defRPr>
            </a:lvl9pPr>
          </a:lstStyle>
          <a:p>
            <a:pPr algn="ctr" eaLnBrk="1" hangingPunct="1"/>
            <a:r>
              <a:rPr lang="hr-HR" altLang="sr-Latn-RS" sz="2400" dirty="0">
                <a:latin typeface="+mj-lt"/>
              </a:rPr>
              <a:t>posredovana </a:t>
            </a:r>
          </a:p>
          <a:p>
            <a:pPr algn="ctr" eaLnBrk="1" hangingPunct="1"/>
            <a:r>
              <a:rPr lang="hr-HR" altLang="sr-Latn-RS" sz="2400" dirty="0">
                <a:latin typeface="+mj-lt"/>
              </a:rPr>
              <a:t>masovnim</a:t>
            </a:r>
          </a:p>
          <a:p>
            <a:pPr algn="ctr" eaLnBrk="1" hangingPunct="1"/>
            <a:r>
              <a:rPr lang="hr-HR" altLang="sr-Latn-RS" sz="2400" dirty="0">
                <a:latin typeface="+mj-lt"/>
              </a:rPr>
              <a:t> medijima</a:t>
            </a:r>
            <a:endParaRPr lang="en-US" altLang="sr-Latn-RS" sz="2400" dirty="0">
              <a:latin typeface="+mj-lt"/>
            </a:endParaRPr>
          </a:p>
        </p:txBody>
      </p:sp>
      <p:sp>
        <p:nvSpPr>
          <p:cNvPr id="16397" name="Rectangle 13"/>
          <p:cNvSpPr>
            <a:spLocks noChangeArrowheads="1"/>
          </p:cNvSpPr>
          <p:nvPr/>
        </p:nvSpPr>
        <p:spPr bwMode="auto">
          <a:xfrm>
            <a:off x="8256240" y="4138804"/>
            <a:ext cx="3014662"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sto MT" panose="02040603050505030304" pitchFamily="18" charset="0"/>
              </a:defRPr>
            </a:lvl1pPr>
            <a:lvl2pPr marL="742950" indent="-285750">
              <a:defRPr>
                <a:solidFill>
                  <a:schemeClr val="tx1"/>
                </a:solidFill>
                <a:latin typeface="Calisto MT" panose="02040603050505030304" pitchFamily="18" charset="0"/>
              </a:defRPr>
            </a:lvl2pPr>
            <a:lvl3pPr marL="1143000" indent="-228600">
              <a:defRPr>
                <a:solidFill>
                  <a:schemeClr val="tx1"/>
                </a:solidFill>
                <a:latin typeface="Calisto MT" panose="02040603050505030304" pitchFamily="18" charset="0"/>
              </a:defRPr>
            </a:lvl3pPr>
            <a:lvl4pPr marL="1600200" indent="-228600">
              <a:defRPr>
                <a:solidFill>
                  <a:schemeClr val="tx1"/>
                </a:solidFill>
                <a:latin typeface="Calisto MT" panose="02040603050505030304" pitchFamily="18" charset="0"/>
              </a:defRPr>
            </a:lvl4pPr>
            <a:lvl5pPr marL="2057400" indent="-228600">
              <a:defRPr>
                <a:solidFill>
                  <a:schemeClr val="tx1"/>
                </a:solidFill>
                <a:latin typeface="Calisto MT" panose="02040603050505030304" pitchFamily="18" charset="0"/>
              </a:defRPr>
            </a:lvl5pPr>
            <a:lvl6pPr marL="2514600" indent="-228600" defTabSz="457200" fontAlgn="base">
              <a:spcBef>
                <a:spcPct val="0"/>
              </a:spcBef>
              <a:spcAft>
                <a:spcPct val="0"/>
              </a:spcAft>
              <a:defRPr>
                <a:solidFill>
                  <a:schemeClr val="tx1"/>
                </a:solidFill>
                <a:latin typeface="Calisto MT" panose="02040603050505030304" pitchFamily="18" charset="0"/>
              </a:defRPr>
            </a:lvl6pPr>
            <a:lvl7pPr marL="2971800" indent="-228600" defTabSz="457200" fontAlgn="base">
              <a:spcBef>
                <a:spcPct val="0"/>
              </a:spcBef>
              <a:spcAft>
                <a:spcPct val="0"/>
              </a:spcAft>
              <a:defRPr>
                <a:solidFill>
                  <a:schemeClr val="tx1"/>
                </a:solidFill>
                <a:latin typeface="Calisto MT" panose="02040603050505030304" pitchFamily="18" charset="0"/>
              </a:defRPr>
            </a:lvl7pPr>
            <a:lvl8pPr marL="3429000" indent="-228600" defTabSz="457200" fontAlgn="base">
              <a:spcBef>
                <a:spcPct val="0"/>
              </a:spcBef>
              <a:spcAft>
                <a:spcPct val="0"/>
              </a:spcAft>
              <a:defRPr>
                <a:solidFill>
                  <a:schemeClr val="tx1"/>
                </a:solidFill>
                <a:latin typeface="Calisto MT" panose="02040603050505030304" pitchFamily="18" charset="0"/>
              </a:defRPr>
            </a:lvl8pPr>
            <a:lvl9pPr marL="3886200" indent="-228600" defTabSz="457200" fontAlgn="base">
              <a:spcBef>
                <a:spcPct val="0"/>
              </a:spcBef>
              <a:spcAft>
                <a:spcPct val="0"/>
              </a:spcAft>
              <a:defRPr>
                <a:solidFill>
                  <a:schemeClr val="tx1"/>
                </a:solidFill>
                <a:latin typeface="Calisto MT" panose="02040603050505030304" pitchFamily="18" charset="0"/>
              </a:defRPr>
            </a:lvl9pPr>
          </a:lstStyle>
          <a:p>
            <a:pPr algn="ctr" eaLnBrk="1" hangingPunct="1"/>
            <a:r>
              <a:rPr lang="hr-HR" altLang="sr-Latn-RS" sz="2400" dirty="0">
                <a:latin typeface="+mj-lt"/>
              </a:rPr>
              <a:t>TV serije,  </a:t>
            </a:r>
            <a:r>
              <a:rPr lang="en-US" altLang="sr-Latn-RS" sz="2400" dirty="0">
                <a:latin typeface="+mj-lt"/>
              </a:rPr>
              <a:t>reality show</a:t>
            </a:r>
            <a:r>
              <a:rPr lang="hr-HR" altLang="sr-Latn-RS" sz="2400" dirty="0">
                <a:latin typeface="+mj-lt"/>
              </a:rPr>
              <a:t>, </a:t>
            </a:r>
          </a:p>
          <a:p>
            <a:pPr algn="ctr" eaLnBrk="1" hangingPunct="1"/>
            <a:r>
              <a:rPr lang="hr-HR" altLang="sr-Latn-RS" sz="2400" dirty="0">
                <a:latin typeface="+mj-lt"/>
              </a:rPr>
              <a:t>pop glazba</a:t>
            </a:r>
            <a:endParaRPr lang="en-US" altLang="sr-Latn-RS" sz="2400" dirty="0">
              <a:latin typeface="+mj-lt"/>
            </a:endParaRPr>
          </a:p>
        </p:txBody>
      </p:sp>
      <p:sp>
        <p:nvSpPr>
          <p:cNvPr id="16398" name="Rectangle 14"/>
          <p:cNvSpPr>
            <a:spLocks noChangeArrowheads="1"/>
          </p:cNvSpPr>
          <p:nvPr/>
        </p:nvSpPr>
        <p:spPr bwMode="auto">
          <a:xfrm>
            <a:off x="4423989" y="5564190"/>
            <a:ext cx="3196388"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sto MT" panose="02040603050505030304" pitchFamily="18" charset="0"/>
              </a:defRPr>
            </a:lvl1pPr>
            <a:lvl2pPr marL="742950" indent="-285750">
              <a:defRPr>
                <a:solidFill>
                  <a:schemeClr val="tx1"/>
                </a:solidFill>
                <a:latin typeface="Calisto MT" panose="02040603050505030304" pitchFamily="18" charset="0"/>
              </a:defRPr>
            </a:lvl2pPr>
            <a:lvl3pPr marL="1143000" indent="-228600">
              <a:defRPr>
                <a:solidFill>
                  <a:schemeClr val="tx1"/>
                </a:solidFill>
                <a:latin typeface="Calisto MT" panose="02040603050505030304" pitchFamily="18" charset="0"/>
              </a:defRPr>
            </a:lvl3pPr>
            <a:lvl4pPr marL="1600200" indent="-228600">
              <a:defRPr>
                <a:solidFill>
                  <a:schemeClr val="tx1"/>
                </a:solidFill>
                <a:latin typeface="Calisto MT" panose="02040603050505030304" pitchFamily="18" charset="0"/>
              </a:defRPr>
            </a:lvl4pPr>
            <a:lvl5pPr marL="2057400" indent="-228600">
              <a:defRPr>
                <a:solidFill>
                  <a:schemeClr val="tx1"/>
                </a:solidFill>
                <a:latin typeface="Calisto MT" panose="02040603050505030304" pitchFamily="18" charset="0"/>
              </a:defRPr>
            </a:lvl5pPr>
            <a:lvl6pPr marL="2514600" indent="-228600" defTabSz="457200" fontAlgn="base">
              <a:spcBef>
                <a:spcPct val="0"/>
              </a:spcBef>
              <a:spcAft>
                <a:spcPct val="0"/>
              </a:spcAft>
              <a:defRPr>
                <a:solidFill>
                  <a:schemeClr val="tx1"/>
                </a:solidFill>
                <a:latin typeface="Calisto MT" panose="02040603050505030304" pitchFamily="18" charset="0"/>
              </a:defRPr>
            </a:lvl6pPr>
            <a:lvl7pPr marL="2971800" indent="-228600" defTabSz="457200" fontAlgn="base">
              <a:spcBef>
                <a:spcPct val="0"/>
              </a:spcBef>
              <a:spcAft>
                <a:spcPct val="0"/>
              </a:spcAft>
              <a:defRPr>
                <a:solidFill>
                  <a:schemeClr val="tx1"/>
                </a:solidFill>
                <a:latin typeface="Calisto MT" panose="02040603050505030304" pitchFamily="18" charset="0"/>
              </a:defRPr>
            </a:lvl7pPr>
            <a:lvl8pPr marL="3429000" indent="-228600" defTabSz="457200" fontAlgn="base">
              <a:spcBef>
                <a:spcPct val="0"/>
              </a:spcBef>
              <a:spcAft>
                <a:spcPct val="0"/>
              </a:spcAft>
              <a:defRPr>
                <a:solidFill>
                  <a:schemeClr val="tx1"/>
                </a:solidFill>
                <a:latin typeface="Calisto MT" panose="02040603050505030304" pitchFamily="18" charset="0"/>
              </a:defRPr>
            </a:lvl8pPr>
            <a:lvl9pPr marL="3886200" indent="-228600" defTabSz="457200" fontAlgn="base">
              <a:spcBef>
                <a:spcPct val="0"/>
              </a:spcBef>
              <a:spcAft>
                <a:spcPct val="0"/>
              </a:spcAft>
              <a:defRPr>
                <a:solidFill>
                  <a:schemeClr val="tx1"/>
                </a:solidFill>
                <a:latin typeface="Calisto MT" panose="02040603050505030304" pitchFamily="18" charset="0"/>
              </a:defRPr>
            </a:lvl9pPr>
          </a:lstStyle>
          <a:p>
            <a:pPr algn="ctr" eaLnBrk="1" hangingPunct="1"/>
            <a:r>
              <a:rPr lang="hr-HR" altLang="sr-Latn-RS" sz="2400" dirty="0">
                <a:latin typeface="+mj-lt"/>
              </a:rPr>
              <a:t>djela znatne umjetničke </a:t>
            </a:r>
          </a:p>
          <a:p>
            <a:pPr algn="ctr" eaLnBrk="1" hangingPunct="1"/>
            <a:r>
              <a:rPr lang="hr-HR" altLang="sr-Latn-RS" sz="2400" dirty="0">
                <a:latin typeface="+mj-lt"/>
              </a:rPr>
              <a:t>vrijednosti </a:t>
            </a:r>
            <a:r>
              <a:rPr lang="en-US" altLang="sr-Latn-RS" sz="2400" dirty="0" err="1">
                <a:latin typeface="+mj-lt"/>
              </a:rPr>
              <a:t>koja</a:t>
            </a:r>
            <a:r>
              <a:rPr lang="en-US" altLang="sr-Latn-RS" sz="2400" dirty="0">
                <a:latin typeface="+mj-lt"/>
              </a:rPr>
              <a:t> </a:t>
            </a:r>
            <a:r>
              <a:rPr lang="hr-HR" altLang="sr-Latn-RS" sz="2400" dirty="0">
                <a:latin typeface="+mj-lt"/>
              </a:rPr>
              <a:t>su široko</a:t>
            </a:r>
          </a:p>
          <a:p>
            <a:pPr algn="ctr" eaLnBrk="1" hangingPunct="1"/>
            <a:r>
              <a:rPr lang="hr-HR" altLang="sr-Latn-RS" sz="2400" dirty="0">
                <a:latin typeface="+mj-lt"/>
              </a:rPr>
              <a:t>prihvaćena</a:t>
            </a:r>
            <a:endParaRPr lang="en-US" altLang="sr-Latn-RS" sz="2400" dirty="0">
              <a:latin typeface="+mj-lt"/>
            </a:endParaRPr>
          </a:p>
        </p:txBody>
      </p:sp>
      <p:sp>
        <p:nvSpPr>
          <p:cNvPr id="16399" name="Rectangle 15"/>
          <p:cNvSpPr>
            <a:spLocks noChangeArrowheads="1"/>
          </p:cNvSpPr>
          <p:nvPr/>
        </p:nvSpPr>
        <p:spPr bwMode="auto">
          <a:xfrm>
            <a:off x="8565396" y="5614859"/>
            <a:ext cx="2749919"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sto MT" panose="02040603050505030304" pitchFamily="18" charset="0"/>
              </a:defRPr>
            </a:lvl1pPr>
            <a:lvl2pPr marL="742950" indent="-285750">
              <a:defRPr>
                <a:solidFill>
                  <a:schemeClr val="tx1"/>
                </a:solidFill>
                <a:latin typeface="Calisto MT" panose="02040603050505030304" pitchFamily="18" charset="0"/>
              </a:defRPr>
            </a:lvl2pPr>
            <a:lvl3pPr marL="1143000" indent="-228600">
              <a:defRPr>
                <a:solidFill>
                  <a:schemeClr val="tx1"/>
                </a:solidFill>
                <a:latin typeface="Calisto MT" panose="02040603050505030304" pitchFamily="18" charset="0"/>
              </a:defRPr>
            </a:lvl3pPr>
            <a:lvl4pPr marL="1600200" indent="-228600">
              <a:defRPr>
                <a:solidFill>
                  <a:schemeClr val="tx1"/>
                </a:solidFill>
                <a:latin typeface="Calisto MT" panose="02040603050505030304" pitchFamily="18" charset="0"/>
              </a:defRPr>
            </a:lvl4pPr>
            <a:lvl5pPr marL="2057400" indent="-228600">
              <a:defRPr>
                <a:solidFill>
                  <a:schemeClr val="tx1"/>
                </a:solidFill>
                <a:latin typeface="Calisto MT" panose="02040603050505030304" pitchFamily="18" charset="0"/>
              </a:defRPr>
            </a:lvl5pPr>
            <a:lvl6pPr marL="2514600" indent="-228600" defTabSz="457200" fontAlgn="base">
              <a:spcBef>
                <a:spcPct val="0"/>
              </a:spcBef>
              <a:spcAft>
                <a:spcPct val="0"/>
              </a:spcAft>
              <a:defRPr>
                <a:solidFill>
                  <a:schemeClr val="tx1"/>
                </a:solidFill>
                <a:latin typeface="Calisto MT" panose="02040603050505030304" pitchFamily="18" charset="0"/>
              </a:defRPr>
            </a:lvl6pPr>
            <a:lvl7pPr marL="2971800" indent="-228600" defTabSz="457200" fontAlgn="base">
              <a:spcBef>
                <a:spcPct val="0"/>
              </a:spcBef>
              <a:spcAft>
                <a:spcPct val="0"/>
              </a:spcAft>
              <a:defRPr>
                <a:solidFill>
                  <a:schemeClr val="tx1"/>
                </a:solidFill>
                <a:latin typeface="Calisto MT" panose="02040603050505030304" pitchFamily="18" charset="0"/>
              </a:defRPr>
            </a:lvl7pPr>
            <a:lvl8pPr marL="3429000" indent="-228600" defTabSz="457200" fontAlgn="base">
              <a:spcBef>
                <a:spcPct val="0"/>
              </a:spcBef>
              <a:spcAft>
                <a:spcPct val="0"/>
              </a:spcAft>
              <a:defRPr>
                <a:solidFill>
                  <a:schemeClr val="tx1"/>
                </a:solidFill>
                <a:latin typeface="Calisto MT" panose="02040603050505030304" pitchFamily="18" charset="0"/>
              </a:defRPr>
            </a:lvl8pPr>
            <a:lvl9pPr marL="3886200" indent="-228600" defTabSz="457200" fontAlgn="base">
              <a:spcBef>
                <a:spcPct val="0"/>
              </a:spcBef>
              <a:spcAft>
                <a:spcPct val="0"/>
              </a:spcAft>
              <a:defRPr>
                <a:solidFill>
                  <a:schemeClr val="tx1"/>
                </a:solidFill>
                <a:latin typeface="Calisto MT" panose="02040603050505030304" pitchFamily="18" charset="0"/>
              </a:defRPr>
            </a:lvl9pPr>
          </a:lstStyle>
          <a:p>
            <a:pPr algn="ctr" eaLnBrk="1" hangingPunct="1"/>
            <a:r>
              <a:rPr lang="hr-HR" altLang="sr-Latn-RS" sz="2400" dirty="0">
                <a:latin typeface="+mj-lt"/>
              </a:rPr>
              <a:t>Gospodar prstenova,</a:t>
            </a:r>
            <a:endParaRPr lang="en-US" altLang="sr-Latn-RS" sz="2400" dirty="0">
              <a:latin typeface="+mj-lt"/>
            </a:endParaRPr>
          </a:p>
          <a:p>
            <a:pPr algn="ctr" eaLnBrk="1" hangingPunct="1"/>
            <a:r>
              <a:rPr lang="hr-HR" altLang="sr-Latn-RS" sz="2400" dirty="0">
                <a:latin typeface="+mj-lt"/>
              </a:rPr>
              <a:t> </a:t>
            </a:r>
            <a:r>
              <a:rPr lang="en-US" altLang="sr-Latn-RS" sz="2400" dirty="0">
                <a:latin typeface="+mj-lt"/>
              </a:rPr>
              <a:t>Lady Gaga</a:t>
            </a:r>
          </a:p>
        </p:txBody>
      </p:sp>
      <p:sp>
        <p:nvSpPr>
          <p:cNvPr id="16400" name="Text Box 16"/>
          <p:cNvSpPr txBox="1">
            <a:spLocks noChangeArrowheads="1"/>
          </p:cNvSpPr>
          <p:nvPr/>
        </p:nvSpPr>
        <p:spPr bwMode="auto">
          <a:xfrm>
            <a:off x="9207168" y="1323518"/>
            <a:ext cx="111280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sto MT" panose="02040603050505030304" pitchFamily="18" charset="0"/>
              </a:defRPr>
            </a:lvl1pPr>
            <a:lvl2pPr marL="742950" indent="-285750">
              <a:defRPr>
                <a:solidFill>
                  <a:schemeClr val="tx1"/>
                </a:solidFill>
                <a:latin typeface="Calisto MT" panose="02040603050505030304" pitchFamily="18" charset="0"/>
              </a:defRPr>
            </a:lvl2pPr>
            <a:lvl3pPr marL="1143000" indent="-228600">
              <a:defRPr>
                <a:solidFill>
                  <a:schemeClr val="tx1"/>
                </a:solidFill>
                <a:latin typeface="Calisto MT" panose="02040603050505030304" pitchFamily="18" charset="0"/>
              </a:defRPr>
            </a:lvl3pPr>
            <a:lvl4pPr marL="1600200" indent="-228600">
              <a:defRPr>
                <a:solidFill>
                  <a:schemeClr val="tx1"/>
                </a:solidFill>
                <a:latin typeface="Calisto MT" panose="02040603050505030304" pitchFamily="18" charset="0"/>
              </a:defRPr>
            </a:lvl4pPr>
            <a:lvl5pPr marL="2057400" indent="-228600">
              <a:defRPr>
                <a:solidFill>
                  <a:schemeClr val="tx1"/>
                </a:solidFill>
                <a:latin typeface="Calisto MT" panose="02040603050505030304" pitchFamily="18" charset="0"/>
              </a:defRPr>
            </a:lvl5pPr>
            <a:lvl6pPr marL="2514600" indent="-228600" defTabSz="457200" fontAlgn="base">
              <a:spcBef>
                <a:spcPct val="0"/>
              </a:spcBef>
              <a:spcAft>
                <a:spcPct val="0"/>
              </a:spcAft>
              <a:defRPr>
                <a:solidFill>
                  <a:schemeClr val="tx1"/>
                </a:solidFill>
                <a:latin typeface="Calisto MT" panose="02040603050505030304" pitchFamily="18" charset="0"/>
              </a:defRPr>
            </a:lvl6pPr>
            <a:lvl7pPr marL="2971800" indent="-228600" defTabSz="457200" fontAlgn="base">
              <a:spcBef>
                <a:spcPct val="0"/>
              </a:spcBef>
              <a:spcAft>
                <a:spcPct val="0"/>
              </a:spcAft>
              <a:defRPr>
                <a:solidFill>
                  <a:schemeClr val="tx1"/>
                </a:solidFill>
                <a:latin typeface="Calisto MT" panose="02040603050505030304" pitchFamily="18" charset="0"/>
              </a:defRPr>
            </a:lvl7pPr>
            <a:lvl8pPr marL="3429000" indent="-228600" defTabSz="457200" fontAlgn="base">
              <a:spcBef>
                <a:spcPct val="0"/>
              </a:spcBef>
              <a:spcAft>
                <a:spcPct val="0"/>
              </a:spcAft>
              <a:defRPr>
                <a:solidFill>
                  <a:schemeClr val="tx1"/>
                </a:solidFill>
                <a:latin typeface="Calisto MT" panose="02040603050505030304" pitchFamily="18" charset="0"/>
              </a:defRPr>
            </a:lvl8pPr>
            <a:lvl9pPr marL="3886200" indent="-228600" defTabSz="457200" fontAlgn="base">
              <a:spcBef>
                <a:spcPct val="0"/>
              </a:spcBef>
              <a:spcAft>
                <a:spcPct val="0"/>
              </a:spcAft>
              <a:defRPr>
                <a:solidFill>
                  <a:schemeClr val="tx1"/>
                </a:solidFill>
                <a:latin typeface="Calisto MT" panose="02040603050505030304" pitchFamily="18" charset="0"/>
              </a:defRPr>
            </a:lvl9pPr>
          </a:lstStyle>
          <a:p>
            <a:pPr algn="ctr" eaLnBrk="1" hangingPunct="1"/>
            <a:r>
              <a:rPr lang="hr-HR" altLang="sr-Latn-RS" sz="2400" dirty="0">
                <a:latin typeface="+mj-lt"/>
              </a:rPr>
              <a:t>uči se u</a:t>
            </a:r>
          </a:p>
          <a:p>
            <a:pPr algn="ctr" eaLnBrk="1" hangingPunct="1"/>
            <a:r>
              <a:rPr lang="hr-HR" altLang="sr-Latn-RS" sz="2400" dirty="0">
                <a:latin typeface="+mj-lt"/>
              </a:rPr>
              <a:t>školi</a:t>
            </a:r>
            <a:endParaRPr lang="en-US" altLang="sr-Latn-RS" sz="2400" dirty="0">
              <a:latin typeface="+mj-lt"/>
            </a:endParaRPr>
          </a:p>
        </p:txBody>
      </p:sp>
    </p:spTree>
    <p:extLst>
      <p:ext uri="{BB962C8B-B14F-4D97-AF65-F5344CB8AC3E}">
        <p14:creationId xmlns:p14="http://schemas.microsoft.com/office/powerpoint/2010/main" val="1168101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2" presetClass="entr" presetSubtype="0" fill="hold" grpId="0" nodeType="clickEffect">
                                  <p:stCondLst>
                                    <p:cond delay="0"/>
                                  </p:stCondLst>
                                  <p:childTnLst>
                                    <p:set>
                                      <p:cBhvr>
                                        <p:cTn id="6" dur="1" fill="hold">
                                          <p:stCondLst>
                                            <p:cond delay="0"/>
                                          </p:stCondLst>
                                        </p:cTn>
                                        <p:tgtEl>
                                          <p:spTgt spid="16390"/>
                                        </p:tgtEl>
                                        <p:attrNameLst>
                                          <p:attrName>style.visibility</p:attrName>
                                        </p:attrNameLst>
                                      </p:cBhvr>
                                      <p:to>
                                        <p:strVal val="visible"/>
                                      </p:to>
                                    </p:set>
                                    <p:animScale>
                                      <p:cBhvr>
                                        <p:cTn id="7" dur="1000" decel="50000" fill="hold">
                                          <p:stCondLst>
                                            <p:cond delay="0"/>
                                          </p:stCondLst>
                                        </p:cTn>
                                        <p:tgtEl>
                                          <p:spTgt spid="16390"/>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16390"/>
                                        </p:tgtEl>
                                        <p:attrNameLst>
                                          <p:attrName>ppt_x</p:attrName>
                                          <p:attrName>ppt_y</p:attrName>
                                        </p:attrNameLst>
                                      </p:cBhvr>
                                    </p:animMotion>
                                    <p:animEffect transition="in" filter="fade">
                                      <p:cBhvr>
                                        <p:cTn id="9" dur="1000"/>
                                        <p:tgtEl>
                                          <p:spTgt spid="16390"/>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2" presetClass="entr" presetSubtype="0" fill="hold" grpId="0" nodeType="clickEffect">
                                  <p:stCondLst>
                                    <p:cond delay="0"/>
                                  </p:stCondLst>
                                  <p:childTnLst>
                                    <p:set>
                                      <p:cBhvr>
                                        <p:cTn id="13" dur="1" fill="hold">
                                          <p:stCondLst>
                                            <p:cond delay="0"/>
                                          </p:stCondLst>
                                        </p:cTn>
                                        <p:tgtEl>
                                          <p:spTgt spid="16391"/>
                                        </p:tgtEl>
                                        <p:attrNameLst>
                                          <p:attrName>style.visibility</p:attrName>
                                        </p:attrNameLst>
                                      </p:cBhvr>
                                      <p:to>
                                        <p:strVal val="visible"/>
                                      </p:to>
                                    </p:set>
                                    <p:animScale>
                                      <p:cBhvr>
                                        <p:cTn id="14" dur="1000" decel="50000" fill="hold">
                                          <p:stCondLst>
                                            <p:cond delay="0"/>
                                          </p:stCondLst>
                                        </p:cTn>
                                        <p:tgtEl>
                                          <p:spTgt spid="16391"/>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5" dur="1000" decel="50000" fill="hold">
                                          <p:stCondLst>
                                            <p:cond delay="0"/>
                                          </p:stCondLst>
                                        </p:cTn>
                                        <p:tgtEl>
                                          <p:spTgt spid="16391"/>
                                        </p:tgtEl>
                                        <p:attrNameLst>
                                          <p:attrName>ppt_x</p:attrName>
                                          <p:attrName>ppt_y</p:attrName>
                                        </p:attrNameLst>
                                      </p:cBhvr>
                                    </p:animMotion>
                                    <p:animEffect transition="in" filter="fade">
                                      <p:cBhvr>
                                        <p:cTn id="16" dur="1000"/>
                                        <p:tgtEl>
                                          <p:spTgt spid="16391"/>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2" presetClass="entr" presetSubtype="0" fill="hold" grpId="0" nodeType="clickEffect">
                                  <p:stCondLst>
                                    <p:cond delay="0"/>
                                  </p:stCondLst>
                                  <p:childTnLst>
                                    <p:set>
                                      <p:cBhvr>
                                        <p:cTn id="20" dur="1" fill="hold">
                                          <p:stCondLst>
                                            <p:cond delay="0"/>
                                          </p:stCondLst>
                                        </p:cTn>
                                        <p:tgtEl>
                                          <p:spTgt spid="16400"/>
                                        </p:tgtEl>
                                        <p:attrNameLst>
                                          <p:attrName>style.visibility</p:attrName>
                                        </p:attrNameLst>
                                      </p:cBhvr>
                                      <p:to>
                                        <p:strVal val="visible"/>
                                      </p:to>
                                    </p:set>
                                    <p:animScale>
                                      <p:cBhvr>
                                        <p:cTn id="21" dur="1000" decel="50000" fill="hold">
                                          <p:stCondLst>
                                            <p:cond delay="0"/>
                                          </p:stCondLst>
                                        </p:cTn>
                                        <p:tgtEl>
                                          <p:spTgt spid="16400"/>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2" dur="1000" decel="50000" fill="hold">
                                          <p:stCondLst>
                                            <p:cond delay="0"/>
                                          </p:stCondLst>
                                        </p:cTn>
                                        <p:tgtEl>
                                          <p:spTgt spid="16400"/>
                                        </p:tgtEl>
                                        <p:attrNameLst>
                                          <p:attrName>ppt_x</p:attrName>
                                          <p:attrName>ppt_y</p:attrName>
                                        </p:attrNameLst>
                                      </p:cBhvr>
                                    </p:animMotion>
                                    <p:animEffect transition="in" filter="fade">
                                      <p:cBhvr>
                                        <p:cTn id="23" dur="1000"/>
                                        <p:tgtEl>
                                          <p:spTgt spid="16400"/>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2" presetClass="entr" presetSubtype="0" fill="hold" grpId="0" nodeType="clickEffect">
                                  <p:stCondLst>
                                    <p:cond delay="0"/>
                                  </p:stCondLst>
                                  <p:childTnLst>
                                    <p:set>
                                      <p:cBhvr>
                                        <p:cTn id="27" dur="1" fill="hold">
                                          <p:stCondLst>
                                            <p:cond delay="0"/>
                                          </p:stCondLst>
                                        </p:cTn>
                                        <p:tgtEl>
                                          <p:spTgt spid="16392"/>
                                        </p:tgtEl>
                                        <p:attrNameLst>
                                          <p:attrName>style.visibility</p:attrName>
                                        </p:attrNameLst>
                                      </p:cBhvr>
                                      <p:to>
                                        <p:strVal val="visible"/>
                                      </p:to>
                                    </p:set>
                                    <p:animScale>
                                      <p:cBhvr>
                                        <p:cTn id="28" dur="1000" decel="50000" fill="hold">
                                          <p:stCondLst>
                                            <p:cond delay="0"/>
                                          </p:stCondLst>
                                        </p:cTn>
                                        <p:tgtEl>
                                          <p:spTgt spid="1639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9" dur="1000" decel="50000" fill="hold">
                                          <p:stCondLst>
                                            <p:cond delay="0"/>
                                          </p:stCondLst>
                                        </p:cTn>
                                        <p:tgtEl>
                                          <p:spTgt spid="16392"/>
                                        </p:tgtEl>
                                        <p:attrNameLst>
                                          <p:attrName>ppt_x</p:attrName>
                                          <p:attrName>ppt_y</p:attrName>
                                        </p:attrNameLst>
                                      </p:cBhvr>
                                    </p:animMotion>
                                    <p:animEffect transition="in" filter="fade">
                                      <p:cBhvr>
                                        <p:cTn id="30" dur="1000"/>
                                        <p:tgtEl>
                                          <p:spTgt spid="16392"/>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52" presetClass="entr" presetSubtype="0" fill="hold" grpId="0" nodeType="clickEffect">
                                  <p:stCondLst>
                                    <p:cond delay="0"/>
                                  </p:stCondLst>
                                  <p:childTnLst>
                                    <p:set>
                                      <p:cBhvr>
                                        <p:cTn id="34" dur="1" fill="hold">
                                          <p:stCondLst>
                                            <p:cond delay="0"/>
                                          </p:stCondLst>
                                        </p:cTn>
                                        <p:tgtEl>
                                          <p:spTgt spid="16393"/>
                                        </p:tgtEl>
                                        <p:attrNameLst>
                                          <p:attrName>style.visibility</p:attrName>
                                        </p:attrNameLst>
                                      </p:cBhvr>
                                      <p:to>
                                        <p:strVal val="visible"/>
                                      </p:to>
                                    </p:set>
                                    <p:animScale>
                                      <p:cBhvr>
                                        <p:cTn id="35" dur="1000" decel="50000" fill="hold">
                                          <p:stCondLst>
                                            <p:cond delay="0"/>
                                          </p:stCondLst>
                                        </p:cTn>
                                        <p:tgtEl>
                                          <p:spTgt spid="16393"/>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36" dur="1000" decel="50000" fill="hold">
                                          <p:stCondLst>
                                            <p:cond delay="0"/>
                                          </p:stCondLst>
                                        </p:cTn>
                                        <p:tgtEl>
                                          <p:spTgt spid="16393"/>
                                        </p:tgtEl>
                                        <p:attrNameLst>
                                          <p:attrName>ppt_x</p:attrName>
                                          <p:attrName>ppt_y</p:attrName>
                                        </p:attrNameLst>
                                      </p:cBhvr>
                                    </p:animMotion>
                                    <p:animEffect transition="in" filter="fade">
                                      <p:cBhvr>
                                        <p:cTn id="37" dur="1000"/>
                                        <p:tgtEl>
                                          <p:spTgt spid="1639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2" presetClass="entr" presetSubtype="0" fill="hold" grpId="0" nodeType="clickEffect">
                                  <p:stCondLst>
                                    <p:cond delay="0"/>
                                  </p:stCondLst>
                                  <p:childTnLst>
                                    <p:set>
                                      <p:cBhvr>
                                        <p:cTn id="41" dur="1" fill="hold">
                                          <p:stCondLst>
                                            <p:cond delay="0"/>
                                          </p:stCondLst>
                                        </p:cTn>
                                        <p:tgtEl>
                                          <p:spTgt spid="16394"/>
                                        </p:tgtEl>
                                        <p:attrNameLst>
                                          <p:attrName>style.visibility</p:attrName>
                                        </p:attrNameLst>
                                      </p:cBhvr>
                                      <p:to>
                                        <p:strVal val="visible"/>
                                      </p:to>
                                    </p:set>
                                    <p:animScale>
                                      <p:cBhvr>
                                        <p:cTn id="42" dur="1000" decel="50000" fill="hold">
                                          <p:stCondLst>
                                            <p:cond delay="0"/>
                                          </p:stCondLst>
                                        </p:cTn>
                                        <p:tgtEl>
                                          <p:spTgt spid="16394"/>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43" dur="1000" decel="50000" fill="hold">
                                          <p:stCondLst>
                                            <p:cond delay="0"/>
                                          </p:stCondLst>
                                        </p:cTn>
                                        <p:tgtEl>
                                          <p:spTgt spid="16394"/>
                                        </p:tgtEl>
                                        <p:attrNameLst>
                                          <p:attrName>ppt_x</p:attrName>
                                          <p:attrName>ppt_y</p:attrName>
                                        </p:attrNameLst>
                                      </p:cBhvr>
                                    </p:animMotion>
                                    <p:animEffect transition="in" filter="fade">
                                      <p:cBhvr>
                                        <p:cTn id="44" dur="1000"/>
                                        <p:tgtEl>
                                          <p:spTgt spid="16394"/>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52" presetClass="entr" presetSubtype="0" fill="hold" grpId="0" nodeType="clickEffect">
                                  <p:stCondLst>
                                    <p:cond delay="0"/>
                                  </p:stCondLst>
                                  <p:childTnLst>
                                    <p:set>
                                      <p:cBhvr>
                                        <p:cTn id="48" dur="1" fill="hold">
                                          <p:stCondLst>
                                            <p:cond delay="0"/>
                                          </p:stCondLst>
                                        </p:cTn>
                                        <p:tgtEl>
                                          <p:spTgt spid="16395"/>
                                        </p:tgtEl>
                                        <p:attrNameLst>
                                          <p:attrName>style.visibility</p:attrName>
                                        </p:attrNameLst>
                                      </p:cBhvr>
                                      <p:to>
                                        <p:strVal val="visible"/>
                                      </p:to>
                                    </p:set>
                                    <p:animScale>
                                      <p:cBhvr>
                                        <p:cTn id="49" dur="1000" decel="50000" fill="hold">
                                          <p:stCondLst>
                                            <p:cond delay="0"/>
                                          </p:stCondLst>
                                        </p:cTn>
                                        <p:tgtEl>
                                          <p:spTgt spid="16395"/>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50" dur="1000" decel="50000" fill="hold">
                                          <p:stCondLst>
                                            <p:cond delay="0"/>
                                          </p:stCondLst>
                                        </p:cTn>
                                        <p:tgtEl>
                                          <p:spTgt spid="16395"/>
                                        </p:tgtEl>
                                        <p:attrNameLst>
                                          <p:attrName>ppt_x</p:attrName>
                                          <p:attrName>ppt_y</p:attrName>
                                        </p:attrNameLst>
                                      </p:cBhvr>
                                    </p:animMotion>
                                    <p:animEffect transition="in" filter="fade">
                                      <p:cBhvr>
                                        <p:cTn id="51" dur="1000"/>
                                        <p:tgtEl>
                                          <p:spTgt spid="16395"/>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52" presetClass="entr" presetSubtype="0" fill="hold" grpId="0" nodeType="clickEffect">
                                  <p:stCondLst>
                                    <p:cond delay="0"/>
                                  </p:stCondLst>
                                  <p:childTnLst>
                                    <p:set>
                                      <p:cBhvr>
                                        <p:cTn id="55" dur="1" fill="hold">
                                          <p:stCondLst>
                                            <p:cond delay="0"/>
                                          </p:stCondLst>
                                        </p:cTn>
                                        <p:tgtEl>
                                          <p:spTgt spid="16396"/>
                                        </p:tgtEl>
                                        <p:attrNameLst>
                                          <p:attrName>style.visibility</p:attrName>
                                        </p:attrNameLst>
                                      </p:cBhvr>
                                      <p:to>
                                        <p:strVal val="visible"/>
                                      </p:to>
                                    </p:set>
                                    <p:animScale>
                                      <p:cBhvr>
                                        <p:cTn id="56" dur="1000" decel="50000" fill="hold">
                                          <p:stCondLst>
                                            <p:cond delay="0"/>
                                          </p:stCondLst>
                                        </p:cTn>
                                        <p:tgtEl>
                                          <p:spTgt spid="16396"/>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57" dur="1000" decel="50000" fill="hold">
                                          <p:stCondLst>
                                            <p:cond delay="0"/>
                                          </p:stCondLst>
                                        </p:cTn>
                                        <p:tgtEl>
                                          <p:spTgt spid="16396"/>
                                        </p:tgtEl>
                                        <p:attrNameLst>
                                          <p:attrName>ppt_x</p:attrName>
                                          <p:attrName>ppt_y</p:attrName>
                                        </p:attrNameLst>
                                      </p:cBhvr>
                                    </p:animMotion>
                                    <p:animEffect transition="in" filter="fade">
                                      <p:cBhvr>
                                        <p:cTn id="58" dur="1000"/>
                                        <p:tgtEl>
                                          <p:spTgt spid="16396"/>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52" presetClass="entr" presetSubtype="0" fill="hold" grpId="0" nodeType="clickEffect">
                                  <p:stCondLst>
                                    <p:cond delay="0"/>
                                  </p:stCondLst>
                                  <p:childTnLst>
                                    <p:set>
                                      <p:cBhvr>
                                        <p:cTn id="62" dur="1" fill="hold">
                                          <p:stCondLst>
                                            <p:cond delay="0"/>
                                          </p:stCondLst>
                                        </p:cTn>
                                        <p:tgtEl>
                                          <p:spTgt spid="16397"/>
                                        </p:tgtEl>
                                        <p:attrNameLst>
                                          <p:attrName>style.visibility</p:attrName>
                                        </p:attrNameLst>
                                      </p:cBhvr>
                                      <p:to>
                                        <p:strVal val="visible"/>
                                      </p:to>
                                    </p:set>
                                    <p:animScale>
                                      <p:cBhvr>
                                        <p:cTn id="63" dur="1000" decel="50000" fill="hold">
                                          <p:stCondLst>
                                            <p:cond delay="0"/>
                                          </p:stCondLst>
                                        </p:cTn>
                                        <p:tgtEl>
                                          <p:spTgt spid="1639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64" dur="1000" decel="50000" fill="hold">
                                          <p:stCondLst>
                                            <p:cond delay="0"/>
                                          </p:stCondLst>
                                        </p:cTn>
                                        <p:tgtEl>
                                          <p:spTgt spid="16397"/>
                                        </p:tgtEl>
                                        <p:attrNameLst>
                                          <p:attrName>ppt_x</p:attrName>
                                          <p:attrName>ppt_y</p:attrName>
                                        </p:attrNameLst>
                                      </p:cBhvr>
                                    </p:animMotion>
                                    <p:animEffect transition="in" filter="fade">
                                      <p:cBhvr>
                                        <p:cTn id="65" dur="1000"/>
                                        <p:tgtEl>
                                          <p:spTgt spid="16397"/>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52" presetClass="entr" presetSubtype="0" fill="hold" grpId="0" nodeType="clickEffect">
                                  <p:stCondLst>
                                    <p:cond delay="0"/>
                                  </p:stCondLst>
                                  <p:childTnLst>
                                    <p:set>
                                      <p:cBhvr>
                                        <p:cTn id="69" dur="1" fill="hold">
                                          <p:stCondLst>
                                            <p:cond delay="0"/>
                                          </p:stCondLst>
                                        </p:cTn>
                                        <p:tgtEl>
                                          <p:spTgt spid="16388"/>
                                        </p:tgtEl>
                                        <p:attrNameLst>
                                          <p:attrName>style.visibility</p:attrName>
                                        </p:attrNameLst>
                                      </p:cBhvr>
                                      <p:to>
                                        <p:strVal val="visible"/>
                                      </p:to>
                                    </p:set>
                                    <p:animScale>
                                      <p:cBhvr>
                                        <p:cTn id="70" dur="1000" decel="50000" fill="hold">
                                          <p:stCondLst>
                                            <p:cond delay="0"/>
                                          </p:stCondLst>
                                        </p:cTn>
                                        <p:tgtEl>
                                          <p:spTgt spid="1638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71" dur="1000" decel="50000" fill="hold">
                                          <p:stCondLst>
                                            <p:cond delay="0"/>
                                          </p:stCondLst>
                                        </p:cTn>
                                        <p:tgtEl>
                                          <p:spTgt spid="16388"/>
                                        </p:tgtEl>
                                        <p:attrNameLst>
                                          <p:attrName>ppt_x</p:attrName>
                                          <p:attrName>ppt_y</p:attrName>
                                        </p:attrNameLst>
                                      </p:cBhvr>
                                    </p:animMotion>
                                    <p:animEffect transition="in" filter="fade">
                                      <p:cBhvr>
                                        <p:cTn id="72" dur="1000"/>
                                        <p:tgtEl>
                                          <p:spTgt spid="16388"/>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52" presetClass="entr" presetSubtype="0" fill="hold" grpId="0" nodeType="clickEffect">
                                  <p:stCondLst>
                                    <p:cond delay="0"/>
                                  </p:stCondLst>
                                  <p:childTnLst>
                                    <p:set>
                                      <p:cBhvr>
                                        <p:cTn id="76" dur="1" fill="hold">
                                          <p:stCondLst>
                                            <p:cond delay="0"/>
                                          </p:stCondLst>
                                        </p:cTn>
                                        <p:tgtEl>
                                          <p:spTgt spid="16398"/>
                                        </p:tgtEl>
                                        <p:attrNameLst>
                                          <p:attrName>style.visibility</p:attrName>
                                        </p:attrNameLst>
                                      </p:cBhvr>
                                      <p:to>
                                        <p:strVal val="visible"/>
                                      </p:to>
                                    </p:set>
                                    <p:animScale>
                                      <p:cBhvr>
                                        <p:cTn id="77" dur="1000" decel="50000" fill="hold">
                                          <p:stCondLst>
                                            <p:cond delay="0"/>
                                          </p:stCondLst>
                                        </p:cTn>
                                        <p:tgtEl>
                                          <p:spTgt spid="1639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78" dur="1000" decel="50000" fill="hold">
                                          <p:stCondLst>
                                            <p:cond delay="0"/>
                                          </p:stCondLst>
                                        </p:cTn>
                                        <p:tgtEl>
                                          <p:spTgt spid="16398"/>
                                        </p:tgtEl>
                                        <p:attrNameLst>
                                          <p:attrName>ppt_x</p:attrName>
                                          <p:attrName>ppt_y</p:attrName>
                                        </p:attrNameLst>
                                      </p:cBhvr>
                                    </p:animMotion>
                                    <p:animEffect transition="in" filter="fade">
                                      <p:cBhvr>
                                        <p:cTn id="79" dur="1000"/>
                                        <p:tgtEl>
                                          <p:spTgt spid="16398"/>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52" presetClass="entr" presetSubtype="0" fill="hold" grpId="0" nodeType="clickEffect">
                                  <p:stCondLst>
                                    <p:cond delay="0"/>
                                  </p:stCondLst>
                                  <p:childTnLst>
                                    <p:set>
                                      <p:cBhvr>
                                        <p:cTn id="83" dur="1" fill="hold">
                                          <p:stCondLst>
                                            <p:cond delay="0"/>
                                          </p:stCondLst>
                                        </p:cTn>
                                        <p:tgtEl>
                                          <p:spTgt spid="16399"/>
                                        </p:tgtEl>
                                        <p:attrNameLst>
                                          <p:attrName>style.visibility</p:attrName>
                                        </p:attrNameLst>
                                      </p:cBhvr>
                                      <p:to>
                                        <p:strVal val="visible"/>
                                      </p:to>
                                    </p:set>
                                    <p:animScale>
                                      <p:cBhvr>
                                        <p:cTn id="84" dur="1000" decel="50000" fill="hold">
                                          <p:stCondLst>
                                            <p:cond delay="0"/>
                                          </p:stCondLst>
                                        </p:cTn>
                                        <p:tgtEl>
                                          <p:spTgt spid="16399"/>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5" dur="1000" decel="50000" fill="hold">
                                          <p:stCondLst>
                                            <p:cond delay="0"/>
                                          </p:stCondLst>
                                        </p:cTn>
                                        <p:tgtEl>
                                          <p:spTgt spid="16399"/>
                                        </p:tgtEl>
                                        <p:attrNameLst>
                                          <p:attrName>ppt_x</p:attrName>
                                          <p:attrName>ppt_y</p:attrName>
                                        </p:attrNameLst>
                                      </p:cBhvr>
                                    </p:animMotion>
                                    <p:animEffect transition="in" filter="fade">
                                      <p:cBhvr>
                                        <p:cTn id="86" dur="1000"/>
                                        <p:tgtEl>
                                          <p:spTgt spid="163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8" grpId="0"/>
      <p:bldP spid="16390" grpId="0"/>
      <p:bldP spid="16391" grpId="0"/>
      <p:bldP spid="16392" grpId="0"/>
      <p:bldP spid="16393" grpId="0"/>
      <p:bldP spid="16394" grpId="0"/>
      <p:bldP spid="16395" grpId="0"/>
      <p:bldP spid="16396" grpId="0"/>
      <p:bldP spid="16397" grpId="0"/>
      <p:bldP spid="16398" grpId="0"/>
      <p:bldP spid="16399" grpId="0"/>
      <p:bldP spid="16400"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r-HR" dirty="0"/>
              <a:t>Samovrednovanje </a:t>
            </a:r>
          </a:p>
        </p:txBody>
      </p:sp>
      <p:graphicFrame>
        <p:nvGraphicFramePr>
          <p:cNvPr id="4" name="Content Placeholder 3"/>
          <p:cNvGraphicFramePr>
            <a:graphicFrameLocks noGrp="1"/>
          </p:cNvGraphicFramePr>
          <p:nvPr>
            <p:ph idx="1"/>
            <p:extLst/>
          </p:nvPr>
        </p:nvGraphicFramePr>
        <p:xfrm>
          <a:off x="1127449" y="1628800"/>
          <a:ext cx="9599611" cy="4616724"/>
        </p:xfrm>
        <a:graphic>
          <a:graphicData uri="http://schemas.openxmlformats.org/drawingml/2006/table">
            <a:tbl>
              <a:tblPr firstRow="1" bandRow="1">
                <a:tableStyleId>{69CF1AB2-1976-4502-BF36-3FF5EA218861}</a:tableStyleId>
              </a:tblPr>
              <a:tblGrid>
                <a:gridCol w="7295355">
                  <a:extLst>
                    <a:ext uri="{9D8B030D-6E8A-4147-A177-3AD203B41FA5}">
                      <a16:colId xmlns:a16="http://schemas.microsoft.com/office/drawing/2014/main" val="3811965468"/>
                    </a:ext>
                  </a:extLst>
                </a:gridCol>
                <a:gridCol w="1152128">
                  <a:extLst>
                    <a:ext uri="{9D8B030D-6E8A-4147-A177-3AD203B41FA5}">
                      <a16:colId xmlns:a16="http://schemas.microsoft.com/office/drawing/2014/main" val="1707786039"/>
                    </a:ext>
                  </a:extLst>
                </a:gridCol>
                <a:gridCol w="1152128">
                  <a:extLst>
                    <a:ext uri="{9D8B030D-6E8A-4147-A177-3AD203B41FA5}">
                      <a16:colId xmlns:a16="http://schemas.microsoft.com/office/drawing/2014/main" val="1098900992"/>
                    </a:ext>
                  </a:extLst>
                </a:gridCol>
              </a:tblGrid>
              <a:tr h="769454">
                <a:tc>
                  <a:txBody>
                    <a:bodyPr/>
                    <a:lstStyle/>
                    <a:p>
                      <a:endParaRPr lang="hr-HR" dirty="0"/>
                    </a:p>
                  </a:txBody>
                  <a:tcPr/>
                </a:tc>
                <a:tc>
                  <a:txBody>
                    <a:bodyPr/>
                    <a:lstStyle/>
                    <a:p>
                      <a:pPr algn="ctr"/>
                      <a:r>
                        <a:rPr lang="hr-HR" dirty="0"/>
                        <a:t>Da </a:t>
                      </a:r>
                    </a:p>
                  </a:txBody>
                  <a:tcPr/>
                </a:tc>
                <a:tc>
                  <a:txBody>
                    <a:bodyPr/>
                    <a:lstStyle/>
                    <a:p>
                      <a:pPr algn="ctr"/>
                      <a:r>
                        <a:rPr lang="hr-HR" dirty="0"/>
                        <a:t>Ne </a:t>
                      </a:r>
                    </a:p>
                  </a:txBody>
                  <a:tcPr/>
                </a:tc>
                <a:extLst>
                  <a:ext uri="{0D108BD9-81ED-4DB2-BD59-A6C34878D82A}">
                    <a16:rowId xmlns:a16="http://schemas.microsoft.com/office/drawing/2014/main" val="427244359"/>
                  </a:ext>
                </a:extLst>
              </a:tr>
              <a:tr h="769454">
                <a:tc>
                  <a:txBody>
                    <a:bodyPr/>
                    <a:lstStyle/>
                    <a:p>
                      <a:pPr algn="l"/>
                      <a:r>
                        <a:rPr lang="hr-HR" b="1" dirty="0"/>
                        <a:t>Znam objasniti</a:t>
                      </a:r>
                      <a:r>
                        <a:rPr lang="hr-HR" b="1" baseline="0" dirty="0"/>
                        <a:t> razliku između norma i vrijednosti</a:t>
                      </a:r>
                      <a:endParaRPr lang="hr-HR" b="1" dirty="0"/>
                    </a:p>
                  </a:txBody>
                  <a:tcPr/>
                </a:tc>
                <a:tc>
                  <a:txBody>
                    <a:bodyPr/>
                    <a:lstStyle/>
                    <a:p>
                      <a:endParaRPr lang="hr-HR"/>
                    </a:p>
                  </a:txBody>
                  <a:tcPr/>
                </a:tc>
                <a:tc>
                  <a:txBody>
                    <a:bodyPr/>
                    <a:lstStyle/>
                    <a:p>
                      <a:endParaRPr lang="hr-HR"/>
                    </a:p>
                  </a:txBody>
                  <a:tcPr/>
                </a:tc>
                <a:extLst>
                  <a:ext uri="{0D108BD9-81ED-4DB2-BD59-A6C34878D82A}">
                    <a16:rowId xmlns:a16="http://schemas.microsoft.com/office/drawing/2014/main" val="3119734895"/>
                  </a:ext>
                </a:extLst>
              </a:tr>
              <a:tr h="769454">
                <a:tc>
                  <a:txBody>
                    <a:bodyPr/>
                    <a:lstStyle/>
                    <a:p>
                      <a:pPr algn="l"/>
                      <a:r>
                        <a:rPr lang="hr-HR" b="1" dirty="0"/>
                        <a:t>Mogu navesti dvije razlike između moresa i zakona</a:t>
                      </a:r>
                    </a:p>
                  </a:txBody>
                  <a:tcPr/>
                </a:tc>
                <a:tc>
                  <a:txBody>
                    <a:bodyPr/>
                    <a:lstStyle/>
                    <a:p>
                      <a:endParaRPr lang="hr-HR" dirty="0"/>
                    </a:p>
                  </a:txBody>
                  <a:tcPr/>
                </a:tc>
                <a:tc>
                  <a:txBody>
                    <a:bodyPr/>
                    <a:lstStyle/>
                    <a:p>
                      <a:endParaRPr lang="hr-HR"/>
                    </a:p>
                  </a:txBody>
                  <a:tcPr/>
                </a:tc>
                <a:extLst>
                  <a:ext uri="{0D108BD9-81ED-4DB2-BD59-A6C34878D82A}">
                    <a16:rowId xmlns:a16="http://schemas.microsoft.com/office/drawing/2014/main" val="2001183255"/>
                  </a:ext>
                </a:extLst>
              </a:tr>
              <a:tr h="769454">
                <a:tc>
                  <a:txBody>
                    <a:bodyPr/>
                    <a:lstStyle/>
                    <a:p>
                      <a:pPr algn="l"/>
                      <a:r>
                        <a:rPr lang="hr-HR" b="1" dirty="0"/>
                        <a:t>Prepoznajem na primjerima četiri vrste sankcija</a:t>
                      </a:r>
                    </a:p>
                  </a:txBody>
                  <a:tcPr/>
                </a:tc>
                <a:tc>
                  <a:txBody>
                    <a:bodyPr/>
                    <a:lstStyle/>
                    <a:p>
                      <a:endParaRPr lang="hr-HR"/>
                    </a:p>
                  </a:txBody>
                  <a:tcPr/>
                </a:tc>
                <a:tc>
                  <a:txBody>
                    <a:bodyPr/>
                    <a:lstStyle/>
                    <a:p>
                      <a:endParaRPr lang="hr-HR"/>
                    </a:p>
                  </a:txBody>
                  <a:tcPr/>
                </a:tc>
                <a:extLst>
                  <a:ext uri="{0D108BD9-81ED-4DB2-BD59-A6C34878D82A}">
                    <a16:rowId xmlns:a16="http://schemas.microsoft.com/office/drawing/2014/main" val="4085150260"/>
                  </a:ext>
                </a:extLst>
              </a:tr>
              <a:tr h="769454">
                <a:tc>
                  <a:txBody>
                    <a:bodyPr/>
                    <a:lstStyle/>
                    <a:p>
                      <a:pPr algn="l"/>
                      <a:r>
                        <a:rPr lang="hr-HR" b="1" dirty="0"/>
                        <a:t>Znam objasniti zašto značenja nekog simbola ovise o društvenoj</a:t>
                      </a:r>
                      <a:r>
                        <a:rPr lang="hr-HR" b="1" baseline="0" dirty="0"/>
                        <a:t> sredini</a:t>
                      </a:r>
                      <a:endParaRPr lang="hr-HR" b="1" dirty="0"/>
                    </a:p>
                  </a:txBody>
                  <a:tcPr/>
                </a:tc>
                <a:tc>
                  <a:txBody>
                    <a:bodyPr/>
                    <a:lstStyle/>
                    <a:p>
                      <a:endParaRPr lang="hr-HR"/>
                    </a:p>
                  </a:txBody>
                  <a:tcPr/>
                </a:tc>
                <a:tc>
                  <a:txBody>
                    <a:bodyPr/>
                    <a:lstStyle/>
                    <a:p>
                      <a:endParaRPr lang="hr-HR"/>
                    </a:p>
                  </a:txBody>
                  <a:tcPr/>
                </a:tc>
                <a:extLst>
                  <a:ext uri="{0D108BD9-81ED-4DB2-BD59-A6C34878D82A}">
                    <a16:rowId xmlns:a16="http://schemas.microsoft.com/office/drawing/2014/main" val="2490278364"/>
                  </a:ext>
                </a:extLst>
              </a:tr>
              <a:tr h="769454">
                <a:tc>
                  <a:txBody>
                    <a:bodyPr/>
                    <a:lstStyle/>
                    <a:p>
                      <a:pPr algn="l"/>
                      <a:r>
                        <a:rPr lang="hr-HR" b="1" dirty="0"/>
                        <a:t>Znam navesti i objasniti dva primjera za rituale solidarnosti i rituale prijelaza</a:t>
                      </a:r>
                    </a:p>
                  </a:txBody>
                  <a:tcPr/>
                </a:tc>
                <a:tc>
                  <a:txBody>
                    <a:bodyPr/>
                    <a:lstStyle/>
                    <a:p>
                      <a:endParaRPr lang="hr-HR"/>
                    </a:p>
                  </a:txBody>
                  <a:tcPr/>
                </a:tc>
                <a:tc>
                  <a:txBody>
                    <a:bodyPr/>
                    <a:lstStyle/>
                    <a:p>
                      <a:endParaRPr lang="hr-HR" dirty="0"/>
                    </a:p>
                  </a:txBody>
                  <a:tcPr/>
                </a:tc>
                <a:extLst>
                  <a:ext uri="{0D108BD9-81ED-4DB2-BD59-A6C34878D82A}">
                    <a16:rowId xmlns:a16="http://schemas.microsoft.com/office/drawing/2014/main" val="2305956618"/>
                  </a:ext>
                </a:extLst>
              </a:tr>
            </a:tbl>
          </a:graphicData>
        </a:graphic>
      </p:graphicFrame>
    </p:spTree>
    <p:extLst>
      <p:ext uri="{BB962C8B-B14F-4D97-AF65-F5344CB8AC3E}">
        <p14:creationId xmlns:p14="http://schemas.microsoft.com/office/powerpoint/2010/main" val="3324937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7531" y="2276872"/>
            <a:ext cx="9402274" cy="2736304"/>
          </a:xfrm>
        </p:spPr>
        <p:txBody>
          <a:bodyPr/>
          <a:lstStyle/>
          <a:p>
            <a:pPr algn="ctr"/>
            <a:r>
              <a:rPr lang="en-US" b="1" dirty="0" err="1"/>
              <a:t>Kultura</a:t>
            </a:r>
            <a:r>
              <a:rPr lang="en-US" b="1" dirty="0"/>
              <a:t> </a:t>
            </a:r>
            <a:r>
              <a:rPr lang="en-US" b="1" dirty="0" err="1"/>
              <a:t>i</a:t>
            </a:r>
            <a:r>
              <a:rPr lang="en-US" b="1" dirty="0"/>
              <a:t> </a:t>
            </a:r>
            <a:r>
              <a:rPr lang="en-US" b="1" dirty="0" err="1"/>
              <a:t>religije</a:t>
            </a:r>
            <a:br>
              <a:rPr lang="hr-HR" b="1" dirty="0"/>
            </a:br>
            <a:r>
              <a:rPr lang="hr-HR" b="1" dirty="0"/>
              <a:t>Velike svjetske religije</a:t>
            </a:r>
            <a:br>
              <a:rPr lang="en-US" dirty="0"/>
            </a:br>
            <a:endParaRPr lang="hr-HR" dirty="0"/>
          </a:p>
        </p:txBody>
      </p:sp>
      <p:sp>
        <p:nvSpPr>
          <p:cNvPr id="3" name="Content Placeholder 2"/>
          <p:cNvSpPr>
            <a:spLocks noGrp="1"/>
          </p:cNvSpPr>
          <p:nvPr>
            <p:ph idx="1"/>
          </p:nvPr>
        </p:nvSpPr>
        <p:spPr>
          <a:xfrm>
            <a:off x="1104614" y="3933056"/>
            <a:ext cx="8944211" cy="2315344"/>
          </a:xfrm>
        </p:spPr>
        <p:txBody>
          <a:bodyPr/>
          <a:lstStyle/>
          <a:p>
            <a:endParaRPr lang="hr-HR" dirty="0"/>
          </a:p>
        </p:txBody>
      </p:sp>
    </p:spTree>
    <p:extLst>
      <p:ext uri="{BB962C8B-B14F-4D97-AF65-F5344CB8AC3E}">
        <p14:creationId xmlns:p14="http://schemas.microsoft.com/office/powerpoint/2010/main" val="4077044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r-HR" sz="2800" b="1" dirty="0"/>
              <a:t>Povezanost kulture i religije</a:t>
            </a:r>
          </a:p>
        </p:txBody>
      </p:sp>
      <p:sp>
        <p:nvSpPr>
          <p:cNvPr id="3" name="Content Placeholder 2"/>
          <p:cNvSpPr>
            <a:spLocks noGrp="1"/>
          </p:cNvSpPr>
          <p:nvPr>
            <p:ph idx="1"/>
          </p:nvPr>
        </p:nvSpPr>
        <p:spPr>
          <a:xfrm>
            <a:off x="119337" y="1196752"/>
            <a:ext cx="12025336" cy="5184576"/>
          </a:xfrm>
        </p:spPr>
        <p:txBody>
          <a:bodyPr>
            <a:normAutofit/>
          </a:bodyPr>
          <a:lstStyle/>
          <a:p>
            <a:r>
              <a:rPr lang="en-US" sz="2200" dirty="0" err="1"/>
              <a:t>Religi</a:t>
            </a:r>
            <a:r>
              <a:rPr lang="hr-HR" sz="2200" dirty="0"/>
              <a:t>ju prepoznajemo i predstavljamo pomoću </a:t>
            </a:r>
            <a:r>
              <a:rPr lang="hr-HR" sz="2200" b="1" dirty="0"/>
              <a:t>kulturnih sastavnica </a:t>
            </a:r>
            <a:r>
              <a:rPr lang="hr-HR" sz="2200" dirty="0"/>
              <a:t>ili komponenti (simbola, jezika, obreda ili rituala)</a:t>
            </a:r>
          </a:p>
          <a:p>
            <a:pPr marL="0" indent="0" algn="ctr">
              <a:buNone/>
            </a:pPr>
            <a:r>
              <a:rPr lang="hr-HR" sz="2200" b="1" dirty="0"/>
              <a:t>KULTURA                        RELIGIJA</a:t>
            </a:r>
            <a:endParaRPr lang="en-US" sz="2200" b="1" dirty="0"/>
          </a:p>
          <a:p>
            <a:pPr marL="0" indent="0" algn="ctr">
              <a:buNone/>
            </a:pPr>
            <a:endParaRPr lang="en-US" sz="2200" b="1" dirty="0"/>
          </a:p>
          <a:p>
            <a:pPr marL="0" indent="0" algn="ctr">
              <a:buNone/>
            </a:pPr>
            <a:endParaRPr lang="en-US" sz="2200" b="1" dirty="0"/>
          </a:p>
          <a:p>
            <a:pPr marL="0" indent="0" algn="ctr">
              <a:buNone/>
            </a:pPr>
            <a:endParaRPr lang="en-US" sz="2200" b="1" dirty="0"/>
          </a:p>
          <a:p>
            <a:pPr marL="0" indent="0" algn="ctr">
              <a:buNone/>
            </a:pPr>
            <a:endParaRPr lang="en-US" sz="2200" b="1" dirty="0"/>
          </a:p>
          <a:p>
            <a:pPr marL="0" indent="0" algn="ctr">
              <a:buNone/>
            </a:pPr>
            <a:endParaRPr lang="en-US" sz="2200" b="1" dirty="0"/>
          </a:p>
          <a:p>
            <a:pPr marL="0" indent="0">
              <a:buNone/>
            </a:pPr>
            <a:endParaRPr lang="hr-HR" sz="2200" b="1" dirty="0"/>
          </a:p>
          <a:p>
            <a:pPr marL="0" indent="0">
              <a:buNone/>
            </a:pPr>
            <a:endParaRPr lang="en-US" sz="2200" b="1" dirty="0"/>
          </a:p>
          <a:p>
            <a:pPr marL="0" indent="0">
              <a:buNone/>
            </a:pPr>
            <a:r>
              <a:rPr lang="en-US" sz="2200" dirty="0" err="1"/>
              <a:t>Religija</a:t>
            </a:r>
            <a:r>
              <a:rPr lang="en-US" sz="2200" dirty="0"/>
              <a:t> </a:t>
            </a:r>
            <a:r>
              <a:rPr lang="en-US" sz="2200" dirty="0" err="1"/>
              <a:t>i</a:t>
            </a:r>
            <a:r>
              <a:rPr lang="en-US" sz="2200" dirty="0"/>
              <a:t> </a:t>
            </a:r>
            <a:r>
              <a:rPr lang="en-US" sz="2200" dirty="0" err="1"/>
              <a:t>kultura</a:t>
            </a:r>
            <a:r>
              <a:rPr lang="en-US" sz="2200" dirty="0"/>
              <a:t> </a:t>
            </a:r>
            <a:r>
              <a:rPr lang="en-US" sz="2200" dirty="0" err="1"/>
              <a:t>utječu</a:t>
            </a:r>
            <a:r>
              <a:rPr lang="en-US" sz="2200" dirty="0"/>
              <a:t> </a:t>
            </a:r>
            <a:r>
              <a:rPr lang="en-US" sz="2200" dirty="0" err="1"/>
              <a:t>jedna</a:t>
            </a:r>
            <a:r>
              <a:rPr lang="en-US" sz="2200" dirty="0"/>
              <a:t> </a:t>
            </a:r>
            <a:r>
              <a:rPr lang="en-US" sz="2200" dirty="0" err="1"/>
              <a:t>na</a:t>
            </a:r>
            <a:r>
              <a:rPr lang="en-US" sz="2200" dirty="0"/>
              <a:t> drug</a:t>
            </a:r>
            <a:r>
              <a:rPr lang="hr-HR" sz="2200" dirty="0"/>
              <a:t>o i prihvaćene su kao dio ljudske individualnosti  </a:t>
            </a:r>
          </a:p>
        </p:txBody>
      </p:sp>
      <p:sp>
        <p:nvSpPr>
          <p:cNvPr id="4" name="Left-Right Arrow 3"/>
          <p:cNvSpPr/>
          <p:nvPr/>
        </p:nvSpPr>
        <p:spPr>
          <a:xfrm>
            <a:off x="5663953" y="2085600"/>
            <a:ext cx="936104" cy="288032"/>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5" name="TextBox 4"/>
          <p:cNvSpPr txBox="1"/>
          <p:nvPr/>
        </p:nvSpPr>
        <p:spPr>
          <a:xfrm>
            <a:off x="335360" y="2745649"/>
            <a:ext cx="5445356" cy="1785104"/>
          </a:xfrm>
          <a:prstGeom prst="rect">
            <a:avLst/>
          </a:prstGeom>
          <a:solidFill>
            <a:schemeClr val="accent1">
              <a:lumMod val="75000"/>
            </a:schemeClr>
          </a:solidFill>
        </p:spPr>
        <p:txBody>
          <a:bodyPr wrap="square" rtlCol="0">
            <a:spAutoFit/>
          </a:bodyPr>
          <a:lstStyle/>
          <a:p>
            <a:pPr marL="342900" indent="-342900">
              <a:buFont typeface="Courier New" panose="02070309020205020404" pitchFamily="49" charset="0"/>
              <a:buChar char="o"/>
            </a:pPr>
            <a:r>
              <a:rPr lang="hr-HR" sz="2200" dirty="0"/>
              <a:t>Lat. </a:t>
            </a:r>
            <a:r>
              <a:rPr lang="hr-HR" sz="2200" i="1" dirty="0"/>
              <a:t>colere</a:t>
            </a:r>
            <a:r>
              <a:rPr lang="hr-HR" sz="2200" dirty="0"/>
              <a:t> – uzgajati, obrađivati, štovati</a:t>
            </a:r>
          </a:p>
          <a:p>
            <a:pPr marL="342900" indent="-342900">
              <a:buFont typeface="Courier New" panose="02070309020205020404" pitchFamily="49" charset="0"/>
              <a:buChar char="o"/>
            </a:pPr>
            <a:r>
              <a:rPr lang="hr-HR" sz="2200" dirty="0"/>
              <a:t>Kultura uključuje određeno ponašanje, materijalne stvari, običaje, institucije, vjerovanja, znanja, umjetnost, moral, zakone, običaje i vjeru</a:t>
            </a:r>
          </a:p>
        </p:txBody>
      </p:sp>
      <p:sp>
        <p:nvSpPr>
          <p:cNvPr id="6" name="TextBox 5"/>
          <p:cNvSpPr txBox="1"/>
          <p:nvPr/>
        </p:nvSpPr>
        <p:spPr>
          <a:xfrm>
            <a:off x="6880891" y="2745650"/>
            <a:ext cx="4032448" cy="1384995"/>
          </a:xfrm>
          <a:prstGeom prst="rect">
            <a:avLst/>
          </a:prstGeom>
          <a:solidFill>
            <a:schemeClr val="accent1">
              <a:lumMod val="75000"/>
            </a:schemeClr>
          </a:solidFill>
        </p:spPr>
        <p:txBody>
          <a:bodyPr wrap="square" rtlCol="0">
            <a:spAutoFit/>
          </a:bodyPr>
          <a:lstStyle/>
          <a:p>
            <a:pPr marL="342900" indent="-342900">
              <a:buFont typeface="Courier New" panose="02070309020205020404" pitchFamily="49" charset="0"/>
              <a:buChar char="o"/>
            </a:pPr>
            <a:r>
              <a:rPr lang="hr-HR" sz="2200" dirty="0"/>
              <a:t>Lat. </a:t>
            </a:r>
            <a:r>
              <a:rPr lang="hr-HR" sz="2200" i="1" dirty="0"/>
              <a:t>religio</a:t>
            </a:r>
            <a:r>
              <a:rPr lang="hr-HR" sz="2200" dirty="0"/>
              <a:t> – vjera</a:t>
            </a:r>
          </a:p>
          <a:p>
            <a:pPr marL="342900" indent="-342900">
              <a:buFont typeface="Courier New" panose="02070309020205020404" pitchFamily="49" charset="0"/>
              <a:buChar char="o"/>
            </a:pPr>
            <a:r>
              <a:rPr lang="hr-HR" sz="2200" dirty="0"/>
              <a:t>KULT (religijski pojam) lat. </a:t>
            </a:r>
            <a:r>
              <a:rPr lang="hr-HR" sz="2200" i="1" dirty="0"/>
              <a:t>cultus</a:t>
            </a:r>
            <a:r>
              <a:rPr lang="hr-HR" sz="2200" dirty="0"/>
              <a:t> – obrađivati, štovati</a:t>
            </a:r>
          </a:p>
          <a:p>
            <a:endParaRPr lang="hr-HR" dirty="0"/>
          </a:p>
        </p:txBody>
      </p:sp>
    </p:spTree>
    <p:extLst>
      <p:ext uri="{BB962C8B-B14F-4D97-AF65-F5344CB8AC3E}">
        <p14:creationId xmlns:p14="http://schemas.microsoft.com/office/powerpoint/2010/main" val="2997338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hr-HR" sz="3000" dirty="0"/>
          </a:p>
        </p:txBody>
      </p:sp>
      <p:sp>
        <p:nvSpPr>
          <p:cNvPr id="3" name="Content Placeholder 2"/>
          <p:cNvSpPr>
            <a:spLocks noGrp="1"/>
          </p:cNvSpPr>
          <p:nvPr>
            <p:ph idx="1"/>
          </p:nvPr>
        </p:nvSpPr>
        <p:spPr/>
        <p:txBody>
          <a:bodyPr/>
          <a:lstStyle/>
          <a:p>
            <a:endParaRPr lang="hr-HR" dirty="0"/>
          </a:p>
          <a:p>
            <a:r>
              <a:rPr lang="hr-HR" b="1" dirty="0"/>
              <a:t>Sociologija istražuje društvenu ulogu religije</a:t>
            </a:r>
          </a:p>
          <a:p>
            <a:endParaRPr lang="hr-HR" b="1" dirty="0"/>
          </a:p>
          <a:p>
            <a:pPr marL="0" indent="0" algn="ctr">
              <a:buNone/>
            </a:pPr>
            <a:r>
              <a:rPr lang="hr-HR" b="1" dirty="0"/>
              <a:t>SOCIOLOŠKA DEFINICIJA RELIGIJE</a:t>
            </a:r>
          </a:p>
          <a:p>
            <a:pPr marL="0" indent="0" algn="ctr">
              <a:buNone/>
            </a:pPr>
            <a:r>
              <a:rPr lang="hr-HR" b="1" dirty="0">
                <a:solidFill>
                  <a:schemeClr val="accent1">
                    <a:lumMod val="40000"/>
                    <a:lumOff val="60000"/>
                  </a:schemeClr>
                </a:solidFill>
              </a:rPr>
              <a:t>Religija je skup simbola koji izazivaju osjećaj strahopoštovanja i obožavanja, a povezani su s ritualima, ceremonijama u kojima sudjeluju zajednice vjernika.</a:t>
            </a:r>
          </a:p>
        </p:txBody>
      </p:sp>
    </p:spTree>
    <p:extLst>
      <p:ext uri="{BB962C8B-B14F-4D97-AF65-F5344CB8AC3E}">
        <p14:creationId xmlns:p14="http://schemas.microsoft.com/office/powerpoint/2010/main" val="681289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157" y="452718"/>
            <a:ext cx="3321991" cy="1400530"/>
          </a:xfrm>
        </p:spPr>
        <p:txBody>
          <a:bodyPr/>
          <a:lstStyle/>
          <a:p>
            <a:pPr algn="ctr"/>
            <a:r>
              <a:rPr lang="hr-HR" sz="3000" dirty="0"/>
              <a:t>EMILE DURKHEIM</a:t>
            </a:r>
          </a:p>
        </p:txBody>
      </p:sp>
      <p:sp>
        <p:nvSpPr>
          <p:cNvPr id="3" name="Content Placeholder 2"/>
          <p:cNvSpPr>
            <a:spLocks noGrp="1"/>
          </p:cNvSpPr>
          <p:nvPr>
            <p:ph idx="1"/>
          </p:nvPr>
        </p:nvSpPr>
        <p:spPr>
          <a:xfrm>
            <a:off x="3236674" y="692696"/>
            <a:ext cx="8953739" cy="5976664"/>
          </a:xfrm>
        </p:spPr>
        <p:txBody>
          <a:bodyPr>
            <a:normAutofit/>
          </a:bodyPr>
          <a:lstStyle/>
          <a:p>
            <a:pPr marL="0" indent="0" algn="ctr">
              <a:buNone/>
            </a:pPr>
            <a:r>
              <a:rPr lang="hr-HR" sz="2200" dirty="0"/>
              <a:t>U religiji razlikuje:</a:t>
            </a:r>
          </a:p>
          <a:p>
            <a:pPr marL="0" indent="0">
              <a:buNone/>
            </a:pPr>
            <a:r>
              <a:rPr lang="hr-HR" sz="2200" b="1" dirty="0"/>
              <a:t>SVJETOVNO (PROFANO)                            SVETO (SAKRALNO)</a:t>
            </a:r>
          </a:p>
          <a:p>
            <a:pPr marL="0" indent="0">
              <a:buNone/>
            </a:pPr>
            <a:endParaRPr lang="hr-HR" sz="2200" b="1" dirty="0"/>
          </a:p>
          <a:p>
            <a:pPr marL="0" indent="0">
              <a:buNone/>
            </a:pPr>
            <a:endParaRPr lang="hr-HR" sz="2200" b="1" dirty="0"/>
          </a:p>
          <a:p>
            <a:pPr marL="0" indent="0">
              <a:buNone/>
            </a:pPr>
            <a:endParaRPr lang="hr-HR" sz="2200" b="1" dirty="0"/>
          </a:p>
          <a:p>
            <a:pPr>
              <a:buFont typeface="Arial" panose="020B0604020202020204" pitchFamily="34" charset="0"/>
              <a:buChar char="•"/>
            </a:pPr>
            <a:r>
              <a:rPr lang="hr-HR" sz="2200" dirty="0"/>
              <a:t>Durkheim istraživao vjerovanja primitivnih australskih plemena</a:t>
            </a:r>
          </a:p>
          <a:p>
            <a:pPr>
              <a:buFont typeface="Arial" panose="020B0604020202020204" pitchFamily="34" charset="0"/>
              <a:buChar char="•"/>
            </a:pPr>
            <a:r>
              <a:rPr lang="hr-HR" sz="2200" dirty="0"/>
              <a:t>Zaključio da je funkcija religijskih ceremonijala osnažiti osjećaj solidarnosti i jedinstva između plemenskih članova</a:t>
            </a:r>
          </a:p>
          <a:p>
            <a:pPr>
              <a:buFont typeface="Arial" panose="020B0604020202020204" pitchFamily="34" charset="0"/>
              <a:buChar char="•"/>
            </a:pPr>
            <a:r>
              <a:rPr lang="hr-HR" sz="2200" dirty="0"/>
              <a:t>Ta primitivna australska plemena žive u malim izoliranim grupama i unutar njih osnovane su jedinice okupljanja odnosno klanovi</a:t>
            </a:r>
          </a:p>
          <a:p>
            <a:pPr>
              <a:buFont typeface="Arial" panose="020B0604020202020204" pitchFamily="34" charset="0"/>
              <a:buChar char="•"/>
            </a:pPr>
            <a:r>
              <a:rPr lang="hr-HR" sz="2200" dirty="0"/>
              <a:t>Svaki klan ima svoj </a:t>
            </a:r>
            <a:r>
              <a:rPr lang="hr-HR" sz="2200" b="1" dirty="0"/>
              <a:t>TOTEM</a:t>
            </a:r>
            <a:r>
              <a:rPr lang="hr-HR" sz="2200" dirty="0"/>
              <a:t>  i služi kao objekt prepoznavanja pripadnosti</a:t>
            </a:r>
          </a:p>
        </p:txBody>
      </p:sp>
      <p:pic>
        <p:nvPicPr>
          <p:cNvPr id="8194" name="Picture 2" descr="Émile Durkheim - Wikipedi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9165" y="1077264"/>
            <a:ext cx="2937508" cy="399317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106924" y="5157192"/>
            <a:ext cx="3321991" cy="369332"/>
          </a:xfrm>
          <a:prstGeom prst="rect">
            <a:avLst/>
          </a:prstGeom>
          <a:noFill/>
        </p:spPr>
        <p:txBody>
          <a:bodyPr wrap="square" rtlCol="0">
            <a:spAutoFit/>
          </a:bodyPr>
          <a:lstStyle/>
          <a:p>
            <a:pPr algn="ctr"/>
            <a:r>
              <a:rPr lang="hr-HR" dirty="0"/>
              <a:t>1858.-1917.</a:t>
            </a:r>
          </a:p>
        </p:txBody>
      </p:sp>
      <p:sp>
        <p:nvSpPr>
          <p:cNvPr id="5" name="TextBox 4"/>
          <p:cNvSpPr txBox="1"/>
          <p:nvPr/>
        </p:nvSpPr>
        <p:spPr>
          <a:xfrm>
            <a:off x="3386878" y="1579940"/>
            <a:ext cx="4139258" cy="1107996"/>
          </a:xfrm>
          <a:prstGeom prst="rect">
            <a:avLst/>
          </a:prstGeom>
          <a:solidFill>
            <a:schemeClr val="accent1">
              <a:lumMod val="60000"/>
              <a:lumOff val="40000"/>
            </a:schemeClr>
          </a:solidFill>
        </p:spPr>
        <p:txBody>
          <a:bodyPr wrap="square" rtlCol="0">
            <a:spAutoFit/>
          </a:bodyPr>
          <a:lstStyle/>
          <a:p>
            <a:pPr marL="342900" indent="-342900">
              <a:buFont typeface="Courier New" panose="02070309020205020404" pitchFamily="49" charset="0"/>
              <a:buChar char="o"/>
            </a:pPr>
            <a:r>
              <a:rPr lang="hr-HR" sz="2200" dirty="0"/>
              <a:t>Povezano s uobičajenim</a:t>
            </a:r>
          </a:p>
          <a:p>
            <a:pPr marL="342900" indent="-342900">
              <a:buFont typeface="Courier New" panose="02070309020205020404" pitchFamily="49" charset="0"/>
              <a:buChar char="o"/>
            </a:pPr>
            <a:r>
              <a:rPr lang="hr-HR" sz="2200" dirty="0"/>
              <a:t>Nešto poznato</a:t>
            </a:r>
          </a:p>
          <a:p>
            <a:pPr marL="342900" indent="-342900">
              <a:buFont typeface="Courier New" panose="02070309020205020404" pitchFamily="49" charset="0"/>
              <a:buChar char="o"/>
            </a:pPr>
            <a:r>
              <a:rPr lang="hr-HR" sz="2200" dirty="0"/>
              <a:t>Za svakodnevnu upotrebu</a:t>
            </a:r>
          </a:p>
        </p:txBody>
      </p:sp>
      <p:sp>
        <p:nvSpPr>
          <p:cNvPr id="6" name="TextBox 5"/>
          <p:cNvSpPr txBox="1"/>
          <p:nvPr/>
        </p:nvSpPr>
        <p:spPr>
          <a:xfrm>
            <a:off x="8256240" y="1569017"/>
            <a:ext cx="3934172" cy="1107996"/>
          </a:xfrm>
          <a:prstGeom prst="rect">
            <a:avLst/>
          </a:prstGeom>
          <a:solidFill>
            <a:schemeClr val="accent1">
              <a:lumMod val="60000"/>
              <a:lumOff val="40000"/>
            </a:schemeClr>
          </a:solidFill>
        </p:spPr>
        <p:txBody>
          <a:bodyPr wrap="square" rtlCol="0">
            <a:spAutoFit/>
          </a:bodyPr>
          <a:lstStyle/>
          <a:p>
            <a:pPr marL="285750" indent="-285750">
              <a:buFont typeface="Courier New" panose="02070309020205020404" pitchFamily="49" charset="0"/>
              <a:buChar char="o"/>
            </a:pPr>
            <a:r>
              <a:rPr lang="hr-HR" sz="2200" dirty="0"/>
              <a:t>Izdvojeno iz rutine života</a:t>
            </a:r>
          </a:p>
          <a:p>
            <a:pPr marL="285750" indent="-285750">
              <a:buFont typeface="Courier New" panose="02070309020205020404" pitchFamily="49" charset="0"/>
              <a:buChar char="o"/>
            </a:pPr>
            <a:r>
              <a:rPr lang="hr-HR" sz="2200" dirty="0"/>
              <a:t>Iznimno, tajanstveno</a:t>
            </a:r>
          </a:p>
          <a:p>
            <a:pPr marL="285750" indent="-285750">
              <a:buFont typeface="Courier New" panose="02070309020205020404" pitchFamily="49" charset="0"/>
              <a:buChar char="o"/>
            </a:pPr>
            <a:r>
              <a:rPr lang="hr-HR" sz="2200" dirty="0"/>
              <a:t>Osjećaj strahopoštovanja</a:t>
            </a:r>
          </a:p>
        </p:txBody>
      </p:sp>
    </p:spTree>
    <p:extLst>
      <p:ext uri="{BB962C8B-B14F-4D97-AF65-F5344CB8AC3E}">
        <p14:creationId xmlns:p14="http://schemas.microsoft.com/office/powerpoint/2010/main" val="9990457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hr-HR"/>
          </a:p>
        </p:txBody>
      </p:sp>
      <p:sp>
        <p:nvSpPr>
          <p:cNvPr id="3" name="Content Placeholder 2"/>
          <p:cNvSpPr>
            <a:spLocks noGrp="1"/>
          </p:cNvSpPr>
          <p:nvPr>
            <p:ph idx="1"/>
          </p:nvPr>
        </p:nvSpPr>
        <p:spPr/>
        <p:txBody>
          <a:bodyPr>
            <a:normAutofit/>
          </a:bodyPr>
          <a:lstStyle/>
          <a:p>
            <a:r>
              <a:rPr lang="hr-HR" sz="2200" dirty="0"/>
              <a:t>Funkcija </a:t>
            </a:r>
            <a:r>
              <a:rPr lang="hr-HR" sz="2200" b="1" dirty="0"/>
              <a:t>totema</a:t>
            </a:r>
            <a:r>
              <a:rPr lang="hr-HR" sz="2200" dirty="0"/>
              <a:t> je podsjećati svakoga da pripada toj zajednici i da ima dužnost i uloge koje odatle proizlaze</a:t>
            </a:r>
          </a:p>
          <a:p>
            <a:r>
              <a:rPr lang="hr-HR" sz="2200" dirty="0"/>
              <a:t>Takvi osjećaji se obnavljaju </a:t>
            </a:r>
            <a:r>
              <a:rPr lang="hr-HR" sz="2200" b="1" dirty="0"/>
              <a:t>periodičnim okupljanjima plemena, ceremonijama, slavljima</a:t>
            </a:r>
            <a:r>
              <a:rPr lang="hr-HR" sz="2200" dirty="0"/>
              <a:t> – zanos, osjećaj pripadnosti</a:t>
            </a:r>
          </a:p>
          <a:p>
            <a:r>
              <a:rPr lang="hr-HR" sz="2200" dirty="0"/>
              <a:t>Nije važno koliko je neki čin objektivan i racionalan, već kakav učinak ima</a:t>
            </a:r>
          </a:p>
        </p:txBody>
      </p:sp>
    </p:spTree>
    <p:extLst>
      <p:ext uri="{BB962C8B-B14F-4D97-AF65-F5344CB8AC3E}">
        <p14:creationId xmlns:p14="http://schemas.microsoft.com/office/powerpoint/2010/main" val="26834186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r-HR" sz="3200" dirty="0"/>
              <a:t>Utjecaj društvenih promjena na religiju</a:t>
            </a:r>
          </a:p>
        </p:txBody>
      </p:sp>
      <p:sp>
        <p:nvSpPr>
          <p:cNvPr id="3" name="Content Placeholder 2"/>
          <p:cNvSpPr>
            <a:spLocks noGrp="1"/>
          </p:cNvSpPr>
          <p:nvPr>
            <p:ph idx="1"/>
          </p:nvPr>
        </p:nvSpPr>
        <p:spPr>
          <a:xfrm>
            <a:off x="263353" y="1772816"/>
            <a:ext cx="11593287" cy="4475585"/>
          </a:xfrm>
        </p:spPr>
        <p:txBody>
          <a:bodyPr>
            <a:normAutofit/>
          </a:bodyPr>
          <a:lstStyle/>
          <a:p>
            <a:pPr marL="0" indent="0">
              <a:buNone/>
            </a:pPr>
            <a:r>
              <a:rPr lang="hr-HR" sz="2200" b="1" dirty="0">
                <a:solidFill>
                  <a:schemeClr val="accent1">
                    <a:lumMod val="20000"/>
                    <a:lumOff val="80000"/>
                  </a:schemeClr>
                </a:solidFill>
              </a:rPr>
              <a:t>SEKULARIZACIJA </a:t>
            </a:r>
            <a:r>
              <a:rPr lang="hr-HR" sz="2200" dirty="0"/>
              <a:t>– proces kojim religija gubi važnost i utjecaj u društvenom životu.</a:t>
            </a:r>
          </a:p>
          <a:p>
            <a:r>
              <a:rPr lang="hr-HR" sz="2200" dirty="0"/>
              <a:t>Izdvajanje religije iz javne u privatnu sferu života</a:t>
            </a:r>
          </a:p>
          <a:p>
            <a:r>
              <a:rPr lang="hr-HR" sz="2200" dirty="0"/>
              <a:t>Vidljivi pokazatelji sekularizacije: </a:t>
            </a:r>
          </a:p>
          <a:p>
            <a:pPr marL="0" indent="0">
              <a:buNone/>
            </a:pPr>
            <a:r>
              <a:rPr lang="hr-HR" sz="2200" dirty="0"/>
              <a:t>1. manji broj članova u vjerskim zajednicama</a:t>
            </a:r>
          </a:p>
          <a:p>
            <a:pPr marL="0" indent="0">
              <a:buNone/>
            </a:pPr>
            <a:r>
              <a:rPr lang="hr-HR" sz="2200" dirty="0"/>
              <a:t>2. manji broj vjenčanja u crkvama</a:t>
            </a:r>
          </a:p>
          <a:p>
            <a:pPr marL="0" indent="0">
              <a:buNone/>
            </a:pPr>
            <a:r>
              <a:rPr lang="hr-HR" sz="2200" dirty="0"/>
              <a:t>3. smanjenje pohađanja vjerskih obreda</a:t>
            </a:r>
          </a:p>
          <a:p>
            <a:pPr marL="0" indent="0">
              <a:buNone/>
            </a:pPr>
            <a:r>
              <a:rPr lang="hr-HR" sz="2200" dirty="0"/>
              <a:t>4. smanjenje političkog utjecaja vjerskih organizacija</a:t>
            </a:r>
          </a:p>
          <a:p>
            <a:pPr marL="0" indent="0">
              <a:buNone/>
            </a:pPr>
            <a:r>
              <a:rPr lang="hr-HR" sz="2200" dirty="0"/>
              <a:t>5. školstvo, zdravstvena i socijalna pomoć prelaze u državne institucija</a:t>
            </a:r>
          </a:p>
          <a:p>
            <a:endParaRPr lang="hr-HR" sz="2200" dirty="0"/>
          </a:p>
        </p:txBody>
      </p:sp>
    </p:spTree>
    <p:extLst>
      <p:ext uri="{BB962C8B-B14F-4D97-AF65-F5344CB8AC3E}">
        <p14:creationId xmlns:p14="http://schemas.microsoft.com/office/powerpoint/2010/main" val="11263694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r-HR" sz="3600" dirty="0"/>
              <a:t>Vjerski fundamentalizam</a:t>
            </a:r>
          </a:p>
        </p:txBody>
      </p:sp>
      <p:sp>
        <p:nvSpPr>
          <p:cNvPr id="3" name="Content Placeholder 2"/>
          <p:cNvSpPr>
            <a:spLocks noGrp="1"/>
          </p:cNvSpPr>
          <p:nvPr>
            <p:ph idx="1"/>
          </p:nvPr>
        </p:nvSpPr>
        <p:spPr/>
        <p:txBody>
          <a:bodyPr>
            <a:normAutofit/>
          </a:bodyPr>
          <a:lstStyle/>
          <a:p>
            <a:r>
              <a:rPr lang="hr-HR" sz="2200" b="1" dirty="0">
                <a:solidFill>
                  <a:schemeClr val="accent1">
                    <a:lumMod val="20000"/>
                    <a:lumOff val="80000"/>
                  </a:schemeClr>
                </a:solidFill>
              </a:rPr>
              <a:t>Podrazumijeva ideologije i pokrete koji doslovno tumače temeljne religijske tekstove i spise kako bi se prema njima uskladio društveni život.</a:t>
            </a:r>
          </a:p>
          <a:p>
            <a:r>
              <a:rPr lang="hr-HR" sz="2200" dirty="0"/>
              <a:t>CILJEVI:</a:t>
            </a:r>
          </a:p>
          <a:p>
            <a:pPr>
              <a:buFont typeface="Courier New" panose="02070309020205020404" pitchFamily="49" charset="0"/>
              <a:buChar char="o"/>
            </a:pPr>
            <a:r>
              <a:rPr lang="hr-HR" sz="2200" dirty="0"/>
              <a:t>Obrana tradicionalnih vjerovanja pred brzim društvenim promjenama</a:t>
            </a:r>
          </a:p>
          <a:p>
            <a:pPr>
              <a:buFont typeface="Courier New" panose="02070309020205020404" pitchFamily="49" charset="0"/>
              <a:buChar char="o"/>
            </a:pPr>
            <a:r>
              <a:rPr lang="hr-HR" sz="2200" dirty="0"/>
              <a:t>Zagovaranje religijske čistoće</a:t>
            </a:r>
          </a:p>
          <a:p>
            <a:pPr marL="0" indent="0">
              <a:buNone/>
            </a:pPr>
            <a:r>
              <a:rPr lang="hr-HR" sz="2200" dirty="0"/>
              <a:t>Otvorite poveznicu, pročitajte tekst i zapišite vrste vjerskog fundamentalizma.</a:t>
            </a:r>
          </a:p>
          <a:p>
            <a:pPr marL="0" indent="0">
              <a:buNone/>
            </a:pPr>
            <a:r>
              <a:rPr lang="hr-HR" sz="2200" dirty="0"/>
              <a:t>Bit.ly/fundamentalizam</a:t>
            </a:r>
          </a:p>
        </p:txBody>
      </p:sp>
      <p:sp>
        <p:nvSpPr>
          <p:cNvPr id="4" name="Explosion 1 3"/>
          <p:cNvSpPr/>
          <p:nvPr/>
        </p:nvSpPr>
        <p:spPr>
          <a:xfrm>
            <a:off x="454835" y="4869160"/>
            <a:ext cx="648072" cy="504056"/>
          </a:xfrm>
          <a:prstGeom prst="irregularSeal1">
            <a:avLst/>
          </a:prstGeom>
          <a:solidFill>
            <a:schemeClr val="tx1"/>
          </a:solidFill>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Tree>
    <p:extLst>
      <p:ext uri="{BB962C8B-B14F-4D97-AF65-F5344CB8AC3E}">
        <p14:creationId xmlns:p14="http://schemas.microsoft.com/office/powerpoint/2010/main" val="3419247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7531" y="160336"/>
            <a:ext cx="9402274" cy="1692912"/>
          </a:xfrm>
        </p:spPr>
        <p:txBody>
          <a:bodyPr/>
          <a:lstStyle/>
          <a:p>
            <a:r>
              <a:rPr lang="en-US" sz="3600" dirty="0" err="1"/>
              <a:t>Civilna</a:t>
            </a:r>
            <a:r>
              <a:rPr lang="en-US" sz="3600" dirty="0"/>
              <a:t> </a:t>
            </a:r>
            <a:r>
              <a:rPr lang="en-US" sz="3600" dirty="0" err="1"/>
              <a:t>religija</a:t>
            </a:r>
            <a:endParaRPr lang="hr-HR" sz="3600" dirty="0"/>
          </a:p>
        </p:txBody>
      </p:sp>
      <p:sp>
        <p:nvSpPr>
          <p:cNvPr id="3" name="Content Placeholder 2"/>
          <p:cNvSpPr>
            <a:spLocks noGrp="1"/>
          </p:cNvSpPr>
          <p:nvPr>
            <p:ph idx="1"/>
          </p:nvPr>
        </p:nvSpPr>
        <p:spPr>
          <a:xfrm>
            <a:off x="335361" y="980729"/>
            <a:ext cx="11855052" cy="5267673"/>
          </a:xfrm>
        </p:spPr>
        <p:txBody>
          <a:bodyPr/>
          <a:lstStyle/>
          <a:p>
            <a:r>
              <a:rPr lang="hr-HR" sz="2200" dirty="0"/>
              <a:t>Vezanje za simbole i institucije sekularnog života</a:t>
            </a:r>
          </a:p>
          <a:p>
            <a:r>
              <a:rPr lang="hr-HR" sz="2200" dirty="0"/>
              <a:t>To nije religija vezana uz neke religijske organizacije već skup vjerovanja, simbola i rituala koji se onda odnose na društveni poredak</a:t>
            </a:r>
          </a:p>
          <a:p>
            <a:r>
              <a:rPr lang="hr-HR" sz="2200" dirty="0"/>
              <a:t>Državni i nacionalni simboli koji se doživljavaju kao svetinja</a:t>
            </a:r>
          </a:p>
          <a:p>
            <a:endParaRPr lang="hr-HR" dirty="0"/>
          </a:p>
          <a:p>
            <a:endParaRPr lang="hr-HR" dirty="0"/>
          </a:p>
        </p:txBody>
      </p:sp>
      <p:pic>
        <p:nvPicPr>
          <p:cNvPr id="9218" name="Picture 2" descr="Hrvatska -Rusija, himna na Poljudu - YouTub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61" y="3692935"/>
            <a:ext cx="3880431" cy="2182743"/>
          </a:xfrm>
          <a:prstGeom prst="rect">
            <a:avLst/>
          </a:prstGeom>
          <a:noFill/>
          <a:extLst>
            <a:ext uri="{909E8E84-426E-40DD-AFC4-6F175D3DCCD1}">
              <a14:hiddenFill xmlns:a14="http://schemas.microsoft.com/office/drawing/2010/main">
                <a:solidFill>
                  <a:srgbClr val="FFFFFF"/>
                </a:solidFill>
              </a14:hiddenFill>
            </a:ext>
          </a:extLst>
        </p:spPr>
      </p:pic>
      <p:sp>
        <p:nvSpPr>
          <p:cNvPr id="4" name="AutoShape 4" descr="The Best Fourth of July Parades in the Country | Condé Nast Traveler"/>
          <p:cNvSpPr>
            <a:spLocks noChangeAspect="1" noChangeArrowheads="1"/>
          </p:cNvSpPr>
          <p:nvPr/>
        </p:nvSpPr>
        <p:spPr bwMode="auto">
          <a:xfrm>
            <a:off x="157163"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hr-HR"/>
          </a:p>
        </p:txBody>
      </p:sp>
      <p:pic>
        <p:nvPicPr>
          <p:cNvPr id="9222" name="Picture 6" descr="The Best Fourth of July Parades in the Country | Condé Nast Travele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89431" y="3692934"/>
            <a:ext cx="2295104" cy="3144562"/>
          </a:xfrm>
          <a:prstGeom prst="rect">
            <a:avLst/>
          </a:prstGeom>
          <a:noFill/>
          <a:extLst>
            <a:ext uri="{909E8E84-426E-40DD-AFC4-6F175D3DCCD1}">
              <a14:hiddenFill xmlns:a14="http://schemas.microsoft.com/office/drawing/2010/main">
                <a:solidFill>
                  <a:srgbClr val="FFFFFF"/>
                </a:solidFill>
              </a14:hiddenFill>
            </a:ext>
          </a:extLst>
        </p:spPr>
      </p:pic>
      <p:sp>
        <p:nvSpPr>
          <p:cNvPr id="5" name="AutoShape 8" descr="Hrvatska zastava - Arz.hr"/>
          <p:cNvSpPr>
            <a:spLocks noChangeAspect="1" noChangeArrowheads="1"/>
          </p:cNvSpPr>
          <p:nvPr/>
        </p:nvSpPr>
        <p:spPr bwMode="auto">
          <a:xfrm>
            <a:off x="309563"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hr-HR"/>
          </a:p>
        </p:txBody>
      </p:sp>
      <p:sp>
        <p:nvSpPr>
          <p:cNvPr id="6" name="AutoShape 10" descr="Hrvatska zastava - Arz.hr"/>
          <p:cNvSpPr>
            <a:spLocks noChangeAspect="1" noChangeArrowheads="1"/>
          </p:cNvSpPr>
          <p:nvPr/>
        </p:nvSpPr>
        <p:spPr bwMode="auto">
          <a:xfrm>
            <a:off x="461963" y="1603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hr-HR"/>
          </a:p>
        </p:txBody>
      </p:sp>
      <p:pic>
        <p:nvPicPr>
          <p:cNvPr id="9230" name="Picture 14" descr="Kate Middleton Had a Sweet Response When a Young Fan Asked Why She Didn't  Wear a Princess Elsa Dress"/>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flipH="1">
            <a:off x="9294451" y="3762293"/>
            <a:ext cx="2912692" cy="2044025"/>
          </a:xfrm>
          <a:prstGeom prst="rect">
            <a:avLst/>
          </a:prstGeom>
          <a:noFill/>
          <a:extLst>
            <a:ext uri="{909E8E84-426E-40DD-AFC4-6F175D3DCCD1}">
              <a14:hiddenFill xmlns:a14="http://schemas.microsoft.com/office/drawing/2010/main">
                <a:solidFill>
                  <a:srgbClr val="FFFFFF"/>
                </a:solidFill>
              </a14:hiddenFill>
            </a:ext>
          </a:extLst>
        </p:spPr>
      </p:pic>
      <p:pic>
        <p:nvPicPr>
          <p:cNvPr id="9232" name="Picture 16" descr="PIN REKLAMNI TISAK – WEBSHOP | Službena Hrvatska zastava 100×200 cm"/>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00057" y="3858437"/>
            <a:ext cx="2487555" cy="186566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2161" y="3068961"/>
            <a:ext cx="3880431" cy="646331"/>
          </a:xfrm>
          <a:prstGeom prst="rect">
            <a:avLst/>
          </a:prstGeom>
          <a:noFill/>
        </p:spPr>
        <p:txBody>
          <a:bodyPr wrap="square" rtlCol="0">
            <a:spAutoFit/>
          </a:bodyPr>
          <a:lstStyle/>
          <a:p>
            <a:pPr algn="ctr"/>
            <a:r>
              <a:rPr lang="hr-HR" b="1" dirty="0"/>
              <a:t>Ustajanje kod pjevanja nacionalne himne</a:t>
            </a:r>
          </a:p>
        </p:txBody>
      </p:sp>
      <p:sp>
        <p:nvSpPr>
          <p:cNvPr id="8" name="TextBox 7"/>
          <p:cNvSpPr txBox="1"/>
          <p:nvPr/>
        </p:nvSpPr>
        <p:spPr>
          <a:xfrm>
            <a:off x="3882592" y="2751514"/>
            <a:ext cx="2717465" cy="646331"/>
          </a:xfrm>
          <a:prstGeom prst="rect">
            <a:avLst/>
          </a:prstGeom>
          <a:noFill/>
        </p:spPr>
        <p:txBody>
          <a:bodyPr wrap="square" rtlCol="0">
            <a:spAutoFit/>
          </a:bodyPr>
          <a:lstStyle/>
          <a:p>
            <a:pPr algn="ctr"/>
            <a:r>
              <a:rPr lang="hr-HR" b="1" dirty="0"/>
              <a:t>Javne parade povodom nacionalnih praznika</a:t>
            </a:r>
          </a:p>
        </p:txBody>
      </p:sp>
      <p:sp>
        <p:nvSpPr>
          <p:cNvPr id="9" name="TextBox 8"/>
          <p:cNvSpPr txBox="1"/>
          <p:nvPr/>
        </p:nvSpPr>
        <p:spPr>
          <a:xfrm>
            <a:off x="6600057" y="3284985"/>
            <a:ext cx="2487555" cy="646331"/>
          </a:xfrm>
          <a:prstGeom prst="rect">
            <a:avLst/>
          </a:prstGeom>
          <a:noFill/>
        </p:spPr>
        <p:txBody>
          <a:bodyPr wrap="square" rtlCol="0">
            <a:spAutoFit/>
          </a:bodyPr>
          <a:lstStyle/>
          <a:p>
            <a:pPr algn="ctr"/>
            <a:r>
              <a:rPr lang="hr-HR" b="1" dirty="0"/>
              <a:t>Isticanje nacionalne zastave</a:t>
            </a:r>
          </a:p>
        </p:txBody>
      </p:sp>
      <p:sp>
        <p:nvSpPr>
          <p:cNvPr id="10" name="TextBox 9"/>
          <p:cNvSpPr txBox="1"/>
          <p:nvPr/>
        </p:nvSpPr>
        <p:spPr>
          <a:xfrm>
            <a:off x="9289270" y="3177209"/>
            <a:ext cx="2880320" cy="369332"/>
          </a:xfrm>
          <a:prstGeom prst="rect">
            <a:avLst/>
          </a:prstGeom>
          <a:noFill/>
        </p:spPr>
        <p:txBody>
          <a:bodyPr wrap="square" rtlCol="0">
            <a:spAutoFit/>
          </a:bodyPr>
          <a:lstStyle/>
          <a:p>
            <a:pPr algn="ctr"/>
            <a:r>
              <a:rPr lang="hr-HR" b="1" dirty="0"/>
              <a:t>Obožavaje slavnih osoba</a:t>
            </a:r>
          </a:p>
        </p:txBody>
      </p:sp>
    </p:spTree>
    <p:extLst>
      <p:ext uri="{BB962C8B-B14F-4D97-AF65-F5344CB8AC3E}">
        <p14:creationId xmlns:p14="http://schemas.microsoft.com/office/powerpoint/2010/main" val="404771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21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922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923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0"/>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92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7" grpId="0"/>
      <p:bldP spid="8" grpId="0"/>
      <p:bldP spid="9" grpId="0"/>
      <p:bldP spid="10"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r-HR" dirty="0"/>
              <a:t> </a:t>
            </a:r>
          </a:p>
        </p:txBody>
      </p:sp>
      <p:sp>
        <p:nvSpPr>
          <p:cNvPr id="3" name="Content Placeholder 2"/>
          <p:cNvSpPr>
            <a:spLocks noGrp="1"/>
          </p:cNvSpPr>
          <p:nvPr>
            <p:ph idx="1"/>
          </p:nvPr>
        </p:nvSpPr>
        <p:spPr>
          <a:xfrm>
            <a:off x="1104614" y="1124745"/>
            <a:ext cx="8944211" cy="5123656"/>
          </a:xfrm>
        </p:spPr>
        <p:txBody>
          <a:bodyPr/>
          <a:lstStyle/>
          <a:p>
            <a:r>
              <a:rPr lang="hr-HR" dirty="0"/>
              <a:t>Treba li poštivati druge religije?</a:t>
            </a:r>
          </a:p>
        </p:txBody>
      </p:sp>
      <p:pic>
        <p:nvPicPr>
          <p:cNvPr id="10242" name="Picture 2" descr="Religious symbols used around the world and their meanings - Briefly.co.za"/>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16080" y="260648"/>
            <a:ext cx="2664296" cy="266207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647532" y="4077073"/>
            <a:ext cx="10200997" cy="1200329"/>
          </a:xfrm>
          <a:prstGeom prst="rect">
            <a:avLst/>
          </a:prstGeom>
          <a:noFill/>
        </p:spPr>
        <p:txBody>
          <a:bodyPr wrap="square" rtlCol="0">
            <a:spAutoFit/>
          </a:bodyPr>
          <a:lstStyle/>
          <a:p>
            <a:r>
              <a:rPr lang="hr-HR" sz="2400" dirty="0"/>
              <a:t>Religije su se, sukladno razvitku društa, mijenjale kroz povijest.</a:t>
            </a:r>
          </a:p>
          <a:p>
            <a:endParaRPr lang="hr-HR" sz="2400" dirty="0"/>
          </a:p>
          <a:p>
            <a:r>
              <a:rPr lang="hr-HR" sz="2400" dirty="0"/>
              <a:t>Neke su nestale, a neke su nastavile svoj razvitak i danas. </a:t>
            </a:r>
          </a:p>
        </p:txBody>
      </p:sp>
    </p:spTree>
    <p:extLst>
      <p:ext uri="{BB962C8B-B14F-4D97-AF65-F5344CB8AC3E}">
        <p14:creationId xmlns:p14="http://schemas.microsoft.com/office/powerpoint/2010/main" val="5295068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r-HR" sz="3600" dirty="0"/>
              <a:t>Velike svjetske religije</a:t>
            </a:r>
          </a:p>
        </p:txBody>
      </p:sp>
      <p:sp>
        <p:nvSpPr>
          <p:cNvPr id="3" name="Content Placeholder 2"/>
          <p:cNvSpPr>
            <a:spLocks noGrp="1"/>
          </p:cNvSpPr>
          <p:nvPr>
            <p:ph idx="1"/>
          </p:nvPr>
        </p:nvSpPr>
        <p:spPr>
          <a:xfrm>
            <a:off x="119337" y="1556793"/>
            <a:ext cx="11881319" cy="4691608"/>
          </a:xfrm>
        </p:spPr>
        <p:txBody>
          <a:bodyPr>
            <a:normAutofit/>
          </a:bodyPr>
          <a:lstStyle/>
          <a:p>
            <a:pPr marL="0" indent="0">
              <a:buNone/>
            </a:pPr>
            <a:r>
              <a:rPr lang="hr-HR" sz="2400" dirty="0"/>
              <a:t>Dijelimo ih u dvije kategorije:</a:t>
            </a:r>
          </a:p>
          <a:p>
            <a:endParaRPr lang="hr-HR" sz="2400" dirty="0"/>
          </a:p>
          <a:p>
            <a:pPr marL="0" indent="0">
              <a:buNone/>
            </a:pPr>
            <a:r>
              <a:rPr lang="hr-HR" sz="2400" b="1" dirty="0">
                <a:solidFill>
                  <a:schemeClr val="accent1">
                    <a:lumMod val="20000"/>
                    <a:lumOff val="80000"/>
                  </a:schemeClr>
                </a:solidFill>
              </a:rPr>
              <a:t>MONOTEISTIČKE                                                                       POLITEISTIČKE</a:t>
            </a:r>
          </a:p>
          <a:p>
            <a:pPr marL="0" indent="0">
              <a:buNone/>
            </a:pPr>
            <a:r>
              <a:rPr lang="hr-HR" sz="2400" dirty="0"/>
              <a:t>(Vjerovanje u jednoga boga)                                     (Vjerovanje u više bogova)</a:t>
            </a:r>
          </a:p>
        </p:txBody>
      </p:sp>
      <p:sp>
        <p:nvSpPr>
          <p:cNvPr id="4" name="TextBox 3"/>
          <p:cNvSpPr txBox="1"/>
          <p:nvPr/>
        </p:nvSpPr>
        <p:spPr>
          <a:xfrm>
            <a:off x="263352" y="4077072"/>
            <a:ext cx="2304256" cy="369332"/>
          </a:xfrm>
          <a:prstGeom prst="rect">
            <a:avLst/>
          </a:prstGeom>
          <a:noFill/>
        </p:spPr>
        <p:txBody>
          <a:bodyPr wrap="square" rtlCol="0">
            <a:spAutoFit/>
          </a:bodyPr>
          <a:lstStyle/>
          <a:p>
            <a:r>
              <a:rPr lang="hr-HR" dirty="0"/>
              <a:t>KRŠĆANSTVO</a:t>
            </a:r>
          </a:p>
        </p:txBody>
      </p:sp>
      <p:sp>
        <p:nvSpPr>
          <p:cNvPr id="5" name="TextBox 4"/>
          <p:cNvSpPr txBox="1"/>
          <p:nvPr/>
        </p:nvSpPr>
        <p:spPr>
          <a:xfrm>
            <a:off x="3071664" y="4077072"/>
            <a:ext cx="2637044" cy="369332"/>
          </a:xfrm>
          <a:prstGeom prst="rect">
            <a:avLst/>
          </a:prstGeom>
          <a:noFill/>
        </p:spPr>
        <p:txBody>
          <a:bodyPr wrap="square" rtlCol="0">
            <a:spAutoFit/>
          </a:bodyPr>
          <a:lstStyle/>
          <a:p>
            <a:r>
              <a:rPr lang="hr-HR" dirty="0"/>
              <a:t>ISLAM</a:t>
            </a:r>
          </a:p>
        </p:txBody>
      </p:sp>
      <p:sp>
        <p:nvSpPr>
          <p:cNvPr id="6" name="TextBox 5"/>
          <p:cNvSpPr txBox="1"/>
          <p:nvPr/>
        </p:nvSpPr>
        <p:spPr>
          <a:xfrm>
            <a:off x="1451057" y="5365813"/>
            <a:ext cx="2448272" cy="369332"/>
          </a:xfrm>
          <a:prstGeom prst="rect">
            <a:avLst/>
          </a:prstGeom>
          <a:noFill/>
        </p:spPr>
        <p:txBody>
          <a:bodyPr wrap="square" rtlCol="0">
            <a:spAutoFit/>
          </a:bodyPr>
          <a:lstStyle/>
          <a:p>
            <a:r>
              <a:rPr lang="hr-HR" dirty="0"/>
              <a:t>ŽIDOVSTVO</a:t>
            </a:r>
          </a:p>
        </p:txBody>
      </p:sp>
      <p:sp>
        <p:nvSpPr>
          <p:cNvPr id="7" name="TextBox 6"/>
          <p:cNvSpPr txBox="1"/>
          <p:nvPr/>
        </p:nvSpPr>
        <p:spPr>
          <a:xfrm>
            <a:off x="7680177" y="4233757"/>
            <a:ext cx="3089709" cy="369332"/>
          </a:xfrm>
          <a:prstGeom prst="rect">
            <a:avLst/>
          </a:prstGeom>
          <a:noFill/>
        </p:spPr>
        <p:txBody>
          <a:bodyPr wrap="square" rtlCol="0">
            <a:spAutoFit/>
          </a:bodyPr>
          <a:lstStyle/>
          <a:p>
            <a:r>
              <a:rPr lang="hr-HR" dirty="0"/>
              <a:t>BUDIZAM</a:t>
            </a:r>
          </a:p>
        </p:txBody>
      </p:sp>
      <p:sp>
        <p:nvSpPr>
          <p:cNvPr id="8" name="TextBox 7"/>
          <p:cNvSpPr txBox="1"/>
          <p:nvPr/>
        </p:nvSpPr>
        <p:spPr>
          <a:xfrm>
            <a:off x="8806037" y="5370949"/>
            <a:ext cx="3384376" cy="369332"/>
          </a:xfrm>
          <a:prstGeom prst="rect">
            <a:avLst/>
          </a:prstGeom>
          <a:noFill/>
        </p:spPr>
        <p:txBody>
          <a:bodyPr wrap="square" rtlCol="0">
            <a:spAutoFit/>
          </a:bodyPr>
          <a:lstStyle/>
          <a:p>
            <a:r>
              <a:rPr lang="hr-HR" dirty="0"/>
              <a:t>HINDUIZAM</a:t>
            </a:r>
          </a:p>
        </p:txBody>
      </p:sp>
      <p:pic>
        <p:nvPicPr>
          <p:cNvPr id="11268" name="Picture 4" descr="Cross PNG, Cross Transparent Background - FreeIcons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52381" y="3738402"/>
            <a:ext cx="990711" cy="990711"/>
          </a:xfrm>
          <a:prstGeom prst="rect">
            <a:avLst/>
          </a:prstGeom>
          <a:noFill/>
          <a:extLst>
            <a:ext uri="{909E8E84-426E-40DD-AFC4-6F175D3DCCD1}">
              <a14:hiddenFill xmlns:a14="http://schemas.microsoft.com/office/drawing/2010/main">
                <a:solidFill>
                  <a:srgbClr val="FFFFFF"/>
                </a:solidFill>
              </a14:hiddenFill>
            </a:ext>
          </a:extLst>
        </p:spPr>
      </p:pic>
      <p:pic>
        <p:nvPicPr>
          <p:cNvPr id="11270" name="Picture 6" descr="File:Islamic-Symbol.png - Wikimedia Commons"/>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56637" y="3911316"/>
            <a:ext cx="657923" cy="710557"/>
          </a:xfrm>
          <a:prstGeom prst="rect">
            <a:avLst/>
          </a:prstGeom>
          <a:noFill/>
          <a:extLst>
            <a:ext uri="{909E8E84-426E-40DD-AFC4-6F175D3DCCD1}">
              <a14:hiddenFill xmlns:a14="http://schemas.microsoft.com/office/drawing/2010/main">
                <a:solidFill>
                  <a:srgbClr val="FFFFFF"/>
                </a:solidFill>
              </a14:hiddenFill>
            </a:ext>
          </a:extLst>
        </p:spPr>
      </p:pic>
      <p:pic>
        <p:nvPicPr>
          <p:cNvPr id="11272" name="Picture 8" descr="Datoteka:Star of David (bold).svg - Wikipedia"/>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855641" y="5193973"/>
            <a:ext cx="617785" cy="713012"/>
          </a:xfrm>
          <a:prstGeom prst="rect">
            <a:avLst/>
          </a:prstGeom>
          <a:noFill/>
          <a:extLst>
            <a:ext uri="{909E8E84-426E-40DD-AFC4-6F175D3DCCD1}">
              <a14:hiddenFill xmlns:a14="http://schemas.microsoft.com/office/drawing/2010/main">
                <a:solidFill>
                  <a:srgbClr val="FFFFFF"/>
                </a:solidFill>
              </a14:hiddenFill>
            </a:ext>
          </a:extLst>
        </p:spPr>
      </p:pic>
      <p:pic>
        <p:nvPicPr>
          <p:cNvPr id="11280" name="Picture 16" descr="Darma - Wikipedia"/>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942104" y="3964788"/>
            <a:ext cx="970321" cy="970321"/>
          </a:xfrm>
          <a:prstGeom prst="rect">
            <a:avLst/>
          </a:prstGeom>
          <a:noFill/>
          <a:extLst>
            <a:ext uri="{909E8E84-426E-40DD-AFC4-6F175D3DCCD1}">
              <a14:hiddenFill xmlns:a14="http://schemas.microsoft.com/office/drawing/2010/main">
                <a:solidFill>
                  <a:srgbClr val="FFFFFF"/>
                </a:solidFill>
              </a14:hiddenFill>
            </a:ext>
          </a:extLst>
        </p:spPr>
      </p:pic>
      <p:sp>
        <p:nvSpPr>
          <p:cNvPr id="10" name="AutoShape 18" descr="Hinduism Om Religion Symbol Sign - hinduism png download - 946*980 - Free  Transparent Hinduism png Download. - Clip Art Library"/>
          <p:cNvSpPr>
            <a:spLocks noChangeAspect="1" noChangeArrowheads="1"/>
          </p:cNvSpPr>
          <p:nvPr/>
        </p:nvSpPr>
        <p:spPr bwMode="auto">
          <a:xfrm>
            <a:off x="157163"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hr-HR"/>
          </a:p>
        </p:txBody>
      </p:sp>
      <p:pic>
        <p:nvPicPr>
          <p:cNvPr id="11286" name="Picture 22" descr="Om - Wikipedia"/>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325519" y="5170265"/>
            <a:ext cx="811042" cy="8360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2862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26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27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127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28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128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hr-HR"/>
          </a:p>
        </p:txBody>
      </p:sp>
      <p:sp>
        <p:nvSpPr>
          <p:cNvPr id="3" name="Content Placeholder 2"/>
          <p:cNvSpPr>
            <a:spLocks noGrp="1"/>
          </p:cNvSpPr>
          <p:nvPr>
            <p:ph idx="1"/>
          </p:nvPr>
        </p:nvSpPr>
        <p:spPr/>
        <p:txBody>
          <a:bodyPr>
            <a:normAutofit/>
          </a:bodyPr>
          <a:lstStyle/>
          <a:p>
            <a:r>
              <a:rPr lang="en-US" sz="2400" dirty="0" err="1"/>
              <a:t>Svih</a:t>
            </a:r>
            <a:r>
              <a:rPr lang="en-US" sz="2400" dirty="0"/>
              <a:t> pet </a:t>
            </a:r>
            <a:r>
              <a:rPr lang="en-US" sz="2400" dirty="0" err="1"/>
              <a:t>religija</a:t>
            </a:r>
            <a:r>
              <a:rPr lang="en-US" sz="2400" dirty="0"/>
              <a:t> </a:t>
            </a:r>
            <a:r>
              <a:rPr lang="en-US" sz="2400" dirty="0" err="1"/>
              <a:t>imaju</a:t>
            </a:r>
            <a:r>
              <a:rPr lang="en-US" sz="2400" dirty="0"/>
              <a:t> </a:t>
            </a:r>
            <a:r>
              <a:rPr lang="en-US" sz="2400" dirty="0" err="1"/>
              <a:t>neke</a:t>
            </a:r>
            <a:r>
              <a:rPr lang="en-US" sz="2400" dirty="0"/>
              <a:t> </a:t>
            </a:r>
            <a:r>
              <a:rPr lang="en-US" sz="2400" dirty="0" err="1"/>
              <a:t>zajedničke</a:t>
            </a:r>
            <a:r>
              <a:rPr lang="hr-HR" sz="2400" dirty="0"/>
              <a:t> značajke</a:t>
            </a:r>
          </a:p>
          <a:p>
            <a:endParaRPr lang="hr-HR" sz="2400" dirty="0"/>
          </a:p>
          <a:p>
            <a:r>
              <a:rPr lang="hr-HR" sz="2400" dirty="0"/>
              <a:t>Svaka ima skup SIMBOLA koji izazivaju strahopoštovanje i obožavanje, RITUALE, tj. obrede ili ceremonije i sve imaju zajednice vjernika koje onda sudjeluju na tim ritualima</a:t>
            </a:r>
          </a:p>
        </p:txBody>
      </p:sp>
    </p:spTree>
    <p:extLst>
      <p:ext uri="{BB962C8B-B14F-4D97-AF65-F5344CB8AC3E}">
        <p14:creationId xmlns:p14="http://schemas.microsoft.com/office/powerpoint/2010/main" val="24890146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r-HR" sz="2800" dirty="0"/>
              <a:t>SLIČNOSTI RELIGIJA:</a:t>
            </a:r>
          </a:p>
        </p:txBody>
      </p:sp>
      <p:sp>
        <p:nvSpPr>
          <p:cNvPr id="3" name="Content Placeholder 2"/>
          <p:cNvSpPr>
            <a:spLocks noGrp="1"/>
          </p:cNvSpPr>
          <p:nvPr>
            <p:ph idx="1"/>
          </p:nvPr>
        </p:nvSpPr>
        <p:spPr>
          <a:xfrm>
            <a:off x="647532" y="1196753"/>
            <a:ext cx="11425133" cy="5472607"/>
          </a:xfrm>
        </p:spPr>
        <p:txBody>
          <a:bodyPr>
            <a:normAutofit fontScale="92500" lnSpcReduction="10000"/>
          </a:bodyPr>
          <a:lstStyle/>
          <a:p>
            <a:pPr marL="457200" indent="-457200">
              <a:buFont typeface="+mj-lt"/>
              <a:buAutoNum type="arabicPeriod"/>
            </a:pPr>
            <a:r>
              <a:rPr lang="hr-HR" sz="2400" b="1" dirty="0">
                <a:solidFill>
                  <a:schemeClr val="accent1">
                    <a:lumMod val="20000"/>
                    <a:lumOff val="80000"/>
                  </a:schemeClr>
                </a:solidFill>
              </a:rPr>
              <a:t>ISTICANJE SVETOG – </a:t>
            </a:r>
            <a:r>
              <a:rPr lang="hr-HR" sz="2400" dirty="0"/>
              <a:t>onoga što je najvrjednije, nedodorljivo, nepovredivo</a:t>
            </a:r>
          </a:p>
          <a:p>
            <a:pPr marL="457200" indent="-457200">
              <a:buFont typeface="+mj-lt"/>
              <a:buAutoNum type="arabicPeriod"/>
            </a:pPr>
            <a:r>
              <a:rPr lang="hr-HR" sz="2400" b="1" dirty="0">
                <a:solidFill>
                  <a:schemeClr val="accent1">
                    <a:lumMod val="20000"/>
                    <a:lumOff val="80000"/>
                  </a:schemeClr>
                </a:solidFill>
              </a:rPr>
              <a:t>SUSTAV PRAVILA PONAŠANJA </a:t>
            </a:r>
            <a:r>
              <a:rPr lang="hr-HR" sz="2400" dirty="0"/>
              <a:t>-  uključuje običaje, obrede, ceremonije, moralne norme (propisane u svetim knjigama)</a:t>
            </a:r>
          </a:p>
          <a:p>
            <a:pPr marL="0" indent="0">
              <a:buNone/>
            </a:pPr>
            <a:r>
              <a:rPr lang="hr-HR" sz="2400" dirty="0"/>
              <a:t>Kršćanstvo          Židovstvo               Islam              Hinduizam             Budizam</a:t>
            </a:r>
          </a:p>
          <a:p>
            <a:pPr marL="0" indent="0">
              <a:buNone/>
            </a:pPr>
            <a:endParaRPr lang="hr-HR" sz="2400" dirty="0"/>
          </a:p>
          <a:p>
            <a:pPr marL="0" indent="0">
              <a:buNone/>
            </a:pPr>
            <a:endParaRPr lang="hr-HR" sz="2400" dirty="0"/>
          </a:p>
          <a:p>
            <a:pPr marL="0" indent="0">
              <a:buNone/>
            </a:pPr>
            <a:endParaRPr lang="hr-HR" sz="2400" dirty="0"/>
          </a:p>
          <a:p>
            <a:pPr marL="0" indent="0">
              <a:buNone/>
            </a:pPr>
            <a:endParaRPr lang="hr-HR" sz="2400" dirty="0"/>
          </a:p>
          <a:p>
            <a:pPr marL="0" indent="0">
              <a:buNone/>
            </a:pPr>
            <a:endParaRPr lang="hr-HR" sz="2400" dirty="0"/>
          </a:p>
          <a:p>
            <a:pPr marL="0" indent="0">
              <a:buNone/>
            </a:pPr>
            <a:endParaRPr lang="hr-HR" sz="2400" dirty="0"/>
          </a:p>
          <a:p>
            <a:pPr marL="0" indent="0">
              <a:buNone/>
            </a:pPr>
            <a:endParaRPr lang="hr-HR" sz="2400" dirty="0"/>
          </a:p>
          <a:p>
            <a:pPr marL="0" indent="0">
              <a:buNone/>
            </a:pPr>
            <a:r>
              <a:rPr lang="hr-HR" sz="2400" dirty="0"/>
              <a:t>Sve te norme reguliraju odnos prema sebi i prema drugima. One su različite u svakoj religiji, no postoje često podudarnosti...</a:t>
            </a:r>
          </a:p>
        </p:txBody>
      </p:sp>
      <p:pic>
        <p:nvPicPr>
          <p:cNvPr id="12290" name="Picture 2" descr="How to Read the Bible - United Methodist Insight"/>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9377" y="3160237"/>
            <a:ext cx="2041029" cy="1630879"/>
          </a:xfrm>
          <a:prstGeom prst="rect">
            <a:avLst/>
          </a:prstGeom>
          <a:noFill/>
          <a:extLst>
            <a:ext uri="{909E8E84-426E-40DD-AFC4-6F175D3DCCD1}">
              <a14:hiddenFill xmlns:a14="http://schemas.microsoft.com/office/drawing/2010/main">
                <a:solidFill>
                  <a:srgbClr val="FFFFFF"/>
                </a:solidFill>
              </a14:hiddenFill>
            </a:ext>
          </a:extLst>
        </p:spPr>
      </p:pic>
      <p:pic>
        <p:nvPicPr>
          <p:cNvPr id="12292" name="Picture 4" descr="Tora – Wikipedij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47019" y="2936289"/>
            <a:ext cx="1728192" cy="2357361"/>
          </a:xfrm>
          <a:prstGeom prst="rect">
            <a:avLst/>
          </a:prstGeom>
          <a:noFill/>
          <a:extLst>
            <a:ext uri="{909E8E84-426E-40DD-AFC4-6F175D3DCCD1}">
              <a14:hiddenFill xmlns:a14="http://schemas.microsoft.com/office/drawing/2010/main">
                <a:solidFill>
                  <a:srgbClr val="FFFFFF"/>
                </a:solidFill>
              </a14:hiddenFill>
            </a:ext>
          </a:extLst>
        </p:spPr>
      </p:pic>
      <p:pic>
        <p:nvPicPr>
          <p:cNvPr id="12294" name="Picture 6" descr="Kuran – Wikipedija"/>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37432" y="3129509"/>
            <a:ext cx="2049872" cy="1533305"/>
          </a:xfrm>
          <a:prstGeom prst="rect">
            <a:avLst/>
          </a:prstGeom>
          <a:noFill/>
          <a:extLst>
            <a:ext uri="{909E8E84-426E-40DD-AFC4-6F175D3DCCD1}">
              <a14:hiddenFill xmlns:a14="http://schemas.microsoft.com/office/drawing/2010/main">
                <a:solidFill>
                  <a:srgbClr val="FFFFFF"/>
                </a:solidFill>
              </a14:hiddenFill>
            </a:ext>
          </a:extLst>
        </p:spPr>
      </p:pic>
      <p:pic>
        <p:nvPicPr>
          <p:cNvPr id="12296" name="Picture 8" descr="Vede - svete knjige u Indiji - Neverovatna Indija"/>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643461" y="3180320"/>
            <a:ext cx="1796142" cy="1741011"/>
          </a:xfrm>
          <a:prstGeom prst="rect">
            <a:avLst/>
          </a:prstGeom>
          <a:noFill/>
          <a:extLst>
            <a:ext uri="{909E8E84-426E-40DD-AFC4-6F175D3DCCD1}">
              <a14:hiddenFill xmlns:a14="http://schemas.microsoft.com/office/drawing/2010/main">
                <a:solidFill>
                  <a:srgbClr val="FFFFFF"/>
                </a:solidFill>
              </a14:hiddenFill>
            </a:ext>
          </a:extLst>
        </p:spPr>
      </p:pic>
      <p:pic>
        <p:nvPicPr>
          <p:cNvPr id="12298" name="Picture 10" descr="Tripiṭaka - Wikipedia"/>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781808" y="3207090"/>
            <a:ext cx="2316012" cy="168746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815814" y="4901188"/>
            <a:ext cx="1368152" cy="369332"/>
          </a:xfrm>
          <a:prstGeom prst="rect">
            <a:avLst/>
          </a:prstGeom>
          <a:noFill/>
        </p:spPr>
        <p:txBody>
          <a:bodyPr wrap="square" rtlCol="0">
            <a:spAutoFit/>
          </a:bodyPr>
          <a:lstStyle/>
          <a:p>
            <a:r>
              <a:rPr lang="hr-HR" dirty="0"/>
              <a:t>BIBLIJA</a:t>
            </a:r>
          </a:p>
        </p:txBody>
      </p:sp>
      <p:sp>
        <p:nvSpPr>
          <p:cNvPr id="5" name="TextBox 4"/>
          <p:cNvSpPr txBox="1"/>
          <p:nvPr/>
        </p:nvSpPr>
        <p:spPr>
          <a:xfrm>
            <a:off x="3526226" y="5406847"/>
            <a:ext cx="1798316" cy="369332"/>
          </a:xfrm>
          <a:prstGeom prst="rect">
            <a:avLst/>
          </a:prstGeom>
          <a:noFill/>
        </p:spPr>
        <p:txBody>
          <a:bodyPr wrap="square" rtlCol="0">
            <a:spAutoFit/>
          </a:bodyPr>
          <a:lstStyle/>
          <a:p>
            <a:r>
              <a:rPr lang="hr-HR" dirty="0"/>
              <a:t>TORA</a:t>
            </a:r>
          </a:p>
        </p:txBody>
      </p:sp>
      <p:sp>
        <p:nvSpPr>
          <p:cNvPr id="6" name="TextBox 5"/>
          <p:cNvSpPr txBox="1"/>
          <p:nvPr/>
        </p:nvSpPr>
        <p:spPr>
          <a:xfrm>
            <a:off x="5507156" y="4791115"/>
            <a:ext cx="1368152" cy="369332"/>
          </a:xfrm>
          <a:prstGeom prst="rect">
            <a:avLst/>
          </a:prstGeom>
          <a:noFill/>
        </p:spPr>
        <p:txBody>
          <a:bodyPr wrap="square" rtlCol="0">
            <a:spAutoFit/>
          </a:bodyPr>
          <a:lstStyle/>
          <a:p>
            <a:r>
              <a:rPr lang="hr-HR" dirty="0"/>
              <a:t>KUR’AN</a:t>
            </a:r>
          </a:p>
        </p:txBody>
      </p:sp>
      <p:sp>
        <p:nvSpPr>
          <p:cNvPr id="7" name="TextBox 6"/>
          <p:cNvSpPr txBox="1"/>
          <p:nvPr/>
        </p:nvSpPr>
        <p:spPr>
          <a:xfrm>
            <a:off x="8112225" y="5044253"/>
            <a:ext cx="1723221" cy="369332"/>
          </a:xfrm>
          <a:prstGeom prst="rect">
            <a:avLst/>
          </a:prstGeom>
          <a:noFill/>
        </p:spPr>
        <p:txBody>
          <a:bodyPr wrap="square" rtlCol="0">
            <a:spAutoFit/>
          </a:bodyPr>
          <a:lstStyle/>
          <a:p>
            <a:r>
              <a:rPr lang="hr-HR" dirty="0"/>
              <a:t>VEDE</a:t>
            </a:r>
          </a:p>
        </p:txBody>
      </p:sp>
      <p:sp>
        <p:nvSpPr>
          <p:cNvPr id="8" name="TextBox 7"/>
          <p:cNvSpPr txBox="1"/>
          <p:nvPr/>
        </p:nvSpPr>
        <p:spPr>
          <a:xfrm>
            <a:off x="10405747" y="5061295"/>
            <a:ext cx="1516153" cy="369332"/>
          </a:xfrm>
          <a:prstGeom prst="rect">
            <a:avLst/>
          </a:prstGeom>
          <a:noFill/>
        </p:spPr>
        <p:txBody>
          <a:bodyPr wrap="square" rtlCol="0">
            <a:spAutoFit/>
          </a:bodyPr>
          <a:lstStyle/>
          <a:p>
            <a:r>
              <a:rPr lang="hr-HR" dirty="0"/>
              <a:t>TRIPITAKA</a:t>
            </a:r>
          </a:p>
        </p:txBody>
      </p:sp>
    </p:spTree>
    <p:extLst>
      <p:ext uri="{BB962C8B-B14F-4D97-AF65-F5344CB8AC3E}">
        <p14:creationId xmlns:p14="http://schemas.microsoft.com/office/powerpoint/2010/main" val="19418390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29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29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29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229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229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8"/>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bldP spid="4" grpId="0"/>
      <p:bldP spid="5" grpId="0"/>
      <p:bldP spid="6" grpId="0"/>
      <p:bldP spid="7" grpId="0"/>
      <p:bldP spid="8"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hr-HR"/>
          </a:p>
        </p:txBody>
      </p:sp>
      <p:sp>
        <p:nvSpPr>
          <p:cNvPr id="3" name="Content Placeholder 2"/>
          <p:cNvSpPr>
            <a:spLocks noGrp="1"/>
          </p:cNvSpPr>
          <p:nvPr>
            <p:ph idx="1"/>
          </p:nvPr>
        </p:nvSpPr>
        <p:spPr/>
        <p:txBody>
          <a:bodyPr/>
          <a:lstStyle/>
          <a:p>
            <a:r>
              <a:rPr lang="hr-HR" dirty="0"/>
              <a:t>Kod Hinduista pravilo nemoj lagati, nemoj ukrasti, nemoj uništiti, budi pažljiv i strpljiv...</a:t>
            </a:r>
          </a:p>
          <a:p>
            <a:r>
              <a:rPr lang="hr-HR" dirty="0"/>
              <a:t>Kod Židova i Kršćana imamo ne ubij, ne kradi, ne svjedoči lažno, poštuj oca i majku</a:t>
            </a:r>
          </a:p>
          <a:p>
            <a:r>
              <a:rPr lang="hr-HR" dirty="0"/>
              <a:t>Kod Budista imamo ne ubij živo biće, ne uzimaj što ti nije dano, ne laži</a:t>
            </a:r>
          </a:p>
          <a:p>
            <a:r>
              <a:rPr lang="hr-HR" dirty="0"/>
              <a:t>U Islamu se očituje na upućivanje na dobro i zabranjivanje zla</a:t>
            </a:r>
          </a:p>
          <a:p>
            <a:endParaRPr lang="hr-HR" dirty="0"/>
          </a:p>
          <a:p>
            <a:r>
              <a:rPr lang="hr-HR" dirty="0"/>
              <a:t>Sve one ističu da treba biti pošten i ne nanositi štetu drugima</a:t>
            </a:r>
          </a:p>
          <a:p>
            <a:r>
              <a:rPr lang="hr-HR" dirty="0"/>
              <a:t>Prijateljstvo, suradnja, mir i ljubav </a:t>
            </a:r>
          </a:p>
        </p:txBody>
      </p:sp>
    </p:spTree>
    <p:extLst>
      <p:ext uri="{BB962C8B-B14F-4D97-AF65-F5344CB8AC3E}">
        <p14:creationId xmlns:p14="http://schemas.microsoft.com/office/powerpoint/2010/main" val="21530009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hr-HR"/>
          </a:p>
        </p:txBody>
      </p:sp>
      <p:sp>
        <p:nvSpPr>
          <p:cNvPr id="3" name="Content Placeholder 2"/>
          <p:cNvSpPr>
            <a:spLocks noGrp="1"/>
          </p:cNvSpPr>
          <p:nvPr>
            <p:ph idx="1"/>
          </p:nvPr>
        </p:nvSpPr>
        <p:spPr/>
        <p:txBody>
          <a:bodyPr>
            <a:normAutofit lnSpcReduction="10000"/>
          </a:bodyPr>
          <a:lstStyle/>
          <a:p>
            <a:pPr marL="0" indent="0">
              <a:buNone/>
            </a:pPr>
            <a:r>
              <a:rPr lang="hr-HR" sz="2400" dirty="0"/>
              <a:t>3. </a:t>
            </a:r>
            <a:r>
              <a:rPr lang="hr-HR" sz="2400" b="1" dirty="0">
                <a:solidFill>
                  <a:schemeClr val="accent1">
                    <a:lumMod val="20000"/>
                    <a:lumOff val="80000"/>
                  </a:schemeClr>
                </a:solidFill>
              </a:rPr>
              <a:t>UČENJE O NEKOM OBLIKU ŽIVOTA NAKON SMRTI </a:t>
            </a:r>
            <a:r>
              <a:rPr lang="hr-HR" sz="2400" dirty="0"/>
              <a:t>– ovisi o tome koliko se pojedinac pridržavao pravila ponašanja, odnosno moralnih normi</a:t>
            </a:r>
          </a:p>
          <a:p>
            <a:pPr marL="0" indent="0">
              <a:buNone/>
            </a:pPr>
            <a:endParaRPr lang="hr-HR" sz="2400" dirty="0"/>
          </a:p>
          <a:p>
            <a:r>
              <a:rPr lang="hr-HR" sz="2400" dirty="0"/>
              <a:t>Treba biti informiran o različitim kulturama i religijama</a:t>
            </a:r>
          </a:p>
          <a:p>
            <a:endParaRPr lang="hr-HR" sz="2400" dirty="0"/>
          </a:p>
          <a:p>
            <a:pPr marL="0" indent="0">
              <a:buNone/>
            </a:pPr>
            <a:r>
              <a:rPr lang="hr-HR" sz="2400" dirty="0"/>
              <a:t>Domaća zadaća – Koja društvena promjena je najviše utjecala na promjenu religijskih skupina prema stanovništvu? </a:t>
            </a:r>
          </a:p>
          <a:p>
            <a:pPr marL="0" indent="0">
              <a:buNone/>
            </a:pPr>
            <a:r>
              <a:rPr lang="hr-HR" sz="2400" b="1" dirty="0"/>
              <a:t> bit.ly/religije-promjene</a:t>
            </a:r>
          </a:p>
        </p:txBody>
      </p:sp>
      <p:sp>
        <p:nvSpPr>
          <p:cNvPr id="4" name="Explosion 1 3"/>
          <p:cNvSpPr/>
          <p:nvPr/>
        </p:nvSpPr>
        <p:spPr>
          <a:xfrm>
            <a:off x="456541" y="4509120"/>
            <a:ext cx="648072" cy="504056"/>
          </a:xfrm>
          <a:prstGeom prst="irregularSeal1">
            <a:avLst/>
          </a:prstGeom>
          <a:solidFill>
            <a:schemeClr val="tx1"/>
          </a:solidFill>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Tree>
    <p:extLst>
      <p:ext uri="{BB962C8B-B14F-4D97-AF65-F5344CB8AC3E}">
        <p14:creationId xmlns:p14="http://schemas.microsoft.com/office/powerpoint/2010/main" val="33228302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r-HR" dirty="0"/>
              <a:t>Samovrednovanje </a:t>
            </a:r>
          </a:p>
        </p:txBody>
      </p:sp>
      <p:graphicFrame>
        <p:nvGraphicFramePr>
          <p:cNvPr id="4" name="Content Placeholder 3"/>
          <p:cNvGraphicFramePr>
            <a:graphicFrameLocks noGrp="1"/>
          </p:cNvGraphicFramePr>
          <p:nvPr>
            <p:ph idx="1"/>
            <p:extLst/>
          </p:nvPr>
        </p:nvGraphicFramePr>
        <p:xfrm>
          <a:off x="1199456" y="1412779"/>
          <a:ext cx="9857532" cy="4968549"/>
        </p:xfrm>
        <a:graphic>
          <a:graphicData uri="http://schemas.openxmlformats.org/drawingml/2006/table">
            <a:tbl>
              <a:tblPr firstRow="1" bandRow="1">
                <a:tableStyleId>{69CF1AB2-1976-4502-BF36-3FF5EA218861}</a:tableStyleId>
              </a:tblPr>
              <a:tblGrid>
                <a:gridCol w="8064895">
                  <a:extLst>
                    <a:ext uri="{9D8B030D-6E8A-4147-A177-3AD203B41FA5}">
                      <a16:colId xmlns:a16="http://schemas.microsoft.com/office/drawing/2014/main" val="1515165311"/>
                    </a:ext>
                  </a:extLst>
                </a:gridCol>
                <a:gridCol w="864096">
                  <a:extLst>
                    <a:ext uri="{9D8B030D-6E8A-4147-A177-3AD203B41FA5}">
                      <a16:colId xmlns:a16="http://schemas.microsoft.com/office/drawing/2014/main" val="2532024122"/>
                    </a:ext>
                  </a:extLst>
                </a:gridCol>
                <a:gridCol w="928541">
                  <a:extLst>
                    <a:ext uri="{9D8B030D-6E8A-4147-A177-3AD203B41FA5}">
                      <a16:colId xmlns:a16="http://schemas.microsoft.com/office/drawing/2014/main" val="3604500193"/>
                    </a:ext>
                  </a:extLst>
                </a:gridCol>
              </a:tblGrid>
              <a:tr h="552061">
                <a:tc>
                  <a:txBody>
                    <a:bodyPr/>
                    <a:lstStyle/>
                    <a:p>
                      <a:pPr algn="ctr"/>
                      <a:endParaRPr lang="hr-HR" dirty="0"/>
                    </a:p>
                  </a:txBody>
                  <a:tcPr/>
                </a:tc>
                <a:tc>
                  <a:txBody>
                    <a:bodyPr/>
                    <a:lstStyle/>
                    <a:p>
                      <a:pPr algn="ctr"/>
                      <a:r>
                        <a:rPr lang="hr-HR" dirty="0"/>
                        <a:t>DA</a:t>
                      </a:r>
                    </a:p>
                  </a:txBody>
                  <a:tcPr/>
                </a:tc>
                <a:tc>
                  <a:txBody>
                    <a:bodyPr/>
                    <a:lstStyle/>
                    <a:p>
                      <a:pPr algn="ctr"/>
                      <a:r>
                        <a:rPr lang="hr-HR" dirty="0"/>
                        <a:t>NE</a:t>
                      </a:r>
                    </a:p>
                  </a:txBody>
                  <a:tcPr/>
                </a:tc>
                <a:extLst>
                  <a:ext uri="{0D108BD9-81ED-4DB2-BD59-A6C34878D82A}">
                    <a16:rowId xmlns:a16="http://schemas.microsoft.com/office/drawing/2014/main" val="1714911032"/>
                  </a:ext>
                </a:extLst>
              </a:tr>
              <a:tr h="552061">
                <a:tc>
                  <a:txBody>
                    <a:bodyPr/>
                    <a:lstStyle/>
                    <a:p>
                      <a:r>
                        <a:rPr lang="hr-HR" b="1" dirty="0"/>
                        <a:t>Znam navesti bar jednu poveznicu kulture i religije</a:t>
                      </a:r>
                    </a:p>
                  </a:txBody>
                  <a:tcPr/>
                </a:tc>
                <a:tc>
                  <a:txBody>
                    <a:bodyPr/>
                    <a:lstStyle/>
                    <a:p>
                      <a:endParaRPr lang="hr-HR"/>
                    </a:p>
                  </a:txBody>
                  <a:tcPr/>
                </a:tc>
                <a:tc>
                  <a:txBody>
                    <a:bodyPr/>
                    <a:lstStyle/>
                    <a:p>
                      <a:endParaRPr lang="hr-HR"/>
                    </a:p>
                  </a:txBody>
                  <a:tcPr/>
                </a:tc>
                <a:extLst>
                  <a:ext uri="{0D108BD9-81ED-4DB2-BD59-A6C34878D82A}">
                    <a16:rowId xmlns:a16="http://schemas.microsoft.com/office/drawing/2014/main" val="2413125774"/>
                  </a:ext>
                </a:extLst>
              </a:tr>
              <a:tr h="552061">
                <a:tc>
                  <a:txBody>
                    <a:bodyPr/>
                    <a:lstStyle/>
                    <a:p>
                      <a:r>
                        <a:rPr lang="hr-HR" b="1" dirty="0"/>
                        <a:t>Znam povezati religiju s drugim znanostima</a:t>
                      </a:r>
                    </a:p>
                  </a:txBody>
                  <a:tcPr/>
                </a:tc>
                <a:tc>
                  <a:txBody>
                    <a:bodyPr/>
                    <a:lstStyle/>
                    <a:p>
                      <a:endParaRPr lang="hr-HR" dirty="0"/>
                    </a:p>
                  </a:txBody>
                  <a:tcPr/>
                </a:tc>
                <a:tc>
                  <a:txBody>
                    <a:bodyPr/>
                    <a:lstStyle/>
                    <a:p>
                      <a:endParaRPr lang="hr-HR"/>
                    </a:p>
                  </a:txBody>
                  <a:tcPr/>
                </a:tc>
                <a:extLst>
                  <a:ext uri="{0D108BD9-81ED-4DB2-BD59-A6C34878D82A}">
                    <a16:rowId xmlns:a16="http://schemas.microsoft.com/office/drawing/2014/main" val="4183328098"/>
                  </a:ext>
                </a:extLst>
              </a:tr>
              <a:tr h="552061">
                <a:tc>
                  <a:txBody>
                    <a:bodyPr/>
                    <a:lstStyle/>
                    <a:p>
                      <a:r>
                        <a:rPr lang="hr-HR" b="1" dirty="0"/>
                        <a:t>Razumijem razliku</a:t>
                      </a:r>
                      <a:r>
                        <a:rPr lang="hr-HR" b="1" baseline="0" dirty="0"/>
                        <a:t> svetog i profanog prema E. Durkheimu</a:t>
                      </a:r>
                      <a:endParaRPr lang="hr-HR" b="1" dirty="0"/>
                    </a:p>
                  </a:txBody>
                  <a:tcPr/>
                </a:tc>
                <a:tc>
                  <a:txBody>
                    <a:bodyPr/>
                    <a:lstStyle/>
                    <a:p>
                      <a:endParaRPr lang="hr-HR"/>
                    </a:p>
                  </a:txBody>
                  <a:tcPr/>
                </a:tc>
                <a:tc>
                  <a:txBody>
                    <a:bodyPr/>
                    <a:lstStyle/>
                    <a:p>
                      <a:endParaRPr lang="hr-HR" dirty="0"/>
                    </a:p>
                  </a:txBody>
                  <a:tcPr/>
                </a:tc>
                <a:extLst>
                  <a:ext uri="{0D108BD9-81ED-4DB2-BD59-A6C34878D82A}">
                    <a16:rowId xmlns:a16="http://schemas.microsoft.com/office/drawing/2014/main" val="291381376"/>
                  </a:ext>
                </a:extLst>
              </a:tr>
              <a:tr h="552061">
                <a:tc>
                  <a:txBody>
                    <a:bodyPr/>
                    <a:lstStyle/>
                    <a:p>
                      <a:r>
                        <a:rPr lang="hr-HR" b="1" dirty="0"/>
                        <a:t>Znam navesti primjere sekularizacije</a:t>
                      </a:r>
                    </a:p>
                  </a:txBody>
                  <a:tcPr/>
                </a:tc>
                <a:tc>
                  <a:txBody>
                    <a:bodyPr/>
                    <a:lstStyle/>
                    <a:p>
                      <a:endParaRPr lang="hr-HR"/>
                    </a:p>
                  </a:txBody>
                  <a:tcPr/>
                </a:tc>
                <a:tc>
                  <a:txBody>
                    <a:bodyPr/>
                    <a:lstStyle/>
                    <a:p>
                      <a:endParaRPr lang="hr-HR" dirty="0"/>
                    </a:p>
                  </a:txBody>
                  <a:tcPr/>
                </a:tc>
                <a:extLst>
                  <a:ext uri="{0D108BD9-81ED-4DB2-BD59-A6C34878D82A}">
                    <a16:rowId xmlns:a16="http://schemas.microsoft.com/office/drawing/2014/main" val="4104954424"/>
                  </a:ext>
                </a:extLst>
              </a:tr>
              <a:tr h="552061">
                <a:tc>
                  <a:txBody>
                    <a:bodyPr/>
                    <a:lstStyle/>
                    <a:p>
                      <a:r>
                        <a:rPr lang="hr-HR" b="1" dirty="0"/>
                        <a:t>Znam definirati religijske organizacije</a:t>
                      </a:r>
                    </a:p>
                  </a:txBody>
                  <a:tcPr/>
                </a:tc>
                <a:tc>
                  <a:txBody>
                    <a:bodyPr/>
                    <a:lstStyle/>
                    <a:p>
                      <a:endParaRPr lang="hr-HR"/>
                    </a:p>
                  </a:txBody>
                  <a:tcPr/>
                </a:tc>
                <a:tc>
                  <a:txBody>
                    <a:bodyPr/>
                    <a:lstStyle/>
                    <a:p>
                      <a:endParaRPr lang="hr-HR"/>
                    </a:p>
                  </a:txBody>
                  <a:tcPr/>
                </a:tc>
                <a:extLst>
                  <a:ext uri="{0D108BD9-81ED-4DB2-BD59-A6C34878D82A}">
                    <a16:rowId xmlns:a16="http://schemas.microsoft.com/office/drawing/2014/main" val="3247071801"/>
                  </a:ext>
                </a:extLst>
              </a:tr>
              <a:tr h="552061">
                <a:tc>
                  <a:txBody>
                    <a:bodyPr/>
                    <a:lstStyle/>
                    <a:p>
                      <a:r>
                        <a:rPr lang="hr-HR" b="1" dirty="0"/>
                        <a:t>Prepoznajem simbole pet velikih</a:t>
                      </a:r>
                      <a:r>
                        <a:rPr lang="hr-HR" b="1" baseline="0" dirty="0"/>
                        <a:t> religija</a:t>
                      </a:r>
                      <a:endParaRPr lang="hr-HR" b="1" dirty="0"/>
                    </a:p>
                  </a:txBody>
                  <a:tcPr/>
                </a:tc>
                <a:tc>
                  <a:txBody>
                    <a:bodyPr/>
                    <a:lstStyle/>
                    <a:p>
                      <a:endParaRPr lang="hr-HR"/>
                    </a:p>
                  </a:txBody>
                  <a:tcPr/>
                </a:tc>
                <a:tc>
                  <a:txBody>
                    <a:bodyPr/>
                    <a:lstStyle/>
                    <a:p>
                      <a:endParaRPr lang="hr-HR"/>
                    </a:p>
                  </a:txBody>
                  <a:tcPr/>
                </a:tc>
                <a:extLst>
                  <a:ext uri="{0D108BD9-81ED-4DB2-BD59-A6C34878D82A}">
                    <a16:rowId xmlns:a16="http://schemas.microsoft.com/office/drawing/2014/main" val="2064101669"/>
                  </a:ext>
                </a:extLst>
              </a:tr>
              <a:tr h="552061">
                <a:tc>
                  <a:txBody>
                    <a:bodyPr/>
                    <a:lstStyle/>
                    <a:p>
                      <a:r>
                        <a:rPr lang="hr-HR" b="1" dirty="0"/>
                        <a:t>Razlikujem</a:t>
                      </a:r>
                      <a:r>
                        <a:rPr lang="hr-HR" b="1" baseline="0" dirty="0"/>
                        <a:t> monoteističke i politeističke religije</a:t>
                      </a:r>
                      <a:endParaRPr lang="hr-HR" b="1" dirty="0"/>
                    </a:p>
                  </a:txBody>
                  <a:tcPr/>
                </a:tc>
                <a:tc>
                  <a:txBody>
                    <a:bodyPr/>
                    <a:lstStyle/>
                    <a:p>
                      <a:endParaRPr lang="hr-HR"/>
                    </a:p>
                  </a:txBody>
                  <a:tcPr/>
                </a:tc>
                <a:tc>
                  <a:txBody>
                    <a:bodyPr/>
                    <a:lstStyle/>
                    <a:p>
                      <a:endParaRPr lang="hr-HR"/>
                    </a:p>
                  </a:txBody>
                  <a:tcPr/>
                </a:tc>
                <a:extLst>
                  <a:ext uri="{0D108BD9-81ED-4DB2-BD59-A6C34878D82A}">
                    <a16:rowId xmlns:a16="http://schemas.microsoft.com/office/drawing/2014/main" val="4223108453"/>
                  </a:ext>
                </a:extLst>
              </a:tr>
              <a:tr h="552061">
                <a:tc>
                  <a:txBody>
                    <a:bodyPr/>
                    <a:lstStyle/>
                    <a:p>
                      <a:r>
                        <a:rPr lang="hr-HR" b="1" dirty="0"/>
                        <a:t>Znam navesti dvije sličnosti pet velikih religija</a:t>
                      </a:r>
                    </a:p>
                  </a:txBody>
                  <a:tcPr/>
                </a:tc>
                <a:tc>
                  <a:txBody>
                    <a:bodyPr/>
                    <a:lstStyle/>
                    <a:p>
                      <a:endParaRPr lang="hr-HR"/>
                    </a:p>
                  </a:txBody>
                  <a:tcPr/>
                </a:tc>
                <a:tc>
                  <a:txBody>
                    <a:bodyPr/>
                    <a:lstStyle/>
                    <a:p>
                      <a:endParaRPr lang="hr-HR" dirty="0"/>
                    </a:p>
                  </a:txBody>
                  <a:tcPr/>
                </a:tc>
                <a:extLst>
                  <a:ext uri="{0D108BD9-81ED-4DB2-BD59-A6C34878D82A}">
                    <a16:rowId xmlns:a16="http://schemas.microsoft.com/office/drawing/2014/main" val="2990402844"/>
                  </a:ext>
                </a:extLst>
              </a:tr>
            </a:tbl>
          </a:graphicData>
        </a:graphic>
      </p:graphicFrame>
    </p:spTree>
    <p:extLst>
      <p:ext uri="{BB962C8B-B14F-4D97-AF65-F5344CB8AC3E}">
        <p14:creationId xmlns:p14="http://schemas.microsoft.com/office/powerpoint/2010/main" val="3593849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hr-HR" b="1" dirty="0"/>
            </a:br>
            <a:endParaRPr lang="hr-HR" dirty="0"/>
          </a:p>
        </p:txBody>
      </p:sp>
      <p:sp>
        <p:nvSpPr>
          <p:cNvPr id="3" name="Content Placeholder 2"/>
          <p:cNvSpPr>
            <a:spLocks noGrp="1"/>
          </p:cNvSpPr>
          <p:nvPr>
            <p:ph idx="1"/>
          </p:nvPr>
        </p:nvSpPr>
        <p:spPr/>
        <p:txBody>
          <a:bodyPr>
            <a:normAutofit/>
          </a:bodyPr>
          <a:lstStyle/>
          <a:p>
            <a:r>
              <a:rPr lang="en-US" sz="3600" b="1" dirty="0"/>
              <a:t>Max Weber</a:t>
            </a:r>
          </a:p>
          <a:p>
            <a:endParaRPr lang="en-US" sz="3600" dirty="0"/>
          </a:p>
          <a:p>
            <a:r>
              <a:rPr lang="en-US" sz="3600" dirty="0" err="1"/>
              <a:t>Protestanska</a:t>
            </a:r>
            <a:r>
              <a:rPr lang="en-US" sz="3600" dirty="0"/>
              <a:t> </a:t>
            </a:r>
            <a:r>
              <a:rPr lang="en-US" sz="3600" dirty="0" err="1"/>
              <a:t>etika</a:t>
            </a:r>
            <a:r>
              <a:rPr lang="en-US" sz="3600" dirty="0"/>
              <a:t> </a:t>
            </a:r>
            <a:r>
              <a:rPr lang="en-US" sz="3600" dirty="0" err="1"/>
              <a:t>i</a:t>
            </a:r>
            <a:r>
              <a:rPr lang="en-US" sz="3600" dirty="0"/>
              <a:t> duh </a:t>
            </a:r>
            <a:r>
              <a:rPr lang="en-US" sz="3600" dirty="0" err="1"/>
              <a:t>kapitalizma</a:t>
            </a:r>
            <a:r>
              <a:rPr lang="en-US" sz="3600" dirty="0"/>
              <a:t> </a:t>
            </a:r>
            <a:endParaRPr lang="hr-HR" sz="3600" dirty="0"/>
          </a:p>
        </p:txBody>
      </p:sp>
      <p:sp>
        <p:nvSpPr>
          <p:cNvPr id="4" name="Explosion 1 3"/>
          <p:cNvSpPr/>
          <p:nvPr/>
        </p:nvSpPr>
        <p:spPr>
          <a:xfrm>
            <a:off x="700566" y="762390"/>
            <a:ext cx="648072" cy="504056"/>
          </a:xfrm>
          <a:prstGeom prst="irregularSeal1">
            <a:avLst/>
          </a:prstGeom>
          <a:solidFill>
            <a:schemeClr val="tx1"/>
          </a:solidFill>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 typeface="Arial" panose="020B0604020202020204" pitchFamily="34" charset="0"/>
              <a:buChar char="•"/>
            </a:pPr>
            <a:endParaRPr lang="hr-HR"/>
          </a:p>
        </p:txBody>
      </p:sp>
      <p:sp>
        <p:nvSpPr>
          <p:cNvPr id="5" name="TextBox 4"/>
          <p:cNvSpPr txBox="1"/>
          <p:nvPr/>
        </p:nvSpPr>
        <p:spPr>
          <a:xfrm>
            <a:off x="1327281" y="722037"/>
            <a:ext cx="4680520" cy="461665"/>
          </a:xfrm>
          <a:prstGeom prst="rect">
            <a:avLst/>
          </a:prstGeom>
          <a:noFill/>
        </p:spPr>
        <p:txBody>
          <a:bodyPr wrap="square" rtlCol="0">
            <a:spAutoFit/>
          </a:bodyPr>
          <a:lstStyle/>
          <a:p>
            <a:r>
              <a:rPr lang="en-US" sz="2400" dirty="0" err="1"/>
              <a:t>Istraži</a:t>
            </a:r>
            <a:r>
              <a:rPr lang="en-US" sz="2400" dirty="0"/>
              <a:t>. </a:t>
            </a:r>
            <a:endParaRPr lang="hr-HR" sz="2400" dirty="0"/>
          </a:p>
        </p:txBody>
      </p:sp>
    </p:spTree>
    <p:extLst>
      <p:ext uri="{BB962C8B-B14F-4D97-AF65-F5344CB8AC3E}">
        <p14:creationId xmlns:p14="http://schemas.microsoft.com/office/powerpoint/2010/main" val="29839980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endParaRPr lang="hr-HR" b="1" dirty="0"/>
          </a:p>
        </p:txBody>
      </p:sp>
      <p:sp>
        <p:nvSpPr>
          <p:cNvPr id="3" name="Content Placeholder 2"/>
          <p:cNvSpPr>
            <a:spLocks noGrp="1"/>
          </p:cNvSpPr>
          <p:nvPr>
            <p:ph idx="1"/>
          </p:nvPr>
        </p:nvSpPr>
        <p:spPr/>
        <p:txBody>
          <a:bodyPr>
            <a:normAutofit/>
          </a:bodyPr>
          <a:lstStyle/>
          <a:p>
            <a:pPr marL="0" indent="0" algn="ctr">
              <a:buNone/>
            </a:pPr>
            <a:r>
              <a:rPr lang="en-US" sz="5400" b="1" dirty="0"/>
              <a:t>OD ČEGA SE DRUŠTVO</a:t>
            </a:r>
            <a:endParaRPr lang="hr-HR" sz="5400" dirty="0"/>
          </a:p>
          <a:p>
            <a:pPr marL="0" indent="0" algn="ctr">
              <a:buNone/>
            </a:pPr>
            <a:r>
              <a:rPr lang="en-US" sz="5400" b="1" dirty="0"/>
              <a:t> SASTOJI</a:t>
            </a:r>
            <a:endParaRPr lang="hr-HR" sz="5400" dirty="0"/>
          </a:p>
        </p:txBody>
      </p:sp>
    </p:spTree>
    <p:extLst>
      <p:ext uri="{BB962C8B-B14F-4D97-AF65-F5344CB8AC3E}">
        <p14:creationId xmlns:p14="http://schemas.microsoft.com/office/powerpoint/2010/main" val="2618844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83633" y="1556792"/>
            <a:ext cx="8928991" cy="1704384"/>
          </a:xfrm>
        </p:spPr>
        <p:txBody>
          <a:bodyPr/>
          <a:lstStyle/>
          <a:p>
            <a:pPr algn="ctr"/>
            <a:br>
              <a:rPr lang="en-US" b="1" dirty="0">
                <a:solidFill>
                  <a:schemeClr val="tx1"/>
                </a:solidFill>
              </a:rPr>
            </a:br>
            <a:r>
              <a:rPr lang="en-US" b="1" dirty="0">
                <a:solidFill>
                  <a:schemeClr val="tx1"/>
                </a:solidFill>
              </a:rPr>
              <a:t>1. DRUŠTVENA STRUKTURA</a:t>
            </a:r>
            <a:endParaRPr lang="hr-HR" b="1" dirty="0">
              <a:solidFill>
                <a:schemeClr val="tx1"/>
              </a:solidFill>
            </a:endParaRPr>
          </a:p>
        </p:txBody>
      </p:sp>
      <p:sp>
        <p:nvSpPr>
          <p:cNvPr id="3" name="Content Placeholder 2"/>
          <p:cNvSpPr>
            <a:spLocks noGrp="1"/>
          </p:cNvSpPr>
          <p:nvPr>
            <p:ph idx="1"/>
          </p:nvPr>
        </p:nvSpPr>
        <p:spPr>
          <a:xfrm>
            <a:off x="335360" y="2060849"/>
            <a:ext cx="11737304" cy="4475585"/>
          </a:xfrm>
        </p:spPr>
        <p:txBody>
          <a:bodyPr>
            <a:normAutofit/>
          </a:bodyPr>
          <a:lstStyle/>
          <a:p>
            <a:endParaRPr lang="en-US" dirty="0"/>
          </a:p>
          <a:p>
            <a:endParaRPr lang="en-US" dirty="0"/>
          </a:p>
          <a:p>
            <a:r>
              <a:rPr lang="en-US" dirty="0" err="1"/>
              <a:t>Složena</a:t>
            </a:r>
            <a:r>
              <a:rPr lang="en-US" dirty="0"/>
              <a:t> </a:t>
            </a:r>
            <a:r>
              <a:rPr lang="en-US" dirty="0" err="1"/>
              <a:t>cjelina</a:t>
            </a:r>
            <a:r>
              <a:rPr lang="en-US" dirty="0"/>
              <a:t> </a:t>
            </a:r>
            <a:r>
              <a:rPr lang="en-US" dirty="0" err="1"/>
              <a:t>koja</a:t>
            </a:r>
            <a:r>
              <a:rPr lang="en-US" dirty="0"/>
              <a:t> se </a:t>
            </a:r>
            <a:r>
              <a:rPr lang="en-US" dirty="0" err="1"/>
              <a:t>sastoji</a:t>
            </a:r>
            <a:r>
              <a:rPr lang="en-US" dirty="0"/>
              <a:t> se od </a:t>
            </a:r>
            <a:r>
              <a:rPr lang="en-US" b="1" dirty="0" err="1"/>
              <a:t>društvenih</a:t>
            </a:r>
            <a:r>
              <a:rPr lang="en-US" b="1" dirty="0"/>
              <a:t> </a:t>
            </a:r>
            <a:r>
              <a:rPr lang="en-US" b="1" dirty="0" err="1"/>
              <a:t>uloga</a:t>
            </a:r>
            <a:r>
              <a:rPr lang="en-US" b="1" dirty="0"/>
              <a:t>, </a:t>
            </a:r>
            <a:r>
              <a:rPr lang="en-US" b="1" dirty="0" err="1"/>
              <a:t>položaja</a:t>
            </a:r>
            <a:r>
              <a:rPr lang="en-US" b="1" dirty="0"/>
              <a:t>, </a:t>
            </a:r>
            <a:r>
              <a:rPr lang="en-US" b="1" dirty="0" err="1"/>
              <a:t>grupa</a:t>
            </a:r>
            <a:r>
              <a:rPr lang="en-US" dirty="0"/>
              <a:t> </a:t>
            </a:r>
            <a:r>
              <a:rPr lang="en-US" dirty="0" err="1"/>
              <a:t>i</a:t>
            </a:r>
            <a:r>
              <a:rPr lang="en-US" dirty="0"/>
              <a:t> </a:t>
            </a:r>
            <a:r>
              <a:rPr lang="en-US" b="1" dirty="0" err="1"/>
              <a:t>institucija</a:t>
            </a:r>
            <a:endParaRPr lang="en-US" b="1" dirty="0"/>
          </a:p>
          <a:p>
            <a:r>
              <a:rPr lang="en-US" dirty="0" err="1"/>
              <a:t>Može</a:t>
            </a:r>
            <a:r>
              <a:rPr lang="en-US" dirty="0"/>
              <a:t> se </a:t>
            </a:r>
            <a:r>
              <a:rPr lang="en-US" dirty="0" err="1"/>
              <a:t>odnositi</a:t>
            </a:r>
            <a:r>
              <a:rPr lang="en-US" dirty="0"/>
              <a:t> </a:t>
            </a:r>
            <a:r>
              <a:rPr lang="en-US" dirty="0" err="1"/>
              <a:t>na</a:t>
            </a:r>
            <a:r>
              <a:rPr lang="en-US" dirty="0"/>
              <a:t> </a:t>
            </a:r>
            <a:r>
              <a:rPr lang="en-US" dirty="0" err="1"/>
              <a:t>kompletno</a:t>
            </a:r>
            <a:r>
              <a:rPr lang="en-US" dirty="0"/>
              <a:t> </a:t>
            </a:r>
            <a:r>
              <a:rPr lang="en-US" dirty="0" err="1"/>
              <a:t>društvo</a:t>
            </a:r>
            <a:r>
              <a:rPr lang="en-US" dirty="0"/>
              <a:t> </a:t>
            </a:r>
            <a:r>
              <a:rPr lang="en-US" dirty="0" err="1"/>
              <a:t>neke</a:t>
            </a:r>
            <a:r>
              <a:rPr lang="en-US" dirty="0"/>
              <a:t> </a:t>
            </a:r>
            <a:r>
              <a:rPr lang="en-US" dirty="0" err="1"/>
              <a:t>zemlje</a:t>
            </a:r>
            <a:r>
              <a:rPr lang="en-US" dirty="0"/>
              <a:t> </a:t>
            </a:r>
            <a:r>
              <a:rPr lang="en-US" dirty="0" err="1"/>
              <a:t>ili</a:t>
            </a:r>
            <a:r>
              <a:rPr lang="en-US" dirty="0"/>
              <a:t> </a:t>
            </a:r>
            <a:r>
              <a:rPr lang="en-US" dirty="0" err="1"/>
              <a:t>društvo</a:t>
            </a:r>
            <a:r>
              <a:rPr lang="en-US" dirty="0"/>
              <a:t> u </a:t>
            </a:r>
            <a:r>
              <a:rPr lang="en-US" dirty="0" err="1"/>
              <a:t>cjelini</a:t>
            </a:r>
            <a:r>
              <a:rPr lang="en-US" dirty="0"/>
              <a:t>, </a:t>
            </a:r>
            <a:r>
              <a:rPr lang="en-US" dirty="0" err="1"/>
              <a:t>na</a:t>
            </a:r>
            <a:r>
              <a:rPr lang="en-US" dirty="0"/>
              <a:t> </a:t>
            </a:r>
            <a:r>
              <a:rPr lang="en-US" dirty="0" err="1"/>
              <a:t>organizacije</a:t>
            </a:r>
            <a:r>
              <a:rPr lang="en-US" dirty="0"/>
              <a:t> </a:t>
            </a:r>
            <a:r>
              <a:rPr lang="en-US" dirty="0" err="1"/>
              <a:t>poput</a:t>
            </a:r>
            <a:r>
              <a:rPr lang="en-US" dirty="0"/>
              <a:t> </a:t>
            </a:r>
            <a:r>
              <a:rPr lang="en-US" dirty="0" err="1"/>
              <a:t>Hrvatske</a:t>
            </a:r>
            <a:r>
              <a:rPr lang="en-US" dirty="0"/>
              <a:t> </a:t>
            </a:r>
            <a:r>
              <a:rPr lang="en-US" dirty="0" err="1"/>
              <a:t>turističke</a:t>
            </a:r>
            <a:r>
              <a:rPr lang="en-US" dirty="0"/>
              <a:t> </a:t>
            </a:r>
            <a:r>
              <a:rPr lang="en-US" dirty="0" err="1"/>
              <a:t>zajednice</a:t>
            </a:r>
            <a:r>
              <a:rPr lang="en-US" dirty="0"/>
              <a:t> </a:t>
            </a:r>
            <a:r>
              <a:rPr lang="en-US" dirty="0" err="1"/>
              <a:t>ili</a:t>
            </a:r>
            <a:r>
              <a:rPr lang="en-US" dirty="0"/>
              <a:t> </a:t>
            </a:r>
            <a:r>
              <a:rPr lang="en-US" dirty="0" err="1"/>
              <a:t>političke</a:t>
            </a:r>
            <a:r>
              <a:rPr lang="en-US" dirty="0"/>
              <a:t> </a:t>
            </a:r>
            <a:r>
              <a:rPr lang="en-US" dirty="0" err="1"/>
              <a:t>stranke</a:t>
            </a:r>
            <a:r>
              <a:rPr lang="en-US" dirty="0"/>
              <a:t>, </a:t>
            </a:r>
            <a:r>
              <a:rPr lang="en-US" dirty="0" err="1"/>
              <a:t>na</a:t>
            </a:r>
            <a:r>
              <a:rPr lang="en-US" dirty="0"/>
              <a:t> </a:t>
            </a:r>
            <a:r>
              <a:rPr lang="en-US" dirty="0" err="1"/>
              <a:t>lokalnu</a:t>
            </a:r>
            <a:r>
              <a:rPr lang="en-US" dirty="0"/>
              <a:t> </a:t>
            </a:r>
            <a:r>
              <a:rPr lang="en-US" dirty="0" err="1"/>
              <a:t>zajednicu</a:t>
            </a:r>
            <a:endParaRPr lang="en-US" dirty="0"/>
          </a:p>
          <a:p>
            <a:r>
              <a:rPr lang="en-US" dirty="0" err="1"/>
              <a:t>Strukturu</a:t>
            </a:r>
            <a:r>
              <a:rPr lang="en-US" dirty="0"/>
              <a:t> </a:t>
            </a:r>
            <a:r>
              <a:rPr lang="en-US" dirty="0" err="1"/>
              <a:t>uočavamo</a:t>
            </a:r>
            <a:r>
              <a:rPr lang="en-US" dirty="0"/>
              <a:t> </a:t>
            </a:r>
            <a:r>
              <a:rPr lang="en-US" dirty="0" err="1"/>
              <a:t>na</a:t>
            </a:r>
            <a:r>
              <a:rPr lang="en-US" dirty="0"/>
              <a:t> </a:t>
            </a:r>
            <a:r>
              <a:rPr lang="en-US" dirty="0" err="1"/>
              <a:t>makrorazini</a:t>
            </a:r>
            <a:r>
              <a:rPr lang="en-US" dirty="0"/>
              <a:t>, </a:t>
            </a:r>
            <a:r>
              <a:rPr lang="en-US" dirty="0" err="1"/>
              <a:t>ali</a:t>
            </a:r>
            <a:r>
              <a:rPr lang="en-US" dirty="0"/>
              <a:t> </a:t>
            </a:r>
            <a:r>
              <a:rPr lang="en-US" dirty="0" err="1"/>
              <a:t>i</a:t>
            </a:r>
            <a:r>
              <a:rPr lang="en-US" dirty="0"/>
              <a:t> </a:t>
            </a:r>
            <a:r>
              <a:rPr lang="en-US" dirty="0" err="1"/>
              <a:t>na</a:t>
            </a:r>
            <a:r>
              <a:rPr lang="en-US" dirty="0"/>
              <a:t> </a:t>
            </a:r>
            <a:r>
              <a:rPr lang="en-US" dirty="0" err="1"/>
              <a:t>mikrorazini</a:t>
            </a:r>
            <a:r>
              <a:rPr lang="en-US" dirty="0"/>
              <a:t> </a:t>
            </a:r>
            <a:r>
              <a:rPr lang="hr-HR" dirty="0"/>
              <a:t>društva, poput obitelji, razreda ili kluba u kojem treniramo</a:t>
            </a:r>
            <a:endParaRPr lang="en-US" dirty="0"/>
          </a:p>
          <a:p>
            <a:endParaRPr lang="hr-HR" b="1" dirty="0"/>
          </a:p>
        </p:txBody>
      </p:sp>
      <p:pic>
        <p:nvPicPr>
          <p:cNvPr id="8194" name="Picture 2" descr="Tajna pčelinjeg sača: PRVO NAPRAVE KRUG, PA ŠESTOUGAO! - BH Pčela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335361" y="429172"/>
            <a:ext cx="3391033" cy="254327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3863752" y="429172"/>
            <a:ext cx="5328592" cy="1200329"/>
          </a:xfrm>
          <a:prstGeom prst="rect">
            <a:avLst/>
          </a:prstGeom>
          <a:noFill/>
        </p:spPr>
        <p:txBody>
          <a:bodyPr wrap="square" rtlCol="0">
            <a:spAutoFit/>
          </a:bodyPr>
          <a:lstStyle/>
          <a:p>
            <a:r>
              <a:rPr lang="hr-HR" dirty="0"/>
              <a:t>Pčele ima jednu ulogu, ljudski život puno složeniji – brojne uloge, razne grupe, tijekom života se uloge mijenjaju</a:t>
            </a:r>
          </a:p>
          <a:p>
            <a:r>
              <a:rPr lang="hr-HR" dirty="0"/>
              <a:t>Pčele svoju „društvenost” temelje na instinktu</a:t>
            </a:r>
          </a:p>
        </p:txBody>
      </p:sp>
    </p:spTree>
    <p:extLst>
      <p:ext uri="{BB962C8B-B14F-4D97-AF65-F5344CB8AC3E}">
        <p14:creationId xmlns:p14="http://schemas.microsoft.com/office/powerpoint/2010/main" val="38435211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5400" y="452718"/>
            <a:ext cx="9793088" cy="1400530"/>
          </a:xfrm>
        </p:spPr>
        <p:txBody>
          <a:bodyPr/>
          <a:lstStyle/>
          <a:p>
            <a:r>
              <a:rPr lang="hr-HR" sz="2400" b="1" dirty="0"/>
              <a:t>Promotrite fotografije i razmislite na koju se razinu društva odnose</a:t>
            </a:r>
          </a:p>
        </p:txBody>
      </p:sp>
      <p:pic>
        <p:nvPicPr>
          <p:cNvPr id="9220" name="Picture 4" descr="Varaždin – Wikipedija"/>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4079776" y="1408952"/>
            <a:ext cx="3612274" cy="1785066"/>
          </a:xfrm>
          <a:prstGeom prst="rect">
            <a:avLst/>
          </a:prstGeom>
          <a:noFill/>
          <a:extLst>
            <a:ext uri="{909E8E84-426E-40DD-AFC4-6F175D3DCCD1}">
              <a14:hiddenFill xmlns:a14="http://schemas.microsoft.com/office/drawing/2010/main">
                <a:solidFill>
                  <a:srgbClr val="FFFFFF"/>
                </a:solidFill>
              </a14:hiddenFill>
            </a:ext>
          </a:extLst>
        </p:spPr>
      </p:pic>
      <p:sp>
        <p:nvSpPr>
          <p:cNvPr id="4" name="Explosion 1 3"/>
          <p:cNvSpPr/>
          <p:nvPr/>
        </p:nvSpPr>
        <p:spPr>
          <a:xfrm>
            <a:off x="51066" y="452718"/>
            <a:ext cx="648072" cy="504056"/>
          </a:xfrm>
          <a:prstGeom prst="irregularSeal1">
            <a:avLst/>
          </a:prstGeom>
          <a:solidFill>
            <a:schemeClr val="tx1"/>
          </a:solidFill>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pic>
        <p:nvPicPr>
          <p:cNvPr id="9218" name="Picture 2" descr="Čakovečke mažoretkinje smotrom u CZK-u proslavile svoj 28. rođendan - Grad  Čakove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5102" y="1203860"/>
            <a:ext cx="3294166" cy="2195253"/>
          </a:xfrm>
          <a:prstGeom prst="rect">
            <a:avLst/>
          </a:prstGeom>
          <a:noFill/>
          <a:extLst>
            <a:ext uri="{909E8E84-426E-40DD-AFC4-6F175D3DCCD1}">
              <a14:hiddenFill xmlns:a14="http://schemas.microsoft.com/office/drawing/2010/main">
                <a:solidFill>
                  <a:srgbClr val="FFFFFF"/>
                </a:solidFill>
              </a14:hiddenFill>
            </a:ext>
          </a:extLst>
        </p:spPr>
      </p:pic>
      <p:pic>
        <p:nvPicPr>
          <p:cNvPr id="9222" name="Picture 6" descr="World Map Countries Labeled, Online World Political Map with Names"/>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68209" y="1032824"/>
            <a:ext cx="4098519" cy="3073889"/>
          </a:xfrm>
          <a:prstGeom prst="rect">
            <a:avLst/>
          </a:prstGeom>
          <a:noFill/>
          <a:extLst>
            <a:ext uri="{909E8E84-426E-40DD-AFC4-6F175D3DCCD1}">
              <a14:hiddenFill xmlns:a14="http://schemas.microsoft.com/office/drawing/2010/main">
                <a:solidFill>
                  <a:srgbClr val="FFFFFF"/>
                </a:solidFill>
              </a14:hiddenFill>
            </a:ext>
          </a:extLst>
        </p:spPr>
      </p:pic>
      <p:pic>
        <p:nvPicPr>
          <p:cNvPr id="9224" name="Picture 8" descr="Ministarstvo vanjskih i europskih poslova RH - Deveta obljetnica članstva  Republike Hrvatske u Europskoj uniji"/>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1344" y="3647375"/>
            <a:ext cx="4536504" cy="3024336"/>
          </a:xfrm>
          <a:prstGeom prst="rect">
            <a:avLst/>
          </a:prstGeom>
          <a:noFill/>
          <a:extLst>
            <a:ext uri="{909E8E84-426E-40DD-AFC4-6F175D3DCCD1}">
              <a14:hiddenFill xmlns:a14="http://schemas.microsoft.com/office/drawing/2010/main">
                <a:solidFill>
                  <a:srgbClr val="FFFFFF"/>
                </a:solidFill>
              </a14:hiddenFill>
            </a:ext>
          </a:extLst>
        </p:spPr>
      </p:pic>
      <p:pic>
        <p:nvPicPr>
          <p:cNvPr id="9226" name="Picture 10" descr="Grb Dalmacije – Wikipedija"/>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236252" y="3647375"/>
            <a:ext cx="2455799" cy="291216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7896201" y="4581128"/>
            <a:ext cx="4170527" cy="1754326"/>
          </a:xfrm>
          <a:prstGeom prst="rect">
            <a:avLst/>
          </a:prstGeom>
          <a:noFill/>
        </p:spPr>
        <p:txBody>
          <a:bodyPr wrap="square" rtlCol="0">
            <a:spAutoFit/>
          </a:bodyPr>
          <a:lstStyle/>
          <a:p>
            <a:r>
              <a:rPr lang="hr-HR" b="1" u="sng" dirty="0">
                <a:hlinkClick r:id="rId7"/>
              </a:rPr>
              <a:t>MIKROSOCIOLOGIJA I MAKROSOCIOLOGIJA</a:t>
            </a:r>
          </a:p>
          <a:p>
            <a:endParaRPr lang="hr-HR" b="1" dirty="0">
              <a:hlinkClick r:id="rId7"/>
            </a:endParaRPr>
          </a:p>
          <a:p>
            <a:r>
              <a:rPr lang="hr-HR" dirty="0">
                <a:hlinkClick r:id="rId7"/>
              </a:rPr>
              <a:t>https://www.youtube.com/watch?v=-BVeSykcQeE&amp;ab_channel=khanacademymedicine</a:t>
            </a:r>
            <a:r>
              <a:rPr lang="hr-HR" dirty="0"/>
              <a:t>   </a:t>
            </a:r>
          </a:p>
        </p:txBody>
      </p:sp>
    </p:spTree>
    <p:extLst>
      <p:ext uri="{BB962C8B-B14F-4D97-AF65-F5344CB8AC3E}">
        <p14:creationId xmlns:p14="http://schemas.microsoft.com/office/powerpoint/2010/main" val="3618615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hr-HR"/>
          </a:p>
        </p:txBody>
      </p:sp>
      <p:sp>
        <p:nvSpPr>
          <p:cNvPr id="3" name="Content Placeholder 2"/>
          <p:cNvSpPr>
            <a:spLocks noGrp="1"/>
          </p:cNvSpPr>
          <p:nvPr>
            <p:ph idx="1"/>
          </p:nvPr>
        </p:nvSpPr>
        <p:spPr>
          <a:xfrm>
            <a:off x="1104614" y="908721"/>
            <a:ext cx="8944211" cy="5339680"/>
          </a:xfrm>
        </p:spPr>
        <p:txBody>
          <a:bodyPr>
            <a:normAutofit/>
          </a:bodyPr>
          <a:lstStyle/>
          <a:p>
            <a:r>
              <a:rPr lang="hr-HR" sz="2200" dirty="0"/>
              <a:t>Ponekad nagle promjene izmijene društvenu strukturu i njene elemente</a:t>
            </a:r>
          </a:p>
          <a:p>
            <a:r>
              <a:rPr lang="hr-HR" sz="2200" dirty="0"/>
              <a:t>Ljudi nadopune, promijene, odbace ili usvoje posve nove društvene uloge</a:t>
            </a:r>
          </a:p>
          <a:p>
            <a:r>
              <a:rPr lang="hr-HR" sz="2200" dirty="0"/>
              <a:t>Pandemija...</a:t>
            </a:r>
          </a:p>
          <a:p>
            <a:r>
              <a:rPr lang="en-US" sz="2200" dirty="0" err="1"/>
              <a:t>Prema</a:t>
            </a:r>
            <a:r>
              <a:rPr lang="en-US" sz="2200" dirty="0"/>
              <a:t> </a:t>
            </a:r>
            <a:r>
              <a:rPr lang="en-US" sz="2200" dirty="0" err="1"/>
              <a:t>maskama</a:t>
            </a:r>
            <a:r>
              <a:rPr lang="en-US" sz="2200" dirty="0"/>
              <a:t> </a:t>
            </a:r>
            <a:r>
              <a:rPr lang="en-US" sz="2200" dirty="0" err="1"/>
              <a:t>pretpostavljali</a:t>
            </a:r>
            <a:r>
              <a:rPr lang="en-US" sz="2200" dirty="0"/>
              <a:t> </a:t>
            </a:r>
            <a:r>
              <a:rPr lang="en-US" sz="2200" dirty="0" err="1"/>
              <a:t>nečije</a:t>
            </a:r>
            <a:r>
              <a:rPr lang="en-US" sz="2200" dirty="0"/>
              <a:t> </a:t>
            </a:r>
            <a:r>
              <a:rPr lang="en-US" sz="2200" dirty="0" err="1"/>
              <a:t>uloge</a:t>
            </a:r>
            <a:endParaRPr lang="hr-HR" sz="2200" dirty="0"/>
          </a:p>
        </p:txBody>
      </p:sp>
      <p:pic>
        <p:nvPicPr>
          <p:cNvPr id="10244" name="Picture 4" descr="What Is a Surgeon 'Supposed' to Look Like? | MedPage Today"/>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34464" y="4005065"/>
            <a:ext cx="4181645" cy="2352175"/>
          </a:xfrm>
          <a:prstGeom prst="rect">
            <a:avLst/>
          </a:prstGeom>
          <a:noFill/>
          <a:extLst>
            <a:ext uri="{909E8E84-426E-40DD-AFC4-6F175D3DCCD1}">
              <a14:hiddenFill xmlns:a14="http://schemas.microsoft.com/office/drawing/2010/main">
                <a:solidFill>
                  <a:srgbClr val="FFFFFF"/>
                </a:solidFill>
              </a14:hiddenFill>
            </a:ext>
          </a:extLst>
        </p:spPr>
      </p:pic>
      <p:pic>
        <p:nvPicPr>
          <p:cNvPr id="10246" name="Picture 6" descr="CDC issues new mask guidelines Our expert explains | VCU Healt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88088" y="3883435"/>
            <a:ext cx="3816424" cy="25646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6533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24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2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hr-HR"/>
          </a:p>
        </p:txBody>
      </p:sp>
      <p:sp>
        <p:nvSpPr>
          <p:cNvPr id="3" name="Content Placeholder 2"/>
          <p:cNvSpPr>
            <a:spLocks noGrp="1"/>
          </p:cNvSpPr>
          <p:nvPr>
            <p:ph idx="1"/>
          </p:nvPr>
        </p:nvSpPr>
        <p:spPr>
          <a:xfrm>
            <a:off x="647532" y="188641"/>
            <a:ext cx="9401293" cy="6059760"/>
          </a:xfrm>
        </p:spPr>
        <p:txBody>
          <a:bodyPr>
            <a:normAutofit/>
          </a:bodyPr>
          <a:lstStyle/>
          <a:p>
            <a:r>
              <a:rPr lang="en-US" sz="2200" dirty="0" err="1"/>
              <a:t>Društvena</a:t>
            </a:r>
            <a:r>
              <a:rPr lang="en-US" sz="2200" dirty="0"/>
              <a:t> </a:t>
            </a:r>
            <a:r>
              <a:rPr lang="en-US" sz="2200" dirty="0" err="1"/>
              <a:t>struktura</a:t>
            </a:r>
            <a:r>
              <a:rPr lang="en-US" sz="2200" dirty="0"/>
              <a:t> se </a:t>
            </a:r>
            <a:r>
              <a:rPr lang="en-US" sz="2200" dirty="0" err="1"/>
              <a:t>sastoji</a:t>
            </a:r>
            <a:r>
              <a:rPr lang="en-US" sz="2200" dirty="0"/>
              <a:t>  od </a:t>
            </a:r>
            <a:r>
              <a:rPr lang="en-US" sz="2200" dirty="0" err="1"/>
              <a:t>svojih</a:t>
            </a:r>
            <a:r>
              <a:rPr lang="en-US" sz="2200" dirty="0"/>
              <a:t> </a:t>
            </a:r>
            <a:r>
              <a:rPr lang="en-US" sz="2200" dirty="0" err="1"/>
              <a:t>elemenata</a:t>
            </a:r>
            <a:endParaRPr lang="en-US" sz="2200" dirty="0"/>
          </a:p>
          <a:p>
            <a:r>
              <a:rPr lang="en-US" sz="2200" dirty="0"/>
              <a:t>Kao </a:t>
            </a:r>
            <a:r>
              <a:rPr lang="en-US" sz="2200" dirty="0" err="1"/>
              <a:t>što</a:t>
            </a:r>
            <a:r>
              <a:rPr lang="en-US" sz="2200" dirty="0"/>
              <a:t> se </a:t>
            </a:r>
            <a:r>
              <a:rPr lang="en-US" sz="2200" dirty="0" err="1"/>
              <a:t>naša</a:t>
            </a:r>
            <a:r>
              <a:rPr lang="en-US" sz="2200" dirty="0"/>
              <a:t> </a:t>
            </a:r>
            <a:r>
              <a:rPr lang="en-US" sz="2200" dirty="0" err="1"/>
              <a:t>kuća</a:t>
            </a:r>
            <a:r>
              <a:rPr lang="en-US" sz="2200" dirty="0"/>
              <a:t> </a:t>
            </a:r>
            <a:r>
              <a:rPr lang="en-US" sz="2200" dirty="0" err="1"/>
              <a:t>sastoji</a:t>
            </a:r>
            <a:r>
              <a:rPr lang="en-US" sz="2200" dirty="0"/>
              <a:t> od </a:t>
            </a:r>
            <a:r>
              <a:rPr lang="en-US" sz="2200" dirty="0" err="1"/>
              <a:t>vrata</a:t>
            </a:r>
            <a:r>
              <a:rPr lang="en-US" sz="2200" dirty="0"/>
              <a:t>, </a:t>
            </a:r>
            <a:r>
              <a:rPr lang="en-US" sz="2200" dirty="0" err="1"/>
              <a:t>prozora</a:t>
            </a:r>
            <a:r>
              <a:rPr lang="en-US" sz="2200" dirty="0"/>
              <a:t>, </a:t>
            </a:r>
            <a:r>
              <a:rPr lang="en-US" sz="2200" dirty="0" err="1"/>
              <a:t>krova</a:t>
            </a:r>
            <a:r>
              <a:rPr lang="en-US" sz="2200" dirty="0"/>
              <a:t>, </a:t>
            </a:r>
            <a:r>
              <a:rPr lang="en-US" sz="2200" dirty="0" err="1"/>
              <a:t>dimnjaka</a:t>
            </a:r>
            <a:r>
              <a:rPr lang="en-US" sz="2200" dirty="0"/>
              <a:t> </a:t>
            </a:r>
            <a:r>
              <a:rPr lang="en-US" sz="2200" dirty="0" err="1"/>
              <a:t>itd</a:t>
            </a:r>
            <a:r>
              <a:rPr lang="en-US" sz="2200" dirty="0"/>
              <a:t>.</a:t>
            </a:r>
          </a:p>
          <a:p>
            <a:r>
              <a:rPr lang="en-US" sz="2200" dirty="0" err="1"/>
              <a:t>Svi</a:t>
            </a:r>
            <a:r>
              <a:rPr lang="en-US" sz="2200" dirty="0"/>
              <a:t> </a:t>
            </a:r>
            <a:r>
              <a:rPr lang="en-US" sz="2200" dirty="0" err="1"/>
              <a:t>ti</a:t>
            </a:r>
            <a:r>
              <a:rPr lang="en-US" sz="2200" dirty="0"/>
              <a:t> </a:t>
            </a:r>
            <a:r>
              <a:rPr lang="en-US" sz="2200" dirty="0" err="1"/>
              <a:t>elmenti</a:t>
            </a:r>
            <a:r>
              <a:rPr lang="en-US" sz="2200" dirty="0"/>
              <a:t> </a:t>
            </a:r>
            <a:r>
              <a:rPr lang="en-US" sz="2200" dirty="0" err="1"/>
              <a:t>bitni</a:t>
            </a:r>
            <a:r>
              <a:rPr lang="en-US" sz="2200" dirty="0"/>
              <a:t> da bi </a:t>
            </a:r>
            <a:r>
              <a:rPr lang="en-US" sz="2200" dirty="0" err="1"/>
              <a:t>kuća</a:t>
            </a:r>
            <a:r>
              <a:rPr lang="en-US" sz="2200" dirty="0"/>
              <a:t> </a:t>
            </a:r>
            <a:r>
              <a:rPr lang="en-US" sz="2200" dirty="0" err="1"/>
              <a:t>bila</a:t>
            </a:r>
            <a:r>
              <a:rPr lang="en-US" sz="2200" dirty="0"/>
              <a:t> </a:t>
            </a:r>
            <a:r>
              <a:rPr lang="en-US" sz="2200" dirty="0" err="1"/>
              <a:t>funkcionalna</a:t>
            </a:r>
            <a:endParaRPr lang="en-US" sz="2200" dirty="0"/>
          </a:p>
          <a:p>
            <a:r>
              <a:rPr lang="en-US" sz="2200" dirty="0" err="1"/>
              <a:t>Slično</a:t>
            </a:r>
            <a:r>
              <a:rPr lang="en-US" sz="2200" dirty="0"/>
              <a:t> je </a:t>
            </a:r>
            <a:r>
              <a:rPr lang="en-US" sz="2200" dirty="0" err="1"/>
              <a:t>i</a:t>
            </a:r>
            <a:r>
              <a:rPr lang="en-US" sz="2200" dirty="0"/>
              <a:t> s </a:t>
            </a:r>
            <a:r>
              <a:rPr lang="en-US" sz="2200" dirty="0" err="1"/>
              <a:t>društvenom</a:t>
            </a:r>
            <a:r>
              <a:rPr lang="en-US" sz="2200" dirty="0"/>
              <a:t> </a:t>
            </a:r>
            <a:r>
              <a:rPr lang="en-US" sz="2200" dirty="0" err="1"/>
              <a:t>strukturom</a:t>
            </a:r>
            <a:endParaRPr lang="hr-HR" sz="2200" dirty="0"/>
          </a:p>
          <a:p>
            <a:pPr marL="0" indent="0">
              <a:buNone/>
            </a:pPr>
            <a:r>
              <a:rPr lang="hr-HR" sz="2200" b="1" dirty="0">
                <a:solidFill>
                  <a:schemeClr val="accent1">
                    <a:lumMod val="20000"/>
                    <a:lumOff val="80000"/>
                  </a:schemeClr>
                </a:solidFill>
              </a:rPr>
              <a:t>DRUŠTVENA ULOGA – </a:t>
            </a:r>
            <a:r>
              <a:rPr lang="hr-HR" sz="2200" b="1" dirty="0"/>
              <a:t>niz normi, odnosno kulturno definiranih prava i obvez</a:t>
            </a:r>
            <a:r>
              <a:rPr lang="en-US" sz="2200" b="1" dirty="0"/>
              <a:t>a</a:t>
            </a:r>
            <a:r>
              <a:rPr lang="hr-HR" sz="2200" b="1" dirty="0"/>
              <a:t> ili očekivanih ponašanja pojedinaca</a:t>
            </a:r>
          </a:p>
          <a:p>
            <a:r>
              <a:rPr lang="hr-HR" sz="2200" dirty="0"/>
              <a:t>Ljudi stupaju u društve</a:t>
            </a:r>
            <a:r>
              <a:rPr lang="en-US" sz="2200" dirty="0"/>
              <a:t>n</a:t>
            </a:r>
            <a:r>
              <a:rPr lang="hr-HR" sz="2200" dirty="0"/>
              <a:t>e odnose tako da igraju određene uloge</a:t>
            </a:r>
          </a:p>
          <a:p>
            <a:r>
              <a:rPr lang="hr-HR" sz="2200" dirty="0"/>
              <a:t>Cijeli naš život je interakcija niza društvenih uloga</a:t>
            </a:r>
          </a:p>
          <a:p>
            <a:r>
              <a:rPr lang="hr-HR" sz="2200" dirty="0"/>
              <a:t>Uloge uređuju društvene odnose i čine naše ponašanje predvidljivim</a:t>
            </a:r>
          </a:p>
        </p:txBody>
      </p:sp>
      <p:pic>
        <p:nvPicPr>
          <p:cNvPr id="11266" name="Picture 2" descr="For Many Hospital Patients, the Doctors Are In-House | AAMC"/>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7625" y="4939706"/>
            <a:ext cx="3456384" cy="1918294"/>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descr="The dynamic contours of student-teacher relationship"/>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23792" y="4906481"/>
            <a:ext cx="3312368" cy="1863207"/>
          </a:xfrm>
          <a:prstGeom prst="rect">
            <a:avLst/>
          </a:prstGeom>
          <a:noFill/>
          <a:extLst>
            <a:ext uri="{909E8E84-426E-40DD-AFC4-6F175D3DCCD1}">
              <a14:hiddenFill xmlns:a14="http://schemas.microsoft.com/office/drawing/2010/main">
                <a:solidFill>
                  <a:srgbClr val="FFFFFF"/>
                </a:solidFill>
              </a14:hiddenFill>
            </a:ext>
          </a:extLst>
        </p:spPr>
      </p:pic>
      <p:pic>
        <p:nvPicPr>
          <p:cNvPr id="11270" name="Picture 6" descr="When Was the First Ballet?"/>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400257" y="4509120"/>
            <a:ext cx="3527475" cy="23488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95231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26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126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12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hr-HR"/>
          </a:p>
        </p:txBody>
      </p:sp>
      <p:sp>
        <p:nvSpPr>
          <p:cNvPr id="3" name="Content Placeholder 2"/>
          <p:cNvSpPr>
            <a:spLocks noGrp="1"/>
          </p:cNvSpPr>
          <p:nvPr>
            <p:ph idx="1"/>
          </p:nvPr>
        </p:nvSpPr>
        <p:spPr/>
        <p:txBody>
          <a:bodyPr>
            <a:normAutofit/>
          </a:bodyPr>
          <a:lstStyle/>
          <a:p>
            <a:r>
              <a:rPr lang="en-US" sz="2400" dirty="0" err="1"/>
              <a:t>Razmislite</a:t>
            </a:r>
            <a:r>
              <a:rPr lang="en-US" sz="2400" dirty="0"/>
              <a:t> o </a:t>
            </a:r>
            <a:r>
              <a:rPr lang="en-US" sz="2400" dirty="0" err="1"/>
              <a:t>ulogama</a:t>
            </a:r>
            <a:r>
              <a:rPr lang="en-US" sz="2400" dirty="0"/>
              <a:t> </a:t>
            </a:r>
            <a:r>
              <a:rPr lang="en-US" sz="2400" dirty="0" err="1"/>
              <a:t>koje</a:t>
            </a:r>
            <a:r>
              <a:rPr lang="en-US" sz="2400" dirty="0"/>
              <a:t> </a:t>
            </a:r>
            <a:r>
              <a:rPr lang="en-US" sz="2400" dirty="0" err="1"/>
              <a:t>svakodnevno</a:t>
            </a:r>
            <a:r>
              <a:rPr lang="en-US" sz="2400" dirty="0"/>
              <a:t> </a:t>
            </a:r>
            <a:r>
              <a:rPr lang="en-US" sz="2400" dirty="0" err="1"/>
              <a:t>igrate</a:t>
            </a:r>
            <a:r>
              <a:rPr lang="en-US" sz="2400" dirty="0"/>
              <a:t> </a:t>
            </a:r>
            <a:r>
              <a:rPr lang="en-US" sz="2400" dirty="0" err="1"/>
              <a:t>te</a:t>
            </a:r>
            <a:r>
              <a:rPr lang="en-US" sz="2400" dirty="0"/>
              <a:t> </a:t>
            </a:r>
            <a:r>
              <a:rPr lang="en-US" sz="2400" dirty="0" err="1"/>
              <a:t>ih</a:t>
            </a:r>
            <a:r>
              <a:rPr lang="en-US" sz="2400" dirty="0"/>
              <a:t> </a:t>
            </a:r>
            <a:r>
              <a:rPr lang="en-US" sz="2400" dirty="0" err="1"/>
              <a:t>zabilježite</a:t>
            </a:r>
            <a:r>
              <a:rPr lang="en-US" sz="2400" dirty="0"/>
              <a:t> u </a:t>
            </a:r>
            <a:r>
              <a:rPr lang="en-US" sz="2400" dirty="0" err="1"/>
              <a:t>bilježnicu</a:t>
            </a:r>
            <a:endParaRPr lang="hr-HR" sz="2400" dirty="0"/>
          </a:p>
        </p:txBody>
      </p:sp>
      <p:sp>
        <p:nvSpPr>
          <p:cNvPr id="4" name="Explosion 1 3"/>
          <p:cNvSpPr/>
          <p:nvPr/>
        </p:nvSpPr>
        <p:spPr>
          <a:xfrm>
            <a:off x="839416" y="2032914"/>
            <a:ext cx="648072" cy="504056"/>
          </a:xfrm>
          <a:prstGeom prst="irregularSeal1">
            <a:avLst/>
          </a:prstGeom>
          <a:solidFill>
            <a:schemeClr val="tx1"/>
          </a:solidFill>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Tree>
    <p:extLst>
      <p:ext uri="{BB962C8B-B14F-4D97-AF65-F5344CB8AC3E}">
        <p14:creationId xmlns:p14="http://schemas.microsoft.com/office/powerpoint/2010/main" val="9345559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hr-HR"/>
          </a:p>
        </p:txBody>
      </p:sp>
      <p:sp>
        <p:nvSpPr>
          <p:cNvPr id="3" name="Content Placeholder 2"/>
          <p:cNvSpPr>
            <a:spLocks noGrp="1"/>
          </p:cNvSpPr>
          <p:nvPr>
            <p:ph idx="1"/>
          </p:nvPr>
        </p:nvSpPr>
        <p:spPr>
          <a:xfrm>
            <a:off x="1104614" y="764705"/>
            <a:ext cx="8944211" cy="5483696"/>
          </a:xfrm>
        </p:spPr>
        <p:txBody>
          <a:bodyPr>
            <a:normAutofit/>
          </a:bodyPr>
          <a:lstStyle/>
          <a:p>
            <a:pPr marL="0" indent="0">
              <a:buNone/>
            </a:pPr>
            <a:r>
              <a:rPr lang="en-US" sz="2200" b="1" dirty="0">
                <a:solidFill>
                  <a:schemeClr val="accent1">
                    <a:lumMod val="20000"/>
                    <a:lumOff val="80000"/>
                  </a:schemeClr>
                </a:solidFill>
              </a:rPr>
              <a:t>DRUŠTVENI POLOŽAJ – </a:t>
            </a:r>
            <a:r>
              <a:rPr lang="en-US" sz="2200" b="1" dirty="0" err="1"/>
              <a:t>označuje</a:t>
            </a:r>
            <a:r>
              <a:rPr lang="en-US" sz="2200" b="1" dirty="0"/>
              <a:t> </a:t>
            </a:r>
            <a:r>
              <a:rPr lang="en-US" sz="2200" b="1" dirty="0" err="1"/>
              <a:t>mjesto</a:t>
            </a:r>
            <a:r>
              <a:rPr lang="en-US" sz="2200" b="1" dirty="0"/>
              <a:t> </a:t>
            </a:r>
            <a:r>
              <a:rPr lang="en-US" sz="2200" b="1" dirty="0" err="1"/>
              <a:t>koje</a:t>
            </a:r>
            <a:r>
              <a:rPr lang="en-US" sz="2200" b="1" dirty="0"/>
              <a:t> </a:t>
            </a:r>
            <a:r>
              <a:rPr lang="en-US" sz="2200" b="1" dirty="0" err="1"/>
              <a:t>pojedinac</a:t>
            </a:r>
            <a:r>
              <a:rPr lang="en-US" sz="2200" b="1" dirty="0"/>
              <a:t> </a:t>
            </a:r>
            <a:r>
              <a:rPr lang="en-US" sz="2200" b="1" dirty="0" err="1"/>
              <a:t>zauzima</a:t>
            </a:r>
            <a:r>
              <a:rPr lang="en-US" sz="2200" b="1" dirty="0"/>
              <a:t> </a:t>
            </a:r>
            <a:r>
              <a:rPr lang="en-US" sz="2200" b="1" dirty="0" err="1"/>
              <a:t>unutar</a:t>
            </a:r>
            <a:r>
              <a:rPr lang="en-US" sz="2200" b="1" dirty="0"/>
              <a:t> </a:t>
            </a:r>
            <a:r>
              <a:rPr lang="en-US" sz="2200" b="1" dirty="0" err="1"/>
              <a:t>društvene</a:t>
            </a:r>
            <a:r>
              <a:rPr lang="en-US" sz="2200" b="1" dirty="0"/>
              <a:t> </a:t>
            </a:r>
            <a:r>
              <a:rPr lang="en-US" sz="2200" b="1" dirty="0" err="1"/>
              <a:t>stru</a:t>
            </a:r>
            <a:r>
              <a:rPr lang="hr-HR" sz="2200" b="1" dirty="0"/>
              <a:t>k</a:t>
            </a:r>
            <a:r>
              <a:rPr lang="en-US" sz="2200" b="1" dirty="0" err="1"/>
              <a:t>ture</a:t>
            </a:r>
            <a:endParaRPr lang="en-US" sz="2200" b="1" dirty="0"/>
          </a:p>
          <a:p>
            <a:pPr marL="0" indent="0">
              <a:buNone/>
            </a:pPr>
            <a:r>
              <a:rPr lang="en-US" sz="2200" dirty="0" err="1"/>
              <a:t>Prepoznajete</a:t>
            </a:r>
            <a:r>
              <a:rPr lang="en-US" sz="2200" dirty="0"/>
              <a:t> li </a:t>
            </a:r>
            <a:r>
              <a:rPr lang="en-US" sz="2200" dirty="0" err="1"/>
              <a:t>razlike</a:t>
            </a:r>
            <a:r>
              <a:rPr lang="en-US" sz="2200" dirty="0"/>
              <a:t> u </a:t>
            </a:r>
            <a:r>
              <a:rPr lang="en-US" sz="2200" dirty="0" err="1"/>
              <a:t>društvenom</a:t>
            </a:r>
            <a:r>
              <a:rPr lang="en-US" sz="2200" dirty="0"/>
              <a:t> </a:t>
            </a:r>
            <a:r>
              <a:rPr lang="en-US" sz="2200" dirty="0" err="1"/>
              <a:t>položaju</a:t>
            </a:r>
            <a:r>
              <a:rPr lang="en-US" sz="2200" dirty="0"/>
              <a:t> </a:t>
            </a:r>
            <a:r>
              <a:rPr lang="en-US" sz="2200" dirty="0" err="1"/>
              <a:t>žena</a:t>
            </a:r>
            <a:r>
              <a:rPr lang="en-US" sz="2200" dirty="0"/>
              <a:t> s </a:t>
            </a:r>
            <a:r>
              <a:rPr lang="en-US" sz="2200" dirty="0" err="1"/>
              <a:t>fotografija</a:t>
            </a:r>
            <a:r>
              <a:rPr lang="en-US" sz="2200" dirty="0"/>
              <a:t> </a:t>
            </a:r>
            <a:r>
              <a:rPr lang="en-US" sz="2200" dirty="0" err="1"/>
              <a:t>na</a:t>
            </a:r>
            <a:r>
              <a:rPr lang="en-US" sz="2200" dirty="0"/>
              <a:t> </a:t>
            </a:r>
            <a:r>
              <a:rPr lang="en-US" sz="2200" dirty="0" err="1"/>
              <a:t>temelju</a:t>
            </a:r>
            <a:r>
              <a:rPr lang="en-US" sz="2200" dirty="0"/>
              <a:t> </a:t>
            </a:r>
            <a:r>
              <a:rPr lang="en-US" sz="2200" dirty="0" err="1"/>
              <a:t>informacija</a:t>
            </a:r>
            <a:r>
              <a:rPr lang="en-US" sz="2200" dirty="0"/>
              <a:t> </a:t>
            </a:r>
            <a:r>
              <a:rPr lang="en-US" sz="2200" dirty="0" err="1"/>
              <a:t>koje</a:t>
            </a:r>
            <a:r>
              <a:rPr lang="en-US" sz="2200" dirty="0"/>
              <a:t> </a:t>
            </a:r>
            <a:r>
              <a:rPr lang="en-US" sz="2200" dirty="0" err="1"/>
              <a:t>dobivate</a:t>
            </a:r>
            <a:r>
              <a:rPr lang="en-US" sz="2200" dirty="0"/>
              <a:t> </a:t>
            </a:r>
            <a:r>
              <a:rPr lang="en-US" sz="2200" dirty="0" err="1"/>
              <a:t>na</a:t>
            </a:r>
            <a:r>
              <a:rPr lang="en-US" sz="2200" dirty="0"/>
              <a:t> </a:t>
            </a:r>
            <a:r>
              <a:rPr lang="en-US" sz="2200" dirty="0" err="1"/>
              <a:t>temelju</a:t>
            </a:r>
            <a:r>
              <a:rPr lang="en-US" sz="2200" dirty="0"/>
              <a:t> </a:t>
            </a:r>
            <a:r>
              <a:rPr lang="en-US" sz="2200" dirty="0" err="1"/>
              <a:t>ovih</a:t>
            </a:r>
            <a:r>
              <a:rPr lang="en-US" sz="2200" dirty="0"/>
              <a:t> </a:t>
            </a:r>
            <a:r>
              <a:rPr lang="en-US" sz="2200" dirty="0" err="1"/>
              <a:t>fotografija</a:t>
            </a:r>
            <a:r>
              <a:rPr lang="en-US" sz="2200" dirty="0"/>
              <a:t>?</a:t>
            </a:r>
            <a:endParaRPr lang="hr-HR" sz="2200" dirty="0"/>
          </a:p>
        </p:txBody>
      </p:sp>
      <p:pic>
        <p:nvPicPr>
          <p:cNvPr id="12292" name="Picture 4" descr="Afghanistan crisis in pics: Future uncertain for women, kids as Taliban  takes over | News | Zee News"/>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7368" y="3007400"/>
            <a:ext cx="3528392" cy="3610584"/>
          </a:xfrm>
          <a:prstGeom prst="rect">
            <a:avLst/>
          </a:prstGeom>
          <a:noFill/>
          <a:extLst>
            <a:ext uri="{909E8E84-426E-40DD-AFC4-6F175D3DCCD1}">
              <a14:hiddenFill xmlns:a14="http://schemas.microsoft.com/office/drawing/2010/main">
                <a:solidFill>
                  <a:srgbClr val="FFFFFF"/>
                </a:solidFill>
              </a14:hiddenFill>
            </a:ext>
          </a:extLst>
        </p:spPr>
      </p:pic>
      <p:pic>
        <p:nvPicPr>
          <p:cNvPr id="12294" name="Picture 6" descr="Women working in the office Stock Photo free downloa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51234" y="2834471"/>
            <a:ext cx="3744416" cy="3744416"/>
          </a:xfrm>
          <a:prstGeom prst="rect">
            <a:avLst/>
          </a:prstGeom>
          <a:noFill/>
          <a:extLst>
            <a:ext uri="{909E8E84-426E-40DD-AFC4-6F175D3DCCD1}">
              <a14:hiddenFill xmlns:a14="http://schemas.microsoft.com/office/drawing/2010/main">
                <a:solidFill>
                  <a:srgbClr val="FFFFFF"/>
                </a:solidFill>
              </a14:hiddenFill>
            </a:ext>
          </a:extLst>
        </p:spPr>
      </p:pic>
      <p:sp>
        <p:nvSpPr>
          <p:cNvPr id="7" name="Explosion 1 6"/>
          <p:cNvSpPr/>
          <p:nvPr/>
        </p:nvSpPr>
        <p:spPr>
          <a:xfrm>
            <a:off x="479376" y="1456752"/>
            <a:ext cx="648072" cy="504056"/>
          </a:xfrm>
          <a:prstGeom prst="irregularSeal1">
            <a:avLst/>
          </a:prstGeom>
          <a:solidFill>
            <a:schemeClr val="tx1"/>
          </a:solidFill>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4" name="TextBox 3"/>
          <p:cNvSpPr txBox="1"/>
          <p:nvPr/>
        </p:nvSpPr>
        <p:spPr>
          <a:xfrm>
            <a:off x="8544272" y="2558237"/>
            <a:ext cx="3600400" cy="2400657"/>
          </a:xfrm>
          <a:prstGeom prst="rect">
            <a:avLst/>
          </a:prstGeom>
          <a:noFill/>
        </p:spPr>
        <p:txBody>
          <a:bodyPr wrap="square" rtlCol="0">
            <a:spAutoFit/>
          </a:bodyPr>
          <a:lstStyle/>
          <a:p>
            <a:r>
              <a:rPr lang="en-US" sz="2200" dirty="0" err="1"/>
              <a:t>Žene</a:t>
            </a:r>
            <a:r>
              <a:rPr lang="en-US" sz="2200" dirty="0"/>
              <a:t> </a:t>
            </a:r>
            <a:r>
              <a:rPr lang="en-US" sz="2200" dirty="0" err="1"/>
              <a:t>iz</a:t>
            </a:r>
            <a:r>
              <a:rPr lang="en-US" sz="2200" dirty="0"/>
              <a:t> </a:t>
            </a:r>
            <a:r>
              <a:rPr lang="en-US" sz="2200" dirty="0" err="1"/>
              <a:t>Afganistana</a:t>
            </a:r>
            <a:r>
              <a:rPr lang="en-US" sz="2200" dirty="0"/>
              <a:t> </a:t>
            </a:r>
            <a:r>
              <a:rPr lang="en-US" sz="2200" dirty="0" err="1"/>
              <a:t>ako</a:t>
            </a:r>
            <a:r>
              <a:rPr lang="en-US" sz="2200" dirty="0"/>
              <a:t> </a:t>
            </a:r>
            <a:r>
              <a:rPr lang="en-US" sz="2200" dirty="0" err="1"/>
              <a:t>žele</a:t>
            </a:r>
            <a:r>
              <a:rPr lang="en-US" sz="2200" dirty="0"/>
              <a:t> </a:t>
            </a:r>
            <a:r>
              <a:rPr lang="en-US" sz="2200" dirty="0" err="1"/>
              <a:t>napustiti</a:t>
            </a:r>
            <a:r>
              <a:rPr lang="en-US" sz="2200" dirty="0"/>
              <a:t> </a:t>
            </a:r>
            <a:r>
              <a:rPr lang="en-US" sz="2200" dirty="0" err="1"/>
              <a:t>svoj</a:t>
            </a:r>
            <a:r>
              <a:rPr lang="en-US" sz="2200" dirty="0"/>
              <a:t> </a:t>
            </a:r>
            <a:r>
              <a:rPr lang="en-US" sz="2200" dirty="0" err="1"/>
              <a:t>obiteljski</a:t>
            </a:r>
            <a:r>
              <a:rPr lang="en-US" sz="2200" dirty="0"/>
              <a:t> </a:t>
            </a:r>
            <a:r>
              <a:rPr lang="en-US" sz="2200" dirty="0" err="1"/>
              <a:t>dom</a:t>
            </a:r>
            <a:r>
              <a:rPr lang="en-US" sz="2200" dirty="0"/>
              <a:t>, </a:t>
            </a:r>
            <a:r>
              <a:rPr lang="en-US" sz="2200" dirty="0" err="1"/>
              <a:t>moraju</a:t>
            </a:r>
            <a:r>
              <a:rPr lang="en-US" sz="2200" dirty="0"/>
              <a:t> </a:t>
            </a:r>
            <a:r>
              <a:rPr lang="en-US" sz="2200" dirty="0" err="1"/>
              <a:t>biti</a:t>
            </a:r>
            <a:r>
              <a:rPr lang="en-US" sz="2200" dirty="0"/>
              <a:t> </a:t>
            </a:r>
            <a:r>
              <a:rPr lang="en-US" sz="2200" dirty="0" err="1"/>
              <a:t>pokrivene</a:t>
            </a:r>
            <a:r>
              <a:rPr lang="en-US" sz="2200" dirty="0"/>
              <a:t>, a </a:t>
            </a:r>
            <a:r>
              <a:rPr lang="en-US" sz="2200" dirty="0" err="1"/>
              <a:t>dom</a:t>
            </a:r>
            <a:r>
              <a:rPr lang="en-US" sz="2200" dirty="0"/>
              <a:t> </a:t>
            </a:r>
            <a:r>
              <a:rPr lang="en-US" sz="2200" dirty="0" err="1"/>
              <a:t>smiju</a:t>
            </a:r>
            <a:r>
              <a:rPr lang="en-US" sz="2200" dirty="0"/>
              <a:t> </a:t>
            </a:r>
            <a:r>
              <a:rPr lang="en-US" sz="2200" dirty="0" err="1"/>
              <a:t>napustiti</a:t>
            </a:r>
            <a:r>
              <a:rPr lang="en-US" sz="2200" dirty="0"/>
              <a:t> </a:t>
            </a:r>
            <a:r>
              <a:rPr lang="en-US" sz="2200" dirty="0" err="1"/>
              <a:t>isključivo</a:t>
            </a:r>
            <a:r>
              <a:rPr lang="en-US" sz="2200" dirty="0"/>
              <a:t> u </a:t>
            </a:r>
            <a:r>
              <a:rPr lang="en-US" sz="2200" dirty="0" err="1"/>
              <a:t>pratnji</a:t>
            </a:r>
            <a:r>
              <a:rPr lang="en-US" sz="2200" dirty="0"/>
              <a:t> </a:t>
            </a:r>
            <a:r>
              <a:rPr lang="en-US" sz="2200" dirty="0" err="1"/>
              <a:t>muškog</a:t>
            </a:r>
            <a:r>
              <a:rPr lang="en-US" sz="2200" dirty="0"/>
              <a:t> </a:t>
            </a:r>
            <a:r>
              <a:rPr lang="en-US" sz="2200" dirty="0" err="1"/>
              <a:t>člana</a:t>
            </a:r>
            <a:r>
              <a:rPr lang="en-US" sz="2200" dirty="0"/>
              <a:t> </a:t>
            </a:r>
            <a:r>
              <a:rPr lang="en-US" sz="2200" dirty="0" err="1"/>
              <a:t>obitelji</a:t>
            </a:r>
            <a:r>
              <a:rPr lang="en-US" sz="2200" dirty="0"/>
              <a:t> (</a:t>
            </a:r>
            <a:r>
              <a:rPr lang="en-US" sz="2200" dirty="0" err="1"/>
              <a:t>oca</a:t>
            </a:r>
            <a:r>
              <a:rPr lang="en-US" sz="2200" dirty="0"/>
              <a:t>, </a:t>
            </a:r>
            <a:r>
              <a:rPr lang="en-US" sz="2200" dirty="0" err="1"/>
              <a:t>supruga</a:t>
            </a:r>
            <a:r>
              <a:rPr lang="en-US" sz="2200" dirty="0"/>
              <a:t>, </a:t>
            </a:r>
            <a:r>
              <a:rPr lang="en-US" sz="2200" dirty="0" err="1"/>
              <a:t>brata</a:t>
            </a:r>
            <a:r>
              <a:rPr lang="en-US" sz="2200" dirty="0"/>
              <a:t>)</a:t>
            </a:r>
            <a:endParaRPr lang="hr-HR" sz="2200" dirty="0"/>
          </a:p>
          <a:p>
            <a:endParaRPr lang="hr-HR" dirty="0"/>
          </a:p>
        </p:txBody>
      </p:sp>
    </p:spTree>
    <p:extLst>
      <p:ext uri="{BB962C8B-B14F-4D97-AF65-F5344CB8AC3E}">
        <p14:creationId xmlns:p14="http://schemas.microsoft.com/office/powerpoint/2010/main" val="37338777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29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29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animBg="1"/>
      <p:bldP spid="4"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hr-HR"/>
          </a:p>
        </p:txBody>
      </p:sp>
      <p:sp>
        <p:nvSpPr>
          <p:cNvPr id="3" name="Content Placeholder 2"/>
          <p:cNvSpPr>
            <a:spLocks noGrp="1"/>
          </p:cNvSpPr>
          <p:nvPr>
            <p:ph idx="1"/>
          </p:nvPr>
        </p:nvSpPr>
        <p:spPr/>
        <p:txBody>
          <a:bodyPr>
            <a:normAutofit/>
          </a:bodyPr>
          <a:lstStyle/>
          <a:p>
            <a:r>
              <a:rPr lang="en-US" dirty="0" err="1"/>
              <a:t>Ukoliko</a:t>
            </a:r>
            <a:r>
              <a:rPr lang="en-US" dirty="0"/>
              <a:t> je </a:t>
            </a:r>
            <a:r>
              <a:rPr lang="en-US" dirty="0" err="1"/>
              <a:t>položaj</a:t>
            </a:r>
            <a:r>
              <a:rPr lang="en-US" dirty="0"/>
              <a:t> </a:t>
            </a:r>
            <a:r>
              <a:rPr lang="en-US" dirty="0" err="1"/>
              <a:t>vrednovan</a:t>
            </a:r>
            <a:r>
              <a:rPr lang="en-US" dirty="0"/>
              <a:t> </a:t>
            </a:r>
            <a:r>
              <a:rPr lang="en-US" dirty="0" err="1"/>
              <a:t>kao</a:t>
            </a:r>
            <a:r>
              <a:rPr lang="en-US" dirty="0"/>
              <a:t> </a:t>
            </a:r>
            <a:r>
              <a:rPr lang="en-US" dirty="0" err="1"/>
              <a:t>viši</a:t>
            </a:r>
            <a:r>
              <a:rPr lang="en-US" dirty="0"/>
              <a:t>, </a:t>
            </a:r>
            <a:r>
              <a:rPr lang="en-US" dirty="0" err="1"/>
              <a:t>govorimo</a:t>
            </a:r>
            <a:r>
              <a:rPr lang="en-US" dirty="0"/>
              <a:t> o </a:t>
            </a:r>
            <a:r>
              <a:rPr lang="en-US" dirty="0" err="1"/>
              <a:t>višem</a:t>
            </a:r>
            <a:r>
              <a:rPr lang="en-US" dirty="0"/>
              <a:t> </a:t>
            </a:r>
            <a:r>
              <a:rPr lang="en-US" dirty="0" err="1"/>
              <a:t>društvenom</a:t>
            </a:r>
            <a:r>
              <a:rPr lang="en-US" dirty="0"/>
              <a:t> status</a:t>
            </a:r>
            <a:r>
              <a:rPr lang="hr-HR" dirty="0"/>
              <a:t>u</a:t>
            </a:r>
            <a:r>
              <a:rPr lang="en-US" dirty="0"/>
              <a:t> </a:t>
            </a:r>
            <a:r>
              <a:rPr lang="en-US" dirty="0" err="1"/>
              <a:t>i</a:t>
            </a:r>
            <a:r>
              <a:rPr lang="en-US" dirty="0"/>
              <a:t> </a:t>
            </a:r>
            <a:r>
              <a:rPr lang="en-US" dirty="0" err="1"/>
              <a:t>obrnuto</a:t>
            </a:r>
            <a:endParaRPr lang="en-US" dirty="0"/>
          </a:p>
          <a:p>
            <a:r>
              <a:rPr lang="en-US" b="1" dirty="0">
                <a:solidFill>
                  <a:schemeClr val="accent1">
                    <a:lumMod val="20000"/>
                    <a:lumOff val="80000"/>
                  </a:schemeClr>
                </a:solidFill>
              </a:rPr>
              <a:t>DRUŠTVENI STATUS </a:t>
            </a:r>
            <a:r>
              <a:rPr lang="en-US" dirty="0"/>
              <a:t>– </a:t>
            </a:r>
            <a:r>
              <a:rPr lang="en-US" dirty="0" err="1"/>
              <a:t>mjesto</a:t>
            </a:r>
            <a:r>
              <a:rPr lang="en-US" dirty="0"/>
              <a:t> </a:t>
            </a:r>
            <a:r>
              <a:rPr lang="en-US" dirty="0" err="1"/>
              <a:t>koje</a:t>
            </a:r>
            <a:r>
              <a:rPr lang="en-US" dirty="0"/>
              <a:t> </a:t>
            </a:r>
            <a:r>
              <a:rPr lang="en-US" dirty="0" err="1"/>
              <a:t>neki</a:t>
            </a:r>
            <a:r>
              <a:rPr lang="en-US" dirty="0"/>
              <a:t> </a:t>
            </a:r>
            <a:r>
              <a:rPr lang="en-US" dirty="0" err="1"/>
              <a:t>pojedinac</a:t>
            </a:r>
            <a:r>
              <a:rPr lang="en-US" dirty="0"/>
              <a:t> </a:t>
            </a:r>
            <a:r>
              <a:rPr lang="en-US" dirty="0" err="1"/>
              <a:t>zauzima</a:t>
            </a:r>
            <a:r>
              <a:rPr lang="en-US" dirty="0"/>
              <a:t> </a:t>
            </a:r>
            <a:r>
              <a:rPr lang="en-US" dirty="0" err="1"/>
              <a:t>na</a:t>
            </a:r>
            <a:r>
              <a:rPr lang="en-US" dirty="0"/>
              <a:t> </a:t>
            </a:r>
            <a:r>
              <a:rPr lang="en-US" dirty="0" err="1"/>
              <a:t>ljestvici</a:t>
            </a:r>
            <a:r>
              <a:rPr lang="en-US" dirty="0"/>
              <a:t> </a:t>
            </a:r>
            <a:r>
              <a:rPr lang="en-US" dirty="0" err="1"/>
              <a:t>vrijednosti</a:t>
            </a:r>
            <a:endParaRPr lang="en-US" dirty="0"/>
          </a:p>
          <a:p>
            <a:endParaRPr lang="en-US" dirty="0"/>
          </a:p>
          <a:p>
            <a:r>
              <a:rPr lang="en-US" dirty="0" err="1"/>
              <a:t>Razmislite</a:t>
            </a:r>
            <a:r>
              <a:rPr lang="en-US" dirty="0"/>
              <a:t> </a:t>
            </a:r>
            <a:r>
              <a:rPr lang="en-US" dirty="0" err="1"/>
              <a:t>koji</a:t>
            </a:r>
            <a:r>
              <a:rPr lang="en-US" dirty="0"/>
              <a:t> je </a:t>
            </a:r>
            <a:r>
              <a:rPr lang="en-US" dirty="0" err="1"/>
              <a:t>vaš</a:t>
            </a:r>
            <a:r>
              <a:rPr lang="en-US" dirty="0"/>
              <a:t> </a:t>
            </a:r>
            <a:r>
              <a:rPr lang="en-US" dirty="0" err="1"/>
              <a:t>društveni</a:t>
            </a:r>
            <a:r>
              <a:rPr lang="en-US" dirty="0"/>
              <a:t> </a:t>
            </a:r>
            <a:r>
              <a:rPr lang="en-US" dirty="0" err="1"/>
              <a:t>položaj</a:t>
            </a:r>
            <a:r>
              <a:rPr lang="en-US" dirty="0"/>
              <a:t> </a:t>
            </a:r>
            <a:r>
              <a:rPr lang="en-US" dirty="0" err="1"/>
              <a:t>unutar</a:t>
            </a:r>
            <a:r>
              <a:rPr lang="en-US" dirty="0"/>
              <a:t> </a:t>
            </a:r>
            <a:r>
              <a:rPr lang="en-US" dirty="0" err="1"/>
              <a:t>strukture</a:t>
            </a:r>
            <a:r>
              <a:rPr lang="en-US" dirty="0"/>
              <a:t> </a:t>
            </a:r>
            <a:r>
              <a:rPr lang="en-US" dirty="0" err="1"/>
              <a:t>kao</a:t>
            </a:r>
            <a:r>
              <a:rPr lang="en-US" dirty="0"/>
              <a:t> </a:t>
            </a:r>
            <a:r>
              <a:rPr lang="en-US" dirty="0" err="1"/>
              <a:t>što</a:t>
            </a:r>
            <a:r>
              <a:rPr lang="en-US" dirty="0"/>
              <a:t> je </a:t>
            </a:r>
            <a:r>
              <a:rPr lang="en-US" dirty="0" err="1"/>
              <a:t>razred</a:t>
            </a:r>
            <a:r>
              <a:rPr lang="en-US" dirty="0"/>
              <a:t>, </a:t>
            </a:r>
            <a:r>
              <a:rPr lang="en-US" dirty="0" err="1"/>
              <a:t>obitelj</a:t>
            </a:r>
            <a:r>
              <a:rPr lang="en-US" dirty="0"/>
              <a:t> </a:t>
            </a:r>
            <a:r>
              <a:rPr lang="en-US" dirty="0" err="1"/>
              <a:t>ili</a:t>
            </a:r>
            <a:r>
              <a:rPr lang="en-US" dirty="0"/>
              <a:t> n</a:t>
            </a:r>
            <a:r>
              <a:rPr lang="hr-HR" dirty="0"/>
              <a:t>p</a:t>
            </a:r>
            <a:r>
              <a:rPr lang="en-US" dirty="0"/>
              <a:t>r. </a:t>
            </a:r>
            <a:r>
              <a:rPr lang="en-US" dirty="0" err="1"/>
              <a:t>klub</a:t>
            </a:r>
            <a:r>
              <a:rPr lang="en-US" dirty="0"/>
              <a:t> u </a:t>
            </a:r>
            <a:r>
              <a:rPr lang="en-US" dirty="0" err="1"/>
              <a:t>kojem</a:t>
            </a:r>
            <a:r>
              <a:rPr lang="en-US" dirty="0"/>
              <a:t> </a:t>
            </a:r>
            <a:r>
              <a:rPr lang="en-US" dirty="0" err="1"/>
              <a:t>trenirate</a:t>
            </a:r>
            <a:endParaRPr lang="hr-HR" dirty="0"/>
          </a:p>
        </p:txBody>
      </p:sp>
      <p:sp>
        <p:nvSpPr>
          <p:cNvPr id="5" name="Explosion 1 4"/>
          <p:cNvSpPr/>
          <p:nvPr/>
        </p:nvSpPr>
        <p:spPr>
          <a:xfrm>
            <a:off x="839416" y="4581128"/>
            <a:ext cx="648072" cy="504056"/>
          </a:xfrm>
          <a:prstGeom prst="irregularSeal1">
            <a:avLst/>
          </a:prstGeom>
          <a:solidFill>
            <a:schemeClr val="tx1"/>
          </a:solidFill>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Tree>
    <p:extLst>
      <p:ext uri="{BB962C8B-B14F-4D97-AF65-F5344CB8AC3E}">
        <p14:creationId xmlns:p14="http://schemas.microsoft.com/office/powerpoint/2010/main" val="11298099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hr-HR"/>
          </a:p>
        </p:txBody>
      </p:sp>
      <p:sp>
        <p:nvSpPr>
          <p:cNvPr id="3" name="Content Placeholder 2"/>
          <p:cNvSpPr>
            <a:spLocks noGrp="1"/>
          </p:cNvSpPr>
          <p:nvPr>
            <p:ph idx="1"/>
          </p:nvPr>
        </p:nvSpPr>
        <p:spPr>
          <a:xfrm>
            <a:off x="407369" y="2052920"/>
            <a:ext cx="9641456" cy="4195481"/>
          </a:xfrm>
        </p:spPr>
        <p:txBody>
          <a:bodyPr/>
          <a:lstStyle/>
          <a:p>
            <a:r>
              <a:rPr lang="hr-HR" sz="2200" dirty="0"/>
              <a:t>Svaki društveni položaj ima više uloga  - </a:t>
            </a:r>
            <a:r>
              <a:rPr lang="hr-HR" sz="2200" b="1" dirty="0">
                <a:solidFill>
                  <a:schemeClr val="accent1">
                    <a:lumMod val="20000"/>
                    <a:lumOff val="80000"/>
                  </a:schemeClr>
                </a:solidFill>
              </a:rPr>
              <a:t>SKUP ULOGA</a:t>
            </a:r>
          </a:p>
          <a:p>
            <a:r>
              <a:rPr lang="hr-HR" sz="2200" dirty="0"/>
              <a:t>... Položaj žene u suvremenom društvu</a:t>
            </a:r>
          </a:p>
          <a:p>
            <a:endParaRPr lang="hr-HR" sz="2200" dirty="0"/>
          </a:p>
          <a:p>
            <a:r>
              <a:rPr lang="hr-HR" sz="2200" dirty="0"/>
              <a:t>Uloge su proturječne –</a:t>
            </a:r>
            <a:r>
              <a:rPr lang="hr-HR" sz="2200" dirty="0">
                <a:solidFill>
                  <a:schemeClr val="accent1">
                    <a:lumMod val="20000"/>
                    <a:lumOff val="80000"/>
                  </a:schemeClr>
                </a:solidFill>
              </a:rPr>
              <a:t> </a:t>
            </a:r>
            <a:r>
              <a:rPr lang="hr-HR" sz="2200" b="1" dirty="0">
                <a:solidFill>
                  <a:schemeClr val="accent1">
                    <a:lumMod val="20000"/>
                    <a:lumOff val="80000"/>
                  </a:schemeClr>
                </a:solidFill>
              </a:rPr>
              <a:t>SUKOB ULOGA</a:t>
            </a:r>
          </a:p>
          <a:p>
            <a:endParaRPr lang="hr-HR" dirty="0"/>
          </a:p>
          <a:p>
            <a:endParaRPr lang="hr-HR" dirty="0"/>
          </a:p>
          <a:p>
            <a:endParaRPr lang="hr-HR" sz="2200" dirty="0"/>
          </a:p>
          <a:p>
            <a:r>
              <a:rPr lang="hr-HR" sz="2200" dirty="0"/>
              <a:t>Koje sve uloge imate u vlastitoj društvenoj strukturi i jesu li one možda proturječne?</a:t>
            </a:r>
          </a:p>
          <a:p>
            <a:endParaRPr lang="hr-HR" dirty="0"/>
          </a:p>
        </p:txBody>
      </p:sp>
      <p:sp>
        <p:nvSpPr>
          <p:cNvPr id="4" name="Explosion 1 3"/>
          <p:cNvSpPr/>
          <p:nvPr/>
        </p:nvSpPr>
        <p:spPr>
          <a:xfrm>
            <a:off x="119336" y="5229200"/>
            <a:ext cx="648072" cy="504056"/>
          </a:xfrm>
          <a:prstGeom prst="irregularSeal1">
            <a:avLst/>
          </a:prstGeom>
          <a:solidFill>
            <a:schemeClr val="tx1"/>
          </a:solidFill>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pic>
        <p:nvPicPr>
          <p:cNvPr id="13314" name="Picture 2" descr="Multitasking Woman on Behan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56636" y="1021930"/>
            <a:ext cx="3384376" cy="39672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8148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3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hr-HR"/>
          </a:p>
        </p:txBody>
      </p:sp>
      <p:sp>
        <p:nvSpPr>
          <p:cNvPr id="3" name="Content Placeholder 2"/>
          <p:cNvSpPr>
            <a:spLocks noGrp="1"/>
          </p:cNvSpPr>
          <p:nvPr>
            <p:ph idx="1"/>
          </p:nvPr>
        </p:nvSpPr>
        <p:spPr>
          <a:xfrm>
            <a:off x="119337" y="620689"/>
            <a:ext cx="11881319" cy="5627712"/>
          </a:xfrm>
        </p:spPr>
        <p:txBody>
          <a:bodyPr>
            <a:normAutofit/>
          </a:bodyPr>
          <a:lstStyle/>
          <a:p>
            <a:r>
              <a:rPr lang="hr-HR" sz="2400" dirty="0"/>
              <a:t>Društveni položaj može biti:</a:t>
            </a:r>
          </a:p>
          <a:p>
            <a:endParaRPr lang="hr-HR" sz="2200" dirty="0"/>
          </a:p>
          <a:p>
            <a:pPr marL="0" indent="0">
              <a:buNone/>
            </a:pPr>
            <a:r>
              <a:rPr lang="hr-HR" sz="2400" b="1" dirty="0">
                <a:solidFill>
                  <a:schemeClr val="accent1">
                    <a:lumMod val="20000"/>
                    <a:lumOff val="80000"/>
                  </a:schemeClr>
                </a:solidFill>
              </a:rPr>
              <a:t>PRIPISANI</a:t>
            </a:r>
            <a:r>
              <a:rPr lang="hr-HR" sz="2400" b="1" dirty="0"/>
              <a:t> – stječemo ga rođenjem</a:t>
            </a:r>
          </a:p>
          <a:p>
            <a:pPr marL="0" indent="0">
              <a:buNone/>
            </a:pPr>
            <a:endParaRPr lang="hr-HR" b="1" dirty="0"/>
          </a:p>
          <a:p>
            <a:pPr marL="0" indent="0">
              <a:buNone/>
            </a:pPr>
            <a:endParaRPr lang="hr-HR" b="1" dirty="0"/>
          </a:p>
          <a:p>
            <a:pPr marL="0" indent="0">
              <a:buNone/>
            </a:pPr>
            <a:endParaRPr lang="hr-HR" b="1" dirty="0"/>
          </a:p>
          <a:p>
            <a:pPr marL="0" indent="0">
              <a:buNone/>
            </a:pPr>
            <a:endParaRPr lang="hr-HR" b="1" dirty="0"/>
          </a:p>
          <a:p>
            <a:pPr marL="0" indent="0">
              <a:buNone/>
            </a:pPr>
            <a:endParaRPr lang="hr-HR" b="1" dirty="0"/>
          </a:p>
          <a:p>
            <a:pPr marL="0" indent="0">
              <a:buNone/>
            </a:pPr>
            <a:endParaRPr lang="hr-HR" b="1" dirty="0"/>
          </a:p>
          <a:p>
            <a:pPr marL="0" indent="0">
              <a:buNone/>
            </a:pPr>
            <a:endParaRPr lang="hr-HR" b="1" dirty="0"/>
          </a:p>
          <a:p>
            <a:pPr marL="0" indent="0">
              <a:buNone/>
            </a:pPr>
            <a:endParaRPr lang="hr-HR" b="1" dirty="0"/>
          </a:p>
          <a:p>
            <a:pPr marL="0" indent="0">
              <a:buNone/>
            </a:pPr>
            <a:r>
              <a:rPr lang="hr-HR" sz="2400" b="1" dirty="0"/>
              <a:t>        </a:t>
            </a:r>
            <a:r>
              <a:rPr lang="hr-HR" sz="2400" dirty="0"/>
              <a:t>Napišite tri pripisana i tri postignuta položaja</a:t>
            </a:r>
          </a:p>
          <a:p>
            <a:pPr marL="0" indent="0">
              <a:buNone/>
            </a:pPr>
            <a:endParaRPr lang="hr-HR" b="1" dirty="0"/>
          </a:p>
        </p:txBody>
      </p:sp>
      <p:pic>
        <p:nvPicPr>
          <p:cNvPr id="15362" name="Picture 2" descr="Harry, vojvoda od Sussexa – Wikipedija"/>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31504" y="2276872"/>
            <a:ext cx="2016224" cy="2769788"/>
          </a:xfrm>
          <a:prstGeom prst="rect">
            <a:avLst/>
          </a:prstGeom>
          <a:noFill/>
          <a:extLst>
            <a:ext uri="{909E8E84-426E-40DD-AFC4-6F175D3DCCD1}">
              <a14:hiddenFill xmlns:a14="http://schemas.microsoft.com/office/drawing/2010/main">
                <a:solidFill>
                  <a:srgbClr val="FFFFFF"/>
                </a:solidFill>
              </a14:hiddenFill>
            </a:ext>
          </a:extLst>
        </p:spPr>
      </p:pic>
      <p:pic>
        <p:nvPicPr>
          <p:cNvPr id="15364" name="Picture 4" descr="Nikola Tesla – Wikipedij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31207" y="2509778"/>
            <a:ext cx="2018599" cy="270578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5591945" y="1594796"/>
            <a:ext cx="6598469" cy="830997"/>
          </a:xfrm>
          <a:prstGeom prst="rect">
            <a:avLst/>
          </a:prstGeom>
          <a:noFill/>
        </p:spPr>
        <p:txBody>
          <a:bodyPr wrap="square" rtlCol="0">
            <a:spAutoFit/>
          </a:bodyPr>
          <a:lstStyle/>
          <a:p>
            <a:pPr algn="ctr"/>
            <a:r>
              <a:rPr lang="hr-HR" sz="2400" b="1" dirty="0">
                <a:solidFill>
                  <a:schemeClr val="accent1">
                    <a:lumMod val="20000"/>
                    <a:lumOff val="80000"/>
                  </a:schemeClr>
                </a:solidFill>
              </a:rPr>
              <a:t>POSTIGNUTI </a:t>
            </a:r>
            <a:r>
              <a:rPr lang="hr-HR" sz="2400" b="1" dirty="0"/>
              <a:t>– rezultat osobnog izbora, upornosti, znanja ili talenta</a:t>
            </a:r>
          </a:p>
        </p:txBody>
      </p:sp>
      <p:sp>
        <p:nvSpPr>
          <p:cNvPr id="7" name="Explosion 1 6"/>
          <p:cNvSpPr/>
          <p:nvPr/>
        </p:nvSpPr>
        <p:spPr>
          <a:xfrm>
            <a:off x="119336" y="5445224"/>
            <a:ext cx="648072" cy="504056"/>
          </a:xfrm>
          <a:prstGeom prst="irregularSeal1">
            <a:avLst/>
          </a:prstGeom>
          <a:solidFill>
            <a:schemeClr val="tx1"/>
          </a:solidFill>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Tree>
    <p:extLst>
      <p:ext uri="{BB962C8B-B14F-4D97-AF65-F5344CB8AC3E}">
        <p14:creationId xmlns:p14="http://schemas.microsoft.com/office/powerpoint/2010/main" val="3156771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36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36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p:bldP spid="7"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hr-HR"/>
          </a:p>
        </p:txBody>
      </p:sp>
      <p:sp>
        <p:nvSpPr>
          <p:cNvPr id="3" name="Content Placeholder 2"/>
          <p:cNvSpPr>
            <a:spLocks noGrp="1"/>
          </p:cNvSpPr>
          <p:nvPr>
            <p:ph idx="1"/>
          </p:nvPr>
        </p:nvSpPr>
        <p:spPr>
          <a:xfrm>
            <a:off x="1104614" y="908721"/>
            <a:ext cx="8944211" cy="5339680"/>
          </a:xfrm>
        </p:spPr>
        <p:txBody>
          <a:bodyPr>
            <a:noAutofit/>
          </a:bodyPr>
          <a:lstStyle/>
          <a:p>
            <a:pPr marL="0" indent="0">
              <a:buNone/>
            </a:pPr>
            <a:r>
              <a:rPr lang="hr-HR" sz="2400" dirty="0"/>
              <a:t>Pored svakog pojma odredi je li taj položaj pripisani ili postignuti:</a:t>
            </a:r>
          </a:p>
          <a:p>
            <a:r>
              <a:rPr lang="hr-HR" sz="2400" dirty="0"/>
              <a:t>RASA____________</a:t>
            </a:r>
          </a:p>
          <a:p>
            <a:r>
              <a:rPr lang="hr-HR" sz="2400" dirty="0"/>
              <a:t>ETNICITET____________</a:t>
            </a:r>
          </a:p>
          <a:p>
            <a:r>
              <a:rPr lang="hr-HR" sz="2400" dirty="0"/>
              <a:t>CEO (glavni izvršni dire</a:t>
            </a:r>
            <a:r>
              <a:rPr lang="en-US" sz="2400" dirty="0"/>
              <a:t>k</a:t>
            </a:r>
            <a:r>
              <a:rPr lang="hr-HR" sz="2400" dirty="0"/>
              <a:t>tor) ____________</a:t>
            </a:r>
          </a:p>
          <a:p>
            <a:r>
              <a:rPr lang="hr-HR" sz="2400" dirty="0"/>
              <a:t>OSOBA ROĐENA U BOGATOJ OBITELJI____________</a:t>
            </a:r>
          </a:p>
          <a:p>
            <a:r>
              <a:rPr lang="hr-HR" sz="2400" dirty="0"/>
              <a:t>LOPOV____________</a:t>
            </a:r>
          </a:p>
          <a:p>
            <a:r>
              <a:rPr lang="hr-HR" sz="2400" dirty="0"/>
              <a:t>OSOBA KOJA SE OBRATILA NA ISLAM____________</a:t>
            </a:r>
          </a:p>
          <a:p>
            <a:r>
              <a:rPr lang="hr-HR" sz="2400" dirty="0"/>
              <a:t>INDIJSKE KASTE____________</a:t>
            </a:r>
          </a:p>
          <a:p>
            <a:r>
              <a:rPr lang="hr-HR" sz="2400" dirty="0"/>
              <a:t>PROMJENA SPOLA____________</a:t>
            </a:r>
          </a:p>
        </p:txBody>
      </p:sp>
      <p:sp>
        <p:nvSpPr>
          <p:cNvPr id="4" name="Explosion 1 3"/>
          <p:cNvSpPr/>
          <p:nvPr/>
        </p:nvSpPr>
        <p:spPr>
          <a:xfrm>
            <a:off x="455560" y="900955"/>
            <a:ext cx="648072" cy="504056"/>
          </a:xfrm>
          <a:prstGeom prst="irregularSeal1">
            <a:avLst/>
          </a:prstGeom>
          <a:solidFill>
            <a:schemeClr val="tx1"/>
          </a:solidFill>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Tree>
    <p:extLst>
      <p:ext uri="{BB962C8B-B14F-4D97-AF65-F5344CB8AC3E}">
        <p14:creationId xmlns:p14="http://schemas.microsoft.com/office/powerpoint/2010/main" val="17133162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DRUŠTVENE GRUPE I KOLEKTIVNO PONAŠANJE</a:t>
            </a:r>
            <a:endParaRPr lang="hr-HR" b="1" dirty="0"/>
          </a:p>
        </p:txBody>
      </p:sp>
      <p:sp>
        <p:nvSpPr>
          <p:cNvPr id="3" name="Content Placeholder 2"/>
          <p:cNvSpPr>
            <a:spLocks noGrp="1"/>
          </p:cNvSpPr>
          <p:nvPr>
            <p:ph idx="1"/>
          </p:nvPr>
        </p:nvSpPr>
        <p:spPr/>
        <p:txBody>
          <a:bodyPr>
            <a:normAutofit/>
          </a:bodyPr>
          <a:lstStyle/>
          <a:p>
            <a:endParaRPr lang="en-US" sz="2400" dirty="0"/>
          </a:p>
          <a:p>
            <a:r>
              <a:rPr lang="en-US" sz="2400" dirty="0" err="1"/>
              <a:t>Što</a:t>
            </a:r>
            <a:r>
              <a:rPr lang="en-US" sz="2400" dirty="0"/>
              <a:t> je </a:t>
            </a:r>
            <a:r>
              <a:rPr lang="en-US" sz="2400" dirty="0" err="1"/>
              <a:t>društvena</a:t>
            </a:r>
            <a:r>
              <a:rPr lang="en-US" sz="2400" dirty="0"/>
              <a:t> </a:t>
            </a:r>
            <a:r>
              <a:rPr lang="en-US" sz="2400" dirty="0" err="1"/>
              <a:t>uloga</a:t>
            </a:r>
            <a:r>
              <a:rPr lang="en-US" sz="2400" dirty="0"/>
              <a:t>?</a:t>
            </a:r>
          </a:p>
          <a:p>
            <a:endParaRPr lang="en-US" sz="2400" dirty="0"/>
          </a:p>
          <a:p>
            <a:r>
              <a:rPr lang="en-US" sz="2400" dirty="0" err="1"/>
              <a:t>Koje</a:t>
            </a:r>
            <a:r>
              <a:rPr lang="en-US" sz="2400" dirty="0"/>
              <a:t> </a:t>
            </a:r>
            <a:r>
              <a:rPr lang="en-US" sz="2400" dirty="0" err="1"/>
              <a:t>su</a:t>
            </a:r>
            <a:r>
              <a:rPr lang="en-US" sz="2400" dirty="0"/>
              <a:t> </a:t>
            </a:r>
            <a:r>
              <a:rPr lang="en-US" sz="2400" dirty="0" err="1"/>
              <a:t>va</a:t>
            </a:r>
            <a:r>
              <a:rPr lang="hr-HR" sz="2400" dirty="0"/>
              <a:t>š</a:t>
            </a:r>
            <a:r>
              <a:rPr lang="en-US" sz="2400" dirty="0"/>
              <a:t>e </a:t>
            </a:r>
            <a:r>
              <a:rPr lang="en-US" sz="2400" dirty="0" err="1"/>
              <a:t>uloge</a:t>
            </a:r>
            <a:r>
              <a:rPr lang="en-US" sz="2400" dirty="0"/>
              <a:t>?</a:t>
            </a:r>
            <a:endParaRPr lang="hr-HR" sz="2400" dirty="0"/>
          </a:p>
          <a:p>
            <a:endParaRPr lang="hr-HR" sz="2400" dirty="0"/>
          </a:p>
          <a:p>
            <a:r>
              <a:rPr lang="hr-HR" sz="2400" dirty="0"/>
              <a:t>Zadatak:</a:t>
            </a:r>
          </a:p>
          <a:p>
            <a:r>
              <a:rPr lang="hr-HR" sz="2400" dirty="0"/>
              <a:t>A4 papir (vodoravno okrenuti bilježnicu), na sredini napišite svoje ime i sve svoje uloge. Slične uloge napišite jednu pokraj druge</a:t>
            </a:r>
          </a:p>
        </p:txBody>
      </p:sp>
      <p:sp>
        <p:nvSpPr>
          <p:cNvPr id="4" name="Explosion 1 3"/>
          <p:cNvSpPr/>
          <p:nvPr/>
        </p:nvSpPr>
        <p:spPr>
          <a:xfrm>
            <a:off x="839416" y="4509120"/>
            <a:ext cx="648072" cy="504056"/>
          </a:xfrm>
          <a:prstGeom prst="irregularSeal1">
            <a:avLst/>
          </a:prstGeom>
          <a:solidFill>
            <a:schemeClr val="tx1"/>
          </a:solidFill>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Tree>
    <p:extLst>
      <p:ext uri="{BB962C8B-B14F-4D97-AF65-F5344CB8AC3E}">
        <p14:creationId xmlns:p14="http://schemas.microsoft.com/office/powerpoint/2010/main" val="26616677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hr-HR" dirty="0"/>
          </a:p>
        </p:txBody>
      </p:sp>
      <p:sp>
        <p:nvSpPr>
          <p:cNvPr id="3" name="Content Placeholder 2"/>
          <p:cNvSpPr>
            <a:spLocks noGrp="1"/>
          </p:cNvSpPr>
          <p:nvPr>
            <p:ph idx="1"/>
          </p:nvPr>
        </p:nvSpPr>
        <p:spPr/>
        <p:txBody>
          <a:bodyPr/>
          <a:lstStyle/>
          <a:p>
            <a:pPr marL="0" indent="0">
              <a:buNone/>
            </a:pPr>
            <a:endParaRPr lang="hr-HR" dirty="0"/>
          </a:p>
        </p:txBody>
      </p:sp>
      <p:sp>
        <p:nvSpPr>
          <p:cNvPr id="4" name="Rectangle 3"/>
          <p:cNvSpPr/>
          <p:nvPr/>
        </p:nvSpPr>
        <p:spPr>
          <a:xfrm>
            <a:off x="911424" y="2453097"/>
            <a:ext cx="7920880" cy="338437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ln>
                <a:solidFill>
                  <a:srgbClr val="B01513"/>
                </a:solidFill>
              </a:ln>
              <a:noFill/>
            </a:endParaRPr>
          </a:p>
        </p:txBody>
      </p:sp>
      <p:sp>
        <p:nvSpPr>
          <p:cNvPr id="5" name="TextBox 4"/>
          <p:cNvSpPr txBox="1"/>
          <p:nvPr/>
        </p:nvSpPr>
        <p:spPr>
          <a:xfrm>
            <a:off x="4484746" y="3712284"/>
            <a:ext cx="936104" cy="400110"/>
          </a:xfrm>
          <a:prstGeom prst="rect">
            <a:avLst/>
          </a:prstGeom>
          <a:noFill/>
        </p:spPr>
        <p:txBody>
          <a:bodyPr wrap="square" rtlCol="0">
            <a:spAutoFit/>
          </a:bodyPr>
          <a:lstStyle/>
          <a:p>
            <a:r>
              <a:rPr lang="hr-HR" sz="2000" b="1" dirty="0">
                <a:solidFill>
                  <a:schemeClr val="accent1"/>
                </a:solidFill>
              </a:rPr>
              <a:t>MAJA</a:t>
            </a:r>
          </a:p>
        </p:txBody>
      </p:sp>
      <p:sp>
        <p:nvSpPr>
          <p:cNvPr id="8" name="Right Arrow 7"/>
          <p:cNvSpPr/>
          <p:nvPr/>
        </p:nvSpPr>
        <p:spPr>
          <a:xfrm rot="16200000">
            <a:off x="4688327" y="3260741"/>
            <a:ext cx="472163" cy="2312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9" name="TextBox 8"/>
          <p:cNvSpPr txBox="1"/>
          <p:nvPr/>
        </p:nvSpPr>
        <p:spPr>
          <a:xfrm>
            <a:off x="4625565" y="2721036"/>
            <a:ext cx="792088" cy="369332"/>
          </a:xfrm>
          <a:prstGeom prst="rect">
            <a:avLst/>
          </a:prstGeom>
          <a:noFill/>
        </p:spPr>
        <p:txBody>
          <a:bodyPr wrap="square" rtlCol="0">
            <a:spAutoFit/>
          </a:bodyPr>
          <a:lstStyle/>
          <a:p>
            <a:r>
              <a:rPr lang="hr-HR" dirty="0"/>
              <a:t>KĆI</a:t>
            </a:r>
          </a:p>
        </p:txBody>
      </p:sp>
      <p:sp>
        <p:nvSpPr>
          <p:cNvPr id="10" name="Right Arrow 9"/>
          <p:cNvSpPr/>
          <p:nvPr/>
        </p:nvSpPr>
        <p:spPr>
          <a:xfrm rot="13065247">
            <a:off x="4157626" y="3326637"/>
            <a:ext cx="472163" cy="2312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11" name="TextBox 10"/>
          <p:cNvSpPr txBox="1"/>
          <p:nvPr/>
        </p:nvSpPr>
        <p:spPr>
          <a:xfrm>
            <a:off x="3459831" y="2910056"/>
            <a:ext cx="1008112" cy="369332"/>
          </a:xfrm>
          <a:prstGeom prst="rect">
            <a:avLst/>
          </a:prstGeom>
          <a:noFill/>
        </p:spPr>
        <p:txBody>
          <a:bodyPr wrap="square" rtlCol="0">
            <a:spAutoFit/>
          </a:bodyPr>
          <a:lstStyle/>
          <a:p>
            <a:r>
              <a:rPr lang="hr-HR" dirty="0"/>
              <a:t>MAJKA</a:t>
            </a:r>
          </a:p>
        </p:txBody>
      </p:sp>
      <p:sp>
        <p:nvSpPr>
          <p:cNvPr id="12" name="Right Arrow 11"/>
          <p:cNvSpPr/>
          <p:nvPr/>
        </p:nvSpPr>
        <p:spPr>
          <a:xfrm rot="10800000">
            <a:off x="3900173" y="3796713"/>
            <a:ext cx="472163" cy="2312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13" name="TextBox 12"/>
          <p:cNvSpPr txBox="1"/>
          <p:nvPr/>
        </p:nvSpPr>
        <p:spPr>
          <a:xfrm>
            <a:off x="2490637" y="3727673"/>
            <a:ext cx="1345317" cy="369332"/>
          </a:xfrm>
          <a:prstGeom prst="rect">
            <a:avLst/>
          </a:prstGeom>
          <a:noFill/>
        </p:spPr>
        <p:txBody>
          <a:bodyPr wrap="square" rtlCol="0">
            <a:spAutoFit/>
          </a:bodyPr>
          <a:lstStyle/>
          <a:p>
            <a:r>
              <a:rPr lang="hr-HR" dirty="0"/>
              <a:t>SUPRUGA</a:t>
            </a:r>
          </a:p>
        </p:txBody>
      </p:sp>
      <p:sp>
        <p:nvSpPr>
          <p:cNvPr id="15" name="Right Arrow 14"/>
          <p:cNvSpPr/>
          <p:nvPr/>
        </p:nvSpPr>
        <p:spPr>
          <a:xfrm rot="8695628">
            <a:off x="4129829" y="4336794"/>
            <a:ext cx="472163" cy="2312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16" name="TextBox 15"/>
          <p:cNvSpPr txBox="1"/>
          <p:nvPr/>
        </p:nvSpPr>
        <p:spPr>
          <a:xfrm>
            <a:off x="3088583" y="4656297"/>
            <a:ext cx="1512168" cy="369332"/>
          </a:xfrm>
          <a:prstGeom prst="rect">
            <a:avLst/>
          </a:prstGeom>
          <a:noFill/>
        </p:spPr>
        <p:txBody>
          <a:bodyPr wrap="square" rtlCol="0">
            <a:spAutoFit/>
          </a:bodyPr>
          <a:lstStyle/>
          <a:p>
            <a:r>
              <a:rPr lang="hr-HR" dirty="0"/>
              <a:t>SLIKARICA</a:t>
            </a:r>
          </a:p>
        </p:txBody>
      </p:sp>
      <p:sp>
        <p:nvSpPr>
          <p:cNvPr id="17" name="Right Arrow 16"/>
          <p:cNvSpPr/>
          <p:nvPr/>
        </p:nvSpPr>
        <p:spPr>
          <a:xfrm rot="5400000">
            <a:off x="4716717" y="4618684"/>
            <a:ext cx="472163" cy="2312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18" name="TextBox 17"/>
          <p:cNvSpPr txBox="1"/>
          <p:nvPr/>
        </p:nvSpPr>
        <p:spPr>
          <a:xfrm>
            <a:off x="4157513" y="5068542"/>
            <a:ext cx="1728192" cy="369332"/>
          </a:xfrm>
          <a:prstGeom prst="rect">
            <a:avLst/>
          </a:prstGeom>
          <a:noFill/>
        </p:spPr>
        <p:txBody>
          <a:bodyPr wrap="square" rtlCol="0">
            <a:spAutoFit/>
          </a:bodyPr>
          <a:lstStyle/>
          <a:p>
            <a:r>
              <a:rPr lang="hr-HR" dirty="0"/>
              <a:t>PRIJATELJICA</a:t>
            </a:r>
          </a:p>
        </p:txBody>
      </p:sp>
      <p:sp>
        <p:nvSpPr>
          <p:cNvPr id="19" name="Right Arrow 18"/>
          <p:cNvSpPr/>
          <p:nvPr/>
        </p:nvSpPr>
        <p:spPr>
          <a:xfrm rot="1715132">
            <a:off x="5318095" y="4336794"/>
            <a:ext cx="472163" cy="2312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20" name="TextBox 19"/>
          <p:cNvSpPr txBox="1"/>
          <p:nvPr/>
        </p:nvSpPr>
        <p:spPr>
          <a:xfrm>
            <a:off x="5480467" y="4677462"/>
            <a:ext cx="1553981" cy="378239"/>
          </a:xfrm>
          <a:prstGeom prst="rect">
            <a:avLst/>
          </a:prstGeom>
          <a:noFill/>
        </p:spPr>
        <p:txBody>
          <a:bodyPr wrap="square" rtlCol="0">
            <a:spAutoFit/>
          </a:bodyPr>
          <a:lstStyle/>
          <a:p>
            <a:r>
              <a:rPr lang="hr-HR" dirty="0"/>
              <a:t>KOLEGICA</a:t>
            </a:r>
          </a:p>
        </p:txBody>
      </p:sp>
      <p:sp>
        <p:nvSpPr>
          <p:cNvPr id="21" name="Right Arrow 20"/>
          <p:cNvSpPr/>
          <p:nvPr/>
        </p:nvSpPr>
        <p:spPr>
          <a:xfrm>
            <a:off x="5533262" y="3812953"/>
            <a:ext cx="472163" cy="2312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22" name="TextBox 21"/>
          <p:cNvSpPr txBox="1"/>
          <p:nvPr/>
        </p:nvSpPr>
        <p:spPr>
          <a:xfrm>
            <a:off x="6069643" y="3712284"/>
            <a:ext cx="1939780" cy="369332"/>
          </a:xfrm>
          <a:prstGeom prst="rect">
            <a:avLst/>
          </a:prstGeom>
          <a:noFill/>
        </p:spPr>
        <p:txBody>
          <a:bodyPr wrap="square" rtlCol="0">
            <a:spAutoFit/>
          </a:bodyPr>
          <a:lstStyle/>
          <a:p>
            <a:r>
              <a:rPr lang="hr-HR" dirty="0"/>
              <a:t>NASTAVNICA</a:t>
            </a:r>
          </a:p>
        </p:txBody>
      </p:sp>
      <p:sp>
        <p:nvSpPr>
          <p:cNvPr id="23" name="TextBox 22"/>
          <p:cNvSpPr txBox="1"/>
          <p:nvPr/>
        </p:nvSpPr>
        <p:spPr>
          <a:xfrm>
            <a:off x="9336361" y="1853249"/>
            <a:ext cx="2668271" cy="2062103"/>
          </a:xfrm>
          <a:prstGeom prst="rect">
            <a:avLst/>
          </a:prstGeom>
          <a:noFill/>
        </p:spPr>
        <p:txBody>
          <a:bodyPr wrap="square" rtlCol="0">
            <a:spAutoFit/>
          </a:bodyPr>
          <a:lstStyle/>
          <a:p>
            <a:pPr marL="285750" indent="-285750">
              <a:buFont typeface="Arial" panose="020B0604020202020204" pitchFamily="34" charset="0"/>
              <a:buChar char="•"/>
            </a:pPr>
            <a:r>
              <a:rPr lang="hr-HR" sz="2200" dirty="0"/>
              <a:t>Sestra</a:t>
            </a:r>
          </a:p>
          <a:p>
            <a:pPr marL="285750" indent="-285750">
              <a:buFont typeface="Arial" panose="020B0604020202020204" pitchFamily="34" charset="0"/>
              <a:buChar char="•"/>
            </a:pPr>
            <a:r>
              <a:rPr lang="hr-HR" sz="2200" dirty="0"/>
              <a:t>Brat</a:t>
            </a:r>
          </a:p>
          <a:p>
            <a:pPr marL="285750" indent="-285750">
              <a:buFont typeface="Arial" panose="020B0604020202020204" pitchFamily="34" charset="0"/>
              <a:buChar char="•"/>
            </a:pPr>
            <a:r>
              <a:rPr lang="hr-HR" sz="2200" dirty="0"/>
              <a:t>Unuk/a</a:t>
            </a:r>
          </a:p>
          <a:p>
            <a:pPr marL="285750" indent="-285750">
              <a:buFont typeface="Arial" panose="020B0604020202020204" pitchFamily="34" charset="0"/>
              <a:buChar char="•"/>
            </a:pPr>
            <a:r>
              <a:rPr lang="hr-HR" sz="2200" dirty="0"/>
              <a:t>Nogometaš</a:t>
            </a:r>
          </a:p>
          <a:p>
            <a:pPr marL="285750" indent="-285750">
              <a:buFont typeface="Arial" panose="020B0604020202020204" pitchFamily="34" charset="0"/>
              <a:buChar char="•"/>
            </a:pPr>
            <a:r>
              <a:rPr lang="hr-HR" sz="2200" dirty="0"/>
              <a:t>Plesačica...</a:t>
            </a:r>
          </a:p>
          <a:p>
            <a:pPr marL="285750" indent="-285750">
              <a:buFont typeface="Arial" panose="020B0604020202020204" pitchFamily="34" charset="0"/>
              <a:buChar char="•"/>
            </a:pPr>
            <a:endParaRPr lang="hr-HR" dirty="0"/>
          </a:p>
        </p:txBody>
      </p:sp>
    </p:spTree>
    <p:extLst>
      <p:ext uri="{BB962C8B-B14F-4D97-AF65-F5344CB8AC3E}">
        <p14:creationId xmlns:p14="http://schemas.microsoft.com/office/powerpoint/2010/main" val="2635043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1"/>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2"/>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8" grpId="0" animBg="1"/>
      <p:bldP spid="9" grpId="0"/>
      <p:bldP spid="10" grpId="0" animBg="1"/>
      <p:bldP spid="11" grpId="0"/>
      <p:bldP spid="12" grpId="0" animBg="1"/>
      <p:bldP spid="13" grpId="0"/>
      <p:bldP spid="15" grpId="0" animBg="1"/>
      <p:bldP spid="16" grpId="0"/>
      <p:bldP spid="17" grpId="0" animBg="1"/>
      <p:bldP spid="18" grpId="0"/>
      <p:bldP spid="19" grpId="0" animBg="1"/>
      <p:bldP spid="21" grpId="0" animBg="1"/>
      <p:bldP spid="22" grpId="0"/>
      <p:bldP spid="23"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hr-HR"/>
          </a:p>
        </p:txBody>
      </p:sp>
      <p:sp>
        <p:nvSpPr>
          <p:cNvPr id="3" name="Content Placeholder 2"/>
          <p:cNvSpPr>
            <a:spLocks noGrp="1"/>
          </p:cNvSpPr>
          <p:nvPr>
            <p:ph idx="1"/>
          </p:nvPr>
        </p:nvSpPr>
        <p:spPr/>
        <p:txBody>
          <a:bodyPr>
            <a:normAutofit/>
          </a:bodyPr>
          <a:lstStyle/>
          <a:p>
            <a:r>
              <a:rPr lang="hr-HR" sz="2200" dirty="0"/>
              <a:t>Sve uloge jednog roda (muškog ili ženskog)</a:t>
            </a:r>
          </a:p>
          <a:p>
            <a:r>
              <a:rPr lang="hr-HR" sz="2200" dirty="0"/>
              <a:t>Za svaku od uloga potrebna bar jedna osoba s kojom smo u nekoj vrsti odnosa</a:t>
            </a:r>
          </a:p>
          <a:p>
            <a:endParaRPr lang="hr-HR" sz="2200" dirty="0"/>
          </a:p>
          <a:p>
            <a:r>
              <a:rPr lang="hr-HR" sz="2200" dirty="0"/>
              <a:t>Napišite sada uz svoje uloge, uloge drugih osoba s kojima smo u interakciji (drugom bojom)</a:t>
            </a:r>
          </a:p>
        </p:txBody>
      </p:sp>
      <p:sp>
        <p:nvSpPr>
          <p:cNvPr id="4" name="Explosion 1 3"/>
          <p:cNvSpPr/>
          <p:nvPr/>
        </p:nvSpPr>
        <p:spPr>
          <a:xfrm>
            <a:off x="780577" y="3789040"/>
            <a:ext cx="648072" cy="504056"/>
          </a:xfrm>
          <a:prstGeom prst="irregularSeal1">
            <a:avLst/>
          </a:prstGeom>
          <a:solidFill>
            <a:schemeClr val="tx1"/>
          </a:solidFill>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Tree>
    <p:extLst>
      <p:ext uri="{BB962C8B-B14F-4D97-AF65-F5344CB8AC3E}">
        <p14:creationId xmlns:p14="http://schemas.microsoft.com/office/powerpoint/2010/main" val="26843945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hr-HR" dirty="0"/>
          </a:p>
        </p:txBody>
      </p:sp>
      <p:sp>
        <p:nvSpPr>
          <p:cNvPr id="3" name="Content Placeholder 2"/>
          <p:cNvSpPr>
            <a:spLocks noGrp="1"/>
          </p:cNvSpPr>
          <p:nvPr>
            <p:ph idx="1"/>
          </p:nvPr>
        </p:nvSpPr>
        <p:spPr/>
        <p:txBody>
          <a:bodyPr/>
          <a:lstStyle/>
          <a:p>
            <a:pPr marL="0" indent="0">
              <a:buNone/>
            </a:pPr>
            <a:endParaRPr lang="hr-HR" dirty="0"/>
          </a:p>
        </p:txBody>
      </p:sp>
      <p:sp>
        <p:nvSpPr>
          <p:cNvPr id="4" name="Rectangle 3"/>
          <p:cNvSpPr/>
          <p:nvPr/>
        </p:nvSpPr>
        <p:spPr>
          <a:xfrm>
            <a:off x="911424" y="1484785"/>
            <a:ext cx="9505056" cy="43526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ln>
                <a:solidFill>
                  <a:srgbClr val="B01513"/>
                </a:solidFill>
              </a:ln>
              <a:noFill/>
            </a:endParaRPr>
          </a:p>
        </p:txBody>
      </p:sp>
      <p:sp>
        <p:nvSpPr>
          <p:cNvPr id="5" name="TextBox 4"/>
          <p:cNvSpPr txBox="1"/>
          <p:nvPr/>
        </p:nvSpPr>
        <p:spPr>
          <a:xfrm>
            <a:off x="5281028" y="3612898"/>
            <a:ext cx="936104" cy="400110"/>
          </a:xfrm>
          <a:prstGeom prst="rect">
            <a:avLst/>
          </a:prstGeom>
          <a:noFill/>
        </p:spPr>
        <p:txBody>
          <a:bodyPr wrap="square" rtlCol="0">
            <a:spAutoFit/>
          </a:bodyPr>
          <a:lstStyle/>
          <a:p>
            <a:r>
              <a:rPr lang="hr-HR" sz="2000" b="1" dirty="0">
                <a:solidFill>
                  <a:schemeClr val="accent1"/>
                </a:solidFill>
              </a:rPr>
              <a:t>MAJA</a:t>
            </a:r>
          </a:p>
        </p:txBody>
      </p:sp>
      <p:sp>
        <p:nvSpPr>
          <p:cNvPr id="8" name="Right Arrow 7"/>
          <p:cNvSpPr/>
          <p:nvPr/>
        </p:nvSpPr>
        <p:spPr>
          <a:xfrm rot="16200000">
            <a:off x="5557903" y="3136151"/>
            <a:ext cx="472163" cy="2312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9" name="TextBox 8"/>
          <p:cNvSpPr txBox="1"/>
          <p:nvPr/>
        </p:nvSpPr>
        <p:spPr>
          <a:xfrm>
            <a:off x="5513565" y="2589352"/>
            <a:ext cx="792088" cy="369332"/>
          </a:xfrm>
          <a:prstGeom prst="rect">
            <a:avLst/>
          </a:prstGeom>
          <a:noFill/>
        </p:spPr>
        <p:txBody>
          <a:bodyPr wrap="square" rtlCol="0">
            <a:spAutoFit/>
          </a:bodyPr>
          <a:lstStyle/>
          <a:p>
            <a:r>
              <a:rPr lang="hr-HR" dirty="0"/>
              <a:t>KĆI</a:t>
            </a:r>
          </a:p>
        </p:txBody>
      </p:sp>
      <p:sp>
        <p:nvSpPr>
          <p:cNvPr id="10" name="Right Arrow 9"/>
          <p:cNvSpPr/>
          <p:nvPr/>
        </p:nvSpPr>
        <p:spPr>
          <a:xfrm rot="13065247">
            <a:off x="4883018" y="3213701"/>
            <a:ext cx="472163" cy="2312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11" name="TextBox 10"/>
          <p:cNvSpPr txBox="1"/>
          <p:nvPr/>
        </p:nvSpPr>
        <p:spPr>
          <a:xfrm>
            <a:off x="4075983" y="2726297"/>
            <a:ext cx="1008112" cy="369332"/>
          </a:xfrm>
          <a:prstGeom prst="rect">
            <a:avLst/>
          </a:prstGeom>
          <a:noFill/>
        </p:spPr>
        <p:txBody>
          <a:bodyPr wrap="square" rtlCol="0">
            <a:spAutoFit/>
          </a:bodyPr>
          <a:lstStyle/>
          <a:p>
            <a:r>
              <a:rPr lang="hr-HR" dirty="0"/>
              <a:t>MAJKA</a:t>
            </a:r>
          </a:p>
        </p:txBody>
      </p:sp>
      <p:sp>
        <p:nvSpPr>
          <p:cNvPr id="12" name="Right Arrow 11"/>
          <p:cNvSpPr/>
          <p:nvPr/>
        </p:nvSpPr>
        <p:spPr>
          <a:xfrm rot="10800000">
            <a:off x="4625566" y="3740009"/>
            <a:ext cx="472163" cy="2312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13" name="TextBox 12"/>
          <p:cNvSpPr txBox="1"/>
          <p:nvPr/>
        </p:nvSpPr>
        <p:spPr>
          <a:xfrm>
            <a:off x="3172042" y="3704161"/>
            <a:ext cx="1345317" cy="369332"/>
          </a:xfrm>
          <a:prstGeom prst="rect">
            <a:avLst/>
          </a:prstGeom>
          <a:noFill/>
        </p:spPr>
        <p:txBody>
          <a:bodyPr wrap="square" rtlCol="0">
            <a:spAutoFit/>
          </a:bodyPr>
          <a:lstStyle/>
          <a:p>
            <a:r>
              <a:rPr lang="hr-HR" dirty="0"/>
              <a:t>SUPRUGA</a:t>
            </a:r>
          </a:p>
        </p:txBody>
      </p:sp>
      <p:sp>
        <p:nvSpPr>
          <p:cNvPr id="15" name="Right Arrow 14"/>
          <p:cNvSpPr/>
          <p:nvPr/>
        </p:nvSpPr>
        <p:spPr>
          <a:xfrm rot="8695628">
            <a:off x="4848015" y="4180902"/>
            <a:ext cx="472163" cy="2312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16" name="TextBox 15"/>
          <p:cNvSpPr txBox="1"/>
          <p:nvPr/>
        </p:nvSpPr>
        <p:spPr>
          <a:xfrm>
            <a:off x="3789573" y="4545055"/>
            <a:ext cx="1512168" cy="369332"/>
          </a:xfrm>
          <a:prstGeom prst="rect">
            <a:avLst/>
          </a:prstGeom>
          <a:noFill/>
        </p:spPr>
        <p:txBody>
          <a:bodyPr wrap="square" rtlCol="0">
            <a:spAutoFit/>
          </a:bodyPr>
          <a:lstStyle/>
          <a:p>
            <a:r>
              <a:rPr lang="hr-HR" dirty="0"/>
              <a:t>SLIKARICA</a:t>
            </a:r>
          </a:p>
        </p:txBody>
      </p:sp>
      <p:sp>
        <p:nvSpPr>
          <p:cNvPr id="17" name="Right Arrow 16"/>
          <p:cNvSpPr/>
          <p:nvPr/>
        </p:nvSpPr>
        <p:spPr>
          <a:xfrm rot="5400000">
            <a:off x="5557902" y="4304590"/>
            <a:ext cx="472163" cy="2312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18" name="TextBox 17"/>
          <p:cNvSpPr txBox="1"/>
          <p:nvPr/>
        </p:nvSpPr>
        <p:spPr>
          <a:xfrm>
            <a:off x="5021609" y="4935254"/>
            <a:ext cx="1728192" cy="369332"/>
          </a:xfrm>
          <a:prstGeom prst="rect">
            <a:avLst/>
          </a:prstGeom>
          <a:noFill/>
        </p:spPr>
        <p:txBody>
          <a:bodyPr wrap="square" rtlCol="0">
            <a:spAutoFit/>
          </a:bodyPr>
          <a:lstStyle/>
          <a:p>
            <a:r>
              <a:rPr lang="hr-HR" dirty="0"/>
              <a:t>PRIJATELJICA</a:t>
            </a:r>
          </a:p>
        </p:txBody>
      </p:sp>
      <p:sp>
        <p:nvSpPr>
          <p:cNvPr id="19" name="Right Arrow 18"/>
          <p:cNvSpPr/>
          <p:nvPr/>
        </p:nvSpPr>
        <p:spPr>
          <a:xfrm rot="1715132">
            <a:off x="6189749" y="4165104"/>
            <a:ext cx="472163" cy="2312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20" name="TextBox 19"/>
          <p:cNvSpPr txBox="1"/>
          <p:nvPr/>
        </p:nvSpPr>
        <p:spPr>
          <a:xfrm>
            <a:off x="6606061" y="4442993"/>
            <a:ext cx="1553981" cy="378239"/>
          </a:xfrm>
          <a:prstGeom prst="rect">
            <a:avLst/>
          </a:prstGeom>
          <a:noFill/>
        </p:spPr>
        <p:txBody>
          <a:bodyPr wrap="square" rtlCol="0">
            <a:spAutoFit/>
          </a:bodyPr>
          <a:lstStyle/>
          <a:p>
            <a:r>
              <a:rPr lang="hr-HR" dirty="0"/>
              <a:t>KOLEGICA</a:t>
            </a:r>
          </a:p>
        </p:txBody>
      </p:sp>
      <p:sp>
        <p:nvSpPr>
          <p:cNvPr id="21" name="Right Arrow 20"/>
          <p:cNvSpPr/>
          <p:nvPr/>
        </p:nvSpPr>
        <p:spPr>
          <a:xfrm>
            <a:off x="6372024" y="3697384"/>
            <a:ext cx="472163" cy="2312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22" name="TextBox 21"/>
          <p:cNvSpPr txBox="1"/>
          <p:nvPr/>
        </p:nvSpPr>
        <p:spPr>
          <a:xfrm>
            <a:off x="6887794" y="3628287"/>
            <a:ext cx="1939780" cy="369332"/>
          </a:xfrm>
          <a:prstGeom prst="rect">
            <a:avLst/>
          </a:prstGeom>
          <a:noFill/>
        </p:spPr>
        <p:txBody>
          <a:bodyPr wrap="square" rtlCol="0">
            <a:spAutoFit/>
          </a:bodyPr>
          <a:lstStyle/>
          <a:p>
            <a:r>
              <a:rPr lang="hr-HR" dirty="0"/>
              <a:t>NASTAVNICA</a:t>
            </a:r>
          </a:p>
        </p:txBody>
      </p:sp>
      <p:sp>
        <p:nvSpPr>
          <p:cNvPr id="6" name="TextBox 5"/>
          <p:cNvSpPr txBox="1"/>
          <p:nvPr/>
        </p:nvSpPr>
        <p:spPr>
          <a:xfrm>
            <a:off x="5151007" y="2156643"/>
            <a:ext cx="1285950" cy="369332"/>
          </a:xfrm>
          <a:prstGeom prst="rect">
            <a:avLst/>
          </a:prstGeom>
          <a:noFill/>
        </p:spPr>
        <p:txBody>
          <a:bodyPr wrap="square" rtlCol="0">
            <a:spAutoFit/>
          </a:bodyPr>
          <a:lstStyle/>
          <a:p>
            <a:r>
              <a:rPr lang="hr-HR" dirty="0">
                <a:solidFill>
                  <a:schemeClr val="bg2">
                    <a:lumMod val="20000"/>
                    <a:lumOff val="80000"/>
                  </a:schemeClr>
                </a:solidFill>
              </a:rPr>
              <a:t>Roditelji</a:t>
            </a:r>
            <a:r>
              <a:rPr lang="hr-HR" dirty="0"/>
              <a:t> </a:t>
            </a:r>
          </a:p>
        </p:txBody>
      </p:sp>
      <p:sp>
        <p:nvSpPr>
          <p:cNvPr id="7" name="TextBox 6"/>
          <p:cNvSpPr txBox="1"/>
          <p:nvPr/>
        </p:nvSpPr>
        <p:spPr>
          <a:xfrm>
            <a:off x="3170168" y="2700648"/>
            <a:ext cx="888617" cy="369332"/>
          </a:xfrm>
          <a:prstGeom prst="rect">
            <a:avLst/>
          </a:prstGeom>
          <a:noFill/>
        </p:spPr>
        <p:txBody>
          <a:bodyPr wrap="square" rtlCol="0">
            <a:spAutoFit/>
          </a:bodyPr>
          <a:lstStyle/>
          <a:p>
            <a:r>
              <a:rPr lang="hr-HR" dirty="0">
                <a:solidFill>
                  <a:schemeClr val="bg2">
                    <a:lumMod val="20000"/>
                    <a:lumOff val="80000"/>
                  </a:schemeClr>
                </a:solidFill>
              </a:rPr>
              <a:t>Djeca</a:t>
            </a:r>
            <a:r>
              <a:rPr lang="hr-HR" dirty="0"/>
              <a:t> </a:t>
            </a:r>
          </a:p>
        </p:txBody>
      </p:sp>
      <p:sp>
        <p:nvSpPr>
          <p:cNvPr id="14" name="TextBox 13"/>
          <p:cNvSpPr txBox="1"/>
          <p:nvPr/>
        </p:nvSpPr>
        <p:spPr>
          <a:xfrm>
            <a:off x="2194462" y="3661114"/>
            <a:ext cx="1191491" cy="369332"/>
          </a:xfrm>
          <a:prstGeom prst="rect">
            <a:avLst/>
          </a:prstGeom>
          <a:noFill/>
        </p:spPr>
        <p:txBody>
          <a:bodyPr wrap="square" rtlCol="0">
            <a:spAutoFit/>
          </a:bodyPr>
          <a:lstStyle/>
          <a:p>
            <a:r>
              <a:rPr lang="hr-HR" dirty="0">
                <a:solidFill>
                  <a:schemeClr val="bg2">
                    <a:lumMod val="20000"/>
                    <a:lumOff val="80000"/>
                  </a:schemeClr>
                </a:solidFill>
              </a:rPr>
              <a:t>Suprug</a:t>
            </a:r>
            <a:r>
              <a:rPr lang="hr-HR" dirty="0"/>
              <a:t> </a:t>
            </a:r>
          </a:p>
        </p:txBody>
      </p:sp>
      <p:sp>
        <p:nvSpPr>
          <p:cNvPr id="24" name="TextBox 23"/>
          <p:cNvSpPr txBox="1"/>
          <p:nvPr/>
        </p:nvSpPr>
        <p:spPr>
          <a:xfrm>
            <a:off x="2066257" y="4526816"/>
            <a:ext cx="2336474" cy="369332"/>
          </a:xfrm>
          <a:prstGeom prst="rect">
            <a:avLst/>
          </a:prstGeom>
          <a:noFill/>
        </p:spPr>
        <p:txBody>
          <a:bodyPr wrap="square" rtlCol="0">
            <a:spAutoFit/>
          </a:bodyPr>
          <a:lstStyle/>
          <a:p>
            <a:r>
              <a:rPr lang="hr-HR" dirty="0">
                <a:solidFill>
                  <a:schemeClr val="bg2">
                    <a:lumMod val="20000"/>
                    <a:lumOff val="80000"/>
                  </a:schemeClr>
                </a:solidFill>
              </a:rPr>
              <a:t>Slikari/umjetnici</a:t>
            </a:r>
          </a:p>
        </p:txBody>
      </p:sp>
      <p:sp>
        <p:nvSpPr>
          <p:cNvPr id="25" name="TextBox 24"/>
          <p:cNvSpPr txBox="1"/>
          <p:nvPr/>
        </p:nvSpPr>
        <p:spPr>
          <a:xfrm>
            <a:off x="5376551" y="5283762"/>
            <a:ext cx="1800200" cy="369332"/>
          </a:xfrm>
          <a:prstGeom prst="rect">
            <a:avLst/>
          </a:prstGeom>
          <a:noFill/>
        </p:spPr>
        <p:txBody>
          <a:bodyPr wrap="square" rtlCol="0">
            <a:spAutoFit/>
          </a:bodyPr>
          <a:lstStyle/>
          <a:p>
            <a:r>
              <a:rPr lang="hr-HR" dirty="0">
                <a:solidFill>
                  <a:schemeClr val="bg2">
                    <a:lumMod val="20000"/>
                    <a:lumOff val="80000"/>
                  </a:schemeClr>
                </a:solidFill>
              </a:rPr>
              <a:t>Prijatelji </a:t>
            </a:r>
          </a:p>
        </p:txBody>
      </p:sp>
      <p:sp>
        <p:nvSpPr>
          <p:cNvPr id="26" name="TextBox 25"/>
          <p:cNvSpPr txBox="1"/>
          <p:nvPr/>
        </p:nvSpPr>
        <p:spPr>
          <a:xfrm>
            <a:off x="8012276" y="4447445"/>
            <a:ext cx="1382053" cy="369332"/>
          </a:xfrm>
          <a:prstGeom prst="rect">
            <a:avLst/>
          </a:prstGeom>
          <a:noFill/>
        </p:spPr>
        <p:txBody>
          <a:bodyPr wrap="square" rtlCol="0">
            <a:spAutoFit/>
          </a:bodyPr>
          <a:lstStyle/>
          <a:p>
            <a:r>
              <a:rPr lang="hr-HR" dirty="0">
                <a:solidFill>
                  <a:schemeClr val="bg2">
                    <a:lumMod val="20000"/>
                    <a:lumOff val="80000"/>
                  </a:schemeClr>
                </a:solidFill>
              </a:rPr>
              <a:t>Kolege</a:t>
            </a:r>
            <a:r>
              <a:rPr lang="hr-HR" dirty="0"/>
              <a:t> </a:t>
            </a:r>
          </a:p>
        </p:txBody>
      </p:sp>
      <p:sp>
        <p:nvSpPr>
          <p:cNvPr id="27" name="TextBox 26"/>
          <p:cNvSpPr txBox="1"/>
          <p:nvPr/>
        </p:nvSpPr>
        <p:spPr>
          <a:xfrm>
            <a:off x="8535945" y="3628287"/>
            <a:ext cx="1924582" cy="369332"/>
          </a:xfrm>
          <a:prstGeom prst="rect">
            <a:avLst/>
          </a:prstGeom>
          <a:noFill/>
        </p:spPr>
        <p:txBody>
          <a:bodyPr wrap="square" rtlCol="0">
            <a:spAutoFit/>
          </a:bodyPr>
          <a:lstStyle/>
          <a:p>
            <a:r>
              <a:rPr lang="hr-HR" dirty="0">
                <a:solidFill>
                  <a:schemeClr val="bg2">
                    <a:lumMod val="20000"/>
                    <a:lumOff val="80000"/>
                  </a:schemeClr>
                </a:solidFill>
              </a:rPr>
              <a:t>Učenici</a:t>
            </a:r>
            <a:r>
              <a:rPr lang="hr-HR" dirty="0"/>
              <a:t> </a:t>
            </a:r>
          </a:p>
        </p:txBody>
      </p:sp>
    </p:spTree>
    <p:extLst>
      <p:ext uri="{BB962C8B-B14F-4D97-AF65-F5344CB8AC3E}">
        <p14:creationId xmlns:p14="http://schemas.microsoft.com/office/powerpoint/2010/main" val="22698086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4" grpId="0"/>
      <p:bldP spid="24" grpId="0"/>
      <p:bldP spid="26" grpId="0"/>
      <p:bldP spid="27"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hr-HR"/>
          </a:p>
        </p:txBody>
      </p:sp>
      <p:sp>
        <p:nvSpPr>
          <p:cNvPr id="3" name="Content Placeholder 2"/>
          <p:cNvSpPr>
            <a:spLocks noGrp="1"/>
          </p:cNvSpPr>
          <p:nvPr>
            <p:ph idx="1"/>
          </p:nvPr>
        </p:nvSpPr>
        <p:spPr>
          <a:xfrm>
            <a:off x="1104614" y="2052920"/>
            <a:ext cx="9815923" cy="4195481"/>
          </a:xfrm>
        </p:spPr>
        <p:txBody>
          <a:bodyPr>
            <a:normAutofit/>
          </a:bodyPr>
          <a:lstStyle/>
          <a:p>
            <a:r>
              <a:rPr lang="hr-HR" sz="2200" dirty="0"/>
              <a:t>S osobama s kojima smo u relativno stalnoj interakciji činimo DRUŠTVENE GRUPE</a:t>
            </a:r>
          </a:p>
          <a:p>
            <a:r>
              <a:rPr lang="hr-HR" sz="2200" dirty="0"/>
              <a:t>Sastoje se od dvoje ili više ljudi koji su u relativno trajnoj interakciji</a:t>
            </a:r>
          </a:p>
          <a:p>
            <a:endParaRPr lang="hr-HR" sz="2200" dirty="0"/>
          </a:p>
          <a:p>
            <a:r>
              <a:rPr lang="hr-HR" sz="2200" dirty="0"/>
              <a:t>Zaokružite crvenom bojom grupe kojima pripadate i imenujte ih</a:t>
            </a:r>
          </a:p>
        </p:txBody>
      </p:sp>
      <p:sp>
        <p:nvSpPr>
          <p:cNvPr id="4" name="Explosion 1 3"/>
          <p:cNvSpPr/>
          <p:nvPr/>
        </p:nvSpPr>
        <p:spPr>
          <a:xfrm>
            <a:off x="780577" y="3789040"/>
            <a:ext cx="648072" cy="504056"/>
          </a:xfrm>
          <a:prstGeom prst="irregularSeal1">
            <a:avLst/>
          </a:prstGeom>
          <a:solidFill>
            <a:schemeClr val="tx1"/>
          </a:solidFill>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Tree>
    <p:extLst>
      <p:ext uri="{BB962C8B-B14F-4D97-AF65-F5344CB8AC3E}">
        <p14:creationId xmlns:p14="http://schemas.microsoft.com/office/powerpoint/2010/main" val="2263006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hr-HR" dirty="0"/>
          </a:p>
        </p:txBody>
      </p:sp>
      <p:sp>
        <p:nvSpPr>
          <p:cNvPr id="3" name="Content Placeholder 2"/>
          <p:cNvSpPr>
            <a:spLocks noGrp="1"/>
          </p:cNvSpPr>
          <p:nvPr>
            <p:ph idx="1"/>
          </p:nvPr>
        </p:nvSpPr>
        <p:spPr/>
        <p:txBody>
          <a:bodyPr/>
          <a:lstStyle/>
          <a:p>
            <a:pPr marL="0" indent="0">
              <a:buNone/>
            </a:pPr>
            <a:endParaRPr lang="hr-HR" dirty="0"/>
          </a:p>
        </p:txBody>
      </p:sp>
      <p:sp>
        <p:nvSpPr>
          <p:cNvPr id="4" name="Rectangle 3"/>
          <p:cNvSpPr/>
          <p:nvPr/>
        </p:nvSpPr>
        <p:spPr>
          <a:xfrm>
            <a:off x="911424" y="1052736"/>
            <a:ext cx="9505056" cy="561662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ln>
                <a:solidFill>
                  <a:srgbClr val="B01513"/>
                </a:solidFill>
              </a:ln>
              <a:noFill/>
            </a:endParaRPr>
          </a:p>
        </p:txBody>
      </p:sp>
      <p:sp>
        <p:nvSpPr>
          <p:cNvPr id="5" name="TextBox 4"/>
          <p:cNvSpPr txBox="1"/>
          <p:nvPr/>
        </p:nvSpPr>
        <p:spPr>
          <a:xfrm>
            <a:off x="5281028" y="3612898"/>
            <a:ext cx="936104" cy="400110"/>
          </a:xfrm>
          <a:prstGeom prst="rect">
            <a:avLst/>
          </a:prstGeom>
          <a:noFill/>
        </p:spPr>
        <p:txBody>
          <a:bodyPr wrap="square" rtlCol="0">
            <a:spAutoFit/>
          </a:bodyPr>
          <a:lstStyle/>
          <a:p>
            <a:r>
              <a:rPr lang="hr-HR" sz="2000" b="1" dirty="0">
                <a:solidFill>
                  <a:schemeClr val="accent1"/>
                </a:solidFill>
              </a:rPr>
              <a:t>MAJA</a:t>
            </a:r>
          </a:p>
        </p:txBody>
      </p:sp>
      <p:sp>
        <p:nvSpPr>
          <p:cNvPr id="8" name="Right Arrow 7"/>
          <p:cNvSpPr/>
          <p:nvPr/>
        </p:nvSpPr>
        <p:spPr>
          <a:xfrm rot="16200000">
            <a:off x="5557903" y="3136151"/>
            <a:ext cx="472163" cy="2312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9" name="TextBox 8"/>
          <p:cNvSpPr txBox="1"/>
          <p:nvPr/>
        </p:nvSpPr>
        <p:spPr>
          <a:xfrm>
            <a:off x="5513565" y="2589352"/>
            <a:ext cx="792088" cy="369332"/>
          </a:xfrm>
          <a:prstGeom prst="rect">
            <a:avLst/>
          </a:prstGeom>
          <a:noFill/>
        </p:spPr>
        <p:txBody>
          <a:bodyPr wrap="square" rtlCol="0">
            <a:spAutoFit/>
          </a:bodyPr>
          <a:lstStyle/>
          <a:p>
            <a:r>
              <a:rPr lang="hr-HR" dirty="0"/>
              <a:t>KĆI</a:t>
            </a:r>
          </a:p>
        </p:txBody>
      </p:sp>
      <p:sp>
        <p:nvSpPr>
          <p:cNvPr id="10" name="Right Arrow 9"/>
          <p:cNvSpPr/>
          <p:nvPr/>
        </p:nvSpPr>
        <p:spPr>
          <a:xfrm rot="13065247">
            <a:off x="4883018" y="3213701"/>
            <a:ext cx="472163" cy="2312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11" name="TextBox 10"/>
          <p:cNvSpPr txBox="1"/>
          <p:nvPr/>
        </p:nvSpPr>
        <p:spPr>
          <a:xfrm>
            <a:off x="4075983" y="2726297"/>
            <a:ext cx="1008112" cy="369332"/>
          </a:xfrm>
          <a:prstGeom prst="rect">
            <a:avLst/>
          </a:prstGeom>
          <a:noFill/>
        </p:spPr>
        <p:txBody>
          <a:bodyPr wrap="square" rtlCol="0">
            <a:spAutoFit/>
          </a:bodyPr>
          <a:lstStyle/>
          <a:p>
            <a:r>
              <a:rPr lang="hr-HR" dirty="0"/>
              <a:t>MAJKA</a:t>
            </a:r>
          </a:p>
        </p:txBody>
      </p:sp>
      <p:sp>
        <p:nvSpPr>
          <p:cNvPr id="12" name="Right Arrow 11"/>
          <p:cNvSpPr/>
          <p:nvPr/>
        </p:nvSpPr>
        <p:spPr>
          <a:xfrm rot="10800000">
            <a:off x="4625566" y="3740009"/>
            <a:ext cx="472163" cy="2312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13" name="TextBox 12"/>
          <p:cNvSpPr txBox="1"/>
          <p:nvPr/>
        </p:nvSpPr>
        <p:spPr>
          <a:xfrm>
            <a:off x="2870523" y="3704161"/>
            <a:ext cx="1345317" cy="369332"/>
          </a:xfrm>
          <a:prstGeom prst="rect">
            <a:avLst/>
          </a:prstGeom>
          <a:noFill/>
        </p:spPr>
        <p:txBody>
          <a:bodyPr wrap="square" rtlCol="0">
            <a:spAutoFit/>
          </a:bodyPr>
          <a:lstStyle/>
          <a:p>
            <a:r>
              <a:rPr lang="hr-HR" dirty="0"/>
              <a:t>SUPRUGA</a:t>
            </a:r>
          </a:p>
        </p:txBody>
      </p:sp>
      <p:sp>
        <p:nvSpPr>
          <p:cNvPr id="15" name="Right Arrow 14"/>
          <p:cNvSpPr/>
          <p:nvPr/>
        </p:nvSpPr>
        <p:spPr>
          <a:xfrm rot="8695628">
            <a:off x="4848015" y="4180902"/>
            <a:ext cx="472163" cy="2312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16" name="TextBox 15"/>
          <p:cNvSpPr txBox="1"/>
          <p:nvPr/>
        </p:nvSpPr>
        <p:spPr>
          <a:xfrm>
            <a:off x="3652645" y="4682025"/>
            <a:ext cx="1512168" cy="369332"/>
          </a:xfrm>
          <a:prstGeom prst="rect">
            <a:avLst/>
          </a:prstGeom>
          <a:noFill/>
        </p:spPr>
        <p:txBody>
          <a:bodyPr wrap="square" rtlCol="0">
            <a:spAutoFit/>
          </a:bodyPr>
          <a:lstStyle/>
          <a:p>
            <a:r>
              <a:rPr lang="hr-HR" dirty="0"/>
              <a:t>SLIKARICA</a:t>
            </a:r>
          </a:p>
        </p:txBody>
      </p:sp>
      <p:sp>
        <p:nvSpPr>
          <p:cNvPr id="17" name="Right Arrow 16"/>
          <p:cNvSpPr/>
          <p:nvPr/>
        </p:nvSpPr>
        <p:spPr>
          <a:xfrm rot="5400000">
            <a:off x="5557902" y="4304590"/>
            <a:ext cx="472163" cy="2312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18" name="TextBox 17"/>
          <p:cNvSpPr txBox="1"/>
          <p:nvPr/>
        </p:nvSpPr>
        <p:spPr>
          <a:xfrm>
            <a:off x="5021609" y="4935254"/>
            <a:ext cx="1728192" cy="369332"/>
          </a:xfrm>
          <a:prstGeom prst="rect">
            <a:avLst/>
          </a:prstGeom>
          <a:noFill/>
        </p:spPr>
        <p:txBody>
          <a:bodyPr wrap="square" rtlCol="0">
            <a:spAutoFit/>
          </a:bodyPr>
          <a:lstStyle/>
          <a:p>
            <a:r>
              <a:rPr lang="hr-HR" dirty="0"/>
              <a:t>PRIJATELJICA</a:t>
            </a:r>
          </a:p>
        </p:txBody>
      </p:sp>
      <p:sp>
        <p:nvSpPr>
          <p:cNvPr id="19" name="Right Arrow 18"/>
          <p:cNvSpPr/>
          <p:nvPr/>
        </p:nvSpPr>
        <p:spPr>
          <a:xfrm rot="1715132">
            <a:off x="6189749" y="4165104"/>
            <a:ext cx="472163" cy="2312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20" name="TextBox 19"/>
          <p:cNvSpPr txBox="1"/>
          <p:nvPr/>
        </p:nvSpPr>
        <p:spPr>
          <a:xfrm>
            <a:off x="6606061" y="4442993"/>
            <a:ext cx="1553981" cy="378239"/>
          </a:xfrm>
          <a:prstGeom prst="rect">
            <a:avLst/>
          </a:prstGeom>
          <a:noFill/>
        </p:spPr>
        <p:txBody>
          <a:bodyPr wrap="square" rtlCol="0">
            <a:spAutoFit/>
          </a:bodyPr>
          <a:lstStyle/>
          <a:p>
            <a:r>
              <a:rPr lang="hr-HR" dirty="0"/>
              <a:t>KOLEGICA</a:t>
            </a:r>
          </a:p>
        </p:txBody>
      </p:sp>
      <p:sp>
        <p:nvSpPr>
          <p:cNvPr id="21" name="Right Arrow 20"/>
          <p:cNvSpPr/>
          <p:nvPr/>
        </p:nvSpPr>
        <p:spPr>
          <a:xfrm>
            <a:off x="6372024" y="3697384"/>
            <a:ext cx="472163" cy="2312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22" name="TextBox 21"/>
          <p:cNvSpPr txBox="1"/>
          <p:nvPr/>
        </p:nvSpPr>
        <p:spPr>
          <a:xfrm>
            <a:off x="6887794" y="3628287"/>
            <a:ext cx="1939780" cy="369332"/>
          </a:xfrm>
          <a:prstGeom prst="rect">
            <a:avLst/>
          </a:prstGeom>
          <a:noFill/>
        </p:spPr>
        <p:txBody>
          <a:bodyPr wrap="square" rtlCol="0">
            <a:spAutoFit/>
          </a:bodyPr>
          <a:lstStyle/>
          <a:p>
            <a:r>
              <a:rPr lang="hr-HR" dirty="0"/>
              <a:t>NASTAVNICA</a:t>
            </a:r>
          </a:p>
        </p:txBody>
      </p:sp>
      <p:sp>
        <p:nvSpPr>
          <p:cNvPr id="6" name="TextBox 5"/>
          <p:cNvSpPr txBox="1"/>
          <p:nvPr/>
        </p:nvSpPr>
        <p:spPr>
          <a:xfrm>
            <a:off x="5151007" y="2156643"/>
            <a:ext cx="1285950" cy="369332"/>
          </a:xfrm>
          <a:prstGeom prst="rect">
            <a:avLst/>
          </a:prstGeom>
          <a:noFill/>
        </p:spPr>
        <p:txBody>
          <a:bodyPr wrap="square" rtlCol="0">
            <a:spAutoFit/>
          </a:bodyPr>
          <a:lstStyle/>
          <a:p>
            <a:r>
              <a:rPr lang="hr-HR" dirty="0">
                <a:solidFill>
                  <a:schemeClr val="bg2">
                    <a:lumMod val="20000"/>
                    <a:lumOff val="80000"/>
                  </a:schemeClr>
                </a:solidFill>
              </a:rPr>
              <a:t>Roditelji</a:t>
            </a:r>
            <a:r>
              <a:rPr lang="hr-HR" dirty="0"/>
              <a:t> </a:t>
            </a:r>
          </a:p>
        </p:txBody>
      </p:sp>
      <p:sp>
        <p:nvSpPr>
          <p:cNvPr id="7" name="TextBox 6"/>
          <p:cNvSpPr txBox="1"/>
          <p:nvPr/>
        </p:nvSpPr>
        <p:spPr>
          <a:xfrm>
            <a:off x="3170168" y="2700648"/>
            <a:ext cx="888617" cy="369332"/>
          </a:xfrm>
          <a:prstGeom prst="rect">
            <a:avLst/>
          </a:prstGeom>
          <a:noFill/>
        </p:spPr>
        <p:txBody>
          <a:bodyPr wrap="square" rtlCol="0">
            <a:spAutoFit/>
          </a:bodyPr>
          <a:lstStyle/>
          <a:p>
            <a:r>
              <a:rPr lang="hr-HR" dirty="0">
                <a:solidFill>
                  <a:schemeClr val="bg2">
                    <a:lumMod val="20000"/>
                    <a:lumOff val="80000"/>
                  </a:schemeClr>
                </a:solidFill>
              </a:rPr>
              <a:t>Djeca</a:t>
            </a:r>
            <a:r>
              <a:rPr lang="hr-HR" dirty="0"/>
              <a:t> </a:t>
            </a:r>
          </a:p>
        </p:txBody>
      </p:sp>
      <p:sp>
        <p:nvSpPr>
          <p:cNvPr id="14" name="TextBox 13"/>
          <p:cNvSpPr txBox="1"/>
          <p:nvPr/>
        </p:nvSpPr>
        <p:spPr>
          <a:xfrm>
            <a:off x="1854640" y="3670969"/>
            <a:ext cx="1191491" cy="369332"/>
          </a:xfrm>
          <a:prstGeom prst="rect">
            <a:avLst/>
          </a:prstGeom>
          <a:noFill/>
        </p:spPr>
        <p:txBody>
          <a:bodyPr wrap="square" rtlCol="0">
            <a:spAutoFit/>
          </a:bodyPr>
          <a:lstStyle/>
          <a:p>
            <a:r>
              <a:rPr lang="hr-HR" dirty="0">
                <a:solidFill>
                  <a:schemeClr val="bg2">
                    <a:lumMod val="20000"/>
                    <a:lumOff val="80000"/>
                  </a:schemeClr>
                </a:solidFill>
              </a:rPr>
              <a:t>Suprug</a:t>
            </a:r>
            <a:r>
              <a:rPr lang="hr-HR" dirty="0"/>
              <a:t> </a:t>
            </a:r>
          </a:p>
        </p:txBody>
      </p:sp>
      <p:sp>
        <p:nvSpPr>
          <p:cNvPr id="24" name="TextBox 23"/>
          <p:cNvSpPr txBox="1"/>
          <p:nvPr/>
        </p:nvSpPr>
        <p:spPr>
          <a:xfrm>
            <a:off x="1883948" y="4670200"/>
            <a:ext cx="2336474" cy="369332"/>
          </a:xfrm>
          <a:prstGeom prst="rect">
            <a:avLst/>
          </a:prstGeom>
          <a:noFill/>
        </p:spPr>
        <p:txBody>
          <a:bodyPr wrap="square" rtlCol="0">
            <a:spAutoFit/>
          </a:bodyPr>
          <a:lstStyle/>
          <a:p>
            <a:r>
              <a:rPr lang="hr-HR" dirty="0">
                <a:solidFill>
                  <a:schemeClr val="bg2">
                    <a:lumMod val="20000"/>
                    <a:lumOff val="80000"/>
                  </a:schemeClr>
                </a:solidFill>
              </a:rPr>
              <a:t>Slikari/umjetnici</a:t>
            </a:r>
          </a:p>
        </p:txBody>
      </p:sp>
      <p:sp>
        <p:nvSpPr>
          <p:cNvPr id="25" name="TextBox 24"/>
          <p:cNvSpPr txBox="1"/>
          <p:nvPr/>
        </p:nvSpPr>
        <p:spPr>
          <a:xfrm>
            <a:off x="5376551" y="5283762"/>
            <a:ext cx="1800200" cy="369332"/>
          </a:xfrm>
          <a:prstGeom prst="rect">
            <a:avLst/>
          </a:prstGeom>
          <a:noFill/>
        </p:spPr>
        <p:txBody>
          <a:bodyPr wrap="square" rtlCol="0">
            <a:spAutoFit/>
          </a:bodyPr>
          <a:lstStyle/>
          <a:p>
            <a:r>
              <a:rPr lang="hr-HR" dirty="0">
                <a:solidFill>
                  <a:schemeClr val="bg2">
                    <a:lumMod val="20000"/>
                    <a:lumOff val="80000"/>
                  </a:schemeClr>
                </a:solidFill>
              </a:rPr>
              <a:t>Prijatelji </a:t>
            </a:r>
          </a:p>
        </p:txBody>
      </p:sp>
      <p:sp>
        <p:nvSpPr>
          <p:cNvPr id="26" name="TextBox 25"/>
          <p:cNvSpPr txBox="1"/>
          <p:nvPr/>
        </p:nvSpPr>
        <p:spPr>
          <a:xfrm>
            <a:off x="8012276" y="4447445"/>
            <a:ext cx="1382053" cy="369332"/>
          </a:xfrm>
          <a:prstGeom prst="rect">
            <a:avLst/>
          </a:prstGeom>
          <a:noFill/>
        </p:spPr>
        <p:txBody>
          <a:bodyPr wrap="square" rtlCol="0">
            <a:spAutoFit/>
          </a:bodyPr>
          <a:lstStyle/>
          <a:p>
            <a:r>
              <a:rPr lang="hr-HR" dirty="0">
                <a:solidFill>
                  <a:schemeClr val="bg2">
                    <a:lumMod val="20000"/>
                    <a:lumOff val="80000"/>
                  </a:schemeClr>
                </a:solidFill>
              </a:rPr>
              <a:t>Kolege</a:t>
            </a:r>
            <a:r>
              <a:rPr lang="hr-HR" dirty="0"/>
              <a:t> </a:t>
            </a:r>
          </a:p>
        </p:txBody>
      </p:sp>
      <p:sp>
        <p:nvSpPr>
          <p:cNvPr id="27" name="TextBox 26"/>
          <p:cNvSpPr txBox="1"/>
          <p:nvPr/>
        </p:nvSpPr>
        <p:spPr>
          <a:xfrm>
            <a:off x="8535945" y="3628287"/>
            <a:ext cx="1924582" cy="369332"/>
          </a:xfrm>
          <a:prstGeom prst="rect">
            <a:avLst/>
          </a:prstGeom>
          <a:noFill/>
        </p:spPr>
        <p:txBody>
          <a:bodyPr wrap="square" rtlCol="0">
            <a:spAutoFit/>
          </a:bodyPr>
          <a:lstStyle/>
          <a:p>
            <a:r>
              <a:rPr lang="hr-HR" dirty="0">
                <a:solidFill>
                  <a:schemeClr val="bg2">
                    <a:lumMod val="20000"/>
                    <a:lumOff val="80000"/>
                  </a:schemeClr>
                </a:solidFill>
              </a:rPr>
              <a:t>Učenici</a:t>
            </a:r>
            <a:r>
              <a:rPr lang="hr-HR" dirty="0"/>
              <a:t> </a:t>
            </a:r>
          </a:p>
        </p:txBody>
      </p:sp>
      <p:sp>
        <p:nvSpPr>
          <p:cNvPr id="23" name="Oval 22"/>
          <p:cNvSpPr/>
          <p:nvPr/>
        </p:nvSpPr>
        <p:spPr>
          <a:xfrm rot="20190612">
            <a:off x="1492471" y="2097920"/>
            <a:ext cx="4994269" cy="1995792"/>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28" name="TextBox 27"/>
          <p:cNvSpPr txBox="1"/>
          <p:nvPr/>
        </p:nvSpPr>
        <p:spPr>
          <a:xfrm>
            <a:off x="4473704" y="1356828"/>
            <a:ext cx="2160240" cy="369332"/>
          </a:xfrm>
          <a:prstGeom prst="rect">
            <a:avLst/>
          </a:prstGeom>
          <a:noFill/>
        </p:spPr>
        <p:txBody>
          <a:bodyPr wrap="square" rtlCol="0">
            <a:spAutoFit/>
          </a:bodyPr>
          <a:lstStyle/>
          <a:p>
            <a:r>
              <a:rPr lang="hr-HR" b="1" dirty="0">
                <a:solidFill>
                  <a:srgbClr val="FF0000"/>
                </a:solidFill>
              </a:rPr>
              <a:t>OBITELJ</a:t>
            </a:r>
          </a:p>
        </p:txBody>
      </p:sp>
      <p:sp>
        <p:nvSpPr>
          <p:cNvPr id="29" name="Oval 28"/>
          <p:cNvSpPr/>
          <p:nvPr/>
        </p:nvSpPr>
        <p:spPr>
          <a:xfrm>
            <a:off x="1572725" y="4442992"/>
            <a:ext cx="3443723" cy="930412"/>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30" name="TextBox 29"/>
          <p:cNvSpPr txBox="1"/>
          <p:nvPr/>
        </p:nvSpPr>
        <p:spPr>
          <a:xfrm>
            <a:off x="2371392" y="5394201"/>
            <a:ext cx="2343577" cy="369332"/>
          </a:xfrm>
          <a:prstGeom prst="rect">
            <a:avLst/>
          </a:prstGeom>
          <a:noFill/>
        </p:spPr>
        <p:txBody>
          <a:bodyPr wrap="square" rtlCol="0">
            <a:spAutoFit/>
          </a:bodyPr>
          <a:lstStyle/>
          <a:p>
            <a:r>
              <a:rPr lang="hr-HR" b="1" dirty="0">
                <a:solidFill>
                  <a:srgbClr val="FF0000"/>
                </a:solidFill>
              </a:rPr>
              <a:t>UMJETNICI</a:t>
            </a:r>
          </a:p>
        </p:txBody>
      </p:sp>
      <p:sp>
        <p:nvSpPr>
          <p:cNvPr id="31" name="Oval 30"/>
          <p:cNvSpPr/>
          <p:nvPr/>
        </p:nvSpPr>
        <p:spPr>
          <a:xfrm>
            <a:off x="4861646" y="4721612"/>
            <a:ext cx="2079800" cy="1054483"/>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32" name="TextBox 31"/>
          <p:cNvSpPr txBox="1"/>
          <p:nvPr/>
        </p:nvSpPr>
        <p:spPr>
          <a:xfrm>
            <a:off x="5271241" y="5862116"/>
            <a:ext cx="2741034" cy="369332"/>
          </a:xfrm>
          <a:prstGeom prst="rect">
            <a:avLst/>
          </a:prstGeom>
          <a:noFill/>
        </p:spPr>
        <p:txBody>
          <a:bodyPr wrap="square" rtlCol="0">
            <a:spAutoFit/>
          </a:bodyPr>
          <a:lstStyle/>
          <a:p>
            <a:r>
              <a:rPr lang="hr-HR" b="1" dirty="0">
                <a:solidFill>
                  <a:srgbClr val="FF0000"/>
                </a:solidFill>
              </a:rPr>
              <a:t>PRIJATELJI</a:t>
            </a:r>
          </a:p>
        </p:txBody>
      </p:sp>
      <p:sp>
        <p:nvSpPr>
          <p:cNvPr id="33" name="Oval 32"/>
          <p:cNvSpPr/>
          <p:nvPr/>
        </p:nvSpPr>
        <p:spPr>
          <a:xfrm>
            <a:off x="6601876" y="4249306"/>
            <a:ext cx="2319970" cy="858889"/>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34" name="TextBox 33"/>
          <p:cNvSpPr txBox="1"/>
          <p:nvPr/>
        </p:nvSpPr>
        <p:spPr>
          <a:xfrm>
            <a:off x="7474628" y="5256490"/>
            <a:ext cx="2376264" cy="369332"/>
          </a:xfrm>
          <a:prstGeom prst="rect">
            <a:avLst/>
          </a:prstGeom>
          <a:noFill/>
        </p:spPr>
        <p:txBody>
          <a:bodyPr wrap="square" rtlCol="0">
            <a:spAutoFit/>
          </a:bodyPr>
          <a:lstStyle/>
          <a:p>
            <a:r>
              <a:rPr lang="hr-HR" b="1" dirty="0">
                <a:solidFill>
                  <a:srgbClr val="FF0000"/>
                </a:solidFill>
              </a:rPr>
              <a:t>KOLEKTIV</a:t>
            </a:r>
          </a:p>
        </p:txBody>
      </p:sp>
      <p:sp>
        <p:nvSpPr>
          <p:cNvPr id="35" name="Oval 34"/>
          <p:cNvSpPr/>
          <p:nvPr/>
        </p:nvSpPr>
        <p:spPr>
          <a:xfrm>
            <a:off x="6843349" y="3361623"/>
            <a:ext cx="2781043" cy="858889"/>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36" name="TextBox 35"/>
          <p:cNvSpPr txBox="1"/>
          <p:nvPr/>
        </p:nvSpPr>
        <p:spPr>
          <a:xfrm>
            <a:off x="7748801" y="2939012"/>
            <a:ext cx="2223361" cy="369332"/>
          </a:xfrm>
          <a:prstGeom prst="rect">
            <a:avLst/>
          </a:prstGeom>
          <a:noFill/>
        </p:spPr>
        <p:txBody>
          <a:bodyPr wrap="square" rtlCol="0">
            <a:spAutoFit/>
          </a:bodyPr>
          <a:lstStyle/>
          <a:p>
            <a:r>
              <a:rPr lang="hr-HR" b="1" dirty="0">
                <a:solidFill>
                  <a:srgbClr val="FF0000"/>
                </a:solidFill>
              </a:rPr>
              <a:t>RAZRED</a:t>
            </a:r>
          </a:p>
        </p:txBody>
      </p:sp>
    </p:spTree>
    <p:extLst>
      <p:ext uri="{BB962C8B-B14F-4D97-AF65-F5344CB8AC3E}">
        <p14:creationId xmlns:p14="http://schemas.microsoft.com/office/powerpoint/2010/main" val="2219822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8" grpId="0"/>
      <p:bldP spid="29" grpId="0" animBg="1"/>
      <p:bldP spid="30" grpId="0"/>
      <p:bldP spid="31" grpId="0" animBg="1"/>
      <p:bldP spid="32" grpId="0"/>
      <p:bldP spid="33" grpId="0" animBg="1"/>
      <p:bldP spid="34" grpId="0"/>
      <p:bldP spid="35" grpId="0" animBg="1"/>
      <p:bldP spid="36"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hr-HR"/>
          </a:p>
        </p:txBody>
      </p:sp>
      <p:sp>
        <p:nvSpPr>
          <p:cNvPr id="3" name="Content Placeholder 2"/>
          <p:cNvSpPr>
            <a:spLocks noGrp="1"/>
          </p:cNvSpPr>
          <p:nvPr>
            <p:ph idx="1"/>
          </p:nvPr>
        </p:nvSpPr>
        <p:spPr/>
        <p:txBody>
          <a:bodyPr>
            <a:normAutofit/>
          </a:bodyPr>
          <a:lstStyle/>
          <a:p>
            <a:r>
              <a:rPr lang="hr-HR" sz="2200" dirty="0">
                <a:solidFill>
                  <a:schemeClr val="accent1">
                    <a:lumMod val="20000"/>
                    <a:lumOff val="80000"/>
                  </a:schemeClr>
                </a:solidFill>
              </a:rPr>
              <a:t>DRUŠTVENA GRUPA </a:t>
            </a:r>
            <a:r>
              <a:rPr lang="hr-HR" sz="2200" dirty="0"/>
              <a:t>– u pravilu više od dvije osobe. Npr. osim roditelja i djece</a:t>
            </a:r>
            <a:r>
              <a:rPr lang="en-US" sz="2200" dirty="0"/>
              <a:t>,</a:t>
            </a:r>
            <a:r>
              <a:rPr lang="hr-HR" sz="2200" dirty="0"/>
              <a:t> obitelj čine i bake, djedovi, tetke, strine, bratići...</a:t>
            </a:r>
          </a:p>
          <a:p>
            <a:r>
              <a:rPr lang="hr-HR" sz="2200" dirty="0"/>
              <a:t>Svi su u međusobnoj interakciji</a:t>
            </a:r>
          </a:p>
          <a:p>
            <a:r>
              <a:rPr lang="hr-HR" sz="2200" dirty="0"/>
              <a:t>Članovi društvenih grupa u pravilu se redovito viđaju i komuniciraju, no nije nužno</a:t>
            </a:r>
          </a:p>
          <a:p>
            <a:r>
              <a:rPr lang="hr-HR" sz="2200" dirty="0"/>
              <a:t>Pripadnici društvene grupe dijele osjećaj pripadnosti i zajednički idenititet</a:t>
            </a:r>
          </a:p>
        </p:txBody>
      </p:sp>
    </p:spTree>
    <p:extLst>
      <p:ext uri="{BB962C8B-B14F-4D97-AF65-F5344CB8AC3E}">
        <p14:creationId xmlns:p14="http://schemas.microsoft.com/office/powerpoint/2010/main" val="5198333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hr-HR"/>
          </a:p>
        </p:txBody>
      </p:sp>
      <p:sp>
        <p:nvSpPr>
          <p:cNvPr id="3" name="Content Placeholder 2"/>
          <p:cNvSpPr>
            <a:spLocks noGrp="1"/>
          </p:cNvSpPr>
          <p:nvPr>
            <p:ph idx="1"/>
          </p:nvPr>
        </p:nvSpPr>
        <p:spPr>
          <a:xfrm>
            <a:off x="1104614" y="692697"/>
            <a:ext cx="8944211" cy="5555704"/>
          </a:xfrm>
        </p:spPr>
        <p:txBody>
          <a:bodyPr>
            <a:normAutofit/>
          </a:bodyPr>
          <a:lstStyle/>
          <a:p>
            <a:r>
              <a:rPr lang="hr-HR" sz="2200" dirty="0"/>
              <a:t>Grupe kojima pripadamo nemaju za nas jednaku važnost</a:t>
            </a:r>
          </a:p>
          <a:p>
            <a:r>
              <a:rPr lang="hr-HR" sz="2200" dirty="0"/>
              <a:t>Koje grupe koje ste napisali su za vas važnije, odnosno manje važne?</a:t>
            </a:r>
          </a:p>
          <a:p>
            <a:r>
              <a:rPr lang="hr-HR" sz="2200" dirty="0"/>
              <a:t>Opišite razlike među grupama na slikama</a:t>
            </a:r>
          </a:p>
        </p:txBody>
      </p:sp>
      <p:pic>
        <p:nvPicPr>
          <p:cNvPr id="16386" name="Picture 2" descr="Friendship: new study reveals formula for building a lasting bon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1344" y="3268575"/>
            <a:ext cx="4798394" cy="3198929"/>
          </a:xfrm>
          <a:prstGeom prst="rect">
            <a:avLst/>
          </a:prstGeom>
          <a:noFill/>
          <a:extLst>
            <a:ext uri="{909E8E84-426E-40DD-AFC4-6F175D3DCCD1}">
              <a14:hiddenFill xmlns:a14="http://schemas.microsoft.com/office/drawing/2010/main">
                <a:solidFill>
                  <a:srgbClr val="FFFFFF"/>
                </a:solidFill>
              </a14:hiddenFill>
            </a:ext>
          </a:extLst>
        </p:spPr>
      </p:pic>
      <p:pic>
        <p:nvPicPr>
          <p:cNvPr id="16388" name="Picture 4" descr="Clinical Lab - Doctors Hospita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68008" y="3295919"/>
            <a:ext cx="5482282" cy="3176149"/>
          </a:xfrm>
          <a:prstGeom prst="rect">
            <a:avLst/>
          </a:prstGeom>
          <a:noFill/>
          <a:extLst>
            <a:ext uri="{909E8E84-426E-40DD-AFC4-6F175D3DCCD1}">
              <a14:hiddenFill xmlns:a14="http://schemas.microsoft.com/office/drawing/2010/main">
                <a:solidFill>
                  <a:srgbClr val="FFFFFF"/>
                </a:solidFill>
              </a14:hiddenFill>
            </a:ext>
          </a:extLst>
        </p:spPr>
      </p:pic>
      <p:sp>
        <p:nvSpPr>
          <p:cNvPr id="6" name="Explosion 1 5"/>
          <p:cNvSpPr/>
          <p:nvPr/>
        </p:nvSpPr>
        <p:spPr>
          <a:xfrm>
            <a:off x="911424" y="1916832"/>
            <a:ext cx="648072" cy="504056"/>
          </a:xfrm>
          <a:prstGeom prst="irregularSeal1">
            <a:avLst/>
          </a:prstGeom>
          <a:solidFill>
            <a:schemeClr val="tx1"/>
          </a:solidFill>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Tree>
    <p:extLst>
      <p:ext uri="{BB962C8B-B14F-4D97-AF65-F5344CB8AC3E}">
        <p14:creationId xmlns:p14="http://schemas.microsoft.com/office/powerpoint/2010/main" val="20873349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38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38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hr-HR" dirty="0"/>
          </a:p>
        </p:txBody>
      </p:sp>
      <p:sp>
        <p:nvSpPr>
          <p:cNvPr id="3" name="Content Placeholder 2"/>
          <p:cNvSpPr>
            <a:spLocks noGrp="1"/>
          </p:cNvSpPr>
          <p:nvPr>
            <p:ph idx="1"/>
          </p:nvPr>
        </p:nvSpPr>
        <p:spPr>
          <a:xfrm>
            <a:off x="4147160" y="116633"/>
            <a:ext cx="7925505" cy="6131769"/>
          </a:xfrm>
        </p:spPr>
        <p:txBody>
          <a:bodyPr>
            <a:normAutofit/>
          </a:bodyPr>
          <a:lstStyle/>
          <a:p>
            <a:r>
              <a:rPr lang="hr-HR" sz="2200" dirty="0"/>
              <a:t>U</a:t>
            </a:r>
            <a:r>
              <a:rPr lang="en-US" sz="2200" dirty="0"/>
              <a:t> </a:t>
            </a:r>
            <a:r>
              <a:rPr lang="en-US" sz="2200" dirty="0" err="1"/>
              <a:t>gornjem</a:t>
            </a:r>
            <a:r>
              <a:rPr lang="en-US" sz="2200" dirty="0"/>
              <a:t> </a:t>
            </a:r>
            <a:r>
              <a:rPr lang="en-US" sz="2200" dirty="0" err="1"/>
              <a:t>desnom</a:t>
            </a:r>
            <a:r>
              <a:rPr lang="en-US" sz="2200" dirty="0"/>
              <a:t> </a:t>
            </a:r>
            <a:r>
              <a:rPr lang="en-US" sz="2200" dirty="0" err="1"/>
              <a:t>kutu</a:t>
            </a:r>
            <a:r>
              <a:rPr lang="en-US" sz="2200" dirty="0"/>
              <a:t> </a:t>
            </a:r>
            <a:r>
              <a:rPr lang="en-US" sz="2200" dirty="0" err="1"/>
              <a:t>umne</a:t>
            </a:r>
            <a:r>
              <a:rPr lang="en-US" sz="2200" dirty="0"/>
              <a:t> </a:t>
            </a:r>
            <a:r>
              <a:rPr lang="en-US" sz="2200" dirty="0" err="1"/>
              <a:t>mape</a:t>
            </a:r>
            <a:r>
              <a:rPr lang="en-US" sz="2200" dirty="0"/>
              <a:t> </a:t>
            </a:r>
            <a:r>
              <a:rPr lang="en-US" sz="2200" dirty="0" err="1"/>
              <a:t>napišite</a:t>
            </a:r>
            <a:r>
              <a:rPr lang="hr-HR" sz="2200" dirty="0"/>
              <a:t> primjer PRIJATELJICE i primjer KOLEGE NA POSLU</a:t>
            </a:r>
            <a:r>
              <a:rPr lang="en-US" sz="2200" dirty="0"/>
              <a:t>  </a:t>
            </a:r>
            <a:endParaRPr lang="hr-HR" sz="2200" dirty="0"/>
          </a:p>
          <a:p>
            <a:r>
              <a:rPr lang="hr-HR" sz="2200" dirty="0"/>
              <a:t>Ispod tih primjera napišite značajke društvenih grupa.</a:t>
            </a:r>
          </a:p>
          <a:p>
            <a:r>
              <a:rPr lang="hr-HR" sz="2200" dirty="0"/>
              <a:t>Odredite koja je :</a:t>
            </a:r>
            <a:endParaRPr lang="en-US" sz="2200" dirty="0"/>
          </a:p>
          <a:p>
            <a:pPr marL="0" indent="0">
              <a:buNone/>
            </a:pPr>
            <a:endParaRPr lang="en-US" sz="2200" dirty="0"/>
          </a:p>
          <a:p>
            <a:pPr marL="0" indent="0">
              <a:buNone/>
            </a:pPr>
            <a:r>
              <a:rPr lang="en-US" sz="2200" dirty="0"/>
              <a:t>               </a:t>
            </a:r>
            <a:endParaRPr lang="hr-HR" sz="2200" dirty="0"/>
          </a:p>
        </p:txBody>
      </p:sp>
      <p:sp>
        <p:nvSpPr>
          <p:cNvPr id="4" name="Explosion 1 3"/>
          <p:cNvSpPr/>
          <p:nvPr/>
        </p:nvSpPr>
        <p:spPr>
          <a:xfrm>
            <a:off x="60461" y="376473"/>
            <a:ext cx="648072" cy="504056"/>
          </a:xfrm>
          <a:prstGeom prst="irregularSeal1">
            <a:avLst/>
          </a:prstGeom>
          <a:solidFill>
            <a:schemeClr val="tx1"/>
          </a:solidFill>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pic>
        <p:nvPicPr>
          <p:cNvPr id="5" name="Picture 2" descr="Friendship: new study reveals formula for building a lasting bon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9799" y="1496892"/>
            <a:ext cx="3934869" cy="262324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Clinical Lab - Doctors Hospita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699" y="4453243"/>
            <a:ext cx="4097071" cy="2373630"/>
          </a:xfrm>
          <a:prstGeom prst="rect">
            <a:avLst/>
          </a:prstGeom>
          <a:noFill/>
          <a:extLst>
            <a:ext uri="{909E8E84-426E-40DD-AFC4-6F175D3DCCD1}">
              <a14:hiddenFill xmlns:a14="http://schemas.microsoft.com/office/drawing/2010/main">
                <a:solidFill>
                  <a:srgbClr val="FFFFFF"/>
                </a:solidFill>
              </a14:hiddenFill>
            </a:ext>
          </a:extLst>
        </p:spPr>
      </p:pic>
      <p:sp>
        <p:nvSpPr>
          <p:cNvPr id="7" name="Oval 6"/>
          <p:cNvSpPr/>
          <p:nvPr/>
        </p:nvSpPr>
        <p:spPr>
          <a:xfrm>
            <a:off x="4138568" y="1952011"/>
            <a:ext cx="1440160" cy="763146"/>
          </a:xfrm>
          <a:prstGeom prst="ellipse">
            <a:avLst/>
          </a:prstGeom>
          <a:solidFill>
            <a:schemeClr val="accent1">
              <a:alpha val="4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r-HR" sz="2000" b="1" dirty="0"/>
              <a:t>Manja</a:t>
            </a:r>
          </a:p>
        </p:txBody>
      </p:sp>
      <p:sp>
        <p:nvSpPr>
          <p:cNvPr id="8" name="Oval 7"/>
          <p:cNvSpPr/>
          <p:nvPr/>
        </p:nvSpPr>
        <p:spPr>
          <a:xfrm>
            <a:off x="6820721" y="1649274"/>
            <a:ext cx="2592185" cy="1087182"/>
          </a:xfrm>
          <a:prstGeom prst="ellipse">
            <a:avLst/>
          </a:prstGeom>
          <a:solidFill>
            <a:schemeClr val="accent1">
              <a:alpha val="4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r-HR" sz="2000" b="1" dirty="0"/>
              <a:t>Povremeni, promjenjivi odnosi</a:t>
            </a:r>
          </a:p>
        </p:txBody>
      </p:sp>
      <p:sp>
        <p:nvSpPr>
          <p:cNvPr id="9" name="Oval 8"/>
          <p:cNvSpPr/>
          <p:nvPr/>
        </p:nvSpPr>
        <p:spPr>
          <a:xfrm>
            <a:off x="9516807" y="1417539"/>
            <a:ext cx="2592185" cy="1087182"/>
          </a:xfrm>
          <a:prstGeom prst="ellipse">
            <a:avLst/>
          </a:prstGeom>
          <a:solidFill>
            <a:schemeClr val="accent1">
              <a:alpha val="4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r-HR" sz="2000" b="1" dirty="0"/>
              <a:t>Impersonalni odnosi</a:t>
            </a:r>
          </a:p>
        </p:txBody>
      </p:sp>
      <p:sp>
        <p:nvSpPr>
          <p:cNvPr id="10" name="Oval 9"/>
          <p:cNvSpPr/>
          <p:nvPr/>
        </p:nvSpPr>
        <p:spPr>
          <a:xfrm>
            <a:off x="4117872" y="3335900"/>
            <a:ext cx="2592185" cy="1087182"/>
          </a:xfrm>
          <a:prstGeom prst="ellipse">
            <a:avLst/>
          </a:prstGeom>
          <a:solidFill>
            <a:schemeClr val="accent1">
              <a:alpha val="4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r-HR" sz="2000" b="1" dirty="0"/>
              <a:t>Dugotrajniji i stabilniji odnosi</a:t>
            </a:r>
          </a:p>
        </p:txBody>
      </p:sp>
      <p:sp>
        <p:nvSpPr>
          <p:cNvPr id="11" name="Oval 10"/>
          <p:cNvSpPr/>
          <p:nvPr/>
        </p:nvSpPr>
        <p:spPr>
          <a:xfrm>
            <a:off x="6946516" y="2836921"/>
            <a:ext cx="2592185" cy="1087182"/>
          </a:xfrm>
          <a:prstGeom prst="ellipse">
            <a:avLst/>
          </a:prstGeom>
          <a:solidFill>
            <a:schemeClr val="accent1">
              <a:alpha val="4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r-HR" sz="2000" b="1" dirty="0"/>
              <a:t>Snažne veze među članovima</a:t>
            </a:r>
          </a:p>
        </p:txBody>
      </p:sp>
      <p:sp>
        <p:nvSpPr>
          <p:cNvPr id="12" name="Oval 11"/>
          <p:cNvSpPr/>
          <p:nvPr/>
        </p:nvSpPr>
        <p:spPr>
          <a:xfrm>
            <a:off x="9619803" y="2642884"/>
            <a:ext cx="2592185" cy="1600084"/>
          </a:xfrm>
          <a:prstGeom prst="ellipse">
            <a:avLst/>
          </a:prstGeom>
          <a:solidFill>
            <a:schemeClr val="accent1">
              <a:alpha val="4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r-HR" sz="2000" b="1" dirty="0"/>
              <a:t>Članovi blisko povezani emotivnim vezama</a:t>
            </a:r>
          </a:p>
        </p:txBody>
      </p:sp>
      <p:sp>
        <p:nvSpPr>
          <p:cNvPr id="13" name="Oval 12"/>
          <p:cNvSpPr/>
          <p:nvPr/>
        </p:nvSpPr>
        <p:spPr>
          <a:xfrm>
            <a:off x="5567218" y="2458411"/>
            <a:ext cx="1481156" cy="588947"/>
          </a:xfrm>
          <a:prstGeom prst="ellipse">
            <a:avLst/>
          </a:prstGeom>
          <a:solidFill>
            <a:schemeClr val="accent1">
              <a:alpha val="4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r-HR" sz="2000" b="1" dirty="0"/>
              <a:t>Veća</a:t>
            </a:r>
          </a:p>
        </p:txBody>
      </p:sp>
      <p:sp>
        <p:nvSpPr>
          <p:cNvPr id="14" name="Oval 13"/>
          <p:cNvSpPr/>
          <p:nvPr/>
        </p:nvSpPr>
        <p:spPr>
          <a:xfrm>
            <a:off x="6710056" y="4055600"/>
            <a:ext cx="1778910" cy="795286"/>
          </a:xfrm>
          <a:prstGeom prst="ellipse">
            <a:avLst/>
          </a:prstGeom>
          <a:solidFill>
            <a:schemeClr val="accent1">
              <a:alpha val="4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r-HR" sz="2000" b="1" dirty="0"/>
              <a:t>Formalni odnosi</a:t>
            </a:r>
          </a:p>
        </p:txBody>
      </p:sp>
      <p:sp>
        <p:nvSpPr>
          <p:cNvPr id="15" name="Oval 14"/>
          <p:cNvSpPr/>
          <p:nvPr/>
        </p:nvSpPr>
        <p:spPr>
          <a:xfrm>
            <a:off x="9961863" y="4364522"/>
            <a:ext cx="2110802" cy="1087182"/>
          </a:xfrm>
          <a:prstGeom prst="ellipse">
            <a:avLst/>
          </a:prstGeom>
          <a:solidFill>
            <a:schemeClr val="accent1">
              <a:alpha val="4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r-HR" sz="2000" b="1" dirty="0"/>
              <a:t>Personalni odnosi</a:t>
            </a:r>
          </a:p>
        </p:txBody>
      </p:sp>
      <p:sp>
        <p:nvSpPr>
          <p:cNvPr id="16" name="TextBox 15"/>
          <p:cNvSpPr txBox="1"/>
          <p:nvPr/>
        </p:nvSpPr>
        <p:spPr>
          <a:xfrm>
            <a:off x="678922" y="332656"/>
            <a:ext cx="3468237" cy="1046440"/>
          </a:xfrm>
          <a:prstGeom prst="rect">
            <a:avLst/>
          </a:prstGeom>
          <a:noFill/>
        </p:spPr>
        <p:txBody>
          <a:bodyPr wrap="square" rtlCol="0">
            <a:spAutoFit/>
          </a:bodyPr>
          <a:lstStyle/>
          <a:p>
            <a:r>
              <a:rPr lang="hr-HR" sz="2200" b="1" dirty="0"/>
              <a:t>Sljedeće značajke pridružite grupama na slici</a:t>
            </a:r>
            <a:r>
              <a:rPr lang="en-US" sz="2200" b="1" dirty="0"/>
              <a:t>   </a:t>
            </a:r>
          </a:p>
          <a:p>
            <a:endParaRPr lang="hr-HR" dirty="0"/>
          </a:p>
        </p:txBody>
      </p:sp>
      <p:sp>
        <p:nvSpPr>
          <p:cNvPr id="17" name="Oval 16"/>
          <p:cNvSpPr/>
          <p:nvPr/>
        </p:nvSpPr>
        <p:spPr>
          <a:xfrm>
            <a:off x="4192467" y="4630106"/>
            <a:ext cx="2600082" cy="901713"/>
          </a:xfrm>
          <a:prstGeom prst="ellipse">
            <a:avLst/>
          </a:prstGeom>
          <a:solidFill>
            <a:schemeClr val="accent1">
              <a:alpha val="4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r-HR" sz="2000" b="1" dirty="0"/>
              <a:t>Naglašena socijalizacija</a:t>
            </a:r>
          </a:p>
        </p:txBody>
      </p:sp>
      <p:sp>
        <p:nvSpPr>
          <p:cNvPr id="18" name="Oval 17"/>
          <p:cNvSpPr/>
          <p:nvPr/>
        </p:nvSpPr>
        <p:spPr>
          <a:xfrm>
            <a:off x="4234333" y="5630581"/>
            <a:ext cx="2592185" cy="1087182"/>
          </a:xfrm>
          <a:prstGeom prst="ellipse">
            <a:avLst/>
          </a:prstGeom>
          <a:solidFill>
            <a:schemeClr val="accent1">
              <a:alpha val="4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r-HR" sz="2000" b="1" dirty="0"/>
              <a:t>Slabije veze među članovima</a:t>
            </a:r>
          </a:p>
        </p:txBody>
      </p:sp>
      <p:sp>
        <p:nvSpPr>
          <p:cNvPr id="19" name="Oval 18"/>
          <p:cNvSpPr/>
          <p:nvPr/>
        </p:nvSpPr>
        <p:spPr>
          <a:xfrm>
            <a:off x="7383122" y="4873744"/>
            <a:ext cx="2578741" cy="919426"/>
          </a:xfrm>
          <a:prstGeom prst="ellipse">
            <a:avLst/>
          </a:prstGeom>
          <a:solidFill>
            <a:schemeClr val="accent1">
              <a:alpha val="4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r-HR" sz="2000" b="1" dirty="0"/>
              <a:t>Parcijalna socijalizacija</a:t>
            </a:r>
          </a:p>
        </p:txBody>
      </p:sp>
      <p:sp>
        <p:nvSpPr>
          <p:cNvPr id="20" name="Oval 19"/>
          <p:cNvSpPr/>
          <p:nvPr/>
        </p:nvSpPr>
        <p:spPr>
          <a:xfrm>
            <a:off x="10418059" y="5476607"/>
            <a:ext cx="1731389" cy="1087182"/>
          </a:xfrm>
          <a:prstGeom prst="ellipse">
            <a:avLst/>
          </a:prstGeom>
          <a:solidFill>
            <a:schemeClr val="accent1">
              <a:alpha val="4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r-HR" sz="2000" b="1" dirty="0"/>
              <a:t>Ciljevi grupe izvanjski</a:t>
            </a:r>
          </a:p>
        </p:txBody>
      </p:sp>
      <p:sp>
        <p:nvSpPr>
          <p:cNvPr id="21" name="Oval 20"/>
          <p:cNvSpPr/>
          <p:nvPr/>
        </p:nvSpPr>
        <p:spPr>
          <a:xfrm>
            <a:off x="6980083" y="5877272"/>
            <a:ext cx="3089102" cy="914944"/>
          </a:xfrm>
          <a:prstGeom prst="ellipse">
            <a:avLst/>
          </a:prstGeom>
          <a:solidFill>
            <a:schemeClr val="accent1">
              <a:alpha val="4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r-HR" sz="2000" b="1" dirty="0"/>
              <a:t>Pripadanje grupi cilj je sam za sebe</a:t>
            </a:r>
          </a:p>
        </p:txBody>
      </p:sp>
    </p:spTree>
    <p:extLst>
      <p:ext uri="{BB962C8B-B14F-4D97-AF65-F5344CB8AC3E}">
        <p14:creationId xmlns:p14="http://schemas.microsoft.com/office/powerpoint/2010/main" val="1202413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1"/>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7" grpId="0" animBg="1"/>
      <p:bldP spid="18" grpId="0" animBg="1"/>
      <p:bldP spid="19" grpId="0" animBg="1"/>
      <p:bldP spid="20" grpId="0" animBg="1"/>
      <p:bldP spid="21"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hr-HR" dirty="0"/>
          </a:p>
        </p:txBody>
      </p:sp>
      <p:sp>
        <p:nvSpPr>
          <p:cNvPr id="3" name="Content Placeholder 2"/>
          <p:cNvSpPr>
            <a:spLocks noGrp="1"/>
          </p:cNvSpPr>
          <p:nvPr>
            <p:ph idx="1"/>
          </p:nvPr>
        </p:nvSpPr>
        <p:spPr>
          <a:xfrm>
            <a:off x="-163570" y="2689904"/>
            <a:ext cx="8944211" cy="4195481"/>
          </a:xfrm>
        </p:spPr>
        <p:txBody>
          <a:bodyPr/>
          <a:lstStyle/>
          <a:p>
            <a:pPr marL="0" indent="0">
              <a:buNone/>
            </a:pPr>
            <a:endParaRPr lang="hr-HR" dirty="0"/>
          </a:p>
        </p:txBody>
      </p:sp>
      <p:sp>
        <p:nvSpPr>
          <p:cNvPr id="5" name="TextBox 4"/>
          <p:cNvSpPr txBox="1"/>
          <p:nvPr/>
        </p:nvSpPr>
        <p:spPr>
          <a:xfrm>
            <a:off x="3984435" y="4306373"/>
            <a:ext cx="936104" cy="400110"/>
          </a:xfrm>
          <a:prstGeom prst="rect">
            <a:avLst/>
          </a:prstGeom>
          <a:noFill/>
        </p:spPr>
        <p:txBody>
          <a:bodyPr wrap="square" rtlCol="0">
            <a:spAutoFit/>
          </a:bodyPr>
          <a:lstStyle/>
          <a:p>
            <a:r>
              <a:rPr lang="hr-HR" sz="2000" b="1" dirty="0">
                <a:solidFill>
                  <a:schemeClr val="accent1"/>
                </a:solidFill>
              </a:rPr>
              <a:t>MAJA</a:t>
            </a:r>
          </a:p>
        </p:txBody>
      </p:sp>
      <p:sp>
        <p:nvSpPr>
          <p:cNvPr id="8" name="Right Arrow 7"/>
          <p:cNvSpPr/>
          <p:nvPr/>
        </p:nvSpPr>
        <p:spPr>
          <a:xfrm rot="16200000">
            <a:off x="4289720" y="3773135"/>
            <a:ext cx="472163" cy="2312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9" name="TextBox 8"/>
          <p:cNvSpPr txBox="1"/>
          <p:nvPr/>
        </p:nvSpPr>
        <p:spPr>
          <a:xfrm>
            <a:off x="4245382" y="3226336"/>
            <a:ext cx="792088" cy="369332"/>
          </a:xfrm>
          <a:prstGeom prst="rect">
            <a:avLst/>
          </a:prstGeom>
          <a:noFill/>
        </p:spPr>
        <p:txBody>
          <a:bodyPr wrap="square" rtlCol="0">
            <a:spAutoFit/>
          </a:bodyPr>
          <a:lstStyle/>
          <a:p>
            <a:r>
              <a:rPr lang="hr-HR" dirty="0"/>
              <a:t>KĆI</a:t>
            </a:r>
          </a:p>
        </p:txBody>
      </p:sp>
      <p:sp>
        <p:nvSpPr>
          <p:cNvPr id="10" name="Right Arrow 9"/>
          <p:cNvSpPr/>
          <p:nvPr/>
        </p:nvSpPr>
        <p:spPr>
          <a:xfrm rot="13065247">
            <a:off x="3614835" y="3850685"/>
            <a:ext cx="472163" cy="2312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11" name="TextBox 10"/>
          <p:cNvSpPr txBox="1"/>
          <p:nvPr/>
        </p:nvSpPr>
        <p:spPr>
          <a:xfrm>
            <a:off x="2807800" y="3363281"/>
            <a:ext cx="1008112" cy="369332"/>
          </a:xfrm>
          <a:prstGeom prst="rect">
            <a:avLst/>
          </a:prstGeom>
          <a:noFill/>
        </p:spPr>
        <p:txBody>
          <a:bodyPr wrap="square" rtlCol="0">
            <a:spAutoFit/>
          </a:bodyPr>
          <a:lstStyle/>
          <a:p>
            <a:r>
              <a:rPr lang="hr-HR" dirty="0"/>
              <a:t>MAJKA</a:t>
            </a:r>
          </a:p>
        </p:txBody>
      </p:sp>
      <p:sp>
        <p:nvSpPr>
          <p:cNvPr id="12" name="Right Arrow 11"/>
          <p:cNvSpPr/>
          <p:nvPr/>
        </p:nvSpPr>
        <p:spPr>
          <a:xfrm rot="10800000">
            <a:off x="3357383" y="4376993"/>
            <a:ext cx="472163" cy="2312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13" name="TextBox 12"/>
          <p:cNvSpPr txBox="1"/>
          <p:nvPr/>
        </p:nvSpPr>
        <p:spPr>
          <a:xfrm>
            <a:off x="1602340" y="4341145"/>
            <a:ext cx="1345317" cy="369332"/>
          </a:xfrm>
          <a:prstGeom prst="rect">
            <a:avLst/>
          </a:prstGeom>
          <a:noFill/>
        </p:spPr>
        <p:txBody>
          <a:bodyPr wrap="square" rtlCol="0">
            <a:spAutoFit/>
          </a:bodyPr>
          <a:lstStyle/>
          <a:p>
            <a:r>
              <a:rPr lang="hr-HR" dirty="0"/>
              <a:t>SUPRUGA</a:t>
            </a:r>
          </a:p>
        </p:txBody>
      </p:sp>
      <p:sp>
        <p:nvSpPr>
          <p:cNvPr id="15" name="Right Arrow 14"/>
          <p:cNvSpPr/>
          <p:nvPr/>
        </p:nvSpPr>
        <p:spPr>
          <a:xfrm rot="8695628">
            <a:off x="3579832" y="4817886"/>
            <a:ext cx="472163" cy="2312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16" name="TextBox 15"/>
          <p:cNvSpPr txBox="1"/>
          <p:nvPr/>
        </p:nvSpPr>
        <p:spPr>
          <a:xfrm>
            <a:off x="2384462" y="5319009"/>
            <a:ext cx="1512168" cy="369332"/>
          </a:xfrm>
          <a:prstGeom prst="rect">
            <a:avLst/>
          </a:prstGeom>
          <a:noFill/>
        </p:spPr>
        <p:txBody>
          <a:bodyPr wrap="square" rtlCol="0">
            <a:spAutoFit/>
          </a:bodyPr>
          <a:lstStyle/>
          <a:p>
            <a:r>
              <a:rPr lang="hr-HR" dirty="0"/>
              <a:t>SLIKARICA</a:t>
            </a:r>
          </a:p>
        </p:txBody>
      </p:sp>
      <p:sp>
        <p:nvSpPr>
          <p:cNvPr id="17" name="Right Arrow 16"/>
          <p:cNvSpPr/>
          <p:nvPr/>
        </p:nvSpPr>
        <p:spPr>
          <a:xfrm rot="5400000">
            <a:off x="4289719" y="4941574"/>
            <a:ext cx="472163" cy="2312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18" name="TextBox 17"/>
          <p:cNvSpPr txBox="1"/>
          <p:nvPr/>
        </p:nvSpPr>
        <p:spPr>
          <a:xfrm>
            <a:off x="3753426" y="5572238"/>
            <a:ext cx="1728192" cy="369332"/>
          </a:xfrm>
          <a:prstGeom prst="rect">
            <a:avLst/>
          </a:prstGeom>
          <a:noFill/>
        </p:spPr>
        <p:txBody>
          <a:bodyPr wrap="square" rtlCol="0">
            <a:spAutoFit/>
          </a:bodyPr>
          <a:lstStyle/>
          <a:p>
            <a:r>
              <a:rPr lang="hr-HR" dirty="0"/>
              <a:t>PRIJATELJICA</a:t>
            </a:r>
          </a:p>
        </p:txBody>
      </p:sp>
      <p:sp>
        <p:nvSpPr>
          <p:cNvPr id="19" name="Right Arrow 18"/>
          <p:cNvSpPr/>
          <p:nvPr/>
        </p:nvSpPr>
        <p:spPr>
          <a:xfrm rot="1715132">
            <a:off x="4921566" y="4802088"/>
            <a:ext cx="472163" cy="2312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20" name="TextBox 19"/>
          <p:cNvSpPr txBox="1"/>
          <p:nvPr/>
        </p:nvSpPr>
        <p:spPr>
          <a:xfrm>
            <a:off x="5337878" y="5079977"/>
            <a:ext cx="1553981" cy="378239"/>
          </a:xfrm>
          <a:prstGeom prst="rect">
            <a:avLst/>
          </a:prstGeom>
          <a:noFill/>
        </p:spPr>
        <p:txBody>
          <a:bodyPr wrap="square" rtlCol="0">
            <a:spAutoFit/>
          </a:bodyPr>
          <a:lstStyle/>
          <a:p>
            <a:r>
              <a:rPr lang="hr-HR" dirty="0"/>
              <a:t>KOLEGICA</a:t>
            </a:r>
          </a:p>
        </p:txBody>
      </p:sp>
      <p:sp>
        <p:nvSpPr>
          <p:cNvPr id="21" name="Right Arrow 20"/>
          <p:cNvSpPr/>
          <p:nvPr/>
        </p:nvSpPr>
        <p:spPr>
          <a:xfrm>
            <a:off x="5103841" y="4334368"/>
            <a:ext cx="472163" cy="2312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22" name="TextBox 21"/>
          <p:cNvSpPr txBox="1"/>
          <p:nvPr/>
        </p:nvSpPr>
        <p:spPr>
          <a:xfrm>
            <a:off x="5619611" y="4265271"/>
            <a:ext cx="1939780" cy="369332"/>
          </a:xfrm>
          <a:prstGeom prst="rect">
            <a:avLst/>
          </a:prstGeom>
          <a:noFill/>
        </p:spPr>
        <p:txBody>
          <a:bodyPr wrap="square" rtlCol="0">
            <a:spAutoFit/>
          </a:bodyPr>
          <a:lstStyle/>
          <a:p>
            <a:r>
              <a:rPr lang="hr-HR" dirty="0"/>
              <a:t>NASTAVNICA</a:t>
            </a:r>
          </a:p>
        </p:txBody>
      </p:sp>
      <p:sp>
        <p:nvSpPr>
          <p:cNvPr id="6" name="TextBox 5"/>
          <p:cNvSpPr txBox="1"/>
          <p:nvPr/>
        </p:nvSpPr>
        <p:spPr>
          <a:xfrm>
            <a:off x="3882824" y="2793627"/>
            <a:ext cx="1285950" cy="369332"/>
          </a:xfrm>
          <a:prstGeom prst="rect">
            <a:avLst/>
          </a:prstGeom>
          <a:noFill/>
        </p:spPr>
        <p:txBody>
          <a:bodyPr wrap="square" rtlCol="0">
            <a:spAutoFit/>
          </a:bodyPr>
          <a:lstStyle/>
          <a:p>
            <a:r>
              <a:rPr lang="hr-HR" dirty="0">
                <a:solidFill>
                  <a:schemeClr val="bg2">
                    <a:lumMod val="20000"/>
                    <a:lumOff val="80000"/>
                  </a:schemeClr>
                </a:solidFill>
              </a:rPr>
              <a:t>Roditelji</a:t>
            </a:r>
            <a:r>
              <a:rPr lang="hr-HR" dirty="0"/>
              <a:t> </a:t>
            </a:r>
          </a:p>
        </p:txBody>
      </p:sp>
      <p:sp>
        <p:nvSpPr>
          <p:cNvPr id="7" name="TextBox 6"/>
          <p:cNvSpPr txBox="1"/>
          <p:nvPr/>
        </p:nvSpPr>
        <p:spPr>
          <a:xfrm>
            <a:off x="1901985" y="3337632"/>
            <a:ext cx="888617" cy="369332"/>
          </a:xfrm>
          <a:prstGeom prst="rect">
            <a:avLst/>
          </a:prstGeom>
          <a:noFill/>
        </p:spPr>
        <p:txBody>
          <a:bodyPr wrap="square" rtlCol="0">
            <a:spAutoFit/>
          </a:bodyPr>
          <a:lstStyle/>
          <a:p>
            <a:r>
              <a:rPr lang="hr-HR" dirty="0">
                <a:solidFill>
                  <a:schemeClr val="bg2">
                    <a:lumMod val="20000"/>
                    <a:lumOff val="80000"/>
                  </a:schemeClr>
                </a:solidFill>
              </a:rPr>
              <a:t>Djeca</a:t>
            </a:r>
            <a:r>
              <a:rPr lang="hr-HR" dirty="0"/>
              <a:t> </a:t>
            </a:r>
          </a:p>
        </p:txBody>
      </p:sp>
      <p:sp>
        <p:nvSpPr>
          <p:cNvPr id="14" name="TextBox 13"/>
          <p:cNvSpPr txBox="1"/>
          <p:nvPr/>
        </p:nvSpPr>
        <p:spPr>
          <a:xfrm>
            <a:off x="586457" y="4307953"/>
            <a:ext cx="1191491" cy="369332"/>
          </a:xfrm>
          <a:prstGeom prst="rect">
            <a:avLst/>
          </a:prstGeom>
          <a:noFill/>
        </p:spPr>
        <p:txBody>
          <a:bodyPr wrap="square" rtlCol="0">
            <a:spAutoFit/>
          </a:bodyPr>
          <a:lstStyle/>
          <a:p>
            <a:r>
              <a:rPr lang="hr-HR" dirty="0">
                <a:solidFill>
                  <a:schemeClr val="bg2">
                    <a:lumMod val="20000"/>
                    <a:lumOff val="80000"/>
                  </a:schemeClr>
                </a:solidFill>
              </a:rPr>
              <a:t>Suprug</a:t>
            </a:r>
            <a:r>
              <a:rPr lang="hr-HR" dirty="0"/>
              <a:t> </a:t>
            </a:r>
          </a:p>
        </p:txBody>
      </p:sp>
      <p:sp>
        <p:nvSpPr>
          <p:cNvPr id="24" name="TextBox 23"/>
          <p:cNvSpPr txBox="1"/>
          <p:nvPr/>
        </p:nvSpPr>
        <p:spPr>
          <a:xfrm>
            <a:off x="615765" y="5307184"/>
            <a:ext cx="2336474" cy="369332"/>
          </a:xfrm>
          <a:prstGeom prst="rect">
            <a:avLst/>
          </a:prstGeom>
          <a:noFill/>
        </p:spPr>
        <p:txBody>
          <a:bodyPr wrap="square" rtlCol="0">
            <a:spAutoFit/>
          </a:bodyPr>
          <a:lstStyle/>
          <a:p>
            <a:r>
              <a:rPr lang="hr-HR" dirty="0">
                <a:solidFill>
                  <a:schemeClr val="bg2">
                    <a:lumMod val="20000"/>
                    <a:lumOff val="80000"/>
                  </a:schemeClr>
                </a:solidFill>
              </a:rPr>
              <a:t>Slikari/umjetnici</a:t>
            </a:r>
          </a:p>
        </p:txBody>
      </p:sp>
      <p:sp>
        <p:nvSpPr>
          <p:cNvPr id="25" name="TextBox 24"/>
          <p:cNvSpPr txBox="1"/>
          <p:nvPr/>
        </p:nvSpPr>
        <p:spPr>
          <a:xfrm>
            <a:off x="4108368" y="5920746"/>
            <a:ext cx="1800200" cy="369332"/>
          </a:xfrm>
          <a:prstGeom prst="rect">
            <a:avLst/>
          </a:prstGeom>
          <a:noFill/>
        </p:spPr>
        <p:txBody>
          <a:bodyPr wrap="square" rtlCol="0">
            <a:spAutoFit/>
          </a:bodyPr>
          <a:lstStyle/>
          <a:p>
            <a:r>
              <a:rPr lang="hr-HR" dirty="0">
                <a:solidFill>
                  <a:schemeClr val="bg2">
                    <a:lumMod val="20000"/>
                    <a:lumOff val="80000"/>
                  </a:schemeClr>
                </a:solidFill>
              </a:rPr>
              <a:t>Prijatelji </a:t>
            </a:r>
          </a:p>
        </p:txBody>
      </p:sp>
      <p:sp>
        <p:nvSpPr>
          <p:cNvPr id="26" name="TextBox 25"/>
          <p:cNvSpPr txBox="1"/>
          <p:nvPr/>
        </p:nvSpPr>
        <p:spPr>
          <a:xfrm>
            <a:off x="6744093" y="5084429"/>
            <a:ext cx="1382053" cy="369332"/>
          </a:xfrm>
          <a:prstGeom prst="rect">
            <a:avLst/>
          </a:prstGeom>
          <a:noFill/>
        </p:spPr>
        <p:txBody>
          <a:bodyPr wrap="square" rtlCol="0">
            <a:spAutoFit/>
          </a:bodyPr>
          <a:lstStyle/>
          <a:p>
            <a:r>
              <a:rPr lang="hr-HR" dirty="0">
                <a:solidFill>
                  <a:schemeClr val="bg2">
                    <a:lumMod val="20000"/>
                    <a:lumOff val="80000"/>
                  </a:schemeClr>
                </a:solidFill>
              </a:rPr>
              <a:t>Kolege</a:t>
            </a:r>
            <a:r>
              <a:rPr lang="hr-HR" dirty="0"/>
              <a:t> </a:t>
            </a:r>
          </a:p>
        </p:txBody>
      </p:sp>
      <p:sp>
        <p:nvSpPr>
          <p:cNvPr id="27" name="TextBox 26"/>
          <p:cNvSpPr txBox="1"/>
          <p:nvPr/>
        </p:nvSpPr>
        <p:spPr>
          <a:xfrm>
            <a:off x="7267762" y="4265271"/>
            <a:ext cx="1924582" cy="369332"/>
          </a:xfrm>
          <a:prstGeom prst="rect">
            <a:avLst/>
          </a:prstGeom>
          <a:noFill/>
        </p:spPr>
        <p:txBody>
          <a:bodyPr wrap="square" rtlCol="0">
            <a:spAutoFit/>
          </a:bodyPr>
          <a:lstStyle/>
          <a:p>
            <a:r>
              <a:rPr lang="hr-HR" dirty="0">
                <a:solidFill>
                  <a:schemeClr val="bg2">
                    <a:lumMod val="20000"/>
                    <a:lumOff val="80000"/>
                  </a:schemeClr>
                </a:solidFill>
              </a:rPr>
              <a:t>Učenici</a:t>
            </a:r>
            <a:r>
              <a:rPr lang="hr-HR" dirty="0"/>
              <a:t> </a:t>
            </a:r>
          </a:p>
        </p:txBody>
      </p:sp>
      <p:sp>
        <p:nvSpPr>
          <p:cNvPr id="23" name="Oval 22"/>
          <p:cNvSpPr/>
          <p:nvPr/>
        </p:nvSpPr>
        <p:spPr>
          <a:xfrm rot="20190612">
            <a:off x="229646" y="2760677"/>
            <a:ext cx="4864948" cy="1995792"/>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28" name="TextBox 27"/>
          <p:cNvSpPr txBox="1"/>
          <p:nvPr/>
        </p:nvSpPr>
        <p:spPr>
          <a:xfrm>
            <a:off x="1267945" y="2453878"/>
            <a:ext cx="2160240" cy="369332"/>
          </a:xfrm>
          <a:prstGeom prst="rect">
            <a:avLst/>
          </a:prstGeom>
          <a:noFill/>
        </p:spPr>
        <p:txBody>
          <a:bodyPr wrap="square" rtlCol="0">
            <a:spAutoFit/>
          </a:bodyPr>
          <a:lstStyle/>
          <a:p>
            <a:r>
              <a:rPr lang="hr-HR" b="1" dirty="0">
                <a:solidFill>
                  <a:srgbClr val="FF0000"/>
                </a:solidFill>
              </a:rPr>
              <a:t>OBITELJ</a:t>
            </a:r>
          </a:p>
        </p:txBody>
      </p:sp>
      <p:sp>
        <p:nvSpPr>
          <p:cNvPr id="29" name="Oval 28"/>
          <p:cNvSpPr/>
          <p:nvPr/>
        </p:nvSpPr>
        <p:spPr>
          <a:xfrm>
            <a:off x="304542" y="5079976"/>
            <a:ext cx="3443723" cy="930412"/>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30" name="TextBox 29"/>
          <p:cNvSpPr txBox="1"/>
          <p:nvPr/>
        </p:nvSpPr>
        <p:spPr>
          <a:xfrm>
            <a:off x="1103209" y="6031185"/>
            <a:ext cx="2343577" cy="369332"/>
          </a:xfrm>
          <a:prstGeom prst="rect">
            <a:avLst/>
          </a:prstGeom>
          <a:noFill/>
        </p:spPr>
        <p:txBody>
          <a:bodyPr wrap="square" rtlCol="0">
            <a:spAutoFit/>
          </a:bodyPr>
          <a:lstStyle/>
          <a:p>
            <a:r>
              <a:rPr lang="hr-HR" b="1" dirty="0">
                <a:solidFill>
                  <a:srgbClr val="FF0000"/>
                </a:solidFill>
              </a:rPr>
              <a:t>UMJETNICI</a:t>
            </a:r>
          </a:p>
        </p:txBody>
      </p:sp>
      <p:sp>
        <p:nvSpPr>
          <p:cNvPr id="31" name="Oval 30"/>
          <p:cNvSpPr/>
          <p:nvPr/>
        </p:nvSpPr>
        <p:spPr>
          <a:xfrm>
            <a:off x="3593463" y="5358596"/>
            <a:ext cx="2079800" cy="1054483"/>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32" name="TextBox 31"/>
          <p:cNvSpPr txBox="1"/>
          <p:nvPr/>
        </p:nvSpPr>
        <p:spPr>
          <a:xfrm>
            <a:off x="4003058" y="6499100"/>
            <a:ext cx="2741034" cy="369332"/>
          </a:xfrm>
          <a:prstGeom prst="rect">
            <a:avLst/>
          </a:prstGeom>
          <a:noFill/>
        </p:spPr>
        <p:txBody>
          <a:bodyPr wrap="square" rtlCol="0">
            <a:spAutoFit/>
          </a:bodyPr>
          <a:lstStyle/>
          <a:p>
            <a:r>
              <a:rPr lang="hr-HR" b="1" dirty="0">
                <a:solidFill>
                  <a:srgbClr val="FF0000"/>
                </a:solidFill>
              </a:rPr>
              <a:t>PRIJATELJI</a:t>
            </a:r>
          </a:p>
        </p:txBody>
      </p:sp>
      <p:sp>
        <p:nvSpPr>
          <p:cNvPr id="33" name="Oval 32"/>
          <p:cNvSpPr/>
          <p:nvPr/>
        </p:nvSpPr>
        <p:spPr>
          <a:xfrm>
            <a:off x="5333693" y="4886290"/>
            <a:ext cx="2319970" cy="858889"/>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34" name="TextBox 33"/>
          <p:cNvSpPr txBox="1"/>
          <p:nvPr/>
        </p:nvSpPr>
        <p:spPr>
          <a:xfrm>
            <a:off x="6206445" y="5893474"/>
            <a:ext cx="2376264" cy="369332"/>
          </a:xfrm>
          <a:prstGeom prst="rect">
            <a:avLst/>
          </a:prstGeom>
          <a:noFill/>
        </p:spPr>
        <p:txBody>
          <a:bodyPr wrap="square" rtlCol="0">
            <a:spAutoFit/>
          </a:bodyPr>
          <a:lstStyle/>
          <a:p>
            <a:r>
              <a:rPr lang="hr-HR" b="1" dirty="0">
                <a:solidFill>
                  <a:srgbClr val="FF0000"/>
                </a:solidFill>
              </a:rPr>
              <a:t>KOLEKTIV</a:t>
            </a:r>
          </a:p>
        </p:txBody>
      </p:sp>
      <p:sp>
        <p:nvSpPr>
          <p:cNvPr id="35" name="Oval 34"/>
          <p:cNvSpPr/>
          <p:nvPr/>
        </p:nvSpPr>
        <p:spPr>
          <a:xfrm>
            <a:off x="5575166" y="3998607"/>
            <a:ext cx="2781043" cy="858889"/>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36" name="TextBox 35"/>
          <p:cNvSpPr txBox="1"/>
          <p:nvPr/>
        </p:nvSpPr>
        <p:spPr>
          <a:xfrm>
            <a:off x="6480618" y="3575996"/>
            <a:ext cx="2223361" cy="369332"/>
          </a:xfrm>
          <a:prstGeom prst="rect">
            <a:avLst/>
          </a:prstGeom>
          <a:noFill/>
        </p:spPr>
        <p:txBody>
          <a:bodyPr wrap="square" rtlCol="0">
            <a:spAutoFit/>
          </a:bodyPr>
          <a:lstStyle/>
          <a:p>
            <a:r>
              <a:rPr lang="hr-HR" b="1" dirty="0">
                <a:solidFill>
                  <a:srgbClr val="FF0000"/>
                </a:solidFill>
              </a:rPr>
              <a:t>RAZRED</a:t>
            </a:r>
          </a:p>
        </p:txBody>
      </p:sp>
      <p:sp>
        <p:nvSpPr>
          <p:cNvPr id="37" name="TextBox 36"/>
          <p:cNvSpPr txBox="1"/>
          <p:nvPr/>
        </p:nvSpPr>
        <p:spPr>
          <a:xfrm>
            <a:off x="5056298" y="432291"/>
            <a:ext cx="4083816" cy="3262432"/>
          </a:xfrm>
          <a:prstGeom prst="rect">
            <a:avLst/>
          </a:prstGeom>
          <a:noFill/>
        </p:spPr>
        <p:txBody>
          <a:bodyPr wrap="square" rtlCol="0">
            <a:spAutoFit/>
          </a:bodyPr>
          <a:lstStyle/>
          <a:p>
            <a:r>
              <a:rPr lang="hr-HR" dirty="0"/>
              <a:t>PRIJATELJICE:</a:t>
            </a:r>
          </a:p>
          <a:p>
            <a:pPr marL="285750" indent="-285750">
              <a:buFont typeface="Arial" panose="020B0604020202020204" pitchFamily="34" charset="0"/>
              <a:buChar char="•"/>
            </a:pPr>
            <a:r>
              <a:rPr lang="hr-HR" sz="1700" dirty="0"/>
              <a:t>Manja</a:t>
            </a:r>
          </a:p>
          <a:p>
            <a:pPr marL="285750" indent="-285750">
              <a:buFont typeface="Arial" panose="020B0604020202020204" pitchFamily="34" charset="0"/>
              <a:buChar char="•"/>
            </a:pPr>
            <a:r>
              <a:rPr lang="hr-HR" sz="1700" dirty="0"/>
              <a:t>Članovi blisko povezani emotivnim vezama</a:t>
            </a:r>
          </a:p>
          <a:p>
            <a:pPr marL="285750" indent="-285750">
              <a:buFont typeface="Arial" panose="020B0604020202020204" pitchFamily="34" charset="0"/>
              <a:buChar char="•"/>
            </a:pPr>
            <a:r>
              <a:rPr lang="hr-HR" sz="1700" dirty="0"/>
              <a:t>Dugotrajniji i stabilniji odnosi</a:t>
            </a:r>
          </a:p>
          <a:p>
            <a:pPr marL="285750" indent="-285750">
              <a:buFont typeface="Arial" panose="020B0604020202020204" pitchFamily="34" charset="0"/>
              <a:buChar char="•"/>
            </a:pPr>
            <a:endParaRPr lang="hr-HR" sz="1700" dirty="0"/>
          </a:p>
          <a:p>
            <a:pPr marL="285750" indent="-285750">
              <a:buFont typeface="Arial" panose="020B0604020202020204" pitchFamily="34" charset="0"/>
              <a:buChar char="•"/>
            </a:pPr>
            <a:r>
              <a:rPr lang="hr-HR" sz="1700" dirty="0"/>
              <a:t>Personalni odnosi</a:t>
            </a:r>
          </a:p>
          <a:p>
            <a:pPr marL="285750" indent="-285750">
              <a:buFont typeface="Arial" panose="020B0604020202020204" pitchFamily="34" charset="0"/>
              <a:buChar char="•"/>
            </a:pPr>
            <a:r>
              <a:rPr lang="hr-HR" sz="1700" dirty="0"/>
              <a:t>Snažne veze među članovima</a:t>
            </a:r>
          </a:p>
          <a:p>
            <a:pPr marL="285750" indent="-285750">
              <a:buFont typeface="Arial" panose="020B0604020202020204" pitchFamily="34" charset="0"/>
              <a:buChar char="•"/>
            </a:pPr>
            <a:endParaRPr lang="hr-HR" sz="1700" dirty="0"/>
          </a:p>
          <a:p>
            <a:pPr marL="285750" indent="-285750">
              <a:buFont typeface="Arial" panose="020B0604020202020204" pitchFamily="34" charset="0"/>
              <a:buChar char="•"/>
            </a:pPr>
            <a:r>
              <a:rPr lang="hr-HR" sz="1700" dirty="0"/>
              <a:t>Naglašena socijalizacija</a:t>
            </a:r>
          </a:p>
          <a:p>
            <a:pPr marL="285750" indent="-285750">
              <a:buFont typeface="Arial" panose="020B0604020202020204" pitchFamily="34" charset="0"/>
              <a:buChar char="•"/>
            </a:pPr>
            <a:r>
              <a:rPr lang="hr-HR" sz="1700" dirty="0"/>
              <a:t>Pripadanje grupi je cilj za sebe</a:t>
            </a:r>
          </a:p>
          <a:p>
            <a:endParaRPr lang="hr-HR" dirty="0"/>
          </a:p>
        </p:txBody>
      </p:sp>
      <p:sp>
        <p:nvSpPr>
          <p:cNvPr id="38" name="TextBox 37"/>
          <p:cNvSpPr txBox="1"/>
          <p:nvPr/>
        </p:nvSpPr>
        <p:spPr>
          <a:xfrm>
            <a:off x="9225666" y="415650"/>
            <a:ext cx="3236175" cy="2462213"/>
          </a:xfrm>
          <a:prstGeom prst="rect">
            <a:avLst/>
          </a:prstGeom>
          <a:noFill/>
        </p:spPr>
        <p:txBody>
          <a:bodyPr wrap="square" rtlCol="0">
            <a:spAutoFit/>
          </a:bodyPr>
          <a:lstStyle/>
          <a:p>
            <a:r>
              <a:rPr lang="hr-HR" dirty="0"/>
              <a:t>KOLEGE NA POSLU:</a:t>
            </a:r>
          </a:p>
          <a:p>
            <a:pPr marL="285750" indent="-285750">
              <a:buFont typeface="Arial" panose="020B0604020202020204" pitchFamily="34" charset="0"/>
              <a:buChar char="•"/>
            </a:pPr>
            <a:r>
              <a:rPr lang="hr-HR" sz="1700" dirty="0"/>
              <a:t>Veće</a:t>
            </a:r>
          </a:p>
          <a:p>
            <a:pPr marL="285750" indent="-285750">
              <a:buFont typeface="Arial" panose="020B0604020202020204" pitchFamily="34" charset="0"/>
              <a:buChar char="•"/>
            </a:pPr>
            <a:r>
              <a:rPr lang="hr-HR" sz="1700" dirty="0"/>
              <a:t>Formalni odnosi</a:t>
            </a:r>
          </a:p>
          <a:p>
            <a:pPr marL="285750" indent="-285750">
              <a:buFont typeface="Arial" panose="020B0604020202020204" pitchFamily="34" charset="0"/>
              <a:buChar char="•"/>
            </a:pPr>
            <a:endParaRPr lang="hr-HR" sz="1700" dirty="0"/>
          </a:p>
          <a:p>
            <a:pPr marL="285750" indent="-285750">
              <a:buFont typeface="Arial" panose="020B0604020202020204" pitchFamily="34" charset="0"/>
              <a:buChar char="•"/>
            </a:pPr>
            <a:r>
              <a:rPr lang="hr-HR" sz="1700" dirty="0"/>
              <a:t>Povremeni, promjenjivi odnosi</a:t>
            </a:r>
          </a:p>
          <a:p>
            <a:pPr marL="285750" indent="-285750">
              <a:buFont typeface="Arial" panose="020B0604020202020204" pitchFamily="34" charset="0"/>
              <a:buChar char="•"/>
            </a:pPr>
            <a:r>
              <a:rPr lang="hr-HR" sz="1700" dirty="0"/>
              <a:t>Impersonalni odnosi</a:t>
            </a:r>
          </a:p>
          <a:p>
            <a:pPr marL="285750" indent="-285750">
              <a:buFont typeface="Arial" panose="020B0604020202020204" pitchFamily="34" charset="0"/>
              <a:buChar char="•"/>
            </a:pPr>
            <a:r>
              <a:rPr lang="hr-HR" sz="1700" dirty="0"/>
              <a:t>Slabije veze među članovima</a:t>
            </a:r>
          </a:p>
          <a:p>
            <a:pPr marL="285750" indent="-285750">
              <a:buFont typeface="Arial" panose="020B0604020202020204" pitchFamily="34" charset="0"/>
              <a:buChar char="•"/>
            </a:pPr>
            <a:r>
              <a:rPr lang="hr-HR" sz="1700" dirty="0"/>
              <a:t>Parcijalna socijalizacija</a:t>
            </a:r>
          </a:p>
          <a:p>
            <a:pPr marL="285750" indent="-285750">
              <a:buFont typeface="Arial" panose="020B0604020202020204" pitchFamily="34" charset="0"/>
              <a:buChar char="•"/>
            </a:pPr>
            <a:r>
              <a:rPr lang="hr-HR" sz="1700" dirty="0"/>
              <a:t>Ciljevi grupe su izvanjski</a:t>
            </a:r>
          </a:p>
        </p:txBody>
      </p:sp>
      <p:sp>
        <p:nvSpPr>
          <p:cNvPr id="39" name="TextBox 38"/>
          <p:cNvSpPr txBox="1"/>
          <p:nvPr/>
        </p:nvSpPr>
        <p:spPr>
          <a:xfrm>
            <a:off x="4835726" y="92484"/>
            <a:ext cx="2376264" cy="369332"/>
          </a:xfrm>
          <a:prstGeom prst="rect">
            <a:avLst/>
          </a:prstGeom>
          <a:noFill/>
        </p:spPr>
        <p:txBody>
          <a:bodyPr wrap="square" rtlCol="0">
            <a:spAutoFit/>
          </a:bodyPr>
          <a:lstStyle/>
          <a:p>
            <a:r>
              <a:rPr lang="hr-HR" b="1" dirty="0">
                <a:solidFill>
                  <a:schemeClr val="accent1">
                    <a:lumMod val="20000"/>
                    <a:lumOff val="80000"/>
                  </a:schemeClr>
                </a:solidFill>
              </a:rPr>
              <a:t>PRIMARNE GRUPE</a:t>
            </a:r>
          </a:p>
        </p:txBody>
      </p:sp>
      <p:sp>
        <p:nvSpPr>
          <p:cNvPr id="40" name="TextBox 39"/>
          <p:cNvSpPr txBox="1"/>
          <p:nvPr/>
        </p:nvSpPr>
        <p:spPr>
          <a:xfrm>
            <a:off x="9140114" y="98149"/>
            <a:ext cx="2620678" cy="369332"/>
          </a:xfrm>
          <a:prstGeom prst="rect">
            <a:avLst/>
          </a:prstGeom>
          <a:noFill/>
        </p:spPr>
        <p:txBody>
          <a:bodyPr wrap="square" rtlCol="0">
            <a:spAutoFit/>
          </a:bodyPr>
          <a:lstStyle/>
          <a:p>
            <a:r>
              <a:rPr lang="hr-HR" b="1" dirty="0">
                <a:solidFill>
                  <a:schemeClr val="accent1">
                    <a:lumMod val="20000"/>
                    <a:lumOff val="80000"/>
                  </a:schemeClr>
                </a:solidFill>
              </a:rPr>
              <a:t>SEKUNDARNE GRUPE</a:t>
            </a:r>
          </a:p>
        </p:txBody>
      </p:sp>
      <p:sp>
        <p:nvSpPr>
          <p:cNvPr id="4" name="TextBox 3"/>
          <p:cNvSpPr txBox="1"/>
          <p:nvPr/>
        </p:nvSpPr>
        <p:spPr>
          <a:xfrm>
            <a:off x="6891858" y="92485"/>
            <a:ext cx="2012454" cy="646331"/>
          </a:xfrm>
          <a:prstGeom prst="rect">
            <a:avLst/>
          </a:prstGeom>
          <a:noFill/>
        </p:spPr>
        <p:txBody>
          <a:bodyPr wrap="square" rtlCol="0">
            <a:spAutoFit/>
          </a:bodyPr>
          <a:lstStyle/>
          <a:p>
            <a:r>
              <a:rPr lang="en-US" dirty="0" err="1"/>
              <a:t>Npr</a:t>
            </a:r>
            <a:r>
              <a:rPr lang="en-US" dirty="0"/>
              <a:t>. </a:t>
            </a:r>
            <a:r>
              <a:rPr lang="en-US" dirty="0" err="1"/>
              <a:t>obitelj</a:t>
            </a:r>
            <a:r>
              <a:rPr lang="en-US" dirty="0"/>
              <a:t> </a:t>
            </a:r>
            <a:r>
              <a:rPr lang="en-US" dirty="0" err="1"/>
              <a:t>ili</a:t>
            </a:r>
            <a:r>
              <a:rPr lang="en-US" dirty="0"/>
              <a:t> </a:t>
            </a:r>
            <a:r>
              <a:rPr lang="en-US" dirty="0" err="1"/>
              <a:t>ljubavna</a:t>
            </a:r>
            <a:r>
              <a:rPr lang="en-US" dirty="0"/>
              <a:t> </a:t>
            </a:r>
            <a:r>
              <a:rPr lang="en-US" dirty="0" err="1"/>
              <a:t>veza</a:t>
            </a:r>
            <a:endParaRPr lang="hr-HR" dirty="0"/>
          </a:p>
        </p:txBody>
      </p:sp>
      <p:sp>
        <p:nvSpPr>
          <p:cNvPr id="41" name="TextBox 40"/>
          <p:cNvSpPr txBox="1"/>
          <p:nvPr/>
        </p:nvSpPr>
        <p:spPr>
          <a:xfrm>
            <a:off x="9480376" y="3390849"/>
            <a:ext cx="2520280" cy="646331"/>
          </a:xfrm>
          <a:prstGeom prst="rect">
            <a:avLst/>
          </a:prstGeom>
          <a:noFill/>
        </p:spPr>
        <p:txBody>
          <a:bodyPr wrap="square" rtlCol="0">
            <a:spAutoFit/>
          </a:bodyPr>
          <a:lstStyle/>
          <a:p>
            <a:r>
              <a:rPr lang="en-US" dirty="0" err="1"/>
              <a:t>Npr</a:t>
            </a:r>
            <a:r>
              <a:rPr lang="en-US" dirty="0"/>
              <a:t>. </a:t>
            </a:r>
            <a:r>
              <a:rPr lang="en-US" dirty="0" err="1"/>
              <a:t>veslački</a:t>
            </a:r>
            <a:r>
              <a:rPr lang="en-US" dirty="0"/>
              <a:t> </a:t>
            </a:r>
            <a:r>
              <a:rPr lang="en-US" dirty="0" err="1"/>
              <a:t>klub</a:t>
            </a:r>
            <a:r>
              <a:rPr lang="en-US" dirty="0"/>
              <a:t>, </a:t>
            </a:r>
            <a:r>
              <a:rPr lang="en-US" dirty="0" err="1"/>
              <a:t>stranka</a:t>
            </a:r>
            <a:endParaRPr lang="hr-HR" dirty="0"/>
          </a:p>
        </p:txBody>
      </p:sp>
    </p:spTree>
    <p:extLst>
      <p:ext uri="{BB962C8B-B14F-4D97-AF65-F5344CB8AC3E}">
        <p14:creationId xmlns:p14="http://schemas.microsoft.com/office/powerpoint/2010/main" val="17593856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8" grpId="0"/>
      <p:bldP spid="39" grpId="0"/>
      <p:bldP spid="40" grpId="0"/>
      <p:bldP spid="4" grpId="0"/>
      <p:bldP spid="41"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hr-HR"/>
          </a:p>
        </p:txBody>
      </p:sp>
      <p:sp>
        <p:nvSpPr>
          <p:cNvPr id="3" name="Content Placeholder 2"/>
          <p:cNvSpPr>
            <a:spLocks noGrp="1"/>
          </p:cNvSpPr>
          <p:nvPr>
            <p:ph idx="1"/>
          </p:nvPr>
        </p:nvSpPr>
        <p:spPr>
          <a:xfrm>
            <a:off x="1104614" y="764705"/>
            <a:ext cx="8944211" cy="5483696"/>
          </a:xfrm>
        </p:spPr>
        <p:txBody>
          <a:bodyPr>
            <a:normAutofit/>
          </a:bodyPr>
          <a:lstStyle/>
          <a:p>
            <a:r>
              <a:rPr lang="hr-HR" sz="2200" dirty="0"/>
              <a:t>Osim podjela na primarne i sekundarne, grupe možemo dijeliti prema različitim obilježjima</a:t>
            </a:r>
          </a:p>
        </p:txBody>
      </p:sp>
      <p:graphicFrame>
        <p:nvGraphicFramePr>
          <p:cNvPr id="4" name="Table 3"/>
          <p:cNvGraphicFramePr>
            <a:graphicFrameLocks noGrp="1"/>
          </p:cNvGraphicFramePr>
          <p:nvPr>
            <p:extLst/>
          </p:nvPr>
        </p:nvGraphicFramePr>
        <p:xfrm>
          <a:off x="767408" y="1767109"/>
          <a:ext cx="5472608" cy="3528390"/>
        </p:xfrm>
        <a:graphic>
          <a:graphicData uri="http://schemas.openxmlformats.org/drawingml/2006/table">
            <a:tbl>
              <a:tblPr firstRow="1" bandRow="1">
                <a:tableStyleId>{3C2FFA5D-87B4-456A-9821-1D502468CF0F}</a:tableStyleId>
              </a:tblPr>
              <a:tblGrid>
                <a:gridCol w="2679522">
                  <a:extLst>
                    <a:ext uri="{9D8B030D-6E8A-4147-A177-3AD203B41FA5}">
                      <a16:colId xmlns:a16="http://schemas.microsoft.com/office/drawing/2014/main" val="388847634"/>
                    </a:ext>
                  </a:extLst>
                </a:gridCol>
                <a:gridCol w="2793086">
                  <a:extLst>
                    <a:ext uri="{9D8B030D-6E8A-4147-A177-3AD203B41FA5}">
                      <a16:colId xmlns:a16="http://schemas.microsoft.com/office/drawing/2014/main" val="1364213922"/>
                    </a:ext>
                  </a:extLst>
                </a:gridCol>
              </a:tblGrid>
              <a:tr h="705678">
                <a:tc>
                  <a:txBody>
                    <a:bodyPr/>
                    <a:lstStyle/>
                    <a:p>
                      <a:pPr algn="ctr"/>
                      <a:r>
                        <a:rPr lang="hr-HR" dirty="0"/>
                        <a:t>OBILJEŽJA</a:t>
                      </a:r>
                    </a:p>
                  </a:txBody>
                  <a:tcPr/>
                </a:tc>
                <a:tc>
                  <a:txBody>
                    <a:bodyPr/>
                    <a:lstStyle/>
                    <a:p>
                      <a:pPr algn="ctr"/>
                      <a:r>
                        <a:rPr lang="hr-HR" dirty="0"/>
                        <a:t>TIPOVI GRUPA</a:t>
                      </a:r>
                    </a:p>
                  </a:txBody>
                  <a:tcPr/>
                </a:tc>
                <a:extLst>
                  <a:ext uri="{0D108BD9-81ED-4DB2-BD59-A6C34878D82A}">
                    <a16:rowId xmlns:a16="http://schemas.microsoft.com/office/drawing/2014/main" val="1887906320"/>
                  </a:ext>
                </a:extLst>
              </a:tr>
              <a:tr h="705678">
                <a:tc>
                  <a:txBody>
                    <a:bodyPr/>
                    <a:lstStyle/>
                    <a:p>
                      <a:r>
                        <a:rPr lang="hr-HR" dirty="0"/>
                        <a:t>Brojnost</a:t>
                      </a:r>
                      <a:r>
                        <a:rPr lang="hr-HR" baseline="0" dirty="0"/>
                        <a:t> članova/veličina</a:t>
                      </a:r>
                      <a:endParaRPr lang="hr-HR" dirty="0"/>
                    </a:p>
                  </a:txBody>
                  <a:tcPr/>
                </a:tc>
                <a:tc>
                  <a:txBody>
                    <a:bodyPr/>
                    <a:lstStyle/>
                    <a:p>
                      <a:r>
                        <a:rPr lang="hr-HR" dirty="0"/>
                        <a:t>Male (dijade, trijade) - velike</a:t>
                      </a:r>
                    </a:p>
                  </a:txBody>
                  <a:tcPr/>
                </a:tc>
                <a:extLst>
                  <a:ext uri="{0D108BD9-81ED-4DB2-BD59-A6C34878D82A}">
                    <a16:rowId xmlns:a16="http://schemas.microsoft.com/office/drawing/2014/main" val="1128018559"/>
                  </a:ext>
                </a:extLst>
              </a:tr>
              <a:tr h="705678">
                <a:tc>
                  <a:txBody>
                    <a:bodyPr/>
                    <a:lstStyle/>
                    <a:p>
                      <a:r>
                        <a:rPr lang="hr-HR" dirty="0"/>
                        <a:t>Stupanj reguliranost</a:t>
                      </a:r>
                      <a:r>
                        <a:rPr lang="hr-HR" baseline="0" dirty="0"/>
                        <a:t> odnosa</a:t>
                      </a:r>
                      <a:endParaRPr lang="hr-HR" dirty="0"/>
                    </a:p>
                  </a:txBody>
                  <a:tcPr/>
                </a:tc>
                <a:tc>
                  <a:txBody>
                    <a:bodyPr/>
                    <a:lstStyle/>
                    <a:p>
                      <a:r>
                        <a:rPr lang="hr-HR" dirty="0"/>
                        <a:t>Formalne - neformalne</a:t>
                      </a:r>
                    </a:p>
                  </a:txBody>
                  <a:tcPr/>
                </a:tc>
                <a:extLst>
                  <a:ext uri="{0D108BD9-81ED-4DB2-BD59-A6C34878D82A}">
                    <a16:rowId xmlns:a16="http://schemas.microsoft.com/office/drawing/2014/main" val="488286131"/>
                  </a:ext>
                </a:extLst>
              </a:tr>
              <a:tr h="705678">
                <a:tc>
                  <a:txBody>
                    <a:bodyPr/>
                    <a:lstStyle/>
                    <a:p>
                      <a:r>
                        <a:rPr lang="hr-HR" dirty="0"/>
                        <a:t>Stupanj otvorenosti</a:t>
                      </a:r>
                    </a:p>
                  </a:txBody>
                  <a:tcPr/>
                </a:tc>
                <a:tc>
                  <a:txBody>
                    <a:bodyPr/>
                    <a:lstStyle/>
                    <a:p>
                      <a:r>
                        <a:rPr lang="hr-HR" dirty="0"/>
                        <a:t>Otvorene-zatvorene</a:t>
                      </a:r>
                    </a:p>
                  </a:txBody>
                  <a:tcPr/>
                </a:tc>
                <a:extLst>
                  <a:ext uri="{0D108BD9-81ED-4DB2-BD59-A6C34878D82A}">
                    <a16:rowId xmlns:a16="http://schemas.microsoft.com/office/drawing/2014/main" val="1777700268"/>
                  </a:ext>
                </a:extLst>
              </a:tr>
              <a:tr h="705678">
                <a:tc>
                  <a:txBody>
                    <a:bodyPr/>
                    <a:lstStyle/>
                    <a:p>
                      <a:r>
                        <a:rPr lang="hr-HR" dirty="0"/>
                        <a:t>Svrha okupljanja</a:t>
                      </a:r>
                    </a:p>
                  </a:txBody>
                  <a:tcPr/>
                </a:tc>
                <a:tc>
                  <a:txBody>
                    <a:bodyPr/>
                    <a:lstStyle/>
                    <a:p>
                      <a:r>
                        <a:rPr lang="hr-HR" dirty="0"/>
                        <a:t>Ekonomske, političke, kulturne, sportske</a:t>
                      </a:r>
                      <a:r>
                        <a:rPr lang="hr-HR" baseline="0" dirty="0"/>
                        <a:t> itd.</a:t>
                      </a:r>
                      <a:endParaRPr lang="hr-HR" dirty="0"/>
                    </a:p>
                  </a:txBody>
                  <a:tcPr/>
                </a:tc>
                <a:extLst>
                  <a:ext uri="{0D108BD9-81ED-4DB2-BD59-A6C34878D82A}">
                    <a16:rowId xmlns:a16="http://schemas.microsoft.com/office/drawing/2014/main" val="3984649317"/>
                  </a:ext>
                </a:extLst>
              </a:tr>
            </a:tbl>
          </a:graphicData>
        </a:graphic>
      </p:graphicFrame>
      <p:pic>
        <p:nvPicPr>
          <p:cNvPr id="8194" name="Picture 2" descr="So Your Kid Wants to Join a Crew Team | HuffPost Lif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80177" y="4221089"/>
            <a:ext cx="4297645" cy="2148823"/>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How families live in Germany: facts at a glanc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52185" y="1380695"/>
            <a:ext cx="3552555" cy="2367778"/>
          </a:xfrm>
          <a:prstGeom prst="rect">
            <a:avLst/>
          </a:prstGeom>
          <a:noFill/>
          <a:extLst>
            <a:ext uri="{909E8E84-426E-40DD-AFC4-6F175D3DCCD1}">
              <a14:hiddenFill xmlns:a14="http://schemas.microsoft.com/office/drawing/2010/main">
                <a:solidFill>
                  <a:srgbClr val="FFFFFF"/>
                </a:solidFill>
              </a14:hiddenFill>
            </a:ext>
          </a:extLst>
        </p:spPr>
      </p:pic>
      <p:sp>
        <p:nvSpPr>
          <p:cNvPr id="7" name="Explosion 1 6"/>
          <p:cNvSpPr/>
          <p:nvPr/>
        </p:nvSpPr>
        <p:spPr>
          <a:xfrm>
            <a:off x="286958" y="5790038"/>
            <a:ext cx="648072" cy="504056"/>
          </a:xfrm>
          <a:prstGeom prst="irregularSeal1">
            <a:avLst/>
          </a:prstGeom>
          <a:solidFill>
            <a:schemeClr val="tx1"/>
          </a:solidFill>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5" name="TextBox 4"/>
          <p:cNvSpPr txBox="1"/>
          <p:nvPr/>
        </p:nvSpPr>
        <p:spPr>
          <a:xfrm>
            <a:off x="1103632" y="5877273"/>
            <a:ext cx="6288512" cy="769441"/>
          </a:xfrm>
          <a:prstGeom prst="rect">
            <a:avLst/>
          </a:prstGeom>
          <a:noFill/>
        </p:spPr>
        <p:txBody>
          <a:bodyPr wrap="square" rtlCol="0">
            <a:spAutoFit/>
          </a:bodyPr>
          <a:lstStyle/>
          <a:p>
            <a:r>
              <a:rPr lang="en-US" sz="2200" dirty="0" err="1"/>
              <a:t>Odredite</a:t>
            </a:r>
            <a:r>
              <a:rPr lang="en-US" sz="2200" dirty="0"/>
              <a:t> </a:t>
            </a:r>
            <a:r>
              <a:rPr lang="en-US" sz="2200" dirty="0" err="1"/>
              <a:t>kakve</a:t>
            </a:r>
            <a:r>
              <a:rPr lang="en-US" sz="2200" dirty="0"/>
              <a:t> </a:t>
            </a:r>
            <a:r>
              <a:rPr lang="en-US" sz="2200" dirty="0" err="1"/>
              <a:t>su</a:t>
            </a:r>
            <a:r>
              <a:rPr lang="en-US" sz="2200" dirty="0"/>
              <a:t> </a:t>
            </a:r>
            <a:r>
              <a:rPr lang="en-US" sz="2200" dirty="0" err="1"/>
              <a:t>grupe</a:t>
            </a:r>
            <a:r>
              <a:rPr lang="en-US" sz="2200" dirty="0"/>
              <a:t> </a:t>
            </a:r>
            <a:r>
              <a:rPr lang="en-US" sz="2200" dirty="0" err="1"/>
              <a:t>obitelj</a:t>
            </a:r>
            <a:r>
              <a:rPr lang="en-US" sz="2200" dirty="0"/>
              <a:t> </a:t>
            </a:r>
            <a:r>
              <a:rPr lang="en-US" sz="2200" dirty="0" err="1"/>
              <a:t>i</a:t>
            </a:r>
            <a:r>
              <a:rPr lang="en-US" sz="2200" dirty="0"/>
              <a:t> </a:t>
            </a:r>
            <a:r>
              <a:rPr lang="en-US" sz="2200" dirty="0" err="1"/>
              <a:t>veslački</a:t>
            </a:r>
            <a:r>
              <a:rPr lang="en-US" sz="2200" dirty="0"/>
              <a:t> </a:t>
            </a:r>
            <a:r>
              <a:rPr lang="en-US" sz="2200" dirty="0" err="1"/>
              <a:t>klub</a:t>
            </a:r>
            <a:r>
              <a:rPr lang="en-US" sz="2200" dirty="0"/>
              <a:t> </a:t>
            </a:r>
            <a:r>
              <a:rPr lang="en-US" sz="2200" dirty="0" err="1"/>
              <a:t>prema</a:t>
            </a:r>
            <a:r>
              <a:rPr lang="en-US" sz="2200" dirty="0"/>
              <a:t> </a:t>
            </a:r>
            <a:r>
              <a:rPr lang="en-US" sz="2200" dirty="0" err="1"/>
              <a:t>različitim</a:t>
            </a:r>
            <a:r>
              <a:rPr lang="en-US" sz="2200" dirty="0"/>
              <a:t> </a:t>
            </a:r>
            <a:r>
              <a:rPr lang="en-US" sz="2200" dirty="0" err="1"/>
              <a:t>obilježjima</a:t>
            </a:r>
            <a:endParaRPr lang="hr-HR" sz="2200" dirty="0"/>
          </a:p>
        </p:txBody>
      </p:sp>
    </p:spTree>
    <p:extLst>
      <p:ext uri="{BB962C8B-B14F-4D97-AF65-F5344CB8AC3E}">
        <p14:creationId xmlns:p14="http://schemas.microsoft.com/office/powerpoint/2010/main" val="31345703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hr-HR"/>
          </a:p>
        </p:txBody>
      </p:sp>
      <p:sp>
        <p:nvSpPr>
          <p:cNvPr id="3" name="Content Placeholder 2"/>
          <p:cNvSpPr>
            <a:spLocks noGrp="1"/>
          </p:cNvSpPr>
          <p:nvPr>
            <p:ph idx="1"/>
          </p:nvPr>
        </p:nvSpPr>
        <p:spPr>
          <a:xfrm>
            <a:off x="119338" y="692697"/>
            <a:ext cx="7488831" cy="5555704"/>
          </a:xfrm>
        </p:spPr>
        <p:txBody>
          <a:bodyPr>
            <a:normAutofit/>
          </a:bodyPr>
          <a:lstStyle/>
          <a:p>
            <a:endParaRPr lang="en-US" sz="2400" dirty="0"/>
          </a:p>
          <a:p>
            <a:r>
              <a:rPr lang="en-US" sz="2400" b="1" dirty="0"/>
              <a:t>DRUŠTVENA KATEGORIJA </a:t>
            </a:r>
            <a:r>
              <a:rPr lang="en-US" sz="2400" dirty="0"/>
              <a:t>– </a:t>
            </a:r>
            <a:r>
              <a:rPr lang="en-US" sz="2400" dirty="0" err="1"/>
              <a:t>nije</a:t>
            </a:r>
            <a:r>
              <a:rPr lang="en-US" sz="2400" dirty="0"/>
              <a:t> </a:t>
            </a:r>
            <a:r>
              <a:rPr lang="en-US" sz="2400" dirty="0" err="1"/>
              <a:t>društvena</a:t>
            </a:r>
            <a:r>
              <a:rPr lang="en-US" sz="2400" dirty="0"/>
              <a:t> </a:t>
            </a:r>
            <a:r>
              <a:rPr lang="en-US" sz="2400" dirty="0" err="1"/>
              <a:t>grupa</a:t>
            </a:r>
            <a:r>
              <a:rPr lang="en-US" sz="2400" dirty="0"/>
              <a:t>, </a:t>
            </a:r>
            <a:r>
              <a:rPr lang="en-US" sz="2400" dirty="0" err="1"/>
              <a:t>nego</a:t>
            </a:r>
            <a:r>
              <a:rPr lang="en-US" sz="2400" dirty="0"/>
              <a:t> </a:t>
            </a:r>
            <a:r>
              <a:rPr lang="en-US" sz="2400" dirty="0" err="1"/>
              <a:t>puko</a:t>
            </a:r>
            <a:r>
              <a:rPr lang="en-US" sz="2400" dirty="0"/>
              <a:t> </a:t>
            </a:r>
            <a:r>
              <a:rPr lang="en-US" sz="2400" dirty="0" err="1"/>
              <a:t>statističko</a:t>
            </a:r>
            <a:r>
              <a:rPr lang="en-US" sz="2400" dirty="0"/>
              <a:t> </a:t>
            </a:r>
            <a:r>
              <a:rPr lang="en-US" sz="2400" dirty="0" err="1"/>
              <a:t>grupiranje</a:t>
            </a:r>
            <a:r>
              <a:rPr lang="en-US" sz="2400" dirty="0"/>
              <a:t> </a:t>
            </a:r>
            <a:r>
              <a:rPr lang="en-US" sz="2400" dirty="0" err="1"/>
              <a:t>ljudi</a:t>
            </a:r>
            <a:r>
              <a:rPr lang="en-US" sz="2400" dirty="0"/>
              <a:t> </a:t>
            </a:r>
            <a:r>
              <a:rPr lang="en-US" sz="2400" dirty="0" err="1"/>
              <a:t>koji</a:t>
            </a:r>
            <a:r>
              <a:rPr lang="en-US" sz="2400" dirty="0"/>
              <a:t> </a:t>
            </a:r>
            <a:r>
              <a:rPr lang="en-US" sz="2400" dirty="0" err="1"/>
              <a:t>dijele</a:t>
            </a:r>
            <a:r>
              <a:rPr lang="en-US" sz="2400" dirty="0"/>
              <a:t> </a:t>
            </a:r>
            <a:r>
              <a:rPr lang="en-US" sz="2400" dirty="0" err="1"/>
              <a:t>određene</a:t>
            </a:r>
            <a:r>
              <a:rPr lang="en-US" sz="2400" dirty="0"/>
              <a:t> </a:t>
            </a:r>
            <a:r>
              <a:rPr lang="en-US" sz="2400" dirty="0" err="1"/>
              <a:t>zajedničko</a:t>
            </a:r>
            <a:r>
              <a:rPr lang="en-US" sz="2400" dirty="0"/>
              <a:t> </a:t>
            </a:r>
            <a:r>
              <a:rPr lang="en-US" sz="2400" dirty="0" err="1"/>
              <a:t>obilježje</a:t>
            </a:r>
            <a:endParaRPr lang="en-US" sz="2400" dirty="0"/>
          </a:p>
          <a:p>
            <a:pPr marL="0" indent="0">
              <a:buNone/>
            </a:pPr>
            <a:r>
              <a:rPr lang="en-US" sz="2400" dirty="0"/>
              <a:t>(</a:t>
            </a:r>
            <a:r>
              <a:rPr lang="en-US" sz="2400" dirty="0" err="1"/>
              <a:t>npr</a:t>
            </a:r>
            <a:r>
              <a:rPr lang="en-US" sz="2400" dirty="0"/>
              <a:t>. </a:t>
            </a:r>
            <a:r>
              <a:rPr lang="en-US" sz="2400" dirty="0" err="1"/>
              <a:t>osobe</a:t>
            </a:r>
            <a:r>
              <a:rPr lang="en-US" sz="2400" dirty="0"/>
              <a:t> </a:t>
            </a:r>
            <a:r>
              <a:rPr lang="en-US" sz="2400" dirty="0" err="1"/>
              <a:t>rođene</a:t>
            </a:r>
            <a:r>
              <a:rPr lang="en-US" sz="2400" dirty="0"/>
              <a:t> 2002. </a:t>
            </a:r>
            <a:r>
              <a:rPr lang="en-US" sz="2400" dirty="0" err="1"/>
              <a:t>godine</a:t>
            </a:r>
            <a:r>
              <a:rPr lang="en-US" sz="2400" dirty="0"/>
              <a:t>, </a:t>
            </a:r>
            <a:r>
              <a:rPr lang="en-US" sz="2400" dirty="0" err="1"/>
              <a:t>tinejdžeri</a:t>
            </a:r>
            <a:r>
              <a:rPr lang="en-US" sz="2400" dirty="0"/>
              <a:t>, </a:t>
            </a:r>
            <a:r>
              <a:rPr lang="en-US" sz="2400" dirty="0" err="1"/>
              <a:t>crvenokosi</a:t>
            </a:r>
            <a:r>
              <a:rPr lang="en-US" sz="2400" dirty="0"/>
              <a:t>…)</a:t>
            </a:r>
          </a:p>
          <a:p>
            <a:pPr marL="0" indent="0">
              <a:buNone/>
            </a:pPr>
            <a:endParaRPr lang="en-US" sz="2400" dirty="0"/>
          </a:p>
          <a:p>
            <a:r>
              <a:rPr lang="en-US" sz="2400" b="1" dirty="0"/>
              <a:t>DRUŠTVENI AGREGAT </a:t>
            </a:r>
            <a:r>
              <a:rPr lang="en-US" sz="2400" dirty="0"/>
              <a:t>– </a:t>
            </a:r>
            <a:r>
              <a:rPr lang="en-US" sz="2400" dirty="0" err="1"/>
              <a:t>skupina</a:t>
            </a:r>
            <a:r>
              <a:rPr lang="en-US" sz="2400" dirty="0"/>
              <a:t> </a:t>
            </a:r>
            <a:r>
              <a:rPr lang="en-US" sz="2400" dirty="0" err="1"/>
              <a:t>anonimnih</a:t>
            </a:r>
            <a:r>
              <a:rPr lang="en-US" sz="2400" dirty="0"/>
              <a:t>, </a:t>
            </a:r>
            <a:r>
              <a:rPr lang="en-US" sz="2400" dirty="0" err="1"/>
              <a:t>nepovezanih</a:t>
            </a:r>
            <a:r>
              <a:rPr lang="en-US" sz="2400" dirty="0"/>
              <a:t> </a:t>
            </a:r>
            <a:r>
              <a:rPr lang="en-US" sz="2400" dirty="0" err="1"/>
              <a:t>pojedinaca</a:t>
            </a:r>
            <a:r>
              <a:rPr lang="en-US" sz="2400" dirty="0"/>
              <a:t> </a:t>
            </a:r>
            <a:r>
              <a:rPr lang="en-US" sz="2400" dirty="0" err="1"/>
              <a:t>koji</a:t>
            </a:r>
            <a:r>
              <a:rPr lang="en-US" sz="2400" dirty="0"/>
              <a:t> se </a:t>
            </a:r>
            <a:r>
              <a:rPr lang="en-US" sz="2400" dirty="0" err="1"/>
              <a:t>fizički</a:t>
            </a:r>
            <a:r>
              <a:rPr lang="en-US" sz="2400" dirty="0"/>
              <a:t> </a:t>
            </a:r>
            <a:r>
              <a:rPr lang="en-US" sz="2400" dirty="0" err="1"/>
              <a:t>nalaze</a:t>
            </a:r>
            <a:r>
              <a:rPr lang="en-US" sz="2400" dirty="0"/>
              <a:t> </a:t>
            </a:r>
            <a:r>
              <a:rPr lang="en-US" sz="2400" dirty="0" err="1"/>
              <a:t>na</a:t>
            </a:r>
            <a:r>
              <a:rPr lang="en-US" sz="2400" dirty="0"/>
              <a:t> </a:t>
            </a:r>
            <a:r>
              <a:rPr lang="en-US" sz="2400" dirty="0" err="1"/>
              <a:t>jednome</a:t>
            </a:r>
            <a:r>
              <a:rPr lang="en-US" sz="2400" dirty="0"/>
              <a:t> </a:t>
            </a:r>
            <a:r>
              <a:rPr lang="en-US" sz="2400" dirty="0" err="1"/>
              <a:t>prostoru</a:t>
            </a:r>
            <a:r>
              <a:rPr lang="en-US" sz="2400" dirty="0"/>
              <a:t> </a:t>
            </a:r>
            <a:r>
              <a:rPr lang="en-US" sz="2400" dirty="0" err="1"/>
              <a:t>kao</a:t>
            </a:r>
            <a:r>
              <a:rPr lang="en-US" sz="2400" dirty="0"/>
              <a:t> </a:t>
            </a:r>
            <a:r>
              <a:rPr lang="en-US" sz="2400" dirty="0" err="1"/>
              <a:t>što</a:t>
            </a:r>
            <a:r>
              <a:rPr lang="en-US" sz="2400" dirty="0"/>
              <a:t> </a:t>
            </a:r>
            <a:r>
              <a:rPr lang="en-US" sz="2400" dirty="0" err="1"/>
              <a:t>su</a:t>
            </a:r>
            <a:r>
              <a:rPr lang="en-US" sz="2400" dirty="0"/>
              <a:t> </a:t>
            </a:r>
            <a:r>
              <a:rPr lang="en-US" sz="2400" dirty="0" err="1"/>
              <a:t>ljudi</a:t>
            </a:r>
            <a:r>
              <a:rPr lang="en-US" sz="2400" dirty="0"/>
              <a:t> </a:t>
            </a:r>
            <a:r>
              <a:rPr lang="en-US" sz="2400" dirty="0" err="1"/>
              <a:t>na</a:t>
            </a:r>
            <a:r>
              <a:rPr lang="en-US" sz="2400" dirty="0"/>
              <a:t> </a:t>
            </a:r>
            <a:r>
              <a:rPr lang="en-US" sz="2400" dirty="0" err="1"/>
              <a:t>autobusnoj</a:t>
            </a:r>
            <a:r>
              <a:rPr lang="en-US" sz="2400" dirty="0"/>
              <a:t> </a:t>
            </a:r>
            <a:r>
              <a:rPr lang="en-US" sz="2400" dirty="0" err="1"/>
              <a:t>stanici</a:t>
            </a:r>
            <a:r>
              <a:rPr lang="en-US" sz="2400" dirty="0"/>
              <a:t>, u </a:t>
            </a:r>
            <a:r>
              <a:rPr lang="en-US" sz="2400" dirty="0" err="1"/>
              <a:t>dizalu</a:t>
            </a:r>
            <a:r>
              <a:rPr lang="en-US" sz="2400" dirty="0"/>
              <a:t>, </a:t>
            </a:r>
            <a:r>
              <a:rPr lang="en-US" sz="2400" dirty="0" err="1"/>
              <a:t>ili</a:t>
            </a:r>
            <a:r>
              <a:rPr lang="en-US" sz="2400" dirty="0"/>
              <a:t> </a:t>
            </a:r>
            <a:r>
              <a:rPr lang="en-US" sz="2400" dirty="0" err="1"/>
              <a:t>publika</a:t>
            </a:r>
            <a:r>
              <a:rPr lang="en-US" sz="2400" dirty="0"/>
              <a:t> u </a:t>
            </a:r>
            <a:r>
              <a:rPr lang="en-US" sz="2400" dirty="0" err="1"/>
              <a:t>kinodvorani</a:t>
            </a:r>
            <a:endParaRPr lang="en-US" sz="2400" dirty="0"/>
          </a:p>
        </p:txBody>
      </p:sp>
      <p:pic>
        <p:nvPicPr>
          <p:cNvPr id="10244" name="Picture 4" descr="Ginger festival | Redheads, Redhead, Red hai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92145" y="260648"/>
            <a:ext cx="4500499" cy="3019378"/>
          </a:xfrm>
          <a:prstGeom prst="rect">
            <a:avLst/>
          </a:prstGeom>
          <a:noFill/>
          <a:extLst>
            <a:ext uri="{909E8E84-426E-40DD-AFC4-6F175D3DCCD1}">
              <a14:hiddenFill xmlns:a14="http://schemas.microsoft.com/office/drawing/2010/main">
                <a:solidFill>
                  <a:srgbClr val="FFFFFF"/>
                </a:solidFill>
              </a14:hiddenFill>
            </a:ext>
          </a:extLst>
        </p:spPr>
      </p:pic>
      <p:pic>
        <p:nvPicPr>
          <p:cNvPr id="10246" name="Picture 6" descr="Aggregates and Social Aggregates in Sociology"/>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56140" y="3914457"/>
            <a:ext cx="4572507" cy="25719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36850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hr-HR"/>
          </a:p>
        </p:txBody>
      </p:sp>
      <p:sp>
        <p:nvSpPr>
          <p:cNvPr id="3" name="Content Placeholder 2"/>
          <p:cNvSpPr>
            <a:spLocks noGrp="1"/>
          </p:cNvSpPr>
          <p:nvPr>
            <p:ph idx="1"/>
          </p:nvPr>
        </p:nvSpPr>
        <p:spPr/>
        <p:txBody>
          <a:bodyPr/>
          <a:lstStyle/>
          <a:p>
            <a:endParaRPr lang="hr-HR" dirty="0"/>
          </a:p>
        </p:txBody>
      </p:sp>
      <p:pic>
        <p:nvPicPr>
          <p:cNvPr id="9218" name="Picture 2" descr="1024x600px | free download | HD wallpaper: people watching soccer game,  people watching sports on sports stadium | Wallpaper Fla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797" y="230721"/>
            <a:ext cx="4067175" cy="304800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4871864" y="1484784"/>
            <a:ext cx="6696744" cy="1107996"/>
          </a:xfrm>
          <a:prstGeom prst="rect">
            <a:avLst/>
          </a:prstGeom>
          <a:noFill/>
        </p:spPr>
        <p:txBody>
          <a:bodyPr wrap="square" rtlCol="0">
            <a:spAutoFit/>
          </a:bodyPr>
          <a:lstStyle/>
          <a:p>
            <a:r>
              <a:rPr lang="en-US" sz="2200" b="1" dirty="0">
                <a:solidFill>
                  <a:schemeClr val="accent1">
                    <a:lumMod val="20000"/>
                    <a:lumOff val="80000"/>
                  </a:schemeClr>
                </a:solidFill>
              </a:rPr>
              <a:t>KOLEKTIVNO PONAŠANJE </a:t>
            </a:r>
            <a:r>
              <a:rPr lang="en-US" sz="2200" dirty="0"/>
              <a:t>– </a:t>
            </a:r>
            <a:r>
              <a:rPr lang="en-US" sz="2200" dirty="0" err="1"/>
              <a:t>ponašanje</a:t>
            </a:r>
            <a:r>
              <a:rPr lang="en-US" sz="2200" dirty="0"/>
              <a:t> u </a:t>
            </a:r>
            <a:r>
              <a:rPr lang="en-US" sz="2200" dirty="0" err="1"/>
              <a:t>kojem</a:t>
            </a:r>
            <a:r>
              <a:rPr lang="en-US" sz="2200" dirty="0"/>
              <a:t> je </a:t>
            </a:r>
            <a:r>
              <a:rPr lang="en-US" sz="2200" dirty="0" err="1"/>
              <a:t>interakcija</a:t>
            </a:r>
            <a:r>
              <a:rPr lang="en-US" sz="2200" dirty="0"/>
              <a:t> </a:t>
            </a:r>
            <a:r>
              <a:rPr lang="en-US" sz="2200" dirty="0" err="1"/>
              <a:t>slaba</a:t>
            </a:r>
            <a:r>
              <a:rPr lang="en-US" sz="2200" dirty="0"/>
              <a:t>, a </a:t>
            </a:r>
            <a:r>
              <a:rPr lang="en-US" sz="2200" dirty="0" err="1"/>
              <a:t>ljudi</a:t>
            </a:r>
            <a:r>
              <a:rPr lang="en-US" sz="2200" dirty="0"/>
              <a:t> </a:t>
            </a:r>
            <a:r>
              <a:rPr lang="en-US" sz="2200" dirty="0" err="1"/>
              <a:t>međusobno</a:t>
            </a:r>
            <a:r>
              <a:rPr lang="en-US" sz="2200" dirty="0"/>
              <a:t> </a:t>
            </a:r>
            <a:r>
              <a:rPr lang="en-US" sz="2200" dirty="0" err="1"/>
              <a:t>nisu</a:t>
            </a:r>
            <a:r>
              <a:rPr lang="en-US" sz="2200" dirty="0"/>
              <a:t> </a:t>
            </a:r>
            <a:r>
              <a:rPr lang="en-US" sz="2200" dirty="0" err="1"/>
              <a:t>povezani</a:t>
            </a:r>
            <a:r>
              <a:rPr lang="en-US" sz="2200" dirty="0"/>
              <a:t> </a:t>
            </a:r>
            <a:r>
              <a:rPr lang="en-US" sz="2200" dirty="0" err="1"/>
              <a:t>već</a:t>
            </a:r>
            <a:r>
              <a:rPr lang="en-US" sz="2200" dirty="0"/>
              <a:t> </a:t>
            </a:r>
            <a:r>
              <a:rPr lang="en-US" sz="2200" dirty="0" err="1"/>
              <a:t>samo</a:t>
            </a:r>
            <a:r>
              <a:rPr lang="en-US" sz="2200" dirty="0"/>
              <a:t> </a:t>
            </a:r>
            <a:r>
              <a:rPr lang="en-US" sz="2200" dirty="0" err="1"/>
              <a:t>obavljaju</a:t>
            </a:r>
            <a:r>
              <a:rPr lang="en-US" sz="2200" dirty="0"/>
              <a:t> </a:t>
            </a:r>
            <a:r>
              <a:rPr lang="en-US" sz="2200" dirty="0" err="1"/>
              <a:t>zajedničku</a:t>
            </a:r>
            <a:r>
              <a:rPr lang="en-US" sz="2200" dirty="0"/>
              <a:t> </a:t>
            </a:r>
            <a:r>
              <a:rPr lang="en-US" sz="2200" dirty="0" err="1"/>
              <a:t>aktivnost</a:t>
            </a:r>
            <a:endParaRPr lang="hr-HR" sz="2200" dirty="0"/>
          </a:p>
        </p:txBody>
      </p:sp>
      <p:pic>
        <p:nvPicPr>
          <p:cNvPr id="9222" name="Picture 6" descr="Belgium adopts mobile tracking to limit beach crowds | Reuter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6840" y="3729835"/>
            <a:ext cx="4067175" cy="27182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0955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br>
              <a:rPr lang="hr-HR" altLang="sr-Latn-RS" sz="4000" b="1" dirty="0">
                <a:latin typeface="Arial" panose="020B0604020202020204" pitchFamily="34" charset="0"/>
              </a:rPr>
            </a:br>
            <a:endParaRPr lang="hr-HR" dirty="0"/>
          </a:p>
        </p:txBody>
      </p:sp>
      <p:sp>
        <p:nvSpPr>
          <p:cNvPr id="3" name="Content Placeholder 2"/>
          <p:cNvSpPr>
            <a:spLocks noGrp="1"/>
          </p:cNvSpPr>
          <p:nvPr>
            <p:ph idx="1"/>
          </p:nvPr>
        </p:nvSpPr>
        <p:spPr>
          <a:xfrm>
            <a:off x="257989" y="1152983"/>
            <a:ext cx="11521280" cy="5051648"/>
          </a:xfrm>
        </p:spPr>
        <p:txBody>
          <a:bodyPr/>
          <a:lstStyle/>
          <a:p>
            <a:r>
              <a:rPr lang="hr-HR" altLang="sr-Latn-RS" sz="2400" b="1" dirty="0"/>
              <a:t>Kolektivno ponašanje </a:t>
            </a:r>
            <a:r>
              <a:rPr lang="en-US" altLang="sr-Latn-RS" sz="2400" dirty="0"/>
              <a:t>-</a:t>
            </a:r>
            <a:r>
              <a:rPr lang="en-US" altLang="sr-Latn-RS" sz="2400" b="1" dirty="0"/>
              <a:t> </a:t>
            </a:r>
            <a:r>
              <a:rPr lang="hr-HR" altLang="sr-Latn-RS" sz="2400" dirty="0"/>
              <a:t>spontano i nestrukturirano ponašanje većeg broja ljudi koje odstupa od prihvaćenih društvenih normi</a:t>
            </a:r>
          </a:p>
          <a:p>
            <a:endParaRPr lang="hr-HR" dirty="0"/>
          </a:p>
        </p:txBody>
      </p:sp>
      <p:sp>
        <p:nvSpPr>
          <p:cNvPr id="4" name="Rectangle 3"/>
          <p:cNvSpPr/>
          <p:nvPr/>
        </p:nvSpPr>
        <p:spPr>
          <a:xfrm>
            <a:off x="3575720" y="2366451"/>
            <a:ext cx="3905364" cy="461665"/>
          </a:xfrm>
          <a:prstGeom prst="rect">
            <a:avLst/>
          </a:prstGeom>
        </p:spPr>
        <p:txBody>
          <a:bodyPr wrap="none">
            <a:spAutoFit/>
          </a:bodyPr>
          <a:lstStyle/>
          <a:p>
            <a:pPr>
              <a:spcBef>
                <a:spcPct val="0"/>
              </a:spcBef>
            </a:pPr>
            <a:r>
              <a:rPr lang="hr-HR" altLang="sr-Latn-RS" sz="2400" b="1" dirty="0"/>
              <a:t>Tipovi kolektivnog ponašanja</a:t>
            </a:r>
          </a:p>
        </p:txBody>
      </p:sp>
      <p:cxnSp>
        <p:nvCxnSpPr>
          <p:cNvPr id="5" name="Straight Arrow Connector 4"/>
          <p:cNvCxnSpPr/>
          <p:nvPr/>
        </p:nvCxnSpPr>
        <p:spPr>
          <a:xfrm flipH="1">
            <a:off x="3368799" y="3060383"/>
            <a:ext cx="1656184" cy="5040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a:off x="6521833" y="3058287"/>
            <a:ext cx="1687084" cy="5051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159622" y="3796708"/>
            <a:ext cx="6092825" cy="830997"/>
          </a:xfrm>
          <a:prstGeom prst="rect">
            <a:avLst/>
          </a:prstGeom>
        </p:spPr>
        <p:txBody>
          <a:bodyPr>
            <a:spAutoFit/>
          </a:bodyPr>
          <a:lstStyle/>
          <a:p>
            <a:pPr algn="ctr">
              <a:spcBef>
                <a:spcPct val="0"/>
              </a:spcBef>
            </a:pPr>
            <a:r>
              <a:rPr lang="en-US" altLang="sr-Latn-RS" sz="2400" b="1" dirty="0" err="1">
                <a:solidFill>
                  <a:schemeClr val="accent1">
                    <a:lumMod val="20000"/>
                    <a:lumOff val="80000"/>
                  </a:schemeClr>
                </a:solidFill>
              </a:rPr>
              <a:t>Divergirajuće</a:t>
            </a:r>
            <a:r>
              <a:rPr lang="en-US" altLang="sr-Latn-RS" sz="2400" b="1" dirty="0">
                <a:solidFill>
                  <a:schemeClr val="accent1">
                    <a:lumMod val="20000"/>
                    <a:lumOff val="80000"/>
                  </a:schemeClr>
                </a:solidFill>
              </a:rPr>
              <a:t> (</a:t>
            </a:r>
            <a:r>
              <a:rPr lang="en-US" altLang="sr-Latn-RS" sz="2400" b="1" dirty="0" err="1">
                <a:solidFill>
                  <a:schemeClr val="accent1">
                    <a:lumMod val="20000"/>
                    <a:lumOff val="80000"/>
                  </a:schemeClr>
                </a:solidFill>
              </a:rPr>
              <a:t>raspršeno</a:t>
            </a:r>
            <a:r>
              <a:rPr lang="en-US" altLang="sr-Latn-RS" sz="2400" b="1" dirty="0">
                <a:solidFill>
                  <a:schemeClr val="accent1">
                    <a:lumMod val="20000"/>
                    <a:lumOff val="80000"/>
                  </a:schemeClr>
                </a:solidFill>
              </a:rPr>
              <a:t>) </a:t>
            </a:r>
            <a:r>
              <a:rPr lang="en-US" altLang="sr-Latn-RS" sz="2400" b="1" dirty="0" err="1">
                <a:solidFill>
                  <a:schemeClr val="accent1">
                    <a:lumMod val="20000"/>
                    <a:lumOff val="80000"/>
                  </a:schemeClr>
                </a:solidFill>
              </a:rPr>
              <a:t>kolektivno</a:t>
            </a:r>
            <a:r>
              <a:rPr lang="en-US" altLang="sr-Latn-RS" sz="2400" b="1" dirty="0">
                <a:solidFill>
                  <a:schemeClr val="accent1">
                    <a:lumMod val="20000"/>
                    <a:lumOff val="80000"/>
                  </a:schemeClr>
                </a:solidFill>
              </a:rPr>
              <a:t> </a:t>
            </a:r>
            <a:r>
              <a:rPr lang="en-US" altLang="sr-Latn-RS" sz="2400" b="1" dirty="0" err="1">
                <a:solidFill>
                  <a:schemeClr val="accent1">
                    <a:lumMod val="20000"/>
                    <a:lumOff val="80000"/>
                  </a:schemeClr>
                </a:solidFill>
              </a:rPr>
              <a:t>ponašanje</a:t>
            </a:r>
            <a:endParaRPr lang="hr-HR" altLang="sr-Latn-RS" sz="2400" b="1" dirty="0">
              <a:solidFill>
                <a:schemeClr val="accent1">
                  <a:lumMod val="20000"/>
                  <a:lumOff val="80000"/>
                </a:schemeClr>
              </a:solidFill>
            </a:endParaRPr>
          </a:p>
        </p:txBody>
      </p:sp>
      <p:sp>
        <p:nvSpPr>
          <p:cNvPr id="9" name="TextBox 8"/>
          <p:cNvSpPr txBox="1"/>
          <p:nvPr/>
        </p:nvSpPr>
        <p:spPr>
          <a:xfrm>
            <a:off x="6284169" y="3760795"/>
            <a:ext cx="5832650" cy="461665"/>
          </a:xfrm>
          <a:prstGeom prst="rect">
            <a:avLst/>
          </a:prstGeom>
          <a:noFill/>
        </p:spPr>
        <p:txBody>
          <a:bodyPr wrap="square" rtlCol="0">
            <a:spAutoFit/>
          </a:bodyPr>
          <a:lstStyle/>
          <a:p>
            <a:r>
              <a:rPr lang="en-US" sz="2400" b="1" dirty="0" err="1">
                <a:solidFill>
                  <a:schemeClr val="accent1">
                    <a:lumMod val="20000"/>
                    <a:lumOff val="80000"/>
                  </a:schemeClr>
                </a:solidFill>
              </a:rPr>
              <a:t>Konvergirajuće</a:t>
            </a:r>
            <a:r>
              <a:rPr lang="en-US" sz="2400" b="1" dirty="0">
                <a:solidFill>
                  <a:schemeClr val="accent1">
                    <a:lumMod val="20000"/>
                    <a:lumOff val="80000"/>
                  </a:schemeClr>
                </a:solidFill>
              </a:rPr>
              <a:t> </a:t>
            </a:r>
            <a:r>
              <a:rPr lang="en-US" sz="2400" b="1" dirty="0" err="1">
                <a:solidFill>
                  <a:schemeClr val="accent1">
                    <a:lumMod val="20000"/>
                    <a:lumOff val="80000"/>
                  </a:schemeClr>
                </a:solidFill>
              </a:rPr>
              <a:t>kolektivno</a:t>
            </a:r>
            <a:r>
              <a:rPr lang="en-US" sz="2400" b="1" dirty="0">
                <a:solidFill>
                  <a:schemeClr val="accent1">
                    <a:lumMod val="20000"/>
                    <a:lumOff val="80000"/>
                  </a:schemeClr>
                </a:solidFill>
              </a:rPr>
              <a:t> </a:t>
            </a:r>
            <a:r>
              <a:rPr lang="en-US" sz="2400" b="1" dirty="0" err="1">
                <a:solidFill>
                  <a:schemeClr val="accent1">
                    <a:lumMod val="20000"/>
                    <a:lumOff val="80000"/>
                  </a:schemeClr>
                </a:solidFill>
              </a:rPr>
              <a:t>ponašanje</a:t>
            </a:r>
            <a:endParaRPr lang="hr-HR" sz="2400" b="1" dirty="0">
              <a:solidFill>
                <a:schemeClr val="accent1">
                  <a:lumMod val="20000"/>
                  <a:lumOff val="80000"/>
                </a:schemeClr>
              </a:solidFill>
            </a:endParaRPr>
          </a:p>
        </p:txBody>
      </p:sp>
    </p:spTree>
    <p:extLst>
      <p:ext uri="{BB962C8B-B14F-4D97-AF65-F5344CB8AC3E}">
        <p14:creationId xmlns:p14="http://schemas.microsoft.com/office/powerpoint/2010/main" val="1464006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altLang="sr-Latn-RS" sz="2800" b="1" dirty="0" err="1"/>
              <a:t>Divergirajuće</a:t>
            </a:r>
            <a:r>
              <a:rPr lang="en-US" altLang="sr-Latn-RS" sz="2800" b="1" dirty="0"/>
              <a:t> </a:t>
            </a:r>
            <a:r>
              <a:rPr lang="en-US" altLang="sr-Latn-RS" sz="2800" b="1" dirty="0" err="1"/>
              <a:t>kolektivno</a:t>
            </a:r>
            <a:r>
              <a:rPr lang="en-US" altLang="sr-Latn-RS" sz="2800" b="1" dirty="0"/>
              <a:t> </a:t>
            </a:r>
            <a:r>
              <a:rPr lang="en-US" altLang="sr-Latn-RS" sz="2800" b="1" dirty="0" err="1"/>
              <a:t>ponašanje</a:t>
            </a:r>
            <a:endParaRPr lang="hr-HR" altLang="sr-Latn-RS" sz="2800" b="1" dirty="0"/>
          </a:p>
        </p:txBody>
      </p:sp>
      <p:sp>
        <p:nvSpPr>
          <p:cNvPr id="3" name="Content Placeholder 2"/>
          <p:cNvSpPr>
            <a:spLocks noGrp="1"/>
          </p:cNvSpPr>
          <p:nvPr>
            <p:ph idx="1"/>
          </p:nvPr>
        </p:nvSpPr>
        <p:spPr>
          <a:xfrm>
            <a:off x="191342" y="1700809"/>
            <a:ext cx="7946892" cy="5040559"/>
          </a:xfrm>
        </p:spPr>
        <p:txBody>
          <a:bodyPr>
            <a:normAutofit/>
          </a:bodyPr>
          <a:lstStyle/>
          <a:p>
            <a:pPr algn="just">
              <a:spcBef>
                <a:spcPct val="0"/>
              </a:spcBef>
              <a:buClrTx/>
              <a:buSzTx/>
              <a:buNone/>
            </a:pPr>
            <a:r>
              <a:rPr lang="en-US" altLang="sr-Latn-RS" sz="2400" dirty="0"/>
              <a:t>    </a:t>
            </a:r>
          </a:p>
          <a:p>
            <a:pPr algn="just">
              <a:spcBef>
                <a:spcPct val="0"/>
              </a:spcBef>
              <a:buClrTx/>
              <a:buSzTx/>
              <a:buNone/>
            </a:pPr>
            <a:endParaRPr lang="en-US" sz="2400" dirty="0"/>
          </a:p>
          <a:p>
            <a:pPr>
              <a:spcBef>
                <a:spcPct val="0"/>
              </a:spcBef>
              <a:buClrTx/>
              <a:buSzTx/>
              <a:buNone/>
            </a:pPr>
            <a:r>
              <a:rPr lang="hr-HR" altLang="sr-Latn-RS" sz="2400" b="1" dirty="0"/>
              <a:t>Glasine</a:t>
            </a:r>
            <a:r>
              <a:rPr lang="en-US" altLang="sr-Latn-RS" sz="2400" dirty="0"/>
              <a:t> -</a:t>
            </a:r>
            <a:r>
              <a:rPr lang="hr-HR" altLang="sr-Latn-RS" sz="2400" dirty="0"/>
              <a:t> neprovjerene informacije koje se prenose </a:t>
            </a:r>
            <a:r>
              <a:rPr lang="en-US" altLang="sr-Latn-RS" sz="2400" dirty="0"/>
              <a:t>n</a:t>
            </a:r>
            <a:r>
              <a:rPr lang="hr-HR" altLang="sr-Latn-RS" sz="2400" dirty="0"/>
              <a:t>eformalno, </a:t>
            </a:r>
            <a:r>
              <a:rPr lang="en-US" altLang="sr-Latn-RS" sz="2400" dirty="0"/>
              <a:t>“</a:t>
            </a:r>
            <a:r>
              <a:rPr lang="hr-HR" altLang="sr-Latn-RS" sz="2400" dirty="0"/>
              <a:t>od usta do</a:t>
            </a:r>
            <a:r>
              <a:rPr lang="en-US" altLang="sr-Latn-RS" sz="2400" dirty="0"/>
              <a:t> u</a:t>
            </a:r>
            <a:r>
              <a:rPr lang="hr-HR" altLang="sr-Latn-RS" sz="2400" dirty="0"/>
              <a:t>sta”</a:t>
            </a:r>
            <a:endParaRPr lang="en-US" altLang="sr-Latn-RS" sz="2400" dirty="0"/>
          </a:p>
          <a:p>
            <a:pPr>
              <a:spcBef>
                <a:spcPct val="0"/>
              </a:spcBef>
              <a:buClrTx/>
              <a:buSzTx/>
              <a:buNone/>
            </a:pPr>
            <a:endParaRPr lang="hr-HR" altLang="sr-Latn-RS" sz="2400" dirty="0"/>
          </a:p>
          <a:p>
            <a:pPr>
              <a:spcBef>
                <a:spcPct val="0"/>
              </a:spcBef>
              <a:buClrTx/>
              <a:buSzTx/>
              <a:buNone/>
            </a:pPr>
            <a:r>
              <a:rPr lang="hr-HR" altLang="sr-Latn-RS" sz="2400" b="1" dirty="0"/>
              <a:t>Ogovaranje (tračevi)</a:t>
            </a:r>
            <a:r>
              <a:rPr lang="en-US" altLang="sr-Latn-RS" sz="2400" b="1" dirty="0"/>
              <a:t> </a:t>
            </a:r>
            <a:r>
              <a:rPr lang="en-US" altLang="sr-Latn-RS" sz="2400" dirty="0"/>
              <a:t>-</a:t>
            </a:r>
            <a:r>
              <a:rPr lang="hr-HR" altLang="sr-Latn-RS" sz="2400" dirty="0"/>
              <a:t> odnosi se na osobni život drugih ljudi</a:t>
            </a:r>
            <a:endParaRPr lang="en-US" altLang="sr-Latn-RS" sz="2400" dirty="0"/>
          </a:p>
          <a:p>
            <a:pPr>
              <a:spcBef>
                <a:spcPct val="0"/>
              </a:spcBef>
              <a:buClrTx/>
              <a:buSzTx/>
              <a:buNone/>
            </a:pPr>
            <a:endParaRPr lang="en-US" altLang="sr-Latn-RS" sz="2400" dirty="0"/>
          </a:p>
          <a:p>
            <a:pPr>
              <a:spcBef>
                <a:spcPct val="0"/>
              </a:spcBef>
              <a:buClrTx/>
              <a:buSzTx/>
              <a:buNone/>
            </a:pPr>
            <a:r>
              <a:rPr lang="hr-HR" altLang="sr-Latn-RS" sz="2400" b="1" dirty="0"/>
              <a:t>Moda</a:t>
            </a:r>
            <a:r>
              <a:rPr lang="hr-HR" altLang="sr-Latn-RS" sz="2400" dirty="0"/>
              <a:t> – široko prihvaćanje neke novosti, retro – stil</a:t>
            </a:r>
            <a:r>
              <a:rPr lang="en-US" altLang="sr-Latn-RS" sz="2400" dirty="0"/>
              <a:t>,</a:t>
            </a:r>
            <a:r>
              <a:rPr lang="hr-HR" altLang="sr-Latn-RS" sz="2400" dirty="0"/>
              <a:t> modne ludosti (engl. </a:t>
            </a:r>
            <a:r>
              <a:rPr lang="hr-HR" altLang="sr-Latn-RS" sz="2400" i="1" dirty="0"/>
              <a:t>fads</a:t>
            </a:r>
            <a:r>
              <a:rPr lang="hr-HR" altLang="sr-Latn-RS" sz="2400" dirty="0"/>
              <a:t>)  </a:t>
            </a:r>
            <a:r>
              <a:rPr lang="en-US" altLang="sr-Latn-RS" sz="2400" dirty="0"/>
              <a:t>   </a:t>
            </a:r>
            <a:r>
              <a:rPr lang="hr-HR" altLang="sr-Latn-RS" sz="2400" dirty="0"/>
              <a:t>kratkotrajne i </a:t>
            </a:r>
            <a:r>
              <a:rPr lang="en-US" altLang="sr-Latn-RS" sz="2400" dirty="0"/>
              <a:t>   </a:t>
            </a:r>
            <a:r>
              <a:rPr lang="hr-HR" altLang="sr-Latn-RS" sz="2400" dirty="0"/>
              <a:t>oduševljeno prihvaćene novosti</a:t>
            </a:r>
            <a:endParaRPr lang="en-US" altLang="sr-Latn-RS" sz="2400" dirty="0"/>
          </a:p>
          <a:p>
            <a:pPr>
              <a:spcBef>
                <a:spcPct val="0"/>
              </a:spcBef>
              <a:buClrTx/>
              <a:buSzTx/>
              <a:buNone/>
            </a:pPr>
            <a:endParaRPr lang="en-US" altLang="sr-Latn-RS" sz="2400" dirty="0"/>
          </a:p>
          <a:p>
            <a:pPr>
              <a:spcBef>
                <a:spcPct val="0"/>
              </a:spcBef>
              <a:buClrTx/>
              <a:buSzTx/>
              <a:buNone/>
            </a:pPr>
            <a:r>
              <a:rPr lang="hr-HR" altLang="sr-Latn-RS" sz="2400" b="1" dirty="0"/>
              <a:t>Pomama, masovna histerija, panika</a:t>
            </a:r>
            <a:r>
              <a:rPr lang="en-US" altLang="sr-Latn-RS" sz="2400" b="1" dirty="0"/>
              <a:t>.</a:t>
            </a:r>
            <a:endParaRPr lang="hr-HR" altLang="sr-Latn-RS" sz="2400" b="1" dirty="0"/>
          </a:p>
          <a:p>
            <a:pPr>
              <a:spcBef>
                <a:spcPct val="0"/>
              </a:spcBef>
              <a:buClrTx/>
              <a:buSzTx/>
              <a:buNone/>
            </a:pPr>
            <a:endParaRPr lang="hr-HR" altLang="sr-Latn-RS" sz="2400" dirty="0"/>
          </a:p>
          <a:p>
            <a:pPr>
              <a:spcBef>
                <a:spcPct val="0"/>
              </a:spcBef>
              <a:buClrTx/>
              <a:buSzTx/>
              <a:buNone/>
            </a:pPr>
            <a:endParaRPr lang="hr-HR" altLang="sr-Latn-RS" sz="2400" dirty="0"/>
          </a:p>
          <a:p>
            <a:pPr algn="just">
              <a:spcBef>
                <a:spcPct val="0"/>
              </a:spcBef>
              <a:buClrTx/>
              <a:buSzTx/>
              <a:buNone/>
            </a:pPr>
            <a:endParaRPr lang="hr-HR" dirty="0"/>
          </a:p>
        </p:txBody>
      </p:sp>
      <p:sp>
        <p:nvSpPr>
          <p:cNvPr id="4" name="TextBox 3"/>
          <p:cNvSpPr txBox="1"/>
          <p:nvPr/>
        </p:nvSpPr>
        <p:spPr>
          <a:xfrm>
            <a:off x="191344" y="1437750"/>
            <a:ext cx="11665297" cy="461665"/>
          </a:xfrm>
          <a:prstGeom prst="rect">
            <a:avLst/>
          </a:prstGeom>
          <a:noFill/>
        </p:spPr>
        <p:txBody>
          <a:bodyPr wrap="square" rtlCol="0">
            <a:spAutoFit/>
          </a:bodyPr>
          <a:lstStyle/>
          <a:p>
            <a:pPr algn="just">
              <a:spcBef>
                <a:spcPct val="0"/>
              </a:spcBef>
              <a:buClrTx/>
              <a:buSzTx/>
              <a:buNone/>
            </a:pPr>
            <a:r>
              <a:rPr lang="hr-HR" altLang="sr-Latn-RS" sz="2400" dirty="0"/>
              <a:t>Događaji koji su kratkotrajni, spontani bez jasnog cilja,</a:t>
            </a:r>
            <a:r>
              <a:rPr lang="en-US" altLang="sr-Latn-RS" sz="2400" dirty="0"/>
              <a:t> </a:t>
            </a:r>
            <a:r>
              <a:rPr lang="hr-HR" altLang="sr-Latn-RS" sz="2400" dirty="0"/>
              <a:t>vrlo labavo strukturirani</a:t>
            </a:r>
          </a:p>
        </p:txBody>
      </p:sp>
      <p:pic>
        <p:nvPicPr>
          <p:cNvPr id="5" name="Picture 9" descr="32ogovaranjefraj"/>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95408" y="2161943"/>
            <a:ext cx="1905000" cy="1495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7" name="Straight Arrow Connector 6"/>
          <p:cNvCxnSpPr/>
          <p:nvPr/>
        </p:nvCxnSpPr>
        <p:spPr>
          <a:xfrm>
            <a:off x="4511824" y="5229200"/>
            <a:ext cx="2880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0" name="Picture 11" descr="mod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11114" y="3789041"/>
            <a:ext cx="2016125" cy="201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519968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1249"/>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altLang="sr-Latn-RS" sz="2800" b="1" dirty="0">
                <a:latin typeface="+mn-lt"/>
              </a:rPr>
              <a:t>              </a:t>
            </a:r>
            <a:br>
              <a:rPr lang="en-US" altLang="sr-Latn-RS" sz="2800" b="1" dirty="0">
                <a:latin typeface="+mn-lt"/>
              </a:rPr>
            </a:br>
            <a:r>
              <a:rPr lang="hr-HR" altLang="sr-Latn-RS" sz="2800" b="1" dirty="0">
                <a:latin typeface="+mn-lt"/>
              </a:rPr>
              <a:t>Konvergirajuće kolektivno ponašanje</a:t>
            </a:r>
            <a:br>
              <a:rPr lang="hr-HR" altLang="sr-Latn-RS" b="1" dirty="0">
                <a:latin typeface="Arial" panose="020B0604020202020204" pitchFamily="34" charset="0"/>
              </a:rPr>
            </a:br>
            <a:endParaRPr lang="hr-HR" dirty="0"/>
          </a:p>
        </p:txBody>
      </p:sp>
      <p:sp>
        <p:nvSpPr>
          <p:cNvPr id="3" name="Content Placeholder 2"/>
          <p:cNvSpPr>
            <a:spLocks noGrp="1"/>
          </p:cNvSpPr>
          <p:nvPr>
            <p:ph idx="1"/>
          </p:nvPr>
        </p:nvSpPr>
        <p:spPr>
          <a:xfrm>
            <a:off x="335360" y="2348880"/>
            <a:ext cx="11161240" cy="3899520"/>
          </a:xfrm>
        </p:spPr>
        <p:txBody>
          <a:bodyPr/>
          <a:lstStyle/>
          <a:p>
            <a:r>
              <a:rPr lang="en-US" altLang="sr-Latn-RS" sz="2400" dirty="0"/>
              <a:t>Č</a:t>
            </a:r>
            <a:r>
              <a:rPr lang="hr-HR" altLang="sr-Latn-RS" sz="2400" dirty="0"/>
              <a:t>vršća struktura i veća koncentracija od raspršenog </a:t>
            </a:r>
            <a:endParaRPr lang="en-US" altLang="sr-Latn-RS" sz="2400" dirty="0"/>
          </a:p>
          <a:p>
            <a:endParaRPr lang="en-US" altLang="sr-Latn-RS" sz="2400" dirty="0"/>
          </a:p>
          <a:p>
            <a:pPr>
              <a:spcBef>
                <a:spcPct val="0"/>
              </a:spcBef>
              <a:buClrTx/>
              <a:buSzTx/>
              <a:buNone/>
            </a:pPr>
            <a:endParaRPr lang="en-US" altLang="sr-Latn-RS" sz="2400" b="1" dirty="0"/>
          </a:p>
          <a:p>
            <a:pPr>
              <a:spcBef>
                <a:spcPct val="0"/>
              </a:spcBef>
              <a:buClrTx/>
              <a:buSzTx/>
              <a:buNone/>
            </a:pPr>
            <a:endParaRPr lang="en-US" altLang="sr-Latn-RS" sz="2400" b="1" dirty="0"/>
          </a:p>
          <a:p>
            <a:r>
              <a:rPr lang="hr-HR" altLang="sr-Latn-RS" sz="2400" b="1" dirty="0"/>
              <a:t>Gomila</a:t>
            </a:r>
            <a:r>
              <a:rPr lang="hr-HR" altLang="sr-Latn-RS" sz="2400" dirty="0"/>
              <a:t> – najpoznatiji oblik konvergirajućeg kolektivnog  ponašanja</a:t>
            </a:r>
            <a:r>
              <a:rPr lang="en-US" altLang="sr-Latn-RS" sz="2400" dirty="0"/>
              <a:t>. </a:t>
            </a:r>
            <a:r>
              <a:rPr lang="hr-HR" altLang="sr-Latn-RS" sz="2400" dirty="0"/>
              <a:t>Privremeno okupljanje većeg broja ljudi koji imaju zajedničko središte pozornosti i snažno utječu jedni na druge</a:t>
            </a:r>
          </a:p>
          <a:p>
            <a:endParaRPr lang="hr-HR" altLang="sr-Latn-RS" sz="2400" dirty="0"/>
          </a:p>
          <a:p>
            <a:endParaRPr lang="hr-HR" dirty="0"/>
          </a:p>
        </p:txBody>
      </p:sp>
    </p:spTree>
    <p:extLst>
      <p:ext uri="{BB962C8B-B14F-4D97-AF65-F5344CB8AC3E}">
        <p14:creationId xmlns:p14="http://schemas.microsoft.com/office/powerpoint/2010/main" val="2452817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3392" y="181023"/>
            <a:ext cx="9402274" cy="1400530"/>
          </a:xfrm>
        </p:spPr>
        <p:txBody>
          <a:bodyPr/>
          <a:lstStyle/>
          <a:p>
            <a:pPr algn="ctr"/>
            <a:r>
              <a:rPr lang="hr-HR" altLang="sr-Latn-RS" sz="2800" b="1" dirty="0">
                <a:latin typeface="+mn-lt"/>
              </a:rPr>
              <a:t>Tipovi gomile</a:t>
            </a:r>
            <a:endParaRPr lang="hr-HR" sz="2800" dirty="0">
              <a:latin typeface="+mn-lt"/>
            </a:endParaRPr>
          </a:p>
        </p:txBody>
      </p:sp>
      <p:sp>
        <p:nvSpPr>
          <p:cNvPr id="3" name="Content Placeholder 2"/>
          <p:cNvSpPr>
            <a:spLocks noGrp="1"/>
          </p:cNvSpPr>
          <p:nvPr>
            <p:ph idx="1"/>
          </p:nvPr>
        </p:nvSpPr>
        <p:spPr>
          <a:xfrm>
            <a:off x="-151714" y="6093297"/>
            <a:ext cx="8994309" cy="3950608"/>
          </a:xfrm>
        </p:spPr>
        <p:txBody>
          <a:bodyPr>
            <a:normAutofit/>
          </a:bodyPr>
          <a:lstStyle/>
          <a:p>
            <a:pPr marL="0" indent="0">
              <a:buNone/>
            </a:pPr>
            <a:endParaRPr lang="en-US" altLang="sr-Latn-RS" sz="2400" dirty="0"/>
          </a:p>
          <a:p>
            <a:endParaRPr lang="hr-HR" dirty="0"/>
          </a:p>
        </p:txBody>
      </p:sp>
      <p:pic>
        <p:nvPicPr>
          <p:cNvPr id="4" name="Picture 13" descr="13eq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620604" y="178226"/>
            <a:ext cx="2522409" cy="1577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p:cNvSpPr txBox="1"/>
          <p:nvPr/>
        </p:nvSpPr>
        <p:spPr>
          <a:xfrm>
            <a:off x="6888089" y="3835691"/>
            <a:ext cx="3038025" cy="646331"/>
          </a:xfrm>
          <a:prstGeom prst="rect">
            <a:avLst/>
          </a:prstGeom>
          <a:noFill/>
        </p:spPr>
        <p:txBody>
          <a:bodyPr wrap="square" rtlCol="0">
            <a:spAutoFit/>
          </a:bodyPr>
          <a:lstStyle/>
          <a:p>
            <a:endParaRPr lang="hr-HR" altLang="sr-Latn-RS" dirty="0"/>
          </a:p>
          <a:p>
            <a:endParaRPr lang="hr-HR" dirty="0"/>
          </a:p>
        </p:txBody>
      </p:sp>
      <p:pic>
        <p:nvPicPr>
          <p:cNvPr id="6" name="Picture 11" descr="stfest_2008_FESTIVALSKA%20PUBLIK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441602" y="1769576"/>
            <a:ext cx="2186414" cy="16400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6" name="Picture 2" descr="Amid Crisis in Brazil, the Evangelical Bloc Emerges as a Political Power |  The Nation"/>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153805" y="3444150"/>
            <a:ext cx="2506591" cy="1578804"/>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England's hooligan problem: Why do some Three Lions fans cause such trouble  away from home?"/>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240252" y="5057433"/>
            <a:ext cx="2926598" cy="164621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138116" y="992800"/>
            <a:ext cx="8414648" cy="461665"/>
          </a:xfrm>
          <a:prstGeom prst="rect">
            <a:avLst/>
          </a:prstGeom>
          <a:noFill/>
        </p:spPr>
        <p:txBody>
          <a:bodyPr wrap="square" rtlCol="0">
            <a:spAutoFit/>
          </a:bodyPr>
          <a:lstStyle/>
          <a:p>
            <a:pPr marL="342900" indent="-342900">
              <a:buFont typeface="Arial" panose="020B0604020202020204" pitchFamily="34" charset="0"/>
              <a:buChar char="•"/>
            </a:pPr>
            <a:r>
              <a:rPr lang="en-US" sz="2400" dirty="0"/>
              <a:t>SLUČAJNA GOMILA  (</a:t>
            </a:r>
            <a:r>
              <a:rPr lang="en-US" sz="2400" dirty="0" err="1"/>
              <a:t>ljudi</a:t>
            </a:r>
            <a:r>
              <a:rPr lang="en-US" sz="2400" dirty="0"/>
              <a:t> se </a:t>
            </a:r>
            <a:r>
              <a:rPr lang="en-US" sz="2400" dirty="0" err="1"/>
              <a:t>okupili</a:t>
            </a:r>
            <a:r>
              <a:rPr lang="en-US" sz="2400" dirty="0"/>
              <a:t> da </a:t>
            </a:r>
            <a:r>
              <a:rPr lang="en-US" sz="2400" dirty="0" err="1"/>
              <a:t>promatraju</a:t>
            </a:r>
            <a:r>
              <a:rPr lang="en-US" sz="2400" dirty="0"/>
              <a:t> </a:t>
            </a:r>
            <a:r>
              <a:rPr lang="en-US" sz="2400" dirty="0" err="1"/>
              <a:t>požar</a:t>
            </a:r>
            <a:r>
              <a:rPr lang="en-US" sz="2400" dirty="0"/>
              <a:t>…)</a:t>
            </a:r>
            <a:endParaRPr lang="hr-HR" sz="2400" dirty="0"/>
          </a:p>
        </p:txBody>
      </p:sp>
      <p:sp>
        <p:nvSpPr>
          <p:cNvPr id="8" name="TextBox 7"/>
          <p:cNvSpPr txBox="1"/>
          <p:nvPr/>
        </p:nvSpPr>
        <p:spPr>
          <a:xfrm>
            <a:off x="129624" y="2381330"/>
            <a:ext cx="9110628" cy="461665"/>
          </a:xfrm>
          <a:prstGeom prst="rect">
            <a:avLst/>
          </a:prstGeom>
          <a:noFill/>
        </p:spPr>
        <p:txBody>
          <a:bodyPr wrap="square" rtlCol="0">
            <a:spAutoFit/>
          </a:bodyPr>
          <a:lstStyle/>
          <a:p>
            <a:pPr marL="342900" indent="-342900">
              <a:buFont typeface="Arial" panose="020B0604020202020204" pitchFamily="34" charset="0"/>
              <a:buChar char="•"/>
            </a:pPr>
            <a:r>
              <a:rPr lang="en-US" sz="2400" dirty="0"/>
              <a:t>KONVENCIONALNA GOMILA (</a:t>
            </a:r>
            <a:r>
              <a:rPr lang="en-US" sz="2400" dirty="0" err="1"/>
              <a:t>publika</a:t>
            </a:r>
            <a:r>
              <a:rPr lang="en-US" sz="2400" dirty="0"/>
              <a:t> u </a:t>
            </a:r>
            <a:r>
              <a:rPr lang="en-US" sz="2400" dirty="0" err="1"/>
              <a:t>kazalištu</a:t>
            </a:r>
            <a:r>
              <a:rPr lang="en-US" sz="2400" dirty="0"/>
              <a:t>…) </a:t>
            </a:r>
            <a:endParaRPr lang="hr-HR" sz="2400" dirty="0"/>
          </a:p>
        </p:txBody>
      </p:sp>
      <p:sp>
        <p:nvSpPr>
          <p:cNvPr id="9" name="TextBox 8"/>
          <p:cNvSpPr txBox="1"/>
          <p:nvPr/>
        </p:nvSpPr>
        <p:spPr>
          <a:xfrm>
            <a:off x="181078" y="3683899"/>
            <a:ext cx="6707008" cy="1846659"/>
          </a:xfrm>
          <a:prstGeom prst="rect">
            <a:avLst/>
          </a:prstGeom>
          <a:noFill/>
        </p:spPr>
        <p:txBody>
          <a:bodyPr wrap="square" rtlCol="0">
            <a:spAutoFit/>
          </a:bodyPr>
          <a:lstStyle/>
          <a:p>
            <a:pPr marL="342900" indent="-342900">
              <a:buFont typeface="Arial" panose="020B0604020202020204" pitchFamily="34" charset="0"/>
              <a:buChar char="•"/>
            </a:pPr>
            <a:r>
              <a:rPr lang="en-US" sz="2400" dirty="0"/>
              <a:t>EKSPRESIVNA GOMILA (</a:t>
            </a:r>
            <a:r>
              <a:rPr lang="hr-HR" altLang="sr-Latn-RS" sz="2400" dirty="0"/>
              <a:t>rock- koncert, religijsko okupljanje</a:t>
            </a:r>
            <a:r>
              <a:rPr lang="en-US" altLang="sr-Latn-RS" sz="2400" dirty="0"/>
              <a:t> - </a:t>
            </a:r>
            <a:r>
              <a:rPr lang="hr-HR" altLang="sr-Latn-RS" sz="2400" dirty="0"/>
              <a:t>sudionici žele uzbuđenje!)</a:t>
            </a:r>
            <a:endParaRPr lang="en-US" altLang="sr-Latn-RS" sz="2400" dirty="0"/>
          </a:p>
          <a:p>
            <a:pPr marL="342900" indent="-342900">
              <a:buFont typeface="Arial" panose="020B0604020202020204" pitchFamily="34" charset="0"/>
              <a:buChar char="•"/>
            </a:pPr>
            <a:endParaRPr lang="en-US" altLang="sr-Latn-RS" sz="2400" dirty="0"/>
          </a:p>
          <a:p>
            <a:pPr marL="342900" indent="-342900">
              <a:buFont typeface="Arial" panose="020B0604020202020204" pitchFamily="34" charset="0"/>
              <a:buChar char="•"/>
            </a:pPr>
            <a:endParaRPr lang="hr-HR" altLang="sr-Latn-RS" sz="2400" dirty="0"/>
          </a:p>
          <a:p>
            <a:endParaRPr lang="hr-HR" dirty="0"/>
          </a:p>
        </p:txBody>
      </p:sp>
      <p:sp>
        <p:nvSpPr>
          <p:cNvPr id="10" name="TextBox 9"/>
          <p:cNvSpPr txBox="1"/>
          <p:nvPr/>
        </p:nvSpPr>
        <p:spPr>
          <a:xfrm>
            <a:off x="129623" y="5380672"/>
            <a:ext cx="8712972" cy="1107996"/>
          </a:xfrm>
          <a:prstGeom prst="rect">
            <a:avLst/>
          </a:prstGeom>
          <a:noFill/>
        </p:spPr>
        <p:txBody>
          <a:bodyPr wrap="square" rtlCol="0">
            <a:spAutoFit/>
          </a:bodyPr>
          <a:lstStyle/>
          <a:p>
            <a:pPr marL="342900" indent="-342900">
              <a:spcBef>
                <a:spcPct val="0"/>
              </a:spcBef>
              <a:buFont typeface="Arial" panose="020B0604020202020204" pitchFamily="34" charset="0"/>
              <a:buChar char="•"/>
            </a:pPr>
            <a:r>
              <a:rPr lang="en-US" sz="2400" dirty="0"/>
              <a:t>AKTIVNA GOMILA (</a:t>
            </a:r>
            <a:r>
              <a:rPr lang="hr-HR" altLang="sr-Latn-RS" sz="2400" dirty="0"/>
              <a:t>pozornost usmjerena na točno određeni cilj, snažne</a:t>
            </a:r>
            <a:r>
              <a:rPr lang="en-US" altLang="sr-Latn-RS" sz="2400" dirty="0"/>
              <a:t> </a:t>
            </a:r>
            <a:r>
              <a:rPr lang="hr-HR" altLang="sr-Latn-RS" sz="2400" dirty="0"/>
              <a:t>emocije, agresivne i rušilačke značajke, rulja</a:t>
            </a:r>
            <a:r>
              <a:rPr lang="en-US" altLang="sr-Latn-RS" sz="2400" dirty="0"/>
              <a:t>)</a:t>
            </a:r>
            <a:endParaRPr lang="hr-HR" altLang="sr-Latn-RS" sz="2400" dirty="0"/>
          </a:p>
          <a:p>
            <a:endParaRPr lang="hr-HR" dirty="0"/>
          </a:p>
        </p:txBody>
      </p:sp>
    </p:spTree>
    <p:extLst>
      <p:ext uri="{BB962C8B-B14F-4D97-AF65-F5344CB8AC3E}">
        <p14:creationId xmlns:p14="http://schemas.microsoft.com/office/powerpoint/2010/main" val="3515911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2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hr-HR"/>
          </a:p>
        </p:txBody>
      </p:sp>
      <p:sp>
        <p:nvSpPr>
          <p:cNvPr id="3" name="Content Placeholder 2"/>
          <p:cNvSpPr>
            <a:spLocks noGrp="1"/>
          </p:cNvSpPr>
          <p:nvPr>
            <p:ph idx="1"/>
          </p:nvPr>
        </p:nvSpPr>
        <p:spPr>
          <a:xfrm>
            <a:off x="1104614" y="2052920"/>
            <a:ext cx="10391987" cy="4195481"/>
          </a:xfrm>
        </p:spPr>
        <p:txBody>
          <a:bodyPr/>
          <a:lstStyle/>
          <a:p>
            <a:pPr marL="0" indent="0">
              <a:buNone/>
            </a:pPr>
            <a:r>
              <a:rPr lang="hr-HR" altLang="sr-Latn-RS" b="1" dirty="0"/>
              <a:t>Konvencionalna</a:t>
            </a:r>
            <a:r>
              <a:rPr lang="hr-HR" altLang="sr-Latn-RS" dirty="0"/>
              <a:t> i </a:t>
            </a:r>
            <a:r>
              <a:rPr lang="hr-HR" altLang="sr-Latn-RS" b="1" dirty="0"/>
              <a:t>ekspresivna</a:t>
            </a:r>
            <a:r>
              <a:rPr lang="hr-HR" altLang="sr-Latn-RS" dirty="0"/>
              <a:t> gomila lako se pretvaraju u </a:t>
            </a:r>
            <a:r>
              <a:rPr lang="hr-HR" altLang="sr-Latn-RS" b="1" dirty="0"/>
              <a:t>aktivnu gomilu</a:t>
            </a:r>
            <a:r>
              <a:rPr lang="en-US" altLang="sr-Latn-RS" sz="2000" dirty="0"/>
              <a:t>.</a:t>
            </a:r>
            <a:endParaRPr lang="hr-HR" altLang="sr-Latn-RS" sz="2000" dirty="0"/>
          </a:p>
          <a:p>
            <a:endParaRPr lang="hr-HR" dirty="0"/>
          </a:p>
        </p:txBody>
      </p:sp>
    </p:spTree>
    <p:extLst>
      <p:ext uri="{BB962C8B-B14F-4D97-AF65-F5344CB8AC3E}">
        <p14:creationId xmlns:p14="http://schemas.microsoft.com/office/powerpoint/2010/main" val="21591053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hr-HR"/>
          </a:p>
        </p:txBody>
      </p:sp>
      <p:sp>
        <p:nvSpPr>
          <p:cNvPr id="3" name="Content Placeholder 2"/>
          <p:cNvSpPr>
            <a:spLocks noGrp="1"/>
          </p:cNvSpPr>
          <p:nvPr>
            <p:ph idx="1"/>
          </p:nvPr>
        </p:nvSpPr>
        <p:spPr/>
        <p:txBody>
          <a:bodyPr>
            <a:normAutofit/>
          </a:bodyPr>
          <a:lstStyle/>
          <a:p>
            <a:r>
              <a:rPr lang="en-US" sz="2400" dirty="0"/>
              <a:t>ZNAČAJKE GOMILE:</a:t>
            </a:r>
          </a:p>
          <a:p>
            <a:endParaRPr lang="en-US" sz="2400" dirty="0"/>
          </a:p>
          <a:p>
            <a:pPr marL="0" indent="0">
              <a:buNone/>
            </a:pPr>
            <a:r>
              <a:rPr lang="en-US" sz="2400" dirty="0" err="1"/>
              <a:t>Sugestibilnost</a:t>
            </a:r>
            <a:endParaRPr lang="en-US" sz="2400" dirty="0"/>
          </a:p>
          <a:p>
            <a:pPr marL="0" indent="0">
              <a:buNone/>
            </a:pPr>
            <a:endParaRPr lang="en-US" sz="2400" dirty="0"/>
          </a:p>
          <a:p>
            <a:pPr marL="0" indent="0">
              <a:buNone/>
            </a:pPr>
            <a:r>
              <a:rPr lang="en-US" sz="2400" dirty="0" err="1"/>
              <a:t>Deindividualizacija</a:t>
            </a:r>
            <a:endParaRPr lang="en-US" sz="2400" dirty="0"/>
          </a:p>
          <a:p>
            <a:pPr marL="0" indent="0">
              <a:buNone/>
            </a:pPr>
            <a:endParaRPr lang="en-US" sz="2400" dirty="0"/>
          </a:p>
          <a:p>
            <a:pPr marL="0" indent="0">
              <a:buNone/>
            </a:pPr>
            <a:r>
              <a:rPr lang="en-US" sz="2400" dirty="0" err="1"/>
              <a:t>Osjećaj</a:t>
            </a:r>
            <a:r>
              <a:rPr lang="en-US" sz="2400" dirty="0"/>
              <a:t> </a:t>
            </a:r>
            <a:r>
              <a:rPr lang="en-US" sz="2400" dirty="0" err="1"/>
              <a:t>neranjivosto</a:t>
            </a:r>
            <a:endParaRPr lang="hr-HR" sz="2400" dirty="0"/>
          </a:p>
        </p:txBody>
      </p:sp>
    </p:spTree>
    <p:extLst>
      <p:ext uri="{BB962C8B-B14F-4D97-AF65-F5344CB8AC3E}">
        <p14:creationId xmlns:p14="http://schemas.microsoft.com/office/powerpoint/2010/main" val="4231507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t>Univerzalne</a:t>
            </a:r>
            <a:r>
              <a:rPr lang="en-US" b="1" dirty="0"/>
              <a:t> </a:t>
            </a:r>
            <a:r>
              <a:rPr lang="en-US" b="1" dirty="0" err="1"/>
              <a:t>društvene</a:t>
            </a:r>
            <a:r>
              <a:rPr lang="en-US" b="1" dirty="0"/>
              <a:t> </a:t>
            </a:r>
            <a:r>
              <a:rPr lang="en-US" b="1" dirty="0" err="1"/>
              <a:t>institucije</a:t>
            </a:r>
            <a:br>
              <a:rPr lang="en-US" b="1" dirty="0"/>
            </a:br>
            <a:r>
              <a:rPr lang="en-US" b="1" dirty="0" err="1"/>
              <a:t>Društvene</a:t>
            </a:r>
            <a:r>
              <a:rPr lang="en-US" b="1" dirty="0"/>
              <a:t> </a:t>
            </a:r>
            <a:r>
              <a:rPr lang="en-US" b="1" dirty="0" err="1"/>
              <a:t>mreže</a:t>
            </a:r>
            <a:r>
              <a:rPr lang="en-US" b="1" dirty="0"/>
              <a:t> </a:t>
            </a:r>
            <a:r>
              <a:rPr lang="en-US" b="1" dirty="0" err="1"/>
              <a:t>i</a:t>
            </a:r>
            <a:r>
              <a:rPr lang="en-US" b="1" dirty="0"/>
              <a:t> </a:t>
            </a:r>
            <a:r>
              <a:rPr lang="en-US" b="1" dirty="0" err="1"/>
              <a:t>društveni</a:t>
            </a:r>
            <a:r>
              <a:rPr lang="en-US" b="1" dirty="0"/>
              <a:t> </a:t>
            </a:r>
            <a:r>
              <a:rPr lang="en-US" b="1" dirty="0" err="1"/>
              <a:t>odnosi</a:t>
            </a:r>
            <a:endParaRPr lang="hr-HR" b="1" dirty="0"/>
          </a:p>
        </p:txBody>
      </p:sp>
      <p:sp>
        <p:nvSpPr>
          <p:cNvPr id="3" name="Content Placeholder 2"/>
          <p:cNvSpPr>
            <a:spLocks noGrp="1"/>
          </p:cNvSpPr>
          <p:nvPr>
            <p:ph idx="1"/>
          </p:nvPr>
        </p:nvSpPr>
        <p:spPr/>
        <p:txBody>
          <a:bodyPr/>
          <a:lstStyle/>
          <a:p>
            <a:pPr marL="0" indent="0">
              <a:buNone/>
            </a:pPr>
            <a:r>
              <a:rPr lang="hr-HR" dirty="0"/>
              <a:t>Ponovimo! </a:t>
            </a:r>
          </a:p>
          <a:p>
            <a:pPr marL="0" indent="0">
              <a:buNone/>
            </a:pPr>
            <a:r>
              <a:rPr lang="hr-HR" dirty="0"/>
              <a:t>Što znamo o društvenoj strukturi?</a:t>
            </a:r>
          </a:p>
          <a:p>
            <a:r>
              <a:rPr lang="hr-HR" dirty="0"/>
              <a:t>Najmanji sastavni dio te strukture činimo mi pojedinci koji zauzima određeni POLOŽAJ u društvu (pripisani ili postignuti)</a:t>
            </a:r>
          </a:p>
          <a:p>
            <a:r>
              <a:rPr lang="hr-HR" dirty="0"/>
              <a:t>Uz taj položaj vežu se određena očekivanja kako se moramo ponašati u tom položaju, odnosno igramo neku ULOGU</a:t>
            </a:r>
          </a:p>
          <a:p>
            <a:r>
              <a:rPr lang="hr-HR" dirty="0"/>
              <a:t>Kad povežemo više ljudi govorimo o društvenoj GRUPI – čini ju dvoje ili više ljudi u interakciji. Pritom razlikujemo primarne i sekundarne društvene grupe</a:t>
            </a:r>
          </a:p>
          <a:p>
            <a:endParaRPr lang="hr-HR" dirty="0"/>
          </a:p>
        </p:txBody>
      </p:sp>
    </p:spTree>
    <p:extLst>
      <p:ext uri="{BB962C8B-B14F-4D97-AF65-F5344CB8AC3E}">
        <p14:creationId xmlns:p14="http://schemas.microsoft.com/office/powerpoint/2010/main" val="1011974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5581" y="1052736"/>
            <a:ext cx="9402274" cy="1400530"/>
          </a:xfrm>
        </p:spPr>
        <p:txBody>
          <a:bodyPr/>
          <a:lstStyle/>
          <a:p>
            <a:pPr algn="ctr"/>
            <a:r>
              <a:rPr lang="en-US" b="1" dirty="0"/>
              <a:t>4. SOCIJALIZACIJA</a:t>
            </a:r>
            <a:endParaRPr lang="hr-HR" b="1" dirty="0"/>
          </a:p>
        </p:txBody>
      </p:sp>
      <p:sp>
        <p:nvSpPr>
          <p:cNvPr id="3" name="Content Placeholder 2"/>
          <p:cNvSpPr>
            <a:spLocks noGrp="1"/>
          </p:cNvSpPr>
          <p:nvPr>
            <p:ph idx="1"/>
          </p:nvPr>
        </p:nvSpPr>
        <p:spPr>
          <a:xfrm>
            <a:off x="1104613" y="1753002"/>
            <a:ext cx="8944211" cy="4988367"/>
          </a:xfrm>
        </p:spPr>
        <p:txBody>
          <a:bodyPr>
            <a:normAutofit lnSpcReduction="10000"/>
          </a:bodyPr>
          <a:lstStyle/>
          <a:p>
            <a:r>
              <a:rPr lang="en-US" sz="2400" dirty="0" err="1"/>
              <a:t>Proces</a:t>
            </a:r>
            <a:r>
              <a:rPr lang="en-US" sz="2400" dirty="0"/>
              <a:t> </a:t>
            </a:r>
            <a:r>
              <a:rPr lang="en-US" sz="2400" dirty="0" err="1"/>
              <a:t>učenja</a:t>
            </a:r>
            <a:r>
              <a:rPr lang="en-US" sz="2400" dirty="0"/>
              <a:t> </a:t>
            </a:r>
            <a:r>
              <a:rPr lang="en-US" sz="2400" dirty="0" err="1"/>
              <a:t>kojim</a:t>
            </a:r>
            <a:r>
              <a:rPr lang="en-US" sz="2400" dirty="0"/>
              <a:t> </a:t>
            </a:r>
            <a:r>
              <a:rPr lang="en-US" sz="2400" dirty="0" err="1"/>
              <a:t>usvajamo</a:t>
            </a:r>
            <a:r>
              <a:rPr lang="en-US" sz="2400" dirty="0"/>
              <a:t> </a:t>
            </a:r>
            <a:r>
              <a:rPr lang="en-US" sz="2400" dirty="0" err="1"/>
              <a:t>znanja</a:t>
            </a:r>
            <a:r>
              <a:rPr lang="en-US" sz="2400" dirty="0"/>
              <a:t>, </a:t>
            </a:r>
            <a:r>
              <a:rPr lang="en-US" sz="2400" dirty="0" err="1"/>
              <a:t>stavove</a:t>
            </a:r>
            <a:r>
              <a:rPr lang="en-US" sz="2400" dirty="0"/>
              <a:t>, </a:t>
            </a:r>
            <a:r>
              <a:rPr lang="en-US" sz="2400" dirty="0" err="1"/>
              <a:t>vrijednosti</a:t>
            </a:r>
            <a:r>
              <a:rPr lang="en-US" sz="2400" dirty="0"/>
              <a:t> </a:t>
            </a:r>
            <a:r>
              <a:rPr lang="en-US" sz="2400" dirty="0" err="1"/>
              <a:t>i</a:t>
            </a:r>
            <a:r>
              <a:rPr lang="en-US" sz="2400" dirty="0"/>
              <a:t> </a:t>
            </a:r>
            <a:r>
              <a:rPr lang="en-US" sz="2400" dirty="0" err="1"/>
              <a:t>ponašanje</a:t>
            </a:r>
            <a:r>
              <a:rPr lang="en-US" sz="2400" dirty="0"/>
              <a:t> </a:t>
            </a:r>
            <a:r>
              <a:rPr lang="en-US" sz="2400" dirty="0" err="1"/>
              <a:t>potrebna</a:t>
            </a:r>
            <a:r>
              <a:rPr lang="en-US" sz="2400" dirty="0"/>
              <a:t> </a:t>
            </a:r>
            <a:r>
              <a:rPr lang="en-US" sz="2400" dirty="0" err="1"/>
              <a:t>za</a:t>
            </a:r>
            <a:r>
              <a:rPr lang="en-US" sz="2400" dirty="0"/>
              <a:t> </a:t>
            </a:r>
            <a:r>
              <a:rPr lang="en-US" sz="2400" dirty="0" err="1"/>
              <a:t>sudjelovanje</a:t>
            </a:r>
            <a:r>
              <a:rPr lang="en-US" sz="2400" dirty="0"/>
              <a:t> u </a:t>
            </a:r>
            <a:r>
              <a:rPr lang="en-US" sz="2400" dirty="0" err="1"/>
              <a:t>društvenome</a:t>
            </a:r>
            <a:r>
              <a:rPr lang="en-US" sz="2400" dirty="0"/>
              <a:t> </a:t>
            </a:r>
            <a:r>
              <a:rPr lang="en-US" sz="2400" dirty="0" err="1"/>
              <a:t>životu</a:t>
            </a:r>
            <a:r>
              <a:rPr lang="en-US" sz="2400" dirty="0"/>
              <a:t>. </a:t>
            </a:r>
            <a:r>
              <a:rPr lang="en-US" sz="2400" dirty="0" err="1"/>
              <a:t>Socijalizacijom</a:t>
            </a:r>
            <a:r>
              <a:rPr lang="en-US" sz="2400" dirty="0"/>
              <a:t> </a:t>
            </a:r>
            <a:r>
              <a:rPr lang="en-US" sz="2400" dirty="0" err="1"/>
              <a:t>pojedinac</a:t>
            </a:r>
            <a:r>
              <a:rPr lang="en-US" sz="2400" dirty="0"/>
              <a:t> </a:t>
            </a:r>
            <a:r>
              <a:rPr lang="en-US" sz="2400" dirty="0" err="1"/>
              <a:t>razvija</a:t>
            </a:r>
            <a:r>
              <a:rPr lang="en-US" sz="2400" dirty="0"/>
              <a:t> </a:t>
            </a:r>
            <a:r>
              <a:rPr lang="en-US" sz="2400" dirty="0" err="1"/>
              <a:t>svoju</a:t>
            </a:r>
            <a:r>
              <a:rPr lang="en-US" sz="2400" dirty="0"/>
              <a:t> </a:t>
            </a:r>
            <a:r>
              <a:rPr lang="en-US" sz="2400" b="1" dirty="0" err="1"/>
              <a:t>ličnost</a:t>
            </a:r>
            <a:r>
              <a:rPr lang="en-US" sz="2400" dirty="0"/>
              <a:t> </a:t>
            </a:r>
            <a:r>
              <a:rPr lang="en-US" sz="2400" dirty="0" err="1"/>
              <a:t>i</a:t>
            </a:r>
            <a:r>
              <a:rPr lang="en-US" sz="2400" dirty="0"/>
              <a:t> </a:t>
            </a:r>
            <a:r>
              <a:rPr lang="en-US" sz="2400" b="1" dirty="0" err="1"/>
              <a:t>osobni</a:t>
            </a:r>
            <a:r>
              <a:rPr lang="en-US" sz="2400" b="1" dirty="0"/>
              <a:t> </a:t>
            </a:r>
            <a:r>
              <a:rPr lang="en-US" sz="2400" b="1" dirty="0" err="1"/>
              <a:t>identitet</a:t>
            </a:r>
            <a:r>
              <a:rPr lang="en-US" sz="2400" dirty="0"/>
              <a:t>.</a:t>
            </a:r>
          </a:p>
          <a:p>
            <a:r>
              <a:rPr lang="en-US" sz="2400" dirty="0" err="1"/>
              <a:t>Čovjek</a:t>
            </a:r>
            <a:r>
              <a:rPr lang="en-US" sz="2400" dirty="0"/>
              <a:t> se </a:t>
            </a:r>
            <a:r>
              <a:rPr lang="en-US" sz="2400" dirty="0" err="1"/>
              <a:t>rađa</a:t>
            </a:r>
            <a:r>
              <a:rPr lang="en-US" sz="2400" dirty="0"/>
              <a:t> </a:t>
            </a:r>
            <a:r>
              <a:rPr lang="en-US" sz="2400" dirty="0" err="1"/>
              <a:t>kao</a:t>
            </a:r>
            <a:r>
              <a:rPr lang="en-US" sz="2400" dirty="0"/>
              <a:t> </a:t>
            </a:r>
            <a:r>
              <a:rPr lang="en-US" sz="2400" dirty="0" err="1"/>
              <a:t>ljudsko</a:t>
            </a:r>
            <a:r>
              <a:rPr lang="en-US" sz="2400" dirty="0"/>
              <a:t> </a:t>
            </a:r>
            <a:r>
              <a:rPr lang="en-US" sz="2400" dirty="0" err="1"/>
              <a:t>biće</a:t>
            </a:r>
            <a:r>
              <a:rPr lang="en-US" sz="2400" dirty="0"/>
              <a:t> u </a:t>
            </a:r>
            <a:r>
              <a:rPr lang="en-US" sz="2400" dirty="0" err="1"/>
              <a:t>biološkom</a:t>
            </a:r>
            <a:r>
              <a:rPr lang="en-US" sz="2400" dirty="0"/>
              <a:t> </a:t>
            </a:r>
            <a:r>
              <a:rPr lang="en-US" sz="2400" dirty="0" err="1"/>
              <a:t>smislu</a:t>
            </a:r>
            <a:r>
              <a:rPr lang="en-US" sz="2400" dirty="0"/>
              <a:t>, no </a:t>
            </a:r>
            <a:r>
              <a:rPr lang="en-US" sz="2400" dirty="0" err="1"/>
              <a:t>svoju</a:t>
            </a:r>
            <a:r>
              <a:rPr lang="en-US" sz="2400" dirty="0"/>
              <a:t> </a:t>
            </a:r>
            <a:r>
              <a:rPr lang="en-US" sz="2400" b="1" dirty="0" err="1"/>
              <a:t>ljudskost</a:t>
            </a:r>
            <a:r>
              <a:rPr lang="en-US" sz="2400" dirty="0"/>
              <a:t> </a:t>
            </a:r>
            <a:r>
              <a:rPr lang="en-US" sz="2400" dirty="0" err="1"/>
              <a:t>razvija</a:t>
            </a:r>
            <a:r>
              <a:rPr lang="en-US" sz="2400" dirty="0"/>
              <a:t> u </a:t>
            </a:r>
            <a:r>
              <a:rPr lang="en-US" sz="2400" dirty="0" err="1"/>
              <a:t>interakciji</a:t>
            </a:r>
            <a:r>
              <a:rPr lang="en-US" sz="2400" dirty="0"/>
              <a:t> s </a:t>
            </a:r>
            <a:r>
              <a:rPr lang="en-US" sz="2400" dirty="0" err="1"/>
              <a:t>ostalim</a:t>
            </a:r>
            <a:r>
              <a:rPr lang="en-US" sz="2400" dirty="0"/>
              <a:t> </a:t>
            </a:r>
            <a:r>
              <a:rPr lang="en-US" sz="2400" dirty="0" err="1"/>
              <a:t>članovima</a:t>
            </a:r>
            <a:r>
              <a:rPr lang="en-US" sz="2400" dirty="0"/>
              <a:t> </a:t>
            </a:r>
            <a:r>
              <a:rPr lang="en-US" sz="2400" dirty="0" err="1"/>
              <a:t>svoga</a:t>
            </a:r>
            <a:r>
              <a:rPr lang="en-US" sz="2400" dirty="0"/>
              <a:t> </a:t>
            </a:r>
            <a:r>
              <a:rPr lang="en-US" sz="2400" dirty="0" err="1"/>
              <a:t>društva</a:t>
            </a:r>
            <a:r>
              <a:rPr lang="en-US" sz="2400" dirty="0"/>
              <a:t>.</a:t>
            </a:r>
          </a:p>
          <a:p>
            <a:endParaRPr lang="en-US" sz="2400" dirty="0"/>
          </a:p>
          <a:p>
            <a:r>
              <a:rPr lang="en-US" sz="2400" b="1" dirty="0"/>
              <a:t>BIOLOŠKI DETERMINIZAM </a:t>
            </a:r>
            <a:r>
              <a:rPr lang="en-US" sz="2400" dirty="0"/>
              <a:t>– </a:t>
            </a:r>
            <a:r>
              <a:rPr lang="en-US" sz="2400" dirty="0" err="1"/>
              <a:t>smatra</a:t>
            </a:r>
            <a:r>
              <a:rPr lang="en-US" sz="2400" dirty="0"/>
              <a:t> da je </a:t>
            </a:r>
            <a:r>
              <a:rPr lang="en-US" sz="2400" dirty="0" err="1"/>
              <a:t>većinaosobina</a:t>
            </a:r>
            <a:r>
              <a:rPr lang="en-US" sz="2400" dirty="0"/>
              <a:t> </a:t>
            </a:r>
            <a:r>
              <a:rPr lang="en-US" sz="2400" dirty="0" err="1"/>
              <a:t>i</a:t>
            </a:r>
            <a:r>
              <a:rPr lang="en-US" sz="2400" dirty="0"/>
              <a:t> </a:t>
            </a:r>
            <a:r>
              <a:rPr lang="en-US" sz="2400" dirty="0" err="1"/>
              <a:t>ljudskoga</a:t>
            </a:r>
            <a:r>
              <a:rPr lang="en-US" sz="2400" dirty="0"/>
              <a:t> </a:t>
            </a:r>
            <a:r>
              <a:rPr lang="en-US" sz="2400" dirty="0" err="1"/>
              <a:t>ponašanja</a:t>
            </a:r>
            <a:r>
              <a:rPr lang="en-US" sz="2400" dirty="0"/>
              <a:t> </a:t>
            </a:r>
            <a:r>
              <a:rPr lang="en-US" sz="2400" dirty="0" err="1"/>
              <a:t>uvjetovana</a:t>
            </a:r>
            <a:r>
              <a:rPr lang="en-US" sz="2400" dirty="0"/>
              <a:t> </a:t>
            </a:r>
            <a:r>
              <a:rPr lang="en-US" sz="2400" dirty="0" err="1"/>
              <a:t>genetskim</a:t>
            </a:r>
            <a:r>
              <a:rPr lang="en-US" sz="2400" dirty="0"/>
              <a:t> </a:t>
            </a:r>
            <a:r>
              <a:rPr lang="en-US" sz="2400" dirty="0" err="1"/>
              <a:t>nasljeđem</a:t>
            </a:r>
            <a:r>
              <a:rPr lang="en-US" sz="2400" dirty="0"/>
              <a:t>.</a:t>
            </a:r>
          </a:p>
          <a:p>
            <a:r>
              <a:rPr lang="en-US" sz="2400" b="1" dirty="0"/>
              <a:t>KULTURNI DETERMINIZAM </a:t>
            </a:r>
            <a:r>
              <a:rPr lang="en-US" sz="2400" dirty="0"/>
              <a:t>– </a:t>
            </a:r>
            <a:r>
              <a:rPr lang="en-US" sz="2400" dirty="0" err="1"/>
              <a:t>ljudska</a:t>
            </a:r>
            <a:r>
              <a:rPr lang="en-US" sz="2400" dirty="0"/>
              <a:t> </a:t>
            </a:r>
            <a:r>
              <a:rPr lang="en-US" sz="2400" dirty="0" err="1"/>
              <a:t>ponašanja</a:t>
            </a:r>
            <a:r>
              <a:rPr lang="en-US" sz="2400" dirty="0"/>
              <a:t> </a:t>
            </a:r>
            <a:r>
              <a:rPr lang="en-US" sz="2400" dirty="0" err="1"/>
              <a:t>usvajaju</a:t>
            </a:r>
            <a:r>
              <a:rPr lang="en-US" sz="2400" dirty="0"/>
              <a:t> se </a:t>
            </a:r>
            <a:r>
              <a:rPr lang="en-US" sz="2400" dirty="0" err="1"/>
              <a:t>socijalizacijom</a:t>
            </a:r>
            <a:r>
              <a:rPr lang="en-US" sz="2400" dirty="0"/>
              <a:t>, a </a:t>
            </a:r>
            <a:r>
              <a:rPr lang="en-US" sz="2400" dirty="0" err="1"/>
              <a:t>razlike</a:t>
            </a:r>
            <a:r>
              <a:rPr lang="en-US" sz="2400" dirty="0"/>
              <a:t> </a:t>
            </a:r>
            <a:r>
              <a:rPr lang="en-US" sz="2400" dirty="0" err="1"/>
              <a:t>među</a:t>
            </a:r>
            <a:r>
              <a:rPr lang="en-US" sz="2400" dirty="0"/>
              <a:t> </a:t>
            </a:r>
            <a:r>
              <a:rPr lang="en-US" sz="2400" dirty="0" err="1"/>
              <a:t>ljudskim</a:t>
            </a:r>
            <a:r>
              <a:rPr lang="en-US" sz="2400" dirty="0"/>
              <a:t> </a:t>
            </a:r>
            <a:r>
              <a:rPr lang="en-US" sz="2400" dirty="0" err="1"/>
              <a:t>skupinama</a:t>
            </a:r>
            <a:r>
              <a:rPr lang="en-US" sz="2400" dirty="0"/>
              <a:t> u </a:t>
            </a:r>
            <a:r>
              <a:rPr lang="en-US" sz="2400" dirty="0" err="1"/>
              <a:t>potpunosti</a:t>
            </a:r>
            <a:r>
              <a:rPr lang="en-US" sz="2400" dirty="0"/>
              <a:t> </a:t>
            </a:r>
            <a:r>
              <a:rPr lang="en-US" sz="2400" dirty="0" err="1"/>
              <a:t>su</a:t>
            </a:r>
            <a:r>
              <a:rPr lang="en-US" sz="2400" dirty="0"/>
              <a:t> </a:t>
            </a:r>
            <a:r>
              <a:rPr lang="en-US" sz="2400" dirty="0" err="1"/>
              <a:t>uvjetovane</a:t>
            </a:r>
            <a:r>
              <a:rPr lang="en-US" sz="2400" dirty="0"/>
              <a:t> </a:t>
            </a:r>
            <a:r>
              <a:rPr lang="en-US" sz="2400" dirty="0" err="1"/>
              <a:t>kulturom</a:t>
            </a:r>
            <a:r>
              <a:rPr lang="en-US" sz="2400" dirty="0"/>
              <a:t>, a ne </a:t>
            </a:r>
            <a:r>
              <a:rPr lang="en-US" sz="2400" dirty="0" err="1"/>
              <a:t>genetikom</a:t>
            </a:r>
            <a:r>
              <a:rPr lang="en-US" sz="2400" dirty="0"/>
              <a:t>.</a:t>
            </a:r>
          </a:p>
        </p:txBody>
      </p:sp>
      <p:sp>
        <p:nvSpPr>
          <p:cNvPr id="4" name="TextBox 3"/>
          <p:cNvSpPr txBox="1"/>
          <p:nvPr/>
        </p:nvSpPr>
        <p:spPr>
          <a:xfrm>
            <a:off x="191344" y="332656"/>
            <a:ext cx="11233248" cy="369332"/>
          </a:xfrm>
          <a:prstGeom prst="rect">
            <a:avLst/>
          </a:prstGeom>
          <a:noFill/>
        </p:spPr>
        <p:txBody>
          <a:bodyPr wrap="square" rtlCol="0">
            <a:spAutoFit/>
          </a:bodyPr>
          <a:lstStyle/>
          <a:p>
            <a:r>
              <a:rPr lang="en-US" dirty="0" err="1"/>
              <a:t>Feralna</a:t>
            </a:r>
            <a:r>
              <a:rPr lang="en-US" dirty="0"/>
              <a:t> </a:t>
            </a:r>
            <a:r>
              <a:rPr lang="en-US" dirty="0" err="1"/>
              <a:t>djeca</a:t>
            </a:r>
            <a:r>
              <a:rPr lang="en-US" dirty="0"/>
              <a:t>: https://www.youtube.com/watch?v=jsNLSp44TLI&amp;t=40s&amp;ab_channel=Top5s</a:t>
            </a:r>
            <a:endParaRPr lang="hr-HR" dirty="0"/>
          </a:p>
        </p:txBody>
      </p:sp>
    </p:spTree>
    <p:extLst>
      <p:ext uri="{BB962C8B-B14F-4D97-AF65-F5344CB8AC3E}">
        <p14:creationId xmlns:p14="http://schemas.microsoft.com/office/powerpoint/2010/main" val="31050462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hr-HR"/>
          </a:p>
        </p:txBody>
      </p:sp>
      <p:sp>
        <p:nvSpPr>
          <p:cNvPr id="3" name="Content Placeholder 2"/>
          <p:cNvSpPr>
            <a:spLocks noGrp="1"/>
          </p:cNvSpPr>
          <p:nvPr>
            <p:ph idx="1"/>
          </p:nvPr>
        </p:nvSpPr>
        <p:spPr>
          <a:xfrm>
            <a:off x="1104614" y="764705"/>
            <a:ext cx="8944211" cy="5483696"/>
          </a:xfrm>
        </p:spPr>
        <p:txBody>
          <a:bodyPr>
            <a:normAutofit/>
          </a:bodyPr>
          <a:lstStyle/>
          <a:p>
            <a:r>
              <a:rPr lang="en-US" sz="2400" b="1" dirty="0"/>
              <a:t>INTERNALIZACIJA</a:t>
            </a:r>
            <a:r>
              <a:rPr lang="en-US" sz="2400" dirty="0"/>
              <a:t>  - </a:t>
            </a:r>
            <a:r>
              <a:rPr lang="en-US" sz="2400" dirty="0" err="1"/>
              <a:t>proces</a:t>
            </a:r>
            <a:r>
              <a:rPr lang="en-US" sz="2400" dirty="0"/>
              <a:t> </a:t>
            </a:r>
            <a:r>
              <a:rPr lang="en-US" sz="2400" dirty="0" err="1"/>
              <a:t>usvajanja</a:t>
            </a:r>
            <a:r>
              <a:rPr lang="en-US" sz="2400" dirty="0"/>
              <a:t> </a:t>
            </a:r>
            <a:r>
              <a:rPr lang="en-US" sz="2400" dirty="0" err="1"/>
              <a:t>i</a:t>
            </a:r>
            <a:r>
              <a:rPr lang="en-US" sz="2400" dirty="0"/>
              <a:t> </a:t>
            </a:r>
            <a:r>
              <a:rPr lang="en-US" sz="2400" dirty="0" err="1"/>
              <a:t>prihvaćanja</a:t>
            </a:r>
            <a:r>
              <a:rPr lang="en-US" sz="2400" dirty="0"/>
              <a:t> </a:t>
            </a:r>
            <a:r>
              <a:rPr lang="en-US" sz="2400" dirty="0" err="1"/>
              <a:t>normi</a:t>
            </a:r>
            <a:r>
              <a:rPr lang="en-US" sz="2400" dirty="0"/>
              <a:t> </a:t>
            </a:r>
            <a:r>
              <a:rPr lang="en-US" sz="2400" dirty="0" err="1"/>
              <a:t>i</a:t>
            </a:r>
            <a:r>
              <a:rPr lang="en-US" sz="2400" dirty="0"/>
              <a:t> </a:t>
            </a:r>
            <a:r>
              <a:rPr lang="en-US" sz="2400" dirty="0" err="1"/>
              <a:t>kulture</a:t>
            </a:r>
            <a:r>
              <a:rPr lang="en-US" sz="2400" dirty="0"/>
              <a:t>.</a:t>
            </a:r>
          </a:p>
          <a:p>
            <a:endParaRPr lang="en-US" dirty="0"/>
          </a:p>
          <a:p>
            <a:pPr marL="0" indent="0">
              <a:buNone/>
            </a:pPr>
            <a:r>
              <a:rPr lang="en-US" sz="2400" b="1" dirty="0"/>
              <a:t>TIPOVI SOCIJALIZACIJE</a:t>
            </a:r>
          </a:p>
          <a:p>
            <a:pPr marL="457200" indent="-457200">
              <a:buAutoNum type="arabicPeriod"/>
            </a:pPr>
            <a:r>
              <a:rPr lang="en-US" sz="2400" dirty="0"/>
              <a:t>PRIMARNA SOCIJALIZACIJA</a:t>
            </a:r>
          </a:p>
          <a:p>
            <a:pPr marL="457200" indent="-457200">
              <a:buAutoNum type="arabicPeriod"/>
            </a:pPr>
            <a:r>
              <a:rPr lang="en-US" sz="2400" dirty="0"/>
              <a:t>SEKUNDARNA SOCIJALIZACIJA</a:t>
            </a:r>
          </a:p>
          <a:p>
            <a:pPr marL="457200" indent="-457200">
              <a:buAutoNum type="arabicPeriod"/>
            </a:pPr>
            <a:r>
              <a:rPr lang="en-US" sz="2400" dirty="0"/>
              <a:t>ANTICIPATIVNA SOCIJALIZCIJA </a:t>
            </a:r>
          </a:p>
          <a:p>
            <a:pPr marL="457200" indent="-457200">
              <a:buAutoNum type="arabicPeriod"/>
            </a:pPr>
            <a:r>
              <a:rPr lang="en-US" sz="2400" dirty="0"/>
              <a:t>RAZVOJNA SOCIJALIZACIJA</a:t>
            </a:r>
          </a:p>
          <a:p>
            <a:pPr marL="457200" indent="-457200">
              <a:buAutoNum type="arabicPeriod"/>
            </a:pPr>
            <a:r>
              <a:rPr lang="en-US" sz="2400" dirty="0"/>
              <a:t>OBRNUTA SOCIJALIZACIJA</a:t>
            </a:r>
          </a:p>
          <a:p>
            <a:pPr marL="457200" indent="-457200">
              <a:buAutoNum type="arabicPeriod"/>
            </a:pPr>
            <a:r>
              <a:rPr lang="en-US" sz="2400" dirty="0"/>
              <a:t>RESOCIJALIZACIJA</a:t>
            </a:r>
            <a:endParaRPr lang="hr-HR" sz="2400" dirty="0"/>
          </a:p>
        </p:txBody>
      </p:sp>
    </p:spTree>
    <p:extLst>
      <p:ext uri="{BB962C8B-B14F-4D97-AF65-F5344CB8AC3E}">
        <p14:creationId xmlns:p14="http://schemas.microsoft.com/office/powerpoint/2010/main" val="14029199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5686" y="406731"/>
            <a:ext cx="9402274" cy="1400530"/>
          </a:xfrm>
        </p:spPr>
        <p:txBody>
          <a:bodyPr/>
          <a:lstStyle/>
          <a:p>
            <a:endParaRPr lang="hr-HR" dirty="0"/>
          </a:p>
        </p:txBody>
      </p:sp>
      <p:sp>
        <p:nvSpPr>
          <p:cNvPr id="3" name="Content Placeholder 2"/>
          <p:cNvSpPr>
            <a:spLocks noGrp="1"/>
          </p:cNvSpPr>
          <p:nvPr>
            <p:ph idx="1"/>
          </p:nvPr>
        </p:nvSpPr>
        <p:spPr>
          <a:xfrm>
            <a:off x="1104614" y="188641"/>
            <a:ext cx="10031947" cy="6059761"/>
          </a:xfrm>
        </p:spPr>
        <p:txBody>
          <a:bodyPr>
            <a:normAutofit/>
          </a:bodyPr>
          <a:lstStyle/>
          <a:p>
            <a:r>
              <a:rPr lang="en-US" sz="2400" dirty="0"/>
              <a:t>    </a:t>
            </a:r>
            <a:r>
              <a:rPr lang="en-US" sz="2400" dirty="0" err="1"/>
              <a:t>Koje</a:t>
            </a:r>
            <a:r>
              <a:rPr lang="en-US" sz="2400" dirty="0"/>
              <a:t> </a:t>
            </a:r>
            <a:r>
              <a:rPr lang="en-US" sz="2400" dirty="0" err="1"/>
              <a:t>tipove</a:t>
            </a:r>
            <a:r>
              <a:rPr lang="en-US" sz="2400" dirty="0"/>
              <a:t> </a:t>
            </a:r>
            <a:r>
              <a:rPr lang="en-US" sz="2400" dirty="0" err="1"/>
              <a:t>socijalizacije</a:t>
            </a:r>
            <a:r>
              <a:rPr lang="en-US" sz="2400" dirty="0"/>
              <a:t> </a:t>
            </a:r>
            <a:r>
              <a:rPr lang="en-US" sz="2400" dirty="0" err="1"/>
              <a:t>prepoznaješ</a:t>
            </a:r>
            <a:r>
              <a:rPr lang="en-US" sz="2400" dirty="0"/>
              <a:t> </a:t>
            </a:r>
            <a:r>
              <a:rPr lang="en-US" sz="2400" dirty="0" err="1"/>
              <a:t>na</a:t>
            </a:r>
            <a:r>
              <a:rPr lang="en-US" sz="2400" dirty="0"/>
              <a:t> </a:t>
            </a:r>
            <a:r>
              <a:rPr lang="en-US" sz="2400" dirty="0" err="1"/>
              <a:t>ovim</a:t>
            </a:r>
            <a:r>
              <a:rPr lang="en-US" sz="2400" dirty="0"/>
              <a:t> </a:t>
            </a:r>
            <a:r>
              <a:rPr lang="en-US" sz="2400" dirty="0" err="1"/>
              <a:t>fotografijama</a:t>
            </a:r>
            <a:r>
              <a:rPr lang="en-US" sz="2400" dirty="0"/>
              <a:t>?</a:t>
            </a:r>
            <a:endParaRPr lang="hr-HR" sz="2400" dirty="0"/>
          </a:p>
        </p:txBody>
      </p:sp>
      <p:sp>
        <p:nvSpPr>
          <p:cNvPr id="4" name="Explosion 1 3"/>
          <p:cNvSpPr/>
          <p:nvPr/>
        </p:nvSpPr>
        <p:spPr>
          <a:xfrm>
            <a:off x="934547" y="199212"/>
            <a:ext cx="742915" cy="504056"/>
          </a:xfrm>
          <a:prstGeom prst="irregularSeal1">
            <a:avLst/>
          </a:prstGeom>
          <a:solidFill>
            <a:schemeClr val="tx1"/>
          </a:solidFill>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endParaRPr lang="hr-HR" dirty="0"/>
          </a:p>
        </p:txBody>
      </p:sp>
      <p:pic>
        <p:nvPicPr>
          <p:cNvPr id="1026" name="Picture 2" descr="healthy lifestyle for children upbringing without rewards and punishment -  BienMagazine.co.uk"/>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637471" y="4609726"/>
            <a:ext cx="3384376" cy="178125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pon Gate Primary School"/>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9377" y="1677003"/>
            <a:ext cx="3120483" cy="208032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Gift Guide: The Very Best Babies, Dolls &amp; Doll Accessories For All Ages &amp;  Stages - what moms love"/>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568827" y="1718342"/>
            <a:ext cx="3298266" cy="1941031"/>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hanghai moves to secure supply of nannies during Spring Festival | Nation  | China Daily"/>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84534" y="4504327"/>
            <a:ext cx="3156793" cy="2103214"/>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1,672 Computer Grandma Photos - Free &amp; Royalty-Free Stock Photos from  Dreamstime"/>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587791" y="1699773"/>
            <a:ext cx="3065590" cy="2034785"/>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One Flew Over the Cuckoo's Nest - the film that flew away with the 'big  five' top Oscars - Independent.ie"/>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534092" y="4542014"/>
            <a:ext cx="3395249" cy="191667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374081" y="1152983"/>
            <a:ext cx="3337313" cy="369332"/>
          </a:xfrm>
          <a:prstGeom prst="rect">
            <a:avLst/>
          </a:prstGeom>
          <a:noFill/>
        </p:spPr>
        <p:txBody>
          <a:bodyPr wrap="square" rtlCol="0">
            <a:spAutoFit/>
          </a:bodyPr>
          <a:lstStyle/>
          <a:p>
            <a:r>
              <a:rPr lang="en-US" dirty="0"/>
              <a:t>1. ______________________</a:t>
            </a:r>
            <a:endParaRPr lang="hr-HR" dirty="0"/>
          </a:p>
        </p:txBody>
      </p:sp>
      <p:sp>
        <p:nvSpPr>
          <p:cNvPr id="7" name="TextBox 6"/>
          <p:cNvSpPr txBox="1"/>
          <p:nvPr/>
        </p:nvSpPr>
        <p:spPr>
          <a:xfrm>
            <a:off x="4587791" y="1198401"/>
            <a:ext cx="3065590" cy="369332"/>
          </a:xfrm>
          <a:prstGeom prst="rect">
            <a:avLst/>
          </a:prstGeom>
          <a:noFill/>
        </p:spPr>
        <p:txBody>
          <a:bodyPr wrap="square" rtlCol="0">
            <a:spAutoFit/>
          </a:bodyPr>
          <a:lstStyle/>
          <a:p>
            <a:r>
              <a:rPr lang="en-US" dirty="0"/>
              <a:t>2. ______________________</a:t>
            </a:r>
            <a:endParaRPr lang="hr-HR" dirty="0"/>
          </a:p>
        </p:txBody>
      </p:sp>
      <p:sp>
        <p:nvSpPr>
          <p:cNvPr id="8" name="TextBox 7"/>
          <p:cNvSpPr txBox="1"/>
          <p:nvPr/>
        </p:nvSpPr>
        <p:spPr>
          <a:xfrm>
            <a:off x="8545327" y="1239964"/>
            <a:ext cx="3298266" cy="369332"/>
          </a:xfrm>
          <a:prstGeom prst="rect">
            <a:avLst/>
          </a:prstGeom>
          <a:noFill/>
        </p:spPr>
        <p:txBody>
          <a:bodyPr wrap="square" rtlCol="0">
            <a:spAutoFit/>
          </a:bodyPr>
          <a:lstStyle/>
          <a:p>
            <a:r>
              <a:rPr lang="en-US" dirty="0"/>
              <a:t>3. ________________________</a:t>
            </a:r>
            <a:endParaRPr lang="hr-HR" dirty="0"/>
          </a:p>
        </p:txBody>
      </p:sp>
      <p:sp>
        <p:nvSpPr>
          <p:cNvPr id="9" name="TextBox 8"/>
          <p:cNvSpPr txBox="1"/>
          <p:nvPr/>
        </p:nvSpPr>
        <p:spPr>
          <a:xfrm>
            <a:off x="374080" y="4149080"/>
            <a:ext cx="3167246" cy="369332"/>
          </a:xfrm>
          <a:prstGeom prst="rect">
            <a:avLst/>
          </a:prstGeom>
          <a:noFill/>
        </p:spPr>
        <p:txBody>
          <a:bodyPr wrap="square" rtlCol="0">
            <a:spAutoFit/>
          </a:bodyPr>
          <a:lstStyle/>
          <a:p>
            <a:r>
              <a:rPr lang="en-US" dirty="0"/>
              <a:t>4. _______________________</a:t>
            </a:r>
            <a:endParaRPr lang="hr-HR" dirty="0"/>
          </a:p>
        </p:txBody>
      </p:sp>
      <p:sp>
        <p:nvSpPr>
          <p:cNvPr id="10" name="TextBox 9"/>
          <p:cNvSpPr txBox="1"/>
          <p:nvPr/>
        </p:nvSpPr>
        <p:spPr>
          <a:xfrm>
            <a:off x="4554148" y="4042084"/>
            <a:ext cx="3375193" cy="369332"/>
          </a:xfrm>
          <a:prstGeom prst="rect">
            <a:avLst/>
          </a:prstGeom>
          <a:noFill/>
        </p:spPr>
        <p:txBody>
          <a:bodyPr wrap="square" rtlCol="0">
            <a:spAutoFit/>
          </a:bodyPr>
          <a:lstStyle/>
          <a:p>
            <a:r>
              <a:rPr lang="en-US" dirty="0"/>
              <a:t>5. _________________________</a:t>
            </a:r>
            <a:endParaRPr lang="hr-HR" dirty="0"/>
          </a:p>
        </p:txBody>
      </p:sp>
      <p:sp>
        <p:nvSpPr>
          <p:cNvPr id="11" name="TextBox 10"/>
          <p:cNvSpPr txBox="1"/>
          <p:nvPr/>
        </p:nvSpPr>
        <p:spPr>
          <a:xfrm>
            <a:off x="8637471" y="4042084"/>
            <a:ext cx="3384376" cy="369332"/>
          </a:xfrm>
          <a:prstGeom prst="rect">
            <a:avLst/>
          </a:prstGeom>
          <a:noFill/>
        </p:spPr>
        <p:txBody>
          <a:bodyPr wrap="square" rtlCol="0">
            <a:spAutoFit/>
          </a:bodyPr>
          <a:lstStyle/>
          <a:p>
            <a:r>
              <a:rPr lang="en-US" dirty="0"/>
              <a:t>6. _________________________</a:t>
            </a:r>
            <a:endParaRPr lang="hr-HR" dirty="0"/>
          </a:p>
        </p:txBody>
      </p:sp>
    </p:spTree>
    <p:extLst>
      <p:ext uri="{BB962C8B-B14F-4D97-AF65-F5344CB8AC3E}">
        <p14:creationId xmlns:p14="http://schemas.microsoft.com/office/powerpoint/2010/main" val="3255510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7531" y="452718"/>
            <a:ext cx="9402274" cy="1032066"/>
          </a:xfrm>
        </p:spPr>
        <p:txBody>
          <a:bodyPr>
            <a:normAutofit fontScale="90000"/>
          </a:bodyPr>
          <a:lstStyle/>
          <a:p>
            <a:pPr algn="ctr"/>
            <a:r>
              <a:rPr lang="en-US" sz="3200" b="1" dirty="0"/>
              <a:t>ČIMBENICI (AGENSI) SOCIJALIZACIJE</a:t>
            </a:r>
            <a:br>
              <a:rPr lang="en-US" b="1" dirty="0"/>
            </a:br>
            <a:endParaRPr lang="hr-HR" dirty="0"/>
          </a:p>
        </p:txBody>
      </p:sp>
      <p:sp>
        <p:nvSpPr>
          <p:cNvPr id="3" name="Content Placeholder 2"/>
          <p:cNvSpPr>
            <a:spLocks noGrp="1"/>
          </p:cNvSpPr>
          <p:nvPr>
            <p:ph idx="1"/>
          </p:nvPr>
        </p:nvSpPr>
        <p:spPr>
          <a:xfrm>
            <a:off x="191344" y="1484784"/>
            <a:ext cx="11809313" cy="5256585"/>
          </a:xfrm>
        </p:spPr>
        <p:txBody>
          <a:bodyPr>
            <a:normAutofit/>
          </a:bodyPr>
          <a:lstStyle/>
          <a:p>
            <a:pPr algn="just">
              <a:spcBef>
                <a:spcPct val="0"/>
              </a:spcBef>
              <a:buClrTx/>
              <a:buSzTx/>
              <a:buNone/>
            </a:pPr>
            <a:r>
              <a:rPr lang="en-US" sz="2200" b="1" dirty="0" err="1"/>
              <a:t>Obitelj</a:t>
            </a:r>
            <a:r>
              <a:rPr lang="en-US" sz="2200" dirty="0"/>
              <a:t> – </a:t>
            </a:r>
            <a:r>
              <a:rPr lang="en-US" sz="2200" dirty="0" err="1"/>
              <a:t>najznačajniji</a:t>
            </a:r>
            <a:r>
              <a:rPr lang="en-US" sz="2200" dirty="0"/>
              <a:t> </a:t>
            </a:r>
            <a:r>
              <a:rPr lang="en-US" sz="2200" dirty="0" err="1"/>
              <a:t>čimbenik</a:t>
            </a:r>
            <a:r>
              <a:rPr lang="en-US" sz="2200" dirty="0"/>
              <a:t> </a:t>
            </a:r>
            <a:r>
              <a:rPr lang="en-US" sz="2200" dirty="0" err="1"/>
              <a:t>socijalizacije</a:t>
            </a:r>
            <a:r>
              <a:rPr lang="en-US" sz="2200" dirty="0"/>
              <a:t>. D</a:t>
            </a:r>
            <a:r>
              <a:rPr lang="hr-HR" altLang="sr-Latn-RS" sz="2200" dirty="0"/>
              <a:t>ijete izgrađuje glavne</a:t>
            </a:r>
            <a:r>
              <a:rPr lang="en-US" altLang="sr-Latn-RS" sz="2200" dirty="0"/>
              <a:t> </a:t>
            </a:r>
            <a:r>
              <a:rPr lang="hr-HR" altLang="sr-Latn-RS" sz="2200" dirty="0"/>
              <a:t>  crte svoje osobnosti (prijateljstvo, velikodušnost, agresivnost</a:t>
            </a:r>
            <a:r>
              <a:rPr lang="en-US" altLang="sr-Latn-RS" sz="2200" dirty="0"/>
              <a:t>…</a:t>
            </a:r>
            <a:r>
              <a:rPr lang="hr-HR" altLang="sr-Latn-RS" sz="2200" dirty="0"/>
              <a:t>)</a:t>
            </a:r>
            <a:endParaRPr lang="en-US" altLang="sr-Latn-RS" sz="2200" dirty="0"/>
          </a:p>
          <a:p>
            <a:pPr algn="just">
              <a:spcBef>
                <a:spcPct val="0"/>
              </a:spcBef>
              <a:buClrTx/>
              <a:buSzTx/>
              <a:buNone/>
            </a:pPr>
            <a:endParaRPr lang="en-US" altLang="sr-Latn-RS" sz="2200" dirty="0"/>
          </a:p>
          <a:p>
            <a:pPr algn="just">
              <a:spcBef>
                <a:spcPct val="0"/>
              </a:spcBef>
              <a:buClrTx/>
              <a:buSzTx/>
              <a:buNone/>
            </a:pPr>
            <a:r>
              <a:rPr lang="en-US" altLang="sr-Latn-RS" sz="2200" b="1" dirty="0" err="1"/>
              <a:t>Škola</a:t>
            </a:r>
            <a:r>
              <a:rPr lang="en-US" altLang="sr-Latn-RS" sz="2200" dirty="0"/>
              <a:t> – </a:t>
            </a:r>
            <a:r>
              <a:rPr lang="en-US" altLang="sr-Latn-RS" sz="2200" dirty="0" err="1"/>
              <a:t>formalno</a:t>
            </a:r>
            <a:r>
              <a:rPr lang="en-US" altLang="sr-Latn-RS" sz="2200" dirty="0"/>
              <a:t> </a:t>
            </a:r>
            <a:r>
              <a:rPr lang="en-US" altLang="sr-Latn-RS" sz="2200" dirty="0" err="1"/>
              <a:t>podučava</a:t>
            </a:r>
            <a:r>
              <a:rPr lang="en-US" altLang="sr-Latn-RS" sz="2200" dirty="0"/>
              <a:t> </a:t>
            </a:r>
            <a:r>
              <a:rPr lang="en-US" altLang="sr-Latn-RS" sz="2200" dirty="0" err="1"/>
              <a:t>mlade</a:t>
            </a:r>
            <a:r>
              <a:rPr lang="en-US" altLang="sr-Latn-RS" sz="2200" dirty="0"/>
              <a:t> </a:t>
            </a:r>
            <a:r>
              <a:rPr lang="en-US" altLang="sr-Latn-RS" sz="2200" dirty="0" err="1"/>
              <a:t>znanjima</a:t>
            </a:r>
            <a:r>
              <a:rPr lang="en-US" altLang="sr-Latn-RS" sz="2200" dirty="0"/>
              <a:t> </a:t>
            </a:r>
            <a:r>
              <a:rPr lang="en-US" altLang="sr-Latn-RS" sz="2200" dirty="0" err="1"/>
              <a:t>i</a:t>
            </a:r>
            <a:r>
              <a:rPr lang="en-US" altLang="sr-Latn-RS" sz="2200" dirty="0"/>
              <a:t> </a:t>
            </a:r>
            <a:r>
              <a:rPr lang="en-US" altLang="sr-Latn-RS" sz="2200" dirty="0" err="1"/>
              <a:t>vještinama</a:t>
            </a:r>
            <a:r>
              <a:rPr lang="en-US" altLang="sr-Latn-RS" sz="2200" dirty="0"/>
              <a:t>. </a:t>
            </a:r>
            <a:r>
              <a:rPr lang="hr-HR" altLang="sr-Latn-RS" sz="2200" dirty="0"/>
              <a:t>uči ih točnosti,</a:t>
            </a:r>
            <a:r>
              <a:rPr lang="en-US" altLang="sr-Latn-RS" sz="2200" dirty="0"/>
              <a:t> </a:t>
            </a:r>
            <a:r>
              <a:rPr lang="hr-HR" altLang="sr-Latn-RS" sz="2200" dirty="0"/>
              <a:t>poštivanju školske discipline, poštivanju autoriteta,</a:t>
            </a:r>
            <a:r>
              <a:rPr lang="en-US" altLang="sr-Latn-RS" sz="2200" dirty="0"/>
              <a:t> </a:t>
            </a:r>
            <a:r>
              <a:rPr lang="hr-HR" altLang="sr-Latn-RS" sz="2200" dirty="0"/>
              <a:t>kontroli svojih osjećaja, odgovornosti, marljivosti</a:t>
            </a:r>
            <a:r>
              <a:rPr lang="en-US" altLang="sr-Latn-RS" sz="2200" dirty="0"/>
              <a:t>.</a:t>
            </a:r>
          </a:p>
          <a:p>
            <a:pPr algn="just">
              <a:spcBef>
                <a:spcPct val="0"/>
              </a:spcBef>
              <a:buClrTx/>
              <a:buSzTx/>
              <a:buNone/>
            </a:pPr>
            <a:endParaRPr lang="en-US" altLang="sr-Latn-RS" sz="2200" dirty="0"/>
          </a:p>
          <a:p>
            <a:pPr>
              <a:spcBef>
                <a:spcPct val="0"/>
              </a:spcBef>
              <a:buClrTx/>
              <a:buSzTx/>
              <a:buNone/>
            </a:pPr>
            <a:r>
              <a:rPr lang="en-US" altLang="sr-Latn-RS" sz="2200" b="1" dirty="0" err="1"/>
              <a:t>Grupa</a:t>
            </a:r>
            <a:r>
              <a:rPr lang="en-US" altLang="sr-Latn-RS" sz="2200" b="1" dirty="0"/>
              <a:t> </a:t>
            </a:r>
            <a:r>
              <a:rPr lang="en-US" altLang="sr-Latn-RS" sz="2200" b="1" dirty="0" err="1"/>
              <a:t>vršnjaka</a:t>
            </a:r>
            <a:r>
              <a:rPr lang="en-US" altLang="sr-Latn-RS" sz="2200" b="1" dirty="0"/>
              <a:t> </a:t>
            </a:r>
            <a:r>
              <a:rPr lang="en-US" altLang="sr-Latn-RS" sz="2200" dirty="0"/>
              <a:t>- </a:t>
            </a:r>
            <a:r>
              <a:rPr lang="hr-HR" altLang="sr-Latn-RS" sz="2200" dirty="0"/>
              <a:t>mladi sti</a:t>
            </a:r>
            <a:r>
              <a:rPr lang="en-US" altLang="sr-Latn-RS" sz="2200" dirty="0"/>
              <a:t>je</a:t>
            </a:r>
            <a:r>
              <a:rPr lang="hr-HR" altLang="sr-Latn-RS" sz="2200" dirty="0"/>
              <a:t>ču neovisnost o starijima, omogućuje </a:t>
            </a:r>
            <a:r>
              <a:rPr lang="en-US" altLang="sr-Latn-RS" sz="2200" dirty="0"/>
              <a:t>d</a:t>
            </a:r>
            <a:r>
              <a:rPr lang="hr-HR" altLang="sr-Latn-RS" sz="2200" dirty="0"/>
              <a:t>ruženja,</a:t>
            </a:r>
            <a:r>
              <a:rPr lang="en-US" altLang="sr-Latn-RS" sz="2200" dirty="0"/>
              <a:t> </a:t>
            </a:r>
            <a:r>
              <a:rPr lang="hr-HR" altLang="sr-Latn-RS" sz="2200" dirty="0"/>
              <a:t>natjecanja, uzajamno razum</a:t>
            </a:r>
            <a:r>
              <a:rPr lang="en-US" altLang="sr-Latn-RS" sz="2200" dirty="0" err="1"/>
              <a:t>i</a:t>
            </a:r>
            <a:r>
              <a:rPr lang="hr-HR" altLang="sr-Latn-RS" sz="2200" dirty="0"/>
              <a:t>jevanje, učenje neformalnog znanja, spolnog ponašanja</a:t>
            </a:r>
            <a:r>
              <a:rPr lang="en-US" altLang="sr-Latn-RS" sz="2200" dirty="0"/>
              <a:t>…</a:t>
            </a:r>
          </a:p>
          <a:p>
            <a:pPr>
              <a:spcBef>
                <a:spcPct val="0"/>
              </a:spcBef>
              <a:buClrTx/>
              <a:buSzTx/>
              <a:buNone/>
            </a:pPr>
            <a:endParaRPr lang="en-US" altLang="sr-Latn-RS" sz="2200" dirty="0"/>
          </a:p>
          <a:p>
            <a:pPr>
              <a:spcBef>
                <a:spcPct val="0"/>
              </a:spcBef>
              <a:buClrTx/>
              <a:buSzTx/>
              <a:buNone/>
            </a:pPr>
            <a:r>
              <a:rPr lang="en-US" altLang="sr-Latn-RS" sz="2200" b="1" dirty="0" err="1"/>
              <a:t>Masovni</a:t>
            </a:r>
            <a:r>
              <a:rPr lang="en-US" altLang="sr-Latn-RS" sz="2200" b="1" dirty="0"/>
              <a:t> </a:t>
            </a:r>
            <a:r>
              <a:rPr lang="en-US" altLang="sr-Latn-RS" sz="2200" b="1" dirty="0" err="1"/>
              <a:t>mediji</a:t>
            </a:r>
            <a:r>
              <a:rPr lang="en-US" altLang="sr-Latn-RS" sz="2200" b="1" dirty="0"/>
              <a:t> </a:t>
            </a:r>
            <a:r>
              <a:rPr lang="en-US" altLang="sr-Latn-RS" sz="2200" dirty="0"/>
              <a:t>– </a:t>
            </a:r>
            <a:r>
              <a:rPr lang="en-US" altLang="sr-Latn-RS" sz="2200" dirty="0" err="1"/>
              <a:t>društvene</a:t>
            </a:r>
            <a:r>
              <a:rPr lang="en-US" altLang="sr-Latn-RS" sz="2200" dirty="0"/>
              <a:t> </a:t>
            </a:r>
            <a:r>
              <a:rPr lang="en-US" altLang="sr-Latn-RS" sz="2200" dirty="0" err="1"/>
              <a:t>mreže</a:t>
            </a:r>
            <a:r>
              <a:rPr lang="en-US" altLang="sr-Latn-RS" sz="2200" dirty="0"/>
              <a:t>, internet, TV, </a:t>
            </a:r>
            <a:r>
              <a:rPr lang="en-US" altLang="sr-Latn-RS" sz="2200" dirty="0" err="1"/>
              <a:t>reklame</a:t>
            </a:r>
            <a:r>
              <a:rPr lang="en-US" altLang="sr-Latn-RS" sz="2200" dirty="0"/>
              <a:t>, radio… </a:t>
            </a:r>
          </a:p>
          <a:p>
            <a:pPr>
              <a:spcBef>
                <a:spcPct val="0"/>
              </a:spcBef>
              <a:buClrTx/>
              <a:buSzTx/>
              <a:buNone/>
            </a:pPr>
            <a:endParaRPr lang="en-US" altLang="sr-Latn-RS" sz="2200" dirty="0"/>
          </a:p>
          <a:p>
            <a:pPr>
              <a:spcBef>
                <a:spcPct val="0"/>
              </a:spcBef>
              <a:buClrTx/>
              <a:buSzTx/>
              <a:buNone/>
            </a:pPr>
            <a:r>
              <a:rPr lang="en-US" altLang="sr-Latn-RS" sz="2200" b="1" dirty="0" err="1"/>
              <a:t>Ostali</a:t>
            </a:r>
            <a:r>
              <a:rPr lang="en-US" altLang="sr-Latn-RS" sz="2200" b="1" dirty="0"/>
              <a:t> </a:t>
            </a:r>
            <a:r>
              <a:rPr lang="en-US" altLang="sr-Latn-RS" sz="2200" b="1" dirty="0" err="1"/>
              <a:t>čimbenici</a:t>
            </a:r>
            <a:r>
              <a:rPr lang="en-US" altLang="sr-Latn-RS" sz="2200" b="1" dirty="0"/>
              <a:t> </a:t>
            </a:r>
            <a:r>
              <a:rPr lang="en-US" altLang="sr-Latn-RS" sz="2200" dirty="0"/>
              <a:t>- </a:t>
            </a:r>
            <a:r>
              <a:rPr lang="hr-HR" altLang="sr-Latn-RS" sz="2200" dirty="0"/>
              <a:t>religijske organizacije, vojska, rekreacijski klubovi,</a:t>
            </a:r>
            <a:r>
              <a:rPr lang="en-US" altLang="sr-Latn-RS" sz="2200" dirty="0"/>
              <a:t> </a:t>
            </a:r>
            <a:r>
              <a:rPr lang="hr-HR" altLang="sr-Latn-RS" sz="2200" dirty="0"/>
              <a:t>društveni pokreti</a:t>
            </a:r>
            <a:r>
              <a:rPr lang="en-US" altLang="sr-Latn-RS" sz="2200" dirty="0"/>
              <a:t>…</a:t>
            </a:r>
            <a:endParaRPr lang="hr-HR" altLang="sr-Latn-RS" sz="2200" dirty="0"/>
          </a:p>
          <a:p>
            <a:pPr>
              <a:spcBef>
                <a:spcPct val="0"/>
              </a:spcBef>
              <a:buClrTx/>
              <a:buSzTx/>
              <a:buNone/>
            </a:pPr>
            <a:endParaRPr lang="en-US" altLang="sr-Latn-RS" sz="2000" dirty="0"/>
          </a:p>
          <a:p>
            <a:pPr>
              <a:spcBef>
                <a:spcPct val="0"/>
              </a:spcBef>
              <a:buClrTx/>
              <a:buSzTx/>
              <a:buNone/>
            </a:pPr>
            <a:endParaRPr lang="hr-HR" altLang="sr-Latn-RS" sz="2000" dirty="0"/>
          </a:p>
          <a:p>
            <a:pPr>
              <a:spcBef>
                <a:spcPct val="0"/>
              </a:spcBef>
              <a:buClrTx/>
              <a:buSzTx/>
              <a:buNone/>
            </a:pPr>
            <a:endParaRPr lang="en-US" altLang="sr-Latn-RS" sz="2000" dirty="0"/>
          </a:p>
          <a:p>
            <a:pPr algn="just">
              <a:spcBef>
                <a:spcPct val="0"/>
              </a:spcBef>
              <a:buClrTx/>
              <a:buSzTx/>
              <a:buNone/>
            </a:pPr>
            <a:endParaRPr lang="hr-HR" altLang="sr-Latn-RS" sz="2000" dirty="0"/>
          </a:p>
          <a:p>
            <a:pPr algn="just">
              <a:spcBef>
                <a:spcPct val="0"/>
              </a:spcBef>
              <a:buClrTx/>
              <a:buSzTx/>
              <a:buNone/>
            </a:pPr>
            <a:endParaRPr lang="hr-HR" altLang="sr-Latn-RS" sz="2000" dirty="0"/>
          </a:p>
          <a:p>
            <a:pPr algn="just"/>
            <a:endParaRPr lang="hr-HR" dirty="0">
              <a:latin typeface="+mn-lt"/>
            </a:endParaRPr>
          </a:p>
        </p:txBody>
      </p:sp>
    </p:spTree>
    <p:extLst>
      <p:ext uri="{BB962C8B-B14F-4D97-AF65-F5344CB8AC3E}">
        <p14:creationId xmlns:p14="http://schemas.microsoft.com/office/powerpoint/2010/main" val="16605696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otalTime>7818</TotalTime>
  <Words>5149</Words>
  <Application>Microsoft Office PowerPoint</Application>
  <PresentationFormat>Široki zaslon</PresentationFormat>
  <Paragraphs>750</Paragraphs>
  <Slides>102</Slides>
  <Notes>0</Notes>
  <HiddenSlides>0</HiddenSlides>
  <MMClips>0</MMClips>
  <ScaleCrop>false</ScaleCrop>
  <HeadingPairs>
    <vt:vector size="8" baseType="variant">
      <vt:variant>
        <vt:lpstr>Korišteni fontovi</vt:lpstr>
      </vt:variant>
      <vt:variant>
        <vt:i4>8</vt:i4>
      </vt:variant>
      <vt:variant>
        <vt:lpstr>Tema</vt:lpstr>
      </vt:variant>
      <vt:variant>
        <vt:i4>2</vt:i4>
      </vt:variant>
      <vt:variant>
        <vt:lpstr>Uloženi OLE poslužitelji</vt:lpstr>
      </vt:variant>
      <vt:variant>
        <vt:i4>1</vt:i4>
      </vt:variant>
      <vt:variant>
        <vt:lpstr>Naslovi slajdova</vt:lpstr>
      </vt:variant>
      <vt:variant>
        <vt:i4>102</vt:i4>
      </vt:variant>
    </vt:vector>
  </HeadingPairs>
  <TitlesOfParts>
    <vt:vector size="113" baseType="lpstr">
      <vt:lpstr>Arial</vt:lpstr>
      <vt:lpstr>Calibri</vt:lpstr>
      <vt:lpstr>Calibri Light</vt:lpstr>
      <vt:lpstr>Century Gothic</vt:lpstr>
      <vt:lpstr>Courier New</vt:lpstr>
      <vt:lpstr>Symbol</vt:lpstr>
      <vt:lpstr>Wingdings</vt:lpstr>
      <vt:lpstr>Wingdings 3</vt:lpstr>
      <vt:lpstr>Office Theme</vt:lpstr>
      <vt:lpstr>Ion</vt:lpstr>
      <vt:lpstr>Image</vt:lpstr>
      <vt:lpstr>PowerPoint prezentacija</vt:lpstr>
      <vt:lpstr>PowerPoint prezentacija</vt:lpstr>
      <vt:lpstr>ELEMENTI I KRITERIJI VREDNOVANJA</vt:lpstr>
      <vt:lpstr>PowerPoint prezentacija</vt:lpstr>
      <vt:lpstr>PowerPoint prezentacija</vt:lpstr>
      <vt:lpstr>PowerPoint prezentacija</vt:lpstr>
      <vt:lpstr>PowerPoint prezentacija</vt:lpstr>
      <vt:lpstr>PowerPoint prezentacija</vt:lpstr>
      <vt:lpstr>DRUŠTVO I DRUŠTVENOST I DRUŠTVENA INTERKACIJA</vt:lpstr>
      <vt:lpstr>PowerPoint prezentacija</vt:lpstr>
      <vt:lpstr>PowerPoint prezentacija</vt:lpstr>
      <vt:lpstr>PowerPoint prezentacija</vt:lpstr>
      <vt:lpstr>DRUŠTVO                         ZAJEDNICA</vt:lpstr>
      <vt:lpstr>PowerPoint prezentacija</vt:lpstr>
      <vt:lpstr>PowerPoint prezentacija</vt:lpstr>
      <vt:lpstr>PowerPoint prezentacija</vt:lpstr>
      <vt:lpstr>PowerPoint prezentacija</vt:lpstr>
      <vt:lpstr>PowerPoint prezentacija</vt:lpstr>
      <vt:lpstr>DRUŠTVENA INTERAKCIJA</vt:lpstr>
      <vt:lpstr>PowerPoint prezentacija</vt:lpstr>
      <vt:lpstr>PowerPoint prezentacija</vt:lpstr>
      <vt:lpstr>PowerPoint prezentacija</vt:lpstr>
      <vt:lpstr>Ovisno o tome jesu li te spone prejake ili preslabe, Durkheim razlikuje 4 tipa samoubojstva: </vt:lpstr>
      <vt:lpstr>PowerPoint prezentacija</vt:lpstr>
      <vt:lpstr>MIKROSOCIOLOGIJA I MAKROSOCIOLOGIJA </vt:lpstr>
      <vt:lpstr>PowerPoint prezentacija</vt:lpstr>
      <vt:lpstr>Samovrednovanje</vt:lpstr>
      <vt:lpstr>NORME I VRIJEDNOSTI; SIMBOLI, JEZIK I RITUALI</vt:lpstr>
      <vt:lpstr>PowerPoint prezentacija</vt:lpstr>
      <vt:lpstr>PowerPoint prezentacija</vt:lpstr>
      <vt:lpstr>PowerPoint prezentacija</vt:lpstr>
      <vt:lpstr>PowerPoint prezentacija</vt:lpstr>
      <vt:lpstr>NORME</vt:lpstr>
      <vt:lpstr>PowerPoint prezentacija</vt:lpstr>
      <vt:lpstr>PowerPoint prezentacija</vt:lpstr>
      <vt:lpstr>PowerPoint prezentacija</vt:lpstr>
      <vt:lpstr>PowerPoint prezentacija</vt:lpstr>
      <vt:lpstr>PowerPoint prezentacija</vt:lpstr>
      <vt:lpstr>PowerPoint prezentacija</vt:lpstr>
      <vt:lpstr>PowerPoint prezentacija</vt:lpstr>
      <vt:lpstr>VRIJEDNOSTI</vt:lpstr>
      <vt:lpstr>PowerPoint prezentacija</vt:lpstr>
      <vt:lpstr>PowerPoint prezentacija</vt:lpstr>
      <vt:lpstr>PowerPoint prezentacija</vt:lpstr>
      <vt:lpstr>Jezik </vt:lpstr>
      <vt:lpstr>Rituali </vt:lpstr>
      <vt:lpstr>PowerPoint prezentacija</vt:lpstr>
      <vt:lpstr>PowerPoint prezentacija</vt:lpstr>
      <vt:lpstr>PowerPoint prezentacija</vt:lpstr>
      <vt:lpstr>PowerPoint prezentacija</vt:lpstr>
      <vt:lpstr>Samovrednovanje </vt:lpstr>
      <vt:lpstr>Kultura i religije Velike svjetske religije </vt:lpstr>
      <vt:lpstr>Povezanost kulture i religije</vt:lpstr>
      <vt:lpstr>PowerPoint prezentacija</vt:lpstr>
      <vt:lpstr>EMILE DURKHEIM</vt:lpstr>
      <vt:lpstr>PowerPoint prezentacija</vt:lpstr>
      <vt:lpstr>Utjecaj društvenih promjena na religiju</vt:lpstr>
      <vt:lpstr>Vjerski fundamentalizam</vt:lpstr>
      <vt:lpstr>Civilna religija</vt:lpstr>
      <vt:lpstr> </vt:lpstr>
      <vt:lpstr>Velike svjetske religije</vt:lpstr>
      <vt:lpstr>PowerPoint prezentacija</vt:lpstr>
      <vt:lpstr>SLIČNOSTI RELIGIJA:</vt:lpstr>
      <vt:lpstr>PowerPoint prezentacija</vt:lpstr>
      <vt:lpstr>PowerPoint prezentacija</vt:lpstr>
      <vt:lpstr>Samovrednovanje </vt:lpstr>
      <vt:lpstr> </vt:lpstr>
      <vt:lpstr>PowerPoint prezentacija</vt:lpstr>
      <vt:lpstr> 1. DRUŠTVENA STRUKTURA</vt:lpstr>
      <vt:lpstr>Promotrite fotografije i razmislite na koju se razinu društva odnose</vt:lpstr>
      <vt:lpstr>PowerPoint prezentacija</vt:lpstr>
      <vt:lpstr>PowerPoint prezentacija</vt:lpstr>
      <vt:lpstr>PowerPoint prezentacija</vt:lpstr>
      <vt:lpstr>PowerPoint prezentacija</vt:lpstr>
      <vt:lpstr>PowerPoint prezentacija</vt:lpstr>
      <vt:lpstr>PowerPoint prezentacija</vt:lpstr>
      <vt:lpstr>PowerPoint prezentacija</vt:lpstr>
      <vt:lpstr>PowerPoint prezentacija</vt:lpstr>
      <vt:lpstr>DRUŠTVENE GRUPE I KOLEKTIVNO PONAŠANJE</vt:lpstr>
      <vt:lpstr>PowerPoint prezentacija</vt:lpstr>
      <vt:lpstr>PowerPoint prezentacija</vt:lpstr>
      <vt:lpstr>PowerPoint prezentacija</vt:lpstr>
      <vt:lpstr>PowerPoint prezentacija</vt:lpstr>
      <vt:lpstr>PowerPoint prezentacija</vt:lpstr>
      <vt:lpstr>PowerPoint prezentacija</vt:lpstr>
      <vt:lpstr>PowerPoint prezentacija</vt:lpstr>
      <vt:lpstr>PowerPoint prezentacija</vt:lpstr>
      <vt:lpstr>PowerPoint prezentacija</vt:lpstr>
      <vt:lpstr>PowerPoint prezentacija</vt:lpstr>
      <vt:lpstr>PowerPoint prezentacija</vt:lpstr>
      <vt:lpstr>PowerPoint prezentacija</vt:lpstr>
      <vt:lpstr> </vt:lpstr>
      <vt:lpstr>Divergirajuće kolektivno ponašanje</vt:lpstr>
      <vt:lpstr>               Konvergirajuće kolektivno ponašanje </vt:lpstr>
      <vt:lpstr>Tipovi gomile</vt:lpstr>
      <vt:lpstr>PowerPoint prezentacija</vt:lpstr>
      <vt:lpstr>PowerPoint prezentacija</vt:lpstr>
      <vt:lpstr>Univerzalne društvene institucije Društvene mreže i društveni odnosi</vt:lpstr>
      <vt:lpstr>4. SOCIJALIZACIJA</vt:lpstr>
      <vt:lpstr>PowerPoint prezentacija</vt:lpstr>
      <vt:lpstr>PowerPoint prezentacija</vt:lpstr>
      <vt:lpstr>ČIMBENICI (AGENSI) SOCIJALIZACIJE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Maja Bachler</cp:lastModifiedBy>
  <cp:revision>17</cp:revision>
  <dcterms:created xsi:type="dcterms:W3CDTF">2023-09-10T16:42:04Z</dcterms:created>
  <dcterms:modified xsi:type="dcterms:W3CDTF">2024-09-20T07:17:39Z</dcterms:modified>
</cp:coreProperties>
</file>