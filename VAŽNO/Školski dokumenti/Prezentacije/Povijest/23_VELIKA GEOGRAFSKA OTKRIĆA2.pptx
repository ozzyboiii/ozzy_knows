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9144000"/>
  <p:notesSz cx="6858000" cy="9144000"/>
  <p:embeddedFontLst>
    <p:embeddedFont>
      <p:font typeface="IBM Plex Sans"/>
      <p:regular r:id="rId28"/>
      <p:bold r:id="rId29"/>
      <p:italic r:id="rId30"/>
      <p:boldItalic r:id="rId31"/>
    </p:embeddedFon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+eyEFFMukk+pOMsw4s9ilwr5o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IBMPlexSans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italic.fntdata"/><Relationship Id="rId11" Type="http://schemas.openxmlformats.org/officeDocument/2006/relationships/slide" Target="slides/slide7.xml"/><Relationship Id="rId33" Type="http://schemas.openxmlformats.org/officeDocument/2006/relationships/font" Target="fonts/GillSans-bold.fntdata"/><Relationship Id="rId10" Type="http://schemas.openxmlformats.org/officeDocument/2006/relationships/slide" Target="slides/slide6.xml"/><Relationship Id="rId32" Type="http://schemas.openxmlformats.org/officeDocument/2006/relationships/font" Target="fonts/GillSans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accen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 title="scalloped circle"/>
          <p:cNvSpPr/>
          <p:nvPr/>
        </p:nvSpPr>
        <p:spPr>
          <a:xfrm>
            <a:off x="2063115" y="630937"/>
            <a:ext cx="5230368" cy="5229225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6" name="Google Shape;16;p29"/>
          <p:cNvSpPr txBox="1"/>
          <p:nvPr>
            <p:ph type="ctrTitle"/>
          </p:nvPr>
        </p:nvSpPr>
        <p:spPr>
          <a:xfrm>
            <a:off x="808892" y="1098388"/>
            <a:ext cx="7738814" cy="4394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Impact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661284" y="5979197"/>
            <a:ext cx="6034030" cy="742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08892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35249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800414" y="6375679"/>
            <a:ext cx="1747292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/>
          <p:nvPr/>
        </p:nvSpPr>
        <p:spPr>
          <a:xfrm>
            <a:off x="0" y="0"/>
            <a:ext cx="2110979" cy="6858000"/>
          </a:xfrm>
          <a:custGeom>
            <a:rect b="b" l="l" r="r" t="t"/>
            <a:pathLst>
              <a:path extrusionOk="0" h="4320" w="1773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5" name="Google Shape;35;p32"/>
          <p:cNvSpPr txBox="1"/>
          <p:nvPr>
            <p:ph type="title"/>
          </p:nvPr>
        </p:nvSpPr>
        <p:spPr>
          <a:xfrm>
            <a:off x="2432197" y="1073889"/>
            <a:ext cx="6140303" cy="40646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  <a:defRPr sz="63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2432198" y="5159782"/>
            <a:ext cx="5263116" cy="951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2427410" y="6375679"/>
            <a:ext cx="1120460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959298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7456825" y="6375679"/>
            <a:ext cx="1115675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32"/>
          <p:cNvSpPr/>
          <p:nvPr/>
        </p:nvSpPr>
        <p:spPr>
          <a:xfrm>
            <a:off x="655786" y="0"/>
            <a:ext cx="1234679" cy="6858000"/>
          </a:xfrm>
          <a:custGeom>
            <a:rect b="b" l="l" r="r" t="t"/>
            <a:pathLst>
              <a:path extrusionOk="0" h="4320" w="1037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pSp>
        <p:nvGrpSpPr>
          <p:cNvPr id="41" name="Google Shape;41;p32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42" name="Google Shape;42;p32" title="left scallop shape"/>
            <p:cNvSpPr/>
            <p:nvPr/>
          </p:nvSpPr>
          <p:spPr>
            <a:xfrm>
              <a:off x="0" y="0"/>
              <a:ext cx="2110979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3" name="Google Shape;43;p32" title="left scallop inline"/>
            <p:cNvSpPr/>
            <p:nvPr/>
          </p:nvSpPr>
          <p:spPr>
            <a:xfrm>
              <a:off x="655786" y="0"/>
              <a:ext cx="1234679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942975" y="2286000"/>
            <a:ext cx="3593592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2" type="body"/>
          </p:nvPr>
        </p:nvSpPr>
        <p:spPr>
          <a:xfrm>
            <a:off x="4985846" y="2286000"/>
            <a:ext cx="3593592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/>
          <p:nvPr>
            <p:ph type="title"/>
          </p:nvPr>
        </p:nvSpPr>
        <p:spPr>
          <a:xfrm>
            <a:off x="942975" y="381001"/>
            <a:ext cx="7629525" cy="1493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941832" y="2199634"/>
            <a:ext cx="3611880" cy="632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34"/>
          <p:cNvSpPr txBox="1"/>
          <p:nvPr>
            <p:ph idx="2" type="body"/>
          </p:nvPr>
        </p:nvSpPr>
        <p:spPr>
          <a:xfrm>
            <a:off x="941832" y="2909102"/>
            <a:ext cx="3611880" cy="2996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3" type="body"/>
          </p:nvPr>
        </p:nvSpPr>
        <p:spPr>
          <a:xfrm>
            <a:off x="4975398" y="2199634"/>
            <a:ext cx="3611880" cy="632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34"/>
          <p:cNvSpPr txBox="1"/>
          <p:nvPr>
            <p:ph idx="4" type="body"/>
          </p:nvPr>
        </p:nvSpPr>
        <p:spPr>
          <a:xfrm>
            <a:off x="4975398" y="2909102"/>
            <a:ext cx="3611880" cy="2996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 title="right scallop background shape"/>
          <p:cNvSpPr/>
          <p:nvPr/>
        </p:nvSpPr>
        <p:spPr>
          <a:xfrm>
            <a:off x="5542359" y="0"/>
            <a:ext cx="3601641" cy="68580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67" name="Google Shape;67;p36"/>
          <p:cNvSpPr txBox="1"/>
          <p:nvPr>
            <p:ph type="title"/>
          </p:nvPr>
        </p:nvSpPr>
        <p:spPr>
          <a:xfrm>
            <a:off x="6253414" y="457200"/>
            <a:ext cx="2319086" cy="1196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Gill Sans"/>
              <a:buNone/>
              <a:defRPr b="1" i="0" sz="1800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573788" y="920377"/>
            <a:ext cx="4618814" cy="4985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100"/>
              <a:buChar char="–"/>
              <a:defRPr sz="2100"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–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–"/>
              <a:defRPr sz="1500"/>
            </a:lvl6pPr>
            <a:lvl7pPr indent="-32385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–"/>
              <a:defRPr sz="1500"/>
            </a:lvl8pPr>
            <a:lvl9pPr indent="-32385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69" name="Google Shape;69;p36"/>
          <p:cNvSpPr txBox="1"/>
          <p:nvPr>
            <p:ph idx="2" type="body"/>
          </p:nvPr>
        </p:nvSpPr>
        <p:spPr>
          <a:xfrm>
            <a:off x="6253414" y="1741336"/>
            <a:ext cx="2319086" cy="416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70" name="Google Shape;70;p36"/>
          <p:cNvSpPr txBox="1"/>
          <p:nvPr>
            <p:ph idx="10" type="dt"/>
          </p:nvPr>
        </p:nvSpPr>
        <p:spPr>
          <a:xfrm>
            <a:off x="573789" y="6375679"/>
            <a:ext cx="925016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1" type="ftr"/>
          </p:nvPr>
        </p:nvSpPr>
        <p:spPr>
          <a:xfrm>
            <a:off x="1577716" y="6375679"/>
            <a:ext cx="2611634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2" type="sldNum"/>
          </p:nvPr>
        </p:nvSpPr>
        <p:spPr>
          <a:xfrm>
            <a:off x="4268261" y="6375679"/>
            <a:ext cx="924342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6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6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/>
          <p:nvPr>
            <p:ph idx="2" type="pic"/>
          </p:nvPr>
        </p:nvSpPr>
        <p:spPr>
          <a:xfrm>
            <a:off x="212598" y="1"/>
            <a:ext cx="5516689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37" title="right scallop background shape"/>
          <p:cNvSpPr/>
          <p:nvPr/>
        </p:nvSpPr>
        <p:spPr>
          <a:xfrm>
            <a:off x="5542359" y="0"/>
            <a:ext cx="3601641" cy="68580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8" name="Google Shape;78;p3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7"/>
          <p:cNvSpPr txBox="1"/>
          <p:nvPr>
            <p:ph type="title"/>
          </p:nvPr>
        </p:nvSpPr>
        <p:spPr>
          <a:xfrm>
            <a:off x="6253413" y="457200"/>
            <a:ext cx="2319088" cy="1196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Gill Sans"/>
              <a:buNone/>
              <a:defRPr b="1" i="0" sz="1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6253413" y="1741336"/>
            <a:ext cx="2319088" cy="416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574463" y="6375679"/>
            <a:ext cx="92434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1577716" y="6375679"/>
            <a:ext cx="2611634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4256153" y="6375679"/>
            <a:ext cx="94746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37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" type="body"/>
          </p:nvPr>
        </p:nvSpPr>
        <p:spPr>
          <a:xfrm rot="5400000">
            <a:off x="2958834" y="265927"/>
            <a:ext cx="3593591" cy="763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9"/>
          <p:cNvSpPr txBox="1"/>
          <p:nvPr>
            <p:ph type="title"/>
          </p:nvPr>
        </p:nvSpPr>
        <p:spPr>
          <a:xfrm rot="5400000">
            <a:off x="4982674" y="2296623"/>
            <a:ext cx="5600404" cy="177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" type="body"/>
          </p:nvPr>
        </p:nvSpPr>
        <p:spPr>
          <a:xfrm rot="5400000">
            <a:off x="1047531" y="277830"/>
            <a:ext cx="5600404" cy="5809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  <a:defRPr b="0" i="0" sz="51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ill Sans"/>
              <a:buChar char="–"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b="0" i="0" sz="1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b="0" i="0" sz="1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17500" lvl="6" marL="32004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17500" lvl="7" marL="36576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b="0" i="0" sz="1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17500" lvl="8" marL="41148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8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8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8"/>
          <p:cNvSpPr/>
          <p:nvPr/>
        </p:nvSpPr>
        <p:spPr>
          <a:xfrm>
            <a:off x="1" y="0"/>
            <a:ext cx="679090" cy="6858000"/>
          </a:xfrm>
          <a:custGeom>
            <a:rect b="b" l="l" r="r" t="t"/>
            <a:pathLst>
              <a:path extrusionOk="0" h="2160" w="211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94">
          <p15:clr>
            <a:srgbClr val="F26B43"/>
          </p15:clr>
        </p15:guide>
        <p15:guide id="2" pos="792">
          <p15:clr>
            <a:srgbClr val="F26B43"/>
          </p15:clr>
        </p15:guide>
        <p15:guide id="3" pos="7200">
          <p15:clr>
            <a:srgbClr val="F26B43"/>
          </p15:clr>
        </p15:guide>
        <p15:guide id="4" pos="5400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orient="horz" pos="1440">
          <p15:clr>
            <a:srgbClr val="F26B43"/>
          </p15:clr>
        </p15:guide>
        <p15:guide id="7" orient="horz" pos="3720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jpg"/><Relationship Id="rId4" Type="http://schemas.openxmlformats.org/officeDocument/2006/relationships/image" Target="../media/image24.jpg"/><Relationship Id="rId5" Type="http://schemas.openxmlformats.org/officeDocument/2006/relationships/image" Target="../media/image6.jpg"/><Relationship Id="rId6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ordwall.net/hr/resource/886558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5.jpg"/><Relationship Id="rId5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143002" y="1999615"/>
            <a:ext cx="6858000" cy="2764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00"/>
              <a:buFont typeface="Impact"/>
              <a:buNone/>
            </a:pPr>
            <a:r>
              <a:rPr b="1" lang="en-US" sz="6300"/>
              <a:t>VELIKA GEOGRAFSKA OTKRIĆA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t/>
            </a:r>
            <a:endParaRPr/>
          </a:p>
        </p:txBody>
      </p:sp>
      <p:pic>
        <p:nvPicPr>
          <p:cNvPr descr="Map&#10;&#10;Description automatically generated" id="107" name="Google Shape;10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946" y="382385"/>
            <a:ext cx="7668107" cy="5592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t/>
            </a:r>
            <a:endParaRPr/>
          </a:p>
        </p:txBody>
      </p:sp>
      <p:pic>
        <p:nvPicPr>
          <p:cNvPr id="113" name="Google Shape;11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75" y="1383285"/>
            <a:ext cx="3426451" cy="333948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938758" y="4722770"/>
            <a:ext cx="185669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Geografska karta Izidora iz. Seville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(prijepis iz 12. st.)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9176" y="1291386"/>
            <a:ext cx="4896001" cy="411663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3883325" y="5410970"/>
            <a:ext cx="49304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Martellova geografska karta svijeta, kraj 15. stoljeća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t/>
            </a:r>
            <a:endParaRPr/>
          </a:p>
        </p:txBody>
      </p:sp>
      <p:pic>
        <p:nvPicPr>
          <p:cNvPr id="122" name="Google Shape;122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757" y="382384"/>
            <a:ext cx="5880053" cy="450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2573383" y="5120640"/>
            <a:ext cx="960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Put svile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679269" y="5720187"/>
            <a:ext cx="85523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 Polo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prvi Europljanin koji je opisao Kinu – knjiga “Il millione” (“Milijun”)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Impact"/>
              <a:buNone/>
            </a:pPr>
            <a:r>
              <a:rPr lang="en-US" sz="4300"/>
              <a:t>UZROCI VELIKIH GEOGRAFSKIH OTKRIĆA</a:t>
            </a:r>
            <a:endParaRPr sz="4300"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628650" y="1929384"/>
            <a:ext cx="78867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POTREBA ZA NOVIM TRGOVAČKIM PUTOM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Turci Osmanlije zauzeli su Carigrad 1453.</a:t>
            </a:r>
            <a:endParaRPr/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Europskim trgovcima naplaćuju velike carine</a:t>
            </a:r>
            <a:endParaRPr/>
          </a:p>
          <a:p>
            <a:pPr indent="-228600" lvl="3" marL="1600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trgovci trpe gubitke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želja za bogaćenjem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sigurnija plovidba u nepoznato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nove vrste brodova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Char char="–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karavele i karake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otpornije na morske struje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mogu ploviti protiv vjetra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429000"/>
            <a:ext cx="3823618" cy="1871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621378" y="273015"/>
            <a:ext cx="7633742" cy="3593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nove spoznaje o svijetu (od 15. stoljeća opće prihvaćena činjenica da je Zemlja okrugla)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doba humanizma i renesanse (napredak kulture i znanosti)</a:t>
            </a:r>
            <a:endParaRPr/>
          </a:p>
          <a:p>
            <a:pPr indent="-101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2090" y="1983887"/>
            <a:ext cx="1800948" cy="303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621378" y="4986349"/>
            <a:ext cx="33702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Martin Behaim, prvi globus, 1492.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3283100" y="2069810"/>
            <a:ext cx="5860900" cy="2443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1" marL="685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Gill Sans"/>
              <a:buChar char="–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kompas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Gill Sans"/>
              <a:buChar char="–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astrolab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 za određivanje položaja nebeskih tijela</a:t>
            </a:r>
            <a:endParaRPr/>
          </a:p>
          <a:p>
            <a:pPr indent="-228600" lvl="3" marL="16002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Gill Sans"/>
              <a:buChar char="–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olakšava noćnu plovidbu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Gill Sans"/>
              <a:buChar char="–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ruža vjetrova</a:t>
            </a:r>
            <a:endParaRPr/>
          </a:p>
          <a:p>
            <a:pPr indent="-228600" lvl="2" marL="114300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 koji određuje smjer puhanja vjetra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017" y="4260810"/>
            <a:ext cx="1800948" cy="200998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4444679" y="6295668"/>
            <a:ext cx="9803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Astrolab</a:t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9387" y="4285682"/>
            <a:ext cx="2009986" cy="200998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6254704" y="6356987"/>
            <a:ext cx="1759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Ruža vjetrova</a:t>
            </a:r>
            <a:endParaRPr/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5991" y="5462262"/>
            <a:ext cx="1306573" cy="130657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2355667" y="6474414"/>
            <a:ext cx="927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Kompas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mpact"/>
              <a:buNone/>
            </a:pPr>
            <a:r>
              <a:rPr lang="en-US" sz="2800"/>
              <a:t>UZROKE GEOGRAFSKIH OTKRIĆA SVRSTAJ PREMA SLJEDEĆIM KATEGORIJAMA: </a:t>
            </a:r>
            <a:br>
              <a:rPr lang="en-US" sz="2800"/>
            </a:br>
            <a:br>
              <a:rPr lang="en-US" sz="2800"/>
            </a:br>
            <a:r>
              <a:rPr lang="en-US" sz="2800"/>
              <a:t>A) POLITIČKI </a:t>
            </a:r>
            <a:br>
              <a:rPr lang="en-US" sz="2800"/>
            </a:br>
            <a:r>
              <a:rPr lang="en-US" sz="2800"/>
              <a:t>B) DRUŠTVENI</a:t>
            </a:r>
            <a:br>
              <a:rPr lang="en-US" sz="2800"/>
            </a:br>
            <a:r>
              <a:rPr lang="en-US" sz="2800"/>
              <a:t>C) EKONOMSKI</a:t>
            </a:r>
            <a:br>
              <a:rPr lang="en-US" sz="2800"/>
            </a:br>
            <a:r>
              <a:rPr lang="en-US" sz="2800"/>
              <a:t>D) ZNANSTVENI</a:t>
            </a:r>
            <a:br>
              <a:rPr lang="en-US" sz="2800"/>
            </a:br>
            <a:r>
              <a:rPr lang="en-US" sz="2800"/>
              <a:t>E) KULTURNI</a:t>
            </a:r>
            <a:br>
              <a:rPr lang="en-US" sz="2800"/>
            </a:br>
            <a:r>
              <a:rPr lang="en-US" sz="2800"/>
              <a:t>F) TEHNOLOŠKI 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847318" y="4010299"/>
            <a:ext cx="7633742" cy="3593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https://wordwall.net/hr/resource/886558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4127863" y="498765"/>
            <a:ext cx="4787537" cy="5706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PORTUGALSKA POMORSKA ISTRAŽIVANJA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istražuju zapadnu obalu Afrike</a:t>
            </a:r>
            <a:endParaRPr/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1487. Bartolomeo Diaz dolazi do Rta dobre nade (Rt bura)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1498. Vasco da Gama doplovljava do luke Kalikut u Indiji</a:t>
            </a:r>
            <a:endParaRPr/>
          </a:p>
          <a:p>
            <a:pPr indent="-228600" lvl="3" marL="1600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Char char="–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otkriven pomorski put od Europe do Indije</a:t>
            </a:r>
            <a:endParaRPr/>
          </a:p>
          <a:p>
            <a:pPr indent="-228600" lvl="4" marL="2057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Portugal postaje glavni posrednik u trgovini s Istokom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ASCO DA GAMA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072" y="859847"/>
            <a:ext cx="3009181" cy="504853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59" name="Google Shape;159;p8"/>
          <p:cNvSpPr txBox="1"/>
          <p:nvPr/>
        </p:nvSpPr>
        <p:spPr>
          <a:xfrm>
            <a:off x="1009072" y="6074641"/>
            <a:ext cx="24495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Vasco da Gama</a:t>
            </a:r>
            <a:endParaRPr/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9514" y="4132544"/>
            <a:ext cx="3456577" cy="194209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4372825" y="6074641"/>
            <a:ext cx="37621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4A4A4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Replika broda kojim je Bartolomeo Diaz oplovio Rt dobre nade.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vijest6-udzbenik-139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1812" r="3687" t="2340"/>
          <a:stretch/>
        </p:blipFill>
        <p:spPr>
          <a:xfrm>
            <a:off x="1163782" y="613641"/>
            <a:ext cx="6286500" cy="5668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0" y="0"/>
            <a:ext cx="5676900" cy="6858000"/>
          </a:xfrm>
          <a:custGeom>
            <a:rect b="b" l="l" r="r" t="t"/>
            <a:pathLst>
              <a:path extrusionOk="0" h="6858000" w="75692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BDB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3" name="Google Shape;173;p10"/>
          <p:cNvSpPr txBox="1"/>
          <p:nvPr>
            <p:ph type="title"/>
          </p:nvPr>
        </p:nvSpPr>
        <p:spPr>
          <a:xfrm>
            <a:off x="565608" y="484631"/>
            <a:ext cx="4755389" cy="1638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mpact"/>
              <a:buNone/>
            </a:pPr>
            <a:r>
              <a:rPr lang="en-US" sz="3600"/>
              <a:t>CIVILIZACIJE AMERIČKOG KONTINENTA</a:t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573788" y="2443140"/>
            <a:ext cx="4729732" cy="3930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smatra se da su američki kontinent naselili stanovnici iz Azije preko Beringova prolaza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prva poznata civiliacija – na području današnjeg Meksika – narod Olmeka – Olmečka kultura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polotoku Yucatanu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narod Maya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gradovi i hramovi u obliku piramide, uzgoj kukuruza, kalendar usklađen sa sunčevom godinom, razvijena astronomija i matematika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današnji južni Meksiko – narod Azteca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ratnički narod, štovanje boga sunca i prinošenje ljudskih žrtava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Južna Amerika – današnji Peru, Bolivija i Čile – carstvo Inka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vladar je bio božanstvo i sin Sunca, poljoprivreda i obrt, izrada vjerskih predmeta od zlata i srebra</a:t>
            </a:r>
            <a:endParaRPr/>
          </a:p>
          <a:p>
            <a:pPr indent="-139700" lvl="0" marL="228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0997" y="1303865"/>
            <a:ext cx="3618411" cy="414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0" y="0"/>
            <a:ext cx="664368" cy="6858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0" y="0"/>
            <a:ext cx="664368" cy="6858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6" name="Google Shape;18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9661" y="3156902"/>
            <a:ext cx="3528309" cy="2352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894" y="1322824"/>
            <a:ext cx="3109264" cy="1697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1406" y="629724"/>
            <a:ext cx="2085717" cy="3389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 txBox="1"/>
          <p:nvPr/>
        </p:nvSpPr>
        <p:spPr>
          <a:xfrm>
            <a:off x="7381976" y="4073120"/>
            <a:ext cx="564578" cy="270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Azteci</a:t>
            </a:r>
            <a:endParaRPr sz="135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1391296" y="5270033"/>
            <a:ext cx="1409360" cy="270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Inka – Machu Picchu</a:t>
            </a:r>
            <a:endParaRPr sz="135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976894" y="3110558"/>
            <a:ext cx="891591" cy="270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narod Maya</a:t>
            </a:r>
            <a:endParaRPr sz="135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4319732" y="415636"/>
            <a:ext cx="4644736" cy="706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n-US"/>
              <a:t>OTKRIĆE AMERIKE</a:t>
            </a:r>
            <a:endParaRPr/>
          </a:p>
        </p:txBody>
      </p:sp>
      <p:sp>
        <p:nvSpPr>
          <p:cNvPr id="197" name="Google Shape;197;p12"/>
          <p:cNvSpPr txBox="1"/>
          <p:nvPr>
            <p:ph idx="1" type="body"/>
          </p:nvPr>
        </p:nvSpPr>
        <p:spPr>
          <a:xfrm>
            <a:off x="4758604" y="1485900"/>
            <a:ext cx="4172527" cy="410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KRISTOFOR KOLUMBO</a:t>
            </a:r>
            <a:endParaRPr sz="2800"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Talijan u službi španjolske krune</a:t>
            </a:r>
            <a:endParaRPr sz="2400">
              <a:solidFill>
                <a:schemeClr val="dk1"/>
              </a:solidFill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smatrao da je Zemlja okrugla</a:t>
            </a:r>
            <a:endParaRPr sz="2000">
              <a:solidFill>
                <a:schemeClr val="dk1"/>
              </a:solidFill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cilj: doploviti do Indije ploveći prema Zapadu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164" id="198" name="Google Shape;1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979" y="311991"/>
            <a:ext cx="1933229" cy="2535382"/>
          </a:xfrm>
          <a:prstGeom prst="roundRect">
            <a:avLst>
              <a:gd fmla="val 11111" name="adj"/>
            </a:avLst>
          </a:prstGeom>
          <a:noFill/>
          <a:ln cap="rnd" cmpd="sng" w="190500">
            <a:solidFill>
              <a:srgbClr val="C8C6B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7200000" dist="50800">
              <a:srgbClr val="000000">
                <a:alpha val="44705"/>
              </a:srgbClr>
            </a:outerShdw>
          </a:effectLst>
        </p:spPr>
      </p:pic>
      <p:sp>
        <p:nvSpPr>
          <p:cNvPr id="199" name="Google Shape;199;p12"/>
          <p:cNvSpPr txBox="1"/>
          <p:nvPr/>
        </p:nvSpPr>
        <p:spPr>
          <a:xfrm>
            <a:off x="844243" y="3059668"/>
            <a:ext cx="2951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Kristofor Kolumbo</a:t>
            </a:r>
            <a:endParaRPr/>
          </a:p>
        </p:txBody>
      </p:sp>
      <p:pic>
        <p:nvPicPr>
          <p:cNvPr id="200" name="Google Shape;2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3429563"/>
            <a:ext cx="5703545" cy="311644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5764549" y="5881472"/>
            <a:ext cx="21988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Geografska karta Juana de la Cose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1371600" y="259773"/>
            <a:ext cx="7772400" cy="1901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dk1"/>
                </a:solidFill>
              </a:rPr>
              <a:t>KOLUMBOVO PUTOVANJE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solidFill>
                  <a:schemeClr val="dk1"/>
                </a:solidFill>
              </a:rPr>
              <a:t>početak: 3. Kolovoza 1492.  iz luke Palos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solidFill>
                  <a:schemeClr val="dk1"/>
                </a:solidFill>
              </a:rPr>
              <a:t>tri broda: Niña, Pinta i Santa Maria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solidFill>
                  <a:schemeClr val="dk1"/>
                </a:solidFill>
              </a:rPr>
              <a:t>kraj: 12. Listopada 1492. - Bahamski otok Guanahani (San Salvador)</a:t>
            </a:r>
            <a:endParaRPr/>
          </a:p>
          <a:p>
            <a:pPr indent="-101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26-c"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272" y="1915144"/>
            <a:ext cx="3368475" cy="2578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3814" y="2161309"/>
            <a:ext cx="4611914" cy="3154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/>
          <p:nvPr/>
        </p:nvSpPr>
        <p:spPr>
          <a:xfrm>
            <a:off x="4195659" y="5315857"/>
            <a:ext cx="44800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4A4A4A"/>
                </a:solidFill>
                <a:latin typeface="IBM Plex Sans"/>
                <a:ea typeface="IBM Plex Sans"/>
                <a:cs typeface="IBM Plex Sans"/>
                <a:sym typeface="IBM Plex Sans"/>
              </a:rPr>
              <a:t>Kolumbo novu zemlju proglašava španjolskim posjedom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ristofor-Kolumbo"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54" y="1866611"/>
            <a:ext cx="3496776" cy="3573607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215" name="Google Shape;215;p15"/>
          <p:cNvSpPr txBox="1"/>
          <p:nvPr>
            <p:ph type="title"/>
          </p:nvPr>
        </p:nvSpPr>
        <p:spPr>
          <a:xfrm>
            <a:off x="4572000" y="577850"/>
            <a:ext cx="4457700" cy="298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n-US"/>
              <a:t>KOLUMBOVI ZAPISI</a:t>
            </a:r>
            <a:br>
              <a:rPr lang="en-US"/>
            </a:br>
            <a:endParaRPr/>
          </a:p>
        </p:txBody>
      </p:sp>
      <p:sp>
        <p:nvSpPr>
          <p:cNvPr id="216" name="Google Shape;216;p15"/>
          <p:cNvSpPr txBox="1"/>
          <p:nvPr>
            <p:ph idx="1" type="body"/>
          </p:nvPr>
        </p:nvSpPr>
        <p:spPr>
          <a:xfrm>
            <a:off x="4686300" y="1866611"/>
            <a:ext cx="41751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dk1"/>
                </a:solidFill>
              </a:rPr>
              <a:t>O POLASKU: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900"/>
              <a:buChar char="–"/>
            </a:pPr>
            <a:r>
              <a:rPr i="1" lang="en-US" sz="2900">
                <a:solidFill>
                  <a:schemeClr val="dk1"/>
                </a:solidFill>
              </a:rPr>
              <a:t>“</a:t>
            </a:r>
            <a:r>
              <a:rPr i="1" lang="en-US">
                <a:solidFill>
                  <a:schemeClr val="dk1"/>
                </a:solidFill>
              </a:rPr>
              <a:t>Krenusmo u petak, 3. kolovoza u osam sati s lukobrana u Palosu; plovljasmo do pred zalaz sunca s jakim morskim vjetrom prema jugu 60 milja, što je 15 liga, a zatim prema jugozapadu i jugu zraka jugoistok; a to je put za Kanarske otoke”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r>
              <a:t/>
            </a:r>
            <a:endParaRPr/>
          </a:p>
        </p:txBody>
      </p:sp>
      <p:pic>
        <p:nvPicPr>
          <p:cNvPr id="222" name="Google Shape;222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200" y="200664"/>
            <a:ext cx="5925577" cy="494610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1776549" y="5146766"/>
            <a:ext cx="61597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Kako su prikazani Kolumbo, a kako domorodačko stanovništvo?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Kakav je odnos među likovima?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Koji ugođaj dominira na prikazu?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4925291" y="828098"/>
            <a:ext cx="36004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NAZIV AMERIKA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Kolumbo je do kraja života vjerovao da je doplovio u Indiju</a:t>
            </a:r>
            <a:endParaRPr/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istraživanja Talijana Ameriga Vespuccija </a:t>
            </a:r>
            <a:endParaRPr/>
          </a:p>
          <a:p>
            <a:pPr indent="-228600" lvl="3" marL="1600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 se o novom kontinentu</a:t>
            </a:r>
            <a:endParaRPr/>
          </a:p>
          <a:p>
            <a:pPr indent="-228600" lvl="4" marL="2057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njemu u čast – naziv Amerika</a:t>
            </a:r>
            <a:endParaRPr/>
          </a:p>
        </p:txBody>
      </p:sp>
      <p:pic>
        <p:nvPicPr>
          <p:cNvPr descr="http://www.exploration-and-piracy.org/images/amerigo-vespucci.jpg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535" y="1390218"/>
            <a:ext cx="4666037" cy="38883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1309255" y="5683827"/>
            <a:ext cx="26392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Amerigo Vespucci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2171699" y="481446"/>
            <a:ext cx="6785264" cy="484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n-US"/>
              <a:t>PRVO PUTOVANJE OKO SVIJETA</a:t>
            </a:r>
            <a:endParaRPr/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4192155" y="1356302"/>
            <a:ext cx="4471988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Fernando Magellan (Magalhaes)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Portugalac u španjolskoj službi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putovanje od 1519. do 1522.</a:t>
            </a:r>
            <a:endParaRPr/>
          </a:p>
        </p:txBody>
      </p:sp>
      <p:pic>
        <p:nvPicPr>
          <p:cNvPr descr="165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242" y="2295204"/>
            <a:ext cx="2815522" cy="3875809"/>
          </a:xfrm>
          <a:prstGeom prst="roundRect">
            <a:avLst>
              <a:gd fmla="val 11111" name="adj"/>
            </a:avLst>
          </a:prstGeom>
          <a:noFill/>
          <a:ln cap="rnd" cmpd="sng" w="190500">
            <a:solidFill>
              <a:srgbClr val="C8C6B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7200000" dist="50800">
              <a:srgbClr val="000000">
                <a:alpha val="4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idx="1" type="body"/>
          </p:nvPr>
        </p:nvSpPr>
        <p:spPr>
          <a:xfrm>
            <a:off x="1266104" y="235817"/>
            <a:ext cx="7313612" cy="1591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PRAVAC PUTOVANJA: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solidFill>
                  <a:schemeClr val="dk1"/>
                </a:solidFill>
              </a:rPr>
              <a:t>Sevilla - južna Amerika (Magellanov prolaz - Tihi ocean (el Pacifico) - Filipini (Magellan poginuo u sukobu s domorocima) - Indijski ocean - Atlantski ocean - Sevilla</a:t>
            </a:r>
            <a:endParaRPr sz="2000">
              <a:solidFill>
                <a:schemeClr val="dk1"/>
              </a:solidFill>
            </a:endParaRPr>
          </a:p>
          <a:p>
            <a:pPr indent="-101600" lvl="0" marL="2286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Povijest6-udzbenik-139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1812" r="3687" t="2340"/>
          <a:stretch/>
        </p:blipFill>
        <p:spPr>
          <a:xfrm>
            <a:off x="2088571" y="1962294"/>
            <a:ext cx="5291943" cy="477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3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724" y="702037"/>
            <a:ext cx="8569325" cy="587851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485206" y="1027113"/>
            <a:ext cx="2819400" cy="3962400"/>
          </a:xfrm>
          <a:prstGeom prst="rect">
            <a:avLst/>
          </a:prstGeom>
          <a:solidFill>
            <a:srgbClr val="FF99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916014" y="1046589"/>
            <a:ext cx="2819400" cy="3962400"/>
          </a:xfrm>
          <a:prstGeom prst="rect">
            <a:avLst/>
          </a:prstGeom>
          <a:solidFill>
            <a:srgbClr val="FF7C80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348567" y="1909170"/>
            <a:ext cx="2502877" cy="609600"/>
          </a:xfrm>
          <a:prstGeom prst="rect">
            <a:avLst/>
          </a:prstGeom>
          <a:solidFill>
            <a:srgbClr val="0066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360966" y="440810"/>
            <a:ext cx="2502877" cy="609600"/>
          </a:xfrm>
          <a:prstGeom prst="rect">
            <a:avLst/>
          </a:prstGeom>
          <a:solidFill>
            <a:srgbClr val="0099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378498" y="5041895"/>
            <a:ext cx="2502877" cy="609600"/>
          </a:xfrm>
          <a:prstGeom prst="rect">
            <a:avLst/>
          </a:prstGeom>
          <a:solidFill>
            <a:srgbClr val="0099CC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360967" y="3822766"/>
            <a:ext cx="2502877" cy="609600"/>
          </a:xfrm>
          <a:prstGeom prst="rect">
            <a:avLst/>
          </a:prstGeom>
          <a:solidFill>
            <a:srgbClr val="0033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334537" y="2593693"/>
            <a:ext cx="2590800" cy="609600"/>
          </a:xfrm>
          <a:prstGeom prst="rect">
            <a:avLst/>
          </a:prstGeom>
          <a:solidFill>
            <a:srgbClr val="CC9900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3334537" y="4369593"/>
            <a:ext cx="2666999" cy="624683"/>
          </a:xfrm>
          <a:prstGeom prst="rect">
            <a:avLst/>
          </a:prstGeom>
          <a:solidFill>
            <a:srgbClr val="666633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334536" y="1180789"/>
            <a:ext cx="2590800" cy="609600"/>
          </a:xfrm>
          <a:prstGeom prst="rect">
            <a:avLst/>
          </a:prstGeom>
          <a:solidFill>
            <a:srgbClr val="3399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3304606" y="3201657"/>
            <a:ext cx="2590800" cy="609600"/>
          </a:xfrm>
          <a:prstGeom prst="rect">
            <a:avLst/>
          </a:prstGeom>
          <a:solidFill>
            <a:srgbClr val="00CC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454813" y="107765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PORTUGALSKA ISTRAŽIVANJA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5925337" y="128280"/>
            <a:ext cx="2819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ŠPANJOLSKA ISTRAŽIVANJA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3337954" y="1926366"/>
            <a:ext cx="213480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Istražuju zapadnu obalu Afrike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3396219" y="465253"/>
            <a:ext cx="228203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Bartolomeo Diaz otkriva Rt dobre nade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3505610" y="5117265"/>
            <a:ext cx="213480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Vasco da Gama doplovljava do Indije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3394469" y="3782421"/>
            <a:ext cx="228203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Portugal postaje vodeća trgovačka sila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3412440" y="2706647"/>
            <a:ext cx="2362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Kolumbo otkriva Ameriku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3334537" y="4409501"/>
            <a:ext cx="25908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Amerigo Vespucci dokazao da je otkriven novi kontinent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3325214" y="1301206"/>
            <a:ext cx="2438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Magellan oplovljava svijet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3227987" y="3170933"/>
            <a:ext cx="2514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Osvajanje carstava Azteka, Maja i Inka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3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692150"/>
            <a:ext cx="8569325" cy="587851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/>
          <p:nvPr/>
        </p:nvSpPr>
        <p:spPr>
          <a:xfrm>
            <a:off x="685800" y="1981200"/>
            <a:ext cx="2819400" cy="3962400"/>
          </a:xfrm>
          <a:prstGeom prst="rect">
            <a:avLst/>
          </a:prstGeom>
          <a:solidFill>
            <a:srgbClr val="FF99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638800" y="2057400"/>
            <a:ext cx="2819400" cy="3962400"/>
          </a:xfrm>
          <a:prstGeom prst="rect">
            <a:avLst/>
          </a:prstGeom>
          <a:solidFill>
            <a:srgbClr val="FF7C80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838200" y="2286000"/>
            <a:ext cx="2590800" cy="609600"/>
          </a:xfrm>
          <a:prstGeom prst="rect">
            <a:avLst/>
          </a:prstGeom>
          <a:solidFill>
            <a:srgbClr val="0066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838200" y="3200400"/>
            <a:ext cx="2590800" cy="609600"/>
          </a:xfrm>
          <a:prstGeom prst="rect">
            <a:avLst/>
          </a:prstGeom>
          <a:solidFill>
            <a:srgbClr val="0099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838200" y="4191000"/>
            <a:ext cx="2590800" cy="609600"/>
          </a:xfrm>
          <a:prstGeom prst="rect">
            <a:avLst/>
          </a:prstGeom>
          <a:solidFill>
            <a:srgbClr val="0099CC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838200" y="5105400"/>
            <a:ext cx="2590800" cy="609600"/>
          </a:xfrm>
          <a:prstGeom prst="rect">
            <a:avLst/>
          </a:prstGeom>
          <a:solidFill>
            <a:srgbClr val="0033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795963" y="2349500"/>
            <a:ext cx="2590800" cy="609600"/>
          </a:xfrm>
          <a:prstGeom prst="rect">
            <a:avLst/>
          </a:prstGeom>
          <a:solidFill>
            <a:srgbClr val="CC9900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5791200" y="3276600"/>
            <a:ext cx="2590800" cy="609600"/>
          </a:xfrm>
          <a:prstGeom prst="rect">
            <a:avLst/>
          </a:prstGeom>
          <a:solidFill>
            <a:srgbClr val="666633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5791200" y="4267200"/>
            <a:ext cx="2590800" cy="609600"/>
          </a:xfrm>
          <a:prstGeom prst="rect">
            <a:avLst/>
          </a:prstGeom>
          <a:solidFill>
            <a:srgbClr val="3399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791200" y="5181600"/>
            <a:ext cx="2590800" cy="609600"/>
          </a:xfrm>
          <a:prstGeom prst="rect">
            <a:avLst/>
          </a:prstGeom>
          <a:solidFill>
            <a:srgbClr val="00CC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685800" y="1066800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PORTUGALSKA ISTRAŽIVANJA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5638800" y="1066800"/>
            <a:ext cx="2819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ŠPANJOLSKA ISTRAŽIVANJA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990600" y="2286000"/>
            <a:ext cx="2209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Istražuju zapadnu obalu Afrike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990600" y="3200400"/>
            <a:ext cx="23622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Bartolomeo Diaz otkriva Rt dobre nade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990600" y="4267200"/>
            <a:ext cx="2209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Vasco da Gama doplovljava do Indije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990600" y="5181600"/>
            <a:ext cx="23622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Portugal postaje vodeća trgovačka sila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5943600" y="2438400"/>
            <a:ext cx="2362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Kolumbo otkriva Ameriku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5638800" y="3276600"/>
            <a:ext cx="2895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Amerigo Vespucci dokazao da je otkriven novi kont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5867400" y="4343400"/>
            <a:ext cx="2438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Magellan oplovljava svijet</a:t>
            </a:r>
            <a:endParaRPr i="0" sz="1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5867400" y="5257800"/>
            <a:ext cx="2514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Osvajanje carstava Azteka, Maja i Inka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2590801" y="58033"/>
            <a:ext cx="3601933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BILJEŠKE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Velika geografska otkrića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aja robova-korek"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277813"/>
            <a:ext cx="8569325" cy="628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/>
          <p:nvPr/>
        </p:nvSpPr>
        <p:spPr>
          <a:xfrm>
            <a:off x="3352800" y="2286000"/>
            <a:ext cx="2286000" cy="2743200"/>
          </a:xfrm>
          <a:prstGeom prst="rect">
            <a:avLst/>
          </a:prstGeom>
          <a:solidFill>
            <a:srgbClr val="FFCC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1371600" y="5029200"/>
            <a:ext cx="1219200" cy="1524000"/>
          </a:xfrm>
          <a:prstGeom prst="rect">
            <a:avLst/>
          </a:prstGeom>
          <a:solidFill>
            <a:srgbClr val="FFCC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304800" y="3505200"/>
            <a:ext cx="1219200" cy="1524000"/>
          </a:xfrm>
          <a:prstGeom prst="rect">
            <a:avLst/>
          </a:prstGeom>
          <a:solidFill>
            <a:srgbClr val="FFCCCC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2514600" y="457200"/>
            <a:ext cx="1219200" cy="1524000"/>
          </a:xfrm>
          <a:prstGeom prst="rect">
            <a:avLst/>
          </a:prstGeom>
          <a:solidFill>
            <a:srgbClr val="FF9966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105400" y="457200"/>
            <a:ext cx="1219200" cy="1524000"/>
          </a:xfrm>
          <a:prstGeom prst="rect">
            <a:avLst/>
          </a:prstGeom>
          <a:solidFill>
            <a:srgbClr val="FF7C80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324600" y="1981200"/>
            <a:ext cx="1219200" cy="1524000"/>
          </a:xfrm>
          <a:prstGeom prst="rect">
            <a:avLst/>
          </a:prstGeom>
          <a:solidFill>
            <a:srgbClr val="FFDF9F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6248400" y="5029200"/>
            <a:ext cx="1219200" cy="1524000"/>
          </a:xfrm>
          <a:prstGeom prst="rect">
            <a:avLst/>
          </a:prstGeom>
          <a:solidFill>
            <a:srgbClr val="FFC167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1295400" y="1981200"/>
            <a:ext cx="1219200" cy="1524000"/>
          </a:xfrm>
          <a:prstGeom prst="rect">
            <a:avLst/>
          </a:prstGeom>
          <a:solidFill>
            <a:srgbClr val="FF99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7315200" y="3505200"/>
            <a:ext cx="1219200" cy="1524000"/>
          </a:xfrm>
          <a:prstGeom prst="rect">
            <a:avLst/>
          </a:prstGeom>
          <a:solidFill>
            <a:srgbClr val="FFABAD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3352800" y="2895600"/>
            <a:ext cx="22860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POSLJEDICE ZEMLJOPISNIH OTKRIĆA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1371600" y="5334000"/>
            <a:ext cx="12954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Pomicanje trgovačkih puteva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304800" y="3657600"/>
            <a:ext cx="12192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Novi razmještaj gospodarske moći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219200" y="2209800"/>
            <a:ext cx="14478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Propadanje Venecije i Dubrovnika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2590800" y="685800"/>
            <a:ext cx="10668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Priljev zlata i srebra u Europu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5181600" y="685800"/>
            <a:ext cx="9906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Porast cijena u Europi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400800" y="2209800"/>
            <a:ext cx="114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Nove biljke i životinje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7315200" y="3657600"/>
            <a:ext cx="12192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Uništenje Azteka, Maja i Inka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6324600" y="5257800"/>
            <a:ext cx="10668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Procvat trgovine robljem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6-f"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016" y="1033174"/>
            <a:ext cx="7419543" cy="3000960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5000" kx="195000" rotWithShape="0" algn="tl" dir="12900000" dist="50800" ky="145000">
              <a:srgbClr val="000000">
                <a:alpha val="29803"/>
              </a:srgbClr>
            </a:outerShdw>
          </a:effectLst>
        </p:spPr>
      </p:pic>
      <p:sp>
        <p:nvSpPr>
          <p:cNvPr id="323" name="Google Shape;323;p26"/>
          <p:cNvSpPr txBox="1"/>
          <p:nvPr/>
        </p:nvSpPr>
        <p:spPr>
          <a:xfrm>
            <a:off x="1124635" y="4499553"/>
            <a:ext cx="741954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Među negativne posljedice velikih zemljopisnih otkrića spada gotovo potpuno uništenje domorodačkog pučanstva. U pokušaju da Azteke, Inke i ostalo pučanstvo Amerike pokrste, Španjolci su se služili brojnim svirepostima, kakva pokazuje i ova ilustracija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 txBox="1"/>
          <p:nvPr/>
        </p:nvSpPr>
        <p:spPr>
          <a:xfrm>
            <a:off x="888274" y="5358717"/>
            <a:ext cx="7268301" cy="87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Velikim zemljopisnim otkrićima započela je i era trgovine robljem. Najviše robova kupovali su Portugalci za svoje plantaže u Brazilu. Roblje je iz unutrašnjosti Afrike dopremano na zapadnu obalu, odakle su ga trgovci robljem prevozili dalje u Ameriku.</a:t>
            </a:r>
            <a:endParaRPr/>
          </a:p>
        </p:txBody>
      </p:sp>
      <p:pic>
        <p:nvPicPr>
          <p:cNvPr descr="Prodaja robova-korek" id="329" name="Google Shape;3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172" y="703841"/>
            <a:ext cx="6342352" cy="465487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dge">
  <a:themeElements>
    <a:clrScheme name="Badge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2016-03-29T13:36:53Z</dcterms:created>
  <dc:creator>Tomislav Šarlija</dc:creator>
</cp:coreProperties>
</file>