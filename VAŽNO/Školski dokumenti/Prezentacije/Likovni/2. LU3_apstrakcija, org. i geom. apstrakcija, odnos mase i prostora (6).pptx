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7" r:id="rId2"/>
    <p:sldId id="258" r:id="rId3"/>
    <p:sldId id="259" r:id="rId4"/>
    <p:sldId id="260" r:id="rId5"/>
    <p:sldId id="261" r:id="rId6"/>
    <p:sldId id="262" r:id="rId7"/>
    <p:sldId id="321" r:id="rId8"/>
    <p:sldId id="279" r:id="rId9"/>
    <p:sldId id="280" r:id="rId10"/>
    <p:sldId id="282" r:id="rId11"/>
    <p:sldId id="283" r:id="rId12"/>
    <p:sldId id="286" r:id="rId13"/>
    <p:sldId id="287" r:id="rId14"/>
    <p:sldId id="288" r:id="rId15"/>
    <p:sldId id="289" r:id="rId16"/>
    <p:sldId id="290" r:id="rId17"/>
    <p:sldId id="291" r:id="rId18"/>
    <p:sldId id="292" r:id="rId19"/>
    <p:sldId id="293" r:id="rId20"/>
    <p:sldId id="294" r:id="rId21"/>
    <p:sldId id="295" r:id="rId22"/>
    <p:sldId id="296" r:id="rId23"/>
    <p:sldId id="307" r:id="rId24"/>
    <p:sldId id="308" r:id="rId25"/>
    <p:sldId id="309" r:id="rId26"/>
    <p:sldId id="311" r:id="rId27"/>
    <p:sldId id="312" r:id="rId28"/>
    <p:sldId id="313" r:id="rId29"/>
    <p:sldId id="320" r:id="rId30"/>
    <p:sldId id="263" r:id="rId31"/>
    <p:sldId id="264" r:id="rId32"/>
    <p:sldId id="272" r:id="rId33"/>
    <p:sldId id="319" r:id="rId34"/>
    <p:sldId id="265" r:id="rId35"/>
    <p:sldId id="266" r:id="rId36"/>
    <p:sldId id="315" r:id="rId37"/>
    <p:sldId id="314" r:id="rId38"/>
    <p:sldId id="316" r:id="rId39"/>
    <p:sldId id="317" r:id="rId40"/>
    <p:sldId id="318" r:id="rId41"/>
    <p:sldId id="267" r:id="rId42"/>
    <p:sldId id="268" r:id="rId43"/>
    <p:sldId id="269" r:id="rId44"/>
    <p:sldId id="270" r:id="rId45"/>
    <p:sldId id="271" r:id="rId46"/>
    <p:sldId id="273" r:id="rId47"/>
    <p:sldId id="274" r:id="rId48"/>
    <p:sldId id="322" r:id="rId49"/>
    <p:sldId id="323" r:id="rId50"/>
  </p:sldIdLst>
  <p:sldSz cx="12192000" cy="6858000"/>
  <p:notesSz cx="6858000" cy="9144000"/>
  <p:defaultText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p:scale>
          <a:sx n="96" d="100"/>
          <a:sy n="96" d="100"/>
        </p:scale>
        <p:origin x="178" y="-34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r-H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E4743B-130E-43A8-8453-9D1D7DAA7431}" type="datetimeFigureOut">
              <a:rPr lang="hr-HR" smtClean="0"/>
              <a:t>21.9.2024.</a:t>
            </a:fld>
            <a:endParaRPr lang="hr-H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r-H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r-H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F233C7-4950-4EA2-975C-8981FEF99D6C}" type="slidenum">
              <a:rPr lang="hr-HR" smtClean="0"/>
              <a:t>‹#›</a:t>
            </a:fld>
            <a:endParaRPr lang="hr-HR"/>
          </a:p>
        </p:txBody>
      </p:sp>
    </p:spTree>
    <p:extLst>
      <p:ext uri="{BB962C8B-B14F-4D97-AF65-F5344CB8AC3E}">
        <p14:creationId xmlns:p14="http://schemas.microsoft.com/office/powerpoint/2010/main" val="2725553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7119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hr-HR">
                <a:solidFill>
                  <a:srgbClr val="000000"/>
                </a:solidFill>
              </a:rPr>
              <a:t>2</a:t>
            </a:fld>
            <a:endParaRPr>
              <a:solidFill>
                <a:srgbClr val="000000"/>
              </a:solidFill>
            </a:endParaRPr>
          </a:p>
        </p:txBody>
      </p:sp>
    </p:spTree>
    <p:extLst>
      <p:ext uri="{BB962C8B-B14F-4D97-AF65-F5344CB8AC3E}">
        <p14:creationId xmlns:p14="http://schemas.microsoft.com/office/powerpoint/2010/main" val="29309817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cap="small">
              <a:solidFill>
                <a:schemeClr val="dk1"/>
              </a:solidFill>
              <a:latin typeface="Calibri"/>
              <a:ea typeface="Calibri"/>
              <a:cs typeface="Calibri"/>
              <a:sym typeface="Calibri"/>
            </a:endParaRPr>
          </a:p>
        </p:txBody>
      </p:sp>
      <p:sp>
        <p:nvSpPr>
          <p:cNvPr id="207" name="Google Shape;207;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hr-HR"/>
              <a:t>3</a:t>
            </a:fld>
            <a:endParaRPr/>
          </a:p>
        </p:txBody>
      </p:sp>
    </p:spTree>
    <p:extLst>
      <p:ext uri="{BB962C8B-B14F-4D97-AF65-F5344CB8AC3E}">
        <p14:creationId xmlns:p14="http://schemas.microsoft.com/office/powerpoint/2010/main" val="28782346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b="0"/>
          </a:p>
        </p:txBody>
      </p:sp>
      <p:sp>
        <p:nvSpPr>
          <p:cNvPr id="224" name="Google Shape;22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hr-HR"/>
              <a:t>4</a:t>
            </a:fld>
            <a:endParaRPr/>
          </a:p>
        </p:txBody>
      </p:sp>
    </p:spTree>
    <p:extLst>
      <p:ext uri="{BB962C8B-B14F-4D97-AF65-F5344CB8AC3E}">
        <p14:creationId xmlns:p14="http://schemas.microsoft.com/office/powerpoint/2010/main" val="26348084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2" name="Google Shape;232;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hr-HR"/>
              <a:t>6</a:t>
            </a:fld>
            <a:endParaRPr/>
          </a:p>
        </p:txBody>
      </p:sp>
    </p:spTree>
    <p:extLst>
      <p:ext uri="{BB962C8B-B14F-4D97-AF65-F5344CB8AC3E}">
        <p14:creationId xmlns:p14="http://schemas.microsoft.com/office/powerpoint/2010/main" val="1358314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 name="Google Shape;240;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hr-HR"/>
              <a:t>30</a:t>
            </a:fld>
            <a:endParaRPr/>
          </a:p>
        </p:txBody>
      </p:sp>
    </p:spTree>
    <p:extLst>
      <p:ext uri="{BB962C8B-B14F-4D97-AF65-F5344CB8AC3E}">
        <p14:creationId xmlns:p14="http://schemas.microsoft.com/office/powerpoint/2010/main" val="813680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hr-HR"/>
              <a:t>32</a:t>
            </a:fld>
            <a:endParaRPr/>
          </a:p>
        </p:txBody>
      </p:sp>
    </p:spTree>
    <p:extLst>
      <p:ext uri="{BB962C8B-B14F-4D97-AF65-F5344CB8AC3E}">
        <p14:creationId xmlns:p14="http://schemas.microsoft.com/office/powerpoint/2010/main" val="26089437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1" name="Google Shape;251;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hr-HR">
                <a:solidFill>
                  <a:srgbClr val="000000"/>
                </a:solidFill>
              </a:rPr>
              <a:t>34</a:t>
            </a:fld>
            <a:endParaRPr>
              <a:solidFill>
                <a:srgbClr val="000000"/>
              </a:solidFill>
            </a:endParaRPr>
          </a:p>
        </p:txBody>
      </p:sp>
    </p:spTree>
    <p:extLst>
      <p:ext uri="{BB962C8B-B14F-4D97-AF65-F5344CB8AC3E}">
        <p14:creationId xmlns:p14="http://schemas.microsoft.com/office/powerpoint/2010/main" val="42198544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hr-HR"/>
              <a:t>35</a:t>
            </a:fld>
            <a:endParaRPr/>
          </a:p>
        </p:txBody>
      </p:sp>
    </p:spTree>
    <p:extLst>
      <p:ext uri="{BB962C8B-B14F-4D97-AF65-F5344CB8AC3E}">
        <p14:creationId xmlns:p14="http://schemas.microsoft.com/office/powerpoint/2010/main" val="21795298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hr-HR"/>
              <a:t>42</a:t>
            </a:fld>
            <a:endParaRPr/>
          </a:p>
        </p:txBody>
      </p:sp>
    </p:spTree>
    <p:extLst>
      <p:ext uri="{BB962C8B-B14F-4D97-AF65-F5344CB8AC3E}">
        <p14:creationId xmlns:p14="http://schemas.microsoft.com/office/powerpoint/2010/main" val="16431712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4" name="Google Shape;28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53168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hr-HR">
                <a:solidFill>
                  <a:srgbClr val="000000"/>
                </a:solidFill>
              </a:rPr>
              <a:t>44</a:t>
            </a:fld>
            <a:endParaRPr>
              <a:solidFill>
                <a:srgbClr val="000000"/>
              </a:solidFill>
            </a:endParaRPr>
          </a:p>
        </p:txBody>
      </p:sp>
    </p:spTree>
    <p:extLst>
      <p:ext uri="{BB962C8B-B14F-4D97-AF65-F5344CB8AC3E}">
        <p14:creationId xmlns:p14="http://schemas.microsoft.com/office/powerpoint/2010/main" val="4072441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hr-HR">
                <a:solidFill>
                  <a:srgbClr val="000000"/>
                </a:solidFill>
              </a:rPr>
              <a:t>45</a:t>
            </a:fld>
            <a:endParaRPr>
              <a:solidFill>
                <a:srgbClr val="000000"/>
              </a:solidFill>
            </a:endParaRPr>
          </a:p>
        </p:txBody>
      </p:sp>
    </p:spTree>
    <p:extLst>
      <p:ext uri="{BB962C8B-B14F-4D97-AF65-F5344CB8AC3E}">
        <p14:creationId xmlns:p14="http://schemas.microsoft.com/office/powerpoint/2010/main" val="17391348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4" name="Google Shape;324;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26811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2" name="Google Shape;33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92990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r-H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r-HR"/>
          </a:p>
        </p:txBody>
      </p:sp>
      <p:sp>
        <p:nvSpPr>
          <p:cNvPr id="4" name="Date Placeholder 3"/>
          <p:cNvSpPr>
            <a:spLocks noGrp="1"/>
          </p:cNvSpPr>
          <p:nvPr>
            <p:ph type="dt" sz="half" idx="10"/>
          </p:nvPr>
        </p:nvSpPr>
        <p:spPr/>
        <p:txBody>
          <a:bodyPr/>
          <a:lstStyle/>
          <a:p>
            <a:fld id="{3E8B7808-A27C-45CB-8805-D8EF89250E2B}" type="datetimeFigureOut">
              <a:rPr lang="hr-HR" smtClean="0"/>
              <a:t>21.9.2024.</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F7BC9BA6-CA1E-49D6-A109-A6FFB97DDBB8}" type="slidenum">
              <a:rPr lang="hr-HR" smtClean="0"/>
              <a:t>‹#›</a:t>
            </a:fld>
            <a:endParaRPr lang="hr-HR"/>
          </a:p>
        </p:txBody>
      </p:sp>
    </p:spTree>
    <p:extLst>
      <p:ext uri="{BB962C8B-B14F-4D97-AF65-F5344CB8AC3E}">
        <p14:creationId xmlns:p14="http://schemas.microsoft.com/office/powerpoint/2010/main" val="874118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r-H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Date Placeholder 3"/>
          <p:cNvSpPr>
            <a:spLocks noGrp="1"/>
          </p:cNvSpPr>
          <p:nvPr>
            <p:ph type="dt" sz="half" idx="10"/>
          </p:nvPr>
        </p:nvSpPr>
        <p:spPr/>
        <p:txBody>
          <a:bodyPr/>
          <a:lstStyle/>
          <a:p>
            <a:fld id="{3E8B7808-A27C-45CB-8805-D8EF89250E2B}" type="datetimeFigureOut">
              <a:rPr lang="hr-HR" smtClean="0"/>
              <a:t>21.9.2024.</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F7BC9BA6-CA1E-49D6-A109-A6FFB97DDBB8}" type="slidenum">
              <a:rPr lang="hr-HR" smtClean="0"/>
              <a:t>‹#›</a:t>
            </a:fld>
            <a:endParaRPr lang="hr-HR"/>
          </a:p>
        </p:txBody>
      </p:sp>
    </p:spTree>
    <p:extLst>
      <p:ext uri="{BB962C8B-B14F-4D97-AF65-F5344CB8AC3E}">
        <p14:creationId xmlns:p14="http://schemas.microsoft.com/office/powerpoint/2010/main" val="626657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r-H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8B7808-A27C-45CB-8805-D8EF89250E2B}" type="datetimeFigureOut">
              <a:rPr lang="hr-HR" smtClean="0"/>
              <a:t>21.9.2024.</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F7BC9BA6-CA1E-49D6-A109-A6FFB97DDBB8}" type="slidenum">
              <a:rPr lang="hr-HR" smtClean="0"/>
              <a:t>‹#›</a:t>
            </a:fld>
            <a:endParaRPr lang="hr-HR"/>
          </a:p>
        </p:txBody>
      </p:sp>
    </p:spTree>
    <p:extLst>
      <p:ext uri="{BB962C8B-B14F-4D97-AF65-F5344CB8AC3E}">
        <p14:creationId xmlns:p14="http://schemas.microsoft.com/office/powerpoint/2010/main" val="5087647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r-H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5" name="Date Placeholder 4"/>
          <p:cNvSpPr>
            <a:spLocks noGrp="1"/>
          </p:cNvSpPr>
          <p:nvPr>
            <p:ph type="dt" sz="half" idx="10"/>
          </p:nvPr>
        </p:nvSpPr>
        <p:spPr/>
        <p:txBody>
          <a:bodyPr/>
          <a:lstStyle/>
          <a:p>
            <a:fld id="{3E8B7808-A27C-45CB-8805-D8EF89250E2B}" type="datetimeFigureOut">
              <a:rPr lang="hr-HR" smtClean="0"/>
              <a:t>21.9.2024.</a:t>
            </a:fld>
            <a:endParaRPr lang="hr-HR"/>
          </a:p>
        </p:txBody>
      </p:sp>
      <p:sp>
        <p:nvSpPr>
          <p:cNvPr id="6" name="Footer Placeholder 5"/>
          <p:cNvSpPr>
            <a:spLocks noGrp="1"/>
          </p:cNvSpPr>
          <p:nvPr>
            <p:ph type="ftr" sz="quarter" idx="11"/>
          </p:nvPr>
        </p:nvSpPr>
        <p:spPr/>
        <p:txBody>
          <a:bodyPr/>
          <a:lstStyle/>
          <a:p>
            <a:endParaRPr lang="hr-HR"/>
          </a:p>
        </p:txBody>
      </p:sp>
      <p:sp>
        <p:nvSpPr>
          <p:cNvPr id="7" name="Slide Number Placeholder 6"/>
          <p:cNvSpPr>
            <a:spLocks noGrp="1"/>
          </p:cNvSpPr>
          <p:nvPr>
            <p:ph type="sldNum" sz="quarter" idx="12"/>
          </p:nvPr>
        </p:nvSpPr>
        <p:spPr/>
        <p:txBody>
          <a:bodyPr/>
          <a:lstStyle/>
          <a:p>
            <a:fld id="{F7BC9BA6-CA1E-49D6-A109-A6FFB97DDBB8}" type="slidenum">
              <a:rPr lang="hr-HR" smtClean="0"/>
              <a:t>‹#›</a:t>
            </a:fld>
            <a:endParaRPr lang="hr-HR"/>
          </a:p>
        </p:txBody>
      </p:sp>
    </p:spTree>
    <p:extLst>
      <p:ext uri="{BB962C8B-B14F-4D97-AF65-F5344CB8AC3E}">
        <p14:creationId xmlns:p14="http://schemas.microsoft.com/office/powerpoint/2010/main" val="735452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hr-H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7" name="Date Placeholder 6"/>
          <p:cNvSpPr>
            <a:spLocks noGrp="1"/>
          </p:cNvSpPr>
          <p:nvPr>
            <p:ph type="dt" sz="half" idx="10"/>
          </p:nvPr>
        </p:nvSpPr>
        <p:spPr/>
        <p:txBody>
          <a:bodyPr/>
          <a:lstStyle/>
          <a:p>
            <a:fld id="{3E8B7808-A27C-45CB-8805-D8EF89250E2B}" type="datetimeFigureOut">
              <a:rPr lang="hr-HR" smtClean="0"/>
              <a:t>21.9.2024.</a:t>
            </a:fld>
            <a:endParaRPr lang="hr-HR"/>
          </a:p>
        </p:txBody>
      </p:sp>
      <p:sp>
        <p:nvSpPr>
          <p:cNvPr id="8" name="Footer Placeholder 7"/>
          <p:cNvSpPr>
            <a:spLocks noGrp="1"/>
          </p:cNvSpPr>
          <p:nvPr>
            <p:ph type="ftr" sz="quarter" idx="11"/>
          </p:nvPr>
        </p:nvSpPr>
        <p:spPr/>
        <p:txBody>
          <a:bodyPr/>
          <a:lstStyle/>
          <a:p>
            <a:endParaRPr lang="hr-HR"/>
          </a:p>
        </p:txBody>
      </p:sp>
      <p:sp>
        <p:nvSpPr>
          <p:cNvPr id="9" name="Slide Number Placeholder 8"/>
          <p:cNvSpPr>
            <a:spLocks noGrp="1"/>
          </p:cNvSpPr>
          <p:nvPr>
            <p:ph type="sldNum" sz="quarter" idx="12"/>
          </p:nvPr>
        </p:nvSpPr>
        <p:spPr/>
        <p:txBody>
          <a:bodyPr/>
          <a:lstStyle/>
          <a:p>
            <a:fld id="{F7BC9BA6-CA1E-49D6-A109-A6FFB97DDBB8}" type="slidenum">
              <a:rPr lang="hr-HR" smtClean="0"/>
              <a:t>‹#›</a:t>
            </a:fld>
            <a:endParaRPr lang="hr-HR"/>
          </a:p>
        </p:txBody>
      </p:sp>
    </p:spTree>
    <p:extLst>
      <p:ext uri="{BB962C8B-B14F-4D97-AF65-F5344CB8AC3E}">
        <p14:creationId xmlns:p14="http://schemas.microsoft.com/office/powerpoint/2010/main" val="26203051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r-HR"/>
          </a:p>
        </p:txBody>
      </p:sp>
      <p:sp>
        <p:nvSpPr>
          <p:cNvPr id="3" name="Date Placeholder 2"/>
          <p:cNvSpPr>
            <a:spLocks noGrp="1"/>
          </p:cNvSpPr>
          <p:nvPr>
            <p:ph type="dt" sz="half" idx="10"/>
          </p:nvPr>
        </p:nvSpPr>
        <p:spPr/>
        <p:txBody>
          <a:bodyPr/>
          <a:lstStyle/>
          <a:p>
            <a:fld id="{3E8B7808-A27C-45CB-8805-D8EF89250E2B}" type="datetimeFigureOut">
              <a:rPr lang="hr-HR" smtClean="0"/>
              <a:t>21.9.2024.</a:t>
            </a:fld>
            <a:endParaRPr lang="hr-HR"/>
          </a:p>
        </p:txBody>
      </p:sp>
      <p:sp>
        <p:nvSpPr>
          <p:cNvPr id="4" name="Footer Placeholder 3"/>
          <p:cNvSpPr>
            <a:spLocks noGrp="1"/>
          </p:cNvSpPr>
          <p:nvPr>
            <p:ph type="ftr" sz="quarter" idx="11"/>
          </p:nvPr>
        </p:nvSpPr>
        <p:spPr/>
        <p:txBody>
          <a:bodyPr/>
          <a:lstStyle/>
          <a:p>
            <a:endParaRPr lang="hr-HR"/>
          </a:p>
        </p:txBody>
      </p:sp>
      <p:sp>
        <p:nvSpPr>
          <p:cNvPr id="5" name="Slide Number Placeholder 4"/>
          <p:cNvSpPr>
            <a:spLocks noGrp="1"/>
          </p:cNvSpPr>
          <p:nvPr>
            <p:ph type="sldNum" sz="quarter" idx="12"/>
          </p:nvPr>
        </p:nvSpPr>
        <p:spPr/>
        <p:txBody>
          <a:bodyPr/>
          <a:lstStyle/>
          <a:p>
            <a:fld id="{F7BC9BA6-CA1E-49D6-A109-A6FFB97DDBB8}" type="slidenum">
              <a:rPr lang="hr-HR" smtClean="0"/>
              <a:t>‹#›</a:t>
            </a:fld>
            <a:endParaRPr lang="hr-HR"/>
          </a:p>
        </p:txBody>
      </p:sp>
    </p:spTree>
    <p:extLst>
      <p:ext uri="{BB962C8B-B14F-4D97-AF65-F5344CB8AC3E}">
        <p14:creationId xmlns:p14="http://schemas.microsoft.com/office/powerpoint/2010/main" val="610318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8B7808-A27C-45CB-8805-D8EF89250E2B}" type="datetimeFigureOut">
              <a:rPr lang="hr-HR" smtClean="0"/>
              <a:t>21.9.2024.</a:t>
            </a:fld>
            <a:endParaRPr lang="hr-HR"/>
          </a:p>
        </p:txBody>
      </p:sp>
      <p:sp>
        <p:nvSpPr>
          <p:cNvPr id="3" name="Footer Placeholder 2"/>
          <p:cNvSpPr>
            <a:spLocks noGrp="1"/>
          </p:cNvSpPr>
          <p:nvPr>
            <p:ph type="ftr" sz="quarter" idx="11"/>
          </p:nvPr>
        </p:nvSpPr>
        <p:spPr/>
        <p:txBody>
          <a:bodyPr/>
          <a:lstStyle/>
          <a:p>
            <a:endParaRPr lang="hr-HR"/>
          </a:p>
        </p:txBody>
      </p:sp>
      <p:sp>
        <p:nvSpPr>
          <p:cNvPr id="4" name="Slide Number Placeholder 3"/>
          <p:cNvSpPr>
            <a:spLocks noGrp="1"/>
          </p:cNvSpPr>
          <p:nvPr>
            <p:ph type="sldNum" sz="quarter" idx="12"/>
          </p:nvPr>
        </p:nvSpPr>
        <p:spPr/>
        <p:txBody>
          <a:bodyPr/>
          <a:lstStyle/>
          <a:p>
            <a:fld id="{F7BC9BA6-CA1E-49D6-A109-A6FFB97DDBB8}" type="slidenum">
              <a:rPr lang="hr-HR" smtClean="0"/>
              <a:t>‹#›</a:t>
            </a:fld>
            <a:endParaRPr lang="hr-HR"/>
          </a:p>
        </p:txBody>
      </p:sp>
    </p:spTree>
    <p:extLst>
      <p:ext uri="{BB962C8B-B14F-4D97-AF65-F5344CB8AC3E}">
        <p14:creationId xmlns:p14="http://schemas.microsoft.com/office/powerpoint/2010/main" val="2642396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r-H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E8B7808-A27C-45CB-8805-D8EF89250E2B}" type="datetimeFigureOut">
              <a:rPr lang="hr-HR" smtClean="0"/>
              <a:t>21.9.2024.</a:t>
            </a:fld>
            <a:endParaRPr lang="hr-HR"/>
          </a:p>
        </p:txBody>
      </p:sp>
      <p:sp>
        <p:nvSpPr>
          <p:cNvPr id="6" name="Footer Placeholder 5"/>
          <p:cNvSpPr>
            <a:spLocks noGrp="1"/>
          </p:cNvSpPr>
          <p:nvPr>
            <p:ph type="ftr" sz="quarter" idx="11"/>
          </p:nvPr>
        </p:nvSpPr>
        <p:spPr/>
        <p:txBody>
          <a:bodyPr/>
          <a:lstStyle/>
          <a:p>
            <a:endParaRPr lang="hr-HR"/>
          </a:p>
        </p:txBody>
      </p:sp>
      <p:sp>
        <p:nvSpPr>
          <p:cNvPr id="7" name="Slide Number Placeholder 6"/>
          <p:cNvSpPr>
            <a:spLocks noGrp="1"/>
          </p:cNvSpPr>
          <p:nvPr>
            <p:ph type="sldNum" sz="quarter" idx="12"/>
          </p:nvPr>
        </p:nvSpPr>
        <p:spPr/>
        <p:txBody>
          <a:bodyPr/>
          <a:lstStyle/>
          <a:p>
            <a:fld id="{F7BC9BA6-CA1E-49D6-A109-A6FFB97DDBB8}" type="slidenum">
              <a:rPr lang="hr-HR" smtClean="0"/>
              <a:t>‹#›</a:t>
            </a:fld>
            <a:endParaRPr lang="hr-HR"/>
          </a:p>
        </p:txBody>
      </p:sp>
    </p:spTree>
    <p:extLst>
      <p:ext uri="{BB962C8B-B14F-4D97-AF65-F5344CB8AC3E}">
        <p14:creationId xmlns:p14="http://schemas.microsoft.com/office/powerpoint/2010/main" val="1292330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r-H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r-H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E8B7808-A27C-45CB-8805-D8EF89250E2B}" type="datetimeFigureOut">
              <a:rPr lang="hr-HR" smtClean="0"/>
              <a:t>21.9.2024.</a:t>
            </a:fld>
            <a:endParaRPr lang="hr-HR"/>
          </a:p>
        </p:txBody>
      </p:sp>
      <p:sp>
        <p:nvSpPr>
          <p:cNvPr id="6" name="Footer Placeholder 5"/>
          <p:cNvSpPr>
            <a:spLocks noGrp="1"/>
          </p:cNvSpPr>
          <p:nvPr>
            <p:ph type="ftr" sz="quarter" idx="11"/>
          </p:nvPr>
        </p:nvSpPr>
        <p:spPr/>
        <p:txBody>
          <a:bodyPr/>
          <a:lstStyle/>
          <a:p>
            <a:endParaRPr lang="hr-HR"/>
          </a:p>
        </p:txBody>
      </p:sp>
      <p:sp>
        <p:nvSpPr>
          <p:cNvPr id="7" name="Slide Number Placeholder 6"/>
          <p:cNvSpPr>
            <a:spLocks noGrp="1"/>
          </p:cNvSpPr>
          <p:nvPr>
            <p:ph type="sldNum" sz="quarter" idx="12"/>
          </p:nvPr>
        </p:nvSpPr>
        <p:spPr/>
        <p:txBody>
          <a:bodyPr/>
          <a:lstStyle/>
          <a:p>
            <a:fld id="{F7BC9BA6-CA1E-49D6-A109-A6FFB97DDBB8}" type="slidenum">
              <a:rPr lang="hr-HR" smtClean="0"/>
              <a:t>‹#›</a:t>
            </a:fld>
            <a:endParaRPr lang="hr-HR"/>
          </a:p>
        </p:txBody>
      </p:sp>
    </p:spTree>
    <p:extLst>
      <p:ext uri="{BB962C8B-B14F-4D97-AF65-F5344CB8AC3E}">
        <p14:creationId xmlns:p14="http://schemas.microsoft.com/office/powerpoint/2010/main" val="2970767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r-H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Date Placeholder 3"/>
          <p:cNvSpPr>
            <a:spLocks noGrp="1"/>
          </p:cNvSpPr>
          <p:nvPr>
            <p:ph type="dt" sz="half" idx="10"/>
          </p:nvPr>
        </p:nvSpPr>
        <p:spPr/>
        <p:txBody>
          <a:bodyPr/>
          <a:lstStyle/>
          <a:p>
            <a:fld id="{3E8B7808-A27C-45CB-8805-D8EF89250E2B}" type="datetimeFigureOut">
              <a:rPr lang="hr-HR" smtClean="0"/>
              <a:t>21.9.2024.</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F7BC9BA6-CA1E-49D6-A109-A6FFB97DDBB8}" type="slidenum">
              <a:rPr lang="hr-HR" smtClean="0"/>
              <a:t>‹#›</a:t>
            </a:fld>
            <a:endParaRPr lang="hr-HR"/>
          </a:p>
        </p:txBody>
      </p:sp>
    </p:spTree>
    <p:extLst>
      <p:ext uri="{BB962C8B-B14F-4D97-AF65-F5344CB8AC3E}">
        <p14:creationId xmlns:p14="http://schemas.microsoft.com/office/powerpoint/2010/main" val="28760261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hr-H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Date Placeholder 3"/>
          <p:cNvSpPr>
            <a:spLocks noGrp="1"/>
          </p:cNvSpPr>
          <p:nvPr>
            <p:ph type="dt" sz="half" idx="10"/>
          </p:nvPr>
        </p:nvSpPr>
        <p:spPr/>
        <p:txBody>
          <a:bodyPr/>
          <a:lstStyle/>
          <a:p>
            <a:fld id="{3E8B7808-A27C-45CB-8805-D8EF89250E2B}" type="datetimeFigureOut">
              <a:rPr lang="hr-HR" smtClean="0"/>
              <a:t>21.9.2024.</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F7BC9BA6-CA1E-49D6-A109-A6FFB97DDBB8}" type="slidenum">
              <a:rPr lang="hr-HR" smtClean="0"/>
              <a:t>‹#›</a:t>
            </a:fld>
            <a:endParaRPr lang="hr-HR"/>
          </a:p>
        </p:txBody>
      </p:sp>
    </p:spTree>
    <p:extLst>
      <p:ext uri="{BB962C8B-B14F-4D97-AF65-F5344CB8AC3E}">
        <p14:creationId xmlns:p14="http://schemas.microsoft.com/office/powerpoint/2010/main" val="1640720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r-H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8B7808-A27C-45CB-8805-D8EF89250E2B}" type="datetimeFigureOut">
              <a:rPr lang="hr-HR" smtClean="0"/>
              <a:t>21.9.2024.</a:t>
            </a:fld>
            <a:endParaRPr lang="hr-H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r-H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BC9BA6-CA1E-49D6-A109-A6FFB97DDBB8}" type="slidenum">
              <a:rPr lang="hr-HR" smtClean="0"/>
              <a:t>‹#›</a:t>
            </a:fld>
            <a:endParaRPr lang="hr-HR"/>
          </a:p>
        </p:txBody>
      </p:sp>
    </p:spTree>
    <p:extLst>
      <p:ext uri="{BB962C8B-B14F-4D97-AF65-F5344CB8AC3E}">
        <p14:creationId xmlns:p14="http://schemas.microsoft.com/office/powerpoint/2010/main" val="3265788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8.jpeg"/><Relationship Id="rId13" Type="http://schemas.openxmlformats.org/officeDocument/2006/relationships/image" Target="../media/image23.jpeg"/><Relationship Id="rId3" Type="http://schemas.openxmlformats.org/officeDocument/2006/relationships/image" Target="../media/image13.jpeg"/><Relationship Id="rId7" Type="http://schemas.openxmlformats.org/officeDocument/2006/relationships/image" Target="../media/image17.jpeg"/><Relationship Id="rId12" Type="http://schemas.openxmlformats.org/officeDocument/2006/relationships/image" Target="../media/image22.jpe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16.jpeg"/><Relationship Id="rId11" Type="http://schemas.openxmlformats.org/officeDocument/2006/relationships/image" Target="../media/image21.jpeg"/><Relationship Id="rId5" Type="http://schemas.openxmlformats.org/officeDocument/2006/relationships/image" Target="../media/image15.jpeg"/><Relationship Id="rId10" Type="http://schemas.openxmlformats.org/officeDocument/2006/relationships/image" Target="../media/image20.jpeg"/><Relationship Id="rId4" Type="http://schemas.openxmlformats.org/officeDocument/2006/relationships/image" Target="../media/image14.jpeg"/><Relationship Id="rId9" Type="http://schemas.openxmlformats.org/officeDocument/2006/relationships/image" Target="../media/image19.jpeg"/></Relationships>
</file>

<file path=ppt/slides/_rels/slide1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jpeg"/></Relationships>
</file>

<file path=ppt/slides/_rels/slide1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2.xml"/><Relationship Id="rId5" Type="http://schemas.openxmlformats.org/officeDocument/2006/relationships/image" Target="../media/image37.jpeg"/><Relationship Id="rId4" Type="http://schemas.openxmlformats.org/officeDocument/2006/relationships/image" Target="../media/image36.jpeg"/></Relationships>
</file>

<file path=ppt/slides/_rels/slide16.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2.xml"/><Relationship Id="rId4" Type="http://schemas.openxmlformats.org/officeDocument/2006/relationships/image" Target="../media/image42.jpeg"/></Relationships>
</file>

<file path=ppt/slides/_rels/slide2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2.xml"/><Relationship Id="rId4" Type="http://schemas.openxmlformats.org/officeDocument/2006/relationships/image" Target="../media/image45.jpeg"/></Relationships>
</file>

<file path=ppt/slides/_rels/slide21.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53.jpeg"/><Relationship Id="rId3" Type="http://schemas.openxmlformats.org/officeDocument/2006/relationships/image" Target="../media/image48.jpeg"/><Relationship Id="rId7" Type="http://schemas.openxmlformats.org/officeDocument/2006/relationships/image" Target="../media/image52.jpeg"/><Relationship Id="rId2" Type="http://schemas.openxmlformats.org/officeDocument/2006/relationships/image" Target="../media/image47.jpeg"/><Relationship Id="rId1" Type="http://schemas.openxmlformats.org/officeDocument/2006/relationships/slideLayout" Target="../slideLayouts/slideLayout2.xml"/><Relationship Id="rId6" Type="http://schemas.openxmlformats.org/officeDocument/2006/relationships/image" Target="../media/image51.jpeg"/><Relationship Id="rId5" Type="http://schemas.openxmlformats.org/officeDocument/2006/relationships/image" Target="../media/image50.jpeg"/><Relationship Id="rId4" Type="http://schemas.openxmlformats.org/officeDocument/2006/relationships/image" Target="../media/image49.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image" Target="../media/image54.jpg"/><Relationship Id="rId1" Type="http://schemas.openxmlformats.org/officeDocument/2006/relationships/slideLayout" Target="../slideLayouts/slideLayout2.xml"/><Relationship Id="rId4" Type="http://schemas.openxmlformats.org/officeDocument/2006/relationships/image" Target="../media/image56.jpg"/></Relationships>
</file>

<file path=ppt/slides/_rels/slide26.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59.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hyperlink" Target="https://learningapps.org/display?v=p2yj4tvmt18"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61.jpeg"/><Relationship Id="rId7" Type="http://schemas.openxmlformats.org/officeDocument/2006/relationships/image" Target="../media/image65.jpeg"/><Relationship Id="rId2" Type="http://schemas.openxmlformats.org/officeDocument/2006/relationships/image" Target="../media/image60.jpeg"/><Relationship Id="rId1" Type="http://schemas.openxmlformats.org/officeDocument/2006/relationships/slideLayout" Target="../slideLayouts/slideLayout7.xml"/><Relationship Id="rId6" Type="http://schemas.openxmlformats.org/officeDocument/2006/relationships/image" Target="../media/image64.jpeg"/><Relationship Id="rId5" Type="http://schemas.openxmlformats.org/officeDocument/2006/relationships/image" Target="../media/image63.jpeg"/><Relationship Id="rId4" Type="http://schemas.openxmlformats.org/officeDocument/2006/relationships/image" Target="../media/image62.jpeg"/></Relationships>
</file>

<file path=ppt/slides/_rels/slide34.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67.jpg"/></Relationships>
</file>

<file path=ppt/slides/_rels/slide35.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68.jpg"/></Relationships>
</file>

<file path=ppt/slides/_rels/slide36.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72.jp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75.png"/><Relationship Id="rId4" Type="http://schemas.openxmlformats.org/officeDocument/2006/relationships/image" Target="../media/image74.jpg"/></Relationships>
</file>

<file path=ppt/slides/_rels/slide45.xml.rels><?xml version="1.0" encoding="UTF-8" standalone="yes"?>
<Relationships xmlns="http://schemas.openxmlformats.org/package/2006/relationships"><Relationship Id="rId3" Type="http://schemas.openxmlformats.org/officeDocument/2006/relationships/image" Target="../media/image76.jp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77.png"/></Relationships>
</file>

<file path=ppt/slides/_rels/slide46.xml.rels><?xml version="1.0" encoding="UTF-8" standalone="yes"?>
<Relationships xmlns="http://schemas.openxmlformats.org/package/2006/relationships"><Relationship Id="rId8" Type="http://schemas.openxmlformats.org/officeDocument/2006/relationships/hyperlink" Target="https://www.archdaily.com/tag/gerrit-rietveld" TargetMode="External"/><Relationship Id="rId3" Type="http://schemas.openxmlformats.org/officeDocument/2006/relationships/image" Target="../media/image78.jpg"/><Relationship Id="rId7" Type="http://schemas.openxmlformats.org/officeDocument/2006/relationships/hyperlink" Target="https://thecharnelhouse.org/2013/07/20/theater-buhne/"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hyperlink" Target="https://thecharnelhouse.org/2013/06/02/oskar-schlemmers-bauhaus-costume-parties-1924-1926/" TargetMode="External"/><Relationship Id="rId5" Type="http://schemas.openxmlformats.org/officeDocument/2006/relationships/hyperlink" Target="https://museeyslparis.com/en/biography/lhommage-a-piet-mondrian" TargetMode="External"/><Relationship Id="rId4" Type="http://schemas.openxmlformats.org/officeDocument/2006/relationships/hyperlink" Target="https://en.wikipedia.org/wiki/The_Mondrian_collection_of_Yves_Saint_Laurent"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8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40"/>
          <p:cNvSpPr txBox="1">
            <a:spLocks noGrp="1"/>
          </p:cNvSpPr>
          <p:nvPr>
            <p:ph type="ctrTitle"/>
          </p:nvPr>
        </p:nvSpPr>
        <p:spPr>
          <a:xfrm>
            <a:off x="911424" y="2372884"/>
            <a:ext cx="10363200" cy="1470025"/>
          </a:xfrm>
          <a:prstGeom prst="rect">
            <a:avLst/>
          </a:prstGeom>
          <a:noFill/>
          <a:ln>
            <a:noFill/>
          </a:ln>
        </p:spPr>
        <p:txBody>
          <a:bodyPr spcFirstLastPara="1" vert="horz" wrap="square" lIns="121900" tIns="60933" rIns="121900" bIns="60933" rtlCol="0" anchor="ctr" anchorCtr="0">
            <a:noAutofit/>
          </a:bodyPr>
          <a:lstStyle/>
          <a:p>
            <a:pPr>
              <a:spcBef>
                <a:spcPts val="0"/>
              </a:spcBef>
              <a:buClr>
                <a:schemeClr val="dk1"/>
              </a:buClr>
              <a:buSzPts val="2800"/>
            </a:pPr>
            <a:r>
              <a:rPr lang="en-US" sz="3733" b="1" dirty="0"/>
              <a:t>APSTRAKTNA FORMA</a:t>
            </a:r>
            <a:br>
              <a:rPr lang="en-US" sz="4400" b="1" dirty="0"/>
            </a:br>
            <a:r>
              <a:rPr lang="en-US" sz="4400" b="1" dirty="0"/>
              <a:t>- </a:t>
            </a:r>
            <a:r>
              <a:rPr lang="en-US" sz="4400" b="1" dirty="0" err="1"/>
              <a:t>geometrijska</a:t>
            </a:r>
            <a:r>
              <a:rPr lang="en-US" sz="4400" b="1" dirty="0"/>
              <a:t> </a:t>
            </a:r>
            <a:r>
              <a:rPr lang="en-US" sz="4400" b="1" dirty="0" err="1"/>
              <a:t>i</a:t>
            </a:r>
            <a:r>
              <a:rPr lang="en-US" sz="4400" b="1" dirty="0"/>
              <a:t> </a:t>
            </a:r>
            <a:r>
              <a:rPr lang="en-US" sz="4400" b="1" dirty="0" err="1"/>
              <a:t>organička</a:t>
            </a:r>
            <a:r>
              <a:rPr lang="en-US" sz="4400" b="1" dirty="0"/>
              <a:t> </a:t>
            </a:r>
            <a:r>
              <a:rPr lang="en-US" sz="4400" b="1" dirty="0" err="1"/>
              <a:t>apstrakcija</a:t>
            </a:r>
            <a:r>
              <a:rPr lang="en-US" sz="4400" b="1" dirty="0"/>
              <a:t> -</a:t>
            </a:r>
            <a:endParaRPr sz="4400" b="1" dirty="0"/>
          </a:p>
        </p:txBody>
      </p:sp>
    </p:spTree>
    <p:extLst>
      <p:ext uri="{BB962C8B-B14F-4D97-AF65-F5344CB8AC3E}">
        <p14:creationId xmlns:p14="http://schemas.microsoft.com/office/powerpoint/2010/main" val="365535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pic>
        <p:nvPicPr>
          <p:cNvPr id="200" name="Google Shape;200;p41" descr="D:\FILOZOFSKI\AK_GOD_2017-18\ŠKOLA-ZA-ŽIVOT\EKSPERIMENTALNA-PROVEDBA\METODIČKI-PRIRUČNIK\razrada-Pogled-na-svijet\forma-slike\05.jpg"/>
          <p:cNvPicPr preferRelativeResize="0"/>
          <p:nvPr/>
        </p:nvPicPr>
        <p:blipFill rotWithShape="1">
          <a:blip r:embed="rId3">
            <a:alphaModFix/>
          </a:blip>
          <a:srcRect/>
          <a:stretch/>
        </p:blipFill>
        <p:spPr>
          <a:xfrm>
            <a:off x="1775520" y="52833"/>
            <a:ext cx="2532253" cy="3341300"/>
          </a:xfrm>
          <a:prstGeom prst="rect">
            <a:avLst/>
          </a:prstGeom>
          <a:noFill/>
          <a:ln>
            <a:noFill/>
          </a:ln>
        </p:spPr>
      </p:pic>
      <p:pic>
        <p:nvPicPr>
          <p:cNvPr id="201" name="Google Shape;201;p41" descr="D:\FILOZOFSKI\AK_GOD_2017-18\ŠKOLA-ZA-ŽIVOT\EKSPERIMENTALNA-PROVEDBA\METODIČKI-PRIRUČNIK\razrada-Pogled-na-svijet\forma-slike\01.jpg"/>
          <p:cNvPicPr preferRelativeResize="0"/>
          <p:nvPr/>
        </p:nvPicPr>
        <p:blipFill rotWithShape="1">
          <a:blip r:embed="rId4">
            <a:alphaModFix/>
          </a:blip>
          <a:srcRect/>
          <a:stretch/>
        </p:blipFill>
        <p:spPr>
          <a:xfrm>
            <a:off x="6397369" y="3500037"/>
            <a:ext cx="4483467" cy="3164580"/>
          </a:xfrm>
          <a:prstGeom prst="rect">
            <a:avLst/>
          </a:prstGeom>
          <a:noFill/>
          <a:ln>
            <a:noFill/>
          </a:ln>
        </p:spPr>
      </p:pic>
      <p:pic>
        <p:nvPicPr>
          <p:cNvPr id="202" name="Google Shape;202;p41" descr="D:\FILOZOFSKI\AK_GOD_2017-18\ŠKOLA-ZA-ŽIVOT\EKSPERIMENTALNA-PROVEDBA\METODIČKI-PRIRUČNIK\razrada-Pogled-na-svijet\forma-slike\02.jpg"/>
          <p:cNvPicPr preferRelativeResize="0"/>
          <p:nvPr/>
        </p:nvPicPr>
        <p:blipFill rotWithShape="1">
          <a:blip r:embed="rId5">
            <a:alphaModFix/>
          </a:blip>
          <a:srcRect/>
          <a:stretch/>
        </p:blipFill>
        <p:spPr>
          <a:xfrm>
            <a:off x="6384032" y="52833"/>
            <a:ext cx="4483467" cy="3311932"/>
          </a:xfrm>
          <a:prstGeom prst="rect">
            <a:avLst/>
          </a:prstGeom>
          <a:noFill/>
          <a:ln>
            <a:noFill/>
          </a:ln>
        </p:spPr>
      </p:pic>
      <p:pic>
        <p:nvPicPr>
          <p:cNvPr id="203" name="Google Shape;203;p41" descr="D:\FILOZOFSKI\AK_GOD_2017-18\ŠKOLA-ZA-ŽIVOT\EKSPERIMENTALNA-PROVEDBA\METODIČKI-PRIRUČNIK\razrada-Pogled-na-svijet\forma-slike\03.jpg"/>
          <p:cNvPicPr preferRelativeResize="0"/>
          <p:nvPr/>
        </p:nvPicPr>
        <p:blipFill rotWithShape="1">
          <a:blip r:embed="rId6">
            <a:alphaModFix/>
          </a:blip>
          <a:srcRect/>
          <a:stretch/>
        </p:blipFill>
        <p:spPr>
          <a:xfrm>
            <a:off x="880559" y="3500816"/>
            <a:ext cx="4332076" cy="3163801"/>
          </a:xfrm>
          <a:prstGeom prst="rect">
            <a:avLst/>
          </a:prstGeom>
          <a:noFill/>
          <a:ln>
            <a:noFill/>
          </a:ln>
        </p:spPr>
      </p:pic>
    </p:spTree>
    <p:extLst>
      <p:ext uri="{BB962C8B-B14F-4D97-AF65-F5344CB8AC3E}">
        <p14:creationId xmlns:p14="http://schemas.microsoft.com/office/powerpoint/2010/main" val="2633079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pic>
        <p:nvPicPr>
          <p:cNvPr id="209" name="Google Shape;209;p42"/>
          <p:cNvPicPr preferRelativeResize="0"/>
          <p:nvPr/>
        </p:nvPicPr>
        <p:blipFill rotWithShape="1">
          <a:blip r:embed="rId3">
            <a:alphaModFix/>
          </a:blip>
          <a:srcRect/>
          <a:stretch/>
        </p:blipFill>
        <p:spPr>
          <a:xfrm>
            <a:off x="143339" y="2179662"/>
            <a:ext cx="3407701" cy="2401465"/>
          </a:xfrm>
          <a:prstGeom prst="rect">
            <a:avLst/>
          </a:prstGeom>
          <a:noFill/>
          <a:ln>
            <a:noFill/>
          </a:ln>
        </p:spPr>
      </p:pic>
      <p:pic>
        <p:nvPicPr>
          <p:cNvPr id="210" name="Google Shape;210;p42"/>
          <p:cNvPicPr preferRelativeResize="0"/>
          <p:nvPr/>
        </p:nvPicPr>
        <p:blipFill rotWithShape="1">
          <a:blip r:embed="rId4">
            <a:alphaModFix/>
          </a:blip>
          <a:srcRect/>
          <a:stretch/>
        </p:blipFill>
        <p:spPr>
          <a:xfrm>
            <a:off x="3583027" y="2179661"/>
            <a:ext cx="3257268" cy="2401467"/>
          </a:xfrm>
          <a:prstGeom prst="rect">
            <a:avLst/>
          </a:prstGeom>
          <a:noFill/>
          <a:ln>
            <a:noFill/>
          </a:ln>
        </p:spPr>
      </p:pic>
      <p:pic>
        <p:nvPicPr>
          <p:cNvPr id="211" name="Google Shape;211;p42"/>
          <p:cNvPicPr preferRelativeResize="0"/>
          <p:nvPr/>
        </p:nvPicPr>
        <p:blipFill rotWithShape="1">
          <a:blip r:embed="rId5">
            <a:alphaModFix/>
          </a:blip>
          <a:srcRect/>
          <a:stretch/>
        </p:blipFill>
        <p:spPr>
          <a:xfrm>
            <a:off x="6885199" y="2198637"/>
            <a:ext cx="3264363" cy="2382491"/>
          </a:xfrm>
          <a:prstGeom prst="rect">
            <a:avLst/>
          </a:prstGeom>
          <a:noFill/>
          <a:ln>
            <a:noFill/>
          </a:ln>
        </p:spPr>
      </p:pic>
      <p:pic>
        <p:nvPicPr>
          <p:cNvPr id="212" name="Google Shape;212;p42"/>
          <p:cNvPicPr preferRelativeResize="0"/>
          <p:nvPr/>
        </p:nvPicPr>
        <p:blipFill rotWithShape="1">
          <a:blip r:embed="rId6">
            <a:alphaModFix/>
          </a:blip>
          <a:srcRect/>
          <a:stretch/>
        </p:blipFill>
        <p:spPr>
          <a:xfrm>
            <a:off x="10196093" y="2198638"/>
            <a:ext cx="1808759" cy="2382489"/>
          </a:xfrm>
          <a:prstGeom prst="rect">
            <a:avLst/>
          </a:prstGeom>
          <a:noFill/>
          <a:ln>
            <a:noFill/>
          </a:ln>
        </p:spPr>
      </p:pic>
      <p:sp>
        <p:nvSpPr>
          <p:cNvPr id="213" name="Google Shape;213;p42"/>
          <p:cNvSpPr/>
          <p:nvPr/>
        </p:nvSpPr>
        <p:spPr>
          <a:xfrm>
            <a:off x="18390" y="4677139"/>
            <a:ext cx="3936437" cy="830997"/>
          </a:xfrm>
          <a:prstGeom prst="rect">
            <a:avLst/>
          </a:prstGeom>
          <a:noFill/>
          <a:ln>
            <a:noFill/>
          </a:ln>
        </p:spPr>
        <p:txBody>
          <a:bodyPr spcFirstLastPara="1" wrap="square" lIns="121900" tIns="60933" rIns="121900" bIns="60933" anchor="t" anchorCtr="0">
            <a:noAutofit/>
          </a:bodyPr>
          <a:lstStyle/>
          <a:p>
            <a:r>
              <a:rPr lang="hr-HR" sz="1533">
                <a:solidFill>
                  <a:schemeClr val="dk1"/>
                </a:solidFill>
                <a:latin typeface="Calibri"/>
                <a:ea typeface="Calibri"/>
                <a:cs typeface="Calibri"/>
                <a:sym typeface="Calibri"/>
              </a:rPr>
              <a:t>Piet Mondrian, </a:t>
            </a:r>
            <a:r>
              <a:rPr lang="hr-HR" sz="1533" i="1">
                <a:solidFill>
                  <a:schemeClr val="dk1"/>
                </a:solidFill>
                <a:latin typeface="Calibri"/>
                <a:ea typeface="Calibri"/>
                <a:cs typeface="Calibri"/>
                <a:sym typeface="Calibri"/>
              </a:rPr>
              <a:t>Crveno stablo</a:t>
            </a:r>
            <a:r>
              <a:rPr lang="hr-HR" sz="1533">
                <a:solidFill>
                  <a:schemeClr val="dk1"/>
                </a:solidFill>
                <a:latin typeface="Calibri"/>
                <a:ea typeface="Calibri"/>
                <a:cs typeface="Calibri"/>
                <a:sym typeface="Calibri"/>
              </a:rPr>
              <a:t>, 1910.,</a:t>
            </a:r>
            <a:endParaRPr sz="2400"/>
          </a:p>
          <a:p>
            <a:r>
              <a:rPr lang="hr-HR" sz="1533">
                <a:solidFill>
                  <a:schemeClr val="dk1"/>
                </a:solidFill>
                <a:latin typeface="Calibri"/>
                <a:ea typeface="Calibri"/>
                <a:cs typeface="Calibri"/>
                <a:sym typeface="Calibri"/>
              </a:rPr>
              <a:t>ulje na platnu, Geementemuseum, </a:t>
            </a:r>
            <a:endParaRPr sz="2400"/>
          </a:p>
          <a:p>
            <a:r>
              <a:rPr lang="hr-HR" sz="1533">
                <a:solidFill>
                  <a:schemeClr val="dk1"/>
                </a:solidFill>
                <a:latin typeface="Calibri"/>
                <a:ea typeface="Calibri"/>
                <a:cs typeface="Calibri"/>
                <a:sym typeface="Calibri"/>
              </a:rPr>
              <a:t>Den Haag.</a:t>
            </a:r>
            <a:endParaRPr sz="1533">
              <a:solidFill>
                <a:schemeClr val="dk1"/>
              </a:solidFill>
              <a:latin typeface="Calibri"/>
              <a:ea typeface="Calibri"/>
              <a:cs typeface="Calibri"/>
              <a:sym typeface="Calibri"/>
            </a:endParaRPr>
          </a:p>
        </p:txBody>
      </p:sp>
      <p:sp>
        <p:nvSpPr>
          <p:cNvPr id="214" name="Google Shape;214;p42"/>
          <p:cNvSpPr/>
          <p:nvPr/>
        </p:nvSpPr>
        <p:spPr>
          <a:xfrm>
            <a:off x="3503713" y="4669389"/>
            <a:ext cx="3381487" cy="861775"/>
          </a:xfrm>
          <a:prstGeom prst="rect">
            <a:avLst/>
          </a:prstGeom>
          <a:noFill/>
          <a:ln>
            <a:noFill/>
          </a:ln>
        </p:spPr>
        <p:txBody>
          <a:bodyPr spcFirstLastPara="1" wrap="square" lIns="121900" tIns="60933" rIns="121900" bIns="60933" anchor="t" anchorCtr="0">
            <a:noAutofit/>
          </a:bodyPr>
          <a:lstStyle/>
          <a:p>
            <a:r>
              <a:rPr lang="hr-HR" sz="1533">
                <a:solidFill>
                  <a:schemeClr val="dk1"/>
                </a:solidFill>
                <a:latin typeface="Calibri"/>
                <a:ea typeface="Calibri"/>
                <a:cs typeface="Calibri"/>
                <a:sym typeface="Calibri"/>
              </a:rPr>
              <a:t>Piet Mondrian, </a:t>
            </a:r>
            <a:r>
              <a:rPr lang="hr-HR" sz="1600" i="1">
                <a:solidFill>
                  <a:schemeClr val="dk1"/>
                </a:solidFill>
                <a:latin typeface="Calibri"/>
                <a:ea typeface="Calibri"/>
                <a:cs typeface="Calibri"/>
                <a:sym typeface="Calibri"/>
              </a:rPr>
              <a:t>Sivo stablo</a:t>
            </a:r>
            <a:r>
              <a:rPr lang="hr-HR" sz="1600">
                <a:solidFill>
                  <a:schemeClr val="dk1"/>
                </a:solidFill>
                <a:latin typeface="Calibri"/>
                <a:ea typeface="Calibri"/>
                <a:cs typeface="Calibri"/>
                <a:sym typeface="Calibri"/>
              </a:rPr>
              <a:t>, 1911., </a:t>
            </a:r>
            <a:endParaRPr sz="2400"/>
          </a:p>
          <a:p>
            <a:r>
              <a:rPr lang="hr-HR" sz="1600">
                <a:solidFill>
                  <a:schemeClr val="dk1"/>
                </a:solidFill>
                <a:latin typeface="Calibri"/>
                <a:ea typeface="Calibri"/>
                <a:cs typeface="Calibri"/>
                <a:sym typeface="Calibri"/>
              </a:rPr>
              <a:t>ulje na platnu, Geementemuseum, </a:t>
            </a:r>
            <a:endParaRPr sz="2400"/>
          </a:p>
          <a:p>
            <a:r>
              <a:rPr lang="hr-HR" sz="1600">
                <a:solidFill>
                  <a:schemeClr val="dk1"/>
                </a:solidFill>
                <a:latin typeface="Calibri"/>
                <a:ea typeface="Calibri"/>
                <a:cs typeface="Calibri"/>
                <a:sym typeface="Calibri"/>
              </a:rPr>
              <a:t>Den Haag.</a:t>
            </a:r>
            <a:endParaRPr sz="1533">
              <a:solidFill>
                <a:schemeClr val="dk1"/>
              </a:solidFill>
              <a:latin typeface="Calibri"/>
              <a:ea typeface="Calibri"/>
              <a:cs typeface="Calibri"/>
              <a:sym typeface="Calibri"/>
            </a:endParaRPr>
          </a:p>
        </p:txBody>
      </p:sp>
      <p:sp>
        <p:nvSpPr>
          <p:cNvPr id="215" name="Google Shape;215;p42"/>
          <p:cNvSpPr/>
          <p:nvPr/>
        </p:nvSpPr>
        <p:spPr>
          <a:xfrm>
            <a:off x="6885199" y="4677139"/>
            <a:ext cx="3310893" cy="1066959"/>
          </a:xfrm>
          <a:prstGeom prst="rect">
            <a:avLst/>
          </a:prstGeom>
          <a:noFill/>
          <a:ln>
            <a:noFill/>
          </a:ln>
        </p:spPr>
        <p:txBody>
          <a:bodyPr spcFirstLastPara="1" wrap="square" lIns="121900" tIns="60933" rIns="121900" bIns="60933" anchor="t" anchorCtr="0">
            <a:noAutofit/>
          </a:bodyPr>
          <a:lstStyle/>
          <a:p>
            <a:r>
              <a:rPr lang="hr-HR" sz="1533">
                <a:solidFill>
                  <a:schemeClr val="dk1"/>
                </a:solidFill>
                <a:latin typeface="Calibri"/>
                <a:ea typeface="Calibri"/>
                <a:cs typeface="Calibri"/>
                <a:sym typeface="Calibri"/>
              </a:rPr>
              <a:t>Piet Mondrian, </a:t>
            </a:r>
            <a:r>
              <a:rPr lang="hr-HR" sz="1533" i="1">
                <a:solidFill>
                  <a:schemeClr val="dk1"/>
                </a:solidFill>
                <a:latin typeface="Calibri"/>
                <a:ea typeface="Calibri"/>
                <a:cs typeface="Calibri"/>
                <a:sym typeface="Calibri"/>
              </a:rPr>
              <a:t>Rascvjetano stablo jabuke</a:t>
            </a:r>
            <a:r>
              <a:rPr lang="hr-HR" sz="1533">
                <a:solidFill>
                  <a:schemeClr val="dk1"/>
                </a:solidFill>
                <a:latin typeface="Calibri"/>
                <a:ea typeface="Calibri"/>
                <a:cs typeface="Calibri"/>
                <a:sym typeface="Calibri"/>
              </a:rPr>
              <a:t>, 1912., ulje na platnu, 78,5 x 107.5 cm, Geementemuseum, Den Haag.</a:t>
            </a:r>
            <a:endParaRPr sz="2400"/>
          </a:p>
        </p:txBody>
      </p:sp>
      <p:sp>
        <p:nvSpPr>
          <p:cNvPr id="216" name="Google Shape;216;p42"/>
          <p:cNvSpPr/>
          <p:nvPr/>
        </p:nvSpPr>
        <p:spPr>
          <a:xfrm>
            <a:off x="10196093" y="4677140"/>
            <a:ext cx="1808759" cy="1302921"/>
          </a:xfrm>
          <a:prstGeom prst="rect">
            <a:avLst/>
          </a:prstGeom>
          <a:noFill/>
          <a:ln>
            <a:noFill/>
          </a:ln>
        </p:spPr>
        <p:txBody>
          <a:bodyPr spcFirstLastPara="1" wrap="square" lIns="121900" tIns="60933" rIns="121900" bIns="60933" anchor="t" anchorCtr="0">
            <a:noAutofit/>
          </a:bodyPr>
          <a:lstStyle/>
          <a:p>
            <a:r>
              <a:rPr lang="hr-HR" sz="1533">
                <a:solidFill>
                  <a:schemeClr val="dk1"/>
                </a:solidFill>
                <a:latin typeface="Calibri"/>
                <a:ea typeface="Calibri"/>
                <a:cs typeface="Calibri"/>
                <a:sym typeface="Calibri"/>
              </a:rPr>
              <a:t>Piet Mondrian, </a:t>
            </a:r>
            <a:r>
              <a:rPr lang="hr-HR" sz="1533" i="1">
                <a:solidFill>
                  <a:schemeClr val="dk1"/>
                </a:solidFill>
                <a:latin typeface="Calibri"/>
                <a:ea typeface="Calibri"/>
                <a:cs typeface="Calibri"/>
                <a:sym typeface="Calibri"/>
              </a:rPr>
              <a:t>Stabla</a:t>
            </a:r>
            <a:r>
              <a:rPr lang="hr-HR" sz="1533">
                <a:solidFill>
                  <a:schemeClr val="dk1"/>
                </a:solidFill>
                <a:latin typeface="Calibri"/>
                <a:ea typeface="Calibri"/>
                <a:cs typeface="Calibri"/>
                <a:sym typeface="Calibri"/>
              </a:rPr>
              <a:t>, 1912., ulje na platnu, 94 x 70,8, Carnegie Museum of Art</a:t>
            </a:r>
            <a:endParaRPr sz="2400"/>
          </a:p>
        </p:txBody>
      </p:sp>
      <p:sp>
        <p:nvSpPr>
          <p:cNvPr id="217" name="Google Shape;217;p42"/>
          <p:cNvSpPr txBox="1"/>
          <p:nvPr/>
        </p:nvSpPr>
        <p:spPr>
          <a:xfrm>
            <a:off x="719403" y="935886"/>
            <a:ext cx="2075269" cy="861775"/>
          </a:xfrm>
          <a:prstGeom prst="rect">
            <a:avLst/>
          </a:prstGeom>
          <a:noFill/>
          <a:ln>
            <a:noFill/>
          </a:ln>
        </p:spPr>
        <p:txBody>
          <a:bodyPr spcFirstLastPara="1" wrap="square" lIns="121900" tIns="60933" rIns="121900" bIns="60933" anchor="t" anchorCtr="0">
            <a:noAutofit/>
          </a:bodyPr>
          <a:lstStyle/>
          <a:p>
            <a:pPr algn="ctr"/>
            <a:r>
              <a:rPr lang="hr-HR" sz="2400" b="1">
                <a:solidFill>
                  <a:schemeClr val="dk1"/>
                </a:solidFill>
                <a:latin typeface="Calibri"/>
                <a:ea typeface="Calibri"/>
                <a:cs typeface="Calibri"/>
                <a:sym typeface="Calibri"/>
              </a:rPr>
              <a:t>FIGURATIVNA </a:t>
            </a:r>
            <a:endParaRPr sz="2400"/>
          </a:p>
          <a:p>
            <a:pPr algn="ctr"/>
            <a:r>
              <a:rPr lang="hr-HR" sz="2400" b="1">
                <a:solidFill>
                  <a:schemeClr val="dk1"/>
                </a:solidFill>
                <a:latin typeface="Calibri"/>
                <a:ea typeface="Calibri"/>
                <a:cs typeface="Calibri"/>
                <a:sym typeface="Calibri"/>
              </a:rPr>
              <a:t>FORMA</a:t>
            </a:r>
            <a:endParaRPr sz="2400" b="1">
              <a:solidFill>
                <a:schemeClr val="dk1"/>
              </a:solidFill>
              <a:latin typeface="Calibri"/>
              <a:ea typeface="Calibri"/>
              <a:cs typeface="Calibri"/>
              <a:sym typeface="Calibri"/>
            </a:endParaRPr>
          </a:p>
        </p:txBody>
      </p:sp>
      <p:sp>
        <p:nvSpPr>
          <p:cNvPr id="218" name="Google Shape;218;p42"/>
          <p:cNvSpPr txBox="1"/>
          <p:nvPr/>
        </p:nvSpPr>
        <p:spPr>
          <a:xfrm>
            <a:off x="9974807" y="932170"/>
            <a:ext cx="2030044" cy="861775"/>
          </a:xfrm>
          <a:prstGeom prst="rect">
            <a:avLst/>
          </a:prstGeom>
          <a:noFill/>
          <a:ln>
            <a:noFill/>
          </a:ln>
        </p:spPr>
        <p:txBody>
          <a:bodyPr spcFirstLastPara="1" wrap="square" lIns="121900" tIns="60933" rIns="121900" bIns="60933" anchor="t" anchorCtr="0">
            <a:noAutofit/>
          </a:bodyPr>
          <a:lstStyle/>
          <a:p>
            <a:r>
              <a:rPr lang="hr-HR" sz="2400" b="1">
                <a:solidFill>
                  <a:schemeClr val="dk1"/>
                </a:solidFill>
                <a:latin typeface="Calibri"/>
                <a:ea typeface="Calibri"/>
                <a:cs typeface="Calibri"/>
                <a:sym typeface="Calibri"/>
              </a:rPr>
              <a:t>APSTRAKTNA </a:t>
            </a:r>
            <a:endParaRPr sz="2400"/>
          </a:p>
          <a:p>
            <a:pPr algn="ctr"/>
            <a:r>
              <a:rPr lang="hr-HR" sz="2400" b="1">
                <a:solidFill>
                  <a:schemeClr val="dk1"/>
                </a:solidFill>
                <a:latin typeface="Calibri"/>
                <a:ea typeface="Calibri"/>
                <a:cs typeface="Calibri"/>
                <a:sym typeface="Calibri"/>
              </a:rPr>
              <a:t>FORMA</a:t>
            </a:r>
            <a:endParaRPr sz="2400" b="1">
              <a:solidFill>
                <a:schemeClr val="dk1"/>
              </a:solidFill>
              <a:latin typeface="Calibri"/>
              <a:ea typeface="Calibri"/>
              <a:cs typeface="Calibri"/>
              <a:sym typeface="Calibri"/>
            </a:endParaRPr>
          </a:p>
        </p:txBody>
      </p:sp>
      <p:sp>
        <p:nvSpPr>
          <p:cNvPr id="219" name="Google Shape;219;p42"/>
          <p:cNvSpPr/>
          <p:nvPr/>
        </p:nvSpPr>
        <p:spPr>
          <a:xfrm>
            <a:off x="2794673" y="1228684"/>
            <a:ext cx="6930871" cy="276177"/>
          </a:xfrm>
          <a:prstGeom prst="rightArrow">
            <a:avLst>
              <a:gd name="adj1" fmla="val 50000"/>
              <a:gd name="adj2" fmla="val 50000"/>
            </a:avLst>
          </a:prstGeom>
          <a:solidFill>
            <a:srgbClr val="7F7F7F"/>
          </a:solidFill>
          <a:ln>
            <a:noFill/>
          </a:ln>
        </p:spPr>
        <p:txBody>
          <a:bodyPr spcFirstLastPara="1" wrap="square" lIns="121900" tIns="60933" rIns="121900" bIns="60933" anchor="ctr" anchorCtr="0">
            <a:noAutofit/>
          </a:bodyPr>
          <a:lstStyle/>
          <a:p>
            <a:pPr algn="ctr"/>
            <a:endParaRPr sz="2400">
              <a:solidFill>
                <a:schemeClr val="lt1"/>
              </a:solidFill>
              <a:latin typeface="Calibri"/>
              <a:ea typeface="Calibri"/>
              <a:cs typeface="Calibri"/>
              <a:sym typeface="Calibri"/>
            </a:endParaRPr>
          </a:p>
        </p:txBody>
      </p:sp>
      <p:sp>
        <p:nvSpPr>
          <p:cNvPr id="220" name="Google Shape;220;p42"/>
          <p:cNvSpPr/>
          <p:nvPr/>
        </p:nvSpPr>
        <p:spPr>
          <a:xfrm>
            <a:off x="2418331" y="710183"/>
            <a:ext cx="7556476" cy="451405"/>
          </a:xfrm>
          <a:prstGeom prst="rect">
            <a:avLst/>
          </a:prstGeom>
          <a:noFill/>
          <a:ln>
            <a:noFill/>
          </a:ln>
        </p:spPr>
        <p:txBody>
          <a:bodyPr spcFirstLastPara="1" wrap="square" lIns="121900" tIns="60933" rIns="121900" bIns="60933" anchor="t" anchorCtr="0">
            <a:noAutofit/>
          </a:bodyPr>
          <a:lstStyle/>
          <a:p>
            <a:pPr algn="ctr"/>
            <a:r>
              <a:rPr lang="hr-HR" sz="2133">
                <a:solidFill>
                  <a:schemeClr val="dk1"/>
                </a:solidFill>
                <a:latin typeface="Calibri"/>
                <a:ea typeface="Calibri"/>
                <a:cs typeface="Calibri"/>
                <a:sym typeface="Calibri"/>
              </a:rPr>
              <a:t>pojednostavljenje, geometrizacija, stilizacija, apstrahiranje</a:t>
            </a:r>
            <a:endParaRPr sz="2133">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88589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7"/>
                                        </p:tgtEl>
                                        <p:attrNameLst>
                                          <p:attrName>style.visibility</p:attrName>
                                        </p:attrNameLst>
                                      </p:cBhvr>
                                      <p:to>
                                        <p:strVal val="visible"/>
                                      </p:to>
                                    </p:set>
                                    <p:animEffect transition="in" filter="fade">
                                      <p:cBhvr>
                                        <p:cTn id="7" dur="500"/>
                                        <p:tgtEl>
                                          <p:spTgt spid="2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9"/>
                                        </p:tgtEl>
                                        <p:attrNameLst>
                                          <p:attrName>style.visibility</p:attrName>
                                        </p:attrNameLst>
                                      </p:cBhvr>
                                      <p:to>
                                        <p:strVal val="visible"/>
                                      </p:to>
                                    </p:set>
                                    <p:animEffect transition="in" filter="fade">
                                      <p:cBhvr>
                                        <p:cTn id="12" dur="500"/>
                                        <p:tgtEl>
                                          <p:spTgt spid="2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8"/>
                                        </p:tgtEl>
                                        <p:attrNameLst>
                                          <p:attrName>style.visibility</p:attrName>
                                        </p:attrNameLst>
                                      </p:cBhvr>
                                      <p:to>
                                        <p:strVal val="visible"/>
                                      </p:to>
                                    </p:set>
                                    <p:animEffect transition="in" filter="fade">
                                      <p:cBhvr>
                                        <p:cTn id="17" dur="500"/>
                                        <p:tgtEl>
                                          <p:spTgt spid="2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0"/>
                                        </p:tgtEl>
                                        <p:attrNameLst>
                                          <p:attrName>style.visibility</p:attrName>
                                        </p:attrNameLst>
                                      </p:cBhvr>
                                      <p:to>
                                        <p:strVal val="visible"/>
                                      </p:to>
                                    </p:set>
                                    <p:animEffect transition="in" filter="fade">
                                      <p:cBhvr>
                                        <p:cTn id="22" dur="500"/>
                                        <p:tgtEl>
                                          <p:spTgt spid="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pic>
        <p:nvPicPr>
          <p:cNvPr id="226" name="Google Shape;226;p43" descr="D:\FILOZOFSKI\AK_GOD_2017-18\ŠKOLA-ZA-ŽIVOT\EKSPERIMENTALNA-PROVEDBA\METODIČKI-PRIRUČNIK\razrada-Pogled-na-svijet\forma-slike\05.jpg"/>
          <p:cNvPicPr preferRelativeResize="0"/>
          <p:nvPr/>
        </p:nvPicPr>
        <p:blipFill rotWithShape="1">
          <a:blip r:embed="rId3">
            <a:alphaModFix/>
          </a:blip>
          <a:srcRect/>
          <a:stretch/>
        </p:blipFill>
        <p:spPr>
          <a:xfrm>
            <a:off x="815413" y="260648"/>
            <a:ext cx="4416491" cy="5827547"/>
          </a:xfrm>
          <a:prstGeom prst="rect">
            <a:avLst/>
          </a:prstGeom>
          <a:noFill/>
          <a:ln>
            <a:noFill/>
          </a:ln>
        </p:spPr>
      </p:pic>
      <p:pic>
        <p:nvPicPr>
          <p:cNvPr id="227" name="Google Shape;227;p43"/>
          <p:cNvPicPr preferRelativeResize="0"/>
          <p:nvPr/>
        </p:nvPicPr>
        <p:blipFill rotWithShape="1">
          <a:blip r:embed="rId4">
            <a:alphaModFix/>
          </a:blip>
          <a:srcRect/>
          <a:stretch/>
        </p:blipFill>
        <p:spPr>
          <a:xfrm>
            <a:off x="5903979" y="260649"/>
            <a:ext cx="5698067" cy="5772151"/>
          </a:xfrm>
          <a:prstGeom prst="rect">
            <a:avLst/>
          </a:prstGeom>
          <a:noFill/>
          <a:ln>
            <a:noFill/>
          </a:ln>
        </p:spPr>
      </p:pic>
      <p:sp>
        <p:nvSpPr>
          <p:cNvPr id="228" name="Google Shape;228;p43"/>
          <p:cNvSpPr/>
          <p:nvPr/>
        </p:nvSpPr>
        <p:spPr>
          <a:xfrm>
            <a:off x="911424" y="6194339"/>
            <a:ext cx="4320480" cy="595035"/>
          </a:xfrm>
          <a:prstGeom prst="rect">
            <a:avLst/>
          </a:prstGeom>
          <a:noFill/>
          <a:ln>
            <a:noFill/>
          </a:ln>
        </p:spPr>
        <p:txBody>
          <a:bodyPr spcFirstLastPara="1" wrap="square" lIns="121900" tIns="60933" rIns="121900" bIns="60933" anchor="t" anchorCtr="0">
            <a:noAutofit/>
          </a:bodyPr>
          <a:lstStyle/>
          <a:p>
            <a:r>
              <a:rPr lang="hr-HR" sz="1533">
                <a:solidFill>
                  <a:schemeClr val="dk1"/>
                </a:solidFill>
                <a:latin typeface="Calibri"/>
                <a:ea typeface="Calibri"/>
                <a:cs typeface="Calibri"/>
                <a:sym typeface="Calibri"/>
              </a:rPr>
              <a:t>Piet Mondrian, </a:t>
            </a:r>
            <a:r>
              <a:rPr lang="hr-HR" sz="1533" i="1">
                <a:solidFill>
                  <a:schemeClr val="dk1"/>
                </a:solidFill>
                <a:latin typeface="Calibri"/>
                <a:ea typeface="Calibri"/>
                <a:cs typeface="Calibri"/>
                <a:sym typeface="Calibri"/>
              </a:rPr>
              <a:t>Stabla</a:t>
            </a:r>
            <a:r>
              <a:rPr lang="hr-HR" sz="1533">
                <a:solidFill>
                  <a:schemeClr val="dk1"/>
                </a:solidFill>
                <a:latin typeface="Calibri"/>
                <a:ea typeface="Calibri"/>
                <a:cs typeface="Calibri"/>
                <a:sym typeface="Calibri"/>
              </a:rPr>
              <a:t>, 1912., ulje na platnu, 94 x 70,8, Carnegie Museum of Art</a:t>
            </a:r>
            <a:endParaRPr sz="2400"/>
          </a:p>
        </p:txBody>
      </p:sp>
      <p:sp>
        <p:nvSpPr>
          <p:cNvPr id="229" name="Google Shape;229;p43"/>
          <p:cNvSpPr/>
          <p:nvPr/>
        </p:nvSpPr>
        <p:spPr>
          <a:xfrm>
            <a:off x="6350597" y="6141917"/>
            <a:ext cx="5314023" cy="615553"/>
          </a:xfrm>
          <a:prstGeom prst="rect">
            <a:avLst/>
          </a:prstGeom>
          <a:noFill/>
          <a:ln>
            <a:noFill/>
          </a:ln>
        </p:spPr>
        <p:txBody>
          <a:bodyPr spcFirstLastPara="1" wrap="square" lIns="121900" tIns="60933" rIns="121900" bIns="60933" anchor="t" anchorCtr="0">
            <a:noAutofit/>
          </a:bodyPr>
          <a:lstStyle/>
          <a:p>
            <a:r>
              <a:rPr lang="hr-HR" sz="1600">
                <a:solidFill>
                  <a:schemeClr val="dk1"/>
                </a:solidFill>
                <a:latin typeface="Calibri"/>
                <a:ea typeface="Calibri"/>
                <a:cs typeface="Calibri"/>
                <a:sym typeface="Calibri"/>
              </a:rPr>
              <a:t>Piet Mondrian, </a:t>
            </a:r>
            <a:r>
              <a:rPr lang="hr-HR" sz="1600" i="1">
                <a:solidFill>
                  <a:schemeClr val="dk1"/>
                </a:solidFill>
                <a:latin typeface="Calibri"/>
                <a:ea typeface="Calibri"/>
                <a:cs typeface="Calibri"/>
                <a:sym typeface="Calibri"/>
              </a:rPr>
              <a:t>Kompozicija II u crvenoj, plavoj i žutoj</a:t>
            </a:r>
            <a:r>
              <a:rPr lang="hr-HR" sz="1600">
                <a:solidFill>
                  <a:schemeClr val="dk1"/>
                </a:solidFill>
                <a:latin typeface="Calibri"/>
                <a:ea typeface="Calibri"/>
                <a:cs typeface="Calibri"/>
                <a:sym typeface="Calibri"/>
              </a:rPr>
              <a:t>, 1930., ulje i papir na platnu, Kunsthaus, Zurich</a:t>
            </a:r>
            <a:endParaRPr sz="2400"/>
          </a:p>
        </p:txBody>
      </p:sp>
    </p:spTree>
    <p:extLst>
      <p:ext uri="{BB962C8B-B14F-4D97-AF65-F5344CB8AC3E}">
        <p14:creationId xmlns:p14="http://schemas.microsoft.com/office/powerpoint/2010/main" val="261974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092176" y="1143221"/>
            <a:ext cx="5307981" cy="1569660"/>
          </a:xfrm>
          <a:prstGeom prst="rect">
            <a:avLst/>
          </a:prstGeom>
        </p:spPr>
        <p:txBody>
          <a:bodyPr wrap="square">
            <a:spAutoFit/>
          </a:bodyPr>
          <a:lstStyle/>
          <a:p>
            <a:r>
              <a:rPr lang="hr-HR" sz="3200" b="0" i="0" dirty="0">
                <a:effectLst/>
              </a:rPr>
              <a:t>Napiši u bilježnicu u jednoj rečenici svoj prvi doživljaj djela.</a:t>
            </a:r>
            <a:endParaRPr lang="hr-HR" sz="3200" dirty="0"/>
          </a:p>
        </p:txBody>
      </p:sp>
      <p:pic>
        <p:nvPicPr>
          <p:cNvPr id="3" name="Google Shape;227;p43"/>
          <p:cNvPicPr preferRelativeResize="0"/>
          <p:nvPr/>
        </p:nvPicPr>
        <p:blipFill rotWithShape="1">
          <a:blip r:embed="rId2">
            <a:alphaModFix/>
          </a:blip>
          <a:srcRect/>
          <a:stretch/>
        </p:blipFill>
        <p:spPr>
          <a:xfrm>
            <a:off x="841325" y="483673"/>
            <a:ext cx="5698067" cy="5772151"/>
          </a:xfrm>
          <a:prstGeom prst="rect">
            <a:avLst/>
          </a:prstGeom>
          <a:noFill/>
          <a:ln>
            <a:noFill/>
          </a:ln>
        </p:spPr>
      </p:pic>
    </p:spTree>
    <p:extLst>
      <p:ext uri="{BB962C8B-B14F-4D97-AF65-F5344CB8AC3E}">
        <p14:creationId xmlns:p14="http://schemas.microsoft.com/office/powerpoint/2010/main" val="1200597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pic>
        <p:nvPicPr>
          <p:cNvPr id="235" name="Google Shape;235;p44"/>
          <p:cNvPicPr preferRelativeResize="0"/>
          <p:nvPr/>
        </p:nvPicPr>
        <p:blipFill rotWithShape="1">
          <a:blip r:embed="rId3">
            <a:alphaModFix/>
          </a:blip>
          <a:srcRect/>
          <a:stretch/>
        </p:blipFill>
        <p:spPr>
          <a:xfrm>
            <a:off x="911424" y="260649"/>
            <a:ext cx="4328021" cy="6206113"/>
          </a:xfrm>
          <a:prstGeom prst="rect">
            <a:avLst/>
          </a:prstGeom>
          <a:noFill/>
          <a:ln>
            <a:noFill/>
          </a:ln>
        </p:spPr>
      </p:pic>
      <p:sp>
        <p:nvSpPr>
          <p:cNvPr id="236" name="Google Shape;236;p44"/>
          <p:cNvSpPr txBox="1"/>
          <p:nvPr/>
        </p:nvSpPr>
        <p:spPr>
          <a:xfrm>
            <a:off x="5423926" y="267462"/>
            <a:ext cx="6480151" cy="2462212"/>
          </a:xfrm>
          <a:prstGeom prst="rect">
            <a:avLst/>
          </a:prstGeom>
          <a:noFill/>
          <a:ln>
            <a:noFill/>
          </a:ln>
        </p:spPr>
        <p:txBody>
          <a:bodyPr spcFirstLastPara="1" wrap="square" lIns="121900" tIns="60933" rIns="121900" bIns="60933" anchor="t" anchorCtr="0">
            <a:noAutofit/>
          </a:bodyPr>
          <a:lstStyle/>
          <a:p>
            <a:r>
              <a:rPr lang="hr-HR" sz="2400" b="1" dirty="0" err="1">
                <a:solidFill>
                  <a:schemeClr val="dk1"/>
                </a:solidFill>
                <a:latin typeface="Calibri"/>
                <a:ea typeface="Calibri"/>
                <a:cs typeface="Calibri"/>
                <a:sym typeface="Calibri"/>
              </a:rPr>
              <a:t>Piet</a:t>
            </a:r>
            <a:r>
              <a:rPr lang="hr-HR" sz="2400" b="1" dirty="0">
                <a:solidFill>
                  <a:schemeClr val="dk1"/>
                </a:solidFill>
                <a:latin typeface="Calibri"/>
                <a:ea typeface="Calibri"/>
                <a:cs typeface="Calibri"/>
                <a:sym typeface="Calibri"/>
              </a:rPr>
              <a:t> Mondrian </a:t>
            </a:r>
            <a:br>
              <a:rPr lang="hr-HR" sz="2400" dirty="0">
                <a:solidFill>
                  <a:schemeClr val="dk1"/>
                </a:solidFill>
                <a:latin typeface="Calibri"/>
                <a:ea typeface="Calibri"/>
                <a:cs typeface="Calibri"/>
                <a:sym typeface="Calibri"/>
              </a:rPr>
            </a:br>
            <a:r>
              <a:rPr lang="hr-HR" sz="2133" dirty="0">
                <a:solidFill>
                  <a:schemeClr val="dk1"/>
                </a:solidFill>
                <a:latin typeface="Calibri"/>
                <a:ea typeface="Calibri"/>
                <a:cs typeface="Calibri"/>
                <a:sym typeface="Calibri"/>
              </a:rPr>
              <a:t>(1872., </a:t>
            </a:r>
            <a:r>
              <a:rPr lang="hr-HR" sz="2133" dirty="0" err="1">
                <a:solidFill>
                  <a:schemeClr val="dk1"/>
                </a:solidFill>
                <a:latin typeface="Calibri"/>
                <a:ea typeface="Calibri"/>
                <a:cs typeface="Calibri"/>
                <a:sym typeface="Calibri"/>
              </a:rPr>
              <a:t>Amresfoort</a:t>
            </a:r>
            <a:r>
              <a:rPr lang="hr-HR" sz="2133" dirty="0">
                <a:solidFill>
                  <a:schemeClr val="dk1"/>
                </a:solidFill>
                <a:latin typeface="Calibri"/>
                <a:ea typeface="Calibri"/>
                <a:cs typeface="Calibri"/>
                <a:sym typeface="Calibri"/>
              </a:rPr>
              <a:t>, Nizozemska – 1944., New York </a:t>
            </a:r>
            <a:r>
              <a:rPr lang="hr-HR" sz="2133" dirty="0" err="1">
                <a:solidFill>
                  <a:schemeClr val="dk1"/>
                </a:solidFill>
                <a:latin typeface="Calibri"/>
                <a:ea typeface="Calibri"/>
                <a:cs typeface="Calibri"/>
                <a:sym typeface="Calibri"/>
              </a:rPr>
              <a:t>CIty</a:t>
            </a:r>
            <a:r>
              <a:rPr lang="hr-HR" sz="2133" dirty="0">
                <a:solidFill>
                  <a:schemeClr val="dk1"/>
                </a:solidFill>
                <a:latin typeface="Calibri"/>
                <a:ea typeface="Calibri"/>
                <a:cs typeface="Calibri"/>
                <a:sym typeface="Calibri"/>
              </a:rPr>
              <a:t> )</a:t>
            </a:r>
            <a:endParaRPr sz="2400" dirty="0"/>
          </a:p>
          <a:p>
            <a:endParaRPr sz="2133" dirty="0">
              <a:solidFill>
                <a:schemeClr val="dk1"/>
              </a:solidFill>
              <a:latin typeface="Calibri"/>
              <a:ea typeface="Calibri"/>
              <a:cs typeface="Calibri"/>
              <a:sym typeface="Calibri"/>
            </a:endParaRPr>
          </a:p>
          <a:p>
            <a:pPr marL="380990" indent="-380990">
              <a:buClr>
                <a:schemeClr val="dk1"/>
              </a:buClr>
              <a:buSzPts val="1600"/>
              <a:buFont typeface="Calibri"/>
              <a:buChar char="-"/>
            </a:pPr>
            <a:r>
              <a:rPr lang="hr-HR" sz="2800" dirty="0">
                <a:solidFill>
                  <a:schemeClr val="dk1"/>
                </a:solidFill>
                <a:latin typeface="Calibri"/>
                <a:ea typeface="Calibri"/>
                <a:cs typeface="Calibri"/>
                <a:sym typeface="Calibri"/>
              </a:rPr>
              <a:t>jedan od pionira i glavnih predstavnika </a:t>
            </a:r>
            <a:br>
              <a:rPr lang="hr-HR" sz="2800" dirty="0">
                <a:solidFill>
                  <a:schemeClr val="dk1"/>
                </a:solidFill>
                <a:latin typeface="Calibri"/>
                <a:ea typeface="Calibri"/>
                <a:cs typeface="Calibri"/>
                <a:sym typeface="Calibri"/>
              </a:rPr>
            </a:br>
            <a:r>
              <a:rPr lang="hr-HR" sz="2800" dirty="0">
                <a:solidFill>
                  <a:schemeClr val="dk1"/>
                </a:solidFill>
                <a:latin typeface="Calibri"/>
                <a:ea typeface="Calibri"/>
                <a:cs typeface="Calibri"/>
                <a:sym typeface="Calibri"/>
              </a:rPr>
              <a:t>apstraktne umjetnosti 1. polovice 20. stoljeća</a:t>
            </a:r>
            <a:endParaRPr sz="2800" dirty="0"/>
          </a:p>
          <a:p>
            <a:pPr marL="380990" indent="-380990">
              <a:buClr>
                <a:schemeClr val="dk1"/>
              </a:buClr>
              <a:buSzPts val="1600"/>
              <a:buFont typeface="Calibri"/>
              <a:buChar char="-"/>
            </a:pPr>
            <a:r>
              <a:rPr lang="hr-HR" sz="2800" dirty="0">
                <a:solidFill>
                  <a:schemeClr val="dk1"/>
                </a:solidFill>
                <a:latin typeface="Calibri"/>
                <a:ea typeface="Calibri"/>
                <a:cs typeface="Calibri"/>
                <a:sym typeface="Calibri"/>
              </a:rPr>
              <a:t>svoj način slikanja nazvao je </a:t>
            </a:r>
            <a:r>
              <a:rPr lang="hr-HR" sz="2800" b="1" dirty="0">
                <a:solidFill>
                  <a:schemeClr val="dk1"/>
                </a:solidFill>
                <a:latin typeface="Calibri"/>
                <a:ea typeface="Calibri"/>
                <a:cs typeface="Calibri"/>
                <a:sym typeface="Calibri"/>
              </a:rPr>
              <a:t>NEOPLASTICIZAM</a:t>
            </a:r>
            <a:endParaRPr sz="2800" dirty="0"/>
          </a:p>
          <a:p>
            <a:pPr marL="380990" indent="-380990">
              <a:buClr>
                <a:schemeClr val="dk1"/>
              </a:buClr>
              <a:buSzPts val="1600"/>
              <a:buFont typeface="Calibri"/>
              <a:buChar char="-"/>
            </a:pPr>
            <a:r>
              <a:rPr lang="hr-HR" sz="2800" dirty="0">
                <a:solidFill>
                  <a:schemeClr val="dk1"/>
                </a:solidFill>
                <a:latin typeface="Calibri"/>
                <a:ea typeface="Calibri"/>
                <a:cs typeface="Calibri"/>
                <a:sym typeface="Calibri"/>
              </a:rPr>
              <a:t>član nizozemske </a:t>
            </a:r>
            <a:r>
              <a:rPr lang="hr-HR" sz="2800" b="1" dirty="0">
                <a:solidFill>
                  <a:schemeClr val="dk1"/>
                </a:solidFill>
                <a:latin typeface="Calibri"/>
                <a:ea typeface="Calibri"/>
                <a:cs typeface="Calibri"/>
                <a:sym typeface="Calibri"/>
              </a:rPr>
              <a:t>avangardne grupe </a:t>
            </a:r>
            <a:r>
              <a:rPr lang="hr-HR" sz="2800" b="1" i="1" dirty="0">
                <a:solidFill>
                  <a:schemeClr val="dk1"/>
                </a:solidFill>
                <a:latin typeface="Calibri"/>
                <a:ea typeface="Calibri"/>
                <a:cs typeface="Calibri"/>
                <a:sym typeface="Calibri"/>
              </a:rPr>
              <a:t>De </a:t>
            </a:r>
            <a:r>
              <a:rPr lang="hr-HR" sz="2800" b="1" i="1" dirty="0" err="1">
                <a:solidFill>
                  <a:schemeClr val="dk1"/>
                </a:solidFill>
                <a:latin typeface="Calibri"/>
                <a:ea typeface="Calibri"/>
                <a:cs typeface="Calibri"/>
                <a:sym typeface="Calibri"/>
              </a:rPr>
              <a:t>Stijl</a:t>
            </a:r>
            <a:r>
              <a:rPr lang="hr-HR" sz="2800" b="1" i="1" dirty="0">
                <a:solidFill>
                  <a:schemeClr val="dk1"/>
                </a:solidFill>
                <a:latin typeface="Calibri"/>
                <a:ea typeface="Calibri"/>
                <a:cs typeface="Calibri"/>
                <a:sym typeface="Calibri"/>
              </a:rPr>
              <a:t> </a:t>
            </a:r>
          </a:p>
          <a:p>
            <a:pPr marL="380990" indent="-380990">
              <a:buClr>
                <a:schemeClr val="dk1"/>
              </a:buClr>
              <a:buSzPts val="1600"/>
              <a:buFont typeface="Calibri"/>
              <a:buChar char="-"/>
            </a:pPr>
            <a:endParaRPr lang="hr-HR" sz="2133" b="1" i="1" dirty="0">
              <a:solidFill>
                <a:schemeClr val="dk1"/>
              </a:solidFill>
              <a:latin typeface="Calibri"/>
              <a:ea typeface="Calibri"/>
              <a:cs typeface="Calibri"/>
              <a:sym typeface="Calibri"/>
            </a:endParaRPr>
          </a:p>
          <a:p>
            <a:pPr marL="380990" indent="-380990">
              <a:buClr>
                <a:schemeClr val="dk1"/>
              </a:buClr>
              <a:buSzPts val="1600"/>
              <a:buFont typeface="Calibri"/>
              <a:buChar char="-"/>
            </a:pPr>
            <a:endParaRPr sz="2133" b="1" i="1"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49280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613318"/>
            <a:ext cx="12192000" cy="707886"/>
          </a:xfrm>
          <a:prstGeom prst="rect">
            <a:avLst/>
          </a:prstGeom>
          <a:noFill/>
        </p:spPr>
        <p:txBody>
          <a:bodyPr wrap="square" rtlCol="0">
            <a:spAutoFit/>
          </a:bodyPr>
          <a:lstStyle/>
          <a:p>
            <a:pPr algn="ctr"/>
            <a:r>
              <a:rPr lang="en-US" sz="4000" b="1" dirty="0"/>
              <a:t>DE STIJL </a:t>
            </a:r>
            <a:r>
              <a:rPr lang="en-US" sz="4000" dirty="0"/>
              <a:t>– </a:t>
            </a:r>
            <a:r>
              <a:rPr lang="en-US" sz="4000" dirty="0" err="1"/>
              <a:t>ključne</a:t>
            </a:r>
            <a:r>
              <a:rPr lang="en-US" sz="4000" dirty="0"/>
              <a:t> </a:t>
            </a:r>
            <a:r>
              <a:rPr lang="en-US" sz="4000" dirty="0" err="1"/>
              <a:t>ideje</a:t>
            </a:r>
            <a:endParaRPr lang="hr-HR" sz="4000" dirty="0"/>
          </a:p>
        </p:txBody>
      </p:sp>
      <p:sp>
        <p:nvSpPr>
          <p:cNvPr id="3" name="TextBox 2"/>
          <p:cNvSpPr txBox="1"/>
          <p:nvPr/>
        </p:nvSpPr>
        <p:spPr>
          <a:xfrm>
            <a:off x="676507" y="1583473"/>
            <a:ext cx="10838985" cy="5016758"/>
          </a:xfrm>
          <a:prstGeom prst="rect">
            <a:avLst/>
          </a:prstGeom>
          <a:noFill/>
        </p:spPr>
        <p:txBody>
          <a:bodyPr wrap="square" rtlCol="0">
            <a:spAutoFit/>
          </a:bodyPr>
          <a:lstStyle/>
          <a:p>
            <a:pPr marL="285750" indent="-285750">
              <a:buFont typeface="Arial" panose="020B0604020202020204" pitchFamily="34" charset="0"/>
              <a:buChar char="•"/>
            </a:pPr>
            <a:r>
              <a:rPr lang="en-US" sz="3200" dirty="0" err="1"/>
              <a:t>Reakcija</a:t>
            </a:r>
            <a:r>
              <a:rPr lang="en-US" sz="3200" dirty="0"/>
              <a:t> </a:t>
            </a:r>
            <a:r>
              <a:rPr lang="en-US" sz="3200" dirty="0" err="1"/>
              <a:t>na</a:t>
            </a:r>
            <a:r>
              <a:rPr lang="en-US" sz="3200" dirty="0"/>
              <a:t> </a:t>
            </a:r>
            <a:r>
              <a:rPr lang="en-US" sz="3200" dirty="0" err="1"/>
              <a:t>pretjeranu</a:t>
            </a:r>
            <a:r>
              <a:rPr lang="en-US" sz="3200" dirty="0"/>
              <a:t> </a:t>
            </a:r>
            <a:r>
              <a:rPr lang="en-US" sz="3200" dirty="0" err="1"/>
              <a:t>dekorativnost</a:t>
            </a:r>
            <a:r>
              <a:rPr lang="en-US" sz="3200" dirty="0"/>
              <a:t> Art Deco-a</a:t>
            </a:r>
          </a:p>
          <a:p>
            <a:pPr marL="285750" indent="-285750">
              <a:buFont typeface="Arial" panose="020B0604020202020204" pitchFamily="34" charset="0"/>
              <a:buChar char="•"/>
            </a:pPr>
            <a:r>
              <a:rPr lang="en-US" sz="3200" dirty="0" err="1"/>
              <a:t>Stvaranje</a:t>
            </a:r>
            <a:r>
              <a:rPr lang="en-US" sz="3200" dirty="0"/>
              <a:t> </a:t>
            </a:r>
            <a:r>
              <a:rPr lang="en-US" sz="3200" dirty="0" err="1"/>
              <a:t>univerzalnog</a:t>
            </a:r>
            <a:r>
              <a:rPr lang="en-US" sz="3200" dirty="0"/>
              <a:t> </a:t>
            </a:r>
            <a:r>
              <a:rPr lang="en-US" sz="3200" dirty="0" err="1"/>
              <a:t>likovnog</a:t>
            </a:r>
            <a:r>
              <a:rPr lang="en-US" sz="3200" dirty="0"/>
              <a:t> </a:t>
            </a:r>
            <a:r>
              <a:rPr lang="en-US" sz="3200" dirty="0" err="1"/>
              <a:t>jezika</a:t>
            </a:r>
            <a:r>
              <a:rPr lang="en-US" sz="3200" dirty="0"/>
              <a:t> za no</a:t>
            </a:r>
            <a:r>
              <a:rPr lang="hr-HR" sz="3200" dirty="0"/>
              <a:t>v</a:t>
            </a:r>
            <a:r>
              <a:rPr lang="en-US" sz="3200" dirty="0" err="1"/>
              <a:t>i</a:t>
            </a:r>
            <a:r>
              <a:rPr lang="en-US" sz="3200" dirty="0"/>
              <a:t> </a:t>
            </a:r>
            <a:r>
              <a:rPr lang="en-US" sz="3200" dirty="0" err="1"/>
              <a:t>duhovni</a:t>
            </a:r>
            <a:r>
              <a:rPr lang="en-US" sz="3200" dirty="0"/>
              <a:t> </a:t>
            </a:r>
            <a:r>
              <a:rPr lang="en-US" sz="3200" dirty="0" err="1"/>
              <a:t>svjetski</a:t>
            </a:r>
            <a:r>
              <a:rPr lang="en-US" sz="3200" dirty="0"/>
              <a:t> </a:t>
            </a:r>
            <a:r>
              <a:rPr lang="en-US" sz="3200" dirty="0" err="1"/>
              <a:t>poredak</a:t>
            </a:r>
            <a:endParaRPr lang="en-US" sz="3200" dirty="0"/>
          </a:p>
          <a:p>
            <a:pPr marL="285750" indent="-285750">
              <a:buFont typeface="Arial" panose="020B0604020202020204" pitchFamily="34" charset="0"/>
              <a:buChar char="•"/>
            </a:pPr>
            <a:r>
              <a:rPr lang="en-US" sz="3200" dirty="0" err="1"/>
              <a:t>Reakcija</a:t>
            </a:r>
            <a:r>
              <a:rPr lang="en-US" sz="3200" dirty="0"/>
              <a:t> </a:t>
            </a:r>
            <a:r>
              <a:rPr lang="en-US" sz="3200" dirty="0" err="1"/>
              <a:t>na</a:t>
            </a:r>
            <a:r>
              <a:rPr lang="en-US" sz="3200" dirty="0"/>
              <a:t> </a:t>
            </a:r>
            <a:r>
              <a:rPr lang="en-US" sz="3200" dirty="0" err="1"/>
              <a:t>strahote</a:t>
            </a:r>
            <a:r>
              <a:rPr lang="en-US" sz="3200" dirty="0"/>
              <a:t> </a:t>
            </a:r>
            <a:r>
              <a:rPr lang="en-US" sz="3200" dirty="0" err="1"/>
              <a:t>Prvoga</a:t>
            </a:r>
            <a:r>
              <a:rPr lang="en-US" sz="3200" dirty="0"/>
              <a:t> </a:t>
            </a:r>
            <a:r>
              <a:rPr lang="en-US" sz="3200" dirty="0" err="1"/>
              <a:t>svjetskog</a:t>
            </a:r>
            <a:r>
              <a:rPr lang="en-US" sz="3200" dirty="0"/>
              <a:t> rata – </a:t>
            </a:r>
            <a:r>
              <a:rPr lang="en-US" sz="3200" dirty="0" err="1"/>
              <a:t>želja</a:t>
            </a:r>
            <a:r>
              <a:rPr lang="en-US" sz="3200" dirty="0"/>
              <a:t> da se </a:t>
            </a:r>
            <a:r>
              <a:rPr lang="en-US" sz="3200" dirty="0" err="1"/>
              <a:t>društvo</a:t>
            </a:r>
            <a:r>
              <a:rPr lang="en-US" sz="3200" dirty="0"/>
              <a:t> </a:t>
            </a:r>
            <a:r>
              <a:rPr lang="en-US" sz="3200" dirty="0" err="1"/>
              <a:t>promijeni</a:t>
            </a:r>
            <a:r>
              <a:rPr lang="en-US" sz="3200" dirty="0"/>
              <a:t> </a:t>
            </a:r>
            <a:r>
              <a:rPr lang="en-US" sz="3200" dirty="0" err="1"/>
              <a:t>iznova</a:t>
            </a:r>
            <a:endParaRPr lang="en-US" sz="3200" dirty="0"/>
          </a:p>
          <a:p>
            <a:pPr marL="285750" indent="-285750">
              <a:buFont typeface="Arial" panose="020B0604020202020204" pitchFamily="34" charset="0"/>
              <a:buChar char="•"/>
            </a:pPr>
            <a:r>
              <a:rPr lang="en-US" sz="3200" dirty="0" err="1"/>
              <a:t>Umjetnost</a:t>
            </a:r>
            <a:r>
              <a:rPr lang="en-US" sz="3200" dirty="0"/>
              <a:t> se </a:t>
            </a:r>
            <a:r>
              <a:rPr lang="en-US" sz="3200" dirty="0" err="1"/>
              <a:t>doživljava</a:t>
            </a:r>
            <a:r>
              <a:rPr lang="en-US" sz="3200" dirty="0"/>
              <a:t> </a:t>
            </a:r>
            <a:r>
              <a:rPr lang="en-US" sz="3200" dirty="0" err="1"/>
              <a:t>kao</a:t>
            </a:r>
            <a:r>
              <a:rPr lang="en-US" sz="3200" dirty="0"/>
              <a:t> </a:t>
            </a:r>
            <a:r>
              <a:rPr lang="en-US" sz="3200" dirty="0" err="1"/>
              <a:t>način</a:t>
            </a:r>
            <a:r>
              <a:rPr lang="en-US" sz="3200" dirty="0"/>
              <a:t> </a:t>
            </a:r>
            <a:r>
              <a:rPr lang="en-US" sz="3200" dirty="0" err="1"/>
              <a:t>društvenog</a:t>
            </a:r>
            <a:r>
              <a:rPr lang="en-US" sz="3200" dirty="0"/>
              <a:t> </a:t>
            </a:r>
            <a:r>
              <a:rPr lang="en-US" sz="3200" dirty="0" err="1"/>
              <a:t>i</a:t>
            </a:r>
            <a:r>
              <a:rPr lang="en-US" sz="3200" dirty="0"/>
              <a:t> </a:t>
            </a:r>
            <a:r>
              <a:rPr lang="en-US" sz="3200" dirty="0" err="1"/>
              <a:t>duhovnog</a:t>
            </a:r>
            <a:r>
              <a:rPr lang="en-US" sz="3200" dirty="0"/>
              <a:t> </a:t>
            </a:r>
            <a:r>
              <a:rPr lang="en-US" sz="3200" dirty="0" err="1"/>
              <a:t>spasenja</a:t>
            </a:r>
            <a:r>
              <a:rPr lang="en-US" sz="3200" dirty="0"/>
              <a:t> </a:t>
            </a:r>
          </a:p>
          <a:p>
            <a:pPr marL="285750" indent="-285750">
              <a:buFont typeface="Arial" panose="020B0604020202020204" pitchFamily="34" charset="0"/>
              <a:buChar char="•"/>
            </a:pPr>
            <a:r>
              <a:rPr lang="en-US" sz="3200" dirty="0" err="1"/>
              <a:t>Članovi</a:t>
            </a:r>
            <a:r>
              <a:rPr lang="en-US" sz="3200" dirty="0"/>
              <a:t> </a:t>
            </a:r>
            <a:r>
              <a:rPr lang="en-US" sz="3200" dirty="0" err="1"/>
              <a:t>su</a:t>
            </a:r>
            <a:r>
              <a:rPr lang="en-US" sz="3200" dirty="0"/>
              <a:t> </a:t>
            </a:r>
            <a:r>
              <a:rPr lang="en-US" sz="3200" dirty="0" err="1"/>
              <a:t>imali</a:t>
            </a:r>
            <a:r>
              <a:rPr lang="en-US" sz="3200" dirty="0"/>
              <a:t> </a:t>
            </a:r>
            <a:r>
              <a:rPr lang="en-US" sz="3200" dirty="0" err="1"/>
              <a:t>utopijsku</a:t>
            </a:r>
            <a:r>
              <a:rPr lang="en-US" sz="3200" dirty="0"/>
              <a:t> </a:t>
            </a:r>
            <a:r>
              <a:rPr lang="en-US" sz="3200" dirty="0" err="1"/>
              <a:t>i</a:t>
            </a:r>
            <a:r>
              <a:rPr lang="en-US" sz="3200" dirty="0"/>
              <a:t> </a:t>
            </a:r>
            <a:r>
              <a:rPr lang="en-US" sz="3200" dirty="0" err="1"/>
              <a:t>transformativnu</a:t>
            </a:r>
            <a:r>
              <a:rPr lang="en-US" sz="3200" dirty="0"/>
              <a:t> </a:t>
            </a:r>
            <a:r>
              <a:rPr lang="en-US" sz="3200" dirty="0" err="1"/>
              <a:t>viziju</a:t>
            </a:r>
            <a:r>
              <a:rPr lang="en-US" sz="3200" dirty="0"/>
              <a:t> </a:t>
            </a:r>
            <a:r>
              <a:rPr lang="en-US" sz="3200" dirty="0" err="1"/>
              <a:t>umjetnosti</a:t>
            </a:r>
            <a:endParaRPr lang="en-US" sz="3200" dirty="0"/>
          </a:p>
          <a:p>
            <a:pPr marL="285750" indent="-285750">
              <a:buFont typeface="Arial" panose="020B0604020202020204" pitchFamily="34" charset="0"/>
              <a:buChar char="•"/>
            </a:pPr>
            <a:r>
              <a:rPr lang="en-US" sz="3200" dirty="0" err="1"/>
              <a:t>Pomoću</a:t>
            </a:r>
            <a:r>
              <a:rPr lang="en-US" sz="3200" dirty="0"/>
              <a:t> </a:t>
            </a:r>
            <a:r>
              <a:rPr lang="en-US" sz="3200" dirty="0" err="1"/>
              <a:t>škrtoga</a:t>
            </a:r>
            <a:r>
              <a:rPr lang="en-US" sz="3200" dirty="0"/>
              <a:t> </a:t>
            </a:r>
            <a:r>
              <a:rPr lang="en-US" sz="3200" dirty="0" err="1"/>
              <a:t>vizualnog</a:t>
            </a:r>
            <a:r>
              <a:rPr lang="en-US" sz="3200" dirty="0"/>
              <a:t> </a:t>
            </a:r>
            <a:r>
              <a:rPr lang="en-US" sz="3200" dirty="0" err="1"/>
              <a:t>jezika</a:t>
            </a:r>
            <a:r>
              <a:rPr lang="en-US" sz="3200" dirty="0"/>
              <a:t> (</a:t>
            </a:r>
            <a:r>
              <a:rPr lang="en-US" sz="3200" dirty="0" err="1"/>
              <a:t>primarne</a:t>
            </a:r>
            <a:r>
              <a:rPr lang="en-US" sz="3200" dirty="0"/>
              <a:t> </a:t>
            </a:r>
            <a:r>
              <a:rPr lang="en-US" sz="3200" dirty="0" err="1"/>
              <a:t>boje</a:t>
            </a:r>
            <a:r>
              <a:rPr lang="en-US" sz="3200" dirty="0"/>
              <a:t>, </a:t>
            </a:r>
            <a:r>
              <a:rPr lang="en-US" sz="3200" dirty="0" err="1"/>
              <a:t>ravne</a:t>
            </a:r>
            <a:r>
              <a:rPr lang="en-US" sz="3200" dirty="0"/>
              <a:t> </a:t>
            </a:r>
            <a:r>
              <a:rPr lang="en-US" sz="3200" dirty="0" err="1"/>
              <a:t>linije</a:t>
            </a:r>
            <a:r>
              <a:rPr lang="en-US" sz="3200" dirty="0"/>
              <a:t>, </a:t>
            </a:r>
            <a:r>
              <a:rPr lang="en-US" sz="3200" dirty="0" err="1"/>
              <a:t>jednostavni</a:t>
            </a:r>
            <a:r>
              <a:rPr lang="en-US" sz="3200" dirty="0"/>
              <a:t> </a:t>
            </a:r>
            <a:r>
              <a:rPr lang="en-US" sz="3200" dirty="0" err="1"/>
              <a:t>geometrijski</a:t>
            </a:r>
            <a:r>
              <a:rPr lang="en-US" sz="3200" dirty="0"/>
              <a:t> </a:t>
            </a:r>
            <a:r>
              <a:rPr lang="en-US" sz="3200" dirty="0" err="1"/>
              <a:t>oblici</a:t>
            </a:r>
            <a:r>
              <a:rPr lang="en-US" sz="3200" dirty="0"/>
              <a:t>) </a:t>
            </a:r>
            <a:r>
              <a:rPr lang="en-US" sz="3200" dirty="0" err="1"/>
              <a:t>tražili</a:t>
            </a:r>
            <a:r>
              <a:rPr lang="en-US" sz="3200" dirty="0"/>
              <a:t> </a:t>
            </a:r>
            <a:r>
              <a:rPr lang="en-US" sz="3200" dirty="0" err="1"/>
              <a:t>su</a:t>
            </a:r>
            <a:r>
              <a:rPr lang="en-US" sz="3200" dirty="0"/>
              <a:t> </a:t>
            </a:r>
            <a:r>
              <a:rPr lang="en-US" sz="3200" dirty="0" err="1"/>
              <a:t>harmoniju</a:t>
            </a:r>
            <a:r>
              <a:rPr lang="en-US" sz="3200" dirty="0"/>
              <a:t> u </a:t>
            </a:r>
            <a:r>
              <a:rPr lang="en-US" sz="3200" dirty="0" err="1"/>
              <a:t>svijetu</a:t>
            </a:r>
            <a:endParaRPr lang="hr-HR" sz="3200" dirty="0"/>
          </a:p>
        </p:txBody>
      </p:sp>
    </p:spTree>
    <p:extLst>
      <p:ext uri="{BB962C8B-B14F-4D97-AF65-F5344CB8AC3E}">
        <p14:creationId xmlns:p14="http://schemas.microsoft.com/office/powerpoint/2010/main" val="1542020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227;p43"/>
          <p:cNvPicPr preferRelativeResize="0"/>
          <p:nvPr/>
        </p:nvPicPr>
        <p:blipFill rotWithShape="1">
          <a:blip r:embed="rId2">
            <a:alphaModFix/>
          </a:blip>
          <a:srcRect/>
          <a:stretch/>
        </p:blipFill>
        <p:spPr>
          <a:xfrm>
            <a:off x="3069513" y="542924"/>
            <a:ext cx="5698067" cy="5772151"/>
          </a:xfrm>
          <a:prstGeom prst="rect">
            <a:avLst/>
          </a:prstGeom>
          <a:noFill/>
          <a:ln>
            <a:noFill/>
          </a:ln>
        </p:spPr>
      </p:pic>
    </p:spTree>
    <p:extLst>
      <p:ext uri="{BB962C8B-B14F-4D97-AF65-F5344CB8AC3E}">
        <p14:creationId xmlns:p14="http://schemas.microsoft.com/office/powerpoint/2010/main" val="4167885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92458" y="2785584"/>
            <a:ext cx="10058400" cy="1107996"/>
          </a:xfrm>
          <a:prstGeom prst="rect">
            <a:avLst/>
          </a:prstGeom>
          <a:noFill/>
        </p:spPr>
        <p:txBody>
          <a:bodyPr wrap="square" rtlCol="0">
            <a:spAutoFit/>
          </a:bodyPr>
          <a:lstStyle/>
          <a:p>
            <a:pPr algn="ctr"/>
            <a:r>
              <a:rPr lang="en-US" sz="6600" dirty="0"/>
              <a:t>BOJA</a:t>
            </a:r>
            <a:endParaRPr lang="hr-HR" sz="6600" dirty="0"/>
          </a:p>
        </p:txBody>
      </p:sp>
      <p:sp>
        <p:nvSpPr>
          <p:cNvPr id="3" name="TextBox 2"/>
          <p:cNvSpPr txBox="1"/>
          <p:nvPr/>
        </p:nvSpPr>
        <p:spPr>
          <a:xfrm>
            <a:off x="256478" y="1862254"/>
            <a:ext cx="11530361" cy="923330"/>
          </a:xfrm>
          <a:prstGeom prst="rect">
            <a:avLst/>
          </a:prstGeom>
          <a:noFill/>
        </p:spPr>
        <p:txBody>
          <a:bodyPr wrap="square" rtlCol="0">
            <a:spAutoFit/>
          </a:bodyPr>
          <a:lstStyle/>
          <a:p>
            <a:endParaRPr lang="en-US" dirty="0"/>
          </a:p>
          <a:p>
            <a:endParaRPr lang="en-US" dirty="0"/>
          </a:p>
          <a:p>
            <a:endParaRPr lang="hr-HR" dirty="0"/>
          </a:p>
        </p:txBody>
      </p:sp>
    </p:spTree>
    <p:extLst>
      <p:ext uri="{BB962C8B-B14F-4D97-AF65-F5344CB8AC3E}">
        <p14:creationId xmlns:p14="http://schemas.microsoft.com/office/powerpoint/2010/main" val="1428831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61220" y="188640"/>
            <a:ext cx="8229600" cy="4548352"/>
          </a:xfrm>
        </p:spPr>
        <p:txBody>
          <a:bodyPr>
            <a:normAutofit/>
          </a:bodyPr>
          <a:lstStyle/>
          <a:p>
            <a:pPr algn="l"/>
            <a:r>
              <a:rPr lang="hr-HR" sz="3500" dirty="0"/>
              <a:t>Primarne boje:</a:t>
            </a:r>
            <a:br>
              <a:rPr lang="hr-HR" sz="3500" dirty="0"/>
            </a:br>
            <a:br>
              <a:rPr lang="hr-HR" sz="3500" dirty="0"/>
            </a:br>
            <a:br>
              <a:rPr lang="hr-HR" sz="3500" dirty="0"/>
            </a:br>
            <a:r>
              <a:rPr lang="hr-HR" sz="3500" dirty="0"/>
              <a:t>Sekundarne boje:</a:t>
            </a:r>
            <a:br>
              <a:rPr lang="hr-HR" sz="3500" dirty="0"/>
            </a:br>
            <a:br>
              <a:rPr lang="hr-HR" sz="3500" dirty="0"/>
            </a:br>
            <a:br>
              <a:rPr lang="hr-HR" sz="3500" dirty="0"/>
            </a:br>
            <a:endParaRPr lang="hr-HR" sz="3500"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663952" y="278150"/>
            <a:ext cx="1224136" cy="1224136"/>
          </a:xfr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20136" y="260648"/>
            <a:ext cx="1224136" cy="1224136"/>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878676" y="316620"/>
            <a:ext cx="1224136" cy="1224136"/>
          </a:xfrm>
          <a:prstGeom prst="rect">
            <a:avLst/>
          </a:prstGeom>
        </p:spPr>
      </p:pic>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63952" y="1926203"/>
            <a:ext cx="1224136" cy="1224136"/>
          </a:xfrm>
          <a:prstGeom prst="rect">
            <a:avLst/>
          </a:prstGeom>
        </p:spPr>
      </p:pic>
      <p:pic>
        <p:nvPicPr>
          <p:cNvPr id="8" name="Pictur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20136" y="1916832"/>
            <a:ext cx="1224136" cy="1224136"/>
          </a:xfrm>
          <a:prstGeom prst="rect">
            <a:avLst/>
          </a:prstGeom>
        </p:spPr>
      </p:pic>
      <p:pic>
        <p:nvPicPr>
          <p:cNvPr id="9" name="Picture 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878676" y="1926203"/>
            <a:ext cx="1224136" cy="1224136"/>
          </a:xfrm>
          <a:prstGeom prst="rect">
            <a:avLst/>
          </a:prstGeom>
        </p:spPr>
      </p:pic>
      <p:pic>
        <p:nvPicPr>
          <p:cNvPr id="10" name="Picture 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685482" y="5219700"/>
            <a:ext cx="1201824" cy="1201824"/>
          </a:xfrm>
          <a:prstGeom prst="rect">
            <a:avLst/>
          </a:prstGeom>
        </p:spPr>
      </p:pic>
      <p:pic>
        <p:nvPicPr>
          <p:cNvPr id="11" name="Picture 1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685482" y="3717032"/>
            <a:ext cx="1201824" cy="1201824"/>
          </a:xfrm>
          <a:prstGeom prst="rect">
            <a:avLst/>
          </a:prstGeom>
        </p:spPr>
      </p:pic>
      <p:pic>
        <p:nvPicPr>
          <p:cNvPr id="12" name="Picture 1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320136" y="3721028"/>
            <a:ext cx="1197828" cy="1197828"/>
          </a:xfrm>
          <a:prstGeom prst="rect">
            <a:avLst/>
          </a:prstGeom>
        </p:spPr>
      </p:pic>
      <p:pic>
        <p:nvPicPr>
          <p:cNvPr id="13" name="Picture 12"/>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307430" y="5210990"/>
            <a:ext cx="1210535" cy="1210535"/>
          </a:xfrm>
          <a:prstGeom prst="rect">
            <a:avLst/>
          </a:prstGeom>
        </p:spPr>
      </p:pic>
      <p:pic>
        <p:nvPicPr>
          <p:cNvPr id="14" name="Picture 13"/>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904436" y="3717032"/>
            <a:ext cx="1198376" cy="1198376"/>
          </a:xfrm>
          <a:prstGeom prst="rect">
            <a:avLst/>
          </a:prstGeom>
        </p:spPr>
      </p:pic>
      <p:pic>
        <p:nvPicPr>
          <p:cNvPr id="15" name="Picture 14"/>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8878676" y="5204188"/>
            <a:ext cx="1224136" cy="1224136"/>
          </a:xfrm>
          <a:prstGeom prst="rect">
            <a:avLst/>
          </a:prstGeom>
        </p:spPr>
      </p:pic>
      <p:sp>
        <p:nvSpPr>
          <p:cNvPr id="16" name="TextBox 15"/>
          <p:cNvSpPr txBox="1"/>
          <p:nvPr/>
        </p:nvSpPr>
        <p:spPr>
          <a:xfrm>
            <a:off x="5807968" y="1475492"/>
            <a:ext cx="4680520" cy="369332"/>
          </a:xfrm>
          <a:prstGeom prst="rect">
            <a:avLst/>
          </a:prstGeom>
          <a:noFill/>
        </p:spPr>
        <p:txBody>
          <a:bodyPr wrap="square" rtlCol="0">
            <a:spAutoFit/>
          </a:bodyPr>
          <a:lstStyle/>
          <a:p>
            <a:r>
              <a:rPr lang="hr-HR" dirty="0"/>
              <a:t>CRVENA	                 ŽUTA	          PLAVA</a:t>
            </a:r>
          </a:p>
        </p:txBody>
      </p:sp>
      <p:sp>
        <p:nvSpPr>
          <p:cNvPr id="17" name="TextBox 16"/>
          <p:cNvSpPr txBox="1"/>
          <p:nvPr/>
        </p:nvSpPr>
        <p:spPr>
          <a:xfrm>
            <a:off x="5538730" y="3131676"/>
            <a:ext cx="4589718" cy="369332"/>
          </a:xfrm>
          <a:prstGeom prst="rect">
            <a:avLst/>
          </a:prstGeom>
          <a:noFill/>
        </p:spPr>
        <p:txBody>
          <a:bodyPr wrap="none" rtlCol="0">
            <a:spAutoFit/>
          </a:bodyPr>
          <a:lstStyle/>
          <a:p>
            <a:r>
              <a:rPr lang="hr-HR" dirty="0"/>
              <a:t>NARANČASTA	LJUBIČASTA	ZELENA</a:t>
            </a:r>
          </a:p>
        </p:txBody>
      </p:sp>
      <p:sp>
        <p:nvSpPr>
          <p:cNvPr id="18" name="TextBox 17"/>
          <p:cNvSpPr txBox="1"/>
          <p:nvPr/>
        </p:nvSpPr>
        <p:spPr>
          <a:xfrm>
            <a:off x="5447928" y="4869161"/>
            <a:ext cx="4732386" cy="323165"/>
          </a:xfrm>
          <a:prstGeom prst="rect">
            <a:avLst/>
          </a:prstGeom>
          <a:noFill/>
        </p:spPr>
        <p:txBody>
          <a:bodyPr wrap="none" rtlCol="0">
            <a:spAutoFit/>
          </a:bodyPr>
          <a:lstStyle/>
          <a:p>
            <a:r>
              <a:rPr lang="hr-HR" sz="1500" dirty="0"/>
              <a:t>ŽUTONARANČASTA   CRVENOLJUBIČASTA      PLAVOZELENA</a:t>
            </a:r>
          </a:p>
        </p:txBody>
      </p:sp>
      <p:sp>
        <p:nvSpPr>
          <p:cNvPr id="19" name="TextBox 18"/>
          <p:cNvSpPr txBox="1"/>
          <p:nvPr/>
        </p:nvSpPr>
        <p:spPr>
          <a:xfrm>
            <a:off x="5231904" y="6418204"/>
            <a:ext cx="4905510" cy="323165"/>
          </a:xfrm>
          <a:prstGeom prst="rect">
            <a:avLst/>
          </a:prstGeom>
          <a:noFill/>
        </p:spPr>
        <p:txBody>
          <a:bodyPr wrap="none" rtlCol="0">
            <a:spAutoFit/>
          </a:bodyPr>
          <a:lstStyle/>
          <a:p>
            <a:r>
              <a:rPr lang="hr-HR" sz="1500" dirty="0"/>
              <a:t>CRVENONARANČASTA    PLAVOLJUBIČASTA         ŽUTOZELENA</a:t>
            </a:r>
          </a:p>
        </p:txBody>
      </p:sp>
      <p:sp>
        <p:nvSpPr>
          <p:cNvPr id="3" name="TextBox 2"/>
          <p:cNvSpPr txBox="1"/>
          <p:nvPr/>
        </p:nvSpPr>
        <p:spPr>
          <a:xfrm>
            <a:off x="2169976" y="3933056"/>
            <a:ext cx="2989921" cy="630942"/>
          </a:xfrm>
          <a:prstGeom prst="rect">
            <a:avLst/>
          </a:prstGeom>
          <a:noFill/>
        </p:spPr>
        <p:txBody>
          <a:bodyPr wrap="none" rtlCol="0">
            <a:spAutoFit/>
          </a:bodyPr>
          <a:lstStyle/>
          <a:p>
            <a:r>
              <a:rPr lang="hr-HR" sz="3500" dirty="0"/>
              <a:t>Tercijarne boje:</a:t>
            </a:r>
          </a:p>
        </p:txBody>
      </p:sp>
    </p:spTree>
    <p:extLst>
      <p:ext uri="{BB962C8B-B14F-4D97-AF65-F5344CB8AC3E}">
        <p14:creationId xmlns:p14="http://schemas.microsoft.com/office/powerpoint/2010/main" val="4220710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par>
                                <p:cTn id="27" presetID="10"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par>
                                <p:cTn id="30" presetID="10" presetClass="entr" presetSubtype="0"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fade">
                                      <p:cBhvr>
                                        <p:cTn id="40" dur="500"/>
                                        <p:tgtEl>
                                          <p:spTgt spid="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childTnLst>
                                </p:cTn>
                              </p:par>
                              <p:par>
                                <p:cTn id="46" presetID="10" presetClass="entr" presetSubtype="0" fill="hold"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00"/>
                                        <p:tgtEl>
                                          <p:spTgt spid="12"/>
                                        </p:tgtEl>
                                      </p:cBhvr>
                                    </p:animEffect>
                                  </p:childTnLst>
                                </p:cTn>
                              </p:par>
                              <p:par>
                                <p:cTn id="49" presetID="10" presetClass="entr" presetSubtype="0" fill="hold"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00"/>
                                        <p:tgtEl>
                                          <p:spTgt spid="1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par>
                                <p:cTn id="55" presetID="10" presetClass="entr" presetSubtype="0" fill="hold" nodeType="with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fade">
                                      <p:cBhvr>
                                        <p:cTn id="57" dur="500"/>
                                        <p:tgtEl>
                                          <p:spTgt spid="10"/>
                                        </p:tgtEl>
                                      </p:cBhvr>
                                    </p:animEffect>
                                  </p:childTnLst>
                                </p:cTn>
                              </p:par>
                              <p:par>
                                <p:cTn id="58" presetID="10" presetClass="entr" presetSubtype="0" fill="hold" nodeType="with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500"/>
                                        <p:tgtEl>
                                          <p:spTgt spid="13"/>
                                        </p:tgtEl>
                                      </p:cBhvr>
                                    </p:animEffect>
                                  </p:childTnLst>
                                </p:cTn>
                              </p:par>
                              <p:par>
                                <p:cTn id="61" presetID="10" presetClass="entr" presetSubtype="0" fill="hold" nodeType="with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500"/>
                                        <p:tgtEl>
                                          <p:spTgt spid="1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6" grpId="0"/>
      <p:bldP spid="17" grpId="0"/>
      <p:bldP spid="18" grpId="0"/>
      <p:bldP spid="19"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3593" y="461171"/>
            <a:ext cx="6062443" cy="763267"/>
          </a:xfrm>
        </p:spPr>
        <p:txBody>
          <a:bodyPr/>
          <a:lstStyle/>
          <a:p>
            <a:endParaRPr lang="hr-HR"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292877" y="687189"/>
            <a:ext cx="2655159" cy="2655159"/>
          </a:xfr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68008" y="687188"/>
            <a:ext cx="2658788" cy="2658788"/>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V="1">
            <a:off x="2189820" y="3429001"/>
            <a:ext cx="7956376" cy="45719"/>
          </a:xfrm>
          <a:prstGeom prst="rect">
            <a:avLst/>
          </a:prstGeom>
        </p:spPr>
      </p:pic>
      <p:pic>
        <p:nvPicPr>
          <p:cNvPr id="3074" name="Picture 2"/>
          <p:cNvPicPr>
            <a:picLocks noChangeAspect="1" noChangeArrowheads="1"/>
          </p:cNvPicPr>
          <p:nvPr/>
        </p:nvPicPr>
        <p:blipFill>
          <a:blip r:embed="rId5" cstate="print"/>
          <a:srcRect/>
          <a:stretch>
            <a:fillRect/>
          </a:stretch>
        </p:blipFill>
        <p:spPr bwMode="auto">
          <a:xfrm>
            <a:off x="3287688" y="3573016"/>
            <a:ext cx="2664296" cy="2664296"/>
          </a:xfrm>
          <a:prstGeom prst="rect">
            <a:avLst/>
          </a:prstGeom>
          <a:noFill/>
          <a:ln w="9525">
            <a:noFill/>
            <a:miter lim="800000"/>
            <a:headEnd/>
            <a:tailEnd/>
          </a:ln>
        </p:spPr>
      </p:pic>
      <p:pic>
        <p:nvPicPr>
          <p:cNvPr id="3075" name="Picture 3"/>
          <p:cNvPicPr>
            <a:picLocks noChangeAspect="1" noChangeArrowheads="1"/>
          </p:cNvPicPr>
          <p:nvPr/>
        </p:nvPicPr>
        <p:blipFill>
          <a:blip r:embed="rId6" cstate="print"/>
          <a:srcRect/>
          <a:stretch>
            <a:fillRect/>
          </a:stretch>
        </p:blipFill>
        <p:spPr bwMode="auto">
          <a:xfrm>
            <a:off x="6183858" y="3573016"/>
            <a:ext cx="2648446" cy="2648446"/>
          </a:xfrm>
          <a:prstGeom prst="rect">
            <a:avLst/>
          </a:prstGeom>
          <a:noFill/>
          <a:ln w="9525">
            <a:noFill/>
            <a:miter lim="800000"/>
            <a:headEnd/>
            <a:tailEnd/>
          </a:ln>
        </p:spPr>
      </p:pic>
      <p:sp>
        <p:nvSpPr>
          <p:cNvPr id="3" name="TextBox 2"/>
          <p:cNvSpPr txBox="1"/>
          <p:nvPr/>
        </p:nvSpPr>
        <p:spPr>
          <a:xfrm>
            <a:off x="3847619" y="1697310"/>
            <a:ext cx="4109202" cy="3554819"/>
          </a:xfrm>
          <a:prstGeom prst="rect">
            <a:avLst/>
          </a:prstGeom>
          <a:noFill/>
        </p:spPr>
        <p:txBody>
          <a:bodyPr wrap="none" rtlCol="0">
            <a:spAutoFit/>
          </a:bodyPr>
          <a:lstStyle/>
          <a:p>
            <a:pPr algn="ctr"/>
            <a:r>
              <a:rPr lang="hr-HR" sz="4500" dirty="0"/>
              <a:t>TOPLE	BOJE</a:t>
            </a:r>
          </a:p>
          <a:p>
            <a:pPr algn="ctr"/>
            <a:endParaRPr lang="hr-HR" sz="4500" dirty="0"/>
          </a:p>
          <a:p>
            <a:pPr algn="ctr"/>
            <a:endParaRPr lang="hr-HR" sz="4500" dirty="0"/>
          </a:p>
          <a:p>
            <a:pPr algn="ctr"/>
            <a:endParaRPr lang="hr-HR" sz="4500" dirty="0"/>
          </a:p>
          <a:p>
            <a:pPr algn="ctr"/>
            <a:r>
              <a:rPr lang="hr-HR" sz="4500" dirty="0"/>
              <a:t>HLADNE		BOJE</a:t>
            </a:r>
          </a:p>
        </p:txBody>
      </p:sp>
    </p:spTree>
    <p:extLst>
      <p:ext uri="{BB962C8B-B14F-4D97-AF65-F5344CB8AC3E}">
        <p14:creationId xmlns:p14="http://schemas.microsoft.com/office/powerpoint/2010/main" val="1420570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r-HR" dirty="0"/>
              <a:t>DINAMIKA BOJA</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135561" y="1700809"/>
            <a:ext cx="3820433" cy="3820433"/>
          </a:xfr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1700808"/>
            <a:ext cx="3795024" cy="3795024"/>
          </a:xfrm>
          <a:prstGeom prst="rect">
            <a:avLst/>
          </a:prstGeom>
        </p:spPr>
      </p:pic>
    </p:spTree>
    <p:extLst>
      <p:ext uri="{BB962C8B-B14F-4D97-AF65-F5344CB8AC3E}">
        <p14:creationId xmlns:p14="http://schemas.microsoft.com/office/powerpoint/2010/main" val="1746668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pic>
        <p:nvPicPr>
          <p:cNvPr id="4"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33019" y="1124745"/>
            <a:ext cx="4525963" cy="4525963"/>
          </a:xfrm>
          <a:prstGeom prst="rect">
            <a:avLst/>
          </a:prstGeom>
        </p:spPr>
      </p:pic>
      <p:sp>
        <p:nvSpPr>
          <p:cNvPr id="3" name="Content Placeholder 2"/>
          <p:cNvSpPr>
            <a:spLocks noGrp="1"/>
          </p:cNvSpPr>
          <p:nvPr>
            <p:ph idx="1"/>
          </p:nvPr>
        </p:nvSpPr>
        <p:spPr/>
        <p:txBody>
          <a:bodyPr/>
          <a:lstStyle/>
          <a:p>
            <a:r>
              <a:rPr lang="hr-HR" dirty="0"/>
              <a:t>akromatske boje</a:t>
            </a:r>
          </a:p>
          <a:p>
            <a:r>
              <a:rPr lang="ta-IN" dirty="0"/>
              <a:t>n</a:t>
            </a:r>
            <a:r>
              <a:rPr lang="hr-HR" dirty="0"/>
              <a:t>eboje</a:t>
            </a:r>
          </a:p>
          <a:p>
            <a:r>
              <a:rPr lang="hr-HR" dirty="0"/>
              <a:t>tonovi</a:t>
            </a:r>
          </a:p>
          <a:p>
            <a:endParaRPr lang="hr-HR" dirty="0"/>
          </a:p>
        </p:txBody>
      </p:sp>
    </p:spTree>
    <p:extLst>
      <p:ext uri="{BB962C8B-B14F-4D97-AF65-F5344CB8AC3E}">
        <p14:creationId xmlns:p14="http://schemas.microsoft.com/office/powerpoint/2010/main" val="3793076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719736" y="188640"/>
            <a:ext cx="4896544" cy="2756754"/>
          </a:xfr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19736" y="3079319"/>
            <a:ext cx="4896544" cy="3672408"/>
          </a:xfrm>
          <a:prstGeom prst="rect">
            <a:avLst/>
          </a:prstGeom>
        </p:spPr>
      </p:pic>
    </p:spTree>
    <p:extLst>
      <p:ext uri="{BB962C8B-B14F-4D97-AF65-F5344CB8AC3E}">
        <p14:creationId xmlns:p14="http://schemas.microsoft.com/office/powerpoint/2010/main" val="4677828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r-HR" dirty="0"/>
              <a:t>KONTRAST</a:t>
            </a:r>
          </a:p>
        </p:txBody>
      </p:sp>
      <p:sp>
        <p:nvSpPr>
          <p:cNvPr id="3" name="Content Placeholder 2"/>
          <p:cNvSpPr>
            <a:spLocks noGrp="1"/>
          </p:cNvSpPr>
          <p:nvPr>
            <p:ph idx="1"/>
          </p:nvPr>
        </p:nvSpPr>
        <p:spPr>
          <a:xfrm>
            <a:off x="1981200" y="1600201"/>
            <a:ext cx="3754760" cy="4525963"/>
          </a:xfrm>
        </p:spPr>
        <p:txBody>
          <a:bodyPr/>
          <a:lstStyle/>
          <a:p>
            <a:r>
              <a:rPr lang="hr-HR" dirty="0"/>
              <a:t>Boje prema boji</a:t>
            </a:r>
          </a:p>
          <a:p>
            <a:r>
              <a:rPr lang="hr-HR" dirty="0"/>
              <a:t>Svjetlo-tamno</a:t>
            </a:r>
          </a:p>
          <a:p>
            <a:r>
              <a:rPr lang="hr-HR" dirty="0"/>
              <a:t>Toplo i hladno</a:t>
            </a:r>
          </a:p>
          <a:p>
            <a:r>
              <a:rPr lang="hr-HR" dirty="0"/>
              <a:t>Intenziteta boje</a:t>
            </a:r>
          </a:p>
          <a:p>
            <a:r>
              <a:rPr lang="hr-HR" dirty="0"/>
              <a:t>...</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15982" y="1754864"/>
            <a:ext cx="4392488" cy="4392488"/>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17782" y="1754864"/>
            <a:ext cx="4392488" cy="4392488"/>
          </a:xfrm>
          <a:prstGeom prst="rect">
            <a:avLst/>
          </a:prstGeom>
        </p:spPr>
      </p:pic>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15982" y="1762733"/>
            <a:ext cx="4392488" cy="4392488"/>
          </a:xfrm>
          <a:prstGeom prst="rect">
            <a:avLst/>
          </a:prstGeom>
        </p:spPr>
      </p:pic>
      <p:pic>
        <p:nvPicPr>
          <p:cNvPr id="11" name="Picture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517782" y="1754864"/>
            <a:ext cx="4392488" cy="4392488"/>
          </a:xfrm>
          <a:prstGeom prst="rect">
            <a:avLst/>
          </a:prstGeom>
        </p:spPr>
      </p:pic>
    </p:spTree>
    <p:extLst>
      <p:ext uri="{BB962C8B-B14F-4D97-AF65-F5344CB8AC3E}">
        <p14:creationId xmlns:p14="http://schemas.microsoft.com/office/powerpoint/2010/main" val="2730392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fade">
                                      <p:cBhvr>
                                        <p:cTn id="37" dur="500"/>
                                        <p:tgtEl>
                                          <p:spTgt spid="3">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Effect transition="in" filter="fade">
                                      <p:cBhvr>
                                        <p:cTn id="4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r-HR" dirty="0"/>
              <a:t>KOMPLEMENTARNI KONTRAST</a:t>
            </a:r>
          </a:p>
        </p:txBody>
      </p:sp>
      <p:sp>
        <p:nvSpPr>
          <p:cNvPr id="3" name="Content Placeholder 2"/>
          <p:cNvSpPr>
            <a:spLocks noGrp="1"/>
          </p:cNvSpPr>
          <p:nvPr>
            <p:ph idx="1"/>
          </p:nvPr>
        </p:nvSpPr>
        <p:spPr>
          <a:xfrm>
            <a:off x="2135560" y="1420907"/>
            <a:ext cx="5410944" cy="5184576"/>
          </a:xfrm>
        </p:spPr>
        <p:txBody>
          <a:bodyPr>
            <a:normAutofit/>
          </a:bodyPr>
          <a:lstStyle/>
          <a:p>
            <a:endParaRPr lang="hr-HR" dirty="0"/>
          </a:p>
          <a:p>
            <a:r>
              <a:rPr lang="hr-HR" dirty="0"/>
              <a:t>CRVENA-ZELENA</a:t>
            </a:r>
          </a:p>
          <a:p>
            <a:endParaRPr lang="hr-HR" dirty="0"/>
          </a:p>
          <a:p>
            <a:endParaRPr lang="hr-HR" dirty="0"/>
          </a:p>
          <a:p>
            <a:r>
              <a:rPr lang="hr-HR" dirty="0"/>
              <a:t>ŽUTA-LJUBIČASTA</a:t>
            </a:r>
          </a:p>
          <a:p>
            <a:endParaRPr lang="hr-HR" dirty="0"/>
          </a:p>
          <a:p>
            <a:endParaRPr lang="hr-HR" dirty="0"/>
          </a:p>
          <a:p>
            <a:endParaRPr lang="hr-HR" dirty="0"/>
          </a:p>
          <a:p>
            <a:r>
              <a:rPr lang="hr-HR" dirty="0"/>
              <a:t>PLAVA-NARANČASTA</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10268" y="1412776"/>
            <a:ext cx="3630149" cy="5445224"/>
          </a:xfrm>
          <a:prstGeom prst="rect">
            <a:avLst/>
          </a:prstGeom>
        </p:spPr>
      </p:pic>
    </p:spTree>
    <p:extLst>
      <p:ext uri="{BB962C8B-B14F-4D97-AF65-F5344CB8AC3E}">
        <p14:creationId xmlns:p14="http://schemas.microsoft.com/office/powerpoint/2010/main" val="37799363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r-HR" dirty="0"/>
              <a:t>Dimenzije boje</a:t>
            </a:r>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295800" y="1988841"/>
            <a:ext cx="3617558" cy="3652259"/>
          </a:xfrm>
        </p:spPr>
      </p:pic>
    </p:spTree>
    <p:extLst>
      <p:ext uri="{BB962C8B-B14F-4D97-AF65-F5344CB8AC3E}">
        <p14:creationId xmlns:p14="http://schemas.microsoft.com/office/powerpoint/2010/main" val="12401260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hr-HR" dirty="0"/>
              <a:t>DIMENZIJE BOJE:</a:t>
            </a:r>
          </a:p>
        </p:txBody>
      </p:sp>
      <p:sp>
        <p:nvSpPr>
          <p:cNvPr id="3" name="Content Placeholder 2"/>
          <p:cNvSpPr>
            <a:spLocks noGrp="1"/>
          </p:cNvSpPr>
          <p:nvPr>
            <p:ph idx="1"/>
          </p:nvPr>
        </p:nvSpPr>
        <p:spPr/>
        <p:txBody>
          <a:bodyPr/>
          <a:lstStyle/>
          <a:p>
            <a:r>
              <a:rPr lang="hr-HR" dirty="0"/>
              <a:t>Ton (svjetlina)</a:t>
            </a:r>
          </a:p>
          <a:p>
            <a:r>
              <a:rPr lang="hr-HR" dirty="0"/>
              <a:t>Valer (intenzitet)</a:t>
            </a:r>
          </a:p>
          <a:p>
            <a:r>
              <a:rPr lang="hr-HR" dirty="0"/>
              <a:t>Kromatska kvaliteta</a:t>
            </a:r>
          </a:p>
        </p:txBody>
      </p:sp>
    </p:spTree>
    <p:extLst>
      <p:ext uri="{BB962C8B-B14F-4D97-AF65-F5344CB8AC3E}">
        <p14:creationId xmlns:p14="http://schemas.microsoft.com/office/powerpoint/2010/main" val="912392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67609" y="188641"/>
            <a:ext cx="7106275" cy="799525"/>
          </a:xfrm>
        </p:spPr>
        <p:txBody>
          <a:bodyPr/>
          <a:lstStyle/>
          <a:p>
            <a:endParaRPr lang="hr-H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110812" y="506632"/>
            <a:ext cx="5921896" cy="5921896"/>
          </a:xfr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10812" y="506632"/>
            <a:ext cx="5921896" cy="5921896"/>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10812" y="506632"/>
            <a:ext cx="5921896" cy="5921896"/>
          </a:xfrm>
          <a:prstGeom prst="rect">
            <a:avLst/>
          </a:prstGeom>
        </p:spPr>
      </p:pic>
    </p:spTree>
    <p:extLst>
      <p:ext uri="{BB962C8B-B14F-4D97-AF65-F5344CB8AC3E}">
        <p14:creationId xmlns:p14="http://schemas.microsoft.com/office/powerpoint/2010/main" val="3264389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pic>
        <p:nvPicPr>
          <p:cNvPr id="4" name="Content Placeholder 3" descr="boja1.jpg"/>
          <p:cNvPicPr>
            <a:picLocks noGrp="1" noChangeAspect="1"/>
          </p:cNvPicPr>
          <p:nvPr>
            <p:ph idx="1"/>
          </p:nvPr>
        </p:nvPicPr>
        <p:blipFill>
          <a:blip r:embed="rId2" cstate="print"/>
          <a:stretch>
            <a:fillRect/>
          </a:stretch>
        </p:blipFill>
        <p:spPr>
          <a:xfrm>
            <a:off x="3359696" y="548681"/>
            <a:ext cx="5688632" cy="5697763"/>
          </a:xfrm>
        </p:spPr>
      </p:pic>
      <p:pic>
        <p:nvPicPr>
          <p:cNvPr id="5" name="Picture 4" descr="boja2.jpg"/>
          <p:cNvPicPr>
            <a:picLocks noChangeAspect="1"/>
          </p:cNvPicPr>
          <p:nvPr/>
        </p:nvPicPr>
        <p:blipFill>
          <a:blip r:embed="rId3" cstate="print"/>
          <a:stretch>
            <a:fillRect/>
          </a:stretch>
        </p:blipFill>
        <p:spPr>
          <a:xfrm>
            <a:off x="3359696" y="548681"/>
            <a:ext cx="5688632" cy="5697763"/>
          </a:xfrm>
          <a:prstGeom prst="rect">
            <a:avLst/>
          </a:prstGeom>
        </p:spPr>
      </p:pic>
      <p:pic>
        <p:nvPicPr>
          <p:cNvPr id="6" name="Picture 5" descr="boja3.jpg"/>
          <p:cNvPicPr>
            <a:picLocks noChangeAspect="1"/>
          </p:cNvPicPr>
          <p:nvPr/>
        </p:nvPicPr>
        <p:blipFill>
          <a:blip r:embed="rId4" cstate="print"/>
          <a:stretch>
            <a:fillRect/>
          </a:stretch>
        </p:blipFill>
        <p:spPr>
          <a:xfrm>
            <a:off x="3359697" y="548680"/>
            <a:ext cx="5688631" cy="5697762"/>
          </a:xfrm>
          <a:prstGeom prst="rect">
            <a:avLst/>
          </a:prstGeom>
        </p:spPr>
      </p:pic>
    </p:spTree>
    <p:extLst>
      <p:ext uri="{BB962C8B-B14F-4D97-AF65-F5344CB8AC3E}">
        <p14:creationId xmlns:p14="http://schemas.microsoft.com/office/powerpoint/2010/main" val="41983250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701528" y="1063278"/>
            <a:ext cx="6788944" cy="4525963"/>
          </a:xfrm>
        </p:spPr>
      </p:pic>
    </p:spTree>
    <p:extLst>
      <p:ext uri="{BB962C8B-B14F-4D97-AF65-F5344CB8AC3E}">
        <p14:creationId xmlns:p14="http://schemas.microsoft.com/office/powerpoint/2010/main" val="21791758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idx="1"/>
          </p:nvPr>
        </p:nvSpPr>
        <p:spPr/>
        <p:txBody>
          <a:bodyPr/>
          <a:lstStyle/>
          <a:p>
            <a:endParaRPr lang="hr-HR"/>
          </a:p>
        </p:txBody>
      </p:sp>
      <p:pic>
        <p:nvPicPr>
          <p:cNvPr id="4" name="Content Placeholder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53150" y="730166"/>
            <a:ext cx="5723171" cy="5723171"/>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7062" y="734078"/>
            <a:ext cx="5719258" cy="5719258"/>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57062" y="734078"/>
            <a:ext cx="5719258" cy="5719258"/>
          </a:xfrm>
          <a:prstGeom prst="rect">
            <a:avLst/>
          </a:prstGeom>
        </p:spPr>
      </p:pic>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57062" y="734078"/>
            <a:ext cx="5719258" cy="5719258"/>
          </a:xfrm>
          <a:prstGeom prst="rect">
            <a:avLst/>
          </a:prstGeom>
        </p:spPr>
      </p:pic>
      <p:pic>
        <p:nvPicPr>
          <p:cNvPr id="8" name="Pictur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257062" y="734078"/>
            <a:ext cx="5719258" cy="5719258"/>
          </a:xfrm>
          <a:prstGeom prst="rect">
            <a:avLst/>
          </a:prstGeom>
        </p:spPr>
      </p:pic>
      <p:pic>
        <p:nvPicPr>
          <p:cNvPr id="9" name="Picture 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57062" y="734078"/>
            <a:ext cx="5719258" cy="5719258"/>
          </a:xfrm>
          <a:prstGeom prst="rect">
            <a:avLst/>
          </a:prstGeom>
        </p:spPr>
      </p:pic>
      <p:pic>
        <p:nvPicPr>
          <p:cNvPr id="10" name="Picture 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57062" y="734078"/>
            <a:ext cx="5719258" cy="5719258"/>
          </a:xfrm>
          <a:prstGeom prst="rect">
            <a:avLst/>
          </a:prstGeom>
        </p:spPr>
      </p:pic>
    </p:spTree>
    <p:extLst>
      <p:ext uri="{BB962C8B-B14F-4D97-AF65-F5344CB8AC3E}">
        <p14:creationId xmlns:p14="http://schemas.microsoft.com/office/powerpoint/2010/main" val="3853904159"/>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16CE1-B2D2-4DC9-AB1A-12102BACB79E}"/>
              </a:ext>
            </a:extLst>
          </p:cNvPr>
          <p:cNvSpPr>
            <a:spLocks noGrp="1"/>
          </p:cNvSpPr>
          <p:nvPr>
            <p:ph type="title"/>
          </p:nvPr>
        </p:nvSpPr>
        <p:spPr/>
        <p:txBody>
          <a:bodyPr/>
          <a:lstStyle/>
          <a:p>
            <a:endParaRPr lang="hr-HR"/>
          </a:p>
        </p:txBody>
      </p:sp>
      <p:sp>
        <p:nvSpPr>
          <p:cNvPr id="3" name="Content Placeholder 2">
            <a:extLst>
              <a:ext uri="{FF2B5EF4-FFF2-40B4-BE49-F238E27FC236}">
                <a16:creationId xmlns:a16="http://schemas.microsoft.com/office/drawing/2014/main" id="{16CBA8EF-6843-4734-9118-FE6128FA4AAD}"/>
              </a:ext>
            </a:extLst>
          </p:cNvPr>
          <p:cNvSpPr>
            <a:spLocks noGrp="1"/>
          </p:cNvSpPr>
          <p:nvPr>
            <p:ph idx="1"/>
          </p:nvPr>
        </p:nvSpPr>
        <p:spPr>
          <a:xfrm>
            <a:off x="838200" y="821635"/>
            <a:ext cx="10515600" cy="5355328"/>
          </a:xfrm>
        </p:spPr>
        <p:txBody>
          <a:bodyPr>
            <a:normAutofit lnSpcReduction="10000"/>
          </a:bodyPr>
          <a:lstStyle/>
          <a:p>
            <a:pPr marL="0" indent="0">
              <a:buNone/>
            </a:pPr>
            <a:r>
              <a:rPr lang="hr-HR" sz="3200" dirty="0">
                <a:latin typeface="Times New Roman" panose="02020603050405020304" pitchFamily="18" charset="0"/>
                <a:cs typeface="Times New Roman" panose="02020603050405020304" pitchFamily="18" charset="0"/>
              </a:rPr>
              <a:t>Razlikujemo ih po: </a:t>
            </a:r>
            <a:r>
              <a:rPr lang="hr-HR" sz="3200" b="1" dirty="0">
                <a:latin typeface="Times New Roman" panose="02020603050405020304" pitchFamily="18" charset="0"/>
                <a:cs typeface="Times New Roman" panose="02020603050405020304" pitchFamily="18" charset="0"/>
              </a:rPr>
              <a:t>toku, karakteru i usmjerenju</a:t>
            </a:r>
          </a:p>
          <a:p>
            <a:pPr marL="0" indent="0">
              <a:buNone/>
            </a:pPr>
            <a:endParaRPr lang="hr-HR" sz="3200" b="1" dirty="0">
              <a:latin typeface="Times New Roman" panose="02020603050405020304" pitchFamily="18" charset="0"/>
              <a:cs typeface="Times New Roman" panose="02020603050405020304" pitchFamily="18" charset="0"/>
            </a:endParaRPr>
          </a:p>
          <a:p>
            <a:r>
              <a:rPr lang="hr-HR" sz="3200" b="1" dirty="0">
                <a:latin typeface="Times New Roman" panose="02020603050405020304" pitchFamily="18" charset="0"/>
                <a:cs typeface="Times New Roman" panose="02020603050405020304" pitchFamily="18" charset="0"/>
              </a:rPr>
              <a:t>TOK: </a:t>
            </a:r>
            <a:r>
              <a:rPr lang="hr-HR" sz="3200" dirty="0">
                <a:latin typeface="Times New Roman" panose="02020603050405020304" pitchFamily="18" charset="0"/>
                <a:cs typeface="Times New Roman" panose="02020603050405020304" pitchFamily="18" charset="0"/>
              </a:rPr>
              <a:t>način na koji crta ‘teče’: ravno, valovito, cik-cak, uglato, zakrivljeno</a:t>
            </a:r>
          </a:p>
          <a:p>
            <a:endParaRPr lang="hr-HR" sz="3200" dirty="0">
              <a:latin typeface="Times New Roman" panose="02020603050405020304" pitchFamily="18" charset="0"/>
              <a:cs typeface="Times New Roman" panose="02020603050405020304" pitchFamily="18" charset="0"/>
            </a:endParaRPr>
          </a:p>
          <a:p>
            <a:r>
              <a:rPr lang="hr-HR" sz="3200" b="1" dirty="0">
                <a:latin typeface="Times New Roman" panose="02020603050405020304" pitchFamily="18" charset="0"/>
                <a:cs typeface="Times New Roman" panose="02020603050405020304" pitchFamily="18" charset="0"/>
              </a:rPr>
              <a:t>KARAKTER: </a:t>
            </a:r>
            <a:r>
              <a:rPr lang="hr-HR" sz="3200" dirty="0">
                <a:latin typeface="Times New Roman" panose="02020603050405020304" pitchFamily="18" charset="0"/>
                <a:cs typeface="Times New Roman" panose="02020603050405020304" pitchFamily="18" charset="0"/>
              </a:rPr>
              <a:t>opisuje kakva je narav crte – tanka, debela, oštra, meka, prozirna, gusta, isprekidana, kontinuirana, istočkana, kratka, dugačka...</a:t>
            </a:r>
          </a:p>
          <a:p>
            <a:endParaRPr lang="hr-HR" sz="3200" dirty="0">
              <a:latin typeface="Times New Roman" panose="02020603050405020304" pitchFamily="18" charset="0"/>
              <a:cs typeface="Times New Roman" panose="02020603050405020304" pitchFamily="18" charset="0"/>
            </a:endParaRPr>
          </a:p>
          <a:p>
            <a:r>
              <a:rPr lang="hr-HR" sz="3200" b="1" dirty="0">
                <a:latin typeface="Times New Roman" panose="02020603050405020304" pitchFamily="18" charset="0"/>
                <a:cs typeface="Times New Roman" panose="02020603050405020304" pitchFamily="18" charset="0"/>
              </a:rPr>
              <a:t>USMJERENJE: </a:t>
            </a:r>
            <a:r>
              <a:rPr lang="hr-HR" sz="3200" dirty="0">
                <a:latin typeface="Times New Roman" panose="02020603050405020304" pitchFamily="18" charset="0"/>
                <a:cs typeface="Times New Roman" panose="02020603050405020304" pitchFamily="18" charset="0"/>
              </a:rPr>
              <a:t>osnovni smjer cijele crte, neovisno o toku i karakteru – vodoravno, okomito, koso, dijagonalno</a:t>
            </a:r>
          </a:p>
          <a:p>
            <a:pPr marL="0" indent="0" algn="ctr">
              <a:buNone/>
            </a:pPr>
            <a:endParaRPr lang="hr-HR" dirty="0"/>
          </a:p>
        </p:txBody>
      </p:sp>
    </p:spTree>
    <p:extLst>
      <p:ext uri="{BB962C8B-B14F-4D97-AF65-F5344CB8AC3E}">
        <p14:creationId xmlns:p14="http://schemas.microsoft.com/office/powerpoint/2010/main" val="1950694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669AA-D3E4-4568-A317-88E6F3E92C18}"/>
              </a:ext>
            </a:extLst>
          </p:cNvPr>
          <p:cNvSpPr>
            <a:spLocks noGrp="1"/>
          </p:cNvSpPr>
          <p:nvPr>
            <p:ph type="title"/>
          </p:nvPr>
        </p:nvSpPr>
        <p:spPr/>
        <p:txBody>
          <a:bodyPr/>
          <a:lstStyle/>
          <a:p>
            <a:endParaRPr lang="hr-HR"/>
          </a:p>
        </p:txBody>
      </p:sp>
      <p:sp>
        <p:nvSpPr>
          <p:cNvPr id="3" name="Content Placeholder 2">
            <a:extLst>
              <a:ext uri="{FF2B5EF4-FFF2-40B4-BE49-F238E27FC236}">
                <a16:creationId xmlns:a16="http://schemas.microsoft.com/office/drawing/2014/main" id="{177E41B1-F556-45B5-AED6-189E5585BFBB}"/>
              </a:ext>
            </a:extLst>
          </p:cNvPr>
          <p:cNvSpPr>
            <a:spLocks noGrp="1"/>
          </p:cNvSpPr>
          <p:nvPr>
            <p:ph idx="1"/>
          </p:nvPr>
        </p:nvSpPr>
        <p:spPr/>
        <p:txBody>
          <a:bodyPr/>
          <a:lstStyle/>
          <a:p>
            <a:pPr marL="0" indent="0">
              <a:buNone/>
            </a:pPr>
            <a:r>
              <a:rPr lang="hr-HR" dirty="0">
                <a:latin typeface="Times New Roman" panose="02020603050405020304" pitchFamily="18" charset="0"/>
                <a:cs typeface="Times New Roman" panose="02020603050405020304" pitchFamily="18" charset="0"/>
              </a:rPr>
              <a:t>Određivanje crte prema značenju: </a:t>
            </a:r>
          </a:p>
          <a:p>
            <a:pPr marL="0" indent="0">
              <a:buNone/>
            </a:pPr>
            <a:endParaRPr lang="hr-HR" dirty="0">
              <a:latin typeface="Times New Roman" panose="02020603050405020304" pitchFamily="18" charset="0"/>
              <a:cs typeface="Times New Roman" panose="02020603050405020304" pitchFamily="18" charset="0"/>
            </a:endParaRPr>
          </a:p>
          <a:p>
            <a:pPr algn="ctr"/>
            <a:r>
              <a:rPr lang="hr-HR" b="1" dirty="0">
                <a:latin typeface="Times New Roman" panose="02020603050405020304" pitchFamily="18" charset="0"/>
                <a:cs typeface="Times New Roman" panose="02020603050405020304" pitchFamily="18" charset="0"/>
              </a:rPr>
              <a:t>Obrisna</a:t>
            </a:r>
          </a:p>
          <a:p>
            <a:pPr algn="ctr"/>
            <a:endParaRPr lang="hr-HR" b="1" dirty="0">
              <a:latin typeface="Times New Roman" panose="02020603050405020304" pitchFamily="18" charset="0"/>
              <a:cs typeface="Times New Roman" panose="02020603050405020304" pitchFamily="18" charset="0"/>
            </a:endParaRPr>
          </a:p>
          <a:p>
            <a:pPr algn="ctr"/>
            <a:r>
              <a:rPr lang="hr-HR" b="1" dirty="0">
                <a:latin typeface="Times New Roman" panose="02020603050405020304" pitchFamily="18" charset="0"/>
                <a:cs typeface="Times New Roman" panose="02020603050405020304" pitchFamily="18" charset="0"/>
              </a:rPr>
              <a:t>Strukturalna</a:t>
            </a:r>
          </a:p>
          <a:p>
            <a:pPr algn="ctr"/>
            <a:endParaRPr lang="hr-HR" b="1" dirty="0">
              <a:latin typeface="Times New Roman" panose="02020603050405020304" pitchFamily="18" charset="0"/>
              <a:cs typeface="Times New Roman" panose="02020603050405020304" pitchFamily="18" charset="0"/>
            </a:endParaRPr>
          </a:p>
          <a:p>
            <a:pPr algn="ctr"/>
            <a:r>
              <a:rPr lang="hr-HR" b="1" dirty="0">
                <a:latin typeface="Times New Roman" panose="02020603050405020304" pitchFamily="18" charset="0"/>
                <a:cs typeface="Times New Roman" panose="02020603050405020304" pitchFamily="18" charset="0"/>
              </a:rPr>
              <a:t>Teksturna </a:t>
            </a:r>
          </a:p>
        </p:txBody>
      </p:sp>
    </p:spTree>
    <p:extLst>
      <p:ext uri="{BB962C8B-B14F-4D97-AF65-F5344CB8AC3E}">
        <p14:creationId xmlns:p14="http://schemas.microsoft.com/office/powerpoint/2010/main" val="700113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862A7-CA6C-486F-9678-F3331E11D4F3}"/>
              </a:ext>
            </a:extLst>
          </p:cNvPr>
          <p:cNvSpPr>
            <a:spLocks noGrp="1"/>
          </p:cNvSpPr>
          <p:nvPr>
            <p:ph type="title"/>
          </p:nvPr>
        </p:nvSpPr>
        <p:spPr/>
        <p:txBody>
          <a:bodyPr/>
          <a:lstStyle/>
          <a:p>
            <a:endParaRPr lang="hr-HR"/>
          </a:p>
        </p:txBody>
      </p:sp>
      <p:pic>
        <p:nvPicPr>
          <p:cNvPr id="4" name="Content Placeholder 4">
            <a:extLst>
              <a:ext uri="{FF2B5EF4-FFF2-40B4-BE49-F238E27FC236}">
                <a16:creationId xmlns:a16="http://schemas.microsoft.com/office/drawing/2014/main" id="{C0FD024C-BABC-4223-A609-4D24C2F17D1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14295" y="2273382"/>
            <a:ext cx="3729171" cy="2952928"/>
          </a:xfrm>
        </p:spPr>
      </p:pic>
      <p:pic>
        <p:nvPicPr>
          <p:cNvPr id="5" name="Picture 4">
            <a:extLst>
              <a:ext uri="{FF2B5EF4-FFF2-40B4-BE49-F238E27FC236}">
                <a16:creationId xmlns:a16="http://schemas.microsoft.com/office/drawing/2014/main" id="{904F5CAB-7357-4B5A-A61A-4B74F2C912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969" y="1279594"/>
            <a:ext cx="3333135" cy="4529410"/>
          </a:xfrm>
          <a:prstGeom prst="rect">
            <a:avLst/>
          </a:prstGeom>
        </p:spPr>
      </p:pic>
      <p:pic>
        <p:nvPicPr>
          <p:cNvPr id="6" name="Picture 5">
            <a:extLst>
              <a:ext uri="{FF2B5EF4-FFF2-40B4-BE49-F238E27FC236}">
                <a16:creationId xmlns:a16="http://schemas.microsoft.com/office/drawing/2014/main" id="{95C8BCC7-C34C-4276-8095-7C3FDAEE72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99657" y="2138808"/>
            <a:ext cx="4692343" cy="3222075"/>
          </a:xfrm>
          <a:prstGeom prst="rect">
            <a:avLst/>
          </a:prstGeom>
        </p:spPr>
      </p:pic>
      <p:sp>
        <p:nvSpPr>
          <p:cNvPr id="7" name="TextBox 6">
            <a:extLst>
              <a:ext uri="{FF2B5EF4-FFF2-40B4-BE49-F238E27FC236}">
                <a16:creationId xmlns:a16="http://schemas.microsoft.com/office/drawing/2014/main" id="{691C8E69-7401-47E1-8FFF-1B3BC3D1BF4F}"/>
              </a:ext>
            </a:extLst>
          </p:cNvPr>
          <p:cNvSpPr txBox="1"/>
          <p:nvPr/>
        </p:nvSpPr>
        <p:spPr>
          <a:xfrm>
            <a:off x="124969" y="5397910"/>
            <a:ext cx="3333135" cy="923330"/>
          </a:xfrm>
          <a:prstGeom prst="rect">
            <a:avLst/>
          </a:prstGeom>
          <a:noFill/>
        </p:spPr>
        <p:txBody>
          <a:bodyPr wrap="square" rtlCol="0">
            <a:spAutoFit/>
          </a:bodyPr>
          <a:lstStyle/>
          <a:p>
            <a:pPr algn="ctr"/>
            <a:endParaRPr lang="hr-HR" dirty="0">
              <a:latin typeface="Times New Roman" panose="02020603050405020304" pitchFamily="18" charset="0"/>
              <a:cs typeface="Times New Roman" panose="02020603050405020304" pitchFamily="18" charset="0"/>
            </a:endParaRPr>
          </a:p>
          <a:p>
            <a:pPr algn="ctr"/>
            <a:endParaRPr lang="hr-HR" dirty="0">
              <a:latin typeface="Times New Roman" panose="02020603050405020304" pitchFamily="18" charset="0"/>
              <a:cs typeface="Times New Roman" panose="02020603050405020304" pitchFamily="18" charset="0"/>
            </a:endParaRPr>
          </a:p>
          <a:p>
            <a:pPr algn="ctr"/>
            <a:r>
              <a:rPr lang="hr-HR" dirty="0">
                <a:latin typeface="Times New Roman" panose="02020603050405020304" pitchFamily="18" charset="0"/>
                <a:cs typeface="Times New Roman" panose="02020603050405020304" pitchFamily="18" charset="0"/>
              </a:rPr>
              <a:t>Pablo Picasso, </a:t>
            </a:r>
            <a:r>
              <a:rPr lang="hr-HR" i="1" dirty="0">
                <a:latin typeface="Times New Roman" panose="02020603050405020304" pitchFamily="18" charset="0"/>
                <a:cs typeface="Times New Roman" panose="02020603050405020304" pitchFamily="18" charset="0"/>
              </a:rPr>
              <a:t>Glava žene</a:t>
            </a:r>
            <a:r>
              <a:rPr lang="hr-HR" dirty="0">
                <a:latin typeface="Times New Roman" panose="02020603050405020304" pitchFamily="18" charset="0"/>
                <a:cs typeface="Times New Roman" panose="02020603050405020304" pitchFamily="18" charset="0"/>
              </a:rPr>
              <a:t> </a:t>
            </a:r>
          </a:p>
        </p:txBody>
      </p:sp>
      <p:sp>
        <p:nvSpPr>
          <p:cNvPr id="9" name="TextBox 8">
            <a:extLst>
              <a:ext uri="{FF2B5EF4-FFF2-40B4-BE49-F238E27FC236}">
                <a16:creationId xmlns:a16="http://schemas.microsoft.com/office/drawing/2014/main" id="{E169A80B-A796-43BD-A963-F7263529CCF3}"/>
              </a:ext>
            </a:extLst>
          </p:cNvPr>
          <p:cNvSpPr txBox="1"/>
          <p:nvPr/>
        </p:nvSpPr>
        <p:spPr>
          <a:xfrm>
            <a:off x="3614295" y="5226310"/>
            <a:ext cx="3729171" cy="646331"/>
          </a:xfrm>
          <a:prstGeom prst="rect">
            <a:avLst/>
          </a:prstGeom>
          <a:noFill/>
        </p:spPr>
        <p:txBody>
          <a:bodyPr wrap="square" rtlCol="0">
            <a:spAutoFit/>
          </a:bodyPr>
          <a:lstStyle/>
          <a:p>
            <a:pPr algn="ctr"/>
            <a:r>
              <a:rPr lang="hr-HR" dirty="0">
                <a:latin typeface="Times New Roman" panose="02020603050405020304" pitchFamily="18" charset="0"/>
                <a:cs typeface="Times New Roman" panose="02020603050405020304" pitchFamily="18" charset="0"/>
              </a:rPr>
              <a:t>La Linea</a:t>
            </a:r>
          </a:p>
          <a:p>
            <a:pPr algn="ctr"/>
            <a:endParaRPr lang="hr-HR"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D86A734-9DBE-4FD5-878D-D810A4C077AF}"/>
              </a:ext>
            </a:extLst>
          </p:cNvPr>
          <p:cNvSpPr txBox="1"/>
          <p:nvPr/>
        </p:nvSpPr>
        <p:spPr>
          <a:xfrm>
            <a:off x="7499657" y="5549475"/>
            <a:ext cx="4692343" cy="369332"/>
          </a:xfrm>
          <a:prstGeom prst="rect">
            <a:avLst/>
          </a:prstGeom>
          <a:noFill/>
        </p:spPr>
        <p:txBody>
          <a:bodyPr wrap="square" rtlCol="0">
            <a:spAutoFit/>
          </a:bodyPr>
          <a:lstStyle/>
          <a:p>
            <a:pPr algn="ctr"/>
            <a:r>
              <a:rPr lang="hr-HR" dirty="0">
                <a:latin typeface="Times New Roman" panose="02020603050405020304" pitchFamily="18" charset="0"/>
                <a:cs typeface="Times New Roman" panose="02020603050405020304" pitchFamily="18" charset="0"/>
              </a:rPr>
              <a:t>Claude Monet, </a:t>
            </a:r>
            <a:r>
              <a:rPr lang="hr-HR" i="1" dirty="0">
                <a:latin typeface="Times New Roman" panose="02020603050405020304" pitchFamily="18" charset="0"/>
                <a:cs typeface="Times New Roman" panose="02020603050405020304" pitchFamily="18" charset="0"/>
              </a:rPr>
              <a:t>Pogled na Rouen</a:t>
            </a:r>
            <a:r>
              <a:rPr lang="hr-HR" dirty="0">
                <a:latin typeface="Times New Roman" panose="02020603050405020304" pitchFamily="18" charset="0"/>
                <a:cs typeface="Times New Roman" panose="02020603050405020304" pitchFamily="18" charset="0"/>
              </a:rPr>
              <a:t>, 1902.</a:t>
            </a:r>
          </a:p>
        </p:txBody>
      </p:sp>
      <p:sp>
        <p:nvSpPr>
          <p:cNvPr id="11" name="TextBox 10">
            <a:extLst>
              <a:ext uri="{FF2B5EF4-FFF2-40B4-BE49-F238E27FC236}">
                <a16:creationId xmlns:a16="http://schemas.microsoft.com/office/drawing/2014/main" id="{8C6A1643-539E-4F7B-AA5A-87344A9C7092}"/>
              </a:ext>
            </a:extLst>
          </p:cNvPr>
          <p:cNvSpPr txBox="1"/>
          <p:nvPr/>
        </p:nvSpPr>
        <p:spPr>
          <a:xfrm>
            <a:off x="124968" y="508308"/>
            <a:ext cx="3333135" cy="646331"/>
          </a:xfrm>
          <a:prstGeom prst="rect">
            <a:avLst/>
          </a:prstGeom>
          <a:noFill/>
        </p:spPr>
        <p:txBody>
          <a:bodyPr wrap="square" rtlCol="0">
            <a:spAutoFit/>
          </a:bodyPr>
          <a:lstStyle/>
          <a:p>
            <a:pPr algn="ctr"/>
            <a:endParaRPr lang="hr-HR" dirty="0">
              <a:latin typeface="Times New Roman" panose="02020603050405020304" pitchFamily="18" charset="0"/>
              <a:cs typeface="Times New Roman" panose="02020603050405020304" pitchFamily="18" charset="0"/>
            </a:endParaRPr>
          </a:p>
          <a:p>
            <a:pPr algn="ctr"/>
            <a:r>
              <a:rPr lang="hr-HR" b="1" dirty="0">
                <a:latin typeface="Times New Roman" panose="02020603050405020304" pitchFamily="18" charset="0"/>
                <a:cs typeface="Times New Roman" panose="02020603050405020304" pitchFamily="18" charset="0"/>
              </a:rPr>
              <a:t>Strukturalne crte</a:t>
            </a:r>
          </a:p>
        </p:txBody>
      </p:sp>
      <p:sp>
        <p:nvSpPr>
          <p:cNvPr id="12" name="TextBox 11">
            <a:extLst>
              <a:ext uri="{FF2B5EF4-FFF2-40B4-BE49-F238E27FC236}">
                <a16:creationId xmlns:a16="http://schemas.microsoft.com/office/drawing/2014/main" id="{F64ED021-7AE5-45FD-B212-283EE0AC6773}"/>
              </a:ext>
            </a:extLst>
          </p:cNvPr>
          <p:cNvSpPr txBox="1"/>
          <p:nvPr/>
        </p:nvSpPr>
        <p:spPr>
          <a:xfrm>
            <a:off x="3731342" y="1690688"/>
            <a:ext cx="3451123" cy="369332"/>
          </a:xfrm>
          <a:prstGeom prst="rect">
            <a:avLst/>
          </a:prstGeom>
          <a:noFill/>
        </p:spPr>
        <p:txBody>
          <a:bodyPr wrap="square" rtlCol="0">
            <a:spAutoFit/>
          </a:bodyPr>
          <a:lstStyle/>
          <a:p>
            <a:pPr algn="ctr"/>
            <a:r>
              <a:rPr lang="hr-HR" b="1" dirty="0">
                <a:latin typeface="Times New Roman" panose="02020603050405020304" pitchFamily="18" charset="0"/>
                <a:cs typeface="Times New Roman" panose="02020603050405020304" pitchFamily="18" charset="0"/>
              </a:rPr>
              <a:t>Obrisne crte</a:t>
            </a:r>
          </a:p>
        </p:txBody>
      </p:sp>
      <p:sp>
        <p:nvSpPr>
          <p:cNvPr id="13" name="TextBox 12">
            <a:extLst>
              <a:ext uri="{FF2B5EF4-FFF2-40B4-BE49-F238E27FC236}">
                <a16:creationId xmlns:a16="http://schemas.microsoft.com/office/drawing/2014/main" id="{3B4A7F46-24E8-491B-8A4E-3E0DBB28BC55}"/>
              </a:ext>
            </a:extLst>
          </p:cNvPr>
          <p:cNvSpPr txBox="1"/>
          <p:nvPr/>
        </p:nvSpPr>
        <p:spPr>
          <a:xfrm>
            <a:off x="7499657" y="1519084"/>
            <a:ext cx="4692343" cy="646331"/>
          </a:xfrm>
          <a:prstGeom prst="rect">
            <a:avLst/>
          </a:prstGeom>
          <a:noFill/>
        </p:spPr>
        <p:txBody>
          <a:bodyPr wrap="square" rtlCol="0">
            <a:spAutoFit/>
          </a:bodyPr>
          <a:lstStyle/>
          <a:p>
            <a:pPr algn="ctr"/>
            <a:r>
              <a:rPr lang="hr-HR" b="1" dirty="0">
                <a:latin typeface="Times New Roman" panose="02020603050405020304" pitchFamily="18" charset="0"/>
                <a:cs typeface="Times New Roman" panose="02020603050405020304" pitchFamily="18" charset="0"/>
              </a:rPr>
              <a:t>Teksturne crte</a:t>
            </a:r>
          </a:p>
          <a:p>
            <a:pPr algn="ctr"/>
            <a:endParaRPr lang="hr-H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8141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91747-2A52-46F9-842F-23490179461A}"/>
              </a:ext>
            </a:extLst>
          </p:cNvPr>
          <p:cNvSpPr>
            <a:spLocks noGrp="1"/>
          </p:cNvSpPr>
          <p:nvPr>
            <p:ph type="title"/>
          </p:nvPr>
        </p:nvSpPr>
        <p:spPr/>
        <p:txBody>
          <a:bodyPr>
            <a:normAutofit/>
          </a:bodyPr>
          <a:lstStyle/>
          <a:p>
            <a:pPr algn="ctr"/>
            <a:r>
              <a:rPr lang="hr-HR" sz="2000" dirty="0">
                <a:latin typeface="Times New Roman" panose="02020603050405020304" pitchFamily="18" charset="0"/>
                <a:cs typeface="Times New Roman" panose="02020603050405020304" pitchFamily="18" charset="0"/>
              </a:rPr>
              <a:t>Opišite na primjeru kakve su linije po toku, a kakve po karakteru.</a:t>
            </a:r>
          </a:p>
        </p:txBody>
      </p:sp>
      <p:pic>
        <p:nvPicPr>
          <p:cNvPr id="4" name="Content Placeholder 3">
            <a:extLst>
              <a:ext uri="{FF2B5EF4-FFF2-40B4-BE49-F238E27FC236}">
                <a16:creationId xmlns:a16="http://schemas.microsoft.com/office/drawing/2014/main" id="{EA581CC8-0463-42A4-90D6-82B8C76285D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24214" y="1393825"/>
            <a:ext cx="6143572" cy="4351338"/>
          </a:xfrm>
          <a:prstGeom prst="rect">
            <a:avLst/>
          </a:prstGeom>
        </p:spPr>
      </p:pic>
      <p:sp>
        <p:nvSpPr>
          <p:cNvPr id="3" name="TextBox 2">
            <a:extLst>
              <a:ext uri="{FF2B5EF4-FFF2-40B4-BE49-F238E27FC236}">
                <a16:creationId xmlns:a16="http://schemas.microsoft.com/office/drawing/2014/main" id="{E9085185-B129-4AE5-9B43-D78E83772994}"/>
              </a:ext>
            </a:extLst>
          </p:cNvPr>
          <p:cNvSpPr txBox="1"/>
          <p:nvPr/>
        </p:nvSpPr>
        <p:spPr>
          <a:xfrm>
            <a:off x="3009900" y="5753100"/>
            <a:ext cx="6159500" cy="369332"/>
          </a:xfrm>
          <a:prstGeom prst="rect">
            <a:avLst/>
          </a:prstGeom>
          <a:noFill/>
        </p:spPr>
        <p:txBody>
          <a:bodyPr wrap="square" rtlCol="0">
            <a:spAutoFit/>
          </a:bodyPr>
          <a:lstStyle/>
          <a:p>
            <a:pPr algn="ctr"/>
            <a:r>
              <a:rPr lang="hr-HR" dirty="0">
                <a:latin typeface="Times New Roman" panose="02020603050405020304" pitchFamily="18" charset="0"/>
                <a:cs typeface="Times New Roman" panose="02020603050405020304" pitchFamily="18" charset="0"/>
              </a:rPr>
              <a:t>Tošo Dabac, </a:t>
            </a:r>
            <a:r>
              <a:rPr lang="hr-HR" i="1" dirty="0">
                <a:latin typeface="Times New Roman" panose="02020603050405020304" pitchFamily="18" charset="0"/>
                <a:cs typeface="Times New Roman" panose="02020603050405020304" pitchFamily="18" charset="0"/>
              </a:rPr>
              <a:t>Stube</a:t>
            </a:r>
            <a:r>
              <a:rPr lang="hr-HR" dirty="0">
                <a:latin typeface="Times New Roman" panose="02020603050405020304" pitchFamily="18" charset="0"/>
                <a:cs typeface="Times New Roman" panose="02020603050405020304" pitchFamily="18" charset="0"/>
              </a:rPr>
              <a:t>, 1940.</a:t>
            </a:r>
          </a:p>
        </p:txBody>
      </p:sp>
    </p:spTree>
    <p:extLst>
      <p:ext uri="{BB962C8B-B14F-4D97-AF65-F5344CB8AC3E}">
        <p14:creationId xmlns:p14="http://schemas.microsoft.com/office/powerpoint/2010/main" val="8526551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CD9E2-C988-4579-B8CD-CFA93C95F3DC}"/>
              </a:ext>
            </a:extLst>
          </p:cNvPr>
          <p:cNvSpPr>
            <a:spLocks noGrp="1"/>
          </p:cNvSpPr>
          <p:nvPr>
            <p:ph type="title"/>
          </p:nvPr>
        </p:nvSpPr>
        <p:spPr/>
        <p:txBody>
          <a:bodyPr/>
          <a:lstStyle/>
          <a:p>
            <a:endParaRPr lang="hr-HR"/>
          </a:p>
        </p:txBody>
      </p:sp>
      <p:sp>
        <p:nvSpPr>
          <p:cNvPr id="3" name="Content Placeholder 2">
            <a:extLst>
              <a:ext uri="{FF2B5EF4-FFF2-40B4-BE49-F238E27FC236}">
                <a16:creationId xmlns:a16="http://schemas.microsoft.com/office/drawing/2014/main" id="{17D81513-8007-48FA-A745-FC2D6DFAF8A1}"/>
              </a:ext>
            </a:extLst>
          </p:cNvPr>
          <p:cNvSpPr>
            <a:spLocks noGrp="1"/>
          </p:cNvSpPr>
          <p:nvPr>
            <p:ph idx="1"/>
          </p:nvPr>
        </p:nvSpPr>
        <p:spPr/>
        <p:txBody>
          <a:bodyPr>
            <a:normAutofit/>
          </a:bodyPr>
          <a:lstStyle/>
          <a:p>
            <a:pPr marL="0" indent="0">
              <a:buNone/>
            </a:pPr>
            <a:r>
              <a:rPr lang="hr-HR" sz="4000" dirty="0">
                <a:latin typeface="Times New Roman" panose="02020603050405020304" pitchFamily="18" charset="0"/>
                <a:cs typeface="Times New Roman" panose="02020603050405020304" pitchFamily="18" charset="0"/>
              </a:rPr>
              <a:t>Po toku ravne, po karakteru debele, tanke, svijetle i tamne</a:t>
            </a:r>
          </a:p>
        </p:txBody>
      </p:sp>
    </p:spTree>
    <p:extLst>
      <p:ext uri="{BB962C8B-B14F-4D97-AF65-F5344CB8AC3E}">
        <p14:creationId xmlns:p14="http://schemas.microsoft.com/office/powerpoint/2010/main" val="31307339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0DCE7-E0F5-4FA2-AAF5-6A6FAD7F2829}"/>
              </a:ext>
            </a:extLst>
          </p:cNvPr>
          <p:cNvSpPr>
            <a:spLocks noGrp="1"/>
          </p:cNvSpPr>
          <p:nvPr>
            <p:ph type="title"/>
          </p:nvPr>
        </p:nvSpPr>
        <p:spPr/>
        <p:txBody>
          <a:bodyPr/>
          <a:lstStyle/>
          <a:p>
            <a:endParaRPr lang="hr-HR"/>
          </a:p>
        </p:txBody>
      </p:sp>
      <p:sp>
        <p:nvSpPr>
          <p:cNvPr id="3" name="Content Placeholder 2">
            <a:extLst>
              <a:ext uri="{FF2B5EF4-FFF2-40B4-BE49-F238E27FC236}">
                <a16:creationId xmlns:a16="http://schemas.microsoft.com/office/drawing/2014/main" id="{44B43A95-08C8-421E-B0AF-4AAF86EC67F4}"/>
              </a:ext>
            </a:extLst>
          </p:cNvPr>
          <p:cNvSpPr>
            <a:spLocks noGrp="1"/>
          </p:cNvSpPr>
          <p:nvPr>
            <p:ph idx="1"/>
          </p:nvPr>
        </p:nvSpPr>
        <p:spPr/>
        <p:txBody>
          <a:bodyPr>
            <a:normAutofit lnSpcReduction="10000"/>
          </a:bodyPr>
          <a:lstStyle/>
          <a:p>
            <a:pPr marL="0" indent="0">
              <a:buNone/>
            </a:pPr>
            <a:r>
              <a:rPr lang="hr-HR" sz="3200" dirty="0">
                <a:latin typeface="Times New Roman" panose="02020603050405020304" pitchFamily="18" charset="0"/>
                <a:cs typeface="Times New Roman" panose="02020603050405020304" pitchFamily="18" charset="0"/>
              </a:rPr>
              <a:t>Postizanje privida volumena na plohi pomoću linije (crte)</a:t>
            </a:r>
          </a:p>
          <a:p>
            <a:pPr marL="0" indent="0">
              <a:buNone/>
            </a:pPr>
            <a:endParaRPr lang="hr-HR" sz="3200" dirty="0">
              <a:latin typeface="Times New Roman" panose="02020603050405020304" pitchFamily="18" charset="0"/>
              <a:cs typeface="Times New Roman" panose="02020603050405020304" pitchFamily="18" charset="0"/>
            </a:endParaRPr>
          </a:p>
          <a:p>
            <a:r>
              <a:rPr lang="hr-HR" sz="3200" dirty="0">
                <a:latin typeface="Times New Roman" panose="02020603050405020304" pitchFamily="18" charset="0"/>
                <a:cs typeface="Times New Roman" panose="02020603050405020304" pitchFamily="18" charset="0"/>
              </a:rPr>
              <a:t>Regulacijom </a:t>
            </a:r>
            <a:r>
              <a:rPr lang="hr-HR" sz="3200" b="1" dirty="0">
                <a:latin typeface="Times New Roman" panose="02020603050405020304" pitchFamily="18" charset="0"/>
                <a:cs typeface="Times New Roman" panose="02020603050405020304" pitchFamily="18" charset="0"/>
              </a:rPr>
              <a:t>gustoće crte , </a:t>
            </a:r>
            <a:r>
              <a:rPr lang="hr-HR" sz="3200" dirty="0">
                <a:latin typeface="Times New Roman" panose="02020603050405020304" pitchFamily="18" charset="0"/>
                <a:cs typeface="Times New Roman" panose="02020603050405020304" pitchFamily="18" charset="0"/>
              </a:rPr>
              <a:t>prikaz svjetlijih i tamnijih mjesta, svjetla i sjene – </a:t>
            </a:r>
            <a:r>
              <a:rPr lang="hr-HR" sz="3200" b="1" dirty="0">
                <a:latin typeface="Times New Roman" panose="02020603050405020304" pitchFamily="18" charset="0"/>
                <a:cs typeface="Times New Roman" panose="02020603050405020304" pitchFamily="18" charset="0"/>
              </a:rPr>
              <a:t>iluzija trodimenzionalnosti </a:t>
            </a:r>
            <a:r>
              <a:rPr lang="hr-HR" sz="3200" dirty="0">
                <a:latin typeface="Times New Roman" panose="02020603050405020304" pitchFamily="18" charset="0"/>
                <a:cs typeface="Times New Roman" panose="02020603050405020304" pitchFamily="18" charset="0"/>
              </a:rPr>
              <a:t>na plohi</a:t>
            </a:r>
          </a:p>
          <a:p>
            <a:endParaRPr lang="hr-HR" sz="3200" dirty="0">
              <a:latin typeface="Times New Roman" panose="02020603050405020304" pitchFamily="18" charset="0"/>
              <a:cs typeface="Times New Roman" panose="02020603050405020304" pitchFamily="18" charset="0"/>
            </a:endParaRPr>
          </a:p>
          <a:p>
            <a:r>
              <a:rPr lang="hr-HR" sz="3200" dirty="0">
                <a:latin typeface="Times New Roman" panose="02020603050405020304" pitchFamily="18" charset="0"/>
                <a:cs typeface="Times New Roman" panose="02020603050405020304" pitchFamily="18" charset="0"/>
              </a:rPr>
              <a:t>Isto se može postići i pomoću točaka</a:t>
            </a:r>
          </a:p>
          <a:p>
            <a:endParaRPr lang="hr-HR" sz="3200" dirty="0">
              <a:latin typeface="Times New Roman" panose="02020603050405020304" pitchFamily="18" charset="0"/>
              <a:cs typeface="Times New Roman" panose="02020603050405020304" pitchFamily="18" charset="0"/>
            </a:endParaRPr>
          </a:p>
          <a:p>
            <a:r>
              <a:rPr lang="hr-HR" sz="3200" dirty="0">
                <a:latin typeface="Times New Roman" panose="02020603050405020304" pitchFamily="18" charset="0"/>
                <a:cs typeface="Times New Roman" panose="02020603050405020304" pitchFamily="18" charset="0"/>
              </a:rPr>
              <a:t>Takav način nazivamo </a:t>
            </a:r>
            <a:r>
              <a:rPr lang="hr-HR" sz="3200" b="1" dirty="0">
                <a:latin typeface="Times New Roman" panose="02020603050405020304" pitchFamily="18" charset="0"/>
                <a:cs typeface="Times New Roman" panose="02020603050405020304" pitchFamily="18" charset="0"/>
              </a:rPr>
              <a:t>grafička modelacija</a:t>
            </a:r>
          </a:p>
          <a:p>
            <a:pPr marL="0" indent="0">
              <a:buNone/>
            </a:pPr>
            <a:endParaRPr lang="hr-HR"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0895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pic>
        <p:nvPicPr>
          <p:cNvPr id="1026" name="Picture 2" descr="Black ink drawing on yellow-beige ground of the head and shoulders of an adult woman. She frowns, looks to her left, and holds her right hand up to her right temple. Her hair is pulled back and she wears a dark garmen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84602" y="150405"/>
            <a:ext cx="5822795" cy="582279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352907" y="6066263"/>
            <a:ext cx="7482469" cy="369332"/>
          </a:xfrm>
          <a:prstGeom prst="rect">
            <a:avLst/>
          </a:prstGeom>
          <a:noFill/>
        </p:spPr>
        <p:txBody>
          <a:bodyPr wrap="square" rtlCol="0">
            <a:spAutoFit/>
          </a:bodyPr>
          <a:lstStyle/>
          <a:p>
            <a:pPr algn="ctr"/>
            <a:r>
              <a:rPr lang="hr-HR" dirty="0"/>
              <a:t>Käthe Kollwitz, </a:t>
            </a:r>
            <a:r>
              <a:rPr lang="en-US" i="1" dirty="0" err="1"/>
              <a:t>Autoportret</a:t>
            </a:r>
            <a:r>
              <a:rPr lang="hr-HR" dirty="0"/>
              <a:t>, 1921</a:t>
            </a:r>
            <a:r>
              <a:rPr lang="en-US" dirty="0"/>
              <a:t>.</a:t>
            </a:r>
            <a:endParaRPr lang="hr-HR" dirty="0"/>
          </a:p>
        </p:txBody>
      </p:sp>
    </p:spTree>
    <p:extLst>
      <p:ext uri="{BB962C8B-B14F-4D97-AF65-F5344CB8AC3E}">
        <p14:creationId xmlns:p14="http://schemas.microsoft.com/office/powerpoint/2010/main" val="7646807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pic>
        <p:nvPicPr>
          <p:cNvPr id="243" name="Google Shape;243;p45"/>
          <p:cNvPicPr preferRelativeResize="0"/>
          <p:nvPr/>
        </p:nvPicPr>
        <p:blipFill rotWithShape="1">
          <a:blip r:embed="rId3">
            <a:alphaModFix/>
          </a:blip>
          <a:srcRect/>
          <a:stretch/>
        </p:blipFill>
        <p:spPr>
          <a:xfrm>
            <a:off x="930087" y="932722"/>
            <a:ext cx="4864131" cy="4927372"/>
          </a:xfrm>
          <a:prstGeom prst="rect">
            <a:avLst/>
          </a:prstGeom>
          <a:noFill/>
          <a:ln>
            <a:noFill/>
          </a:ln>
        </p:spPr>
      </p:pic>
      <p:sp>
        <p:nvSpPr>
          <p:cNvPr id="244" name="Google Shape;244;p45"/>
          <p:cNvSpPr/>
          <p:nvPr/>
        </p:nvSpPr>
        <p:spPr>
          <a:xfrm>
            <a:off x="5937415" y="5885789"/>
            <a:ext cx="6096000" cy="861775"/>
          </a:xfrm>
          <a:prstGeom prst="rect">
            <a:avLst/>
          </a:prstGeom>
          <a:noFill/>
          <a:ln>
            <a:noFill/>
          </a:ln>
        </p:spPr>
        <p:txBody>
          <a:bodyPr spcFirstLastPara="1" wrap="square" lIns="121900" tIns="60933" rIns="121900" bIns="60933" anchor="t" anchorCtr="0">
            <a:noAutofit/>
          </a:bodyPr>
          <a:lstStyle/>
          <a:p>
            <a:pPr algn="ctr"/>
            <a:r>
              <a:rPr lang="hr-HR" sz="1600">
                <a:solidFill>
                  <a:schemeClr val="dk1"/>
                </a:solidFill>
                <a:latin typeface="Calibri"/>
                <a:ea typeface="Calibri"/>
                <a:cs typeface="Calibri"/>
                <a:sym typeface="Calibri"/>
              </a:rPr>
              <a:t>Vasilij Kandinski, </a:t>
            </a:r>
            <a:r>
              <a:rPr lang="hr-HR" sz="1600" i="1">
                <a:solidFill>
                  <a:schemeClr val="dk1"/>
                </a:solidFill>
                <a:latin typeface="Calibri"/>
                <a:ea typeface="Calibri"/>
                <a:cs typeface="Calibri"/>
                <a:sym typeface="Calibri"/>
              </a:rPr>
              <a:t>Slika s crvenom točkom</a:t>
            </a:r>
            <a:r>
              <a:rPr lang="hr-HR" sz="1600">
                <a:solidFill>
                  <a:schemeClr val="dk1"/>
                </a:solidFill>
                <a:latin typeface="Calibri"/>
                <a:ea typeface="Calibri"/>
                <a:cs typeface="Calibri"/>
                <a:sym typeface="Calibri"/>
              </a:rPr>
              <a:t>, 1914., </a:t>
            </a:r>
            <a:endParaRPr sz="2400"/>
          </a:p>
          <a:p>
            <a:pPr algn="ctr"/>
            <a:r>
              <a:rPr lang="hr-HR" sz="1600">
                <a:solidFill>
                  <a:schemeClr val="dk1"/>
                </a:solidFill>
                <a:latin typeface="Calibri"/>
                <a:ea typeface="Calibri"/>
                <a:cs typeface="Calibri"/>
                <a:sym typeface="Calibri"/>
              </a:rPr>
              <a:t>ulje na platnu, 130 x 130 cm, </a:t>
            </a:r>
            <a:endParaRPr sz="2400"/>
          </a:p>
          <a:p>
            <a:pPr algn="ctr"/>
            <a:r>
              <a:rPr lang="hr-HR" sz="1600">
                <a:solidFill>
                  <a:schemeClr val="dk1"/>
                </a:solidFill>
                <a:latin typeface="Calibri"/>
                <a:ea typeface="Calibri"/>
                <a:cs typeface="Calibri"/>
                <a:sym typeface="Calibri"/>
              </a:rPr>
              <a:t>Nacionalni muzej moderne umjetnosti, Moskva</a:t>
            </a:r>
            <a:endParaRPr sz="1600">
              <a:solidFill>
                <a:schemeClr val="dk1"/>
              </a:solidFill>
              <a:latin typeface="Calibri"/>
              <a:ea typeface="Calibri"/>
              <a:cs typeface="Calibri"/>
              <a:sym typeface="Calibri"/>
            </a:endParaRPr>
          </a:p>
        </p:txBody>
      </p:sp>
      <p:pic>
        <p:nvPicPr>
          <p:cNvPr id="245" name="Google Shape;245;p45" descr="D:\FILOZOFSKI\AK_GOD_2017-18\ŠKOLA-ZA-ŽIVOT\EKSPERIMENTALNA-PROVEDBA\METODIČKI-PRIRUČNIK\razrada-Pogled-na-svijet\forma-slike\07.jpg"/>
          <p:cNvPicPr preferRelativeResize="0"/>
          <p:nvPr/>
        </p:nvPicPr>
        <p:blipFill rotWithShape="1">
          <a:blip r:embed="rId4">
            <a:alphaModFix/>
          </a:blip>
          <a:srcRect/>
          <a:stretch/>
        </p:blipFill>
        <p:spPr>
          <a:xfrm>
            <a:off x="6480042" y="945649"/>
            <a:ext cx="4860609" cy="4860609"/>
          </a:xfrm>
          <a:prstGeom prst="rect">
            <a:avLst/>
          </a:prstGeom>
          <a:noFill/>
          <a:ln>
            <a:noFill/>
          </a:ln>
        </p:spPr>
      </p:pic>
      <p:sp>
        <p:nvSpPr>
          <p:cNvPr id="246" name="Google Shape;246;p45"/>
          <p:cNvSpPr/>
          <p:nvPr/>
        </p:nvSpPr>
        <p:spPr>
          <a:xfrm>
            <a:off x="623393" y="5936642"/>
            <a:ext cx="5314023" cy="861775"/>
          </a:xfrm>
          <a:prstGeom prst="rect">
            <a:avLst/>
          </a:prstGeom>
          <a:noFill/>
          <a:ln>
            <a:noFill/>
          </a:ln>
        </p:spPr>
        <p:txBody>
          <a:bodyPr spcFirstLastPara="1" wrap="square" lIns="121900" tIns="60933" rIns="121900" bIns="60933" anchor="t" anchorCtr="0">
            <a:noAutofit/>
          </a:bodyPr>
          <a:lstStyle/>
          <a:p>
            <a:pPr algn="ctr"/>
            <a:r>
              <a:rPr lang="hr-HR" sz="1600">
                <a:solidFill>
                  <a:schemeClr val="dk1"/>
                </a:solidFill>
                <a:latin typeface="Calibri"/>
                <a:ea typeface="Calibri"/>
                <a:cs typeface="Calibri"/>
                <a:sym typeface="Calibri"/>
              </a:rPr>
              <a:t>Piet Mondrian, </a:t>
            </a:r>
            <a:r>
              <a:rPr lang="hr-HR" sz="1600" i="1">
                <a:solidFill>
                  <a:schemeClr val="dk1"/>
                </a:solidFill>
                <a:latin typeface="Calibri"/>
                <a:ea typeface="Calibri"/>
                <a:cs typeface="Calibri"/>
                <a:sym typeface="Calibri"/>
              </a:rPr>
              <a:t>Kompozicija II u crvenoj, plavoj i žutoj</a:t>
            </a:r>
            <a:r>
              <a:rPr lang="hr-HR" sz="1600">
                <a:solidFill>
                  <a:schemeClr val="dk1"/>
                </a:solidFill>
                <a:latin typeface="Calibri"/>
                <a:ea typeface="Calibri"/>
                <a:cs typeface="Calibri"/>
                <a:sym typeface="Calibri"/>
              </a:rPr>
              <a:t>, 1930., ulje i papir na platnu, </a:t>
            </a:r>
            <a:endParaRPr sz="2400"/>
          </a:p>
          <a:p>
            <a:pPr algn="ctr"/>
            <a:r>
              <a:rPr lang="hr-HR" sz="1600">
                <a:solidFill>
                  <a:schemeClr val="dk1"/>
                </a:solidFill>
                <a:latin typeface="Calibri"/>
                <a:ea typeface="Calibri"/>
                <a:cs typeface="Calibri"/>
                <a:sym typeface="Calibri"/>
              </a:rPr>
              <a:t>Kunsthaus, Zurich</a:t>
            </a:r>
            <a:endParaRPr sz="2400"/>
          </a:p>
        </p:txBody>
      </p:sp>
      <p:sp>
        <p:nvSpPr>
          <p:cNvPr id="247" name="Google Shape;247;p45"/>
          <p:cNvSpPr txBox="1"/>
          <p:nvPr/>
        </p:nvSpPr>
        <p:spPr>
          <a:xfrm>
            <a:off x="1391477" y="356659"/>
            <a:ext cx="3979467" cy="492443"/>
          </a:xfrm>
          <a:prstGeom prst="rect">
            <a:avLst/>
          </a:prstGeom>
          <a:noFill/>
          <a:ln>
            <a:noFill/>
          </a:ln>
        </p:spPr>
        <p:txBody>
          <a:bodyPr spcFirstLastPara="1" wrap="square" lIns="121900" tIns="60933" rIns="121900" bIns="60933" anchor="t" anchorCtr="0">
            <a:noAutofit/>
          </a:bodyPr>
          <a:lstStyle/>
          <a:p>
            <a:r>
              <a:rPr lang="hr-HR" sz="2400" b="1">
                <a:solidFill>
                  <a:schemeClr val="dk1"/>
                </a:solidFill>
                <a:latin typeface="Calibri"/>
                <a:ea typeface="Calibri"/>
                <a:cs typeface="Calibri"/>
                <a:sym typeface="Calibri"/>
              </a:rPr>
              <a:t>GEOMETRIJSKA APSTRAKCIJA</a:t>
            </a:r>
            <a:endParaRPr sz="2400" b="1">
              <a:solidFill>
                <a:schemeClr val="dk1"/>
              </a:solidFill>
              <a:latin typeface="Calibri"/>
              <a:ea typeface="Calibri"/>
              <a:cs typeface="Calibri"/>
              <a:sym typeface="Calibri"/>
            </a:endParaRPr>
          </a:p>
        </p:txBody>
      </p:sp>
      <p:sp>
        <p:nvSpPr>
          <p:cNvPr id="248" name="Google Shape;248;p45"/>
          <p:cNvSpPr txBox="1"/>
          <p:nvPr/>
        </p:nvSpPr>
        <p:spPr>
          <a:xfrm>
            <a:off x="7049792" y="356659"/>
            <a:ext cx="3565592" cy="492443"/>
          </a:xfrm>
          <a:prstGeom prst="rect">
            <a:avLst/>
          </a:prstGeom>
          <a:noFill/>
          <a:ln>
            <a:noFill/>
          </a:ln>
        </p:spPr>
        <p:txBody>
          <a:bodyPr spcFirstLastPara="1" wrap="square" lIns="121900" tIns="60933" rIns="121900" bIns="60933" anchor="t" anchorCtr="0">
            <a:noAutofit/>
          </a:bodyPr>
          <a:lstStyle/>
          <a:p>
            <a:r>
              <a:rPr lang="hr-HR" sz="2400" b="1">
                <a:solidFill>
                  <a:schemeClr val="dk1"/>
                </a:solidFill>
                <a:latin typeface="Calibri"/>
                <a:ea typeface="Calibri"/>
                <a:cs typeface="Calibri"/>
                <a:sym typeface="Calibri"/>
              </a:rPr>
              <a:t>ORGANIČKA APSTRAKCIJA</a:t>
            </a:r>
            <a:endParaRPr sz="2400" b="1">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67028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7"/>
                                        </p:tgtEl>
                                        <p:attrNameLst>
                                          <p:attrName>style.visibility</p:attrName>
                                        </p:attrNameLst>
                                      </p:cBhvr>
                                      <p:to>
                                        <p:strVal val="visible"/>
                                      </p:to>
                                    </p:set>
                                    <p:animEffect transition="in" filter="fade">
                                      <p:cBhvr>
                                        <p:cTn id="7" dur="500"/>
                                        <p:tgtEl>
                                          <p:spTgt spid="24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8"/>
                                        </p:tgtEl>
                                        <p:attrNameLst>
                                          <p:attrName>style.visibility</p:attrName>
                                        </p:attrNameLst>
                                      </p:cBhvr>
                                      <p:to>
                                        <p:strVal val="visible"/>
                                      </p:to>
                                    </p:set>
                                    <p:animEffect transition="in" filter="fade">
                                      <p:cBhvr>
                                        <p:cTn id="12" dur="500"/>
                                        <p:tgtEl>
                                          <p:spTgt spid="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396842"/>
            <a:ext cx="12192000" cy="523220"/>
          </a:xfrm>
          <a:prstGeom prst="rect">
            <a:avLst/>
          </a:prstGeom>
        </p:spPr>
        <p:txBody>
          <a:bodyPr wrap="square">
            <a:spAutoFit/>
          </a:bodyPr>
          <a:lstStyle/>
          <a:p>
            <a:pPr algn="ctr"/>
            <a:r>
              <a:rPr lang="en-US" sz="2800" b="0" i="0" dirty="0">
                <a:effectLst/>
              </a:rPr>
              <a:t>GEOMETRIJSKA APSTRAKCIJA </a:t>
            </a:r>
            <a:r>
              <a:rPr lang="hr-HR" sz="2800" b="0" i="0" dirty="0">
                <a:effectLst/>
              </a:rPr>
              <a:t>- pravilni ili relativno pravilni geometrijski oblici</a:t>
            </a:r>
            <a:endParaRPr lang="hr-HR" sz="2800" dirty="0"/>
          </a:p>
        </p:txBody>
      </p:sp>
      <p:sp>
        <p:nvSpPr>
          <p:cNvPr id="3" name="Rectangle 2"/>
          <p:cNvSpPr/>
          <p:nvPr/>
        </p:nvSpPr>
        <p:spPr>
          <a:xfrm>
            <a:off x="0" y="3590022"/>
            <a:ext cx="12192000" cy="523220"/>
          </a:xfrm>
          <a:prstGeom prst="rect">
            <a:avLst/>
          </a:prstGeom>
        </p:spPr>
        <p:txBody>
          <a:bodyPr wrap="square">
            <a:spAutoFit/>
          </a:bodyPr>
          <a:lstStyle/>
          <a:p>
            <a:pPr algn="ctr"/>
            <a:r>
              <a:rPr lang="en-US" sz="2800" b="0" i="0" dirty="0">
                <a:effectLst/>
              </a:rPr>
              <a:t>ORGANIČKA APSTRAKCIJA </a:t>
            </a:r>
            <a:r>
              <a:rPr lang="hr-HR" sz="2800" b="0" i="0" dirty="0">
                <a:effectLst/>
              </a:rPr>
              <a:t>- nepravilni, organički oblici</a:t>
            </a:r>
            <a:endParaRPr lang="hr-HR" sz="2800" dirty="0"/>
          </a:p>
        </p:txBody>
      </p:sp>
    </p:spTree>
    <p:extLst>
      <p:ext uri="{BB962C8B-B14F-4D97-AF65-F5344CB8AC3E}">
        <p14:creationId xmlns:p14="http://schemas.microsoft.com/office/powerpoint/2010/main" val="26554078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52"/>
          <p:cNvSpPr txBox="1"/>
          <p:nvPr/>
        </p:nvSpPr>
        <p:spPr>
          <a:xfrm>
            <a:off x="0" y="2660915"/>
            <a:ext cx="12192000" cy="1107996"/>
          </a:xfrm>
          <a:prstGeom prst="rect">
            <a:avLst/>
          </a:prstGeom>
          <a:solidFill>
            <a:srgbClr val="A5A5A5"/>
          </a:solidFill>
          <a:ln>
            <a:noFill/>
          </a:ln>
        </p:spPr>
        <p:txBody>
          <a:bodyPr spcFirstLastPara="1" wrap="square" lIns="121900" tIns="60933" rIns="121900" bIns="60933" anchor="t" anchorCtr="0">
            <a:noAutofit/>
          </a:bodyPr>
          <a:lstStyle/>
          <a:p>
            <a:pPr algn="ctr"/>
            <a:r>
              <a:rPr lang="hr-HR" sz="2133" b="1" dirty="0">
                <a:solidFill>
                  <a:srgbClr val="FF0000"/>
                </a:solidFill>
                <a:latin typeface="Calibri"/>
                <a:ea typeface="Calibri"/>
                <a:cs typeface="Calibri"/>
                <a:sym typeface="Calibri"/>
              </a:rPr>
              <a:t>Zadatak: </a:t>
            </a:r>
            <a:r>
              <a:rPr lang="hr-HR" sz="2133" dirty="0">
                <a:solidFill>
                  <a:schemeClr val="dk1"/>
                </a:solidFill>
                <a:latin typeface="Calibri"/>
                <a:ea typeface="Calibri"/>
                <a:cs typeface="Calibri"/>
                <a:sym typeface="Calibri"/>
              </a:rPr>
              <a:t>u aplikaciji Learning apps razvrstaj prikazane likovne primjere prema zadanim kategorijama: geometrijska i organička apstrakcija.</a:t>
            </a:r>
            <a:endParaRPr sz="2400" dirty="0"/>
          </a:p>
          <a:p>
            <a:pPr algn="ctr"/>
            <a:r>
              <a:rPr lang="hr-HR" sz="2133" u="sng" dirty="0">
                <a:solidFill>
                  <a:schemeClr val="hlink"/>
                </a:solidFill>
                <a:latin typeface="Calibri"/>
                <a:ea typeface="Calibri"/>
                <a:cs typeface="Calibri"/>
                <a:sym typeface="Calibri"/>
                <a:hlinkClick r:id="rId3"/>
              </a:rPr>
              <a:t>https://learningapps.org/display?v=p2yj4tvmt18</a:t>
            </a:r>
            <a:r>
              <a:rPr lang="hr-HR" sz="2133" dirty="0">
                <a:solidFill>
                  <a:schemeClr val="dk1"/>
                </a:solidFill>
                <a:latin typeface="Calibri"/>
                <a:ea typeface="Calibri"/>
                <a:cs typeface="Calibri"/>
                <a:sym typeface="Calibri"/>
              </a:rPr>
              <a:t> </a:t>
            </a:r>
            <a:endParaRPr sz="2133"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566965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https://upload.wikimedia.org/wikipedia/commons/9/9a/Moor%2C_three_piece_sculpture_vertebrae_%2C1968-1969.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76528" y="1200614"/>
            <a:ext cx="2760213" cy="1868341"/>
          </a:xfrm>
          <a:prstGeom prst="rect">
            <a:avLst/>
          </a:prstGeom>
          <a:noFill/>
          <a:ln>
            <a:noFill/>
          </a:ln>
        </p:spPr>
      </p:pic>
      <p:pic>
        <p:nvPicPr>
          <p:cNvPr id="9" name="Picture 8" descr="https://upload.wikimedia.org/wikipedia/commons/0/0d/Arthur_Dove%2C_1911-12%2C_Based_on_Leaf_Forms_and_Spaces%2C_pastel_on_unidentified_support._Now_lost.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07258" y="1066351"/>
            <a:ext cx="1961165" cy="2368225"/>
          </a:xfrm>
          <a:prstGeom prst="rect">
            <a:avLst/>
          </a:prstGeom>
          <a:noFill/>
          <a:ln>
            <a:noFill/>
          </a:ln>
        </p:spPr>
      </p:pic>
      <p:pic>
        <p:nvPicPr>
          <p:cNvPr id="10" name="Picture 9" descr="https://farm4.staticflickr.com/3071/2867236756_9c672945d1.jpg"/>
          <p:cNvPicPr/>
          <p:nvPr/>
        </p:nvPicPr>
        <p:blipFill>
          <a:blip r:embed="rId4">
            <a:extLst>
              <a:ext uri="{28A0092B-C50C-407E-A947-70E740481C1C}">
                <a14:useLocalDpi xmlns:a14="http://schemas.microsoft.com/office/drawing/2010/main" val="0"/>
              </a:ext>
            </a:extLst>
          </a:blip>
          <a:srcRect/>
          <a:stretch>
            <a:fillRect/>
          </a:stretch>
        </p:blipFill>
        <p:spPr bwMode="auto">
          <a:xfrm>
            <a:off x="8480618" y="937163"/>
            <a:ext cx="2023831" cy="2697732"/>
          </a:xfrm>
          <a:prstGeom prst="rect">
            <a:avLst/>
          </a:prstGeom>
          <a:noFill/>
          <a:ln>
            <a:noFill/>
          </a:ln>
        </p:spPr>
      </p:pic>
      <p:pic>
        <p:nvPicPr>
          <p:cNvPr id="11" name="Picture 10" descr="https://upload.wikimedia.org/wikipedia/commons/e/ee/L%C3%A1szl%C3%B3_Moholy-Nagy%2C_architettura_o_costruzione_eccentrica%2C_1921_ca._%28guggenheim_NY%29.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61531" y="3533140"/>
            <a:ext cx="2113365" cy="3042859"/>
          </a:xfrm>
          <a:prstGeom prst="rect">
            <a:avLst/>
          </a:prstGeom>
          <a:noFill/>
          <a:ln>
            <a:noFill/>
          </a:ln>
        </p:spPr>
      </p:pic>
      <p:pic>
        <p:nvPicPr>
          <p:cNvPr id="12" name="Picture 11" descr="https://upload.wikimedia.org/wikipedia/en/1/10/Jean_Arp%2C_391%2C_No._8%2C_Zurich%2C_February_1919.jpg"/>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84595" y="3790253"/>
            <a:ext cx="2083829" cy="2696328"/>
          </a:xfrm>
          <a:prstGeom prst="rect">
            <a:avLst/>
          </a:prstGeom>
          <a:noFill/>
          <a:ln>
            <a:noFill/>
          </a:ln>
        </p:spPr>
      </p:pic>
      <p:pic>
        <p:nvPicPr>
          <p:cNvPr id="13" name="Picture 12" descr="https://upload.wikimedia.org/wikipedia/commons/3/36/Vassily_Kandinsky%2C_1912_-_Improvisation_27%2C_Garden_of_Love_II.jpg"/>
          <p:cNvPicPr/>
          <p:nvPr/>
        </p:nvPicPr>
        <p:blipFill>
          <a:blip r:embed="rId7">
            <a:extLst>
              <a:ext uri="{28A0092B-C50C-407E-A947-70E740481C1C}">
                <a14:useLocalDpi xmlns:a14="http://schemas.microsoft.com/office/drawing/2010/main" val="0"/>
              </a:ext>
            </a:extLst>
          </a:blip>
          <a:srcRect/>
          <a:stretch>
            <a:fillRect/>
          </a:stretch>
        </p:blipFill>
        <p:spPr bwMode="auto">
          <a:xfrm>
            <a:off x="8278123" y="4113003"/>
            <a:ext cx="2739282" cy="2340749"/>
          </a:xfrm>
          <a:prstGeom prst="rect">
            <a:avLst/>
          </a:prstGeom>
          <a:noFill/>
          <a:ln>
            <a:noFill/>
          </a:ln>
        </p:spPr>
      </p:pic>
      <p:sp>
        <p:nvSpPr>
          <p:cNvPr id="14" name="TextBox 13"/>
          <p:cNvSpPr txBox="1"/>
          <p:nvPr/>
        </p:nvSpPr>
        <p:spPr>
          <a:xfrm>
            <a:off x="1973766" y="256478"/>
            <a:ext cx="8140390" cy="369332"/>
          </a:xfrm>
          <a:prstGeom prst="rect">
            <a:avLst/>
          </a:prstGeom>
          <a:noFill/>
        </p:spPr>
        <p:txBody>
          <a:bodyPr wrap="square" rtlCol="0">
            <a:spAutoFit/>
          </a:bodyPr>
          <a:lstStyle/>
          <a:p>
            <a:r>
              <a:rPr lang="en-US" dirty="0" err="1"/>
              <a:t>Radni</a:t>
            </a:r>
            <a:r>
              <a:rPr lang="en-US" dirty="0"/>
              <a:t> </a:t>
            </a:r>
            <a:r>
              <a:rPr lang="en-US" dirty="0" err="1"/>
              <a:t>listić</a:t>
            </a:r>
            <a:r>
              <a:rPr lang="en-US" dirty="0"/>
              <a:t> 2    GEOMETRIJSKA ILI ORGANIČKA APSTRAKCIJA</a:t>
            </a:r>
            <a:endParaRPr lang="hr-HR" dirty="0"/>
          </a:p>
        </p:txBody>
      </p:sp>
    </p:spTree>
    <p:extLst>
      <p:ext uri="{BB962C8B-B14F-4D97-AF65-F5344CB8AC3E}">
        <p14:creationId xmlns:p14="http://schemas.microsoft.com/office/powerpoint/2010/main" val="37446600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6"/>
          <p:cNvSpPr txBox="1"/>
          <p:nvPr/>
        </p:nvSpPr>
        <p:spPr>
          <a:xfrm>
            <a:off x="4847861" y="364476"/>
            <a:ext cx="7008779" cy="2133917"/>
          </a:xfrm>
          <a:prstGeom prst="rect">
            <a:avLst/>
          </a:prstGeom>
          <a:noFill/>
          <a:ln>
            <a:noFill/>
          </a:ln>
        </p:spPr>
        <p:txBody>
          <a:bodyPr spcFirstLastPara="1" wrap="square" lIns="121900" tIns="60933" rIns="121900" bIns="60933" anchor="t" anchorCtr="0">
            <a:noAutofit/>
          </a:bodyPr>
          <a:lstStyle/>
          <a:p>
            <a:r>
              <a:rPr lang="hr-HR" sz="2400" b="1">
                <a:solidFill>
                  <a:srgbClr val="000000"/>
                </a:solidFill>
                <a:latin typeface="Calibri"/>
                <a:ea typeface="Calibri"/>
                <a:cs typeface="Calibri"/>
                <a:sym typeface="Calibri"/>
              </a:rPr>
              <a:t>Vasilij Kandinski </a:t>
            </a:r>
            <a:br>
              <a:rPr lang="hr-HR" sz="2400">
                <a:solidFill>
                  <a:srgbClr val="000000"/>
                </a:solidFill>
                <a:latin typeface="Calibri"/>
                <a:ea typeface="Calibri"/>
                <a:cs typeface="Calibri"/>
                <a:sym typeface="Calibri"/>
              </a:rPr>
            </a:br>
            <a:r>
              <a:rPr lang="hr-HR" sz="2133">
                <a:solidFill>
                  <a:srgbClr val="000000"/>
                </a:solidFill>
                <a:latin typeface="Calibri"/>
                <a:ea typeface="Calibri"/>
                <a:cs typeface="Calibri"/>
                <a:sym typeface="Calibri"/>
              </a:rPr>
              <a:t>(1866., Moskva – 1944., Neuilly-sur-Seine)</a:t>
            </a:r>
            <a:endParaRPr sz="2133">
              <a:solidFill>
                <a:srgbClr val="000000"/>
              </a:solidFill>
              <a:latin typeface="Calibri"/>
              <a:ea typeface="Calibri"/>
              <a:cs typeface="Calibri"/>
              <a:sym typeface="Calibri"/>
            </a:endParaRPr>
          </a:p>
          <a:p>
            <a:endParaRPr sz="2133">
              <a:solidFill>
                <a:srgbClr val="000000"/>
              </a:solidFill>
              <a:latin typeface="Calibri"/>
              <a:ea typeface="Calibri"/>
              <a:cs typeface="Calibri"/>
              <a:sym typeface="Calibri"/>
            </a:endParaRPr>
          </a:p>
          <a:p>
            <a:pPr marL="380990" indent="-380990">
              <a:buClr>
                <a:srgbClr val="000000"/>
              </a:buClr>
              <a:buSzPts val="1600"/>
              <a:buFont typeface="Calibri"/>
              <a:buChar char="-"/>
            </a:pPr>
            <a:r>
              <a:rPr lang="hr-HR" sz="2133">
                <a:solidFill>
                  <a:srgbClr val="000000"/>
                </a:solidFill>
                <a:latin typeface="Calibri"/>
                <a:ea typeface="Calibri"/>
                <a:cs typeface="Calibri"/>
                <a:sym typeface="Calibri"/>
              </a:rPr>
              <a:t>jedan od pionira i glavnih predstavnika </a:t>
            </a:r>
            <a:br>
              <a:rPr lang="hr-HR" sz="2133">
                <a:solidFill>
                  <a:srgbClr val="000000"/>
                </a:solidFill>
                <a:latin typeface="Calibri"/>
                <a:ea typeface="Calibri"/>
                <a:cs typeface="Calibri"/>
                <a:sym typeface="Calibri"/>
              </a:rPr>
            </a:br>
            <a:r>
              <a:rPr lang="hr-HR" sz="2133">
                <a:solidFill>
                  <a:srgbClr val="000000"/>
                </a:solidFill>
                <a:latin typeface="Calibri"/>
                <a:ea typeface="Calibri"/>
                <a:cs typeface="Calibri"/>
                <a:sym typeface="Calibri"/>
              </a:rPr>
              <a:t>apstraktne umjetnosti 1. polovice 20. stoljeća</a:t>
            </a:r>
            <a:endParaRPr sz="2400"/>
          </a:p>
          <a:p>
            <a:pPr marL="380990" indent="-380990">
              <a:buClr>
                <a:srgbClr val="000000"/>
              </a:buClr>
              <a:buSzPts val="1600"/>
              <a:buFont typeface="Calibri"/>
              <a:buChar char="-"/>
            </a:pPr>
            <a:r>
              <a:rPr lang="hr-HR" sz="2133">
                <a:solidFill>
                  <a:srgbClr val="000000"/>
                </a:solidFill>
                <a:latin typeface="Calibri"/>
                <a:ea typeface="Calibri"/>
                <a:cs typeface="Calibri"/>
                <a:sym typeface="Calibri"/>
              </a:rPr>
              <a:t>član minhenske </a:t>
            </a:r>
            <a:r>
              <a:rPr lang="hr-HR" sz="2133" b="1">
                <a:solidFill>
                  <a:srgbClr val="000000"/>
                </a:solidFill>
                <a:latin typeface="Calibri"/>
                <a:ea typeface="Calibri"/>
                <a:cs typeface="Calibri"/>
                <a:sym typeface="Calibri"/>
              </a:rPr>
              <a:t>avangardne grupe </a:t>
            </a:r>
            <a:r>
              <a:rPr lang="hr-HR" sz="2133" b="1" i="1">
                <a:solidFill>
                  <a:srgbClr val="000000"/>
                </a:solidFill>
                <a:latin typeface="Calibri"/>
                <a:ea typeface="Calibri"/>
                <a:cs typeface="Calibri"/>
                <a:sym typeface="Calibri"/>
              </a:rPr>
              <a:t>Der Blaue Reiter </a:t>
            </a:r>
            <a:endParaRPr sz="2133" b="1" i="1">
              <a:solidFill>
                <a:srgbClr val="000000"/>
              </a:solidFill>
              <a:latin typeface="Calibri"/>
              <a:ea typeface="Calibri"/>
              <a:cs typeface="Calibri"/>
              <a:sym typeface="Calibri"/>
            </a:endParaRPr>
          </a:p>
        </p:txBody>
      </p:sp>
      <p:pic>
        <p:nvPicPr>
          <p:cNvPr id="255" name="Google Shape;255;p46" descr="Image result for wassily kandinsky"/>
          <p:cNvPicPr preferRelativeResize="0"/>
          <p:nvPr/>
        </p:nvPicPr>
        <p:blipFill rotWithShape="1">
          <a:blip r:embed="rId3">
            <a:alphaModFix/>
          </a:blip>
          <a:srcRect/>
          <a:stretch/>
        </p:blipFill>
        <p:spPr>
          <a:xfrm>
            <a:off x="491861" y="356659"/>
            <a:ext cx="4248655" cy="6144683"/>
          </a:xfrm>
          <a:prstGeom prst="rect">
            <a:avLst/>
          </a:prstGeom>
          <a:noFill/>
          <a:ln>
            <a:noFill/>
          </a:ln>
        </p:spPr>
      </p:pic>
      <p:pic>
        <p:nvPicPr>
          <p:cNvPr id="256" name="Google Shape;256;p46" descr="D:\FILOZOFSKI\AK_GOD_2017-18\ŠKOLA-ZA-ŽIVOT\EKSPERIMENTALNA-PROVEDBA\METODIČKI-PRIRUČNIK\razrada-Pogled-na-svijet\forma-slike\09-a.jpg"/>
          <p:cNvPicPr preferRelativeResize="0"/>
          <p:nvPr/>
        </p:nvPicPr>
        <p:blipFill rotWithShape="1">
          <a:blip r:embed="rId4">
            <a:alphaModFix/>
          </a:blip>
          <a:srcRect/>
          <a:stretch/>
        </p:blipFill>
        <p:spPr>
          <a:xfrm>
            <a:off x="4995389" y="2756927"/>
            <a:ext cx="2864775" cy="3744416"/>
          </a:xfrm>
          <a:prstGeom prst="rect">
            <a:avLst/>
          </a:prstGeom>
          <a:noFill/>
          <a:ln>
            <a:noFill/>
          </a:ln>
        </p:spPr>
      </p:pic>
      <p:sp>
        <p:nvSpPr>
          <p:cNvPr id="257" name="Google Shape;257;p46"/>
          <p:cNvSpPr txBox="1"/>
          <p:nvPr/>
        </p:nvSpPr>
        <p:spPr>
          <a:xfrm>
            <a:off x="8044380" y="3909054"/>
            <a:ext cx="4128459" cy="1800370"/>
          </a:xfrm>
          <a:prstGeom prst="rect">
            <a:avLst/>
          </a:prstGeom>
          <a:solidFill>
            <a:srgbClr val="BFBFBF"/>
          </a:solidFill>
          <a:ln>
            <a:noFill/>
          </a:ln>
        </p:spPr>
        <p:txBody>
          <a:bodyPr spcFirstLastPara="1" wrap="square" lIns="121900" tIns="60933" rIns="121900" bIns="60933" anchor="t" anchorCtr="0">
            <a:noAutofit/>
          </a:bodyPr>
          <a:lstStyle/>
          <a:p>
            <a:r>
              <a:rPr lang="hr-HR" sz="1867" b="1" dirty="0">
                <a:solidFill>
                  <a:srgbClr val="FF0000"/>
                </a:solidFill>
                <a:latin typeface="Calibri"/>
                <a:ea typeface="Calibri"/>
                <a:cs typeface="Calibri"/>
                <a:sym typeface="Calibri"/>
              </a:rPr>
              <a:t>Zadatak: </a:t>
            </a:r>
            <a:r>
              <a:rPr lang="hr-HR" sz="1867" dirty="0">
                <a:solidFill>
                  <a:schemeClr val="dk1"/>
                </a:solidFill>
                <a:latin typeface="Calibri"/>
                <a:ea typeface="Calibri"/>
                <a:cs typeface="Calibri"/>
                <a:sym typeface="Calibri"/>
              </a:rPr>
              <a:t>kod kuće istraži glavna obilježja grupe </a:t>
            </a:r>
            <a:r>
              <a:rPr lang="hr-HR" sz="1867" i="1" dirty="0">
                <a:solidFill>
                  <a:schemeClr val="dk1"/>
                </a:solidFill>
                <a:latin typeface="Calibri"/>
                <a:ea typeface="Calibri"/>
                <a:cs typeface="Calibri"/>
                <a:sym typeface="Calibri"/>
              </a:rPr>
              <a:t>Der Blaue Reiter </a:t>
            </a:r>
            <a:r>
              <a:rPr lang="hr-HR" sz="1867" dirty="0">
                <a:solidFill>
                  <a:schemeClr val="dk1"/>
                </a:solidFill>
                <a:latin typeface="Calibri"/>
                <a:ea typeface="Calibri"/>
                <a:cs typeface="Calibri"/>
                <a:sym typeface="Calibri"/>
              </a:rPr>
              <a:t>te ih </a:t>
            </a:r>
            <a:r>
              <a:rPr lang="en-US" sz="1867" dirty="0" err="1">
                <a:solidFill>
                  <a:schemeClr val="dk1"/>
                </a:solidFill>
                <a:latin typeface="Calibri"/>
                <a:ea typeface="Calibri"/>
                <a:cs typeface="Calibri"/>
                <a:sym typeface="Calibri"/>
              </a:rPr>
              <a:t>napiši</a:t>
            </a:r>
            <a:r>
              <a:rPr lang="en-US" sz="1867" dirty="0">
                <a:solidFill>
                  <a:schemeClr val="dk1"/>
                </a:solidFill>
                <a:latin typeface="Calibri"/>
                <a:ea typeface="Calibri"/>
                <a:cs typeface="Calibri"/>
                <a:sym typeface="Calibri"/>
              </a:rPr>
              <a:t> u</a:t>
            </a:r>
            <a:r>
              <a:rPr lang="hr-HR" sz="1867" dirty="0">
                <a:solidFill>
                  <a:schemeClr val="dk1"/>
                </a:solidFill>
                <a:latin typeface="Calibri"/>
                <a:ea typeface="Calibri"/>
                <a:cs typeface="Calibri"/>
                <a:sym typeface="Calibri"/>
              </a:rPr>
              <a:t> obliku kratkih natuknica</a:t>
            </a:r>
            <a:r>
              <a:rPr lang="en-US" sz="1867" dirty="0">
                <a:solidFill>
                  <a:schemeClr val="dk1"/>
                </a:solidFill>
                <a:latin typeface="Calibri"/>
                <a:ea typeface="Calibri"/>
                <a:cs typeface="Calibri"/>
                <a:sym typeface="Calibri"/>
              </a:rPr>
              <a:t>. </a:t>
            </a:r>
            <a:r>
              <a:rPr lang="en-US" sz="1867" dirty="0" err="1">
                <a:solidFill>
                  <a:schemeClr val="dk1"/>
                </a:solidFill>
                <a:latin typeface="Calibri"/>
                <a:ea typeface="Calibri"/>
                <a:cs typeface="Calibri"/>
                <a:sym typeface="Calibri"/>
              </a:rPr>
              <a:t>Natuknicama</a:t>
            </a:r>
            <a:r>
              <a:rPr lang="en-US" sz="1867" dirty="0">
                <a:solidFill>
                  <a:schemeClr val="dk1"/>
                </a:solidFill>
                <a:latin typeface="Calibri"/>
                <a:ea typeface="Calibri"/>
                <a:cs typeface="Calibri"/>
                <a:sym typeface="Calibri"/>
              </a:rPr>
              <a:t> </a:t>
            </a:r>
            <a:r>
              <a:rPr lang="en-US" sz="1867" dirty="0" err="1">
                <a:solidFill>
                  <a:schemeClr val="dk1"/>
                </a:solidFill>
                <a:latin typeface="Calibri"/>
                <a:ea typeface="Calibri"/>
                <a:cs typeface="Calibri"/>
                <a:sym typeface="Calibri"/>
              </a:rPr>
              <a:t>pridruži</a:t>
            </a:r>
            <a:r>
              <a:rPr lang="en-US" sz="1867" dirty="0">
                <a:solidFill>
                  <a:schemeClr val="dk1"/>
                </a:solidFill>
                <a:latin typeface="Calibri"/>
                <a:ea typeface="Calibri"/>
                <a:cs typeface="Calibri"/>
                <a:sym typeface="Calibri"/>
              </a:rPr>
              <a:t> </a:t>
            </a:r>
            <a:r>
              <a:rPr lang="en-US" sz="1867" dirty="0" err="1">
                <a:solidFill>
                  <a:schemeClr val="dk1"/>
                </a:solidFill>
                <a:latin typeface="Calibri"/>
                <a:ea typeface="Calibri"/>
                <a:cs typeface="Calibri"/>
                <a:sym typeface="Calibri"/>
              </a:rPr>
              <a:t>još</a:t>
            </a:r>
            <a:r>
              <a:rPr lang="en-US" sz="1867" dirty="0">
                <a:solidFill>
                  <a:schemeClr val="dk1"/>
                </a:solidFill>
                <a:latin typeface="Calibri"/>
                <a:ea typeface="Calibri"/>
                <a:cs typeface="Calibri"/>
                <a:sym typeface="Calibri"/>
              </a:rPr>
              <a:t> </a:t>
            </a:r>
            <a:r>
              <a:rPr lang="en-US" sz="1867" dirty="0" err="1">
                <a:solidFill>
                  <a:schemeClr val="dk1"/>
                </a:solidFill>
                <a:latin typeface="Calibri"/>
                <a:ea typeface="Calibri"/>
                <a:cs typeface="Calibri"/>
                <a:sym typeface="Calibri"/>
              </a:rPr>
              <a:t>jedno</a:t>
            </a:r>
            <a:r>
              <a:rPr lang="en-US" sz="1867" dirty="0">
                <a:solidFill>
                  <a:schemeClr val="dk1"/>
                </a:solidFill>
                <a:latin typeface="Calibri"/>
                <a:ea typeface="Calibri"/>
                <a:cs typeface="Calibri"/>
                <a:sym typeface="Calibri"/>
              </a:rPr>
              <a:t> </a:t>
            </a:r>
            <a:r>
              <a:rPr lang="en-US" sz="1867" dirty="0" err="1">
                <a:solidFill>
                  <a:schemeClr val="dk1"/>
                </a:solidFill>
                <a:latin typeface="Calibri"/>
                <a:ea typeface="Calibri"/>
                <a:cs typeface="Calibri"/>
                <a:sym typeface="Calibri"/>
              </a:rPr>
              <a:t>djelo</a:t>
            </a:r>
            <a:r>
              <a:rPr lang="en-US" sz="1867" dirty="0">
                <a:solidFill>
                  <a:schemeClr val="dk1"/>
                </a:solidFill>
                <a:latin typeface="Calibri"/>
                <a:ea typeface="Calibri"/>
                <a:cs typeface="Calibri"/>
                <a:sym typeface="Calibri"/>
              </a:rPr>
              <a:t> </a:t>
            </a:r>
            <a:r>
              <a:rPr lang="en-US" sz="1867" dirty="0" err="1">
                <a:solidFill>
                  <a:schemeClr val="dk1"/>
                </a:solidFill>
                <a:latin typeface="Calibri"/>
                <a:ea typeface="Calibri"/>
                <a:cs typeface="Calibri"/>
                <a:sym typeface="Calibri"/>
              </a:rPr>
              <a:t>nekog</a:t>
            </a:r>
            <a:r>
              <a:rPr lang="en-US" sz="1867" dirty="0">
                <a:solidFill>
                  <a:schemeClr val="dk1"/>
                </a:solidFill>
                <a:latin typeface="Calibri"/>
                <a:ea typeface="Calibri"/>
                <a:cs typeface="Calibri"/>
                <a:sym typeface="Calibri"/>
              </a:rPr>
              <a:t> </a:t>
            </a:r>
            <a:r>
              <a:rPr lang="en-US" sz="1867" dirty="0" err="1">
                <a:solidFill>
                  <a:schemeClr val="dk1"/>
                </a:solidFill>
                <a:latin typeface="Calibri"/>
                <a:ea typeface="Calibri"/>
                <a:cs typeface="Calibri"/>
                <a:sym typeface="Calibri"/>
              </a:rPr>
              <a:t>umjetnika</a:t>
            </a:r>
            <a:r>
              <a:rPr lang="en-US" sz="1867" dirty="0">
                <a:solidFill>
                  <a:schemeClr val="dk1"/>
                </a:solidFill>
                <a:latin typeface="Calibri"/>
                <a:ea typeface="Calibri"/>
                <a:cs typeface="Calibri"/>
                <a:sym typeface="Calibri"/>
              </a:rPr>
              <a:t> </a:t>
            </a:r>
            <a:r>
              <a:rPr lang="en-US" sz="1867" dirty="0" err="1">
                <a:solidFill>
                  <a:schemeClr val="dk1"/>
                </a:solidFill>
                <a:latin typeface="Calibri"/>
                <a:ea typeface="Calibri"/>
                <a:cs typeface="Calibri"/>
                <a:sym typeface="Calibri"/>
              </a:rPr>
              <a:t>koji</a:t>
            </a:r>
            <a:r>
              <a:rPr lang="en-US" sz="1867" dirty="0">
                <a:solidFill>
                  <a:schemeClr val="dk1"/>
                </a:solidFill>
                <a:latin typeface="Calibri"/>
                <a:ea typeface="Calibri"/>
                <a:cs typeface="Calibri"/>
                <a:sym typeface="Calibri"/>
              </a:rPr>
              <a:t> je </a:t>
            </a:r>
            <a:r>
              <a:rPr lang="en-US" sz="1867" dirty="0" err="1">
                <a:solidFill>
                  <a:schemeClr val="dk1"/>
                </a:solidFill>
                <a:latin typeface="Calibri"/>
                <a:ea typeface="Calibri"/>
                <a:cs typeface="Calibri"/>
                <a:sym typeface="Calibri"/>
              </a:rPr>
              <a:t>pripadao</a:t>
            </a:r>
            <a:r>
              <a:rPr lang="en-US" sz="1867" dirty="0">
                <a:solidFill>
                  <a:schemeClr val="dk1"/>
                </a:solidFill>
                <a:latin typeface="Calibri"/>
                <a:ea typeface="Calibri"/>
                <a:cs typeface="Calibri"/>
                <a:sym typeface="Calibri"/>
              </a:rPr>
              <a:t> </a:t>
            </a:r>
            <a:r>
              <a:rPr lang="en-US" sz="1867" dirty="0" err="1">
                <a:solidFill>
                  <a:schemeClr val="dk1"/>
                </a:solidFill>
                <a:latin typeface="Calibri"/>
                <a:ea typeface="Calibri"/>
                <a:cs typeface="Calibri"/>
                <a:sym typeface="Calibri"/>
              </a:rPr>
              <a:t>grupi</a:t>
            </a:r>
            <a:r>
              <a:rPr lang="en-US" sz="1867" dirty="0">
                <a:solidFill>
                  <a:schemeClr val="dk1"/>
                </a:solidFill>
                <a:latin typeface="Calibri"/>
                <a:ea typeface="Calibri"/>
                <a:cs typeface="Calibri"/>
                <a:sym typeface="Calibri"/>
              </a:rPr>
              <a:t> Der </a:t>
            </a:r>
            <a:r>
              <a:rPr lang="en-US" sz="1867" dirty="0" err="1">
                <a:solidFill>
                  <a:schemeClr val="dk1"/>
                </a:solidFill>
                <a:latin typeface="Calibri"/>
                <a:ea typeface="Calibri"/>
                <a:cs typeface="Calibri"/>
                <a:sym typeface="Calibri"/>
              </a:rPr>
              <a:t>Blaue</a:t>
            </a:r>
            <a:r>
              <a:rPr lang="en-US" sz="1867" dirty="0">
                <a:solidFill>
                  <a:schemeClr val="dk1"/>
                </a:solidFill>
                <a:latin typeface="Calibri"/>
                <a:ea typeface="Calibri"/>
                <a:cs typeface="Calibri"/>
                <a:sym typeface="Calibri"/>
              </a:rPr>
              <a:t> Reiter.</a:t>
            </a:r>
            <a:endParaRPr sz="2400" dirty="0"/>
          </a:p>
        </p:txBody>
      </p:sp>
    </p:spTree>
    <p:extLst>
      <p:ext uri="{BB962C8B-B14F-4D97-AF65-F5344CB8AC3E}">
        <p14:creationId xmlns:p14="http://schemas.microsoft.com/office/powerpoint/2010/main" val="8834596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7"/>
          <p:cNvSpPr/>
          <p:nvPr/>
        </p:nvSpPr>
        <p:spPr>
          <a:xfrm>
            <a:off x="272787" y="5789242"/>
            <a:ext cx="6096000" cy="861775"/>
          </a:xfrm>
          <a:prstGeom prst="rect">
            <a:avLst/>
          </a:prstGeom>
          <a:noFill/>
          <a:ln>
            <a:noFill/>
          </a:ln>
        </p:spPr>
        <p:txBody>
          <a:bodyPr spcFirstLastPara="1" wrap="square" lIns="121900" tIns="60933" rIns="121900" bIns="60933" anchor="t" anchorCtr="0">
            <a:noAutofit/>
          </a:bodyPr>
          <a:lstStyle/>
          <a:p>
            <a:pPr algn="ctr"/>
            <a:r>
              <a:rPr lang="hr-HR" sz="1600">
                <a:solidFill>
                  <a:schemeClr val="dk1"/>
                </a:solidFill>
                <a:latin typeface="Calibri"/>
                <a:ea typeface="Calibri"/>
                <a:cs typeface="Calibri"/>
                <a:sym typeface="Calibri"/>
              </a:rPr>
              <a:t>Vasilij Kandinski, </a:t>
            </a:r>
            <a:r>
              <a:rPr lang="hr-HR" sz="1600" i="1">
                <a:solidFill>
                  <a:schemeClr val="dk1"/>
                </a:solidFill>
                <a:latin typeface="Calibri"/>
                <a:ea typeface="Calibri"/>
                <a:cs typeface="Calibri"/>
                <a:sym typeface="Calibri"/>
              </a:rPr>
              <a:t>Slika s crvenom točkom</a:t>
            </a:r>
            <a:r>
              <a:rPr lang="hr-HR" sz="1600">
                <a:solidFill>
                  <a:schemeClr val="dk1"/>
                </a:solidFill>
                <a:latin typeface="Calibri"/>
                <a:ea typeface="Calibri"/>
                <a:cs typeface="Calibri"/>
                <a:sym typeface="Calibri"/>
              </a:rPr>
              <a:t>, 1914., </a:t>
            </a:r>
            <a:endParaRPr sz="2400"/>
          </a:p>
          <a:p>
            <a:pPr algn="ctr"/>
            <a:r>
              <a:rPr lang="hr-HR" sz="1600">
                <a:solidFill>
                  <a:schemeClr val="dk1"/>
                </a:solidFill>
                <a:latin typeface="Calibri"/>
                <a:ea typeface="Calibri"/>
                <a:cs typeface="Calibri"/>
                <a:sym typeface="Calibri"/>
              </a:rPr>
              <a:t>ulje na platnu, 130 x 130 cm, </a:t>
            </a:r>
            <a:endParaRPr sz="2400"/>
          </a:p>
          <a:p>
            <a:pPr algn="ctr"/>
            <a:r>
              <a:rPr lang="hr-HR" sz="1600">
                <a:solidFill>
                  <a:schemeClr val="dk1"/>
                </a:solidFill>
                <a:latin typeface="Calibri"/>
                <a:ea typeface="Calibri"/>
                <a:cs typeface="Calibri"/>
                <a:sym typeface="Calibri"/>
              </a:rPr>
              <a:t>Nacionalni muzej moderne umjetnosti, Moskva</a:t>
            </a:r>
            <a:endParaRPr sz="1600">
              <a:solidFill>
                <a:schemeClr val="dk1"/>
              </a:solidFill>
              <a:latin typeface="Calibri"/>
              <a:ea typeface="Calibri"/>
              <a:cs typeface="Calibri"/>
              <a:sym typeface="Calibri"/>
            </a:endParaRPr>
          </a:p>
        </p:txBody>
      </p:sp>
      <p:pic>
        <p:nvPicPr>
          <p:cNvPr id="264" name="Google Shape;264;p47" descr="D:\FILOZOFSKI\AK_GOD_2017-18\ŠKOLA-ZA-ŽIVOT\EKSPERIMENTALNA-PROVEDBA\METODIČKI-PRIRUČNIK\razrada-Pogled-na-svijet\forma-slike\07.jpg"/>
          <p:cNvPicPr preferRelativeResize="0"/>
          <p:nvPr/>
        </p:nvPicPr>
        <p:blipFill rotWithShape="1">
          <a:blip r:embed="rId3">
            <a:alphaModFix/>
          </a:blip>
          <a:srcRect/>
          <a:stretch/>
        </p:blipFill>
        <p:spPr>
          <a:xfrm>
            <a:off x="815414" y="849102"/>
            <a:ext cx="4860609" cy="4860609"/>
          </a:xfrm>
          <a:prstGeom prst="rect">
            <a:avLst/>
          </a:prstGeom>
          <a:noFill/>
          <a:ln>
            <a:noFill/>
          </a:ln>
        </p:spPr>
      </p:pic>
      <p:sp>
        <p:nvSpPr>
          <p:cNvPr id="265" name="Google Shape;265;p47"/>
          <p:cNvSpPr txBox="1"/>
          <p:nvPr/>
        </p:nvSpPr>
        <p:spPr>
          <a:xfrm>
            <a:off x="1385164" y="260112"/>
            <a:ext cx="3565592" cy="492443"/>
          </a:xfrm>
          <a:prstGeom prst="rect">
            <a:avLst/>
          </a:prstGeom>
          <a:noFill/>
          <a:ln>
            <a:noFill/>
          </a:ln>
        </p:spPr>
        <p:txBody>
          <a:bodyPr spcFirstLastPara="1" wrap="square" lIns="121900" tIns="60933" rIns="121900" bIns="60933" anchor="t" anchorCtr="0">
            <a:noAutofit/>
          </a:bodyPr>
          <a:lstStyle/>
          <a:p>
            <a:r>
              <a:rPr lang="hr-HR" sz="2400" b="1" dirty="0">
                <a:solidFill>
                  <a:schemeClr val="dk1"/>
                </a:solidFill>
                <a:latin typeface="Calibri"/>
                <a:ea typeface="Calibri"/>
                <a:cs typeface="Calibri"/>
                <a:sym typeface="Calibri"/>
              </a:rPr>
              <a:t>ORGANIČKA APSTRAKCIJA</a:t>
            </a:r>
            <a:endParaRPr sz="2400" b="1" dirty="0">
              <a:solidFill>
                <a:schemeClr val="dk1"/>
              </a:solidFill>
              <a:latin typeface="Calibri"/>
              <a:ea typeface="Calibri"/>
              <a:cs typeface="Calibri"/>
              <a:sym typeface="Calibri"/>
            </a:endParaRPr>
          </a:p>
        </p:txBody>
      </p:sp>
      <p:pic>
        <p:nvPicPr>
          <p:cNvPr id="266" name="Google Shape;266;p47" descr="D:\FILOZOFSKI\AK_GOD_2017-18\ŠKOLA-ZA-ŽIVOT\EKSPERIMENTALNA-PROVEDBA\METODIČKI-PRIRUČNIK\razrada-Pogled-na-svijet\forma-slike\11.jpg"/>
          <p:cNvPicPr preferRelativeResize="0"/>
          <p:nvPr/>
        </p:nvPicPr>
        <p:blipFill rotWithShape="1">
          <a:blip r:embed="rId4">
            <a:alphaModFix/>
          </a:blip>
          <a:srcRect/>
          <a:stretch/>
        </p:blipFill>
        <p:spPr>
          <a:xfrm>
            <a:off x="6382611" y="849101"/>
            <a:ext cx="4770541" cy="4860609"/>
          </a:xfrm>
          <a:prstGeom prst="rect">
            <a:avLst/>
          </a:prstGeom>
          <a:noFill/>
          <a:ln>
            <a:noFill/>
          </a:ln>
        </p:spPr>
      </p:pic>
      <p:sp>
        <p:nvSpPr>
          <p:cNvPr id="267" name="Google Shape;267;p47"/>
          <p:cNvSpPr/>
          <p:nvPr/>
        </p:nvSpPr>
        <p:spPr>
          <a:xfrm>
            <a:off x="5719881" y="5794191"/>
            <a:ext cx="6096000" cy="861775"/>
          </a:xfrm>
          <a:prstGeom prst="rect">
            <a:avLst/>
          </a:prstGeom>
          <a:noFill/>
          <a:ln>
            <a:noFill/>
          </a:ln>
        </p:spPr>
        <p:txBody>
          <a:bodyPr spcFirstLastPara="1" wrap="square" lIns="121900" tIns="60933" rIns="121900" bIns="60933" anchor="t" anchorCtr="0">
            <a:noAutofit/>
          </a:bodyPr>
          <a:lstStyle/>
          <a:p>
            <a:pPr algn="ctr"/>
            <a:r>
              <a:rPr lang="hr-HR" sz="1600" dirty="0">
                <a:solidFill>
                  <a:schemeClr val="dk1"/>
                </a:solidFill>
                <a:latin typeface="Calibri"/>
                <a:ea typeface="Calibri"/>
                <a:cs typeface="Calibri"/>
                <a:sym typeface="Calibri"/>
              </a:rPr>
              <a:t>Vasilij Kandinski, </a:t>
            </a:r>
            <a:r>
              <a:rPr lang="hr-HR" sz="1600" i="1" dirty="0">
                <a:solidFill>
                  <a:schemeClr val="dk1"/>
                </a:solidFill>
                <a:latin typeface="Calibri"/>
                <a:ea typeface="Calibri"/>
                <a:cs typeface="Calibri"/>
                <a:sym typeface="Calibri"/>
              </a:rPr>
              <a:t>Nekoliko krugova</a:t>
            </a:r>
            <a:r>
              <a:rPr lang="hr-HR" sz="1600" dirty="0">
                <a:solidFill>
                  <a:schemeClr val="dk1"/>
                </a:solidFill>
                <a:latin typeface="Calibri"/>
                <a:ea typeface="Calibri"/>
                <a:cs typeface="Calibri"/>
                <a:sym typeface="Calibri"/>
              </a:rPr>
              <a:t>, 1926., </a:t>
            </a:r>
            <a:endParaRPr sz="2400" dirty="0"/>
          </a:p>
          <a:p>
            <a:pPr algn="ctr"/>
            <a:r>
              <a:rPr lang="hr-HR" sz="1600" dirty="0">
                <a:solidFill>
                  <a:schemeClr val="dk1"/>
                </a:solidFill>
                <a:latin typeface="Calibri"/>
                <a:ea typeface="Calibri"/>
                <a:cs typeface="Calibri"/>
                <a:sym typeface="Calibri"/>
              </a:rPr>
              <a:t>ulje na platnu, 140,3 x 140,7 cm, </a:t>
            </a:r>
            <a:endParaRPr sz="2400" dirty="0"/>
          </a:p>
          <a:p>
            <a:pPr algn="ctr"/>
            <a:r>
              <a:rPr lang="hr-HR" sz="1600" dirty="0">
                <a:solidFill>
                  <a:schemeClr val="dk1"/>
                </a:solidFill>
                <a:latin typeface="Calibri"/>
                <a:ea typeface="Calibri"/>
                <a:cs typeface="Calibri"/>
                <a:sym typeface="Calibri"/>
              </a:rPr>
              <a:t>Muzej Solomon R. Guggenheim, New York</a:t>
            </a:r>
            <a:endParaRPr sz="2400" dirty="0"/>
          </a:p>
        </p:txBody>
      </p:sp>
      <p:sp>
        <p:nvSpPr>
          <p:cNvPr id="268" name="Google Shape;268;p47"/>
          <p:cNvSpPr txBox="1"/>
          <p:nvPr/>
        </p:nvSpPr>
        <p:spPr>
          <a:xfrm>
            <a:off x="6778148" y="289393"/>
            <a:ext cx="3979467" cy="492443"/>
          </a:xfrm>
          <a:prstGeom prst="rect">
            <a:avLst/>
          </a:prstGeom>
          <a:noFill/>
          <a:ln>
            <a:noFill/>
          </a:ln>
        </p:spPr>
        <p:txBody>
          <a:bodyPr spcFirstLastPara="1" wrap="square" lIns="121900" tIns="60933" rIns="121900" bIns="60933" anchor="t" anchorCtr="0">
            <a:noAutofit/>
          </a:bodyPr>
          <a:lstStyle/>
          <a:p>
            <a:r>
              <a:rPr lang="hr-HR" sz="2400" b="1">
                <a:solidFill>
                  <a:schemeClr val="dk1"/>
                </a:solidFill>
                <a:latin typeface="Calibri"/>
                <a:ea typeface="Calibri"/>
                <a:cs typeface="Calibri"/>
                <a:sym typeface="Calibri"/>
              </a:rPr>
              <a:t>GEOMETRIJSKA APSTRAKCIJA</a:t>
            </a:r>
            <a:endParaRPr sz="2400" b="1">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82717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68"/>
                                        </p:tgtEl>
                                        <p:attrNameLst>
                                          <p:attrName>style.visibility</p:attrName>
                                        </p:attrNameLst>
                                      </p:cBhvr>
                                      <p:to>
                                        <p:strVal val="visible"/>
                                      </p:to>
                                    </p:set>
                                    <p:animEffect transition="in" filter="fade">
                                      <p:cBhvr>
                                        <p:cTn id="11" dur="500"/>
                                        <p:tgtEl>
                                          <p:spTgt spid="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7990" y="256478"/>
            <a:ext cx="11363093" cy="707886"/>
          </a:xfrm>
          <a:prstGeom prst="rect">
            <a:avLst/>
          </a:prstGeom>
          <a:noFill/>
        </p:spPr>
        <p:txBody>
          <a:bodyPr wrap="square" rtlCol="0">
            <a:spAutoFit/>
          </a:bodyPr>
          <a:lstStyle/>
          <a:p>
            <a:r>
              <a:rPr lang="en-US" sz="4000" dirty="0" err="1"/>
              <a:t>Radni</a:t>
            </a:r>
            <a:r>
              <a:rPr lang="en-US" sz="4000" dirty="0"/>
              <a:t> </a:t>
            </a:r>
            <a:r>
              <a:rPr lang="en-US" sz="4000" dirty="0" err="1"/>
              <a:t>listić</a:t>
            </a:r>
            <a:r>
              <a:rPr lang="en-US" sz="4000" dirty="0"/>
              <a:t> 3    </a:t>
            </a:r>
            <a:r>
              <a:rPr lang="en-US" sz="4000" dirty="0" err="1"/>
              <a:t>Usporedi</a:t>
            </a:r>
            <a:r>
              <a:rPr lang="en-US" sz="4000" dirty="0"/>
              <a:t> </a:t>
            </a:r>
            <a:r>
              <a:rPr lang="en-US" sz="4000" dirty="0" err="1"/>
              <a:t>reproducirana</a:t>
            </a:r>
            <a:r>
              <a:rPr lang="en-US" sz="4000" dirty="0"/>
              <a:t> </a:t>
            </a:r>
            <a:r>
              <a:rPr lang="en-US" sz="4000" dirty="0" err="1"/>
              <a:t>djela</a:t>
            </a:r>
            <a:endParaRPr lang="hr-HR" sz="4000" dirty="0"/>
          </a:p>
        </p:txBody>
      </p:sp>
      <p:pic>
        <p:nvPicPr>
          <p:cNvPr id="1026" name="Picture 2" descr="https://images.genial.ly/5b952c378cd99c3a74af3710/ea045cd9-b5d2-4020-9785-de3fbfaf655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7822" y="2157337"/>
            <a:ext cx="3113543" cy="315670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416719" y="5564459"/>
            <a:ext cx="4404732" cy="646331"/>
          </a:xfrm>
          <a:prstGeom prst="rect">
            <a:avLst/>
          </a:prstGeom>
          <a:noFill/>
        </p:spPr>
        <p:txBody>
          <a:bodyPr wrap="square" rtlCol="0">
            <a:spAutoFit/>
          </a:bodyPr>
          <a:lstStyle/>
          <a:p>
            <a:pPr algn="ctr"/>
            <a:r>
              <a:rPr lang="hr-HR" dirty="0"/>
              <a:t>P. Mondrian, Kompozicija 2 u crvenom, plavom i žutom, 1930., ulje na platnu</a:t>
            </a:r>
          </a:p>
        </p:txBody>
      </p:sp>
      <p:pic>
        <p:nvPicPr>
          <p:cNvPr id="1028" name="Picture 4" descr="https://images.genial.ly/5b952c378cd99c3a74af3710/f024efdc-47bd-4de3-ac50-d7f0bcbc9fdf.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3307" y="1599579"/>
            <a:ext cx="5653668" cy="371446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5107259" y="5564459"/>
            <a:ext cx="6891453" cy="369332"/>
          </a:xfrm>
          <a:prstGeom prst="rect">
            <a:avLst/>
          </a:prstGeom>
          <a:noFill/>
        </p:spPr>
        <p:txBody>
          <a:bodyPr wrap="square" rtlCol="0">
            <a:spAutoFit/>
          </a:bodyPr>
          <a:lstStyle/>
          <a:p>
            <a:pPr algn="ctr"/>
            <a:r>
              <a:rPr lang="pl-PL" dirty="0"/>
              <a:t>V. Kandinski, Kompozicija 7, 1913., ulje na platnu</a:t>
            </a:r>
            <a:endParaRPr lang="hr-HR" dirty="0"/>
          </a:p>
        </p:txBody>
      </p:sp>
    </p:spTree>
    <p:extLst>
      <p:ext uri="{BB962C8B-B14F-4D97-AF65-F5344CB8AC3E}">
        <p14:creationId xmlns:p14="http://schemas.microsoft.com/office/powerpoint/2010/main" val="2599538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7356" y="3244334"/>
            <a:ext cx="9077093" cy="769441"/>
          </a:xfrm>
          <a:prstGeom prst="rect">
            <a:avLst/>
          </a:prstGeom>
        </p:spPr>
        <p:txBody>
          <a:bodyPr wrap="square">
            <a:spAutoFit/>
          </a:bodyPr>
          <a:lstStyle/>
          <a:p>
            <a:r>
              <a:rPr lang="hr-HR" sz="4400" dirty="0"/>
              <a:t>http://bit.ly/LUgvg-forma-2</a:t>
            </a:r>
          </a:p>
        </p:txBody>
      </p:sp>
    </p:spTree>
    <p:extLst>
      <p:ext uri="{BB962C8B-B14F-4D97-AF65-F5344CB8AC3E}">
        <p14:creationId xmlns:p14="http://schemas.microsoft.com/office/powerpoint/2010/main" val="7906727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7990" y="3546088"/>
            <a:ext cx="11574966" cy="3046988"/>
          </a:xfrm>
          <a:prstGeom prst="rect">
            <a:avLst/>
          </a:prstGeom>
        </p:spPr>
        <p:txBody>
          <a:bodyPr wrap="square">
            <a:spAutoFit/>
          </a:bodyPr>
          <a:lstStyle/>
          <a:p>
            <a:pPr marL="457200" indent="-457200" algn="just">
              <a:buAutoNum type="alphaLcParenR"/>
            </a:pPr>
            <a:r>
              <a:rPr lang="hr-HR" sz="2400" dirty="0">
                <a:solidFill>
                  <a:srgbClr val="323232"/>
                </a:solidFill>
                <a:latin typeface="H5PDroidSans"/>
              </a:rPr>
              <a:t>Mondrian koristi debele, ravne, crne linije usmjerene vertikalno i horizontalno. Kandinski koristi nepravilne linije različitih debljina i boja te različito usmjerene</a:t>
            </a:r>
            <a:endParaRPr lang="en-US" sz="2400" dirty="0">
              <a:solidFill>
                <a:srgbClr val="323232"/>
              </a:solidFill>
              <a:latin typeface="H5PDroidSans"/>
            </a:endParaRPr>
          </a:p>
          <a:p>
            <a:pPr marL="457200" indent="-457200">
              <a:buAutoNum type="alphaLcParenR"/>
            </a:pPr>
            <a:endParaRPr lang="hr-HR" sz="2400" dirty="0">
              <a:solidFill>
                <a:srgbClr val="323232"/>
              </a:solidFill>
              <a:latin typeface="H5PDroidSans"/>
            </a:endParaRPr>
          </a:p>
          <a:p>
            <a:pPr algn="just"/>
            <a:r>
              <a:rPr lang="en-US" sz="2400" dirty="0">
                <a:solidFill>
                  <a:srgbClr val="323232"/>
                </a:solidFill>
                <a:latin typeface="H5PDroidSans"/>
              </a:rPr>
              <a:t>b) </a:t>
            </a:r>
            <a:r>
              <a:rPr lang="hr-HR" sz="2400" dirty="0">
                <a:solidFill>
                  <a:srgbClr val="323232"/>
                </a:solidFill>
                <a:latin typeface="H5PDroidSans"/>
              </a:rPr>
              <a:t>I Modrian i Kandinski koriste tanke, ravne crne </a:t>
            </a:r>
            <a:r>
              <a:rPr lang="en-US" sz="2400" dirty="0">
                <a:solidFill>
                  <a:srgbClr val="323232"/>
                </a:solidFill>
                <a:latin typeface="H5PDroidSans"/>
              </a:rPr>
              <a:t>li</a:t>
            </a:r>
            <a:r>
              <a:rPr lang="hr-HR" sz="2400" dirty="0">
                <a:solidFill>
                  <a:srgbClr val="323232"/>
                </a:solidFill>
                <a:latin typeface="H5PDroidSans"/>
              </a:rPr>
              <a:t>nije</a:t>
            </a:r>
            <a:endParaRPr lang="en-US" sz="2400" dirty="0">
              <a:solidFill>
                <a:srgbClr val="323232"/>
              </a:solidFill>
              <a:latin typeface="H5PDroidSans"/>
            </a:endParaRPr>
          </a:p>
          <a:p>
            <a:pPr algn="just"/>
            <a:endParaRPr lang="hr-HR" sz="2400" dirty="0">
              <a:solidFill>
                <a:srgbClr val="323232"/>
              </a:solidFill>
              <a:latin typeface="H5PDroidSans"/>
            </a:endParaRPr>
          </a:p>
          <a:p>
            <a:pPr algn="just"/>
            <a:r>
              <a:rPr lang="en-US" sz="2400" dirty="0">
                <a:solidFill>
                  <a:srgbClr val="323232"/>
                </a:solidFill>
                <a:latin typeface="H5PDroidSans"/>
              </a:rPr>
              <a:t>c) </a:t>
            </a:r>
            <a:r>
              <a:rPr lang="hr-HR" sz="2400" dirty="0">
                <a:solidFill>
                  <a:srgbClr val="323232"/>
                </a:solidFill>
                <a:latin typeface="H5PDroidSans"/>
              </a:rPr>
              <a:t>Mondrian koristi ravne i debele linije crne boje. Kandinski koristi crne linije </a:t>
            </a:r>
            <a:r>
              <a:rPr lang="en-US" sz="2400" dirty="0">
                <a:solidFill>
                  <a:srgbClr val="323232"/>
                </a:solidFill>
                <a:latin typeface="H5PDroidSans"/>
              </a:rPr>
              <a:t>    </a:t>
            </a:r>
            <a:r>
              <a:rPr lang="hr-HR" sz="2400" dirty="0">
                <a:solidFill>
                  <a:srgbClr val="323232"/>
                </a:solidFill>
                <a:latin typeface="H5PDroidSans"/>
              </a:rPr>
              <a:t>jednake debljine i različito usmjerene</a:t>
            </a:r>
            <a:endParaRPr lang="hr-HR" sz="2400" b="0" i="0" dirty="0">
              <a:solidFill>
                <a:srgbClr val="323232"/>
              </a:solidFill>
              <a:effectLst/>
              <a:latin typeface="H5PDroidSans"/>
            </a:endParaRPr>
          </a:p>
        </p:txBody>
      </p:sp>
      <p:pic>
        <p:nvPicPr>
          <p:cNvPr id="3" name="Picture 2" descr="https://images.genial.ly/5b952c378cd99c3a74af3710/ea045cd9-b5d2-4020-9785-de3fbfaf655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59497" y="303753"/>
            <a:ext cx="2400270" cy="243354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724830" y="2766605"/>
            <a:ext cx="4839628" cy="646331"/>
          </a:xfrm>
          <a:prstGeom prst="rect">
            <a:avLst/>
          </a:prstGeom>
          <a:noFill/>
        </p:spPr>
        <p:txBody>
          <a:bodyPr wrap="square" rtlCol="0">
            <a:spAutoFit/>
          </a:bodyPr>
          <a:lstStyle/>
          <a:p>
            <a:pPr algn="ctr"/>
            <a:r>
              <a:rPr lang="hr-HR" dirty="0"/>
              <a:t>P. Mondrian, Kompozicija 2 u crvenom, plavom i žutom, 1930., ulje na platnu</a:t>
            </a:r>
          </a:p>
        </p:txBody>
      </p:sp>
      <p:pic>
        <p:nvPicPr>
          <p:cNvPr id="5" name="Picture 4" descr="https://images.genial.ly/5b952c378cd99c3a74af3710/f024efdc-47bd-4de3-ac50-d7f0bcbc9fdf.jpe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01135" y="164548"/>
            <a:ext cx="3960513" cy="260205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6411951" y="2787014"/>
            <a:ext cx="5218109" cy="369332"/>
          </a:xfrm>
          <a:prstGeom prst="rect">
            <a:avLst/>
          </a:prstGeom>
          <a:noFill/>
        </p:spPr>
        <p:txBody>
          <a:bodyPr wrap="square" rtlCol="0">
            <a:spAutoFit/>
          </a:bodyPr>
          <a:lstStyle/>
          <a:p>
            <a:pPr algn="ctr"/>
            <a:r>
              <a:rPr lang="pl-PL" dirty="0"/>
              <a:t>V. Kandinski, Kompozicija 7, 1913., ulje na platnu</a:t>
            </a:r>
            <a:endParaRPr lang="hr-HR" dirty="0"/>
          </a:p>
        </p:txBody>
      </p:sp>
    </p:spTree>
    <p:extLst>
      <p:ext uri="{BB962C8B-B14F-4D97-AF65-F5344CB8AC3E}">
        <p14:creationId xmlns:p14="http://schemas.microsoft.com/office/powerpoint/2010/main" val="34947153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ttps://images.genial.ly/5b952c378cd99c3a74af3710/ea045cd9-b5d2-4020-9785-de3fbfaf655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59497" y="303753"/>
            <a:ext cx="2400270" cy="243354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724830" y="2766605"/>
            <a:ext cx="4839628" cy="646331"/>
          </a:xfrm>
          <a:prstGeom prst="rect">
            <a:avLst/>
          </a:prstGeom>
          <a:noFill/>
        </p:spPr>
        <p:txBody>
          <a:bodyPr wrap="square" rtlCol="0">
            <a:spAutoFit/>
          </a:bodyPr>
          <a:lstStyle/>
          <a:p>
            <a:pPr algn="ctr"/>
            <a:r>
              <a:rPr lang="hr-HR" dirty="0"/>
              <a:t>P. Mondrian, Kompozicija 2 u crvenom, plavom i žutom, 1930., ulje na platnu</a:t>
            </a:r>
          </a:p>
        </p:txBody>
      </p:sp>
      <p:pic>
        <p:nvPicPr>
          <p:cNvPr id="4" name="Picture 3" descr="https://images.genial.ly/5b952c378cd99c3a74af3710/f024efdc-47bd-4de3-ac50-d7f0bcbc9fdf.jpe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01135" y="164548"/>
            <a:ext cx="3960513" cy="260205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6411951" y="2787014"/>
            <a:ext cx="5218109" cy="369332"/>
          </a:xfrm>
          <a:prstGeom prst="rect">
            <a:avLst/>
          </a:prstGeom>
          <a:noFill/>
        </p:spPr>
        <p:txBody>
          <a:bodyPr wrap="square" rtlCol="0">
            <a:spAutoFit/>
          </a:bodyPr>
          <a:lstStyle/>
          <a:p>
            <a:pPr algn="ctr"/>
            <a:r>
              <a:rPr lang="pl-PL" dirty="0"/>
              <a:t>V. Kandinski, Kompozicija 7, 1913., ulje na platnu</a:t>
            </a:r>
            <a:endParaRPr lang="hr-HR" dirty="0"/>
          </a:p>
        </p:txBody>
      </p:sp>
      <p:sp>
        <p:nvSpPr>
          <p:cNvPr id="6" name="TextBox 5"/>
          <p:cNvSpPr txBox="1"/>
          <p:nvPr/>
        </p:nvSpPr>
        <p:spPr>
          <a:xfrm>
            <a:off x="223024" y="3657600"/>
            <a:ext cx="11786839" cy="2954655"/>
          </a:xfrm>
          <a:prstGeom prst="rect">
            <a:avLst/>
          </a:prstGeom>
          <a:noFill/>
        </p:spPr>
        <p:txBody>
          <a:bodyPr wrap="square" rtlCol="0">
            <a:spAutoFit/>
          </a:bodyPr>
          <a:lstStyle/>
          <a:p>
            <a:r>
              <a:rPr lang="en-US" sz="2400" dirty="0"/>
              <a:t>a) </a:t>
            </a:r>
            <a:r>
              <a:rPr lang="hr-HR" sz="2400" dirty="0"/>
              <a:t>Kandinski koristi primarne boje, a Mondrian primarne, sekundarne i tercijarne boje. Oba umjetnika koriste akromatske boje.</a:t>
            </a:r>
            <a:endParaRPr lang="en-US" sz="2400" dirty="0"/>
          </a:p>
          <a:p>
            <a:endParaRPr lang="hr-HR" sz="2400" dirty="0"/>
          </a:p>
          <a:p>
            <a:r>
              <a:rPr lang="en-US" sz="2400" dirty="0"/>
              <a:t>b) </a:t>
            </a:r>
            <a:r>
              <a:rPr lang="hr-HR" sz="2400" dirty="0"/>
              <a:t>Oba umjetnika koriste samo primarne boje.</a:t>
            </a:r>
            <a:endParaRPr lang="en-US" sz="2400" dirty="0"/>
          </a:p>
          <a:p>
            <a:endParaRPr lang="hr-HR" sz="2400" dirty="0"/>
          </a:p>
          <a:p>
            <a:r>
              <a:rPr lang="en-US" sz="2400" dirty="0"/>
              <a:t>c) </a:t>
            </a:r>
            <a:r>
              <a:rPr lang="hr-HR" sz="2400" dirty="0"/>
              <a:t>Mondrian koristi primarne boje, a Kandinski primarne, sekundarne i tercijarne boje. Oba umjetnika koriste akromatske boje</a:t>
            </a:r>
            <a:r>
              <a:rPr lang="en-US" sz="2400" dirty="0"/>
              <a:t>.</a:t>
            </a:r>
            <a:endParaRPr lang="hr-HR" sz="2400" dirty="0"/>
          </a:p>
          <a:p>
            <a:endParaRPr lang="hr-HR" dirty="0"/>
          </a:p>
        </p:txBody>
      </p:sp>
    </p:spTree>
    <p:extLst>
      <p:ext uri="{BB962C8B-B14F-4D97-AF65-F5344CB8AC3E}">
        <p14:creationId xmlns:p14="http://schemas.microsoft.com/office/powerpoint/2010/main" val="14784394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ttps://images.genial.ly/5b952c378cd99c3a74af3710/ea045cd9-b5d2-4020-9785-de3fbfaf655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59497" y="303753"/>
            <a:ext cx="2400270" cy="243354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724830" y="2766605"/>
            <a:ext cx="4839628" cy="646331"/>
          </a:xfrm>
          <a:prstGeom prst="rect">
            <a:avLst/>
          </a:prstGeom>
          <a:noFill/>
        </p:spPr>
        <p:txBody>
          <a:bodyPr wrap="square" rtlCol="0">
            <a:spAutoFit/>
          </a:bodyPr>
          <a:lstStyle/>
          <a:p>
            <a:pPr algn="ctr"/>
            <a:r>
              <a:rPr lang="hr-HR" dirty="0"/>
              <a:t>P. Mondrian, Kompozicija 2 u crvenom, plavom i žutom, 1930., ulje na platnu</a:t>
            </a:r>
          </a:p>
        </p:txBody>
      </p:sp>
      <p:pic>
        <p:nvPicPr>
          <p:cNvPr id="4" name="Picture 3" descr="https://images.genial.ly/5b952c378cd99c3a74af3710/f024efdc-47bd-4de3-ac50-d7f0bcbc9fdf.jpe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01135" y="164548"/>
            <a:ext cx="3960513" cy="260205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6411951" y="2787014"/>
            <a:ext cx="5218109" cy="369332"/>
          </a:xfrm>
          <a:prstGeom prst="rect">
            <a:avLst/>
          </a:prstGeom>
          <a:noFill/>
        </p:spPr>
        <p:txBody>
          <a:bodyPr wrap="square" rtlCol="0">
            <a:spAutoFit/>
          </a:bodyPr>
          <a:lstStyle/>
          <a:p>
            <a:pPr algn="ctr"/>
            <a:r>
              <a:rPr lang="pl-PL" dirty="0"/>
              <a:t>V. Kandinski, Kompozicija 7, 1913., ulje na platnu</a:t>
            </a:r>
            <a:endParaRPr lang="hr-HR" dirty="0"/>
          </a:p>
        </p:txBody>
      </p:sp>
      <p:sp>
        <p:nvSpPr>
          <p:cNvPr id="6" name="TextBox 5"/>
          <p:cNvSpPr txBox="1"/>
          <p:nvPr/>
        </p:nvSpPr>
        <p:spPr>
          <a:xfrm>
            <a:off x="156117" y="3780263"/>
            <a:ext cx="11820293" cy="2831544"/>
          </a:xfrm>
          <a:prstGeom prst="rect">
            <a:avLst/>
          </a:prstGeom>
          <a:noFill/>
        </p:spPr>
        <p:txBody>
          <a:bodyPr wrap="square" rtlCol="0">
            <a:spAutoFit/>
          </a:bodyPr>
          <a:lstStyle/>
          <a:p>
            <a:r>
              <a:rPr lang="en-US" sz="2000" dirty="0"/>
              <a:t>a) </a:t>
            </a:r>
            <a:r>
              <a:rPr lang="hr-HR" sz="2000" dirty="0"/>
              <a:t>Mondrian koristi pravilne, geometrijske oblike, a Kandinski nepravilne, organske oblike . Oba umjetnika koriste oblike koje prepoznajemo iz naše stvarnosti.</a:t>
            </a:r>
            <a:endParaRPr lang="en-US" sz="2000" dirty="0"/>
          </a:p>
          <a:p>
            <a:endParaRPr lang="hr-HR" sz="2000" dirty="0"/>
          </a:p>
          <a:p>
            <a:r>
              <a:rPr lang="en-US" sz="2000" dirty="0"/>
              <a:t>b) </a:t>
            </a:r>
            <a:r>
              <a:rPr lang="hr-HR" sz="2000" dirty="0"/>
              <a:t>Kandinski koristi pravilne, geometrijske oblike, a Mondrian nepravilne, organske oblike . Oba umjetnika koriste oblike koje ne prepoznajemo iz naše stvarnosti, našeg vizualnog okruženja.</a:t>
            </a:r>
            <a:endParaRPr lang="en-US" sz="2000" dirty="0"/>
          </a:p>
          <a:p>
            <a:endParaRPr lang="hr-HR" sz="2000" dirty="0"/>
          </a:p>
          <a:p>
            <a:r>
              <a:rPr lang="en-US" sz="2000" dirty="0"/>
              <a:t>c) </a:t>
            </a:r>
            <a:r>
              <a:rPr lang="hr-HR" sz="2000" dirty="0"/>
              <a:t>Mondrian koristi pravilne, geometrijske oblike, a Kandinski nepravilne, organske oblike . Oba umjetnika koriste oblike koje ne prepoznajemo iz naše stvarnosti, našeg vizualnog okruženja.</a:t>
            </a:r>
          </a:p>
          <a:p>
            <a:endParaRPr lang="hr-HR" dirty="0"/>
          </a:p>
        </p:txBody>
      </p:sp>
    </p:spTree>
    <p:extLst>
      <p:ext uri="{BB962C8B-B14F-4D97-AF65-F5344CB8AC3E}">
        <p14:creationId xmlns:p14="http://schemas.microsoft.com/office/powerpoint/2010/main" val="26665300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nvPr>
        </p:nvGraphicFramePr>
        <p:xfrm>
          <a:off x="1271240" y="970156"/>
          <a:ext cx="10169910" cy="4450300"/>
        </p:xfrm>
        <a:graphic>
          <a:graphicData uri="http://schemas.openxmlformats.org/drawingml/2006/table">
            <a:tbl>
              <a:tblPr/>
              <a:tblGrid>
                <a:gridCol w="6466148">
                  <a:extLst>
                    <a:ext uri="{9D8B030D-6E8A-4147-A177-3AD203B41FA5}">
                      <a16:colId xmlns:a16="http://schemas.microsoft.com/office/drawing/2014/main" val="3906581080"/>
                    </a:ext>
                  </a:extLst>
                </a:gridCol>
                <a:gridCol w="844008">
                  <a:extLst>
                    <a:ext uri="{9D8B030D-6E8A-4147-A177-3AD203B41FA5}">
                      <a16:colId xmlns:a16="http://schemas.microsoft.com/office/drawing/2014/main" val="3687072632"/>
                    </a:ext>
                  </a:extLst>
                </a:gridCol>
                <a:gridCol w="1047733">
                  <a:extLst>
                    <a:ext uri="{9D8B030D-6E8A-4147-A177-3AD203B41FA5}">
                      <a16:colId xmlns:a16="http://schemas.microsoft.com/office/drawing/2014/main" val="1666669116"/>
                    </a:ext>
                  </a:extLst>
                </a:gridCol>
                <a:gridCol w="1048999">
                  <a:extLst>
                    <a:ext uri="{9D8B030D-6E8A-4147-A177-3AD203B41FA5}">
                      <a16:colId xmlns:a16="http://schemas.microsoft.com/office/drawing/2014/main" val="3058028800"/>
                    </a:ext>
                  </a:extLst>
                </a:gridCol>
                <a:gridCol w="763022">
                  <a:extLst>
                    <a:ext uri="{9D8B030D-6E8A-4147-A177-3AD203B41FA5}">
                      <a16:colId xmlns:a16="http://schemas.microsoft.com/office/drawing/2014/main" val="2462082420"/>
                    </a:ext>
                  </a:extLst>
                </a:gridCol>
              </a:tblGrid>
              <a:tr h="691416">
                <a:tc>
                  <a:txBody>
                    <a:bodyPr/>
                    <a:lstStyle/>
                    <a:p>
                      <a:pPr marL="0" marR="0" algn="ctr" fontAlgn="t">
                        <a:spcBef>
                          <a:spcPts val="0"/>
                        </a:spcBef>
                        <a:spcAft>
                          <a:spcPts val="0"/>
                        </a:spcAft>
                      </a:pPr>
                      <a:r>
                        <a:rPr lang="en-US" sz="1100">
                          <a:effectLst/>
                          <a:latin typeface="Calibri" panose="020F0502020204030204" pitchFamily="34" charset="0"/>
                        </a:rPr>
                        <a:t>Samoprocjena/samovrednovanje vlastitog rada i uspjeha u svladavanju novih pojmova i vještina:</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BE5F1"/>
                    </a:solidFill>
                  </a:tcPr>
                </a:tc>
                <a:tc>
                  <a:txBody>
                    <a:bodyPr/>
                    <a:lstStyle/>
                    <a:p>
                      <a:pPr marL="0" marR="0" fontAlgn="t">
                        <a:spcBef>
                          <a:spcPts val="0"/>
                        </a:spcBef>
                        <a:spcAft>
                          <a:spcPts val="0"/>
                        </a:spcAft>
                      </a:pPr>
                      <a:r>
                        <a:rPr lang="en-US" sz="1100">
                          <a:effectLst/>
                          <a:latin typeface="Calibri" panose="020F0502020204030204" pitchFamily="34" charset="0"/>
                        </a:rPr>
                        <a:t> </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BE5F1"/>
                    </a:solidFill>
                  </a:tcPr>
                </a:tc>
                <a:tc>
                  <a:txBody>
                    <a:bodyPr/>
                    <a:lstStyle/>
                    <a:p>
                      <a:pPr marL="0" marR="0" fontAlgn="t">
                        <a:spcBef>
                          <a:spcPts val="0"/>
                        </a:spcBef>
                        <a:spcAft>
                          <a:spcPts val="0"/>
                        </a:spcAft>
                      </a:pPr>
                      <a:r>
                        <a:rPr lang="en-US" sz="1100">
                          <a:effectLst/>
                          <a:latin typeface="Calibri" panose="020F0502020204030204" pitchFamily="34" charset="0"/>
                        </a:rPr>
                        <a:t> </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BE5F1"/>
                    </a:solidFill>
                  </a:tcPr>
                </a:tc>
                <a:tc>
                  <a:txBody>
                    <a:bodyPr/>
                    <a:lstStyle/>
                    <a:p>
                      <a:pPr marL="0" marR="0" fontAlgn="t">
                        <a:spcBef>
                          <a:spcPts val="0"/>
                        </a:spcBef>
                        <a:spcAft>
                          <a:spcPts val="0"/>
                        </a:spcAft>
                      </a:pPr>
                      <a:r>
                        <a:rPr lang="en-US" sz="1100">
                          <a:effectLst/>
                          <a:latin typeface="Calibri" panose="020F0502020204030204" pitchFamily="34" charset="0"/>
                        </a:rPr>
                        <a:t> </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BE5F1"/>
                    </a:solidFill>
                  </a:tcPr>
                </a:tc>
                <a:tc>
                  <a:txBody>
                    <a:bodyPr/>
                    <a:lstStyle/>
                    <a:p>
                      <a:pPr marL="0" marR="0" fontAlgn="t">
                        <a:spcBef>
                          <a:spcPts val="0"/>
                        </a:spcBef>
                        <a:spcAft>
                          <a:spcPts val="0"/>
                        </a:spcAft>
                      </a:pPr>
                      <a:r>
                        <a:rPr lang="en-US" sz="1100">
                          <a:effectLst/>
                          <a:latin typeface="Calibri" panose="020F0502020204030204" pitchFamily="34" charset="0"/>
                        </a:rPr>
                        <a:t> </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BE5F1"/>
                    </a:solidFill>
                  </a:tcPr>
                </a:tc>
                <a:extLst>
                  <a:ext uri="{0D108BD9-81ED-4DB2-BD59-A6C34878D82A}">
                    <a16:rowId xmlns:a16="http://schemas.microsoft.com/office/drawing/2014/main" val="4079274456"/>
                  </a:ext>
                </a:extLst>
              </a:tr>
              <a:tr h="691416">
                <a:tc>
                  <a:txBody>
                    <a:bodyPr/>
                    <a:lstStyle/>
                    <a:p>
                      <a:pPr marL="0" marR="0" fontAlgn="t">
                        <a:spcBef>
                          <a:spcPts val="0"/>
                        </a:spcBef>
                        <a:spcAft>
                          <a:spcPts val="0"/>
                        </a:spcAft>
                      </a:pPr>
                      <a:r>
                        <a:rPr lang="en-US" sz="1100">
                          <a:effectLst/>
                          <a:latin typeface="Calibri" panose="020F0502020204030204" pitchFamily="34" charset="0"/>
                        </a:rPr>
                        <a:t>Razlikujem figurativno, apstraktno i konceptualno na poznatim djelima</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US" sz="1100">
                          <a:effectLst/>
                          <a:latin typeface="Calibri" panose="020F0502020204030204" pitchFamily="34" charset="0"/>
                        </a:rPr>
                        <a:t>Da</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US" sz="1100">
                          <a:effectLst/>
                          <a:latin typeface="Calibri" panose="020F0502020204030204" pitchFamily="34" charset="0"/>
                        </a:rPr>
                        <a:t>Većinom da</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US" sz="1100">
                          <a:effectLst/>
                          <a:latin typeface="Calibri" panose="020F0502020204030204" pitchFamily="34" charset="0"/>
                        </a:rPr>
                        <a:t>Većinom ne</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US" sz="1100">
                          <a:effectLst/>
                          <a:latin typeface="Calibri" panose="020F0502020204030204" pitchFamily="34" charset="0"/>
                        </a:rPr>
                        <a:t>Uopće ne</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3146372044"/>
                  </a:ext>
                </a:extLst>
              </a:tr>
              <a:tr h="691416">
                <a:tc>
                  <a:txBody>
                    <a:bodyPr/>
                    <a:lstStyle/>
                    <a:p>
                      <a:pPr marL="0" marR="0" fontAlgn="t">
                        <a:spcBef>
                          <a:spcPts val="0"/>
                        </a:spcBef>
                        <a:spcAft>
                          <a:spcPts val="0"/>
                        </a:spcAft>
                      </a:pPr>
                      <a:r>
                        <a:rPr lang="en-US" sz="1100" dirty="0" err="1">
                          <a:effectLst/>
                          <a:latin typeface="Calibri" panose="020F0502020204030204" pitchFamily="34" charset="0"/>
                        </a:rPr>
                        <a:t>Razlikujem</a:t>
                      </a:r>
                      <a:r>
                        <a:rPr lang="en-US" sz="1100" dirty="0">
                          <a:effectLst/>
                          <a:latin typeface="Calibri" panose="020F0502020204030204" pitchFamily="34" charset="0"/>
                        </a:rPr>
                        <a:t> </a:t>
                      </a:r>
                      <a:r>
                        <a:rPr lang="en-US" sz="1100" dirty="0" err="1">
                          <a:effectLst/>
                          <a:latin typeface="Calibri" panose="020F0502020204030204" pitchFamily="34" charset="0"/>
                        </a:rPr>
                        <a:t>figurativno</a:t>
                      </a:r>
                      <a:r>
                        <a:rPr lang="en-US" sz="1100" dirty="0">
                          <a:effectLst/>
                          <a:latin typeface="Calibri" panose="020F0502020204030204" pitchFamily="34" charset="0"/>
                        </a:rPr>
                        <a:t>, </a:t>
                      </a:r>
                      <a:r>
                        <a:rPr lang="en-US" sz="1100" dirty="0" err="1">
                          <a:effectLst/>
                          <a:latin typeface="Calibri" panose="020F0502020204030204" pitchFamily="34" charset="0"/>
                        </a:rPr>
                        <a:t>apstraktno</a:t>
                      </a:r>
                      <a:r>
                        <a:rPr lang="en-US" sz="1100" dirty="0">
                          <a:effectLst/>
                          <a:latin typeface="Calibri" panose="020F0502020204030204" pitchFamily="34" charset="0"/>
                        </a:rPr>
                        <a:t> </a:t>
                      </a:r>
                      <a:r>
                        <a:rPr lang="en-US" sz="1100" dirty="0" err="1">
                          <a:effectLst/>
                          <a:latin typeface="Calibri" panose="020F0502020204030204" pitchFamily="34" charset="0"/>
                        </a:rPr>
                        <a:t>i</a:t>
                      </a:r>
                      <a:r>
                        <a:rPr lang="en-US" sz="1100" dirty="0">
                          <a:effectLst/>
                          <a:latin typeface="Calibri" panose="020F0502020204030204" pitchFamily="34" charset="0"/>
                        </a:rPr>
                        <a:t> </a:t>
                      </a:r>
                      <a:r>
                        <a:rPr lang="en-US" sz="1100" dirty="0" err="1">
                          <a:effectLst/>
                          <a:latin typeface="Calibri" panose="020F0502020204030204" pitchFamily="34" charset="0"/>
                        </a:rPr>
                        <a:t>konceptualno</a:t>
                      </a:r>
                      <a:r>
                        <a:rPr lang="en-US" sz="1100" dirty="0">
                          <a:effectLst/>
                          <a:latin typeface="Calibri" panose="020F0502020204030204" pitchFamily="34" charset="0"/>
                        </a:rPr>
                        <a:t> </a:t>
                      </a:r>
                      <a:r>
                        <a:rPr lang="en-US" sz="1100" dirty="0" err="1">
                          <a:effectLst/>
                          <a:latin typeface="Calibri" panose="020F0502020204030204" pitchFamily="34" charset="0"/>
                        </a:rPr>
                        <a:t>na</a:t>
                      </a:r>
                      <a:r>
                        <a:rPr lang="en-US" sz="1100" dirty="0">
                          <a:effectLst/>
                          <a:latin typeface="Calibri" panose="020F0502020204030204" pitchFamily="34" charset="0"/>
                        </a:rPr>
                        <a:t> </a:t>
                      </a:r>
                      <a:r>
                        <a:rPr lang="en-US" sz="1100" dirty="0" err="1">
                          <a:effectLst/>
                          <a:latin typeface="Calibri" panose="020F0502020204030204" pitchFamily="34" charset="0"/>
                        </a:rPr>
                        <a:t>nepoznatim</a:t>
                      </a:r>
                      <a:r>
                        <a:rPr lang="en-US" sz="1100" dirty="0">
                          <a:effectLst/>
                          <a:latin typeface="Calibri" panose="020F0502020204030204" pitchFamily="34" charset="0"/>
                        </a:rPr>
                        <a:t> </a:t>
                      </a:r>
                      <a:r>
                        <a:rPr lang="en-US" sz="1100" dirty="0" err="1">
                          <a:effectLst/>
                          <a:latin typeface="Calibri" panose="020F0502020204030204" pitchFamily="34" charset="0"/>
                        </a:rPr>
                        <a:t>djelima</a:t>
                      </a:r>
                      <a:endParaRPr lang="en-US" sz="1100" dirty="0">
                        <a:effectLst/>
                        <a:latin typeface="Calibri" panose="020F0502020204030204" pitchFamily="34"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US" sz="1100">
                          <a:effectLst/>
                          <a:latin typeface="Calibri" panose="020F0502020204030204" pitchFamily="34" charset="0"/>
                        </a:rPr>
                        <a:t>Da</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US" sz="1100">
                          <a:effectLst/>
                          <a:latin typeface="Calibri" panose="020F0502020204030204" pitchFamily="34" charset="0"/>
                        </a:rPr>
                        <a:t>Većinom da</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US" sz="1100">
                          <a:effectLst/>
                          <a:latin typeface="Calibri" panose="020F0502020204030204" pitchFamily="34" charset="0"/>
                        </a:rPr>
                        <a:t>Većinom ne</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US" sz="1100">
                          <a:effectLst/>
                          <a:latin typeface="Calibri" panose="020F0502020204030204" pitchFamily="34" charset="0"/>
                        </a:rPr>
                        <a:t>Uopće ne</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548256216"/>
                  </a:ext>
                </a:extLst>
              </a:tr>
              <a:tr h="496610">
                <a:tc>
                  <a:txBody>
                    <a:bodyPr/>
                    <a:lstStyle/>
                    <a:p>
                      <a:pPr marL="0" marR="0" fontAlgn="t">
                        <a:spcBef>
                          <a:spcPts val="0"/>
                        </a:spcBef>
                        <a:spcAft>
                          <a:spcPts val="0"/>
                        </a:spcAft>
                      </a:pPr>
                      <a:r>
                        <a:rPr lang="en-US" sz="1100" dirty="0" err="1">
                          <a:effectLst/>
                          <a:latin typeface="Calibri" panose="020F0502020204030204" pitchFamily="34" charset="0"/>
                        </a:rPr>
                        <a:t>Potrebno</a:t>
                      </a:r>
                      <a:r>
                        <a:rPr lang="en-US" sz="1100" dirty="0">
                          <a:effectLst/>
                          <a:latin typeface="Calibri" panose="020F0502020204030204" pitchFamily="34" charset="0"/>
                        </a:rPr>
                        <a:t> mi je </a:t>
                      </a:r>
                      <a:r>
                        <a:rPr lang="en-US" sz="1100" dirty="0" err="1">
                          <a:effectLst/>
                          <a:latin typeface="Calibri" panose="020F0502020204030204" pitchFamily="34" charset="0"/>
                        </a:rPr>
                        <a:t>dodatno</a:t>
                      </a:r>
                      <a:r>
                        <a:rPr lang="en-US" sz="1100" dirty="0">
                          <a:effectLst/>
                          <a:latin typeface="Calibri" panose="020F0502020204030204" pitchFamily="34" charset="0"/>
                        </a:rPr>
                        <a:t> </a:t>
                      </a:r>
                      <a:r>
                        <a:rPr lang="en-US" sz="1100" dirty="0" err="1">
                          <a:effectLst/>
                          <a:latin typeface="Calibri" panose="020F0502020204030204" pitchFamily="34" charset="0"/>
                        </a:rPr>
                        <a:t>vježbanje</a:t>
                      </a:r>
                      <a:r>
                        <a:rPr lang="en-US" sz="1100" dirty="0">
                          <a:effectLst/>
                          <a:latin typeface="Calibri" panose="020F0502020204030204" pitchFamily="34" charset="0"/>
                        </a:rPr>
                        <a:t>  </a:t>
                      </a:r>
                      <a:r>
                        <a:rPr lang="en-US" sz="1100" dirty="0" err="1">
                          <a:effectLst/>
                          <a:latin typeface="Calibri" panose="020F0502020204030204" pitchFamily="34" charset="0"/>
                        </a:rPr>
                        <a:t>prepoznavanja</a:t>
                      </a:r>
                      <a:r>
                        <a:rPr lang="en-US" sz="1100" dirty="0">
                          <a:effectLst/>
                          <a:latin typeface="Calibri" panose="020F0502020204030204" pitchFamily="34" charset="0"/>
                        </a:rPr>
                        <a:t> </a:t>
                      </a:r>
                      <a:r>
                        <a:rPr lang="en-US" sz="1100" dirty="0" err="1">
                          <a:effectLst/>
                          <a:latin typeface="Calibri" panose="020F0502020204030204" pitchFamily="34" charset="0"/>
                        </a:rPr>
                        <a:t>pojedinih</a:t>
                      </a:r>
                      <a:r>
                        <a:rPr lang="en-US" sz="1100" dirty="0">
                          <a:effectLst/>
                          <a:latin typeface="Calibri" panose="020F0502020204030204" pitchFamily="34" charset="0"/>
                        </a:rPr>
                        <a:t> </a:t>
                      </a:r>
                      <a:r>
                        <a:rPr lang="en-US" sz="1100" dirty="0" err="1">
                          <a:effectLst/>
                          <a:latin typeface="Calibri" panose="020F0502020204030204" pitchFamily="34" charset="0"/>
                        </a:rPr>
                        <a:t>načina</a:t>
                      </a:r>
                      <a:r>
                        <a:rPr lang="en-US" sz="1100" dirty="0">
                          <a:effectLst/>
                          <a:latin typeface="Calibri" panose="020F0502020204030204" pitchFamily="34" charset="0"/>
                        </a:rPr>
                        <a:t> </a:t>
                      </a:r>
                      <a:r>
                        <a:rPr lang="en-US" sz="1100" dirty="0" err="1">
                          <a:effectLst/>
                          <a:latin typeface="Calibri" panose="020F0502020204030204" pitchFamily="34" charset="0"/>
                        </a:rPr>
                        <a:t>oblikovanja</a:t>
                      </a:r>
                      <a:r>
                        <a:rPr lang="en-US" sz="1100" dirty="0">
                          <a:effectLst/>
                          <a:latin typeface="Calibri" panose="020F0502020204030204" pitchFamily="34" charset="0"/>
                        </a:rPr>
                        <a:t> </a:t>
                      </a:r>
                      <a:r>
                        <a:rPr lang="en-US" sz="1100" dirty="0" err="1">
                          <a:effectLst/>
                          <a:latin typeface="Calibri" panose="020F0502020204030204" pitchFamily="34" charset="0"/>
                        </a:rPr>
                        <a:t>forme</a:t>
                      </a:r>
                      <a:endParaRPr lang="en-US" sz="1100" dirty="0">
                        <a:effectLst/>
                        <a:latin typeface="Calibri" panose="020F0502020204030204" pitchFamily="34"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US" sz="1100">
                          <a:effectLst/>
                          <a:latin typeface="Calibri" panose="020F0502020204030204" pitchFamily="34" charset="0"/>
                        </a:rPr>
                        <a:t>Da</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US" sz="1100">
                          <a:effectLst/>
                          <a:latin typeface="Calibri" panose="020F0502020204030204" pitchFamily="34" charset="0"/>
                        </a:rPr>
                        <a:t>Većinom da</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US" sz="1100">
                          <a:effectLst/>
                          <a:latin typeface="Calibri" panose="020F0502020204030204" pitchFamily="34" charset="0"/>
                        </a:rPr>
                        <a:t>Većinom ne</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US" sz="1100">
                          <a:effectLst/>
                          <a:latin typeface="Calibri" panose="020F0502020204030204" pitchFamily="34" charset="0"/>
                        </a:rPr>
                        <a:t>Uopće ne</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3233761800"/>
                  </a:ext>
                </a:extLst>
              </a:tr>
              <a:tr h="496610">
                <a:tc>
                  <a:txBody>
                    <a:bodyPr/>
                    <a:lstStyle/>
                    <a:p>
                      <a:pPr marL="0" marR="0" fontAlgn="t">
                        <a:spcBef>
                          <a:spcPts val="0"/>
                        </a:spcBef>
                        <a:spcAft>
                          <a:spcPts val="0"/>
                        </a:spcAft>
                      </a:pPr>
                      <a:r>
                        <a:rPr lang="en-US" sz="1100">
                          <a:effectLst/>
                          <a:latin typeface="Calibri" panose="020F0502020204030204" pitchFamily="34" charset="0"/>
                        </a:rPr>
                        <a:t>Aktivno sudjelujem u aktivnostima na satu</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hr-HR" sz="1100">
                          <a:effectLst/>
                          <a:latin typeface="Calibri" panose="020F0502020204030204" pitchFamily="34" charset="0"/>
                        </a:rPr>
                        <a:t>Da</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US" sz="1100">
                          <a:effectLst/>
                          <a:latin typeface="Calibri" panose="020F0502020204030204" pitchFamily="34" charset="0"/>
                        </a:rPr>
                        <a:t>Većinom da</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US" sz="1100">
                          <a:effectLst/>
                          <a:latin typeface="Calibri" panose="020F0502020204030204" pitchFamily="34" charset="0"/>
                        </a:rPr>
                        <a:t>Većinom ne</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US" sz="1100" dirty="0" err="1">
                          <a:effectLst/>
                          <a:latin typeface="Calibri" panose="020F0502020204030204" pitchFamily="34" charset="0"/>
                        </a:rPr>
                        <a:t>Uopće</a:t>
                      </a:r>
                      <a:r>
                        <a:rPr lang="en-US" sz="1100" dirty="0">
                          <a:effectLst/>
                          <a:latin typeface="Calibri" panose="020F0502020204030204" pitchFamily="34" charset="0"/>
                        </a:rPr>
                        <a:t> ne</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3563608492"/>
                  </a:ext>
                </a:extLst>
              </a:tr>
              <a:tr h="691416">
                <a:tc>
                  <a:txBody>
                    <a:bodyPr/>
                    <a:lstStyle/>
                    <a:p>
                      <a:pPr marL="0" marR="0" fontAlgn="t">
                        <a:spcBef>
                          <a:spcPts val="0"/>
                        </a:spcBef>
                        <a:spcAft>
                          <a:spcPts val="0"/>
                        </a:spcAft>
                      </a:pPr>
                      <a:r>
                        <a:rPr lang="en-US" sz="1100">
                          <a:effectLst/>
                          <a:latin typeface="Calibri" panose="020F0502020204030204" pitchFamily="34" charset="0"/>
                        </a:rPr>
                        <a:t>Aktivno sam sudjelovao/la u zadanim aktivnostima na satu</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US" sz="1100">
                          <a:effectLst/>
                          <a:latin typeface="Calibri" panose="020F0502020204030204" pitchFamily="34" charset="0"/>
                        </a:rPr>
                        <a:t>Da</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US" sz="1100">
                          <a:effectLst/>
                          <a:latin typeface="Calibri" panose="020F0502020204030204" pitchFamily="34" charset="0"/>
                        </a:rPr>
                        <a:t>Većinom da</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US" sz="1100">
                          <a:effectLst/>
                          <a:latin typeface="Calibri" panose="020F0502020204030204" pitchFamily="34" charset="0"/>
                        </a:rPr>
                        <a:t>Većinom ne</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US" sz="1100">
                          <a:effectLst/>
                          <a:latin typeface="Calibri" panose="020F0502020204030204" pitchFamily="34" charset="0"/>
                        </a:rPr>
                        <a:t>Uopće ne</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478902221"/>
                  </a:ext>
                </a:extLst>
              </a:tr>
              <a:tr h="691416">
                <a:tc>
                  <a:txBody>
                    <a:bodyPr/>
                    <a:lstStyle/>
                    <a:p>
                      <a:pPr marL="0" marR="0" fontAlgn="t">
                        <a:spcBef>
                          <a:spcPts val="0"/>
                        </a:spcBef>
                        <a:spcAft>
                          <a:spcPts val="0"/>
                        </a:spcAft>
                      </a:pPr>
                      <a:r>
                        <a:rPr lang="en-US" sz="1100" dirty="0" err="1">
                          <a:effectLst/>
                          <a:latin typeface="Calibri" panose="020F0502020204030204" pitchFamily="34" charset="0"/>
                        </a:rPr>
                        <a:t>Iskustvo</a:t>
                      </a:r>
                      <a:r>
                        <a:rPr lang="en-US" sz="1100" dirty="0">
                          <a:effectLst/>
                          <a:latin typeface="Calibri" panose="020F0502020204030204" pitchFamily="34" charset="0"/>
                        </a:rPr>
                        <a:t> u </a:t>
                      </a:r>
                      <a:r>
                        <a:rPr lang="en-US" sz="1100" dirty="0" err="1">
                          <a:effectLst/>
                          <a:latin typeface="Calibri" panose="020F0502020204030204" pitchFamily="34" charset="0"/>
                        </a:rPr>
                        <a:t>radu</a:t>
                      </a:r>
                      <a:r>
                        <a:rPr lang="en-US" sz="1100" dirty="0">
                          <a:effectLst/>
                          <a:latin typeface="Calibri" panose="020F0502020204030204" pitchFamily="34" charset="0"/>
                        </a:rPr>
                        <a:t> </a:t>
                      </a:r>
                      <a:r>
                        <a:rPr lang="en-US" sz="1100" dirty="0" err="1">
                          <a:effectLst/>
                          <a:latin typeface="Calibri" panose="020F0502020204030204" pitchFamily="34" charset="0"/>
                        </a:rPr>
                        <a:t>na</a:t>
                      </a:r>
                      <a:r>
                        <a:rPr lang="en-US" sz="1100" dirty="0">
                          <a:effectLst/>
                          <a:latin typeface="Calibri" panose="020F0502020204030204" pitchFamily="34" charset="0"/>
                        </a:rPr>
                        <a:t> </a:t>
                      </a:r>
                      <a:r>
                        <a:rPr lang="en-US" sz="1100" dirty="0" err="1">
                          <a:effectLst/>
                          <a:latin typeface="Calibri" panose="020F0502020204030204" pitchFamily="34" charset="0"/>
                        </a:rPr>
                        <a:t>zadanim</a:t>
                      </a:r>
                      <a:r>
                        <a:rPr lang="en-US" sz="1100" dirty="0">
                          <a:effectLst/>
                          <a:latin typeface="Calibri" panose="020F0502020204030204" pitchFamily="34" charset="0"/>
                        </a:rPr>
                        <a:t> </a:t>
                      </a:r>
                      <a:r>
                        <a:rPr lang="en-US" sz="1100" dirty="0" err="1">
                          <a:effectLst/>
                          <a:latin typeface="Calibri" panose="020F0502020204030204" pitchFamily="34" charset="0"/>
                        </a:rPr>
                        <a:t>aktivnostima</a:t>
                      </a:r>
                      <a:r>
                        <a:rPr lang="en-US" sz="1100" dirty="0">
                          <a:effectLst/>
                          <a:latin typeface="Calibri" panose="020F0502020204030204" pitchFamily="34" charset="0"/>
                        </a:rPr>
                        <a:t> </a:t>
                      </a:r>
                      <a:r>
                        <a:rPr lang="en-US" sz="1100" dirty="0" err="1">
                          <a:effectLst/>
                          <a:latin typeface="Calibri" panose="020F0502020204030204" pitchFamily="34" charset="0"/>
                        </a:rPr>
                        <a:t>koristit</a:t>
                      </a:r>
                      <a:r>
                        <a:rPr lang="en-US" sz="1100" dirty="0">
                          <a:effectLst/>
                          <a:latin typeface="Calibri" panose="020F0502020204030204" pitchFamily="34" charset="0"/>
                        </a:rPr>
                        <a:t> </a:t>
                      </a:r>
                      <a:r>
                        <a:rPr lang="en-US" sz="1100" dirty="0" err="1">
                          <a:effectLst/>
                          <a:latin typeface="Calibri" panose="020F0502020204030204" pitchFamily="34" charset="0"/>
                        </a:rPr>
                        <a:t>će</a:t>
                      </a:r>
                      <a:r>
                        <a:rPr lang="en-US" sz="1100" dirty="0">
                          <a:effectLst/>
                          <a:latin typeface="Calibri" panose="020F0502020204030204" pitchFamily="34" charset="0"/>
                        </a:rPr>
                        <a:t> mi u </a:t>
                      </a:r>
                      <a:r>
                        <a:rPr lang="en-US" sz="1100" dirty="0" err="1">
                          <a:effectLst/>
                          <a:latin typeface="Calibri" panose="020F0502020204030204" pitchFamily="34" charset="0"/>
                        </a:rPr>
                        <a:t>samostalnom</a:t>
                      </a:r>
                      <a:r>
                        <a:rPr lang="en-US" sz="1100" dirty="0">
                          <a:effectLst/>
                          <a:latin typeface="Calibri" panose="020F0502020204030204" pitchFamily="34" charset="0"/>
                        </a:rPr>
                        <a:t> </a:t>
                      </a:r>
                      <a:r>
                        <a:rPr lang="en-US" sz="1100" dirty="0" err="1">
                          <a:effectLst/>
                          <a:latin typeface="Calibri" panose="020F0502020204030204" pitchFamily="34" charset="0"/>
                        </a:rPr>
                        <a:t>radu</a:t>
                      </a:r>
                      <a:endParaRPr lang="en-US" sz="1100" dirty="0">
                        <a:effectLst/>
                        <a:latin typeface="Calibri" panose="020F0502020204030204" pitchFamily="34"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US" sz="1100">
                          <a:effectLst/>
                          <a:latin typeface="Calibri" panose="020F0502020204030204" pitchFamily="34" charset="0"/>
                        </a:rPr>
                        <a:t>Da</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US" sz="1100">
                          <a:effectLst/>
                          <a:latin typeface="Calibri" panose="020F0502020204030204" pitchFamily="34" charset="0"/>
                        </a:rPr>
                        <a:t>Većinom da</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US" sz="1100">
                          <a:effectLst/>
                          <a:latin typeface="Calibri" panose="020F0502020204030204" pitchFamily="34" charset="0"/>
                        </a:rPr>
                        <a:t>Većinom ne</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US" sz="1100" dirty="0" err="1">
                          <a:effectLst/>
                          <a:latin typeface="Calibri" panose="020F0502020204030204" pitchFamily="34" charset="0"/>
                        </a:rPr>
                        <a:t>Uopće</a:t>
                      </a:r>
                      <a:r>
                        <a:rPr lang="en-US" sz="1100" dirty="0">
                          <a:effectLst/>
                          <a:latin typeface="Calibri" panose="020F0502020204030204" pitchFamily="34" charset="0"/>
                        </a:rPr>
                        <a:t> ne</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1730538340"/>
                  </a:ext>
                </a:extLst>
              </a:tr>
            </a:tbl>
          </a:graphicData>
        </a:graphic>
      </p:graphicFrame>
    </p:spTree>
    <p:extLst>
      <p:ext uri="{BB962C8B-B14F-4D97-AF65-F5344CB8AC3E}">
        <p14:creationId xmlns:p14="http://schemas.microsoft.com/office/powerpoint/2010/main" val="39314791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pic>
        <p:nvPicPr>
          <p:cNvPr id="274" name="Google Shape;274;p48"/>
          <p:cNvPicPr preferRelativeResize="0"/>
          <p:nvPr/>
        </p:nvPicPr>
        <p:blipFill rotWithShape="1">
          <a:blip r:embed="rId3">
            <a:alphaModFix/>
          </a:blip>
          <a:srcRect/>
          <a:stretch/>
        </p:blipFill>
        <p:spPr>
          <a:xfrm>
            <a:off x="271343" y="1376749"/>
            <a:ext cx="5416704" cy="4068475"/>
          </a:xfrm>
          <a:prstGeom prst="rect">
            <a:avLst/>
          </a:prstGeom>
          <a:noFill/>
          <a:ln>
            <a:noFill/>
          </a:ln>
        </p:spPr>
      </p:pic>
      <p:sp>
        <p:nvSpPr>
          <p:cNvPr id="275" name="Google Shape;275;p48"/>
          <p:cNvSpPr txBox="1"/>
          <p:nvPr/>
        </p:nvSpPr>
        <p:spPr>
          <a:xfrm>
            <a:off x="610175" y="5733257"/>
            <a:ext cx="4896544" cy="656591"/>
          </a:xfrm>
          <a:prstGeom prst="rect">
            <a:avLst/>
          </a:prstGeom>
          <a:noFill/>
          <a:ln>
            <a:noFill/>
          </a:ln>
        </p:spPr>
        <p:txBody>
          <a:bodyPr spcFirstLastPara="1" wrap="square" lIns="121900" tIns="60933" rIns="121900" bIns="60933" anchor="t" anchorCtr="0">
            <a:noAutofit/>
          </a:bodyPr>
          <a:lstStyle/>
          <a:p>
            <a:pPr algn="ctr"/>
            <a:r>
              <a:rPr lang="hr-HR" sz="1733">
                <a:solidFill>
                  <a:schemeClr val="dk1"/>
                </a:solidFill>
                <a:latin typeface="Calibri"/>
                <a:ea typeface="Calibri"/>
                <a:cs typeface="Calibri"/>
                <a:sym typeface="Calibri"/>
              </a:rPr>
              <a:t>Vojin Bakić, </a:t>
            </a:r>
            <a:r>
              <a:rPr lang="hr-HR" sz="1733" i="1">
                <a:solidFill>
                  <a:schemeClr val="dk1"/>
                </a:solidFill>
                <a:latin typeface="Calibri"/>
                <a:ea typeface="Calibri"/>
                <a:cs typeface="Calibri"/>
                <a:sym typeface="Calibri"/>
              </a:rPr>
              <a:t>Ležeći akt</a:t>
            </a:r>
            <a:r>
              <a:rPr lang="hr-HR" sz="1733">
                <a:solidFill>
                  <a:schemeClr val="dk1"/>
                </a:solidFill>
                <a:latin typeface="Calibri"/>
                <a:ea typeface="Calibri"/>
                <a:cs typeface="Calibri"/>
                <a:sym typeface="Calibri"/>
              </a:rPr>
              <a:t>, 1955./6., </a:t>
            </a:r>
            <a:br>
              <a:rPr lang="hr-HR" sz="1733">
                <a:solidFill>
                  <a:schemeClr val="dk1"/>
                </a:solidFill>
                <a:latin typeface="Calibri"/>
                <a:ea typeface="Calibri"/>
                <a:cs typeface="Calibri"/>
                <a:sym typeface="Calibri"/>
              </a:rPr>
            </a:br>
            <a:r>
              <a:rPr lang="hr-HR" sz="1733">
                <a:solidFill>
                  <a:schemeClr val="dk1"/>
                </a:solidFill>
                <a:latin typeface="Calibri"/>
                <a:ea typeface="Calibri"/>
                <a:cs typeface="Calibri"/>
                <a:sym typeface="Calibri"/>
              </a:rPr>
              <a:t>mramor, Galerija Matice srpske</a:t>
            </a:r>
            <a:endParaRPr sz="1733">
              <a:solidFill>
                <a:schemeClr val="dk1"/>
              </a:solidFill>
              <a:latin typeface="Calibri"/>
              <a:ea typeface="Calibri"/>
              <a:cs typeface="Calibri"/>
              <a:sym typeface="Calibri"/>
            </a:endParaRPr>
          </a:p>
        </p:txBody>
      </p:sp>
      <p:pic>
        <p:nvPicPr>
          <p:cNvPr id="276" name="Google Shape;276;p48" descr="D:\FILOZOFSKI\AK_GOD_2013_14\NASTAVA\VOJIN_BAKIC\BAKIC_MSU\IMG_2508.JPG"/>
          <p:cNvPicPr preferRelativeResize="0"/>
          <p:nvPr/>
        </p:nvPicPr>
        <p:blipFill rotWithShape="1">
          <a:blip r:embed="rId4">
            <a:alphaModFix/>
          </a:blip>
          <a:srcRect/>
          <a:stretch/>
        </p:blipFill>
        <p:spPr>
          <a:xfrm>
            <a:off x="5999990" y="1295440"/>
            <a:ext cx="5469039" cy="4101779"/>
          </a:xfrm>
          <a:prstGeom prst="rect">
            <a:avLst/>
          </a:prstGeom>
          <a:noFill/>
          <a:ln>
            <a:noFill/>
          </a:ln>
        </p:spPr>
      </p:pic>
      <p:sp>
        <p:nvSpPr>
          <p:cNvPr id="277" name="Google Shape;277;p48"/>
          <p:cNvSpPr txBox="1"/>
          <p:nvPr/>
        </p:nvSpPr>
        <p:spPr>
          <a:xfrm>
            <a:off x="6382247" y="5733257"/>
            <a:ext cx="4896544" cy="656591"/>
          </a:xfrm>
          <a:prstGeom prst="rect">
            <a:avLst/>
          </a:prstGeom>
          <a:noFill/>
          <a:ln>
            <a:noFill/>
          </a:ln>
        </p:spPr>
        <p:txBody>
          <a:bodyPr spcFirstLastPara="1" wrap="square" lIns="121900" tIns="60933" rIns="121900" bIns="60933" anchor="t" anchorCtr="0">
            <a:noAutofit/>
          </a:bodyPr>
          <a:lstStyle/>
          <a:p>
            <a:pPr algn="ctr"/>
            <a:r>
              <a:rPr lang="hr-HR" sz="1733">
                <a:solidFill>
                  <a:schemeClr val="dk1"/>
                </a:solidFill>
                <a:latin typeface="Calibri"/>
                <a:ea typeface="Calibri"/>
                <a:cs typeface="Calibri"/>
                <a:sym typeface="Calibri"/>
              </a:rPr>
              <a:t>Vojin Bakić, </a:t>
            </a:r>
            <a:r>
              <a:rPr lang="hr-HR" sz="1733" i="1">
                <a:solidFill>
                  <a:schemeClr val="dk1"/>
                </a:solidFill>
                <a:latin typeface="Calibri"/>
                <a:ea typeface="Calibri"/>
                <a:cs typeface="Calibri"/>
                <a:sym typeface="Calibri"/>
              </a:rPr>
              <a:t>Ležeći torzo</a:t>
            </a:r>
            <a:r>
              <a:rPr lang="hr-HR" sz="1733">
                <a:solidFill>
                  <a:schemeClr val="dk1"/>
                </a:solidFill>
                <a:latin typeface="Calibri"/>
                <a:ea typeface="Calibri"/>
                <a:cs typeface="Calibri"/>
                <a:sym typeface="Calibri"/>
              </a:rPr>
              <a:t>, 1958., </a:t>
            </a:r>
            <a:br>
              <a:rPr lang="hr-HR" sz="1733">
                <a:solidFill>
                  <a:schemeClr val="dk1"/>
                </a:solidFill>
                <a:latin typeface="Calibri"/>
                <a:ea typeface="Calibri"/>
                <a:cs typeface="Calibri"/>
                <a:sym typeface="Calibri"/>
              </a:rPr>
            </a:br>
            <a:r>
              <a:rPr lang="hr-HR" sz="1733">
                <a:solidFill>
                  <a:schemeClr val="dk1"/>
                </a:solidFill>
                <a:latin typeface="Calibri"/>
                <a:ea typeface="Calibri"/>
                <a:cs typeface="Calibri"/>
                <a:sym typeface="Calibri"/>
              </a:rPr>
              <a:t>kamen, Muzej savremene umetnosti, Beograd</a:t>
            </a:r>
            <a:endParaRPr sz="1733">
              <a:solidFill>
                <a:schemeClr val="dk1"/>
              </a:solidFill>
              <a:latin typeface="Calibri"/>
              <a:ea typeface="Calibri"/>
              <a:cs typeface="Calibri"/>
              <a:sym typeface="Calibri"/>
            </a:endParaRPr>
          </a:p>
        </p:txBody>
      </p:sp>
      <p:sp>
        <p:nvSpPr>
          <p:cNvPr id="278" name="Google Shape;278;p48"/>
          <p:cNvSpPr txBox="1"/>
          <p:nvPr/>
        </p:nvSpPr>
        <p:spPr>
          <a:xfrm>
            <a:off x="719403" y="265286"/>
            <a:ext cx="2075269" cy="861775"/>
          </a:xfrm>
          <a:prstGeom prst="rect">
            <a:avLst/>
          </a:prstGeom>
          <a:noFill/>
          <a:ln>
            <a:noFill/>
          </a:ln>
        </p:spPr>
        <p:txBody>
          <a:bodyPr spcFirstLastPara="1" wrap="square" lIns="121900" tIns="60933" rIns="121900" bIns="60933" anchor="t" anchorCtr="0">
            <a:noAutofit/>
          </a:bodyPr>
          <a:lstStyle/>
          <a:p>
            <a:pPr algn="ctr"/>
            <a:r>
              <a:rPr lang="hr-HR" sz="2400" b="1">
                <a:solidFill>
                  <a:schemeClr val="dk1"/>
                </a:solidFill>
                <a:latin typeface="Calibri"/>
                <a:ea typeface="Calibri"/>
                <a:cs typeface="Calibri"/>
                <a:sym typeface="Calibri"/>
              </a:rPr>
              <a:t>FIGURATIVNA </a:t>
            </a:r>
            <a:endParaRPr sz="2400"/>
          </a:p>
          <a:p>
            <a:pPr algn="ctr"/>
            <a:r>
              <a:rPr lang="hr-HR" sz="2400" b="1">
                <a:solidFill>
                  <a:schemeClr val="dk1"/>
                </a:solidFill>
                <a:latin typeface="Calibri"/>
                <a:ea typeface="Calibri"/>
                <a:cs typeface="Calibri"/>
                <a:sym typeface="Calibri"/>
              </a:rPr>
              <a:t>FORMA</a:t>
            </a:r>
            <a:endParaRPr sz="2400" b="1">
              <a:solidFill>
                <a:schemeClr val="dk1"/>
              </a:solidFill>
              <a:latin typeface="Calibri"/>
              <a:ea typeface="Calibri"/>
              <a:cs typeface="Calibri"/>
              <a:sym typeface="Calibri"/>
            </a:endParaRPr>
          </a:p>
        </p:txBody>
      </p:sp>
      <p:sp>
        <p:nvSpPr>
          <p:cNvPr id="279" name="Google Shape;279;p48"/>
          <p:cNvSpPr txBox="1"/>
          <p:nvPr/>
        </p:nvSpPr>
        <p:spPr>
          <a:xfrm>
            <a:off x="9486345" y="252250"/>
            <a:ext cx="2030044" cy="861775"/>
          </a:xfrm>
          <a:prstGeom prst="rect">
            <a:avLst/>
          </a:prstGeom>
          <a:noFill/>
          <a:ln>
            <a:noFill/>
          </a:ln>
        </p:spPr>
        <p:txBody>
          <a:bodyPr spcFirstLastPara="1" wrap="square" lIns="121900" tIns="60933" rIns="121900" bIns="60933" anchor="t" anchorCtr="0">
            <a:noAutofit/>
          </a:bodyPr>
          <a:lstStyle/>
          <a:p>
            <a:r>
              <a:rPr lang="hr-HR" sz="2400" b="1">
                <a:solidFill>
                  <a:schemeClr val="dk1"/>
                </a:solidFill>
                <a:latin typeface="Calibri"/>
                <a:ea typeface="Calibri"/>
                <a:cs typeface="Calibri"/>
                <a:sym typeface="Calibri"/>
              </a:rPr>
              <a:t>APSTRAKTNA </a:t>
            </a:r>
            <a:endParaRPr sz="2400"/>
          </a:p>
          <a:p>
            <a:pPr algn="ctr"/>
            <a:r>
              <a:rPr lang="hr-HR" sz="2400" b="1">
                <a:solidFill>
                  <a:schemeClr val="dk1"/>
                </a:solidFill>
                <a:latin typeface="Calibri"/>
                <a:ea typeface="Calibri"/>
                <a:cs typeface="Calibri"/>
                <a:sym typeface="Calibri"/>
              </a:rPr>
              <a:t>FORMA</a:t>
            </a:r>
            <a:endParaRPr sz="2400" b="1">
              <a:solidFill>
                <a:schemeClr val="dk1"/>
              </a:solidFill>
              <a:latin typeface="Calibri"/>
              <a:ea typeface="Calibri"/>
              <a:cs typeface="Calibri"/>
              <a:sym typeface="Calibri"/>
            </a:endParaRPr>
          </a:p>
        </p:txBody>
      </p:sp>
      <p:sp>
        <p:nvSpPr>
          <p:cNvPr id="280" name="Google Shape;280;p48"/>
          <p:cNvSpPr/>
          <p:nvPr/>
        </p:nvSpPr>
        <p:spPr>
          <a:xfrm>
            <a:off x="2794673" y="683138"/>
            <a:ext cx="6565691" cy="276177"/>
          </a:xfrm>
          <a:prstGeom prst="rightArrow">
            <a:avLst>
              <a:gd name="adj1" fmla="val 50000"/>
              <a:gd name="adj2" fmla="val 50000"/>
            </a:avLst>
          </a:prstGeom>
          <a:solidFill>
            <a:srgbClr val="7F7F7F"/>
          </a:solidFill>
          <a:ln>
            <a:noFill/>
          </a:ln>
        </p:spPr>
        <p:txBody>
          <a:bodyPr spcFirstLastPara="1" wrap="square" lIns="121900" tIns="60933" rIns="121900" bIns="60933" anchor="ctr" anchorCtr="0">
            <a:noAutofit/>
          </a:bodyPr>
          <a:lstStyle/>
          <a:p>
            <a:pPr algn="ctr"/>
            <a:endParaRPr sz="2400">
              <a:solidFill>
                <a:schemeClr val="lt1"/>
              </a:solidFill>
              <a:latin typeface="Calibri"/>
              <a:ea typeface="Calibri"/>
              <a:cs typeface="Calibri"/>
              <a:sym typeface="Calibri"/>
            </a:endParaRPr>
          </a:p>
        </p:txBody>
      </p:sp>
      <p:sp>
        <p:nvSpPr>
          <p:cNvPr id="281" name="Google Shape;281;p48"/>
          <p:cNvSpPr/>
          <p:nvPr/>
        </p:nvSpPr>
        <p:spPr>
          <a:xfrm>
            <a:off x="2221751" y="164638"/>
            <a:ext cx="7556476" cy="451405"/>
          </a:xfrm>
          <a:prstGeom prst="rect">
            <a:avLst/>
          </a:prstGeom>
          <a:noFill/>
          <a:ln>
            <a:noFill/>
          </a:ln>
        </p:spPr>
        <p:txBody>
          <a:bodyPr spcFirstLastPara="1" wrap="square" lIns="121900" tIns="60933" rIns="121900" bIns="60933" anchor="t" anchorCtr="0">
            <a:noAutofit/>
          </a:bodyPr>
          <a:lstStyle/>
          <a:p>
            <a:pPr algn="ctr"/>
            <a:r>
              <a:rPr lang="hr-HR" sz="2133">
                <a:solidFill>
                  <a:schemeClr val="dk1"/>
                </a:solidFill>
                <a:latin typeface="Calibri"/>
                <a:ea typeface="Calibri"/>
                <a:cs typeface="Calibri"/>
                <a:sym typeface="Calibri"/>
              </a:rPr>
              <a:t>pojednostavljenje, stilizacija, apstrahiranje</a:t>
            </a:r>
            <a:endParaRPr sz="2133">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97377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8"/>
                                        </p:tgtEl>
                                        <p:attrNameLst>
                                          <p:attrName>style.visibility</p:attrName>
                                        </p:attrNameLst>
                                      </p:cBhvr>
                                      <p:to>
                                        <p:strVal val="visible"/>
                                      </p:to>
                                    </p:set>
                                    <p:animEffect transition="in" filter="fade">
                                      <p:cBhvr>
                                        <p:cTn id="7" dur="500"/>
                                        <p:tgtEl>
                                          <p:spTgt spid="2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0"/>
                                        </p:tgtEl>
                                        <p:attrNameLst>
                                          <p:attrName>style.visibility</p:attrName>
                                        </p:attrNameLst>
                                      </p:cBhvr>
                                      <p:to>
                                        <p:strVal val="visible"/>
                                      </p:to>
                                    </p:set>
                                    <p:animEffect transition="in" filter="fade">
                                      <p:cBhvr>
                                        <p:cTn id="12" dur="500"/>
                                        <p:tgtEl>
                                          <p:spTgt spid="28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9"/>
                                        </p:tgtEl>
                                        <p:attrNameLst>
                                          <p:attrName>style.visibility</p:attrName>
                                        </p:attrNameLst>
                                      </p:cBhvr>
                                      <p:to>
                                        <p:strVal val="visible"/>
                                      </p:to>
                                    </p:set>
                                    <p:animEffect transition="in" filter="fade">
                                      <p:cBhvr>
                                        <p:cTn id="17" dur="500"/>
                                        <p:tgtEl>
                                          <p:spTgt spid="27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1"/>
                                        </p:tgtEl>
                                        <p:attrNameLst>
                                          <p:attrName>style.visibility</p:attrName>
                                        </p:attrNameLst>
                                      </p:cBhvr>
                                      <p:to>
                                        <p:strVal val="visible"/>
                                      </p:to>
                                    </p:set>
                                    <p:animEffect transition="in" filter="fade">
                                      <p:cBhvr>
                                        <p:cTn id="22" dur="500"/>
                                        <p:tgtEl>
                                          <p:spTgt spid="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49"/>
          <p:cNvSpPr txBox="1"/>
          <p:nvPr/>
        </p:nvSpPr>
        <p:spPr>
          <a:xfrm>
            <a:off x="-25514" y="3033343"/>
            <a:ext cx="12240683" cy="779700"/>
          </a:xfrm>
          <a:prstGeom prst="rect">
            <a:avLst/>
          </a:prstGeom>
          <a:solidFill>
            <a:srgbClr val="A5A5A5"/>
          </a:solidFill>
          <a:ln>
            <a:noFill/>
          </a:ln>
        </p:spPr>
        <p:txBody>
          <a:bodyPr spcFirstLastPara="1" wrap="square" lIns="121900" tIns="60933" rIns="121900" bIns="60933" anchor="t" anchorCtr="0">
            <a:noAutofit/>
          </a:bodyPr>
          <a:lstStyle/>
          <a:p>
            <a:pPr algn="ctr"/>
            <a:r>
              <a:rPr lang="hr-HR" sz="2133" b="1">
                <a:solidFill>
                  <a:srgbClr val="FF0000"/>
                </a:solidFill>
                <a:latin typeface="Calibri"/>
                <a:ea typeface="Calibri"/>
                <a:cs typeface="Calibri"/>
                <a:sym typeface="Calibri"/>
              </a:rPr>
              <a:t>Zadatak: </a:t>
            </a:r>
            <a:r>
              <a:rPr lang="hr-HR" sz="2133">
                <a:solidFill>
                  <a:schemeClr val="dk1"/>
                </a:solidFill>
                <a:latin typeface="Calibri"/>
                <a:ea typeface="Calibri"/>
                <a:cs typeface="Calibri"/>
                <a:sym typeface="Calibri"/>
              </a:rPr>
              <a:t>odredi pripadaju li prikazane skulpture geometrijskoj ili organičkoj apstrakciji te svakoj skulpturi pridruži odgovarajuće pojmove koji opisuju odnose mase i prostora.</a:t>
            </a:r>
            <a:endParaRPr sz="2133">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358698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pic>
        <p:nvPicPr>
          <p:cNvPr id="292" name="Google Shape;292;p50" descr="D:\FILOZOFSKI\AK_GOD_2017-18\ŠKOLA-ZA-ŽIVOT\EKSPERIMENTALNA-PROVEDBA\METODIČKI-PRIRUČNIK\razrada-Pogled-na-svijet\forma-slike\12.jpg"/>
          <p:cNvPicPr preferRelativeResize="0"/>
          <p:nvPr/>
        </p:nvPicPr>
        <p:blipFill rotWithShape="1">
          <a:blip r:embed="rId3">
            <a:alphaModFix/>
          </a:blip>
          <a:srcRect/>
          <a:stretch/>
        </p:blipFill>
        <p:spPr>
          <a:xfrm>
            <a:off x="696655" y="1892830"/>
            <a:ext cx="3168088" cy="4224469"/>
          </a:xfrm>
          <a:prstGeom prst="rect">
            <a:avLst/>
          </a:prstGeom>
          <a:noFill/>
          <a:ln>
            <a:noFill/>
          </a:ln>
        </p:spPr>
      </p:pic>
      <p:sp>
        <p:nvSpPr>
          <p:cNvPr id="293" name="Google Shape;293;p50"/>
          <p:cNvSpPr/>
          <p:nvPr/>
        </p:nvSpPr>
        <p:spPr>
          <a:xfrm>
            <a:off x="263042" y="6187910"/>
            <a:ext cx="3681721" cy="615553"/>
          </a:xfrm>
          <a:prstGeom prst="rect">
            <a:avLst/>
          </a:prstGeom>
          <a:noFill/>
          <a:ln>
            <a:noFill/>
          </a:ln>
        </p:spPr>
        <p:txBody>
          <a:bodyPr spcFirstLastPara="1" wrap="square" lIns="121900" tIns="60933" rIns="121900" bIns="60933" anchor="t" anchorCtr="0">
            <a:noAutofit/>
          </a:bodyPr>
          <a:lstStyle/>
          <a:p>
            <a:pPr algn="ctr"/>
            <a:r>
              <a:rPr lang="hr-HR" sz="1600">
                <a:solidFill>
                  <a:srgbClr val="000000"/>
                </a:solidFill>
                <a:latin typeface="Calibri"/>
                <a:ea typeface="Calibri"/>
                <a:cs typeface="Calibri"/>
                <a:sym typeface="Calibri"/>
              </a:rPr>
              <a:t>Ivan Kožarić, </a:t>
            </a:r>
            <a:r>
              <a:rPr lang="hr-HR" sz="1600" i="1">
                <a:solidFill>
                  <a:srgbClr val="000000"/>
                </a:solidFill>
                <a:latin typeface="Calibri"/>
                <a:ea typeface="Calibri"/>
                <a:cs typeface="Calibri"/>
                <a:sym typeface="Calibri"/>
              </a:rPr>
              <a:t>Prizemljeno sunce</a:t>
            </a:r>
            <a:r>
              <a:rPr lang="hr-HR" sz="1600">
                <a:solidFill>
                  <a:srgbClr val="000000"/>
                </a:solidFill>
                <a:latin typeface="Calibri"/>
                <a:ea typeface="Calibri"/>
                <a:cs typeface="Calibri"/>
                <a:sym typeface="Calibri"/>
              </a:rPr>
              <a:t>, 1971., </a:t>
            </a:r>
            <a:endParaRPr sz="2400"/>
          </a:p>
          <a:p>
            <a:pPr algn="ctr"/>
            <a:r>
              <a:rPr lang="hr-HR" sz="1600">
                <a:solidFill>
                  <a:srgbClr val="000000"/>
                </a:solidFill>
                <a:latin typeface="Calibri"/>
                <a:ea typeface="Calibri"/>
                <a:cs typeface="Calibri"/>
                <a:sym typeface="Calibri"/>
              </a:rPr>
              <a:t>Bogovićeva ulica, Zagreb</a:t>
            </a:r>
            <a:endParaRPr sz="2400"/>
          </a:p>
        </p:txBody>
      </p:sp>
      <p:pic>
        <p:nvPicPr>
          <p:cNvPr id="294" name="Google Shape;294;p50" descr="D:\FILOZOFSKI\AK_GOD_2017-18\ŠKOLA-ZA-ŽIVOT\EKSPERIMENTALNA-PROVEDBA\METODIČKI-PRIRUČNIK\razrada-Pogled-na-svijet\forma-slike\13.jpg"/>
          <p:cNvPicPr preferRelativeResize="0"/>
          <p:nvPr/>
        </p:nvPicPr>
        <p:blipFill rotWithShape="1">
          <a:blip r:embed="rId4">
            <a:alphaModFix/>
          </a:blip>
          <a:srcRect/>
          <a:stretch/>
        </p:blipFill>
        <p:spPr>
          <a:xfrm>
            <a:off x="4404093" y="1930930"/>
            <a:ext cx="2814552" cy="4224469"/>
          </a:xfrm>
          <a:prstGeom prst="rect">
            <a:avLst/>
          </a:prstGeom>
          <a:noFill/>
          <a:ln>
            <a:noFill/>
          </a:ln>
        </p:spPr>
      </p:pic>
      <p:sp>
        <p:nvSpPr>
          <p:cNvPr id="295" name="Google Shape;295;p50"/>
          <p:cNvSpPr/>
          <p:nvPr/>
        </p:nvSpPr>
        <p:spPr>
          <a:xfrm>
            <a:off x="3962434" y="6213310"/>
            <a:ext cx="3681721" cy="615553"/>
          </a:xfrm>
          <a:prstGeom prst="rect">
            <a:avLst/>
          </a:prstGeom>
          <a:noFill/>
          <a:ln>
            <a:noFill/>
          </a:ln>
        </p:spPr>
        <p:txBody>
          <a:bodyPr spcFirstLastPara="1" wrap="square" lIns="121900" tIns="60933" rIns="121900" bIns="60933" anchor="t" anchorCtr="0">
            <a:noAutofit/>
          </a:bodyPr>
          <a:lstStyle/>
          <a:p>
            <a:pPr algn="ctr"/>
            <a:r>
              <a:rPr lang="hr-HR" sz="1600">
                <a:solidFill>
                  <a:srgbClr val="000000"/>
                </a:solidFill>
                <a:latin typeface="Calibri"/>
                <a:ea typeface="Calibri"/>
                <a:cs typeface="Calibri"/>
                <a:sym typeface="Calibri"/>
              </a:rPr>
              <a:t>Barbara Hepworth, </a:t>
            </a:r>
            <a:r>
              <a:rPr lang="hr-HR" sz="1600" i="1">
                <a:solidFill>
                  <a:srgbClr val="000000"/>
                </a:solidFill>
                <a:latin typeface="Calibri"/>
                <a:ea typeface="Calibri"/>
                <a:cs typeface="Calibri"/>
                <a:sym typeface="Calibri"/>
              </a:rPr>
              <a:t>Kvadrat s dva kruga</a:t>
            </a:r>
            <a:r>
              <a:rPr lang="hr-HR" sz="1600">
                <a:solidFill>
                  <a:srgbClr val="000000"/>
                </a:solidFill>
                <a:latin typeface="Calibri"/>
                <a:ea typeface="Calibri"/>
                <a:cs typeface="Calibri"/>
                <a:sym typeface="Calibri"/>
              </a:rPr>
              <a:t>, 1963., bronca, Yorkshire Sculpture Park</a:t>
            </a:r>
            <a:endParaRPr sz="2400"/>
          </a:p>
        </p:txBody>
      </p:sp>
      <p:sp>
        <p:nvSpPr>
          <p:cNvPr id="296" name="Google Shape;296;p50"/>
          <p:cNvSpPr txBox="1"/>
          <p:nvPr/>
        </p:nvSpPr>
        <p:spPr>
          <a:xfrm>
            <a:off x="4135339" y="68627"/>
            <a:ext cx="3979467" cy="492443"/>
          </a:xfrm>
          <a:prstGeom prst="rect">
            <a:avLst/>
          </a:prstGeom>
          <a:noFill/>
          <a:ln>
            <a:noFill/>
          </a:ln>
        </p:spPr>
        <p:txBody>
          <a:bodyPr spcFirstLastPara="1" wrap="square" lIns="121900" tIns="60933" rIns="121900" bIns="60933" anchor="t" anchorCtr="0">
            <a:noAutofit/>
          </a:bodyPr>
          <a:lstStyle/>
          <a:p>
            <a:r>
              <a:rPr lang="hr-HR" sz="1867" b="1">
                <a:solidFill>
                  <a:srgbClr val="000000"/>
                </a:solidFill>
                <a:latin typeface="Calibri"/>
                <a:ea typeface="Calibri"/>
                <a:cs typeface="Calibri"/>
                <a:sym typeface="Calibri"/>
              </a:rPr>
              <a:t>GEOMETRIJSKA APSTRAKCIJA</a:t>
            </a:r>
            <a:endParaRPr sz="2400"/>
          </a:p>
        </p:txBody>
      </p:sp>
      <p:sp>
        <p:nvSpPr>
          <p:cNvPr id="297" name="Google Shape;297;p50"/>
          <p:cNvSpPr/>
          <p:nvPr/>
        </p:nvSpPr>
        <p:spPr>
          <a:xfrm>
            <a:off x="7450304" y="6213309"/>
            <a:ext cx="3681721" cy="615553"/>
          </a:xfrm>
          <a:prstGeom prst="rect">
            <a:avLst/>
          </a:prstGeom>
          <a:noFill/>
          <a:ln>
            <a:noFill/>
          </a:ln>
        </p:spPr>
        <p:txBody>
          <a:bodyPr spcFirstLastPara="1" wrap="square" lIns="121900" tIns="60933" rIns="121900" bIns="60933" anchor="t" anchorCtr="0">
            <a:noAutofit/>
          </a:bodyPr>
          <a:lstStyle/>
          <a:p>
            <a:pPr algn="ctr"/>
            <a:r>
              <a:rPr lang="hr-HR" sz="1600">
                <a:solidFill>
                  <a:srgbClr val="000000"/>
                </a:solidFill>
                <a:latin typeface="Calibri"/>
                <a:ea typeface="Calibri"/>
                <a:cs typeface="Calibri"/>
                <a:sym typeface="Calibri"/>
              </a:rPr>
              <a:t>Ivan Kožarić, Crveni znak, 1969., bronca, Gajeva ulica, Zagreb</a:t>
            </a:r>
            <a:endParaRPr sz="2400"/>
          </a:p>
        </p:txBody>
      </p:sp>
      <p:sp>
        <p:nvSpPr>
          <p:cNvPr id="298" name="Google Shape;298;p50"/>
          <p:cNvSpPr txBox="1"/>
          <p:nvPr/>
        </p:nvSpPr>
        <p:spPr>
          <a:xfrm>
            <a:off x="221178" y="537065"/>
            <a:ext cx="11917965" cy="697627"/>
          </a:xfrm>
          <a:prstGeom prst="rect">
            <a:avLst/>
          </a:prstGeom>
          <a:noFill/>
          <a:ln>
            <a:noFill/>
          </a:ln>
        </p:spPr>
        <p:txBody>
          <a:bodyPr spcFirstLastPara="1" wrap="square" lIns="121900" tIns="60933" rIns="121900" bIns="60933" anchor="t" anchorCtr="0">
            <a:noAutofit/>
          </a:bodyPr>
          <a:lstStyle/>
          <a:p>
            <a:pPr algn="ctr"/>
            <a:r>
              <a:rPr lang="hr-HR" sz="1867">
                <a:solidFill>
                  <a:srgbClr val="FF0000"/>
                </a:solidFill>
                <a:latin typeface="Calibri"/>
                <a:ea typeface="Calibri"/>
                <a:cs typeface="Calibri"/>
                <a:sym typeface="Calibri"/>
              </a:rPr>
              <a:t>Odnosi mase i prostora: </a:t>
            </a:r>
            <a:r>
              <a:rPr lang="hr-HR" sz="1867">
                <a:solidFill>
                  <a:srgbClr val="000000"/>
                </a:solidFill>
                <a:latin typeface="Calibri"/>
                <a:ea typeface="Calibri"/>
                <a:cs typeface="Calibri"/>
                <a:sym typeface="Calibri"/>
              </a:rPr>
              <a:t>1. Zbijena masa 2. Linijski istanjena masa 3. Plošno istanjena masa 4. Konkavno-konveksna masa</a:t>
            </a:r>
            <a:endParaRPr sz="2400"/>
          </a:p>
          <a:p>
            <a:pPr algn="ctr"/>
            <a:r>
              <a:rPr lang="hr-HR" sz="1867">
                <a:solidFill>
                  <a:srgbClr val="000000"/>
                </a:solidFill>
                <a:latin typeface="Calibri"/>
                <a:ea typeface="Calibri"/>
                <a:cs typeface="Calibri"/>
                <a:sym typeface="Calibri"/>
              </a:rPr>
              <a:t>5. Penetrirana (prošupljena) masa </a:t>
            </a:r>
            <a:endParaRPr sz="1867">
              <a:solidFill>
                <a:srgbClr val="000000"/>
              </a:solidFill>
              <a:latin typeface="Calibri"/>
              <a:ea typeface="Calibri"/>
              <a:cs typeface="Calibri"/>
              <a:sym typeface="Calibri"/>
            </a:endParaRPr>
          </a:p>
        </p:txBody>
      </p:sp>
      <p:sp>
        <p:nvSpPr>
          <p:cNvPr id="299" name="Google Shape;299;p50"/>
          <p:cNvSpPr txBox="1"/>
          <p:nvPr/>
        </p:nvSpPr>
        <p:spPr>
          <a:xfrm>
            <a:off x="724824" y="1269152"/>
            <a:ext cx="479192" cy="492443"/>
          </a:xfrm>
          <a:prstGeom prst="rect">
            <a:avLst/>
          </a:prstGeom>
          <a:solidFill>
            <a:srgbClr val="BFBFBF"/>
          </a:solidFill>
          <a:ln>
            <a:noFill/>
          </a:ln>
        </p:spPr>
        <p:txBody>
          <a:bodyPr spcFirstLastPara="1" wrap="square" lIns="121900" tIns="60933" rIns="121900" bIns="60933" anchor="t" anchorCtr="0">
            <a:noAutofit/>
          </a:bodyPr>
          <a:lstStyle/>
          <a:p>
            <a:r>
              <a:rPr lang="hr-HR" sz="1867">
                <a:solidFill>
                  <a:srgbClr val="000000"/>
                </a:solidFill>
                <a:latin typeface="Calibri"/>
                <a:ea typeface="Calibri"/>
                <a:cs typeface="Calibri"/>
                <a:sym typeface="Calibri"/>
              </a:rPr>
              <a:t>1.</a:t>
            </a:r>
            <a:endParaRPr sz="1867">
              <a:solidFill>
                <a:srgbClr val="000000"/>
              </a:solidFill>
              <a:latin typeface="Calibri"/>
              <a:ea typeface="Calibri"/>
              <a:cs typeface="Calibri"/>
              <a:sym typeface="Calibri"/>
            </a:endParaRPr>
          </a:p>
        </p:txBody>
      </p:sp>
      <p:sp>
        <p:nvSpPr>
          <p:cNvPr id="300" name="Google Shape;300;p50"/>
          <p:cNvSpPr txBox="1"/>
          <p:nvPr/>
        </p:nvSpPr>
        <p:spPr>
          <a:xfrm>
            <a:off x="4408160" y="1304376"/>
            <a:ext cx="479192" cy="492443"/>
          </a:xfrm>
          <a:prstGeom prst="rect">
            <a:avLst/>
          </a:prstGeom>
          <a:solidFill>
            <a:srgbClr val="BFBFBF"/>
          </a:solidFill>
          <a:ln>
            <a:noFill/>
          </a:ln>
        </p:spPr>
        <p:txBody>
          <a:bodyPr spcFirstLastPara="1" wrap="square" lIns="121900" tIns="60933" rIns="121900" bIns="60933" anchor="t" anchorCtr="0">
            <a:noAutofit/>
          </a:bodyPr>
          <a:lstStyle/>
          <a:p>
            <a:r>
              <a:rPr lang="hr-HR" sz="1867">
                <a:solidFill>
                  <a:srgbClr val="000000"/>
                </a:solidFill>
                <a:latin typeface="Calibri"/>
                <a:ea typeface="Calibri"/>
                <a:cs typeface="Calibri"/>
                <a:sym typeface="Calibri"/>
              </a:rPr>
              <a:t>5.</a:t>
            </a:r>
            <a:endParaRPr sz="1867">
              <a:solidFill>
                <a:srgbClr val="000000"/>
              </a:solidFill>
              <a:latin typeface="Calibri"/>
              <a:ea typeface="Calibri"/>
              <a:cs typeface="Calibri"/>
              <a:sym typeface="Calibri"/>
            </a:endParaRPr>
          </a:p>
        </p:txBody>
      </p:sp>
      <p:sp>
        <p:nvSpPr>
          <p:cNvPr id="301" name="Google Shape;301;p50"/>
          <p:cNvSpPr txBox="1"/>
          <p:nvPr/>
        </p:nvSpPr>
        <p:spPr>
          <a:xfrm>
            <a:off x="7858865" y="1269152"/>
            <a:ext cx="479192" cy="492443"/>
          </a:xfrm>
          <a:prstGeom prst="rect">
            <a:avLst/>
          </a:prstGeom>
          <a:solidFill>
            <a:srgbClr val="BFBFBF"/>
          </a:solidFill>
          <a:ln>
            <a:noFill/>
          </a:ln>
        </p:spPr>
        <p:txBody>
          <a:bodyPr spcFirstLastPara="1" wrap="square" lIns="121900" tIns="60933" rIns="121900" bIns="60933" anchor="t" anchorCtr="0">
            <a:noAutofit/>
          </a:bodyPr>
          <a:lstStyle/>
          <a:p>
            <a:r>
              <a:rPr lang="hr-HR" sz="1867">
                <a:solidFill>
                  <a:srgbClr val="000000"/>
                </a:solidFill>
                <a:latin typeface="Calibri"/>
                <a:ea typeface="Calibri"/>
                <a:cs typeface="Calibri"/>
                <a:sym typeface="Calibri"/>
              </a:rPr>
              <a:t>2.</a:t>
            </a:r>
            <a:endParaRPr sz="1867">
              <a:solidFill>
                <a:srgbClr val="000000"/>
              </a:solidFill>
              <a:latin typeface="Calibri"/>
              <a:ea typeface="Calibri"/>
              <a:cs typeface="Calibri"/>
              <a:sym typeface="Calibri"/>
            </a:endParaRPr>
          </a:p>
        </p:txBody>
      </p:sp>
      <p:pic>
        <p:nvPicPr>
          <p:cNvPr id="302" name="Google Shape;302;p50"/>
          <p:cNvPicPr preferRelativeResize="0"/>
          <p:nvPr/>
        </p:nvPicPr>
        <p:blipFill rotWithShape="1">
          <a:blip r:embed="rId5">
            <a:alphaModFix/>
          </a:blip>
          <a:srcRect/>
          <a:stretch/>
        </p:blipFill>
        <p:spPr>
          <a:xfrm>
            <a:off x="7901659" y="1854729"/>
            <a:ext cx="2706843" cy="4359128"/>
          </a:xfrm>
          <a:prstGeom prst="rect">
            <a:avLst/>
          </a:prstGeom>
          <a:noFill/>
          <a:ln>
            <a:noFill/>
          </a:ln>
        </p:spPr>
      </p:pic>
    </p:spTree>
    <p:extLst>
      <p:ext uri="{BB962C8B-B14F-4D97-AF65-F5344CB8AC3E}">
        <p14:creationId xmlns:p14="http://schemas.microsoft.com/office/powerpoint/2010/main" val="1121387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6"/>
                                        </p:tgtEl>
                                        <p:attrNameLst>
                                          <p:attrName>style.visibility</p:attrName>
                                        </p:attrNameLst>
                                      </p:cBhvr>
                                      <p:to>
                                        <p:strVal val="visible"/>
                                      </p:to>
                                    </p:set>
                                    <p:animEffect transition="in" filter="fade">
                                      <p:cBhvr>
                                        <p:cTn id="7" dur="500"/>
                                        <p:tgtEl>
                                          <p:spTgt spid="29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8"/>
                                        </p:tgtEl>
                                        <p:attrNameLst>
                                          <p:attrName>style.visibility</p:attrName>
                                        </p:attrNameLst>
                                      </p:cBhvr>
                                      <p:to>
                                        <p:strVal val="visible"/>
                                      </p:to>
                                    </p:set>
                                    <p:animEffect transition="in" filter="fade">
                                      <p:cBhvr>
                                        <p:cTn id="12" dur="500"/>
                                        <p:tgtEl>
                                          <p:spTgt spid="29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9"/>
                                        </p:tgtEl>
                                        <p:attrNameLst>
                                          <p:attrName>style.visibility</p:attrName>
                                        </p:attrNameLst>
                                      </p:cBhvr>
                                      <p:to>
                                        <p:strVal val="visible"/>
                                      </p:to>
                                    </p:set>
                                    <p:animEffect transition="in" filter="fade">
                                      <p:cBhvr>
                                        <p:cTn id="17" dur="500"/>
                                        <p:tgtEl>
                                          <p:spTgt spid="29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0"/>
                                        </p:tgtEl>
                                        <p:attrNameLst>
                                          <p:attrName>style.visibility</p:attrName>
                                        </p:attrNameLst>
                                      </p:cBhvr>
                                      <p:to>
                                        <p:strVal val="visible"/>
                                      </p:to>
                                    </p:set>
                                    <p:animEffect transition="in" filter="fade">
                                      <p:cBhvr>
                                        <p:cTn id="22" dur="500"/>
                                        <p:tgtEl>
                                          <p:spTgt spid="30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1"/>
                                        </p:tgtEl>
                                        <p:attrNameLst>
                                          <p:attrName>style.visibility</p:attrName>
                                        </p:attrNameLst>
                                      </p:cBhvr>
                                      <p:to>
                                        <p:strVal val="visible"/>
                                      </p:to>
                                    </p:set>
                                    <p:animEffect transition="in" filter="fade">
                                      <p:cBhvr>
                                        <p:cTn id="27" dur="500"/>
                                        <p:tgtEl>
                                          <p:spTgt spid="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51"/>
          <p:cNvSpPr/>
          <p:nvPr/>
        </p:nvSpPr>
        <p:spPr>
          <a:xfrm>
            <a:off x="335361" y="6021289"/>
            <a:ext cx="3681721" cy="615553"/>
          </a:xfrm>
          <a:prstGeom prst="rect">
            <a:avLst/>
          </a:prstGeom>
          <a:noFill/>
          <a:ln>
            <a:noFill/>
          </a:ln>
        </p:spPr>
        <p:txBody>
          <a:bodyPr spcFirstLastPara="1" wrap="square" lIns="121900" tIns="60933" rIns="121900" bIns="60933" anchor="t" anchorCtr="0">
            <a:noAutofit/>
          </a:bodyPr>
          <a:lstStyle/>
          <a:p>
            <a:pPr algn="ctr"/>
            <a:r>
              <a:rPr lang="hr-HR" sz="1600">
                <a:solidFill>
                  <a:srgbClr val="000000"/>
                </a:solidFill>
                <a:latin typeface="Calibri"/>
                <a:ea typeface="Calibri"/>
                <a:cs typeface="Calibri"/>
                <a:sym typeface="Calibri"/>
              </a:rPr>
              <a:t>Vojin Bakić, </a:t>
            </a:r>
            <a:r>
              <a:rPr lang="hr-HR" sz="1600" i="1">
                <a:solidFill>
                  <a:srgbClr val="000000"/>
                </a:solidFill>
                <a:latin typeface="Calibri"/>
                <a:ea typeface="Calibri"/>
                <a:cs typeface="Calibri"/>
                <a:sym typeface="Calibri"/>
              </a:rPr>
              <a:t>Razlistana forma</a:t>
            </a:r>
            <a:r>
              <a:rPr lang="hr-HR" sz="1600">
                <a:solidFill>
                  <a:srgbClr val="000000"/>
                </a:solidFill>
                <a:latin typeface="Calibri"/>
                <a:ea typeface="Calibri"/>
                <a:cs typeface="Calibri"/>
                <a:sym typeface="Calibri"/>
              </a:rPr>
              <a:t>, 1960., bronca, Ulica Ljudevita Gaja, Zagreb</a:t>
            </a:r>
            <a:endParaRPr sz="1600">
              <a:solidFill>
                <a:srgbClr val="000000"/>
              </a:solidFill>
              <a:latin typeface="Calibri"/>
              <a:ea typeface="Calibri"/>
              <a:cs typeface="Calibri"/>
              <a:sym typeface="Calibri"/>
            </a:endParaRPr>
          </a:p>
        </p:txBody>
      </p:sp>
      <p:sp>
        <p:nvSpPr>
          <p:cNvPr id="309" name="Google Shape;309;p51"/>
          <p:cNvSpPr txBox="1"/>
          <p:nvPr/>
        </p:nvSpPr>
        <p:spPr>
          <a:xfrm>
            <a:off x="4135339" y="68627"/>
            <a:ext cx="3565592" cy="492443"/>
          </a:xfrm>
          <a:prstGeom prst="rect">
            <a:avLst/>
          </a:prstGeom>
          <a:noFill/>
          <a:ln>
            <a:noFill/>
          </a:ln>
        </p:spPr>
        <p:txBody>
          <a:bodyPr spcFirstLastPara="1" wrap="square" lIns="121900" tIns="60933" rIns="121900" bIns="60933" anchor="t" anchorCtr="0">
            <a:noAutofit/>
          </a:bodyPr>
          <a:lstStyle/>
          <a:p>
            <a:r>
              <a:rPr lang="hr-HR" sz="1867" b="1">
                <a:solidFill>
                  <a:srgbClr val="000000"/>
                </a:solidFill>
                <a:latin typeface="Calibri"/>
                <a:ea typeface="Calibri"/>
                <a:cs typeface="Calibri"/>
                <a:sym typeface="Calibri"/>
              </a:rPr>
              <a:t>ORGANIČKA APSTRAKCIJA</a:t>
            </a:r>
            <a:endParaRPr sz="2400"/>
          </a:p>
        </p:txBody>
      </p:sp>
      <p:sp>
        <p:nvSpPr>
          <p:cNvPr id="310" name="Google Shape;310;p51"/>
          <p:cNvSpPr txBox="1"/>
          <p:nvPr/>
        </p:nvSpPr>
        <p:spPr>
          <a:xfrm>
            <a:off x="221178" y="537065"/>
            <a:ext cx="11917965" cy="697627"/>
          </a:xfrm>
          <a:prstGeom prst="rect">
            <a:avLst/>
          </a:prstGeom>
          <a:noFill/>
          <a:ln>
            <a:noFill/>
          </a:ln>
        </p:spPr>
        <p:txBody>
          <a:bodyPr spcFirstLastPara="1" wrap="square" lIns="121900" tIns="60933" rIns="121900" bIns="60933" anchor="t" anchorCtr="0">
            <a:noAutofit/>
          </a:bodyPr>
          <a:lstStyle/>
          <a:p>
            <a:pPr algn="ctr"/>
            <a:r>
              <a:rPr lang="hr-HR" sz="1867">
                <a:solidFill>
                  <a:srgbClr val="FF0000"/>
                </a:solidFill>
                <a:latin typeface="Calibri"/>
                <a:ea typeface="Calibri"/>
                <a:cs typeface="Calibri"/>
                <a:sym typeface="Calibri"/>
              </a:rPr>
              <a:t>Odnosi mase i prostora: </a:t>
            </a:r>
            <a:r>
              <a:rPr lang="hr-HR" sz="1867">
                <a:solidFill>
                  <a:srgbClr val="000000"/>
                </a:solidFill>
                <a:latin typeface="Calibri"/>
                <a:ea typeface="Calibri"/>
                <a:cs typeface="Calibri"/>
                <a:sym typeface="Calibri"/>
              </a:rPr>
              <a:t>1. Zbijena masa 2. Linijski istanjena masa 3. Plošno istanjena masa 4. Konkavno-konveksna masa</a:t>
            </a:r>
            <a:endParaRPr sz="2400"/>
          </a:p>
          <a:p>
            <a:pPr algn="ctr"/>
            <a:r>
              <a:rPr lang="hr-HR" sz="1867">
                <a:solidFill>
                  <a:srgbClr val="000000"/>
                </a:solidFill>
                <a:latin typeface="Calibri"/>
                <a:ea typeface="Calibri"/>
                <a:cs typeface="Calibri"/>
                <a:sym typeface="Calibri"/>
              </a:rPr>
              <a:t>5. Penetrirana (prošupljena) masa </a:t>
            </a:r>
            <a:endParaRPr sz="2400"/>
          </a:p>
        </p:txBody>
      </p:sp>
      <p:sp>
        <p:nvSpPr>
          <p:cNvPr id="311" name="Google Shape;311;p51"/>
          <p:cNvSpPr/>
          <p:nvPr/>
        </p:nvSpPr>
        <p:spPr>
          <a:xfrm>
            <a:off x="7273848" y="5996209"/>
            <a:ext cx="3681600" cy="861600"/>
          </a:xfrm>
          <a:prstGeom prst="rect">
            <a:avLst/>
          </a:prstGeom>
          <a:noFill/>
          <a:ln>
            <a:noFill/>
          </a:ln>
        </p:spPr>
        <p:txBody>
          <a:bodyPr spcFirstLastPara="1" wrap="square" lIns="121900" tIns="60933" rIns="121900" bIns="60933" anchor="t" anchorCtr="0">
            <a:noAutofit/>
          </a:bodyPr>
          <a:lstStyle/>
          <a:p>
            <a:pPr algn="ctr"/>
            <a:r>
              <a:rPr lang="hr-HR" sz="1600">
                <a:solidFill>
                  <a:srgbClr val="000000"/>
                </a:solidFill>
                <a:latin typeface="Calibri"/>
                <a:ea typeface="Calibri"/>
                <a:cs typeface="Calibri"/>
                <a:sym typeface="Calibri"/>
              </a:rPr>
              <a:t>Jean Arp, </a:t>
            </a:r>
            <a:r>
              <a:rPr lang="hr-HR" sz="1600" i="1">
                <a:solidFill>
                  <a:srgbClr val="000000"/>
                </a:solidFill>
                <a:latin typeface="Calibri"/>
                <a:ea typeface="Calibri"/>
                <a:cs typeface="Calibri"/>
                <a:sym typeface="Calibri"/>
              </a:rPr>
              <a:t>Konfiguracija u zmijolikom kretanju</a:t>
            </a:r>
            <a:r>
              <a:rPr lang="hr-HR" sz="1600">
                <a:solidFill>
                  <a:srgbClr val="000000"/>
                </a:solidFill>
                <a:latin typeface="Calibri"/>
                <a:ea typeface="Calibri"/>
                <a:cs typeface="Calibri"/>
                <a:sym typeface="Calibri"/>
              </a:rPr>
              <a:t>, 1950., mramor, </a:t>
            </a:r>
            <a:endParaRPr sz="2400"/>
          </a:p>
          <a:p>
            <a:pPr algn="ctr"/>
            <a:r>
              <a:rPr lang="hr-HR" sz="1600">
                <a:solidFill>
                  <a:srgbClr val="000000"/>
                </a:solidFill>
                <a:latin typeface="Calibri"/>
                <a:ea typeface="Calibri"/>
                <a:cs typeface="Calibri"/>
                <a:sym typeface="Calibri"/>
              </a:rPr>
              <a:t>Metropolitan Museum of Art</a:t>
            </a:r>
            <a:endParaRPr sz="1600">
              <a:solidFill>
                <a:srgbClr val="000000"/>
              </a:solidFill>
              <a:latin typeface="Calibri"/>
              <a:ea typeface="Calibri"/>
              <a:cs typeface="Calibri"/>
              <a:sym typeface="Calibri"/>
            </a:endParaRPr>
          </a:p>
        </p:txBody>
      </p:sp>
      <p:pic>
        <p:nvPicPr>
          <p:cNvPr id="312" name="Google Shape;312;p51" descr="D:\FILOZOFSKI\AK_GOD_2017-18\ŠKOLA-ZA-ŽIVOT\EKSPERIMENTALNA-PROVEDBA\METODIČKI-PRIRUČNIK\razrada-Pogled-na-svijet\forma-slike\16.jpg"/>
          <p:cNvPicPr preferRelativeResize="0"/>
          <p:nvPr/>
        </p:nvPicPr>
        <p:blipFill rotWithShape="1">
          <a:blip r:embed="rId3">
            <a:alphaModFix/>
          </a:blip>
          <a:srcRect/>
          <a:stretch/>
        </p:blipFill>
        <p:spPr>
          <a:xfrm>
            <a:off x="6993235" y="1663633"/>
            <a:ext cx="4064867" cy="4224467"/>
          </a:xfrm>
          <a:prstGeom prst="rect">
            <a:avLst/>
          </a:prstGeom>
          <a:noFill/>
          <a:ln>
            <a:noFill/>
          </a:ln>
        </p:spPr>
      </p:pic>
      <p:sp>
        <p:nvSpPr>
          <p:cNvPr id="313" name="Google Shape;313;p51"/>
          <p:cNvSpPr/>
          <p:nvPr/>
        </p:nvSpPr>
        <p:spPr>
          <a:xfrm>
            <a:off x="6993248" y="1171192"/>
            <a:ext cx="479200" cy="492400"/>
          </a:xfrm>
          <a:prstGeom prst="rect">
            <a:avLst/>
          </a:prstGeom>
          <a:solidFill>
            <a:srgbClr val="BFBFBF"/>
          </a:solidFill>
          <a:ln>
            <a:noFill/>
          </a:ln>
        </p:spPr>
        <p:txBody>
          <a:bodyPr spcFirstLastPara="1" wrap="square" lIns="121900" tIns="60933" rIns="121900" bIns="60933" anchor="t" anchorCtr="0">
            <a:noAutofit/>
          </a:bodyPr>
          <a:lstStyle/>
          <a:p>
            <a:r>
              <a:rPr lang="hr-HR" sz="1867">
                <a:solidFill>
                  <a:srgbClr val="000000"/>
                </a:solidFill>
                <a:latin typeface="Calibri"/>
                <a:ea typeface="Calibri"/>
                <a:cs typeface="Calibri"/>
                <a:sym typeface="Calibri"/>
              </a:rPr>
              <a:t>4.</a:t>
            </a:r>
            <a:endParaRPr sz="2400"/>
          </a:p>
        </p:txBody>
      </p:sp>
      <p:sp>
        <p:nvSpPr>
          <p:cNvPr id="314" name="Google Shape;314;p51"/>
          <p:cNvSpPr/>
          <p:nvPr/>
        </p:nvSpPr>
        <p:spPr>
          <a:xfrm>
            <a:off x="609171" y="1171192"/>
            <a:ext cx="479192" cy="492443"/>
          </a:xfrm>
          <a:prstGeom prst="rect">
            <a:avLst/>
          </a:prstGeom>
          <a:solidFill>
            <a:srgbClr val="BFBFBF"/>
          </a:solidFill>
          <a:ln>
            <a:noFill/>
          </a:ln>
        </p:spPr>
        <p:txBody>
          <a:bodyPr spcFirstLastPara="1" wrap="square" lIns="121900" tIns="60933" rIns="121900" bIns="60933" anchor="t" anchorCtr="0">
            <a:noAutofit/>
          </a:bodyPr>
          <a:lstStyle/>
          <a:p>
            <a:r>
              <a:rPr lang="hr-HR" sz="1867">
                <a:solidFill>
                  <a:srgbClr val="000000"/>
                </a:solidFill>
                <a:latin typeface="Calibri"/>
                <a:ea typeface="Calibri"/>
                <a:cs typeface="Calibri"/>
                <a:sym typeface="Calibri"/>
              </a:rPr>
              <a:t>3.</a:t>
            </a:r>
            <a:endParaRPr sz="1867">
              <a:solidFill>
                <a:srgbClr val="000000"/>
              </a:solidFill>
              <a:latin typeface="Calibri"/>
              <a:ea typeface="Calibri"/>
              <a:cs typeface="Calibri"/>
              <a:sym typeface="Calibri"/>
            </a:endParaRPr>
          </a:p>
        </p:txBody>
      </p:sp>
      <p:pic>
        <p:nvPicPr>
          <p:cNvPr id="315" name="Google Shape;315;p51"/>
          <p:cNvPicPr preferRelativeResize="0"/>
          <p:nvPr/>
        </p:nvPicPr>
        <p:blipFill rotWithShape="1">
          <a:blip r:embed="rId4">
            <a:alphaModFix/>
          </a:blip>
          <a:srcRect/>
          <a:stretch/>
        </p:blipFill>
        <p:spPr>
          <a:xfrm>
            <a:off x="583667" y="1663601"/>
            <a:ext cx="3268292" cy="4357700"/>
          </a:xfrm>
          <a:prstGeom prst="rect">
            <a:avLst/>
          </a:prstGeom>
          <a:noFill/>
          <a:ln>
            <a:noFill/>
          </a:ln>
        </p:spPr>
      </p:pic>
    </p:spTree>
    <p:extLst>
      <p:ext uri="{BB962C8B-B14F-4D97-AF65-F5344CB8AC3E}">
        <p14:creationId xmlns:p14="http://schemas.microsoft.com/office/powerpoint/2010/main" val="174653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9"/>
                                        </p:tgtEl>
                                        <p:attrNameLst>
                                          <p:attrName>style.visibility</p:attrName>
                                        </p:attrNameLst>
                                      </p:cBhvr>
                                      <p:to>
                                        <p:strVal val="visible"/>
                                      </p:to>
                                    </p:set>
                                    <p:animEffect transition="in" filter="fade">
                                      <p:cBhvr>
                                        <p:cTn id="7" dur="500"/>
                                        <p:tgtEl>
                                          <p:spTgt spid="30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0"/>
                                        </p:tgtEl>
                                        <p:attrNameLst>
                                          <p:attrName>style.visibility</p:attrName>
                                        </p:attrNameLst>
                                      </p:cBhvr>
                                      <p:to>
                                        <p:strVal val="visible"/>
                                      </p:to>
                                    </p:set>
                                    <p:animEffect transition="in" filter="fade">
                                      <p:cBhvr>
                                        <p:cTn id="12" dur="500"/>
                                        <p:tgtEl>
                                          <p:spTgt spid="3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4"/>
                                        </p:tgtEl>
                                        <p:attrNameLst>
                                          <p:attrName>style.visibility</p:attrName>
                                        </p:attrNameLst>
                                      </p:cBhvr>
                                      <p:to>
                                        <p:strVal val="visible"/>
                                      </p:to>
                                    </p:set>
                                    <p:animEffect transition="in" filter="fade">
                                      <p:cBhvr>
                                        <p:cTn id="17" dur="500"/>
                                        <p:tgtEl>
                                          <p:spTgt spid="3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3"/>
                                        </p:tgtEl>
                                        <p:attrNameLst>
                                          <p:attrName>style.visibility</p:attrName>
                                        </p:attrNameLst>
                                      </p:cBhvr>
                                      <p:to>
                                        <p:strVal val="visible"/>
                                      </p:to>
                                    </p:set>
                                    <p:animEffect transition="in" filter="fade">
                                      <p:cBhvr>
                                        <p:cTn id="22" dur="500"/>
                                        <p:tgtEl>
                                          <p:spTgt spid="3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53"/>
          <p:cNvSpPr txBox="1"/>
          <p:nvPr/>
        </p:nvSpPr>
        <p:spPr>
          <a:xfrm>
            <a:off x="1520856" y="6337968"/>
            <a:ext cx="8799613" cy="451405"/>
          </a:xfrm>
          <a:prstGeom prst="rect">
            <a:avLst/>
          </a:prstGeom>
          <a:noFill/>
          <a:ln>
            <a:noFill/>
          </a:ln>
        </p:spPr>
        <p:txBody>
          <a:bodyPr spcFirstLastPara="1" wrap="square" lIns="121900" tIns="60933" rIns="121900" bIns="60933" anchor="t" anchorCtr="0">
            <a:noAutofit/>
          </a:bodyPr>
          <a:lstStyle/>
          <a:p>
            <a:pPr algn="ctr"/>
            <a:r>
              <a:rPr lang="hr-HR" sz="2133" i="1">
                <a:solidFill>
                  <a:schemeClr val="dk1"/>
                </a:solidFill>
                <a:latin typeface="Calibri"/>
                <a:ea typeface="Calibri"/>
                <a:cs typeface="Calibri"/>
                <a:sym typeface="Calibri"/>
              </a:rPr>
              <a:t>Mondrianove haljine </a:t>
            </a:r>
            <a:r>
              <a:rPr lang="hr-HR" sz="2133">
                <a:solidFill>
                  <a:schemeClr val="dk1"/>
                </a:solidFill>
                <a:latin typeface="Calibri"/>
                <a:ea typeface="Calibri"/>
                <a:cs typeface="Calibri"/>
                <a:sym typeface="Calibri"/>
              </a:rPr>
              <a:t>Yves Saint Laurenta ispred Mondrianovih slika, 1966.</a:t>
            </a:r>
            <a:endParaRPr sz="2133">
              <a:solidFill>
                <a:schemeClr val="dk1"/>
              </a:solidFill>
              <a:latin typeface="Calibri"/>
              <a:ea typeface="Calibri"/>
              <a:cs typeface="Calibri"/>
              <a:sym typeface="Calibri"/>
            </a:endParaRPr>
          </a:p>
        </p:txBody>
      </p:sp>
      <p:sp>
        <p:nvSpPr>
          <p:cNvPr id="327" name="Google Shape;327;p53"/>
          <p:cNvSpPr txBox="1"/>
          <p:nvPr/>
        </p:nvSpPr>
        <p:spPr>
          <a:xfrm>
            <a:off x="0" y="285478"/>
            <a:ext cx="12192000" cy="451405"/>
          </a:xfrm>
          <a:prstGeom prst="rect">
            <a:avLst/>
          </a:prstGeom>
          <a:solidFill>
            <a:srgbClr val="A5A5A5"/>
          </a:solidFill>
          <a:ln>
            <a:noFill/>
          </a:ln>
        </p:spPr>
        <p:txBody>
          <a:bodyPr spcFirstLastPara="1" wrap="square" lIns="121900" tIns="60933" rIns="121900" bIns="60933" anchor="t" anchorCtr="0">
            <a:noAutofit/>
          </a:bodyPr>
          <a:lstStyle/>
          <a:p>
            <a:pPr algn="ctr"/>
            <a:r>
              <a:rPr lang="hr-HR" sz="2133" b="1">
                <a:solidFill>
                  <a:srgbClr val="FF0000"/>
                </a:solidFill>
                <a:latin typeface="Calibri"/>
                <a:ea typeface="Calibri"/>
                <a:cs typeface="Calibri"/>
                <a:sym typeface="Calibri"/>
              </a:rPr>
              <a:t>Zadatak:</a:t>
            </a:r>
            <a:r>
              <a:rPr lang="hr-HR" sz="2133" b="1">
                <a:solidFill>
                  <a:schemeClr val="dk1"/>
                </a:solidFill>
                <a:latin typeface="Calibri"/>
                <a:ea typeface="Calibri"/>
                <a:cs typeface="Calibri"/>
                <a:sym typeface="Calibri"/>
              </a:rPr>
              <a:t> </a:t>
            </a:r>
            <a:r>
              <a:rPr lang="hr-HR" sz="2133">
                <a:solidFill>
                  <a:schemeClr val="dk1"/>
                </a:solidFill>
                <a:latin typeface="Calibri"/>
                <a:ea typeface="Calibri"/>
                <a:cs typeface="Calibri"/>
                <a:sym typeface="Calibri"/>
              </a:rPr>
              <a:t>istraži apstraktno oblikovanje forme u drugim oblicima umjetnosti te utjecaj na popularnu kulturu </a:t>
            </a:r>
            <a:endParaRPr sz="2133">
              <a:solidFill>
                <a:schemeClr val="dk1"/>
              </a:solidFill>
              <a:latin typeface="Calibri"/>
              <a:ea typeface="Calibri"/>
              <a:cs typeface="Calibri"/>
              <a:sym typeface="Calibri"/>
            </a:endParaRPr>
          </a:p>
        </p:txBody>
      </p:sp>
      <p:pic>
        <p:nvPicPr>
          <p:cNvPr id="328" name="Google Shape;328;p53" descr="File:Mondriaanmode door Yves St Laurent (1966).jpg"/>
          <p:cNvPicPr preferRelativeResize="0"/>
          <p:nvPr/>
        </p:nvPicPr>
        <p:blipFill rotWithShape="1">
          <a:blip r:embed="rId3">
            <a:alphaModFix/>
          </a:blip>
          <a:srcRect/>
          <a:stretch/>
        </p:blipFill>
        <p:spPr>
          <a:xfrm>
            <a:off x="2927648" y="932723"/>
            <a:ext cx="5376597" cy="5376597"/>
          </a:xfrm>
          <a:prstGeom prst="rect">
            <a:avLst/>
          </a:prstGeom>
          <a:noFill/>
          <a:ln>
            <a:noFill/>
          </a:ln>
        </p:spPr>
      </p:pic>
      <p:sp>
        <p:nvSpPr>
          <p:cNvPr id="329" name="Google Shape;329;p53"/>
          <p:cNvSpPr/>
          <p:nvPr/>
        </p:nvSpPr>
        <p:spPr>
          <a:xfrm>
            <a:off x="8592277" y="1124745"/>
            <a:ext cx="3264363" cy="3057247"/>
          </a:xfrm>
          <a:prstGeom prst="rect">
            <a:avLst/>
          </a:prstGeom>
          <a:noFill/>
          <a:ln>
            <a:noFill/>
          </a:ln>
        </p:spPr>
        <p:txBody>
          <a:bodyPr spcFirstLastPara="1" wrap="square" lIns="121900" tIns="60933" rIns="121900" bIns="60933" anchor="t" anchorCtr="0">
            <a:noAutofit/>
          </a:bodyPr>
          <a:lstStyle/>
          <a:p>
            <a:r>
              <a:rPr lang="hr-HR" sz="1467" b="1">
                <a:solidFill>
                  <a:schemeClr val="dk1"/>
                </a:solidFill>
                <a:latin typeface="Calibri"/>
                <a:ea typeface="Calibri"/>
                <a:cs typeface="Calibri"/>
                <a:sym typeface="Calibri"/>
              </a:rPr>
              <a:t>Korisne mrežne stranice: </a:t>
            </a:r>
            <a:endParaRPr sz="2400"/>
          </a:p>
          <a:p>
            <a:pPr marL="228594" indent="-228594">
              <a:buClr>
                <a:schemeClr val="dk1"/>
              </a:buClr>
              <a:buSzPts val="1100"/>
              <a:buFont typeface="Arial"/>
              <a:buChar char="•"/>
            </a:pPr>
            <a:r>
              <a:rPr lang="hr-HR" sz="1467" u="sng">
                <a:solidFill>
                  <a:schemeClr val="hlink"/>
                </a:solidFill>
                <a:latin typeface="Calibri"/>
                <a:ea typeface="Calibri"/>
                <a:cs typeface="Calibri"/>
                <a:sym typeface="Calibri"/>
                <a:hlinkClick r:id="rId4"/>
              </a:rPr>
              <a:t>https://en.wikipedia.org/wiki/The_Mondrian_collection_of_Yves_Saint_Laurent</a:t>
            </a:r>
            <a:r>
              <a:rPr lang="hr-HR" sz="1467">
                <a:solidFill>
                  <a:schemeClr val="dk1"/>
                </a:solidFill>
                <a:latin typeface="Calibri"/>
                <a:ea typeface="Calibri"/>
                <a:cs typeface="Calibri"/>
                <a:sym typeface="Calibri"/>
              </a:rPr>
              <a:t> </a:t>
            </a:r>
            <a:endParaRPr sz="1467">
              <a:solidFill>
                <a:schemeClr val="dk1"/>
              </a:solidFill>
              <a:latin typeface="Calibri"/>
              <a:ea typeface="Calibri"/>
              <a:cs typeface="Calibri"/>
              <a:sym typeface="Calibri"/>
            </a:endParaRPr>
          </a:p>
          <a:p>
            <a:pPr marL="228594" indent="-228594">
              <a:buClr>
                <a:schemeClr val="dk1"/>
              </a:buClr>
              <a:buSzPts val="1100"/>
              <a:buFont typeface="Arial"/>
              <a:buChar char="•"/>
            </a:pPr>
            <a:r>
              <a:rPr lang="hr-HR" sz="1467" u="sng">
                <a:solidFill>
                  <a:schemeClr val="hlink"/>
                </a:solidFill>
                <a:latin typeface="Calibri"/>
                <a:ea typeface="Calibri"/>
                <a:cs typeface="Calibri"/>
                <a:sym typeface="Calibri"/>
                <a:hlinkClick r:id="rId5"/>
              </a:rPr>
              <a:t>https://museeyslparis.com/en/biography/lhommage-a-piet-mondrian</a:t>
            </a:r>
            <a:r>
              <a:rPr lang="hr-HR" sz="1467">
                <a:solidFill>
                  <a:schemeClr val="dk1"/>
                </a:solidFill>
                <a:latin typeface="Calibri"/>
                <a:ea typeface="Calibri"/>
                <a:cs typeface="Calibri"/>
                <a:sym typeface="Calibri"/>
              </a:rPr>
              <a:t> </a:t>
            </a:r>
            <a:endParaRPr sz="1467">
              <a:solidFill>
                <a:schemeClr val="dk1"/>
              </a:solidFill>
              <a:latin typeface="Calibri"/>
              <a:ea typeface="Calibri"/>
              <a:cs typeface="Calibri"/>
              <a:sym typeface="Calibri"/>
            </a:endParaRPr>
          </a:p>
          <a:p>
            <a:pPr marL="228594" indent="-228594">
              <a:buClr>
                <a:schemeClr val="dk1"/>
              </a:buClr>
              <a:buSzPts val="1100"/>
              <a:buFont typeface="Arial"/>
              <a:buChar char="•"/>
            </a:pPr>
            <a:r>
              <a:rPr lang="hr-HR" sz="1467" u="sng">
                <a:solidFill>
                  <a:schemeClr val="hlink"/>
                </a:solidFill>
                <a:latin typeface="Calibri"/>
                <a:ea typeface="Calibri"/>
                <a:cs typeface="Calibri"/>
                <a:sym typeface="Calibri"/>
                <a:hlinkClick r:id="rId6"/>
              </a:rPr>
              <a:t>https://thecharnelhouse.org/2013/06/02/oskar-schlemmers-bauhaus-costume-parties-1924-1926/</a:t>
            </a:r>
            <a:r>
              <a:rPr lang="hr-HR" sz="1467">
                <a:solidFill>
                  <a:schemeClr val="dk1"/>
                </a:solidFill>
                <a:latin typeface="Calibri"/>
                <a:ea typeface="Calibri"/>
                <a:cs typeface="Calibri"/>
                <a:sym typeface="Calibri"/>
              </a:rPr>
              <a:t>   </a:t>
            </a:r>
            <a:endParaRPr sz="1467">
              <a:solidFill>
                <a:schemeClr val="dk1"/>
              </a:solidFill>
              <a:latin typeface="Calibri"/>
              <a:ea typeface="Calibri"/>
              <a:cs typeface="Calibri"/>
              <a:sym typeface="Calibri"/>
            </a:endParaRPr>
          </a:p>
          <a:p>
            <a:pPr marL="228594" indent="-228594">
              <a:buClr>
                <a:schemeClr val="dk1"/>
              </a:buClr>
              <a:buSzPts val="1100"/>
              <a:buFont typeface="Arial"/>
              <a:buChar char="•"/>
            </a:pPr>
            <a:r>
              <a:rPr lang="hr-HR" sz="1467" u="sng">
                <a:solidFill>
                  <a:schemeClr val="hlink"/>
                </a:solidFill>
                <a:latin typeface="Calibri"/>
                <a:ea typeface="Calibri"/>
                <a:cs typeface="Calibri"/>
                <a:sym typeface="Calibri"/>
                <a:hlinkClick r:id="rId7"/>
              </a:rPr>
              <a:t>https://thecharnelhouse.org/2013/07/20/theater-buhne/</a:t>
            </a:r>
            <a:r>
              <a:rPr lang="hr-HR" sz="1467">
                <a:solidFill>
                  <a:schemeClr val="dk1"/>
                </a:solidFill>
                <a:latin typeface="Calibri"/>
                <a:ea typeface="Calibri"/>
                <a:cs typeface="Calibri"/>
                <a:sym typeface="Calibri"/>
              </a:rPr>
              <a:t> </a:t>
            </a:r>
            <a:endParaRPr sz="1467">
              <a:solidFill>
                <a:schemeClr val="dk1"/>
              </a:solidFill>
              <a:latin typeface="Calibri"/>
              <a:ea typeface="Calibri"/>
              <a:cs typeface="Calibri"/>
              <a:sym typeface="Calibri"/>
            </a:endParaRPr>
          </a:p>
          <a:p>
            <a:pPr marL="228594" indent="-228594">
              <a:buClr>
                <a:schemeClr val="dk1"/>
              </a:buClr>
              <a:buSzPts val="1100"/>
              <a:buFont typeface="Arial"/>
              <a:buChar char="•"/>
            </a:pPr>
            <a:r>
              <a:rPr lang="hr-HR" sz="1467" u="sng">
                <a:solidFill>
                  <a:schemeClr val="hlink"/>
                </a:solidFill>
                <a:latin typeface="Calibri"/>
                <a:ea typeface="Calibri"/>
                <a:cs typeface="Calibri"/>
                <a:sym typeface="Calibri"/>
                <a:hlinkClick r:id="rId8"/>
              </a:rPr>
              <a:t>https://www.archdaily.com/tag/gerrit-rietveld</a:t>
            </a:r>
            <a:r>
              <a:rPr lang="hr-HR" sz="1467">
                <a:solidFill>
                  <a:schemeClr val="dk1"/>
                </a:solidFill>
                <a:latin typeface="Calibri"/>
                <a:ea typeface="Calibri"/>
                <a:cs typeface="Calibri"/>
                <a:sym typeface="Calibri"/>
              </a:rPr>
              <a:t> </a:t>
            </a:r>
            <a:endParaRPr sz="1467">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103341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pic>
        <p:nvPicPr>
          <p:cNvPr id="334" name="Google Shape;334;p54"/>
          <p:cNvPicPr preferRelativeResize="0"/>
          <p:nvPr/>
        </p:nvPicPr>
        <p:blipFill rotWithShape="1">
          <a:blip r:embed="rId3">
            <a:alphaModFix/>
          </a:blip>
          <a:srcRect/>
          <a:stretch/>
        </p:blipFill>
        <p:spPr>
          <a:xfrm>
            <a:off x="180118" y="1000359"/>
            <a:ext cx="5012869" cy="4800000"/>
          </a:xfrm>
          <a:prstGeom prst="rect">
            <a:avLst/>
          </a:prstGeom>
          <a:noFill/>
          <a:ln>
            <a:noFill/>
          </a:ln>
        </p:spPr>
      </p:pic>
      <p:pic>
        <p:nvPicPr>
          <p:cNvPr id="335" name="Google Shape;335;p54"/>
          <p:cNvPicPr preferRelativeResize="0"/>
          <p:nvPr/>
        </p:nvPicPr>
        <p:blipFill rotWithShape="1">
          <a:blip r:embed="rId4">
            <a:alphaModFix/>
          </a:blip>
          <a:srcRect/>
          <a:stretch/>
        </p:blipFill>
        <p:spPr>
          <a:xfrm>
            <a:off x="5423926" y="1028733"/>
            <a:ext cx="6106485" cy="4579864"/>
          </a:xfrm>
          <a:prstGeom prst="rect">
            <a:avLst/>
          </a:prstGeom>
          <a:noFill/>
          <a:ln>
            <a:noFill/>
          </a:ln>
        </p:spPr>
      </p:pic>
      <p:sp>
        <p:nvSpPr>
          <p:cNvPr id="336" name="Google Shape;336;p54"/>
          <p:cNvSpPr/>
          <p:nvPr/>
        </p:nvSpPr>
        <p:spPr>
          <a:xfrm>
            <a:off x="741661" y="5806333"/>
            <a:ext cx="3889783" cy="369332"/>
          </a:xfrm>
          <a:prstGeom prst="rect">
            <a:avLst/>
          </a:prstGeom>
          <a:noFill/>
          <a:ln>
            <a:noFill/>
          </a:ln>
        </p:spPr>
        <p:txBody>
          <a:bodyPr spcFirstLastPara="1" wrap="square" lIns="121900" tIns="60933" rIns="121900" bIns="60933" anchor="t" anchorCtr="0">
            <a:noAutofit/>
          </a:bodyPr>
          <a:lstStyle/>
          <a:p>
            <a:r>
              <a:rPr lang="hr-HR" sz="1600">
                <a:solidFill>
                  <a:schemeClr val="dk1"/>
                </a:solidFill>
                <a:latin typeface="Calibri"/>
                <a:ea typeface="Calibri"/>
                <a:cs typeface="Calibri"/>
                <a:sym typeface="Calibri"/>
              </a:rPr>
              <a:t>Gerrit Rietveld, Crveno-plava stolica, 1923., </a:t>
            </a:r>
            <a:endParaRPr sz="1600">
              <a:solidFill>
                <a:schemeClr val="dk1"/>
              </a:solidFill>
              <a:latin typeface="Calibri"/>
              <a:ea typeface="Calibri"/>
              <a:cs typeface="Calibri"/>
              <a:sym typeface="Calibri"/>
            </a:endParaRPr>
          </a:p>
        </p:txBody>
      </p:sp>
      <p:sp>
        <p:nvSpPr>
          <p:cNvPr id="337" name="Google Shape;337;p54"/>
          <p:cNvSpPr/>
          <p:nvPr/>
        </p:nvSpPr>
        <p:spPr>
          <a:xfrm>
            <a:off x="6864085" y="5800359"/>
            <a:ext cx="4023495" cy="369332"/>
          </a:xfrm>
          <a:prstGeom prst="rect">
            <a:avLst/>
          </a:prstGeom>
          <a:noFill/>
          <a:ln>
            <a:noFill/>
          </a:ln>
        </p:spPr>
        <p:txBody>
          <a:bodyPr spcFirstLastPara="1" wrap="square" lIns="121900" tIns="60933" rIns="121900" bIns="60933" anchor="t" anchorCtr="0">
            <a:noAutofit/>
          </a:bodyPr>
          <a:lstStyle/>
          <a:p>
            <a:r>
              <a:rPr lang="hr-HR" sz="1600">
                <a:solidFill>
                  <a:schemeClr val="dk1"/>
                </a:solidFill>
                <a:latin typeface="Calibri"/>
                <a:ea typeface="Calibri"/>
                <a:cs typeface="Calibri"/>
                <a:sym typeface="Calibri"/>
              </a:rPr>
              <a:t>Gerrit Rietveld, Kuća Schröder, 1924., Utrecht</a:t>
            </a:r>
            <a:endParaRPr sz="16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868236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535259"/>
            <a:ext cx="12192000" cy="769441"/>
          </a:xfrm>
          <a:prstGeom prst="rect">
            <a:avLst/>
          </a:prstGeom>
          <a:noFill/>
        </p:spPr>
        <p:txBody>
          <a:bodyPr wrap="square" rtlCol="0">
            <a:spAutoFit/>
          </a:bodyPr>
          <a:lstStyle/>
          <a:p>
            <a:pPr algn="ctr"/>
            <a:r>
              <a:rPr lang="en-US" sz="4400" b="1" dirty="0"/>
              <a:t>DER BLAUE REITER </a:t>
            </a:r>
            <a:r>
              <a:rPr lang="en-US" sz="4400" dirty="0"/>
              <a:t>– </a:t>
            </a:r>
            <a:r>
              <a:rPr lang="en-US" sz="4400" dirty="0" err="1"/>
              <a:t>ključne</a:t>
            </a:r>
            <a:r>
              <a:rPr lang="en-US" sz="4400" dirty="0"/>
              <a:t> </a:t>
            </a:r>
            <a:r>
              <a:rPr lang="en-US" sz="4400" dirty="0" err="1"/>
              <a:t>ideje</a:t>
            </a:r>
            <a:endParaRPr lang="hr-HR" sz="4400" dirty="0"/>
          </a:p>
        </p:txBody>
      </p:sp>
      <p:sp>
        <p:nvSpPr>
          <p:cNvPr id="3" name="TextBox 2"/>
          <p:cNvSpPr txBox="1"/>
          <p:nvPr/>
        </p:nvSpPr>
        <p:spPr>
          <a:xfrm>
            <a:off x="234176" y="1996068"/>
            <a:ext cx="11697629" cy="5078313"/>
          </a:xfrm>
          <a:prstGeom prst="rect">
            <a:avLst/>
          </a:prstGeom>
          <a:noFill/>
        </p:spPr>
        <p:txBody>
          <a:bodyPr wrap="square" rtlCol="0">
            <a:spAutoFit/>
          </a:bodyPr>
          <a:lstStyle/>
          <a:p>
            <a:pPr marL="285750" indent="-285750">
              <a:buFont typeface="Arial" panose="020B0604020202020204" pitchFamily="34" charset="0"/>
              <a:buChar char="•"/>
            </a:pPr>
            <a:r>
              <a:rPr lang="en-US" sz="3200" dirty="0" err="1"/>
              <a:t>Duhovna</a:t>
            </a:r>
            <a:r>
              <a:rPr lang="en-US" sz="3200" dirty="0"/>
              <a:t> </a:t>
            </a:r>
            <a:r>
              <a:rPr lang="en-US" sz="3200" dirty="0" err="1"/>
              <a:t>vrijednost</a:t>
            </a:r>
            <a:r>
              <a:rPr lang="en-US" sz="3200" dirty="0"/>
              <a:t> </a:t>
            </a:r>
            <a:r>
              <a:rPr lang="en-US" sz="3200" dirty="0" err="1"/>
              <a:t>umjetnosti</a:t>
            </a:r>
            <a:endParaRPr lang="en-US" sz="3200" dirty="0"/>
          </a:p>
          <a:p>
            <a:pPr marL="285750" indent="-285750">
              <a:buFont typeface="Arial" panose="020B0604020202020204" pitchFamily="34" charset="0"/>
              <a:buChar char="•"/>
            </a:pPr>
            <a:r>
              <a:rPr lang="en-US" sz="3200" dirty="0" err="1"/>
              <a:t>Boja</a:t>
            </a:r>
            <a:r>
              <a:rPr lang="en-US" sz="3200" dirty="0"/>
              <a:t> I forma </a:t>
            </a:r>
            <a:r>
              <a:rPr lang="en-US" sz="3200" dirty="0" err="1"/>
              <a:t>nosioci</a:t>
            </a:r>
            <a:r>
              <a:rPr lang="en-US" sz="3200" dirty="0"/>
              <a:t> </a:t>
            </a:r>
            <a:r>
              <a:rPr lang="en-US" sz="3200" dirty="0" err="1"/>
              <a:t>su</a:t>
            </a:r>
            <a:r>
              <a:rPr lang="en-US" sz="3200" dirty="0"/>
              <a:t> </a:t>
            </a:r>
            <a:r>
              <a:rPr lang="en-US" sz="3200" dirty="0" err="1"/>
              <a:t>duhovnih</a:t>
            </a:r>
            <a:r>
              <a:rPr lang="en-US" sz="3200" dirty="0"/>
              <a:t> </a:t>
            </a:r>
            <a:r>
              <a:rPr lang="en-US" sz="3200" dirty="0" err="1"/>
              <a:t>vrijednosti</a:t>
            </a:r>
            <a:endParaRPr lang="en-US" sz="3200" dirty="0"/>
          </a:p>
          <a:p>
            <a:pPr marL="285750" indent="-285750">
              <a:buFont typeface="Arial" panose="020B0604020202020204" pitchFamily="34" charset="0"/>
              <a:buChar char="•"/>
            </a:pPr>
            <a:r>
              <a:rPr lang="en-US" sz="3200" dirty="0" err="1"/>
              <a:t>Pomak</a:t>
            </a:r>
            <a:r>
              <a:rPr lang="en-US" sz="3200" dirty="0"/>
              <a:t> u </a:t>
            </a:r>
            <a:r>
              <a:rPr lang="en-US" sz="3200" dirty="0" err="1"/>
              <a:t>apstrakciju</a:t>
            </a:r>
            <a:r>
              <a:rPr lang="en-US" sz="3200" dirty="0"/>
              <a:t> </a:t>
            </a:r>
            <a:r>
              <a:rPr lang="en-US" sz="3200" dirty="0" err="1"/>
              <a:t>rezultat</a:t>
            </a:r>
            <a:r>
              <a:rPr lang="en-US" sz="3200" dirty="0"/>
              <a:t> je </a:t>
            </a:r>
            <a:r>
              <a:rPr lang="en-US" sz="3200" dirty="0" err="1"/>
              <a:t>radikalnog</a:t>
            </a:r>
            <a:r>
              <a:rPr lang="en-US" sz="3200" dirty="0"/>
              <a:t> </a:t>
            </a:r>
            <a:r>
              <a:rPr lang="en-US" sz="3200" dirty="0" err="1"/>
              <a:t>odvajanja</a:t>
            </a:r>
            <a:r>
              <a:rPr lang="en-US" sz="3200" dirty="0"/>
              <a:t> </a:t>
            </a:r>
            <a:r>
              <a:rPr lang="en-US" sz="3200" dirty="0" err="1"/>
              <a:t>forme</a:t>
            </a:r>
            <a:r>
              <a:rPr lang="en-US" sz="3200" dirty="0"/>
              <a:t> </a:t>
            </a:r>
            <a:r>
              <a:rPr lang="en-US" sz="3200" dirty="0" err="1"/>
              <a:t>i</a:t>
            </a:r>
            <a:r>
              <a:rPr lang="en-US" sz="3200" dirty="0"/>
              <a:t> </a:t>
            </a:r>
            <a:r>
              <a:rPr lang="en-US" sz="3200" dirty="0" err="1"/>
              <a:t>boje</a:t>
            </a:r>
            <a:r>
              <a:rPr lang="en-US" sz="3200" dirty="0"/>
              <a:t> u </a:t>
            </a:r>
            <a:r>
              <a:rPr lang="en-US" sz="3200" dirty="0" err="1"/>
              <a:t>posebne</a:t>
            </a:r>
            <a:r>
              <a:rPr lang="en-US" sz="3200" dirty="0"/>
              <a:t> </a:t>
            </a:r>
            <a:r>
              <a:rPr lang="en-US" sz="3200" dirty="0" err="1"/>
              <a:t>elemente</a:t>
            </a:r>
            <a:r>
              <a:rPr lang="en-US" sz="3200" dirty="0"/>
              <a:t> </a:t>
            </a:r>
            <a:r>
              <a:rPr lang="en-US" sz="3200" dirty="0" err="1"/>
              <a:t>na</a:t>
            </a:r>
            <a:r>
              <a:rPr lang="en-US" sz="3200" dirty="0"/>
              <a:t> </a:t>
            </a:r>
            <a:r>
              <a:rPr lang="en-US" sz="3200" dirty="0" err="1"/>
              <a:t>slici</a:t>
            </a:r>
            <a:endParaRPr lang="en-US" sz="3200" dirty="0"/>
          </a:p>
          <a:p>
            <a:pPr marL="285750" indent="-285750">
              <a:buFont typeface="Arial" panose="020B0604020202020204" pitchFamily="34" charset="0"/>
              <a:buChar char="•"/>
            </a:pPr>
            <a:r>
              <a:rPr lang="en-US" sz="3200" dirty="0" err="1"/>
              <a:t>Stavljanje</a:t>
            </a:r>
            <a:r>
              <a:rPr lang="en-US" sz="3200" dirty="0"/>
              <a:t> </a:t>
            </a:r>
            <a:r>
              <a:rPr lang="en-US" sz="3200" dirty="0" err="1"/>
              <a:t>neprirodne</a:t>
            </a:r>
            <a:r>
              <a:rPr lang="en-US" sz="3200" dirty="0"/>
              <a:t> </a:t>
            </a:r>
            <a:r>
              <a:rPr lang="en-US" sz="3200" dirty="0" err="1"/>
              <a:t>boje</a:t>
            </a:r>
            <a:r>
              <a:rPr lang="en-US" sz="3200" dirty="0"/>
              <a:t> </a:t>
            </a:r>
            <a:r>
              <a:rPr lang="en-US" sz="3200" dirty="0" err="1"/>
              <a:t>na</a:t>
            </a:r>
            <a:r>
              <a:rPr lang="en-US" sz="3200" dirty="0"/>
              <a:t> </a:t>
            </a:r>
            <a:r>
              <a:rPr lang="en-US" sz="3200" dirty="0" err="1"/>
              <a:t>prepoznatljivi</a:t>
            </a:r>
            <a:r>
              <a:rPr lang="en-US" sz="3200" dirty="0"/>
              <a:t> </a:t>
            </a:r>
            <a:r>
              <a:rPr lang="en-US" sz="3200" dirty="0" err="1"/>
              <a:t>oblik</a:t>
            </a:r>
            <a:r>
              <a:rPr lang="en-US" sz="3200" dirty="0"/>
              <a:t> (</a:t>
            </a:r>
            <a:r>
              <a:rPr lang="en-US" sz="3200" dirty="0" err="1"/>
              <a:t>plavi</a:t>
            </a:r>
            <a:r>
              <a:rPr lang="en-US" sz="3200" dirty="0"/>
              <a:t> </a:t>
            </a:r>
            <a:r>
              <a:rPr lang="en-US" sz="3200" dirty="0" err="1"/>
              <a:t>konj</a:t>
            </a:r>
            <a:r>
              <a:rPr lang="en-US" sz="3200" dirty="0"/>
              <a:t>)</a:t>
            </a:r>
          </a:p>
          <a:p>
            <a:pPr marL="285750" indent="-285750">
              <a:buFont typeface="Arial" panose="020B0604020202020204" pitchFamily="34" charset="0"/>
              <a:buChar char="•"/>
            </a:pPr>
            <a:r>
              <a:rPr lang="en-US" sz="3200" dirty="0" err="1"/>
              <a:t>Ime</a:t>
            </a:r>
            <a:r>
              <a:rPr lang="en-US" sz="3200" dirty="0"/>
              <a:t> Der </a:t>
            </a:r>
            <a:r>
              <a:rPr lang="en-US" sz="3200" dirty="0" err="1"/>
              <a:t>Blaue</a:t>
            </a:r>
            <a:r>
              <a:rPr lang="en-US" sz="3200" dirty="0"/>
              <a:t> Reiter </a:t>
            </a:r>
            <a:r>
              <a:rPr lang="en-US" sz="3200" dirty="0" err="1"/>
              <a:t>odnosilo</a:t>
            </a:r>
            <a:r>
              <a:rPr lang="en-US" sz="3200" dirty="0"/>
              <a:t> se </a:t>
            </a:r>
            <a:r>
              <a:rPr lang="en-US" sz="3200" dirty="0" err="1"/>
              <a:t>na</a:t>
            </a:r>
            <a:r>
              <a:rPr lang="en-US" sz="3200" dirty="0"/>
              <a:t> </a:t>
            </a:r>
            <a:r>
              <a:rPr lang="en-US" sz="3200" dirty="0" err="1"/>
              <a:t>uvjerenje</a:t>
            </a:r>
            <a:r>
              <a:rPr lang="en-US" sz="3200" dirty="0"/>
              <a:t> </a:t>
            </a:r>
            <a:r>
              <a:rPr lang="en-US" sz="3200" dirty="0" err="1"/>
              <a:t>Kandinskog</a:t>
            </a:r>
            <a:r>
              <a:rPr lang="en-US" sz="3200" dirty="0"/>
              <a:t> </a:t>
            </a:r>
            <a:r>
              <a:rPr lang="en-US" sz="3200" dirty="0" err="1"/>
              <a:t>i</a:t>
            </a:r>
            <a:r>
              <a:rPr lang="en-US" sz="3200" dirty="0"/>
              <a:t> </a:t>
            </a:r>
            <a:r>
              <a:rPr lang="en-US" sz="3200" dirty="0" err="1"/>
              <a:t>Marca</a:t>
            </a:r>
            <a:r>
              <a:rPr lang="en-US" sz="3200" dirty="0"/>
              <a:t> da je </a:t>
            </a:r>
            <a:r>
              <a:rPr lang="en-US" sz="3200" dirty="0" err="1"/>
              <a:t>plava</a:t>
            </a:r>
            <a:r>
              <a:rPr lang="en-US" sz="3200" dirty="0"/>
              <a:t> </a:t>
            </a:r>
            <a:r>
              <a:rPr lang="en-US" sz="3200" dirty="0" err="1"/>
              <a:t>boja</a:t>
            </a:r>
            <a:r>
              <a:rPr lang="en-US" sz="3200" dirty="0"/>
              <a:t> </a:t>
            </a:r>
            <a:r>
              <a:rPr lang="en-US" sz="3200" dirty="0" err="1"/>
              <a:t>najduhovnija</a:t>
            </a:r>
            <a:r>
              <a:rPr lang="en-US" sz="3200" dirty="0"/>
              <a:t> od </a:t>
            </a:r>
            <a:r>
              <a:rPr lang="en-US" sz="3200" dirty="0" err="1"/>
              <a:t>svi</a:t>
            </a:r>
            <a:r>
              <a:rPr lang="en-US" sz="3200" dirty="0"/>
              <a:t> </a:t>
            </a:r>
            <a:r>
              <a:rPr lang="en-US" sz="3200" dirty="0" err="1"/>
              <a:t>boja</a:t>
            </a:r>
            <a:r>
              <a:rPr lang="en-US" sz="3200" dirty="0"/>
              <a:t>, a </a:t>
            </a:r>
            <a:r>
              <a:rPr lang="en-US" sz="3200" dirty="0" err="1"/>
              <a:t>jahač</a:t>
            </a:r>
            <a:r>
              <a:rPr lang="en-US" sz="3200" dirty="0"/>
              <a:t> </a:t>
            </a:r>
            <a:r>
              <a:rPr lang="en-US" sz="3200" dirty="0" err="1"/>
              <a:t>simbolizira</a:t>
            </a:r>
            <a:r>
              <a:rPr lang="en-US" sz="3200" dirty="0"/>
              <a:t> </a:t>
            </a:r>
            <a:r>
              <a:rPr lang="en-US" sz="3200" dirty="0" err="1"/>
              <a:t>mogućnost</a:t>
            </a:r>
            <a:r>
              <a:rPr lang="en-US" sz="3200" dirty="0"/>
              <a:t> </a:t>
            </a:r>
            <a:r>
              <a:rPr lang="en-US" sz="3200" dirty="0" err="1"/>
              <a:t>kretanja</a:t>
            </a:r>
            <a:r>
              <a:rPr lang="en-US" sz="3200" dirty="0"/>
              <a:t> </a:t>
            </a:r>
            <a:r>
              <a:rPr lang="en-US" sz="3200" dirty="0" err="1"/>
              <a:t>izvan</a:t>
            </a:r>
            <a:r>
              <a:rPr lang="en-US" sz="3200" dirty="0"/>
              <a:t> </a:t>
            </a:r>
            <a:r>
              <a:rPr lang="en-US" sz="3200" dirty="0" err="1"/>
              <a:t>poznatoga</a:t>
            </a:r>
            <a:endParaRPr lang="en-US" sz="3200" dirty="0"/>
          </a:p>
          <a:p>
            <a:pPr marL="285750" indent="-285750">
              <a:buFont typeface="Arial" panose="020B0604020202020204" pitchFamily="34" charset="0"/>
              <a:buChar char="•"/>
            </a:pPr>
            <a:r>
              <a:rPr lang="en-US" sz="3200" dirty="0" err="1"/>
              <a:t>Vukli</a:t>
            </a:r>
            <a:r>
              <a:rPr lang="en-US" sz="3200" dirty="0"/>
              <a:t> </a:t>
            </a:r>
            <a:r>
              <a:rPr lang="en-US" sz="3200" dirty="0" err="1"/>
              <a:t>paralele</a:t>
            </a:r>
            <a:r>
              <a:rPr lang="en-US" sz="3200" dirty="0"/>
              <a:t> </a:t>
            </a:r>
            <a:r>
              <a:rPr lang="en-US" sz="3200" dirty="0" err="1"/>
              <a:t>između</a:t>
            </a:r>
            <a:r>
              <a:rPr lang="en-US" sz="3200" dirty="0"/>
              <a:t> </a:t>
            </a:r>
            <a:r>
              <a:rPr lang="en-US" sz="3200" dirty="0" err="1"/>
              <a:t>glazbe</a:t>
            </a:r>
            <a:r>
              <a:rPr lang="en-US" sz="3200" dirty="0"/>
              <a:t> </a:t>
            </a:r>
            <a:r>
              <a:rPr lang="en-US" sz="3200" dirty="0" err="1"/>
              <a:t>i</a:t>
            </a:r>
            <a:r>
              <a:rPr lang="en-US" sz="3200" dirty="0"/>
              <a:t> </a:t>
            </a:r>
            <a:r>
              <a:rPr lang="en-US" sz="3200" dirty="0" err="1"/>
              <a:t>slikarstva</a:t>
            </a:r>
            <a:r>
              <a:rPr lang="en-US" sz="3200" dirty="0"/>
              <a:t> - </a:t>
            </a:r>
            <a:r>
              <a:rPr lang="en-US" sz="3200" dirty="0" err="1"/>
              <a:t>sinestezija</a:t>
            </a:r>
            <a:endParaRPr lang="en-US" sz="3200"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hr-HR" dirty="0"/>
          </a:p>
        </p:txBody>
      </p:sp>
    </p:spTree>
    <p:extLst>
      <p:ext uri="{BB962C8B-B14F-4D97-AF65-F5344CB8AC3E}">
        <p14:creationId xmlns:p14="http://schemas.microsoft.com/office/powerpoint/2010/main" val="948237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le:Franz Marc 005.jpg">
            <a:extLst>
              <a:ext uri="{FF2B5EF4-FFF2-40B4-BE49-F238E27FC236}">
                <a16:creationId xmlns:a16="http://schemas.microsoft.com/office/drawing/2014/main" id="{7913997D-03D6-49C8-B0B4-9444374F13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9368" y="429694"/>
            <a:ext cx="9373263" cy="5354476"/>
          </a:xfrm>
          <a:prstGeom prst="rect">
            <a:avLst/>
          </a:prstGeom>
          <a:noFill/>
          <a:extLst>
            <a:ext uri="{909E8E84-426E-40DD-AFC4-6F175D3DCCD1}">
              <a14:hiddenFill xmlns:a14="http://schemas.microsoft.com/office/drawing/2010/main">
                <a:solidFill>
                  <a:srgbClr val="FFFFFF"/>
                </a:solidFill>
              </a14:hiddenFill>
            </a:ext>
          </a:extLst>
        </p:spPr>
      </p:pic>
      <p:sp>
        <p:nvSpPr>
          <p:cNvPr id="2" name="TekstniOkvir 1">
            <a:extLst>
              <a:ext uri="{FF2B5EF4-FFF2-40B4-BE49-F238E27FC236}">
                <a16:creationId xmlns:a16="http://schemas.microsoft.com/office/drawing/2014/main" id="{3E7B9A61-2782-4295-B8B6-1EC8EB3C11C3}"/>
              </a:ext>
            </a:extLst>
          </p:cNvPr>
          <p:cNvSpPr txBox="1"/>
          <p:nvPr/>
        </p:nvSpPr>
        <p:spPr>
          <a:xfrm>
            <a:off x="2308194" y="5992427"/>
            <a:ext cx="7785717" cy="369332"/>
          </a:xfrm>
          <a:prstGeom prst="rect">
            <a:avLst/>
          </a:prstGeom>
          <a:noFill/>
        </p:spPr>
        <p:txBody>
          <a:bodyPr wrap="square" rtlCol="0">
            <a:spAutoFit/>
          </a:bodyPr>
          <a:lstStyle/>
          <a:p>
            <a:pPr algn="ctr"/>
            <a:r>
              <a:rPr lang="hr-HR" dirty="0"/>
              <a:t>Franz </a:t>
            </a:r>
            <a:r>
              <a:rPr lang="hr-HR" dirty="0" err="1"/>
              <a:t>Marc</a:t>
            </a:r>
            <a:r>
              <a:rPr lang="hr-HR" dirty="0"/>
              <a:t>, </a:t>
            </a:r>
            <a:r>
              <a:rPr lang="hr-HR" i="1" dirty="0"/>
              <a:t>Veliki plavi konji,</a:t>
            </a:r>
            <a:r>
              <a:rPr lang="hr-HR" dirty="0"/>
              <a:t> 1911.</a:t>
            </a:r>
          </a:p>
        </p:txBody>
      </p:sp>
    </p:spTree>
    <p:extLst>
      <p:ext uri="{BB962C8B-B14F-4D97-AF65-F5344CB8AC3E}">
        <p14:creationId xmlns:p14="http://schemas.microsoft.com/office/powerpoint/2010/main" val="7038464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25577</TotalTime>
  <Words>1451</Words>
  <Application>Microsoft Office PowerPoint</Application>
  <PresentationFormat>Široki zaslon</PresentationFormat>
  <Paragraphs>241</Paragraphs>
  <Slides>49</Slides>
  <Notes>15</Notes>
  <HiddenSlides>0</HiddenSlides>
  <MMClips>0</MMClips>
  <ScaleCrop>false</ScaleCrop>
  <HeadingPairs>
    <vt:vector size="6" baseType="variant">
      <vt:variant>
        <vt:lpstr>Korišteni fontovi</vt:lpstr>
      </vt:variant>
      <vt:variant>
        <vt:i4>6</vt:i4>
      </vt:variant>
      <vt:variant>
        <vt:lpstr>Tema</vt:lpstr>
      </vt:variant>
      <vt:variant>
        <vt:i4>1</vt:i4>
      </vt:variant>
      <vt:variant>
        <vt:lpstr>Naslovi slajdova</vt:lpstr>
      </vt:variant>
      <vt:variant>
        <vt:i4>49</vt:i4>
      </vt:variant>
    </vt:vector>
  </HeadingPairs>
  <TitlesOfParts>
    <vt:vector size="56" baseType="lpstr">
      <vt:lpstr>Arial</vt:lpstr>
      <vt:lpstr>Calibri</vt:lpstr>
      <vt:lpstr>Calibri Light</vt:lpstr>
      <vt:lpstr>H5PDroidSans</vt:lpstr>
      <vt:lpstr>Latha</vt:lpstr>
      <vt:lpstr>Times New Roman</vt:lpstr>
      <vt:lpstr>Office Theme</vt:lpstr>
      <vt:lpstr>APSTRAKTNA FORMA - geometrijska i organička apstrakcija -</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Primarne boje:   Sekundarne boje:   </vt:lpstr>
      <vt:lpstr>PowerPoint prezentacija</vt:lpstr>
      <vt:lpstr>DINAMIKA BOJA</vt:lpstr>
      <vt:lpstr>PowerPoint prezentacija</vt:lpstr>
      <vt:lpstr>PowerPoint prezentacija</vt:lpstr>
      <vt:lpstr>KONTRAST</vt:lpstr>
      <vt:lpstr>KOMPLEMENTARNI KONTRAST</vt:lpstr>
      <vt:lpstr>Dimenzije boje</vt:lpstr>
      <vt:lpstr>DIMENZIJE BOJE:</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Opišite na primjeru kakve su linije po toku, a kakve po karakteru.</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 1: geometrijska i organička apstrakcija</dc:title>
  <dc:creator>Maja Bachler</dc:creator>
  <cp:lastModifiedBy>Maja Bachler</cp:lastModifiedBy>
  <cp:revision>18</cp:revision>
  <dcterms:created xsi:type="dcterms:W3CDTF">2020-09-07T08:55:11Z</dcterms:created>
  <dcterms:modified xsi:type="dcterms:W3CDTF">2024-10-07T08:40:14Z</dcterms:modified>
</cp:coreProperties>
</file>