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76" r:id="rId3"/>
    <p:sldId id="259" r:id="rId4"/>
    <p:sldId id="261" r:id="rId5"/>
    <p:sldId id="262" r:id="rId6"/>
    <p:sldId id="277" r:id="rId7"/>
    <p:sldId id="263" r:id="rId8"/>
    <p:sldId id="264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9" r:id="rId17"/>
    <p:sldId id="273" r:id="rId18"/>
    <p:sldId id="280" r:id="rId19"/>
    <p:sldId id="274" r:id="rId20"/>
    <p:sldId id="275" r:id="rId21"/>
    <p:sldId id="260" r:id="rId22"/>
    <p:sldId id="256" r:id="rId23"/>
  </p:sldIdLst>
  <p:sldSz cx="12192000" cy="6858000"/>
  <p:notesSz cx="6858000" cy="9144000"/>
  <p:defaultTextStyle>
    <a:defPPr>
      <a:defRPr lang="sr-Latn-R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00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43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hr-H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hr-H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7B3D7-2C10-418C-BFC3-63823A086BC1}" type="datetimeFigureOut">
              <a:rPr lang="hr-HR" smtClean="0"/>
              <a:t>23.10.2023.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096993-3D53-4564-B257-8F90140A8872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1356990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hr-H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hr-H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7B3D7-2C10-418C-BFC3-63823A086BC1}" type="datetimeFigureOut">
              <a:rPr lang="hr-HR" smtClean="0"/>
              <a:t>23.10.2023.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096993-3D53-4564-B257-8F90140A8872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2612845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hr-H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7B3D7-2C10-418C-BFC3-63823A086BC1}" type="datetimeFigureOut">
              <a:rPr lang="hr-HR" smtClean="0"/>
              <a:t>23.10.2023.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096993-3D53-4564-B257-8F90140A8872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4499338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hr-H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hr-H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hr-H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7B3D7-2C10-418C-BFC3-63823A086BC1}" type="datetimeFigureOut">
              <a:rPr lang="hr-HR" smtClean="0"/>
              <a:t>23.10.2023.</a:t>
            </a:fld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096993-3D53-4564-B257-8F90140A8872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2072908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hr-H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hr-H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hr-HR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7B3D7-2C10-418C-BFC3-63823A086BC1}" type="datetimeFigureOut">
              <a:rPr lang="hr-HR" smtClean="0"/>
              <a:t>23.10.2023.</a:t>
            </a:fld>
            <a:endParaRPr lang="hr-H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096993-3D53-4564-B257-8F90140A8872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8978551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hr-HR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7B3D7-2C10-418C-BFC3-63823A086BC1}" type="datetimeFigureOut">
              <a:rPr lang="hr-HR" smtClean="0"/>
              <a:t>23.10.2023.</a:t>
            </a:fld>
            <a:endParaRPr lang="hr-H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096993-3D53-4564-B257-8F90140A8872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7414420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7B3D7-2C10-418C-BFC3-63823A086BC1}" type="datetimeFigureOut">
              <a:rPr lang="hr-HR" smtClean="0"/>
              <a:t>23.10.2023.</a:t>
            </a:fld>
            <a:endParaRPr lang="hr-H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096993-3D53-4564-B257-8F90140A8872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53492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hr-H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hr-H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7B3D7-2C10-418C-BFC3-63823A086BC1}" type="datetimeFigureOut">
              <a:rPr lang="hr-HR" smtClean="0"/>
              <a:t>23.10.2023.</a:t>
            </a:fld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096993-3D53-4564-B257-8F90140A8872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7235402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hr-H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r-H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7B3D7-2C10-418C-BFC3-63823A086BC1}" type="datetimeFigureOut">
              <a:rPr lang="hr-HR" smtClean="0"/>
              <a:t>23.10.2023.</a:t>
            </a:fld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096993-3D53-4564-B257-8F90140A8872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7742365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hr-H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hr-H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7B3D7-2C10-418C-BFC3-63823A086BC1}" type="datetimeFigureOut">
              <a:rPr lang="hr-HR" smtClean="0"/>
              <a:t>23.10.2023.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096993-3D53-4564-B257-8F90140A8872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3252630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hr-H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hr-H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7B3D7-2C10-418C-BFC3-63823A086BC1}" type="datetimeFigureOut">
              <a:rPr lang="hr-HR" smtClean="0"/>
              <a:t>23.10.2023.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096993-3D53-4564-B257-8F90140A8872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4734835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hr-H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hr-H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87B3D7-2C10-418C-BFC3-63823A086BC1}" type="datetimeFigureOut">
              <a:rPr lang="hr-HR" smtClean="0"/>
              <a:t>23.10.2023.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096993-3D53-4564-B257-8F90140A8872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8000387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r-Latn-R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balde123" TargetMode="External"/><Relationship Id="rId2" Type="http://schemas.openxmlformats.org/officeDocument/2006/relationships/hyperlink" Target="http://bit.ly/solwit123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bit.ly/mataclark" TargetMode="Externa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Fountain_(Duchamp)#/media/File:Marcel_Duchamp,_1917,_Fountain,_photograph_by_Alfred_Stieglitz.jpg)" TargetMode="External"/><Relationship Id="rId2" Type="http://schemas.openxmlformats.org/officeDocument/2006/relationships/hyperlink" Target="https://commons.wikimedia.org/wiki/File:Fountain_(14935749534).jpg)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hr.m.wikipedia.org/wiki/Datoteka:Hugo_Ball_Cabaret_Voltaire.jpg" TargetMode="External"/><Relationship Id="rId5" Type="http://schemas.openxmlformats.org/officeDocument/2006/relationships/hyperlink" Target="https://commons.wikimedia.org/wiki/File:Grand_opening_of_the_first_Dada_exhibition,_Berlin,_5_June_1920.jpg" TargetMode="External"/><Relationship Id="rId4" Type="http://schemas.openxmlformats.org/officeDocument/2006/relationships/hyperlink" Target="https://sh.wikipedia.org/wiki/Marcel_Duchamp#/media/Datoteka:Marcel_Duchamp_01.jpg" TargetMode="Externa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046855"/>
          </a:xfrm>
        </p:spPr>
        <p:txBody>
          <a:bodyPr/>
          <a:lstStyle/>
          <a:p>
            <a:pPr algn="ctr"/>
            <a:r>
              <a:rPr lang="en-US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KONCEPTUALNA FORMA</a:t>
            </a:r>
            <a:endParaRPr lang="hr-HR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8416594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r-HR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515" y="365125"/>
            <a:ext cx="7302475" cy="5467729"/>
          </a:xfrm>
        </p:spPr>
      </p:pic>
      <p:sp>
        <p:nvSpPr>
          <p:cNvPr id="5" name="TextBox 4"/>
          <p:cNvSpPr txBox="1"/>
          <p:nvPr/>
        </p:nvSpPr>
        <p:spPr>
          <a:xfrm>
            <a:off x="-331470" y="6022393"/>
            <a:ext cx="85610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Rene Magritte, </a:t>
            </a:r>
            <a:r>
              <a:rPr lang="en-US" i="1" dirty="0" err="1" smtClean="0"/>
              <a:t>Varka</a:t>
            </a:r>
            <a:r>
              <a:rPr lang="en-US" i="1" dirty="0" smtClean="0"/>
              <a:t> </a:t>
            </a:r>
            <a:r>
              <a:rPr lang="en-US" i="1" dirty="0" err="1" smtClean="0"/>
              <a:t>slika</a:t>
            </a:r>
            <a:r>
              <a:rPr lang="en-US" dirty="0" smtClean="0"/>
              <a:t>, 1929.</a:t>
            </a:r>
            <a:endParaRPr lang="hr-HR" dirty="0"/>
          </a:p>
        </p:txBody>
      </p:sp>
      <p:sp>
        <p:nvSpPr>
          <p:cNvPr id="3" name="TextBox 2"/>
          <p:cNvSpPr txBox="1"/>
          <p:nvPr/>
        </p:nvSpPr>
        <p:spPr>
          <a:xfrm>
            <a:off x="7755958" y="1880227"/>
            <a:ext cx="4369420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hr-HR" sz="2800" dirty="0"/>
              <a:t>Što je slikar želio poručiti ovim djelom? </a:t>
            </a:r>
            <a:endParaRPr lang="en-US" sz="2800" dirty="0"/>
          </a:p>
          <a:p>
            <a:pPr algn="just"/>
            <a:r>
              <a:rPr lang="hr-HR" sz="2800" dirty="0"/>
              <a:t>Mijenja li to našu percepciju djela figurativne forme koja prikazuju iluziju stvarnosti</a:t>
            </a:r>
            <a:r>
              <a:rPr lang="en-US" sz="2800" dirty="0"/>
              <a:t>?</a:t>
            </a:r>
          </a:p>
          <a:p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28907606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06690" y="228917"/>
            <a:ext cx="4194810" cy="5948046"/>
          </a:xfrm>
        </p:spPr>
        <p:txBody>
          <a:bodyPr/>
          <a:lstStyle/>
          <a:p>
            <a:r>
              <a:rPr lang="hr-HR" dirty="0" smtClean="0"/>
              <a:t>     </a:t>
            </a:r>
            <a:r>
              <a:rPr lang="hr-HR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hr-HR" sz="24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romotrite fotografiju i odgovorite na sljedeća pitanja:</a:t>
            </a:r>
          </a:p>
          <a:p>
            <a:r>
              <a:rPr lang="hr-HR" sz="24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Što mislite, gdje se nalazi ovaj predmet?</a:t>
            </a:r>
          </a:p>
          <a:p>
            <a:r>
              <a:rPr lang="hr-HR" sz="24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Koja je izvorna funkcija ovoga predmeta?</a:t>
            </a:r>
          </a:p>
          <a:p>
            <a:r>
              <a:rPr lang="hr-HR" sz="24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Po čemu možemo zaključiti da se radi o umjetničkom djelu?</a:t>
            </a:r>
          </a:p>
          <a:p>
            <a:r>
              <a:rPr lang="hr-HR" sz="24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Kojim je procesom nastalo ovo djelo? Gdje se taj proces odvijao?</a:t>
            </a:r>
            <a:endParaRPr lang="hr-HR" dirty="0"/>
          </a:p>
        </p:txBody>
      </p:sp>
      <p:pic>
        <p:nvPicPr>
          <p:cNvPr id="1026" name="Picture 2" descr="File:Fountain (14935749534)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28917"/>
            <a:ext cx="7620000" cy="5391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Explosion 1 4"/>
          <p:cNvSpPr/>
          <p:nvPr/>
        </p:nvSpPr>
        <p:spPr>
          <a:xfrm>
            <a:off x="7806690" y="228917"/>
            <a:ext cx="582930" cy="516573"/>
          </a:xfrm>
          <a:prstGeom prst="irregularSeal1">
            <a:avLst/>
          </a:prstGeom>
          <a:solidFill>
            <a:srgbClr val="86E0DC"/>
          </a:solidFill>
          <a:ln w="381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Font typeface="Arial" panose="020B0604020202020204" pitchFamily="34" charset="0"/>
              <a:buChar char="•"/>
            </a:pPr>
            <a:endParaRPr lang="hr-HR" dirty="0"/>
          </a:p>
        </p:txBody>
      </p:sp>
      <p:sp>
        <p:nvSpPr>
          <p:cNvPr id="4" name="TextBox 3"/>
          <p:cNvSpPr txBox="1"/>
          <p:nvPr/>
        </p:nvSpPr>
        <p:spPr>
          <a:xfrm>
            <a:off x="0" y="5620068"/>
            <a:ext cx="76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r-HR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Marcel Duchamp, </a:t>
            </a:r>
            <a:r>
              <a:rPr lang="hr-HR" i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Fontana</a:t>
            </a:r>
            <a:r>
              <a:rPr lang="hr-HR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1917.</a:t>
            </a:r>
            <a:endParaRPr lang="hr-HR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68161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animBg="1"/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38110" y="125730"/>
            <a:ext cx="4343400" cy="6503669"/>
          </a:xfrm>
        </p:spPr>
        <p:txBody>
          <a:bodyPr/>
          <a:lstStyle/>
          <a:p>
            <a:pPr marL="0" indent="0" algn="ctr">
              <a:buNone/>
            </a:pPr>
            <a:r>
              <a:rPr lang="hr-HR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READY MADE</a:t>
            </a:r>
          </a:p>
          <a:p>
            <a:pPr marL="0" indent="0" algn="ctr">
              <a:buNone/>
            </a:pPr>
            <a:endParaRPr lang="hr-HR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hr-HR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bit.ly/readymade123</a:t>
            </a:r>
          </a:p>
          <a:p>
            <a:pPr marL="0" indent="0" algn="just">
              <a:buNone/>
            </a:pPr>
            <a:endParaRPr lang="hr-HR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hr-HR" sz="24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Zapišite  </a:t>
            </a:r>
            <a:r>
              <a:rPr lang="hr-HR" sz="24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njegove osnovne značajke.</a:t>
            </a:r>
          </a:p>
          <a:p>
            <a:pPr marL="0" indent="0" algn="just">
              <a:buNone/>
            </a:pPr>
            <a:endParaRPr lang="hr-HR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hr-HR" sz="24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Pitanja za raspravu: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hr-HR" sz="24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Što je to uopće umjetnost?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hr-HR" sz="24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Što nekom djelu daje umjetnički status?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hr-HR" sz="24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Je li umjetnički čin ideja o nastanku djela ili umijeće njegova izvođenja?</a:t>
            </a:r>
            <a:endParaRPr lang="hr-HR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2" descr="File:Fountain (14935749534)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28917"/>
            <a:ext cx="7620000" cy="5391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0" y="5620068"/>
            <a:ext cx="76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r-HR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Marcel Duchamp, </a:t>
            </a:r>
            <a:r>
              <a:rPr lang="hr-HR" i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Fontana</a:t>
            </a:r>
            <a:r>
              <a:rPr lang="hr-HR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1917.</a:t>
            </a:r>
            <a:endParaRPr lang="hr-HR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4412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9200" y="662940"/>
            <a:ext cx="6324600" cy="5977889"/>
          </a:xfrm>
        </p:spPr>
        <p:txBody>
          <a:bodyPr>
            <a:normAutofit/>
          </a:bodyPr>
          <a:lstStyle/>
          <a:p>
            <a:r>
              <a:rPr lang="hr-HR" sz="24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Duchamp se više ne bavi tradicionalnim oblikovanjem umjetničkog predmeta</a:t>
            </a:r>
          </a:p>
          <a:p>
            <a:r>
              <a:rPr lang="hr-HR" sz="24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Gotovi industrijski predmet izvlači iz njegova uobičajenog konteksta i pretvara ga u umjetničko djelo</a:t>
            </a:r>
          </a:p>
          <a:p>
            <a:r>
              <a:rPr lang="hr-HR" sz="24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Umjetnik iznosi podrugljiv stav izborom predmeta koji ujedno služi i kao pisoar</a:t>
            </a:r>
          </a:p>
          <a:p>
            <a:r>
              <a:rPr lang="hr-HR" sz="24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Postavom u muzejski prostor, mijenja percepciju publike tog predmeta</a:t>
            </a:r>
          </a:p>
          <a:p>
            <a:r>
              <a:rPr lang="hr-HR" sz="24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Daje mu drugi naziv – Fontana</a:t>
            </a:r>
          </a:p>
          <a:p>
            <a:r>
              <a:rPr lang="hr-HR" sz="24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Potpisuje ga pod pseudonimom</a:t>
            </a:r>
          </a:p>
          <a:p>
            <a:r>
              <a:rPr lang="hr-HR" sz="24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Umjetnik je odlučio da to bude umjetničko djelo, a publika se jednostavno s time složila</a:t>
            </a:r>
            <a:endParaRPr lang="hr-HR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 descr="https://upload.wikimedia.org/wikipedia/commons/thumb/d/dd/Marcel_Duchamp%2C_1917%2C_Fountain%2C_photograph_by_Alfred_Stieglitz.jpg/800px-Marcel_Duchamp%2C_1917%2C_Fountain%2C_photograph_by_Alfred_Stieglitz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619" y="0"/>
            <a:ext cx="4526281" cy="5912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388618" y="5912455"/>
            <a:ext cx="45262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r-H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Marcel Duchamp</a:t>
            </a:r>
            <a:r>
              <a:rPr lang="hr-HR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Fontana</a:t>
            </a:r>
            <a:r>
              <a:rPr lang="hr-H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fotografija Alfreda Stieglitza, </a:t>
            </a:r>
            <a:r>
              <a:rPr lang="hr-HR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1917., Galerija 291</a:t>
            </a:r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5908507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02240"/>
            <a:ext cx="10515600" cy="4351338"/>
          </a:xfrm>
        </p:spPr>
        <p:txBody>
          <a:bodyPr>
            <a:normAutofit/>
          </a:bodyPr>
          <a:lstStyle/>
          <a:p>
            <a:endParaRPr lang="en-US" sz="3200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3200" b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Utjecaj</a:t>
            </a:r>
            <a:r>
              <a:rPr lang="en-US" sz="32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Fontane</a:t>
            </a:r>
            <a:r>
              <a:rPr lang="en-US" sz="32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</a:t>
            </a:r>
            <a:r>
              <a:rPr lang="en-US" sz="32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daljnji</a:t>
            </a:r>
            <a:r>
              <a:rPr lang="en-US" sz="32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razvoj</a:t>
            </a:r>
            <a:r>
              <a:rPr lang="en-US" sz="32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umjetnosti</a:t>
            </a:r>
            <a:r>
              <a:rPr lang="en-US" sz="32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</a:p>
          <a:p>
            <a:pPr marL="0" indent="0">
              <a:buNone/>
            </a:pPr>
            <a:endParaRPr lang="en-US" sz="3200" b="1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Umjetnost</a:t>
            </a:r>
            <a:r>
              <a:rPr lang="en-US" sz="32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kao</a:t>
            </a:r>
            <a:r>
              <a:rPr lang="en-US" sz="32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koncept</a:t>
            </a:r>
            <a:r>
              <a:rPr lang="en-US" sz="32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 ne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stvar</a:t>
            </a:r>
            <a:endParaRPr lang="en-US" sz="3200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Što</a:t>
            </a:r>
            <a:r>
              <a:rPr lang="en-US" sz="32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je </a:t>
            </a:r>
            <a:r>
              <a:rPr lang="en-US" sz="3200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umjetničko</a:t>
            </a:r>
            <a:r>
              <a:rPr lang="en-US" sz="32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djelo</a:t>
            </a:r>
            <a:r>
              <a:rPr lang="en-US" sz="32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 </a:t>
            </a:r>
          </a:p>
          <a:p>
            <a:r>
              <a:rPr lang="en-US" sz="3200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Tko</a:t>
            </a:r>
            <a:r>
              <a:rPr lang="en-US" sz="32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 tome </a:t>
            </a:r>
            <a:r>
              <a:rPr lang="en-US" sz="3200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odlučuje</a:t>
            </a:r>
            <a:r>
              <a:rPr lang="en-US" sz="32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umjetnik</a:t>
            </a:r>
            <a:r>
              <a:rPr lang="en-US" sz="32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ili</a:t>
            </a:r>
            <a:r>
              <a:rPr lang="en-US" sz="32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kritičar</a:t>
            </a:r>
            <a:r>
              <a:rPr lang="en-US" sz="32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 </a:t>
            </a:r>
          </a:p>
          <a:p>
            <a:r>
              <a:rPr lang="en-US" sz="3200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Može</a:t>
            </a:r>
            <a:r>
              <a:rPr lang="en-US" sz="32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li </a:t>
            </a:r>
            <a:r>
              <a:rPr lang="en-US" sz="3200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djelo</a:t>
            </a:r>
            <a:r>
              <a:rPr lang="en-US" sz="32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proizaći</a:t>
            </a:r>
            <a:r>
              <a:rPr lang="en-US" sz="32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samo</a:t>
            </a:r>
            <a:r>
              <a:rPr lang="en-US" sz="32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iz</a:t>
            </a:r>
            <a:r>
              <a:rPr lang="en-US" sz="32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ideje</a:t>
            </a:r>
            <a:r>
              <a:rPr lang="en-US" sz="32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ili</a:t>
            </a:r>
            <a:r>
              <a:rPr lang="en-US" sz="32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je </a:t>
            </a:r>
            <a:r>
              <a:rPr lang="en-US" sz="3200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potrebna</a:t>
            </a:r>
            <a:r>
              <a:rPr lang="en-US" sz="32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ruka</a:t>
            </a:r>
            <a:endParaRPr lang="hr-HR" sz="3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73973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01006" y="217170"/>
            <a:ext cx="6690993" cy="5959793"/>
          </a:xfrm>
        </p:spPr>
        <p:txBody>
          <a:bodyPr/>
          <a:lstStyle/>
          <a:p>
            <a:pPr marL="0" indent="0" algn="just">
              <a:buNone/>
            </a:pPr>
            <a:endParaRPr lang="hr-HR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hr-HR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Marcel Duchamp </a:t>
            </a:r>
            <a:r>
              <a:rPr lang="hr-HR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predstavnik je </a:t>
            </a:r>
            <a:r>
              <a:rPr lang="hr-HR" b="1" dirty="0" smtClean="0">
                <a:solidFill>
                  <a:schemeClr val="accent4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DADAIZMA</a:t>
            </a:r>
          </a:p>
          <a:p>
            <a:pPr algn="just"/>
            <a:r>
              <a:rPr lang="hr-HR" i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Fontana</a:t>
            </a:r>
            <a:r>
              <a:rPr lang="hr-HR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primjer dadaizma gdje je u fokusu sama umjetnička ideja, a ne toliko čin izvedbe djela</a:t>
            </a:r>
          </a:p>
          <a:p>
            <a:pPr algn="just"/>
            <a:r>
              <a:rPr lang="hr-HR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Duchamp jedan od najutjecajnijih umjetnika 20. st. – utjecaj na konceptualnu umjetnost 60ih godina 20. st.</a:t>
            </a:r>
          </a:p>
          <a:p>
            <a:endParaRPr lang="hr-HR" dirty="0"/>
          </a:p>
        </p:txBody>
      </p:sp>
      <p:pic>
        <p:nvPicPr>
          <p:cNvPr id="4098" name="Picture 2" descr="https://upload.wikimedia.org/wikipedia/commons/e/e2/Marcel_Duchamp_0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445" y="0"/>
            <a:ext cx="4416425" cy="6501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214994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78040" y="248284"/>
            <a:ext cx="4922520" cy="6506846"/>
          </a:xfrm>
        </p:spPr>
        <p:txBody>
          <a:bodyPr>
            <a:normAutofit lnSpcReduction="10000"/>
          </a:bodyPr>
          <a:lstStyle/>
          <a:p>
            <a:r>
              <a:rPr lang="hr-HR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Dadaizam je umjetnički pravac avangardne umjetnosti s početka 20. st. koji u potpunosti odbacuje tradiciju akademske umjetnosti</a:t>
            </a:r>
          </a:p>
          <a:p>
            <a:r>
              <a:rPr lang="hr-HR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Skupina likovnih umjetnika i pjesnika preispituje i odbacuje sve što je ustaljeno i uobičajeno</a:t>
            </a:r>
          </a:p>
          <a:p>
            <a:r>
              <a:rPr lang="hr-HR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Javlja se 1916. godine u Zurichu, u jeku Prvog svjetskog rata</a:t>
            </a:r>
          </a:p>
          <a:p>
            <a:r>
              <a:rPr lang="hr-HR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Progovaraju o kaosu vremena u kojem žive</a:t>
            </a:r>
          </a:p>
          <a:p>
            <a:r>
              <a:rPr lang="hr-HR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Izvrću i ruše sve ustaljene norme</a:t>
            </a:r>
            <a:endParaRPr lang="hr-HR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122" name="Picture 2" descr="File:Grand opening of the first Dada exhibition, Berlin, 5 June 192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" y="0"/>
            <a:ext cx="6848475" cy="5705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02870" y="5875020"/>
            <a:ext cx="68694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r-HR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Otvorenje prve dadaističke izložbe, Berlin 1920.</a:t>
            </a:r>
            <a:endParaRPr lang="hr-HR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0462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23996" y="1051559"/>
            <a:ext cx="6729804" cy="5568319"/>
          </a:xfrm>
        </p:spPr>
        <p:txBody>
          <a:bodyPr>
            <a:normAutofit/>
          </a:bodyPr>
          <a:lstStyle/>
          <a:p>
            <a:r>
              <a:rPr lang="hr-HR" sz="24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Pjesnici odustaju od smislenih riječi i izmišljaju nove bez ikakvog značenja</a:t>
            </a:r>
          </a:p>
          <a:p>
            <a:r>
              <a:rPr lang="hr-HR" sz="24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Likovni umjetnici napuštaju oponašanje stvarnosti</a:t>
            </a:r>
          </a:p>
          <a:p>
            <a:r>
              <a:rPr lang="hr-HR" sz="24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Umjetničko djelo ne podrazumijeva više nužno sliku ili skulpturu</a:t>
            </a:r>
          </a:p>
          <a:p>
            <a:r>
              <a:rPr lang="hr-HR" sz="24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Upotreba neumjetničkih materijala, već gotove predmete ili fotografije koje postavljaju u drugi kontekst</a:t>
            </a:r>
          </a:p>
          <a:p>
            <a:r>
              <a:rPr lang="hr-HR" sz="24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Podrugljivost, banalnost, neposrednost</a:t>
            </a:r>
          </a:p>
          <a:p>
            <a:r>
              <a:rPr lang="hr-HR" sz="24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svjetski rat – kontekst vremena utheče na pojavu određenih pravaca u likovnoj umjetnosti</a:t>
            </a:r>
            <a:endParaRPr lang="hr-HR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2" descr="Datoteka:Hugo Ball Cabaret Voltaire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249" y="77932"/>
            <a:ext cx="4323451" cy="58956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0" y="5973548"/>
            <a:ext cx="46239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r-HR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Hugo Ball recitira svoju poeziju u kafeu </a:t>
            </a:r>
            <a:r>
              <a:rPr lang="hr-HR" i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Cabaret Voltaire</a:t>
            </a:r>
            <a:r>
              <a:rPr lang="hr-HR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 Zurichu, 1916.</a:t>
            </a:r>
            <a:endParaRPr lang="hr-HR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79448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4320" y="365125"/>
            <a:ext cx="11601450" cy="581183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hr-HR" sz="36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Likovni pravci koji prethode konceptualnoj umjetnosti:</a:t>
            </a:r>
          </a:p>
          <a:p>
            <a:pPr marL="0" indent="0" algn="just">
              <a:buNone/>
            </a:pPr>
            <a:endParaRPr lang="hr-HR" sz="3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hr-HR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DADAIZAM</a:t>
            </a:r>
          </a:p>
          <a:p>
            <a:pPr algn="just"/>
            <a:r>
              <a:rPr lang="hr-HR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POP ART (bit.ly/popart123)</a:t>
            </a:r>
          </a:p>
          <a:p>
            <a:pPr algn="just"/>
            <a:r>
              <a:rPr lang="hr-HR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MINIMALIZAM (bit.ly/minimal123)</a:t>
            </a:r>
          </a:p>
          <a:p>
            <a:pPr algn="just"/>
            <a:r>
              <a:rPr lang="hr-HR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HAPPENING (bit.ly/happening123)</a:t>
            </a:r>
          </a:p>
          <a:p>
            <a:pPr algn="just"/>
            <a:r>
              <a:rPr lang="hr-HR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FLUXUS</a:t>
            </a:r>
            <a:endParaRPr lang="hr-HR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90825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65124"/>
            <a:ext cx="10515600" cy="635571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hr-HR" b="1" dirty="0" smtClean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KONCEPTUALNA FORMA</a:t>
            </a:r>
            <a:r>
              <a:rPr lang="hr-HR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hr-HR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ideja ili koncept koji stoje iza umjetničkog djela važniji su od rezultata ili samog umjetničkog predmeta</a:t>
            </a:r>
          </a:p>
          <a:p>
            <a:r>
              <a:rPr lang="hr-HR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 početku konceptualna djela nailazila na neodobravanje publike i galerija</a:t>
            </a:r>
          </a:p>
          <a:p>
            <a:r>
              <a:rPr lang="hr-HR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Danas ih nalazimo u brojnim galerijama i muzejima</a:t>
            </a:r>
          </a:p>
          <a:p>
            <a:r>
              <a:rPr lang="hr-HR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Različiti mediji: fotografija, tekst, crtež, slika, kolaž, umjetnikovo tijelo (body art), happening, performans, fotokopie, različiti oblici dokumentiranja procesa nastanka i transformacije djela, karte, dijagrami, knjige i sl.</a:t>
            </a:r>
          </a:p>
          <a:p>
            <a:r>
              <a:rPr lang="hr-HR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Ponekad ih je nemoguće izložiti u muzejima</a:t>
            </a:r>
          </a:p>
          <a:p>
            <a:r>
              <a:rPr lang="hr-HR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Neka djela  nisu trajna – imaju privremeni karakter</a:t>
            </a:r>
          </a:p>
          <a:p>
            <a:r>
              <a:rPr lang="hr-HR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 mora ni postojati u fizičkom obliku</a:t>
            </a:r>
          </a:p>
          <a:p>
            <a:r>
              <a:rPr lang="hr-HR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Odbacuje standardne ideje i tradicionalne načine</a:t>
            </a:r>
            <a:endParaRPr lang="hr-HR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4631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65125"/>
            <a:ext cx="10515600" cy="58118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r-HR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Oblikovanje ideje već je umjetničko djelo</a:t>
            </a:r>
          </a:p>
          <a:p>
            <a:r>
              <a:rPr lang="hr-HR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Umjetnici nisu opterećeni estetikom</a:t>
            </a:r>
          </a:p>
          <a:p>
            <a:r>
              <a:rPr lang="hr-HR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Ponekad su </a:t>
            </a:r>
            <a:r>
              <a:rPr lang="hr-HR" b="1" dirty="0" smtClean="0">
                <a:solidFill>
                  <a:srgbClr val="00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publika, prostor </a:t>
            </a:r>
            <a:r>
              <a:rPr lang="hr-HR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hr-HR" dirty="0" smtClean="0">
                <a:solidFill>
                  <a:srgbClr val="00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r-HR" b="1" dirty="0" smtClean="0">
                <a:solidFill>
                  <a:srgbClr val="00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vrijeme</a:t>
            </a:r>
            <a:r>
              <a:rPr lang="hr-HR" dirty="0" smtClean="0">
                <a:solidFill>
                  <a:srgbClr val="00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r-HR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neodvojiv dio djela</a:t>
            </a:r>
          </a:p>
          <a:p>
            <a:r>
              <a:rPr lang="hr-HR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Suprotstavljanje tradicionalnoj umjetnosti</a:t>
            </a:r>
          </a:p>
          <a:p>
            <a:r>
              <a:rPr lang="hr-HR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Umjetnici naglašavaju koncept/ideju kao umjetničko djelo te potrebu za interpretacijom u  umu promatrača kao završnom fazom svakog djela</a:t>
            </a:r>
            <a:endParaRPr lang="hr-HR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8013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 smtClean="0"/>
              <a:t> </a:t>
            </a:r>
            <a:endParaRPr lang="hr-H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65125"/>
            <a:ext cx="10515600" cy="58118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r-HR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Pažljivo promotrite djelo Josepha Kosutha „Jedan i tri stolca” na poveznici </a:t>
            </a:r>
            <a:r>
              <a:rPr lang="hr-HR" dirty="0" smtClean="0"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bit.ly/kosuth123 </a:t>
            </a:r>
            <a:r>
              <a:rPr lang="hr-HR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 odgovorite na pitanja.</a:t>
            </a:r>
          </a:p>
          <a:p>
            <a:pPr marL="0" indent="0">
              <a:buNone/>
            </a:pPr>
            <a:endParaRPr lang="hr-HR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AutoNum type="arabicPeriod"/>
            </a:pPr>
            <a:r>
              <a:rPr lang="hr-HR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Od koliko se dijelova sastoji rad?</a:t>
            </a:r>
          </a:p>
          <a:p>
            <a:pPr marL="514350" indent="-514350">
              <a:buAutoNum type="arabicPeriod"/>
            </a:pPr>
            <a:r>
              <a:rPr lang="hr-HR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Opišite te dijelove.</a:t>
            </a:r>
          </a:p>
          <a:p>
            <a:pPr marL="514350" indent="-514350">
              <a:buAutoNum type="arabicPeriod"/>
            </a:pPr>
            <a:r>
              <a:rPr lang="hr-HR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Koliko je stvarnih stolaca u ovo radu?</a:t>
            </a:r>
          </a:p>
          <a:p>
            <a:pPr marL="514350" indent="-514350">
              <a:buAutoNum type="arabicPeriod"/>
            </a:pPr>
            <a:r>
              <a:rPr lang="hr-HR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Pokušajte objasniti tri stolca u nazivu rada.</a:t>
            </a:r>
            <a:endParaRPr lang="hr-HR" dirty="0">
              <a:solidFill>
                <a:schemeClr val="accent2">
                  <a:lumMod val="40000"/>
                  <a:lumOff val="6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xplosion 1 3"/>
          <p:cNvSpPr/>
          <p:nvPr/>
        </p:nvSpPr>
        <p:spPr>
          <a:xfrm>
            <a:off x="144463" y="365125"/>
            <a:ext cx="582930" cy="516573"/>
          </a:xfrm>
          <a:prstGeom prst="irregularSeal1">
            <a:avLst/>
          </a:prstGeom>
          <a:solidFill>
            <a:schemeClr val="accent4">
              <a:lumMod val="75000"/>
            </a:schemeClr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Font typeface="Arial" panose="020B0604020202020204" pitchFamily="34" charset="0"/>
              <a:buChar char="•"/>
            </a:pPr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6441096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65125"/>
            <a:ext cx="10515600" cy="58118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r-HR" sz="36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INSTALACIJA</a:t>
            </a:r>
          </a:p>
          <a:p>
            <a:pPr marL="0" indent="0">
              <a:buNone/>
            </a:pPr>
            <a:endParaRPr lang="hr-HR" sz="3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hr-HR" sz="32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Djelo u prostoru </a:t>
            </a:r>
          </a:p>
          <a:p>
            <a:endParaRPr lang="hr-HR" sz="3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hr-HR" sz="3200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hr-HR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hr-HR" sz="32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ože uključivati više različitih predmeta (umjetničkih/neumjetničkih) u prostorno ovisnom odnosu</a:t>
            </a:r>
          </a:p>
          <a:p>
            <a:endParaRPr lang="hr-HR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92407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65125"/>
            <a:ext cx="10515600" cy="5811838"/>
          </a:xfrm>
        </p:spPr>
        <p:txBody>
          <a:bodyPr/>
          <a:lstStyle/>
          <a:p>
            <a:pPr marL="0" indent="0">
              <a:buNone/>
            </a:pPr>
            <a:r>
              <a:rPr lang="hr-HR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Instalacija „Jedan i 3 stolca” sastoji se od tri dijela:</a:t>
            </a:r>
          </a:p>
          <a:p>
            <a:pPr marL="0" indent="0">
              <a:buNone/>
            </a:pPr>
            <a:r>
              <a:rPr lang="hr-HR" dirty="0" smtClean="0"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bit.ly/kosuth123 </a:t>
            </a:r>
            <a:endParaRPr lang="hr-HR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54330" y="2023130"/>
            <a:ext cx="29832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hr-HR" sz="2800" dirty="0" smtClean="0">
                <a:solidFill>
                  <a:schemeClr val="accent2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PREDMET</a:t>
            </a:r>
            <a:endParaRPr lang="hr-HR" sz="2800" dirty="0">
              <a:solidFill>
                <a:schemeClr val="accent2">
                  <a:lumMod val="20000"/>
                  <a:lumOff val="8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170" name="Picture 2" descr="File:Henry van de Velde - Chair - 1895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4865" y="1439903"/>
            <a:ext cx="2922270" cy="48221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Oval Callout 4"/>
          <p:cNvSpPr/>
          <p:nvPr/>
        </p:nvSpPr>
        <p:spPr>
          <a:xfrm rot="11165763">
            <a:off x="785862" y="4396387"/>
            <a:ext cx="3693123" cy="1437828"/>
          </a:xfrm>
          <a:prstGeom prst="wedgeEllipseCallout">
            <a:avLst>
              <a:gd name="adj1" fmla="val -53338"/>
              <a:gd name="adj2" fmla="val 88415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sp>
        <p:nvSpPr>
          <p:cNvPr id="7" name="Oval Callout 6"/>
          <p:cNvSpPr/>
          <p:nvPr/>
        </p:nvSpPr>
        <p:spPr>
          <a:xfrm rot="11716977" flipH="1">
            <a:off x="8688031" y="4455696"/>
            <a:ext cx="3390050" cy="1319210"/>
          </a:xfrm>
          <a:prstGeom prst="wedgeEllipseCallout">
            <a:avLst>
              <a:gd name="adj1" fmla="val -53338"/>
              <a:gd name="adj2" fmla="val 88415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sp>
        <p:nvSpPr>
          <p:cNvPr id="6" name="TextBox 5"/>
          <p:cNvSpPr txBox="1"/>
          <p:nvPr/>
        </p:nvSpPr>
        <p:spPr>
          <a:xfrm>
            <a:off x="8938260" y="4686300"/>
            <a:ext cx="31432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RIJEČ STOLAC</a:t>
            </a:r>
            <a:endParaRPr lang="hr-H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291590" y="4686300"/>
            <a:ext cx="28917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SLIKA STOLCA</a:t>
            </a:r>
            <a:endParaRPr lang="hr-H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54330" y="2617182"/>
            <a:ext cx="40919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hr-HR" sz="2800" dirty="0" smtClean="0">
                <a:solidFill>
                  <a:schemeClr val="accent2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FOTOGRAFIJA</a:t>
            </a:r>
            <a:endParaRPr lang="hr-HR" sz="2800" dirty="0">
              <a:solidFill>
                <a:schemeClr val="accent2">
                  <a:lumMod val="20000"/>
                  <a:lumOff val="8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54330" y="3211234"/>
            <a:ext cx="39776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hr-HR" sz="2800" dirty="0" smtClean="0">
                <a:solidFill>
                  <a:schemeClr val="accent2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PLOČA S TEKSTOM</a:t>
            </a:r>
            <a:endParaRPr lang="hr-HR" sz="2800" dirty="0">
              <a:solidFill>
                <a:schemeClr val="accent2">
                  <a:lumMod val="20000"/>
                  <a:lumOff val="8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745730" y="861274"/>
            <a:ext cx="433578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hr-HR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Stvaran predmet stolac doživljavamo i kao sliku i kao riječ, odnosno sliku toga predmeta označili smo riječju stolac da bismo mogli komunicirati </a:t>
            </a:r>
            <a:r>
              <a:rPr lang="hr-HR" sz="24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govorom.</a:t>
            </a:r>
            <a:endParaRPr lang="hr-HR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20652455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  <p:bldP spid="7" grpId="0" animBg="1"/>
      <p:bldP spid="6" grpId="0"/>
      <p:bldP spid="8" grpId="0"/>
      <p:bldP spid="10" grpId="0"/>
      <p:bldP spid="11" grpId="0"/>
      <p:bldP spid="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endParaRPr lang="hr-HR" dirty="0"/>
          </a:p>
        </p:txBody>
      </p:sp>
      <p:pic>
        <p:nvPicPr>
          <p:cNvPr id="5122" name="Picture 2" descr="Nam June Paik – Exhibition Guide | Tate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" y="365125"/>
            <a:ext cx="7063740" cy="55164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-361950" y="6069330"/>
            <a:ext cx="8778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Nam June Paik, </a:t>
            </a:r>
            <a:r>
              <a:rPr lang="en-US" i="1" dirty="0" smtClean="0"/>
              <a:t>TV Buddha</a:t>
            </a:r>
            <a:r>
              <a:rPr lang="en-US" dirty="0" smtClean="0"/>
              <a:t>, 1974.</a:t>
            </a:r>
            <a:endParaRPr lang="hr-HR" dirty="0"/>
          </a:p>
        </p:txBody>
      </p:sp>
      <p:sp>
        <p:nvSpPr>
          <p:cNvPr id="3" name="TextBox 2"/>
          <p:cNvSpPr txBox="1"/>
          <p:nvPr/>
        </p:nvSpPr>
        <p:spPr>
          <a:xfrm>
            <a:off x="7757160" y="2816632"/>
            <a:ext cx="359664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Interpretirajte</a:t>
            </a:r>
            <a:r>
              <a:rPr lang="en-US" sz="32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sadržaj</a:t>
            </a:r>
            <a:r>
              <a:rPr lang="en-US" sz="32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3200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ideju</a:t>
            </a:r>
            <a:r>
              <a:rPr lang="en-US" sz="32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Nam June </a:t>
            </a:r>
            <a:r>
              <a:rPr lang="en-US" sz="3200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Paika</a:t>
            </a:r>
            <a:r>
              <a:rPr lang="en-US" sz="32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hr-HR" sz="3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3713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0080"/>
            <a:ext cx="10515600" cy="553688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r-HR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Odaberite jedno od tri ponuđena djela i istražite ga na poveznici:</a:t>
            </a:r>
          </a:p>
          <a:p>
            <a:endParaRPr lang="hr-HR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hr-HR" sz="24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 Lewitt, </a:t>
            </a:r>
            <a:r>
              <a:rPr lang="hr-HR" sz="2400" i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Serijski projekt, I (ABCD), </a:t>
            </a:r>
            <a:r>
              <a:rPr lang="hr-HR" sz="24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1966., </a:t>
            </a:r>
            <a:r>
              <a:rPr lang="hr-HR" sz="24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http://bit.ly/solwit123</a:t>
            </a:r>
            <a:endParaRPr lang="hr-HR" sz="2400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hr-HR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hr-HR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hr-HR" sz="24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ohn Baldessari: </a:t>
            </a:r>
            <a:r>
              <a:rPr lang="hr-HR" sz="2400" i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 Will Not Make Any More Boring Art</a:t>
            </a:r>
            <a:r>
              <a:rPr lang="hr-HR" sz="24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1971., </a:t>
            </a:r>
            <a:r>
              <a:rPr lang="hr-HR" sz="24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http://bit.ly/balde123</a:t>
            </a:r>
            <a:r>
              <a:rPr lang="hr-HR" sz="24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lang="hr-HR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hr-HR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hr-HR" sz="24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ordon Matta Clark, </a:t>
            </a:r>
            <a:r>
              <a:rPr lang="hr-HR" sz="2400" i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Bingo</a:t>
            </a:r>
            <a:r>
              <a:rPr lang="hr-HR" sz="24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1974., </a:t>
            </a:r>
            <a:r>
              <a:rPr lang="hr-HR" sz="24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http://bit.ly/mataclark</a:t>
            </a:r>
            <a:r>
              <a:rPr lang="hr-HR" sz="24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hr-HR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xplosion 1 3"/>
          <p:cNvSpPr/>
          <p:nvPr/>
        </p:nvSpPr>
        <p:spPr>
          <a:xfrm>
            <a:off x="255270" y="640080"/>
            <a:ext cx="582930" cy="516573"/>
          </a:xfrm>
          <a:prstGeom prst="irregularSeal1">
            <a:avLst/>
          </a:prstGeom>
          <a:solidFill>
            <a:schemeClr val="accent2">
              <a:lumMod val="75000"/>
            </a:schemeClr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Font typeface="Arial" panose="020B0604020202020204" pitchFamily="34" charset="0"/>
              <a:buChar char="•"/>
            </a:pPr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9286430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Analiza</a:t>
            </a:r>
            <a:r>
              <a:rPr lang="en-US" sz="32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</a:p>
          <a:p>
            <a:r>
              <a:rPr lang="en-US" sz="32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 June Paik </a:t>
            </a:r>
            <a:r>
              <a:rPr lang="en-US" sz="3200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povezao</a:t>
            </a:r>
            <a:r>
              <a:rPr lang="en-US" sz="32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umjetnost</a:t>
            </a:r>
            <a:r>
              <a:rPr lang="en-US" sz="32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32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tehnologiju</a:t>
            </a:r>
            <a:endParaRPr lang="en-US" sz="3200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Buddha </a:t>
            </a:r>
            <a:r>
              <a:rPr lang="en-US" sz="3200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gleda</a:t>
            </a:r>
            <a:r>
              <a:rPr lang="en-US" sz="32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 </a:t>
            </a:r>
            <a:r>
              <a:rPr lang="en-US" sz="3200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svoju</a:t>
            </a:r>
            <a:r>
              <a:rPr lang="en-US" sz="32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sliku</a:t>
            </a:r>
            <a:endParaRPr lang="en-US" sz="3200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Skulptura</a:t>
            </a:r>
            <a:r>
              <a:rPr lang="en-US" sz="32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je </a:t>
            </a:r>
            <a:r>
              <a:rPr lang="en-US" sz="3200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iz</a:t>
            </a:r>
            <a:r>
              <a:rPr lang="en-US" sz="32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18. </a:t>
            </a:r>
            <a:r>
              <a:rPr lang="en-US" sz="3200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st.</a:t>
            </a:r>
            <a:r>
              <a:rPr lang="en-US" sz="32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meditira</a:t>
            </a:r>
            <a:r>
              <a:rPr lang="en-US" sz="32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sz="3200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vječna</a:t>
            </a:r>
            <a:r>
              <a:rPr lang="en-US" sz="32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sadašnjost</a:t>
            </a:r>
            <a:r>
              <a:rPr lang="en-US" sz="32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Buddhe</a:t>
            </a:r>
            <a:r>
              <a:rPr lang="en-US" sz="32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32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3200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nemogućnost</a:t>
            </a:r>
            <a:r>
              <a:rPr lang="en-US" sz="32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 </a:t>
            </a:r>
            <a:r>
              <a:rPr lang="en-US" sz="3200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napusti</a:t>
            </a:r>
            <a:r>
              <a:rPr lang="en-US" sz="32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svoje</a:t>
            </a:r>
            <a:r>
              <a:rPr lang="en-US" sz="32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fizičko</a:t>
            </a:r>
            <a:r>
              <a:rPr lang="en-US" sz="32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određenje</a:t>
            </a:r>
            <a:endParaRPr lang="en-US" sz="3200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Buddha je </a:t>
            </a:r>
            <a:r>
              <a:rPr lang="en-US" sz="3200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proklet</a:t>
            </a:r>
            <a:r>
              <a:rPr lang="en-US" sz="32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 </a:t>
            </a:r>
            <a:r>
              <a:rPr lang="en-US" sz="3200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zauvijek</a:t>
            </a:r>
            <a:r>
              <a:rPr lang="en-US" sz="32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ostane</a:t>
            </a:r>
            <a:r>
              <a:rPr lang="en-US" sz="32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 </a:t>
            </a:r>
            <a:r>
              <a:rPr lang="en-US" sz="3200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realnosti</a:t>
            </a:r>
            <a:endParaRPr lang="hr-HR" sz="3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57592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r-HR" sz="32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Zadatci:</a:t>
            </a:r>
            <a:endParaRPr lang="hr-HR" sz="3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hr-HR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hr-HR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 poveznici pogledajte kratak video </a:t>
            </a:r>
            <a:r>
              <a:rPr lang="hr-HR" i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Case for Conceptual Art </a:t>
            </a:r>
            <a:r>
              <a:rPr lang="hr-HR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koji govori o konceptualnoj formi</a:t>
            </a:r>
          </a:p>
          <a:p>
            <a:r>
              <a:rPr lang="hr-HR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Opišite sredstva i objasnite postupke kojima je izvedeno djelo koje ste </a:t>
            </a:r>
            <a:r>
              <a:rPr lang="hr-HR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istražili</a:t>
            </a:r>
            <a:endParaRPr lang="hr-HR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xplosion 1 3"/>
          <p:cNvSpPr/>
          <p:nvPr/>
        </p:nvSpPr>
        <p:spPr>
          <a:xfrm>
            <a:off x="255270" y="640080"/>
            <a:ext cx="582930" cy="516573"/>
          </a:xfrm>
          <a:prstGeom prst="irregularSeal1">
            <a:avLst/>
          </a:prstGeom>
          <a:solidFill>
            <a:schemeClr val="accent4">
              <a:lumMod val="75000"/>
            </a:schemeClr>
          </a:solidFill>
          <a:ln w="3810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Font typeface="Arial" panose="020B0604020202020204" pitchFamily="34" charset="0"/>
              <a:buChar char="•"/>
            </a:pPr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153458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r-HR" dirty="0"/>
          </a:p>
        </p:txBody>
      </p:sp>
      <p:graphicFrame>
        <p:nvGraphicFramePr>
          <p:cNvPr id="4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57581369"/>
              </p:ext>
            </p:extLst>
          </p:nvPr>
        </p:nvGraphicFramePr>
        <p:xfrm>
          <a:off x="594359" y="925831"/>
          <a:ext cx="10961370" cy="5203854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5724133">
                  <a:extLst>
                    <a:ext uri="{9D8B030D-6E8A-4147-A177-3AD203B41FA5}">
                      <a16:colId xmlns:a16="http://schemas.microsoft.com/office/drawing/2014/main" val="1854463409"/>
                    </a:ext>
                  </a:extLst>
                </a:gridCol>
                <a:gridCol w="668452">
                  <a:extLst>
                    <a:ext uri="{9D8B030D-6E8A-4147-A177-3AD203B41FA5}">
                      <a16:colId xmlns:a16="http://schemas.microsoft.com/office/drawing/2014/main" val="3283219060"/>
                    </a:ext>
                  </a:extLst>
                </a:gridCol>
                <a:gridCol w="1695887">
                  <a:extLst>
                    <a:ext uri="{9D8B030D-6E8A-4147-A177-3AD203B41FA5}">
                      <a16:colId xmlns:a16="http://schemas.microsoft.com/office/drawing/2014/main" val="3996913872"/>
                    </a:ext>
                  </a:extLst>
                </a:gridCol>
                <a:gridCol w="1609235">
                  <a:extLst>
                    <a:ext uri="{9D8B030D-6E8A-4147-A177-3AD203B41FA5}">
                      <a16:colId xmlns:a16="http://schemas.microsoft.com/office/drawing/2014/main" val="2915084040"/>
                    </a:ext>
                  </a:extLst>
                </a:gridCol>
                <a:gridCol w="1263663">
                  <a:extLst>
                    <a:ext uri="{9D8B030D-6E8A-4147-A177-3AD203B41FA5}">
                      <a16:colId xmlns:a16="http://schemas.microsoft.com/office/drawing/2014/main" val="606882721"/>
                    </a:ext>
                  </a:extLst>
                </a:gridCol>
              </a:tblGrid>
              <a:tr h="1129693">
                <a:tc>
                  <a:txBody>
                    <a:bodyPr/>
                    <a:lstStyle/>
                    <a:p>
                      <a:r>
                        <a:rPr lang="hr-HR" dirty="0" smtClean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Samoprocjena/samovrednovanje vlastitog rada i uspjeha u svladavanju</a:t>
                      </a:r>
                      <a:r>
                        <a:rPr lang="hr-HR" baseline="0" dirty="0" smtClean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novih pojmova i vještina</a:t>
                      </a:r>
                      <a:endParaRPr lang="hr-HR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hr-H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hr-H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hr-H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hr-H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0510017"/>
                  </a:ext>
                </a:extLst>
              </a:tr>
              <a:tr h="773893">
                <a:tc>
                  <a:txBody>
                    <a:bodyPr/>
                    <a:lstStyle/>
                    <a:p>
                      <a:pPr algn="just"/>
                      <a:r>
                        <a:rPr lang="hr-HR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Mogu opisati djelo </a:t>
                      </a:r>
                      <a:r>
                        <a:rPr lang="hr-HR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Fontana</a:t>
                      </a:r>
                      <a:r>
                        <a:rPr lang="hr-HR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M. Duchampa</a:t>
                      </a:r>
                      <a:endParaRPr lang="hr-HR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r-HR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 </a:t>
                      </a:r>
                      <a:endParaRPr lang="hr-HR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Većinom da </a:t>
                      </a:r>
                      <a:endParaRPr lang="hr-HR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Većinom ne</a:t>
                      </a:r>
                      <a:endParaRPr lang="hr-HR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Uopće ne</a:t>
                      </a:r>
                      <a:endParaRPr lang="hr-HR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8585104"/>
                  </a:ext>
                </a:extLst>
              </a:tr>
              <a:tr h="997940">
                <a:tc>
                  <a:txBody>
                    <a:bodyPr/>
                    <a:lstStyle/>
                    <a:p>
                      <a:r>
                        <a:rPr lang="hr-HR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Mogu objasniti pojam ready-made</a:t>
                      </a:r>
                      <a:endParaRPr lang="hr-HR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lang="hr-HR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</a:t>
                      </a:r>
                      <a:endParaRPr lang="hr-HR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r-HR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Većinom da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r-HR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Većinom 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r-HR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Uopće 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8620075"/>
                  </a:ext>
                </a:extLst>
              </a:tr>
              <a:tr h="993316">
                <a:tc>
                  <a:txBody>
                    <a:bodyPr/>
                    <a:lstStyle/>
                    <a:p>
                      <a:r>
                        <a:rPr lang="en-US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Mogu</a:t>
                      </a:r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hr-HR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objasniti utjecaj M. Duchampa na pojavu konceptualne forme</a:t>
                      </a:r>
                      <a:endParaRPr lang="hr-HR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lang="hr-HR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</a:t>
                      </a:r>
                      <a:endParaRPr lang="hr-HR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r-HR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Većinom da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r-HR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Većinom 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r-HR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Uopće 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4155401"/>
                  </a:ext>
                </a:extLst>
              </a:tr>
              <a:tr h="654506">
                <a:tc>
                  <a:txBody>
                    <a:bodyPr/>
                    <a:lstStyle/>
                    <a:p>
                      <a:r>
                        <a:rPr lang="hr-HR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Razumijem pojam konceptualne forme i mogu ga objasniti</a:t>
                      </a:r>
                      <a:endParaRPr lang="hr-HR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lang="hr-HR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</a:t>
                      </a:r>
                      <a:endParaRPr lang="hr-HR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r-HR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Većinom da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r-HR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Većinom 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r-HR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Uopće 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8974941"/>
                  </a:ext>
                </a:extLst>
              </a:tr>
              <a:tr h="654506">
                <a:tc>
                  <a:txBody>
                    <a:bodyPr/>
                    <a:lstStyle/>
                    <a:p>
                      <a:r>
                        <a:rPr lang="hr-HR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Aktivno sa sudjelovao/la u zadanim aktivnostima na satu</a:t>
                      </a:r>
                      <a:endParaRPr lang="hr-HR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lang="hr-HR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</a:t>
                      </a:r>
                      <a:endParaRPr lang="hr-HR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r-HR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Većinom da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r-HR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Većinom 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r-HR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Uopće 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07563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37145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" y="365124"/>
            <a:ext cx="11875770" cy="619569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r-HR" sz="24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Popis izvora</a:t>
            </a:r>
          </a:p>
          <a:p>
            <a:pPr marL="457200" indent="-457200">
              <a:buAutoNum type="arabicPeriod"/>
            </a:pPr>
            <a:r>
              <a:rPr lang="hr-HR" sz="2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Marcel Duchamp, </a:t>
            </a:r>
            <a:r>
              <a:rPr lang="hr-HR" sz="2000" i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Fontana</a:t>
            </a:r>
            <a:r>
              <a:rPr lang="hr-HR" sz="2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1917., (</a:t>
            </a:r>
            <a:r>
              <a:rPr lang="hr-HR" sz="2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https://commons.wikimedia.org/wiki/File:Fountain_(14935749534).jpg)</a:t>
            </a:r>
            <a:endParaRPr lang="hr-HR" sz="2000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AutoNum type="arabicPeriod"/>
            </a:pPr>
            <a:r>
              <a:rPr lang="hr-HR" sz="2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Marcel Duchamp</a:t>
            </a:r>
            <a:r>
              <a:rPr lang="hr-HR" sz="2000" i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Fontana</a:t>
            </a:r>
            <a:r>
              <a:rPr lang="hr-HR" sz="2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fotografija Alfreda Stieglitza, 1917., (</a:t>
            </a:r>
            <a:r>
              <a:rPr lang="hr-HR" sz="2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https://en.wikipedia.org/wiki/Fountain_(Duchamp)#/media/File:Marcel_Duchamp,_1917,_Fountain,_photograph_by_Alfred_Stieglitz.jpg)</a:t>
            </a:r>
            <a:endParaRPr lang="hr-HR" sz="2000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AutoNum type="arabicPeriod"/>
            </a:pPr>
            <a:r>
              <a:rPr lang="hr-HR" sz="2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Marcel Duchamp, </a:t>
            </a:r>
            <a:r>
              <a:rPr lang="hr-HR" sz="2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https://sh.wikipedia.org/wiki/Marcel_Duchamp#/media/Datoteka:Marcel_Duchamp_01.jpg</a:t>
            </a:r>
            <a:endParaRPr lang="hr-HR" sz="2000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AutoNum type="arabicPeriod"/>
            </a:pPr>
            <a:r>
              <a:rPr lang="hr-HR" sz="2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Otvorenje prve dadaističe izložbe, (</a:t>
            </a:r>
            <a:r>
              <a:rPr lang="hr-HR" sz="2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https://commons.wikimedia.org/wiki/File:Grand_opening_of_the_first_Dada_exhibition,_Berlin,_5_June_1920.jpg</a:t>
            </a:r>
            <a:r>
              <a:rPr lang="hr-HR" sz="2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457200" indent="-457200">
              <a:buAutoNum type="arabicPeriod"/>
            </a:pPr>
            <a:r>
              <a:rPr lang="hr-HR" sz="2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Hugo Ball, (</a:t>
            </a:r>
            <a:r>
              <a:rPr lang="hr-HR" sz="2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https://hr.m.wikipedia.org/wiki/Datoteka:Hugo_Ball_Cabaret_Voltaire.jpg</a:t>
            </a:r>
            <a:r>
              <a:rPr lang="hr-HR" sz="2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457200" indent="-457200">
              <a:buAutoNum type="arabicPeriod"/>
            </a:pPr>
            <a:r>
              <a:rPr lang="hr-HR" sz="2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Stolac Henry van de Veldea, (https://commons.wikimedia.org/wiki/File:Henry_van_de_Velde_-_Chair_-_1895.jpg)</a:t>
            </a:r>
          </a:p>
          <a:p>
            <a:pPr marL="457200" indent="-457200">
              <a:buAutoNum type="arabicPeriod"/>
            </a:pPr>
            <a:endParaRPr lang="hr-HR" sz="2000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AutoNum type="arabicPeriod"/>
            </a:pPr>
            <a:endParaRPr lang="hr-HR" sz="2000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AutoNum type="arabicPeriod"/>
            </a:pPr>
            <a:endParaRPr lang="hr-HR" sz="2000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AutoNum type="arabicPeriod"/>
            </a:pPr>
            <a:endParaRPr lang="hr-HR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72883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2263140"/>
            <a:ext cx="9144000" cy="2994660"/>
          </a:xfrm>
        </p:spPr>
        <p:txBody>
          <a:bodyPr/>
          <a:lstStyle/>
          <a:p>
            <a:pPr algn="just"/>
            <a:r>
              <a:rPr lang="en-US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Link </a:t>
            </a:r>
            <a:r>
              <a:rPr lang="en-US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za</a:t>
            </a:r>
            <a:r>
              <a:rPr lang="en-US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učenike</a:t>
            </a:r>
            <a:r>
              <a:rPr lang="en-US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samoprocjena</a:t>
            </a:r>
            <a:r>
              <a:rPr lang="en-US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figurativno</a:t>
            </a:r>
            <a:r>
              <a:rPr lang="en-US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apstraktno</a:t>
            </a:r>
            <a:r>
              <a:rPr lang="en-US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konceptualno</a:t>
            </a:r>
            <a:endParaRPr lang="hr-HR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032740" y="2828179"/>
            <a:ext cx="812652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hr-HR" sz="32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https://learningapps.org/watch?v=p0bmyxn3a18</a:t>
            </a:r>
            <a:endParaRPr lang="hr-HR" sz="3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524000" y="5257800"/>
            <a:ext cx="863526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https://learningapps.org/watch?v=p3neidkca18</a:t>
            </a:r>
          </a:p>
          <a:p>
            <a:endParaRPr lang="hr-HR" dirty="0"/>
          </a:p>
        </p:txBody>
      </p:sp>
      <p:sp>
        <p:nvSpPr>
          <p:cNvPr id="6" name="Explosion 1 5"/>
          <p:cNvSpPr/>
          <p:nvPr/>
        </p:nvSpPr>
        <p:spPr>
          <a:xfrm>
            <a:off x="673441" y="4343400"/>
            <a:ext cx="582930" cy="516573"/>
          </a:xfrm>
          <a:prstGeom prst="irregularSeal1">
            <a:avLst/>
          </a:prstGeom>
          <a:solidFill>
            <a:srgbClr val="FF0000"/>
          </a:solidFill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Font typeface="Arial" panose="020B0604020202020204" pitchFamily="34" charset="0"/>
              <a:buChar char="•"/>
            </a:pPr>
            <a:endParaRPr lang="hr-HR" dirty="0"/>
          </a:p>
        </p:txBody>
      </p:sp>
      <p:sp>
        <p:nvSpPr>
          <p:cNvPr id="7" name="TextBox 6"/>
          <p:cNvSpPr txBox="1"/>
          <p:nvPr/>
        </p:nvSpPr>
        <p:spPr>
          <a:xfrm>
            <a:off x="1382751" y="4343400"/>
            <a:ext cx="941162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ZADATAK: </a:t>
            </a:r>
          </a:p>
          <a:p>
            <a:r>
              <a:rPr lang="en-US" sz="2400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Razlikovanje</a:t>
            </a:r>
            <a:r>
              <a:rPr lang="en-US" sz="24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figurativne</a:t>
            </a:r>
            <a:r>
              <a:rPr lang="en-US" sz="24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apstraktne</a:t>
            </a:r>
            <a:r>
              <a:rPr lang="en-US" sz="24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konceptualne</a:t>
            </a:r>
            <a:r>
              <a:rPr lang="en-US" sz="24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umjetnosti</a:t>
            </a:r>
            <a:endParaRPr lang="hr-HR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0505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1553</TotalTime>
  <Words>1070</Words>
  <Application>Microsoft Office PowerPoint</Application>
  <PresentationFormat>Široki zaslon</PresentationFormat>
  <Paragraphs>153</Paragraphs>
  <Slides>22</Slides>
  <Notes>0</Notes>
  <HiddenSlides>0</HiddenSlides>
  <MMClips>0</MMClips>
  <ScaleCrop>false</ScaleCrop>
  <HeadingPairs>
    <vt:vector size="6" baseType="variant">
      <vt:variant>
        <vt:lpstr>Korišteni fontovi</vt:lpstr>
      </vt:variant>
      <vt:variant>
        <vt:i4>4</vt:i4>
      </vt:variant>
      <vt:variant>
        <vt:lpstr>Tema</vt:lpstr>
      </vt:variant>
      <vt:variant>
        <vt:i4>1</vt:i4>
      </vt:variant>
      <vt:variant>
        <vt:lpstr>Naslovi slajdova</vt:lpstr>
      </vt:variant>
      <vt:variant>
        <vt:i4>22</vt:i4>
      </vt:variant>
    </vt:vector>
  </HeadingPairs>
  <TitlesOfParts>
    <vt:vector size="27" baseType="lpstr">
      <vt:lpstr>Arial</vt:lpstr>
      <vt:lpstr>Calibri</vt:lpstr>
      <vt:lpstr>Calibri Light</vt:lpstr>
      <vt:lpstr>Times New Roman</vt:lpstr>
      <vt:lpstr>Office Theme</vt:lpstr>
      <vt:lpstr>KONCEPTUALNA FORMA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 </vt:lpstr>
      <vt:lpstr>PowerPoint prezentacija</vt:lpstr>
      <vt:lpstr>PowerPoint prezentacija</vt:lpstr>
      <vt:lpstr> </vt:lpstr>
      <vt:lpstr>PowerPoint prezentacija</vt:lpstr>
      <vt:lpstr>PowerPoint prezentacija</vt:lpstr>
      <vt:lpstr> Zadatci:</vt:lpstr>
      <vt:lpstr>PowerPoint prezentacija</vt:lpstr>
      <vt:lpstr>PowerPoint prezentacija</vt:lpstr>
      <vt:lpstr>PowerPoint prezentacija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Maja Bachler</dc:creator>
  <cp:lastModifiedBy>Profesor</cp:lastModifiedBy>
  <cp:revision>35</cp:revision>
  <dcterms:created xsi:type="dcterms:W3CDTF">2021-11-18T15:59:01Z</dcterms:created>
  <dcterms:modified xsi:type="dcterms:W3CDTF">2023-10-23T10:45:13Z</dcterms:modified>
</cp:coreProperties>
</file>