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6" r:id="rId21"/>
    <p:sldId id="279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7EFB4-402A-496B-828E-3D29B7E83D21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AB9C4-F46C-402A-A23C-E424911263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4921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2D4D9F-D50C-4E6F-835C-8D7D41E6B8EF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20138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9561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2807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698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5565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3897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441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8900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85043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8744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2986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1733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3EB94-6A3B-4AD8-86F5-B0D9C9840CE5}" type="datetimeFigureOut">
              <a:rPr lang="hr-HR" smtClean="0"/>
              <a:t>10.1.2025.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C653F-5530-47BE-93AB-C8B239D99BA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3325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VRSTE PERSPEKTIVA</a:t>
            </a:r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6144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Moći</a:t>
            </a:r>
            <a:r>
              <a:rPr lang="en-US" dirty="0"/>
              <a:t> </a:t>
            </a:r>
            <a:r>
              <a:rPr lang="en-US" dirty="0" err="1"/>
              <a:t>ćete</a:t>
            </a:r>
            <a:r>
              <a:rPr lang="en-US" dirty="0"/>
              <a:t> </a:t>
            </a:r>
            <a:r>
              <a:rPr lang="en-US" dirty="0" err="1"/>
              <a:t>objasniti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pristupe</a:t>
            </a:r>
            <a:r>
              <a:rPr lang="en-US" dirty="0"/>
              <a:t> u </a:t>
            </a:r>
            <a:r>
              <a:rPr lang="en-US" dirty="0" err="1"/>
              <a:t>prikazu</a:t>
            </a:r>
            <a:r>
              <a:rPr lang="en-US" dirty="0"/>
              <a:t> </a:t>
            </a:r>
            <a:r>
              <a:rPr lang="en-US" dirty="0" err="1"/>
              <a:t>trodimenzionalnog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 u </a:t>
            </a:r>
            <a:r>
              <a:rPr lang="en-US" dirty="0" err="1"/>
              <a:t>slikarstvu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povijest</a:t>
            </a:r>
            <a:endParaRPr lang="en-US" dirty="0"/>
          </a:p>
          <a:p>
            <a:r>
              <a:rPr lang="en-US" dirty="0" err="1"/>
              <a:t>Grafički</a:t>
            </a:r>
            <a:r>
              <a:rPr lang="en-US" dirty="0"/>
              <a:t> </a:t>
            </a:r>
            <a:r>
              <a:rPr lang="en-US" dirty="0" err="1"/>
              <a:t>analizirati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 </a:t>
            </a:r>
            <a:r>
              <a:rPr lang="en-US" dirty="0" err="1"/>
              <a:t>izvodeći</a:t>
            </a:r>
            <a:r>
              <a:rPr lang="en-US" dirty="0"/>
              <a:t> </a:t>
            </a:r>
            <a:r>
              <a:rPr lang="en-US" dirty="0" err="1"/>
              <a:t>geometrijsku</a:t>
            </a:r>
            <a:r>
              <a:rPr lang="en-US" dirty="0"/>
              <a:t> </a:t>
            </a:r>
            <a:r>
              <a:rPr lang="en-US" dirty="0" err="1"/>
              <a:t>rekonstrukciju</a:t>
            </a:r>
            <a:endParaRPr lang="en-US" dirty="0"/>
          </a:p>
          <a:p>
            <a:r>
              <a:rPr lang="en-US" dirty="0" err="1"/>
              <a:t>Konstruirati</a:t>
            </a:r>
            <a:r>
              <a:rPr lang="en-US" dirty="0"/>
              <a:t> </a:t>
            </a:r>
            <a:r>
              <a:rPr lang="en-US" dirty="0" err="1"/>
              <a:t>geometrijsku</a:t>
            </a:r>
            <a:r>
              <a:rPr lang="en-US" dirty="0"/>
              <a:t> </a:t>
            </a:r>
            <a:r>
              <a:rPr lang="en-US" dirty="0" err="1"/>
              <a:t>perspektivu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opisu</a:t>
            </a:r>
            <a:r>
              <a:rPr lang="en-US" dirty="0"/>
              <a:t> Leona </a:t>
            </a:r>
            <a:r>
              <a:rPr lang="en-US" dirty="0" err="1"/>
              <a:t>Battiste</a:t>
            </a:r>
            <a:r>
              <a:rPr lang="en-US" dirty="0"/>
              <a:t> </a:t>
            </a:r>
            <a:r>
              <a:rPr lang="en-US" dirty="0" err="1"/>
              <a:t>Albertija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Potrebno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vam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ravnalo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trokut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2436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6478"/>
            <a:ext cx="10515600" cy="6208291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iskustva</a:t>
            </a:r>
            <a:r>
              <a:rPr lang="en-US" dirty="0"/>
              <a:t> </a:t>
            </a: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se </a:t>
            </a:r>
            <a:r>
              <a:rPr lang="en-US" dirty="0" err="1"/>
              <a:t>oblici</a:t>
            </a:r>
            <a:r>
              <a:rPr lang="en-US" dirty="0"/>
              <a:t> </a:t>
            </a:r>
            <a:r>
              <a:rPr lang="en-US" dirty="0" err="1"/>
              <a:t>prividno</a:t>
            </a:r>
            <a:r>
              <a:rPr lang="en-US" dirty="0"/>
              <a:t> </a:t>
            </a:r>
            <a:r>
              <a:rPr lang="en-US" dirty="0" err="1"/>
              <a:t>smanjuju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se </a:t>
            </a:r>
            <a:r>
              <a:rPr lang="en-US" dirty="0" err="1"/>
              <a:t>udaljavaju</a:t>
            </a:r>
            <a:r>
              <a:rPr lang="en-US" dirty="0"/>
              <a:t> od </a:t>
            </a:r>
            <a:r>
              <a:rPr lang="en-US" dirty="0" err="1"/>
              <a:t>promatrača</a:t>
            </a:r>
            <a:endParaRPr lang="hr-HR" dirty="0"/>
          </a:p>
        </p:txBody>
      </p:sp>
      <p:sp>
        <p:nvSpPr>
          <p:cNvPr id="4" name="AutoShape 2" descr="Free Images : landscape, track, railway, railroad, perspective, steel,  transit, transportation, direction, vehicle, industry, lane, train tracks,  rail transport, rail road, rolling stock, nonbuilding structure 2448x3264 -  - 709879 - Free stock photo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sp>
        <p:nvSpPr>
          <p:cNvPr id="5" name="AutoShape 4" descr="landscape, track, railway, railroad, road, perspective, rail, train, steel, transit, transportation, transport, direction, vehicle, industry, lane, tracks, train tracks, rail transport, rail road, rolling stock, nonbuilding structur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sp>
        <p:nvSpPr>
          <p:cNvPr id="6" name="AutoShape 6" descr="landscape, track, railway, railroad, road, perspective, rail, train, steel, transit, transportation, transport, direction, vehicle, industry, lane, tracks, train tracks, rail transport, rail road, rolling stock, nonbuilding structur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19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801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3074" name="Picture 2" descr="landscape, track, railway, railroad, road, perspective, rail, train, steel, transit, transportation, transport, direction, vehicle, industry, lane, tracks, train tracks, rail transport, rail road, rolling stock, nonbuilding structur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696" y="631809"/>
            <a:ext cx="4122191" cy="549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84814" y="365125"/>
            <a:ext cx="6503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/>
              <a:t>Tračnice</a:t>
            </a:r>
            <a:r>
              <a:rPr lang="en-US" sz="2800" dirty="0"/>
              <a:t> se </a:t>
            </a:r>
            <a:r>
              <a:rPr lang="en-US" sz="2800" dirty="0" err="1"/>
              <a:t>prividno</a:t>
            </a:r>
            <a:r>
              <a:rPr lang="en-US" sz="2800" dirty="0"/>
              <a:t> </a:t>
            </a:r>
            <a:r>
              <a:rPr lang="en-US" sz="2800" dirty="0" err="1"/>
              <a:t>sve</a:t>
            </a:r>
            <a:r>
              <a:rPr lang="en-US" sz="2800" dirty="0"/>
              <a:t> </a:t>
            </a:r>
            <a:r>
              <a:rPr lang="en-US" sz="2800" dirty="0" err="1"/>
              <a:t>više</a:t>
            </a:r>
            <a:r>
              <a:rPr lang="en-US" sz="2800" dirty="0"/>
              <a:t> </a:t>
            </a:r>
            <a:r>
              <a:rPr lang="en-US" sz="2800" dirty="0" err="1"/>
              <a:t>smanjuje</a:t>
            </a:r>
            <a:r>
              <a:rPr lang="en-US" sz="2800" dirty="0"/>
              <a:t>, </a:t>
            </a:r>
            <a:r>
              <a:rPr lang="en-US" sz="2800" dirty="0" err="1"/>
              <a:t>smanjuje</a:t>
            </a:r>
            <a:r>
              <a:rPr lang="en-US" sz="2800" dirty="0"/>
              <a:t> se </a:t>
            </a:r>
            <a:r>
              <a:rPr lang="en-US" sz="2800" dirty="0" err="1"/>
              <a:t>razmak</a:t>
            </a:r>
            <a:r>
              <a:rPr lang="en-US" sz="2800" dirty="0"/>
              <a:t> </a:t>
            </a:r>
            <a:r>
              <a:rPr lang="en-US" sz="2800" dirty="0" err="1"/>
              <a:t>između</a:t>
            </a:r>
            <a:r>
              <a:rPr lang="en-US" sz="2800" dirty="0"/>
              <a:t> </a:t>
            </a:r>
            <a:r>
              <a:rPr lang="en-US" sz="2800" dirty="0" err="1"/>
              <a:t>njih</a:t>
            </a:r>
            <a:r>
              <a:rPr lang="en-US" sz="2800" dirty="0"/>
              <a:t>.</a:t>
            </a:r>
            <a:endParaRPr lang="hr-HR" sz="2800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263848" y="2096430"/>
            <a:ext cx="1947703" cy="36464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 flipV="1">
            <a:off x="3189249" y="2082161"/>
            <a:ext cx="2174488" cy="36607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1263848" y="5597913"/>
            <a:ext cx="4099889" cy="33452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377240" y="5018049"/>
            <a:ext cx="3741170" cy="7433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1622567" y="4445618"/>
            <a:ext cx="3205911" cy="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817649" y="4159402"/>
            <a:ext cx="2896562" cy="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2061282" y="3858322"/>
            <a:ext cx="2421508" cy="14865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171919" y="3655001"/>
            <a:ext cx="2104574" cy="23074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390495" y="3379937"/>
            <a:ext cx="1712528" cy="19912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2511717" y="3268423"/>
            <a:ext cx="1439323" cy="2160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2552923" y="3172899"/>
            <a:ext cx="1356910" cy="1080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2604435" y="3114516"/>
            <a:ext cx="1284648" cy="865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84814" y="2037557"/>
            <a:ext cx="6503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/>
              <a:t>Smanjuje</a:t>
            </a:r>
            <a:r>
              <a:rPr lang="en-US" sz="2800" dirty="0"/>
              <a:t> se </a:t>
            </a:r>
            <a:r>
              <a:rPr lang="en-US" sz="2800" dirty="0" err="1"/>
              <a:t>razmak</a:t>
            </a:r>
            <a:r>
              <a:rPr lang="en-US" sz="2800" dirty="0"/>
              <a:t> </a:t>
            </a:r>
            <a:r>
              <a:rPr lang="en-US" sz="2800" dirty="0" err="1"/>
              <a:t>između</a:t>
            </a:r>
            <a:r>
              <a:rPr lang="en-US" sz="2800" dirty="0"/>
              <a:t> </a:t>
            </a:r>
            <a:r>
              <a:rPr lang="en-US" sz="2800" dirty="0" err="1"/>
              <a:t>poprečnih</a:t>
            </a:r>
            <a:r>
              <a:rPr lang="en-US" sz="2800" dirty="0"/>
              <a:t> </a:t>
            </a:r>
            <a:r>
              <a:rPr lang="en-US" sz="2800" dirty="0" err="1"/>
              <a:t>pragova</a:t>
            </a:r>
            <a:endParaRPr lang="hr-HR" sz="2800" dirty="0"/>
          </a:p>
        </p:txBody>
      </p:sp>
      <p:sp>
        <p:nvSpPr>
          <p:cNvPr id="39" name="TextBox 38"/>
          <p:cNvSpPr txBox="1"/>
          <p:nvPr/>
        </p:nvSpPr>
        <p:spPr>
          <a:xfrm>
            <a:off x="5742878" y="3858322"/>
            <a:ext cx="5854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TOČKA NEDOGLEDA</a:t>
            </a:r>
            <a:endParaRPr lang="hr-HR" sz="2800" b="1" dirty="0">
              <a:solidFill>
                <a:srgbClr val="00B0F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3090768" y="1952881"/>
            <a:ext cx="223024" cy="2341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42" name="Straight Connector 41"/>
          <p:cNvCxnSpPr/>
          <p:nvPr/>
        </p:nvCxnSpPr>
        <p:spPr>
          <a:xfrm>
            <a:off x="1274998" y="2082967"/>
            <a:ext cx="4099889" cy="1086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742878" y="4763872"/>
            <a:ext cx="4549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LINIJA HOROZONTA</a:t>
            </a:r>
            <a:endParaRPr lang="hr-HR" sz="2800" b="1" dirty="0">
              <a:solidFill>
                <a:srgbClr val="00B0F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2301754" y="3511363"/>
            <a:ext cx="1974739" cy="2245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74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8" grpId="0"/>
      <p:bldP spid="39" grpId="0"/>
      <p:bldP spid="40" grpId="0" animBg="1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1026" name="Picture 2" descr="The Adoration of the Magi - by Leonardo Da Vinci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097" y="780585"/>
            <a:ext cx="8812390" cy="506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1513" y="632754"/>
            <a:ext cx="30777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GEOMETRIJSKA (LINEARNA) PERSPEKTIVA</a:t>
            </a:r>
            <a:endParaRPr lang="hr-HR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30953" y="6070310"/>
            <a:ext cx="9486677" cy="379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Leonardo da Vinci, </a:t>
            </a:r>
            <a:r>
              <a:rPr lang="en-US" dirty="0" err="1"/>
              <a:t>studija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Poklonstvo</a:t>
            </a:r>
            <a:r>
              <a:rPr lang="en-US" dirty="0"/>
              <a:t> </a:t>
            </a:r>
            <a:r>
              <a:rPr lang="en-US" dirty="0" err="1"/>
              <a:t>kraljeva</a:t>
            </a:r>
            <a:r>
              <a:rPr lang="en-US" dirty="0"/>
              <a:t>, </a:t>
            </a:r>
            <a:r>
              <a:rPr lang="en-US" dirty="0" err="1"/>
              <a:t>Galerija</a:t>
            </a:r>
            <a:r>
              <a:rPr lang="en-US" dirty="0"/>
              <a:t> Uffizi, </a:t>
            </a:r>
            <a:r>
              <a:rPr lang="en-US" dirty="0" err="1"/>
              <a:t>oko</a:t>
            </a:r>
            <a:r>
              <a:rPr lang="en-US" dirty="0"/>
              <a:t> 1481.</a:t>
            </a:r>
            <a:endParaRPr lang="hr-HR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520176"/>
            <a:ext cx="347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Znanstveno</a:t>
            </a:r>
            <a:r>
              <a:rPr lang="en-US" sz="2400" dirty="0"/>
              <a:t> </a:t>
            </a:r>
            <a:r>
              <a:rPr lang="en-US" sz="2400" dirty="0" err="1"/>
              <a:t>utemeljena</a:t>
            </a:r>
            <a:endParaRPr lang="hr-HR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3311912"/>
            <a:ext cx="3268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Izvodi</a:t>
            </a:r>
            <a:r>
              <a:rPr lang="en-US" sz="2400" dirty="0"/>
              <a:t> se </a:t>
            </a:r>
            <a:r>
              <a:rPr lang="en-US" sz="2400" dirty="0" err="1"/>
              <a:t>pomoću</a:t>
            </a:r>
            <a:r>
              <a:rPr lang="en-US" sz="2400" dirty="0"/>
              <a:t> </a:t>
            </a:r>
            <a:r>
              <a:rPr lang="en-US" sz="2400" dirty="0" err="1"/>
              <a:t>geometrije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87747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2050" name="Picture 2" descr="Delivery of the Keys (Perugino)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324" y="365125"/>
            <a:ext cx="8894103" cy="536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891472" y="5887845"/>
            <a:ext cx="9500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Pietro Perugino, </a:t>
            </a:r>
            <a:r>
              <a:rPr lang="en-US" i="1" dirty="0" err="1"/>
              <a:t>Predaja</a:t>
            </a:r>
            <a:r>
              <a:rPr lang="en-US" i="1" dirty="0"/>
              <a:t> </a:t>
            </a:r>
            <a:r>
              <a:rPr lang="en-US" i="1" dirty="0" err="1"/>
              <a:t>ključeva</a:t>
            </a:r>
            <a:r>
              <a:rPr lang="en-US" dirty="0"/>
              <a:t>, 1481., </a:t>
            </a:r>
            <a:r>
              <a:rPr lang="en-US" dirty="0" err="1"/>
              <a:t>Sikstinska</a:t>
            </a:r>
            <a:r>
              <a:rPr lang="en-US" dirty="0"/>
              <a:t> </a:t>
            </a:r>
            <a:r>
              <a:rPr lang="en-US" dirty="0" err="1"/>
              <a:t>kapela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-79908" y="43748"/>
            <a:ext cx="4192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GRAFIČKA ANALIZA PROSTORA</a:t>
            </a:r>
            <a:r>
              <a:rPr lang="en-US" sz="2000" dirty="0"/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9954" y="513943"/>
            <a:ext cx="3286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 KONVERGENTNE LINIJE</a:t>
            </a:r>
            <a:endParaRPr lang="hr-HR" sz="200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861932" y="2542478"/>
            <a:ext cx="2871443" cy="318924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7733375" y="2542478"/>
            <a:ext cx="3094460" cy="318924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28" idx="2"/>
          </p:cNvCxnSpPr>
          <p:nvPr/>
        </p:nvCxnSpPr>
        <p:spPr>
          <a:xfrm flipV="1">
            <a:off x="3286324" y="2548054"/>
            <a:ext cx="4341111" cy="14998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7733375" y="2542479"/>
            <a:ext cx="4447052" cy="159462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7733375" y="2542477"/>
            <a:ext cx="4447052" cy="8989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286324" y="2542476"/>
            <a:ext cx="4447051" cy="87537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-39954" y="1183138"/>
            <a:ext cx="3366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oblika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u </a:t>
            </a:r>
            <a:r>
              <a:rPr lang="en-US" dirty="0" err="1"/>
              <a:t>stvarnosti</a:t>
            </a:r>
            <a:r>
              <a:rPr lang="en-US" dirty="0"/>
              <a:t> </a:t>
            </a:r>
            <a:r>
              <a:rPr lang="en-US" dirty="0" err="1"/>
              <a:t>paralelne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idu</a:t>
            </a:r>
            <a:r>
              <a:rPr lang="en-US" dirty="0"/>
              <a:t> u </a:t>
            </a:r>
            <a:r>
              <a:rPr lang="en-US" dirty="0" err="1"/>
              <a:t>dubinu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, </a:t>
            </a:r>
            <a:r>
              <a:rPr lang="en-US" dirty="0" err="1"/>
              <a:t>okomito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promatrača</a:t>
            </a:r>
            <a:r>
              <a:rPr lang="en-US" dirty="0"/>
              <a:t>)</a:t>
            </a:r>
            <a:endParaRPr lang="hr-HR" dirty="0"/>
          </a:p>
        </p:txBody>
      </p:sp>
      <p:sp>
        <p:nvSpPr>
          <p:cNvPr id="27" name="TextBox 26"/>
          <p:cNvSpPr txBox="1"/>
          <p:nvPr/>
        </p:nvSpPr>
        <p:spPr>
          <a:xfrm>
            <a:off x="-88217" y="2125096"/>
            <a:ext cx="3286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Ako</a:t>
            </a:r>
            <a:r>
              <a:rPr lang="en-US" dirty="0"/>
              <a:t> se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nađu</a:t>
            </a:r>
            <a:r>
              <a:rPr lang="en-US" dirty="0"/>
              <a:t> u </a:t>
            </a:r>
            <a:r>
              <a:rPr lang="en-US" dirty="0" err="1"/>
              <a:t>istoj</a:t>
            </a:r>
            <a:r>
              <a:rPr lang="en-US" dirty="0"/>
              <a:t> </a:t>
            </a:r>
            <a:r>
              <a:rPr lang="en-US" dirty="0" err="1"/>
              <a:t>točki</a:t>
            </a:r>
            <a:r>
              <a:rPr lang="en-US" dirty="0"/>
              <a:t>, </a:t>
            </a:r>
            <a:r>
              <a:rPr lang="en-US" dirty="0" err="1"/>
              <a:t>radi</a:t>
            </a:r>
            <a:r>
              <a:rPr lang="en-US" dirty="0"/>
              <a:t> se o </a:t>
            </a:r>
            <a:r>
              <a:rPr lang="en-US" dirty="0" err="1"/>
              <a:t>linearnoj</a:t>
            </a:r>
            <a:r>
              <a:rPr lang="en-US" dirty="0"/>
              <a:t> </a:t>
            </a:r>
            <a:r>
              <a:rPr lang="en-US" dirty="0" err="1"/>
              <a:t>perspektivi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7627435" y="2419815"/>
            <a:ext cx="267629" cy="2564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9" name="TextBox 28"/>
          <p:cNvSpPr txBox="1"/>
          <p:nvPr/>
        </p:nvSpPr>
        <p:spPr>
          <a:xfrm>
            <a:off x="19735" y="3110520"/>
            <a:ext cx="3166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2. TOČKA NEDOGLEDA</a:t>
            </a:r>
            <a:endParaRPr lang="hr-HR" sz="200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3286324" y="2587085"/>
            <a:ext cx="889410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0" y="3790075"/>
            <a:ext cx="3286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3. LINIJA HORIZONTA</a:t>
            </a:r>
            <a:endParaRPr lang="hr-HR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19735" y="4282430"/>
            <a:ext cx="328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mjesto</a:t>
            </a:r>
            <a:r>
              <a:rPr lang="en-US" dirty="0"/>
              <a:t> </a:t>
            </a:r>
            <a:r>
              <a:rPr lang="en-US" dirty="0" err="1"/>
              <a:t>gdje</a:t>
            </a:r>
            <a:r>
              <a:rPr lang="en-US" dirty="0"/>
              <a:t> se </a:t>
            </a:r>
            <a:r>
              <a:rPr lang="en-US" dirty="0" err="1"/>
              <a:t>spajaju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zemlja</a:t>
            </a:r>
            <a:r>
              <a:rPr lang="en-US" dirty="0"/>
              <a:t>)</a:t>
            </a:r>
            <a:endParaRPr lang="hr-HR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3286324" y="4449338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93759" y="3943816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286323" y="3631582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297897" y="3414133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293759" y="3205614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9735" y="5185317"/>
            <a:ext cx="3266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4. PARALELNE LINIJE</a:t>
            </a:r>
            <a:endParaRPr lang="hr-HR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19735" y="5731727"/>
            <a:ext cx="3306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razmak</a:t>
            </a:r>
            <a:r>
              <a:rPr lang="en-US" dirty="0"/>
              <a:t> </a:t>
            </a:r>
            <a:r>
              <a:rPr lang="en-US" dirty="0" err="1"/>
              <a:t>među</a:t>
            </a:r>
            <a:r>
              <a:rPr lang="en-US" dirty="0"/>
              <a:t> </a:t>
            </a:r>
            <a:r>
              <a:rPr lang="en-US" dirty="0" err="1"/>
              <a:t>njima</a:t>
            </a:r>
            <a:r>
              <a:rPr lang="en-US" dirty="0"/>
              <a:t> se </a:t>
            </a:r>
            <a:r>
              <a:rPr lang="en-US" dirty="0" err="1"/>
              <a:t>proporcionalno</a:t>
            </a:r>
            <a:r>
              <a:rPr lang="en-US" dirty="0"/>
              <a:t> </a:t>
            </a:r>
            <a:r>
              <a:rPr lang="en-US" dirty="0" err="1"/>
              <a:t>smanjuje</a:t>
            </a:r>
            <a:r>
              <a:rPr lang="en-US" dirty="0"/>
              <a:t>)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81046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  <p:bldP spid="27" grpId="0"/>
      <p:bldP spid="28" grpId="0" animBg="1"/>
      <p:bldP spid="29" grpId="0"/>
      <p:bldP spid="32" grpId="0"/>
      <p:bldP spid="33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6065"/>
            <a:ext cx="10515600" cy="1325563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3757961" y="2297151"/>
            <a:ext cx="2871443" cy="318924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6629404" y="2297151"/>
            <a:ext cx="3094460" cy="318924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10" idx="2"/>
          </p:cNvCxnSpPr>
          <p:nvPr/>
        </p:nvCxnSpPr>
        <p:spPr>
          <a:xfrm flipV="1">
            <a:off x="2182353" y="2302727"/>
            <a:ext cx="4341111" cy="14998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6629404" y="2297152"/>
            <a:ext cx="4447052" cy="159462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 flipV="1">
            <a:off x="6629404" y="2297150"/>
            <a:ext cx="4447052" cy="8989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182353" y="2297149"/>
            <a:ext cx="4447051" cy="87537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523464" y="2174488"/>
            <a:ext cx="267629" cy="2564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1" name="Straight Connector 10"/>
          <p:cNvCxnSpPr/>
          <p:nvPr/>
        </p:nvCxnSpPr>
        <p:spPr>
          <a:xfrm>
            <a:off x="2182353" y="2330607"/>
            <a:ext cx="889410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182353" y="4204011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189788" y="3698489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182352" y="3386255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193926" y="3168806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189788" y="2960287"/>
            <a:ext cx="8894103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039" y="272780"/>
            <a:ext cx="6043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PERSPEKTIVNA MREŽA – ILUZIJA DUBINE</a:t>
            </a:r>
            <a:endParaRPr lang="hr-HR" sz="2400" b="1" dirty="0"/>
          </a:p>
        </p:txBody>
      </p:sp>
      <p:sp>
        <p:nvSpPr>
          <p:cNvPr id="18" name="Down Arrow 17"/>
          <p:cNvSpPr/>
          <p:nvPr/>
        </p:nvSpPr>
        <p:spPr>
          <a:xfrm>
            <a:off x="5263376" y="221845"/>
            <a:ext cx="2787803" cy="1996342"/>
          </a:xfrm>
          <a:prstGeom prst="downArrow">
            <a:avLst>
              <a:gd name="adj1" fmla="val 50000"/>
              <a:gd name="adj2" fmla="val 49378"/>
            </a:avLst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TOČKA</a:t>
            </a:r>
          </a:p>
          <a:p>
            <a:pPr algn="ctr"/>
            <a:r>
              <a:rPr lang="en-US" dirty="0"/>
              <a:t>NEDOGLEDA</a:t>
            </a:r>
          </a:p>
          <a:p>
            <a:pPr algn="ctr"/>
            <a:r>
              <a:rPr lang="en-US" dirty="0"/>
              <a:t>(OČIŠTE)</a:t>
            </a:r>
            <a:endParaRPr lang="hr-HR" dirty="0"/>
          </a:p>
        </p:txBody>
      </p:sp>
      <p:sp>
        <p:nvSpPr>
          <p:cNvPr id="19" name="Right Arrow 18"/>
          <p:cNvSpPr/>
          <p:nvPr/>
        </p:nvSpPr>
        <p:spPr>
          <a:xfrm>
            <a:off x="6858930" y="4218337"/>
            <a:ext cx="2453268" cy="169556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KONVERGENTNE LINIJE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1084454" y="1479977"/>
            <a:ext cx="2620537" cy="16615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LINIJA HORIZONTA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9970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Picture 2" descr="Delivery of the Keys (Perugino)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240" y="1177290"/>
            <a:ext cx="9415005" cy="568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2679486" y="4183833"/>
            <a:ext cx="9512514" cy="2618341"/>
          </a:xfrm>
          <a:prstGeom prst="round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8" name="Rounded Rectangle 7"/>
          <p:cNvSpPr/>
          <p:nvPr/>
        </p:nvSpPr>
        <p:spPr>
          <a:xfrm>
            <a:off x="2679486" y="3466622"/>
            <a:ext cx="2838971" cy="754380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9" name="Rounded Rectangle 8"/>
          <p:cNvSpPr/>
          <p:nvPr/>
        </p:nvSpPr>
        <p:spPr>
          <a:xfrm>
            <a:off x="6855584" y="3468529"/>
            <a:ext cx="5336416" cy="754380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0" name="Rounded Rectangle 9"/>
          <p:cNvSpPr/>
          <p:nvPr/>
        </p:nvSpPr>
        <p:spPr>
          <a:xfrm>
            <a:off x="5652458" y="3455192"/>
            <a:ext cx="887080" cy="754380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1" name="TextBox 10"/>
          <p:cNvSpPr txBox="1"/>
          <p:nvPr/>
        </p:nvSpPr>
        <p:spPr>
          <a:xfrm>
            <a:off x="0" y="1783080"/>
            <a:ext cx="2679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PROSTORNI PLANOVI</a:t>
            </a:r>
            <a:endParaRPr lang="hr-HR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3873" y="2183190"/>
            <a:ext cx="24917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Likovi</a:t>
            </a:r>
            <a:r>
              <a:rPr lang="en-US" sz="2000" dirty="0"/>
              <a:t> se </a:t>
            </a:r>
            <a:r>
              <a:rPr lang="en-US" sz="2000" dirty="0" err="1"/>
              <a:t>proporcionalno</a:t>
            </a:r>
            <a:r>
              <a:rPr lang="en-US" sz="2000" dirty="0"/>
              <a:t> </a:t>
            </a:r>
            <a:r>
              <a:rPr lang="en-US" sz="2000" dirty="0" err="1"/>
              <a:t>smanjuju</a:t>
            </a:r>
            <a:endParaRPr lang="hr-HR" sz="2000" dirty="0"/>
          </a:p>
        </p:txBody>
      </p:sp>
      <p:sp>
        <p:nvSpPr>
          <p:cNvPr id="13" name="Rounded Rectangle 12"/>
          <p:cNvSpPr/>
          <p:nvPr/>
        </p:nvSpPr>
        <p:spPr>
          <a:xfrm>
            <a:off x="2937510" y="1474470"/>
            <a:ext cx="1717263" cy="2125980"/>
          </a:xfrm>
          <a:prstGeom prst="roundRect">
            <a:avLst/>
          </a:prstGeom>
          <a:solidFill>
            <a:schemeClr val="accent6">
              <a:alpha val="56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4" name="Rounded Rectangle 13"/>
          <p:cNvSpPr/>
          <p:nvPr/>
        </p:nvSpPr>
        <p:spPr>
          <a:xfrm>
            <a:off x="5834503" y="1177290"/>
            <a:ext cx="3275207" cy="2465309"/>
          </a:xfrm>
          <a:prstGeom prst="roundRect">
            <a:avLst/>
          </a:prstGeom>
          <a:solidFill>
            <a:schemeClr val="accent6">
              <a:alpha val="56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5" name="Rounded Rectangle 14"/>
          <p:cNvSpPr/>
          <p:nvPr/>
        </p:nvSpPr>
        <p:spPr>
          <a:xfrm>
            <a:off x="10226365" y="1474470"/>
            <a:ext cx="1717263" cy="2125980"/>
          </a:xfrm>
          <a:prstGeom prst="roundRect">
            <a:avLst/>
          </a:prstGeom>
          <a:solidFill>
            <a:schemeClr val="accent6">
              <a:alpha val="56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6" name="Rounded Rectangle 15"/>
          <p:cNvSpPr/>
          <p:nvPr/>
        </p:nvSpPr>
        <p:spPr>
          <a:xfrm>
            <a:off x="4766310" y="2409944"/>
            <a:ext cx="752147" cy="1056678"/>
          </a:xfrm>
          <a:prstGeom prst="roundRect">
            <a:avLst/>
          </a:prstGeom>
          <a:solidFill>
            <a:srgbClr val="7030A0">
              <a:alpha val="5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7" name="Rounded Rectangle 16"/>
          <p:cNvSpPr/>
          <p:nvPr/>
        </p:nvSpPr>
        <p:spPr>
          <a:xfrm>
            <a:off x="9252337" y="2398514"/>
            <a:ext cx="1037103" cy="1056678"/>
          </a:xfrm>
          <a:prstGeom prst="roundRect">
            <a:avLst/>
          </a:prstGeom>
          <a:solidFill>
            <a:srgbClr val="7030A0">
              <a:alpha val="5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8" name="Rounded Rectangle 17"/>
          <p:cNvSpPr/>
          <p:nvPr/>
        </p:nvSpPr>
        <p:spPr>
          <a:xfrm>
            <a:off x="2737893" y="2925388"/>
            <a:ext cx="6931887" cy="529804"/>
          </a:xfrm>
          <a:prstGeom prst="roundRect">
            <a:avLst/>
          </a:prstGeom>
          <a:solidFill>
            <a:schemeClr val="accent2">
              <a:alpha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7941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4320000" cy="43200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1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6840000" y="310896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4" idx="1"/>
          </p:cNvCxnSpPr>
          <p:nvPr/>
        </p:nvCxnSpPr>
        <p:spPr>
          <a:xfrm>
            <a:off x="360000" y="3240000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520000" y="3049482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4" idx="3"/>
          </p:cNvCxnSpPr>
          <p:nvPr/>
        </p:nvCxnSpPr>
        <p:spPr>
          <a:xfrm>
            <a:off x="4680000" y="3240000"/>
            <a:ext cx="2160000" cy="2155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080000" y="522000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1800000" y="522000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2520000" y="522966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240000" y="5243797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3960000" y="522966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080000" y="3240000"/>
            <a:ext cx="1440000" cy="2169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1800000" y="3240000"/>
            <a:ext cx="720000" cy="2169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endCxn id="4" idx="2"/>
          </p:cNvCxnSpPr>
          <p:nvPr/>
        </p:nvCxnSpPr>
        <p:spPr>
          <a:xfrm>
            <a:off x="2520000" y="3240000"/>
            <a:ext cx="0" cy="21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520000" y="3240000"/>
            <a:ext cx="720000" cy="2183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2519999" y="3240000"/>
            <a:ext cx="1440000" cy="2169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359999" y="3218443"/>
            <a:ext cx="2160000" cy="2176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2519999" y="3239999"/>
            <a:ext cx="2160000" cy="2160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V="1">
            <a:off x="359998" y="3261558"/>
            <a:ext cx="6480002" cy="21311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1080000" y="3261558"/>
            <a:ext cx="5760000" cy="21455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1800000" y="3250779"/>
            <a:ext cx="5040000" cy="2149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" idx="2"/>
          </p:cNvCxnSpPr>
          <p:nvPr/>
        </p:nvCxnSpPr>
        <p:spPr>
          <a:xfrm flipV="1">
            <a:off x="2520000" y="3247425"/>
            <a:ext cx="4320000" cy="2152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3239998" y="3259049"/>
            <a:ext cx="3600002" cy="21409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3959997" y="3247424"/>
            <a:ext cx="2880003" cy="21525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 flipV="1">
            <a:off x="1741122" y="3967089"/>
            <a:ext cx="1512000" cy="1406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1522047" y="4160984"/>
            <a:ext cx="1944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1648067" y="4046101"/>
            <a:ext cx="1692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1398222" y="4301668"/>
            <a:ext cx="2196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1169622" y="4554879"/>
            <a:ext cx="2664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836247" y="4860274"/>
            <a:ext cx="3348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359997" y="5384888"/>
            <a:ext cx="4320002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6096000" y="2532185"/>
            <a:ext cx="1472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TOČKA UDALJENOSTI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24000" y="2316163"/>
            <a:ext cx="207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TOČKA NEDOGLEDA</a:t>
            </a:r>
          </a:p>
        </p:txBody>
      </p:sp>
      <p:cxnSp>
        <p:nvCxnSpPr>
          <p:cNvPr id="111" name="Straight Connector 110"/>
          <p:cNvCxnSpPr/>
          <p:nvPr/>
        </p:nvCxnSpPr>
        <p:spPr>
          <a:xfrm flipH="1">
            <a:off x="359997" y="3967089"/>
            <a:ext cx="1440003" cy="1425662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3253122" y="3967089"/>
            <a:ext cx="1413752" cy="1425662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86350" y="480060"/>
            <a:ext cx="6709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Albertijeva</a:t>
            </a:r>
            <a:r>
              <a:rPr lang="en-US" sz="2400" dirty="0"/>
              <a:t> </a:t>
            </a:r>
            <a:r>
              <a:rPr lang="en-US" sz="2400" dirty="0" err="1"/>
              <a:t>perspektiva</a:t>
            </a:r>
            <a:r>
              <a:rPr lang="en-US" sz="2400" dirty="0"/>
              <a:t> s </a:t>
            </a:r>
            <a:r>
              <a:rPr lang="en-US" sz="2400" dirty="0" err="1"/>
              <a:t>jednim</a:t>
            </a:r>
            <a:r>
              <a:rPr lang="en-US" sz="2400" dirty="0"/>
              <a:t> </a:t>
            </a:r>
            <a:r>
              <a:rPr lang="en-US" sz="2400" dirty="0" err="1"/>
              <a:t>očištem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7736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4" grpId="0"/>
      <p:bldP spid="10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ctangle 3"/>
          <p:cNvSpPr/>
          <p:nvPr/>
        </p:nvSpPr>
        <p:spPr>
          <a:xfrm>
            <a:off x="4029029" y="1057005"/>
            <a:ext cx="4320000" cy="43200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1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 flipV="1">
            <a:off x="5410152" y="3932799"/>
            <a:ext cx="1512000" cy="1406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191077" y="4126694"/>
            <a:ext cx="1944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317097" y="4011811"/>
            <a:ext cx="1692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067252" y="4267378"/>
            <a:ext cx="2196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38652" y="4520589"/>
            <a:ext cx="2664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505277" y="4825984"/>
            <a:ext cx="33480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029027" y="5350598"/>
            <a:ext cx="4320002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4737601" y="3182546"/>
            <a:ext cx="1440000" cy="2169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457601" y="3182546"/>
            <a:ext cx="720000" cy="2169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177601" y="3182546"/>
            <a:ext cx="0" cy="21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177601" y="3182546"/>
            <a:ext cx="720000" cy="2183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177600" y="3182546"/>
            <a:ext cx="1440000" cy="2169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017600" y="3160989"/>
            <a:ext cx="2160000" cy="2176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177600" y="3182545"/>
            <a:ext cx="2160000" cy="2160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10152" y="2171700"/>
            <a:ext cx="1512000" cy="1761099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3" name="Flowchart: Manual Operation 22"/>
          <p:cNvSpPr/>
          <p:nvPr/>
        </p:nvSpPr>
        <p:spPr>
          <a:xfrm rot="5400000" flipV="1">
            <a:off x="3667207" y="2776928"/>
            <a:ext cx="2898357" cy="555468"/>
          </a:xfrm>
          <a:prstGeom prst="flowChartManualOperation">
            <a:avLst/>
          </a:prstGeom>
          <a:ln>
            <a:solidFill>
              <a:schemeClr val="accent1">
                <a:shade val="50000"/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4" name="Flowchart: Manual Operation 23"/>
          <p:cNvSpPr/>
          <p:nvPr/>
        </p:nvSpPr>
        <p:spPr>
          <a:xfrm rot="16200000" flipV="1">
            <a:off x="5763241" y="2769747"/>
            <a:ext cx="2898357" cy="557604"/>
          </a:xfrm>
          <a:prstGeom prst="flowChartManualOperation">
            <a:avLst/>
          </a:prstGeom>
          <a:ln>
            <a:solidFill>
              <a:schemeClr val="accent1">
                <a:shade val="50000"/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6" name="Flowchart: Manual Operation 25"/>
          <p:cNvSpPr/>
          <p:nvPr/>
        </p:nvSpPr>
        <p:spPr>
          <a:xfrm rot="5400000" flipV="1">
            <a:off x="2066067" y="2637863"/>
            <a:ext cx="4747108" cy="844042"/>
          </a:xfrm>
          <a:prstGeom prst="flowChartManualOperation">
            <a:avLst/>
          </a:prstGeom>
          <a:ln>
            <a:solidFill>
              <a:schemeClr val="accent1">
                <a:shade val="50000"/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7" name="Flowchart: Manual Operation 26"/>
          <p:cNvSpPr/>
          <p:nvPr/>
        </p:nvSpPr>
        <p:spPr>
          <a:xfrm rot="16200000" flipV="1">
            <a:off x="5545039" y="2618018"/>
            <a:ext cx="4701388" cy="906592"/>
          </a:xfrm>
          <a:prstGeom prst="flowChartManualOperation">
            <a:avLst/>
          </a:prstGeom>
          <a:ln>
            <a:solidFill>
              <a:schemeClr val="accent1">
                <a:shade val="50000"/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34" name="Content Placeholder 3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463" y="2705251"/>
            <a:ext cx="2272592" cy="2626107"/>
          </a:xfr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278" y="2828617"/>
            <a:ext cx="1469736" cy="169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4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br>
              <a:rPr lang="en-US" dirty="0"/>
            </a:b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Odaberite</a:t>
            </a:r>
            <a:r>
              <a:rPr lang="en-US" dirty="0"/>
              <a:t> </a:t>
            </a:r>
            <a:r>
              <a:rPr lang="en-US" dirty="0" err="1"/>
              <a:t>neki</a:t>
            </a:r>
            <a:r>
              <a:rPr lang="en-US" dirty="0"/>
              <a:t> </a:t>
            </a:r>
            <a:r>
              <a:rPr lang="en-US" dirty="0" err="1"/>
              <a:t>drugi</a:t>
            </a:r>
            <a:r>
              <a:rPr lang="en-US" dirty="0"/>
              <a:t> format</a:t>
            </a:r>
          </a:p>
          <a:p>
            <a:r>
              <a:rPr lang="en-US" dirty="0" err="1"/>
              <a:t>Odaberite</a:t>
            </a:r>
            <a:r>
              <a:rPr lang="en-US" dirty="0"/>
              <a:t> </a:t>
            </a:r>
            <a:r>
              <a:rPr lang="en-US" dirty="0" err="1"/>
              <a:t>mjesto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horizonta</a:t>
            </a:r>
            <a:endParaRPr lang="en-US" dirty="0"/>
          </a:p>
          <a:p>
            <a:r>
              <a:rPr lang="en-US" dirty="0" err="1"/>
              <a:t>Odaberite</a:t>
            </a:r>
            <a:r>
              <a:rPr lang="en-US" dirty="0"/>
              <a:t> </a:t>
            </a:r>
            <a:r>
              <a:rPr lang="en-US" dirty="0" err="1"/>
              <a:t>svoju</a:t>
            </a:r>
            <a:r>
              <a:rPr lang="en-US" dirty="0"/>
              <a:t> </a:t>
            </a:r>
            <a:r>
              <a:rPr lang="en-US" dirty="0" err="1"/>
              <a:t>točku</a:t>
            </a:r>
            <a:r>
              <a:rPr lang="en-US" dirty="0"/>
              <a:t> </a:t>
            </a:r>
            <a:r>
              <a:rPr lang="en-US" dirty="0" err="1"/>
              <a:t>gledišta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nedogleda</a:t>
            </a:r>
            <a:endParaRPr lang="en-US" dirty="0"/>
          </a:p>
          <a:p>
            <a:r>
              <a:rPr lang="en-US" dirty="0" err="1"/>
              <a:t>Konstruirajte</a:t>
            </a:r>
            <a:r>
              <a:rPr lang="en-US" dirty="0"/>
              <a:t> </a:t>
            </a:r>
            <a:r>
              <a:rPr lang="en-US" dirty="0" err="1"/>
              <a:t>perspektivnu</a:t>
            </a:r>
            <a:r>
              <a:rPr lang="en-US" dirty="0"/>
              <a:t> </a:t>
            </a:r>
            <a:r>
              <a:rPr lang="en-US" dirty="0" err="1"/>
              <a:t>mrežu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ZA ONE ŽELJNE LIKOVNOGA IZRAŽAVANJA</a:t>
            </a:r>
          </a:p>
          <a:p>
            <a:r>
              <a:rPr lang="en-US" dirty="0" err="1"/>
              <a:t>Osmislite</a:t>
            </a:r>
            <a:r>
              <a:rPr lang="en-US" dirty="0"/>
              <a:t> </a:t>
            </a:r>
            <a:r>
              <a:rPr lang="en-US" dirty="0" err="1"/>
              <a:t>prizor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skicirajte</a:t>
            </a:r>
            <a:r>
              <a:rPr lang="en-US" dirty="0"/>
              <a:t> </a:t>
            </a:r>
            <a:r>
              <a:rPr lang="en-US" dirty="0" err="1"/>
              <a:t>ga</a:t>
            </a:r>
            <a:r>
              <a:rPr lang="en-US" dirty="0"/>
              <a:t> u </a:t>
            </a:r>
            <a:r>
              <a:rPr lang="en-US" dirty="0" err="1"/>
              <a:t>mrežu</a:t>
            </a:r>
            <a:r>
              <a:rPr lang="en-US" dirty="0"/>
              <a:t> u </a:t>
            </a:r>
            <a:r>
              <a:rPr lang="en-US" dirty="0" err="1"/>
              <a:t>likovnoj</a:t>
            </a:r>
            <a:r>
              <a:rPr lang="en-US" dirty="0"/>
              <a:t> </a:t>
            </a:r>
            <a:r>
              <a:rPr lang="en-US" dirty="0" err="1"/>
              <a:t>tehnici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izboru</a:t>
            </a:r>
            <a:endParaRPr lang="en-US" dirty="0"/>
          </a:p>
          <a:p>
            <a:r>
              <a:rPr lang="en-US" dirty="0" err="1"/>
              <a:t>Zadatak</a:t>
            </a:r>
            <a:r>
              <a:rPr lang="en-US" dirty="0"/>
              <a:t> </a:t>
            </a:r>
            <a:r>
              <a:rPr lang="en-US" dirty="0" err="1"/>
              <a:t>možete</a:t>
            </a:r>
            <a:r>
              <a:rPr lang="en-US" dirty="0"/>
              <a:t> </a:t>
            </a:r>
            <a:r>
              <a:rPr lang="en-US" dirty="0" err="1"/>
              <a:t>napraviti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papiru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u </a:t>
            </a:r>
            <a:r>
              <a:rPr lang="en-US" dirty="0" err="1"/>
              <a:t>dogitalnome</a:t>
            </a:r>
            <a:r>
              <a:rPr lang="en-US" dirty="0"/>
              <a:t> </a:t>
            </a:r>
            <a:r>
              <a:rPr lang="en-US" dirty="0" err="1"/>
              <a:t>obliku</a:t>
            </a:r>
            <a:endParaRPr lang="en-US" dirty="0"/>
          </a:p>
          <a:p>
            <a:endParaRPr lang="en-US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261533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3074" name="Picture 2" descr="File:Paolo Uccello - Miracle of the Desecrated Host (Scene 1) -  WGA23222.jpg - Wikimedia Comm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012" y="845819"/>
            <a:ext cx="8931976" cy="5095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43050" y="6149340"/>
            <a:ext cx="904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Paolo </a:t>
            </a:r>
            <a:r>
              <a:rPr lang="en-US" dirty="0" err="1"/>
              <a:t>Ucello</a:t>
            </a:r>
            <a:r>
              <a:rPr lang="en-US" dirty="0"/>
              <a:t>, </a:t>
            </a:r>
            <a:r>
              <a:rPr lang="en-US" i="1" dirty="0" err="1"/>
              <a:t>Čudo</a:t>
            </a:r>
            <a:r>
              <a:rPr lang="en-US" i="1" dirty="0"/>
              <a:t> </a:t>
            </a:r>
            <a:r>
              <a:rPr lang="en-US" i="1" dirty="0" err="1"/>
              <a:t>hostije</a:t>
            </a:r>
            <a:r>
              <a:rPr lang="en-US" i="1" dirty="0"/>
              <a:t> (</a:t>
            </a:r>
            <a:r>
              <a:rPr lang="en-US" i="1" dirty="0" err="1"/>
              <a:t>scena</a:t>
            </a:r>
            <a:r>
              <a:rPr lang="en-US" i="1" dirty="0"/>
              <a:t> 1), </a:t>
            </a:r>
            <a:r>
              <a:rPr lang="en-US" dirty="0"/>
              <a:t>1465.-69.</a:t>
            </a:r>
            <a:endParaRPr lang="hr-HR" i="1" dirty="0"/>
          </a:p>
        </p:txBody>
      </p:sp>
    </p:spTree>
    <p:extLst>
      <p:ext uri="{BB962C8B-B14F-4D97-AF65-F5344CB8AC3E}">
        <p14:creationId xmlns:p14="http://schemas.microsoft.com/office/powerpoint/2010/main" val="2367635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6146" name="Picture 2" descr="File:Paolo Uccello - Miracle of the Desecrated Host (Scene 2) -  WGA23223.jpg - Wikimedia Comm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05" y="483930"/>
            <a:ext cx="9641990" cy="537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653634" y="6090404"/>
            <a:ext cx="4884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Paolo </a:t>
            </a:r>
            <a:r>
              <a:rPr lang="en-US" dirty="0" err="1"/>
              <a:t>Ucello</a:t>
            </a:r>
            <a:r>
              <a:rPr lang="en-US" dirty="0"/>
              <a:t>, </a:t>
            </a:r>
            <a:r>
              <a:rPr lang="en-US" i="1" dirty="0" err="1"/>
              <a:t>Čudo</a:t>
            </a:r>
            <a:r>
              <a:rPr lang="en-US" i="1" dirty="0"/>
              <a:t> </a:t>
            </a:r>
            <a:r>
              <a:rPr lang="en-US" i="1" dirty="0" err="1"/>
              <a:t>hostije</a:t>
            </a:r>
            <a:r>
              <a:rPr lang="en-US" i="1" dirty="0"/>
              <a:t> (</a:t>
            </a:r>
            <a:r>
              <a:rPr lang="en-US" i="1" dirty="0" err="1"/>
              <a:t>scena</a:t>
            </a:r>
            <a:r>
              <a:rPr lang="en-US" i="1" dirty="0"/>
              <a:t> 1), </a:t>
            </a:r>
            <a:r>
              <a:rPr lang="en-US" dirty="0"/>
              <a:t>1465.-69.</a:t>
            </a:r>
            <a:endParaRPr lang="hr-HR" i="1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6532400" y="3005026"/>
            <a:ext cx="4074640" cy="286882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532120" y="2990141"/>
            <a:ext cx="5074920" cy="288371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652010" y="2960370"/>
            <a:ext cx="6013525" cy="291348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890010" y="2990140"/>
            <a:ext cx="6775525" cy="286882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02555" y="498815"/>
            <a:ext cx="5347335" cy="247644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943600" y="498815"/>
            <a:ext cx="4606290" cy="247644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057650" y="503903"/>
            <a:ext cx="6549390" cy="250112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2948940" y="469045"/>
            <a:ext cx="7658100" cy="255595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56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6332220" cy="857249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Promotrimo</a:t>
            </a:r>
            <a:r>
              <a:rPr lang="en-US" sz="2800" b="1" dirty="0"/>
              <a:t> </a:t>
            </a:r>
            <a:r>
              <a:rPr lang="en-US" sz="2800" b="1" dirty="0" err="1"/>
              <a:t>pažljivo</a:t>
            </a:r>
            <a:r>
              <a:rPr lang="en-US" sz="2800" b="1" dirty="0"/>
              <a:t> </a:t>
            </a:r>
            <a:r>
              <a:rPr lang="en-US" sz="2800" b="1" dirty="0" err="1"/>
              <a:t>ovu</a:t>
            </a:r>
            <a:r>
              <a:rPr lang="en-US" sz="2800" b="1" dirty="0"/>
              <a:t> </a:t>
            </a:r>
            <a:r>
              <a:rPr lang="en-US" sz="2800" b="1" dirty="0" err="1"/>
              <a:t>reprodukciju</a:t>
            </a:r>
            <a:endParaRPr lang="hr-HR" sz="2800" b="1" dirty="0"/>
          </a:p>
        </p:txBody>
      </p:sp>
      <p:pic>
        <p:nvPicPr>
          <p:cNvPr id="7170" name="Picture 2" descr="File:Simone Martini 072.jpg - Wikimedia Commons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795" y="428625"/>
            <a:ext cx="6030805" cy="585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795010" y="6345903"/>
            <a:ext cx="734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Simone Martini, </a:t>
            </a:r>
            <a:r>
              <a:rPr lang="en-US" i="1" dirty="0" err="1"/>
              <a:t>Čudo</a:t>
            </a:r>
            <a:r>
              <a:rPr lang="en-US" i="1" dirty="0"/>
              <a:t> </a:t>
            </a:r>
            <a:r>
              <a:rPr lang="en-US" i="1" dirty="0" err="1"/>
              <a:t>djeteta</a:t>
            </a:r>
            <a:r>
              <a:rPr lang="en-US" i="1" dirty="0"/>
              <a:t> </a:t>
            </a:r>
            <a:r>
              <a:rPr lang="en-US" i="1" dirty="0" err="1"/>
              <a:t>koje</a:t>
            </a:r>
            <a:r>
              <a:rPr lang="en-US" i="1" dirty="0"/>
              <a:t> </a:t>
            </a:r>
            <a:r>
              <a:rPr lang="en-US" i="1" dirty="0" err="1"/>
              <a:t>pada</a:t>
            </a:r>
            <a:r>
              <a:rPr lang="en-US" i="1" dirty="0"/>
              <a:t> s </a:t>
            </a:r>
            <a:r>
              <a:rPr lang="en-US" i="1" dirty="0" err="1"/>
              <a:t>balkona</a:t>
            </a:r>
            <a:r>
              <a:rPr lang="en-US" dirty="0"/>
              <a:t>, 1328.</a:t>
            </a:r>
            <a:endParaRPr lang="hr-HR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7040880" y="2571750"/>
            <a:ext cx="4537710" cy="152019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040880" y="1840230"/>
            <a:ext cx="4537710" cy="152019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40880" y="971192"/>
            <a:ext cx="4577715" cy="162913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6560820" y="4091940"/>
            <a:ext cx="5057775" cy="219467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643197" y="2937510"/>
            <a:ext cx="2975398" cy="680085"/>
          </a:xfrm>
          <a:prstGeom prst="line">
            <a:avLst/>
          </a:pr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663200" y="2608953"/>
            <a:ext cx="2975398" cy="680085"/>
          </a:xfrm>
          <a:prstGeom prst="line">
            <a:avLst/>
          </a:pr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683202" y="1775578"/>
            <a:ext cx="2975398" cy="680085"/>
          </a:xfrm>
          <a:prstGeom prst="line">
            <a:avLst/>
          </a:pr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1" y="1485900"/>
            <a:ext cx="5536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OBRNUTA (INVERZNA) PERSPEKTIVA</a:t>
            </a:r>
            <a:endParaRPr lang="hr-HR" sz="2800" b="1" dirty="0">
              <a:solidFill>
                <a:srgbClr val="0070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5740" y="2937510"/>
            <a:ext cx="46863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Dimenzije</a:t>
            </a:r>
            <a:r>
              <a:rPr lang="en-US" sz="2800" dirty="0"/>
              <a:t> </a:t>
            </a:r>
            <a:r>
              <a:rPr lang="en-US" sz="2800" dirty="0" err="1"/>
              <a:t>predmeta</a:t>
            </a:r>
            <a:r>
              <a:rPr lang="en-US" sz="2800" dirty="0"/>
              <a:t> </a:t>
            </a:r>
            <a:r>
              <a:rPr lang="en-US" sz="2800" dirty="0" err="1"/>
              <a:t>povećavaju</a:t>
            </a:r>
            <a:r>
              <a:rPr lang="en-US" sz="2800" dirty="0"/>
              <a:t> se </a:t>
            </a:r>
            <a:r>
              <a:rPr lang="en-US" sz="2800" dirty="0" err="1"/>
              <a:t>umjesto</a:t>
            </a:r>
            <a:r>
              <a:rPr lang="en-US" sz="2800" dirty="0"/>
              <a:t> da se </a:t>
            </a:r>
            <a:r>
              <a:rPr lang="en-US" sz="2800" dirty="0" err="1"/>
              <a:t>smanjuju</a:t>
            </a:r>
            <a:endParaRPr lang="hr-HR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285750" y="4720590"/>
            <a:ext cx="4846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Nepravilnost</a:t>
            </a:r>
            <a:r>
              <a:rPr lang="en-US" sz="2800" dirty="0"/>
              <a:t>, </a:t>
            </a:r>
            <a:r>
              <a:rPr lang="en-US" sz="2800" dirty="0" err="1"/>
              <a:t>nedosljednost</a:t>
            </a:r>
            <a:endParaRPr lang="hr-HR" sz="2800" dirty="0"/>
          </a:p>
        </p:txBody>
      </p:sp>
      <p:sp>
        <p:nvSpPr>
          <p:cNvPr id="24" name="TextBox 23"/>
          <p:cNvSpPr txBox="1"/>
          <p:nvPr/>
        </p:nvSpPr>
        <p:spPr>
          <a:xfrm>
            <a:off x="285750" y="5669280"/>
            <a:ext cx="51549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Predmeti</a:t>
            </a:r>
            <a:r>
              <a:rPr lang="en-US" sz="2800" dirty="0"/>
              <a:t> </a:t>
            </a:r>
            <a:r>
              <a:rPr lang="en-US" sz="2800" dirty="0" err="1"/>
              <a:t>istodobno</a:t>
            </a:r>
            <a:r>
              <a:rPr lang="en-US" sz="2800" dirty="0"/>
              <a:t> </a:t>
            </a:r>
            <a:r>
              <a:rPr lang="en-US" sz="2800" dirty="0" err="1"/>
              <a:t>gledani</a:t>
            </a:r>
            <a:r>
              <a:rPr lang="en-US" sz="2800" dirty="0"/>
              <a:t> </a:t>
            </a:r>
            <a:r>
              <a:rPr lang="en-US" sz="2800" dirty="0" err="1"/>
              <a:t>iz</a:t>
            </a:r>
            <a:r>
              <a:rPr lang="en-US" sz="2800" dirty="0"/>
              <a:t> </a:t>
            </a:r>
            <a:r>
              <a:rPr lang="en-US" sz="2800" dirty="0" err="1"/>
              <a:t>različitih</a:t>
            </a:r>
            <a:r>
              <a:rPr lang="en-US" sz="2800" dirty="0"/>
              <a:t> </a:t>
            </a:r>
            <a:r>
              <a:rPr lang="en-US" sz="2800" dirty="0" err="1"/>
              <a:t>kutova</a:t>
            </a:r>
            <a:r>
              <a:rPr lang="en-US" sz="2800" dirty="0"/>
              <a:t> </a:t>
            </a:r>
            <a:r>
              <a:rPr lang="en-US" sz="2800" dirty="0" err="1"/>
              <a:t>gledanja</a:t>
            </a:r>
            <a:endParaRPr lang="hr-HR" sz="2800" dirty="0"/>
          </a:p>
        </p:txBody>
      </p:sp>
    </p:spTree>
    <p:extLst>
      <p:ext uri="{BB962C8B-B14F-4D97-AF65-F5344CB8AC3E}">
        <p14:creationId xmlns:p14="http://schemas.microsoft.com/office/powerpoint/2010/main" val="219491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: 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želite</a:t>
            </a:r>
            <a:r>
              <a:rPr lang="en-US" dirty="0"/>
              <a:t> </a:t>
            </a:r>
            <a:r>
              <a:rPr lang="en-US" dirty="0" err="1"/>
              <a:t>provjeriti</a:t>
            </a:r>
            <a:r>
              <a:rPr lang="en-US" dirty="0"/>
              <a:t> </a:t>
            </a:r>
            <a:r>
              <a:rPr lang="en-US" dirty="0" err="1"/>
              <a:t>svoje</a:t>
            </a:r>
            <a:r>
              <a:rPr lang="en-US" dirty="0"/>
              <a:t> </a:t>
            </a:r>
            <a:r>
              <a:rPr lang="en-US" dirty="0" err="1"/>
              <a:t>znanje</a:t>
            </a:r>
            <a:r>
              <a:rPr lang="en-US" dirty="0"/>
              <a:t>, </a:t>
            </a:r>
            <a:r>
              <a:rPr lang="en-US" dirty="0" err="1"/>
              <a:t>pronađite</a:t>
            </a:r>
            <a:r>
              <a:rPr lang="en-US" dirty="0"/>
              <a:t> </a:t>
            </a:r>
            <a:r>
              <a:rPr lang="en-US" dirty="0" err="1"/>
              <a:t>sljedeći</a:t>
            </a:r>
            <a:r>
              <a:rPr lang="en-US" dirty="0"/>
              <a:t> </a:t>
            </a:r>
            <a:r>
              <a:rPr lang="en-US" dirty="0" err="1"/>
              <a:t>primjer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grafički</a:t>
            </a:r>
            <a:r>
              <a:rPr lang="en-US" dirty="0"/>
              <a:t> </a:t>
            </a:r>
            <a:r>
              <a:rPr lang="en-US" dirty="0" err="1"/>
              <a:t>analizirajte</a:t>
            </a:r>
            <a:r>
              <a:rPr lang="en-US" dirty="0"/>
              <a:t> </a:t>
            </a:r>
            <a:r>
              <a:rPr lang="en-US" dirty="0" err="1"/>
              <a:t>prostor</a:t>
            </a:r>
            <a:r>
              <a:rPr lang="en-US" dirty="0"/>
              <a:t> u </a:t>
            </a:r>
            <a:r>
              <a:rPr lang="en-US" dirty="0" err="1"/>
              <a:t>programu</a:t>
            </a:r>
            <a:r>
              <a:rPr lang="en-US" dirty="0"/>
              <a:t> Paint.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35251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8194" name="Picture 2" descr="Effects of Good Government in the city - Ambrogio Lorenzetti — Google Arts  &amp; Cultur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16" y="365125"/>
            <a:ext cx="11186767" cy="538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5886450"/>
            <a:ext cx="11258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Ambrogio</a:t>
            </a:r>
            <a:r>
              <a:rPr lang="en-US" dirty="0"/>
              <a:t> Lorenzetti,  </a:t>
            </a:r>
            <a:r>
              <a:rPr lang="en-US" i="1" dirty="0" err="1"/>
              <a:t>Efekti</a:t>
            </a:r>
            <a:r>
              <a:rPr lang="en-US" i="1" dirty="0"/>
              <a:t> </a:t>
            </a:r>
            <a:r>
              <a:rPr lang="en-US" i="1" dirty="0" err="1"/>
              <a:t>dobre</a:t>
            </a:r>
            <a:r>
              <a:rPr lang="en-US" i="1" dirty="0"/>
              <a:t> </a:t>
            </a:r>
            <a:r>
              <a:rPr lang="en-US" i="1" dirty="0" err="1"/>
              <a:t>vlade</a:t>
            </a:r>
            <a:r>
              <a:rPr lang="en-US" dirty="0"/>
              <a:t>, 1337.-39., Palazzo </a:t>
            </a:r>
            <a:r>
              <a:rPr lang="en-US" dirty="0" err="1"/>
              <a:t>Pubblico</a:t>
            </a:r>
            <a:r>
              <a:rPr lang="en-US" dirty="0"/>
              <a:t>, Siena 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6255782"/>
            <a:ext cx="4674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bit.ly/</a:t>
            </a:r>
            <a:r>
              <a:rPr lang="en-US" dirty="0" err="1"/>
              <a:t>perspektivarjesenje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27014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9218" name="Picture 2" descr="Mountains landscapes nature animals cows wallpaper | 1920x1080 | 293936 |  WallpaperUP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104" y="765810"/>
            <a:ext cx="9169511" cy="515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440" y="822960"/>
            <a:ext cx="23888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 err="1"/>
              <a:t>Kakve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boje</a:t>
            </a:r>
            <a:r>
              <a:rPr lang="en-US" sz="2400" dirty="0"/>
              <a:t> u </a:t>
            </a:r>
            <a:r>
              <a:rPr lang="en-US" sz="2400" dirty="0" err="1"/>
              <a:t>prednjem</a:t>
            </a:r>
            <a:r>
              <a:rPr lang="en-US" sz="2400" dirty="0"/>
              <a:t> </a:t>
            </a:r>
            <a:r>
              <a:rPr lang="en-US" sz="2400" dirty="0" err="1"/>
              <a:t>planu</a:t>
            </a:r>
            <a:r>
              <a:rPr lang="en-US" sz="2400" dirty="0"/>
              <a:t>, a </a:t>
            </a:r>
            <a:r>
              <a:rPr lang="en-US" sz="2400" dirty="0" err="1"/>
              <a:t>kakve</a:t>
            </a:r>
            <a:r>
              <a:rPr lang="en-US" sz="2400" dirty="0"/>
              <a:t> u </a:t>
            </a:r>
            <a:r>
              <a:rPr lang="en-US" sz="2400" dirty="0" err="1"/>
              <a:t>stražnjem</a:t>
            </a:r>
            <a:r>
              <a:rPr lang="en-US" sz="2400" dirty="0"/>
              <a:t>?</a:t>
            </a:r>
          </a:p>
          <a:p>
            <a:pPr marL="457200" indent="-457200">
              <a:buAutoNum type="arabicPeriod"/>
            </a:pPr>
            <a:r>
              <a:rPr lang="en-US" sz="2400" dirty="0"/>
              <a:t>Do </a:t>
            </a:r>
            <a:r>
              <a:rPr lang="en-US" sz="2400" dirty="0" err="1"/>
              <a:t>kakvih</a:t>
            </a:r>
            <a:r>
              <a:rPr lang="en-US" sz="2400" dirty="0"/>
              <a:t> </a:t>
            </a:r>
            <a:r>
              <a:rPr lang="en-US" sz="2400" dirty="0" err="1"/>
              <a:t>još</a:t>
            </a:r>
            <a:r>
              <a:rPr lang="en-US" sz="2400" dirty="0"/>
              <a:t> </a:t>
            </a:r>
            <a:r>
              <a:rPr lang="en-US" sz="2400" dirty="0" err="1"/>
              <a:t>promjena</a:t>
            </a:r>
            <a:r>
              <a:rPr lang="en-US" sz="2400" dirty="0"/>
              <a:t> </a:t>
            </a:r>
            <a:r>
              <a:rPr lang="en-US" sz="2400" dirty="0" err="1"/>
              <a:t>dolazi</a:t>
            </a:r>
            <a:r>
              <a:rPr lang="en-US" sz="2400" dirty="0"/>
              <a:t>?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12719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Ispunite</a:t>
            </a:r>
            <a:r>
              <a:rPr lang="en-US" dirty="0"/>
              <a:t> </a:t>
            </a:r>
            <a:r>
              <a:rPr lang="en-US" dirty="0" err="1"/>
              <a:t>tablicu</a:t>
            </a:r>
            <a:endParaRPr lang="hr-HR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3839154"/>
              </p:ext>
            </p:extLst>
          </p:nvPr>
        </p:nvGraphicFramePr>
        <p:xfrm>
          <a:off x="838200" y="1825625"/>
          <a:ext cx="10515600" cy="2952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021642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921423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654122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42232136"/>
                    </a:ext>
                  </a:extLst>
                </a:gridCol>
              </a:tblGrid>
              <a:tr h="984038"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BOJA</a:t>
                      </a:r>
                      <a:endParaRPr lang="hr-H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KONTRAST</a:t>
                      </a:r>
                      <a:endParaRPr lang="hr-H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OBRIS</a:t>
                      </a:r>
                      <a:endParaRPr lang="hr-H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30264"/>
                  </a:ext>
                </a:extLst>
              </a:tr>
              <a:tr h="98403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Blizu</a:t>
                      </a:r>
                      <a:endParaRPr lang="hr-H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905742"/>
                  </a:ext>
                </a:extLst>
              </a:tr>
              <a:tr h="98403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Daleko</a:t>
                      </a:r>
                      <a:endParaRPr lang="hr-H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40568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97580" y="2823210"/>
            <a:ext cx="257175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Sve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boje</a:t>
            </a:r>
            <a:r>
              <a:rPr lang="en-US" sz="2000" dirty="0"/>
              <a:t> </a:t>
            </a:r>
            <a:r>
              <a:rPr lang="en-US" sz="2000" dirty="0" err="1"/>
              <a:t>izražene</a:t>
            </a:r>
            <a:r>
              <a:rPr lang="en-US" sz="2000" dirty="0"/>
              <a:t> (</a:t>
            </a:r>
            <a:r>
              <a:rPr lang="en-US" sz="2000" dirty="0" err="1"/>
              <a:t>tople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hladne</a:t>
            </a:r>
            <a:r>
              <a:rPr lang="en-US" sz="2000" dirty="0"/>
              <a:t>)</a:t>
            </a:r>
            <a:endParaRPr lang="hr-HR" sz="2000" dirty="0"/>
          </a:p>
          <a:p>
            <a:endParaRPr lang="hr-HR" dirty="0"/>
          </a:p>
        </p:txBody>
      </p:sp>
      <p:sp>
        <p:nvSpPr>
          <p:cNvPr id="6" name="TextBox 5"/>
          <p:cNvSpPr txBox="1"/>
          <p:nvPr/>
        </p:nvSpPr>
        <p:spPr>
          <a:xfrm>
            <a:off x="6069330" y="2823210"/>
            <a:ext cx="26403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Izražen</a:t>
            </a:r>
            <a:endParaRPr lang="hr-HR" sz="2400" dirty="0"/>
          </a:p>
          <a:p>
            <a:endParaRPr lang="hr-HR" dirty="0"/>
          </a:p>
        </p:txBody>
      </p:sp>
      <p:sp>
        <p:nvSpPr>
          <p:cNvPr id="7" name="TextBox 6"/>
          <p:cNvSpPr txBox="1"/>
          <p:nvPr/>
        </p:nvSpPr>
        <p:spPr>
          <a:xfrm>
            <a:off x="8709660" y="2823210"/>
            <a:ext cx="2644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Oštar</a:t>
            </a:r>
            <a:endParaRPr lang="hr-HR" sz="2400" dirty="0"/>
          </a:p>
          <a:p>
            <a:pPr algn="ctr"/>
            <a:endParaRPr lang="hr-HR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497580" y="3808095"/>
            <a:ext cx="25717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Hladne</a:t>
            </a:r>
            <a:r>
              <a:rPr lang="en-US" sz="2400" dirty="0"/>
              <a:t> </a:t>
            </a:r>
            <a:r>
              <a:rPr lang="en-US" sz="2400" dirty="0" err="1"/>
              <a:t>boje</a:t>
            </a:r>
            <a:endParaRPr lang="hr-HR" sz="2400" dirty="0"/>
          </a:p>
          <a:p>
            <a:pPr algn="ctr"/>
            <a:endParaRPr lang="hr-HR" dirty="0"/>
          </a:p>
        </p:txBody>
      </p:sp>
      <p:sp>
        <p:nvSpPr>
          <p:cNvPr id="9" name="TextBox 8"/>
          <p:cNvSpPr txBox="1"/>
          <p:nvPr/>
        </p:nvSpPr>
        <p:spPr>
          <a:xfrm>
            <a:off x="6069330" y="3808095"/>
            <a:ext cx="26403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Smanjen</a:t>
            </a:r>
            <a:endParaRPr lang="hr-HR" sz="2400" dirty="0"/>
          </a:p>
          <a:p>
            <a:pPr algn="ctr"/>
            <a:endParaRPr lang="hr-HR" dirty="0"/>
          </a:p>
        </p:txBody>
      </p:sp>
      <p:sp>
        <p:nvSpPr>
          <p:cNvPr id="10" name="TextBox 9"/>
          <p:cNvSpPr txBox="1"/>
          <p:nvPr/>
        </p:nvSpPr>
        <p:spPr>
          <a:xfrm>
            <a:off x="8709660" y="3808095"/>
            <a:ext cx="26441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Mek</a:t>
            </a:r>
            <a:endParaRPr lang="hr-HR" sz="2400" dirty="0"/>
          </a:p>
          <a:p>
            <a:pPr algn="ctr"/>
            <a:endParaRPr lang="hr-HR" dirty="0"/>
          </a:p>
        </p:txBody>
      </p:sp>
      <p:sp>
        <p:nvSpPr>
          <p:cNvPr id="11" name="TextBox 10"/>
          <p:cNvSpPr txBox="1"/>
          <p:nvPr/>
        </p:nvSpPr>
        <p:spPr>
          <a:xfrm>
            <a:off x="6595110" y="365125"/>
            <a:ext cx="52463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ATMOSFERSKA (ZRAČNA) PERSPEKTIVA</a:t>
            </a:r>
            <a:endParaRPr lang="hr-HR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22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77190"/>
            <a:ext cx="12192000" cy="2067879"/>
          </a:xfrm>
        </p:spPr>
        <p:txBody>
          <a:bodyPr/>
          <a:lstStyle/>
          <a:p>
            <a:r>
              <a:rPr lang="en-US" dirty="0"/>
              <a:t>    Koji </a:t>
            </a:r>
            <a:r>
              <a:rPr lang="en-US" dirty="0" err="1"/>
              <a:t>detalj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najbliži</a:t>
            </a:r>
            <a:r>
              <a:rPr lang="en-US" dirty="0"/>
              <a:t>, a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najdalji</a:t>
            </a:r>
            <a:r>
              <a:rPr lang="en-US" dirty="0"/>
              <a:t> plan?</a:t>
            </a:r>
            <a:endParaRPr lang="hr-H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059" y="1265872"/>
            <a:ext cx="2592881" cy="258156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175" y="1290650"/>
            <a:ext cx="2602230" cy="26022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406" y="1301782"/>
            <a:ext cx="2702115" cy="26158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78" y="1266712"/>
            <a:ext cx="2684837" cy="265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54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81481E-6 L -0.76459 0.409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29" y="20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37 -0.01019 L 0.51992 0.3967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78" y="20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0.00092 0.4078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0.25821 0.4023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04" y="20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10242" name="Picture 2" descr="Datoteka:Claude Lorrain - An Artist Studying from Nature - Google Art  Project.jpg – Wikipedij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52" y="365124"/>
            <a:ext cx="7595455" cy="562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270" y="150009"/>
            <a:ext cx="1521150" cy="15019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270" y="1818883"/>
            <a:ext cx="1521150" cy="14726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270" y="3419681"/>
            <a:ext cx="1601966" cy="1601966"/>
          </a:xfrm>
          <a:prstGeom prst="rect">
            <a:avLst/>
          </a:prstGeom>
        </p:spPr>
      </p:pic>
      <p:pic>
        <p:nvPicPr>
          <p:cNvPr id="8" name="Content Placeholder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129" y="5196448"/>
            <a:ext cx="1601966" cy="1594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5993933"/>
            <a:ext cx="79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Claude Lorrain, </a:t>
            </a:r>
            <a:r>
              <a:rPr lang="en-US" i="1" dirty="0" err="1"/>
              <a:t>Umjetnik</a:t>
            </a:r>
            <a:r>
              <a:rPr lang="en-US" i="1" dirty="0"/>
              <a:t> </a:t>
            </a:r>
            <a:r>
              <a:rPr lang="en-US" i="1" dirty="0" err="1"/>
              <a:t>proučava</a:t>
            </a:r>
            <a:r>
              <a:rPr lang="en-US" i="1" dirty="0"/>
              <a:t> </a:t>
            </a:r>
            <a:r>
              <a:rPr lang="en-US" i="1" dirty="0" err="1"/>
              <a:t>prirodu</a:t>
            </a:r>
            <a:r>
              <a:rPr lang="en-US" dirty="0"/>
              <a:t>, 1639., </a:t>
            </a:r>
            <a:endParaRPr lang="hr-HR" dirty="0"/>
          </a:p>
        </p:txBody>
      </p:sp>
      <p:sp>
        <p:nvSpPr>
          <p:cNvPr id="9" name="Rectangle 8"/>
          <p:cNvSpPr/>
          <p:nvPr/>
        </p:nvSpPr>
        <p:spPr>
          <a:xfrm>
            <a:off x="560070" y="2743200"/>
            <a:ext cx="1508760" cy="13944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1" name="Rectangle 10"/>
          <p:cNvSpPr/>
          <p:nvPr/>
        </p:nvSpPr>
        <p:spPr>
          <a:xfrm>
            <a:off x="2724150" y="4312920"/>
            <a:ext cx="1508760" cy="13944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2" name="Rectangle 11"/>
          <p:cNvSpPr/>
          <p:nvPr/>
        </p:nvSpPr>
        <p:spPr>
          <a:xfrm>
            <a:off x="5524500" y="2301240"/>
            <a:ext cx="1508760" cy="13944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3" name="Rectangle 12"/>
          <p:cNvSpPr/>
          <p:nvPr/>
        </p:nvSpPr>
        <p:spPr>
          <a:xfrm>
            <a:off x="2015490" y="2895600"/>
            <a:ext cx="1508760" cy="13944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6263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365125"/>
            <a:ext cx="11967210" cy="2549525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Promotrite</a:t>
            </a:r>
            <a:r>
              <a:rPr lang="en-US" dirty="0">
                <a:solidFill>
                  <a:srgbClr val="0070C0"/>
                </a:solidFill>
              </a:rPr>
              <a:t>!</a:t>
            </a:r>
            <a:br>
              <a:rPr lang="en-US" dirty="0"/>
            </a:br>
            <a:r>
              <a:rPr lang="en-US" sz="4000" dirty="0" err="1"/>
              <a:t>Koje</a:t>
            </a:r>
            <a:r>
              <a:rPr lang="en-US" sz="4000" dirty="0"/>
              <a:t> </a:t>
            </a:r>
            <a:r>
              <a:rPr lang="en-US" sz="4000" dirty="0" err="1"/>
              <a:t>boje</a:t>
            </a:r>
            <a:r>
              <a:rPr lang="en-US" sz="4000" dirty="0"/>
              <a:t> </a:t>
            </a:r>
            <a:r>
              <a:rPr lang="en-US" sz="4000" dirty="0" err="1"/>
              <a:t>prevladavaju</a:t>
            </a:r>
            <a:r>
              <a:rPr lang="en-US" sz="4000" dirty="0"/>
              <a:t> </a:t>
            </a:r>
            <a:r>
              <a:rPr lang="en-US" sz="4000" dirty="0" err="1"/>
              <a:t>na</a:t>
            </a:r>
            <a:r>
              <a:rPr lang="en-US" sz="4000" dirty="0"/>
              <a:t> </a:t>
            </a:r>
            <a:r>
              <a:rPr lang="en-US" sz="4000" dirty="0" err="1"/>
              <a:t>prikazanim</a:t>
            </a:r>
            <a:r>
              <a:rPr lang="en-US" sz="4000" dirty="0"/>
              <a:t> </a:t>
            </a:r>
            <a:r>
              <a:rPr lang="en-US" sz="4000" dirty="0" err="1"/>
              <a:t>detaljima</a:t>
            </a:r>
            <a:r>
              <a:rPr lang="en-US" sz="4000" dirty="0"/>
              <a:t>?</a:t>
            </a:r>
            <a:br>
              <a:rPr lang="en-US" sz="4000" dirty="0"/>
            </a:br>
            <a:r>
              <a:rPr lang="en-US" sz="4000" dirty="0"/>
              <a:t>Koji </a:t>
            </a:r>
            <a:r>
              <a:rPr lang="en-US" sz="4000" dirty="0" err="1"/>
              <a:t>isječak</a:t>
            </a:r>
            <a:r>
              <a:rPr lang="en-US" sz="4000" dirty="0"/>
              <a:t> </a:t>
            </a:r>
            <a:r>
              <a:rPr lang="en-US" sz="4000" dirty="0" err="1"/>
              <a:t>prikazuje</a:t>
            </a:r>
            <a:r>
              <a:rPr lang="en-US" sz="4000" dirty="0"/>
              <a:t> </a:t>
            </a:r>
            <a:r>
              <a:rPr lang="en-US" sz="4000" dirty="0" err="1"/>
              <a:t>bliži</a:t>
            </a:r>
            <a:r>
              <a:rPr lang="en-US" sz="4000" dirty="0"/>
              <a:t>, a </a:t>
            </a:r>
            <a:r>
              <a:rPr lang="en-US" sz="4000" dirty="0" err="1"/>
              <a:t>koji</a:t>
            </a:r>
            <a:r>
              <a:rPr lang="en-US" sz="4000" dirty="0"/>
              <a:t> </a:t>
            </a:r>
            <a:r>
              <a:rPr lang="en-US" sz="4000" dirty="0" err="1"/>
              <a:t>dalji</a:t>
            </a:r>
            <a:r>
              <a:rPr lang="en-US" sz="4000" dirty="0"/>
              <a:t> plan? </a:t>
            </a:r>
            <a:r>
              <a:rPr lang="en-US" sz="4000" dirty="0" err="1"/>
              <a:t>Zašto</a:t>
            </a:r>
            <a:r>
              <a:rPr lang="en-US" sz="4000" dirty="0"/>
              <a:t> </a:t>
            </a:r>
            <a:r>
              <a:rPr lang="en-US" sz="4000" dirty="0" err="1"/>
              <a:t>tako</a:t>
            </a:r>
            <a:r>
              <a:rPr lang="en-US" sz="4000" dirty="0"/>
              <a:t> </a:t>
            </a:r>
            <a:r>
              <a:rPr lang="en-US" sz="4000" dirty="0" err="1"/>
              <a:t>mislite</a:t>
            </a:r>
            <a:r>
              <a:rPr lang="en-US" sz="4000" dirty="0"/>
              <a:t>?</a:t>
            </a:r>
            <a:br>
              <a:rPr lang="en-US" sz="4000" dirty="0"/>
            </a:br>
            <a:r>
              <a:rPr lang="en-US" sz="4000" dirty="0" err="1"/>
              <a:t>Usporedite</a:t>
            </a:r>
            <a:r>
              <a:rPr lang="en-US" sz="4000" dirty="0"/>
              <a:t> </a:t>
            </a:r>
            <a:r>
              <a:rPr lang="en-US" sz="4000" dirty="0" err="1"/>
              <a:t>obrise</a:t>
            </a:r>
            <a:r>
              <a:rPr lang="en-US" sz="4000" dirty="0"/>
              <a:t> </a:t>
            </a:r>
            <a:r>
              <a:rPr lang="en-US" sz="4000" dirty="0" err="1"/>
              <a:t>i</a:t>
            </a:r>
            <a:r>
              <a:rPr lang="en-US" sz="4000" dirty="0"/>
              <a:t> </a:t>
            </a:r>
            <a:r>
              <a:rPr lang="en-US" sz="4000" dirty="0" err="1"/>
              <a:t>kontraste</a:t>
            </a:r>
            <a:r>
              <a:rPr lang="en-US" sz="4000" dirty="0"/>
              <a:t>.</a:t>
            </a:r>
            <a:br>
              <a:rPr lang="en-US" sz="4000" dirty="0"/>
            </a:br>
            <a:endParaRPr lang="hr-HR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070" y="3028684"/>
            <a:ext cx="2743200" cy="2320556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680" y="3028684"/>
            <a:ext cx="2647950" cy="23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66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84363"/>
            <a:ext cx="1916430" cy="168752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914794"/>
            <a:ext cx="1916430" cy="16211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595" y="478970"/>
            <a:ext cx="7027205" cy="5655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09110" y="6160770"/>
            <a:ext cx="7044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Maurice de Vlaminck, </a:t>
            </a:r>
            <a:r>
              <a:rPr lang="en-US" i="1" dirty="0" err="1"/>
              <a:t>Kuće</a:t>
            </a:r>
            <a:r>
              <a:rPr lang="en-US" i="1" dirty="0"/>
              <a:t> u </a:t>
            </a:r>
            <a:r>
              <a:rPr lang="en-US" i="1" dirty="0" err="1"/>
              <a:t>Chatou</a:t>
            </a:r>
            <a:r>
              <a:rPr lang="en-US" dirty="0"/>
              <a:t>, 1905.</a:t>
            </a:r>
            <a:endParaRPr lang="hr-HR" dirty="0"/>
          </a:p>
        </p:txBody>
      </p:sp>
      <p:sp>
        <p:nvSpPr>
          <p:cNvPr id="8" name="Rectangle 7"/>
          <p:cNvSpPr/>
          <p:nvPr/>
        </p:nvSpPr>
        <p:spPr>
          <a:xfrm>
            <a:off x="4326595" y="3728125"/>
            <a:ext cx="1788455" cy="1529675"/>
          </a:xfrm>
          <a:prstGeom prst="rect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9" name="Rectangle 8"/>
          <p:cNvSpPr/>
          <p:nvPr/>
        </p:nvSpPr>
        <p:spPr>
          <a:xfrm>
            <a:off x="4326595" y="1179731"/>
            <a:ext cx="1788455" cy="1529675"/>
          </a:xfrm>
          <a:prstGeom prst="rect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0" name="TextBox 9"/>
          <p:cNvSpPr txBox="1"/>
          <p:nvPr/>
        </p:nvSpPr>
        <p:spPr>
          <a:xfrm>
            <a:off x="171450" y="365125"/>
            <a:ext cx="34975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KOLORISTIČKA PERSPEKTIVA</a:t>
            </a:r>
            <a:endParaRPr lang="hr-HR" sz="28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508760"/>
            <a:ext cx="4309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Temelji</a:t>
            </a:r>
            <a:r>
              <a:rPr lang="en-US" sz="2400" dirty="0"/>
              <a:t> se </a:t>
            </a:r>
            <a:r>
              <a:rPr lang="en-US" sz="2400" dirty="0" err="1"/>
              <a:t>isključivo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bojama</a:t>
            </a:r>
            <a:r>
              <a:rPr lang="en-US" sz="2400" dirty="0"/>
              <a:t>,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dinamičkim</a:t>
            </a:r>
            <a:r>
              <a:rPr lang="en-US" sz="2400" dirty="0"/>
              <a:t> </a:t>
            </a:r>
            <a:r>
              <a:rPr lang="en-US" sz="2400" dirty="0" err="1"/>
              <a:t>svojstvima</a:t>
            </a:r>
            <a:r>
              <a:rPr lang="en-US" sz="2400" dirty="0"/>
              <a:t> </a:t>
            </a:r>
            <a:r>
              <a:rPr lang="en-US" sz="2400" dirty="0" err="1"/>
              <a:t>boja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0085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Zadatak</a:t>
            </a:r>
            <a:r>
              <a:rPr lang="en-US" dirty="0"/>
              <a:t>: </a:t>
            </a:r>
            <a:r>
              <a:rPr lang="en-US" dirty="0" err="1"/>
              <a:t>izradite</a:t>
            </a:r>
            <a:r>
              <a:rPr lang="en-US" dirty="0"/>
              <a:t> </a:t>
            </a:r>
            <a:r>
              <a:rPr lang="en-US" dirty="0" err="1"/>
              <a:t>Vennov</a:t>
            </a:r>
            <a:r>
              <a:rPr lang="en-US" dirty="0"/>
              <a:t> </a:t>
            </a:r>
            <a:r>
              <a:rPr lang="en-US" dirty="0" err="1"/>
              <a:t>dijagram</a:t>
            </a:r>
            <a:r>
              <a:rPr lang="en-US" dirty="0"/>
              <a:t> u </a:t>
            </a:r>
            <a:r>
              <a:rPr lang="en-US" dirty="0" err="1"/>
              <a:t>kojemu</a:t>
            </a:r>
            <a:r>
              <a:rPr lang="en-US" dirty="0"/>
              <a:t> </a:t>
            </a:r>
            <a:r>
              <a:rPr lang="en-US" dirty="0" err="1"/>
              <a:t>ćete</a:t>
            </a:r>
            <a:r>
              <a:rPr lang="en-US" dirty="0"/>
              <a:t> </a:t>
            </a:r>
            <a:r>
              <a:rPr lang="en-US" dirty="0" err="1"/>
              <a:t>usporediti</a:t>
            </a:r>
            <a:r>
              <a:rPr lang="en-US" dirty="0"/>
              <a:t> </a:t>
            </a:r>
            <a:r>
              <a:rPr lang="en-US" dirty="0" err="1"/>
              <a:t>atmosfersku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kolorističku</a:t>
            </a:r>
            <a:r>
              <a:rPr lang="en-US" dirty="0"/>
              <a:t> </a:t>
            </a:r>
            <a:r>
              <a:rPr lang="en-US" dirty="0" err="1"/>
              <a:t>perspektivu</a:t>
            </a:r>
            <a:r>
              <a:rPr lang="en-US" dirty="0"/>
              <a:t>.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Oval 3"/>
          <p:cNvSpPr/>
          <p:nvPr/>
        </p:nvSpPr>
        <p:spPr>
          <a:xfrm>
            <a:off x="2434590" y="2800350"/>
            <a:ext cx="4126230" cy="2811780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       </a:t>
            </a:r>
            <a:endParaRPr lang="hr-HR" dirty="0"/>
          </a:p>
        </p:txBody>
      </p:sp>
      <p:sp>
        <p:nvSpPr>
          <p:cNvPr id="6" name="Oval 5"/>
          <p:cNvSpPr/>
          <p:nvPr/>
        </p:nvSpPr>
        <p:spPr>
          <a:xfrm>
            <a:off x="4831080" y="2800350"/>
            <a:ext cx="3897630" cy="2811780"/>
          </a:xfrm>
          <a:prstGeom prst="ellipse">
            <a:avLst/>
          </a:prstGeom>
          <a:solidFill>
            <a:schemeClr val="accent4">
              <a:alpha val="55000"/>
            </a:schemeClr>
          </a:solidFill>
          <a:ln>
            <a:solidFill>
              <a:schemeClr val="accent4">
                <a:shade val="50000"/>
                <a:alpha val="67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</a:t>
            </a:r>
            <a:endParaRPr lang="hr-HR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4114800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SLIČNOSTI</a:t>
            </a:r>
            <a:endParaRPr lang="hr-HR" dirty="0"/>
          </a:p>
        </p:txBody>
      </p:sp>
      <p:sp>
        <p:nvSpPr>
          <p:cNvPr id="8" name="TextBox 7"/>
          <p:cNvSpPr txBox="1"/>
          <p:nvPr/>
        </p:nvSpPr>
        <p:spPr>
          <a:xfrm>
            <a:off x="7037070" y="4114800"/>
            <a:ext cx="181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RAZLIKE</a:t>
            </a:r>
            <a:endParaRPr lang="hr-HR" dirty="0"/>
          </a:p>
        </p:txBody>
      </p:sp>
      <p:sp>
        <p:nvSpPr>
          <p:cNvPr id="10" name="TextBox 9"/>
          <p:cNvSpPr txBox="1"/>
          <p:nvPr/>
        </p:nvSpPr>
        <p:spPr>
          <a:xfrm>
            <a:off x="2857500" y="4114800"/>
            <a:ext cx="1973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RAZLIKE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2483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TextBox 3"/>
          <p:cNvSpPr txBox="1"/>
          <p:nvPr/>
        </p:nvSpPr>
        <p:spPr>
          <a:xfrm>
            <a:off x="377190" y="1027906"/>
            <a:ext cx="18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251460" y="365125"/>
            <a:ext cx="4366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Promotrite</a:t>
            </a:r>
            <a:r>
              <a:rPr lang="en-US" sz="3200" dirty="0"/>
              <a:t> </a:t>
            </a:r>
            <a:r>
              <a:rPr lang="en-US" sz="3200" dirty="0" err="1"/>
              <a:t>ovaj</a:t>
            </a:r>
            <a:r>
              <a:rPr lang="en-US" sz="3200" dirty="0"/>
              <a:t> </a:t>
            </a:r>
            <a:r>
              <a:rPr lang="en-US" sz="3200" dirty="0" err="1"/>
              <a:t>primjer</a:t>
            </a:r>
            <a:endParaRPr lang="hr-HR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160020" y="1794510"/>
            <a:ext cx="47205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Kojim</a:t>
            </a:r>
            <a:r>
              <a:rPr lang="en-US" sz="2400" dirty="0"/>
              <a:t> </a:t>
            </a:r>
            <a:r>
              <a:rPr lang="en-US" sz="2400" dirty="0" err="1"/>
              <a:t>redoslijedom</a:t>
            </a:r>
            <a:r>
              <a:rPr lang="en-US" sz="2400" dirty="0"/>
              <a:t> </a:t>
            </a:r>
            <a:r>
              <a:rPr lang="en-US" sz="2400" dirty="0" err="1"/>
              <a:t>ste</a:t>
            </a:r>
            <a:r>
              <a:rPr lang="en-US" sz="2400" dirty="0"/>
              <a:t> </a:t>
            </a:r>
            <a:r>
              <a:rPr lang="en-US" sz="2400" dirty="0" err="1"/>
              <a:t>promatrali</a:t>
            </a:r>
            <a:r>
              <a:rPr lang="en-US" sz="2400" dirty="0"/>
              <a:t> </a:t>
            </a:r>
            <a:r>
              <a:rPr lang="en-US" sz="2400" dirty="0" err="1"/>
              <a:t>radnju</a:t>
            </a:r>
            <a:r>
              <a:rPr lang="en-US" sz="2400" dirty="0"/>
              <a:t>?</a:t>
            </a:r>
          </a:p>
          <a:p>
            <a:r>
              <a:rPr lang="en-US" sz="2400" dirty="0"/>
              <a:t>2. </a:t>
            </a:r>
            <a:r>
              <a:rPr lang="en-US" sz="2400" dirty="0" err="1"/>
              <a:t>Kako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vam</a:t>
            </a:r>
            <a:r>
              <a:rPr lang="en-US" sz="2400" dirty="0"/>
              <a:t> se </a:t>
            </a:r>
            <a:r>
              <a:rPr lang="en-US" sz="2400" dirty="0" err="1"/>
              <a:t>oči</a:t>
            </a:r>
            <a:r>
              <a:rPr lang="en-US" sz="2400" dirty="0"/>
              <a:t> </a:t>
            </a:r>
            <a:r>
              <a:rPr lang="en-US" sz="2400" dirty="0" err="1"/>
              <a:t>kretale</a:t>
            </a:r>
            <a:r>
              <a:rPr lang="en-US" sz="2400" dirty="0"/>
              <a:t> </a:t>
            </a:r>
            <a:r>
              <a:rPr lang="en-US" sz="2400" dirty="0" err="1"/>
              <a:t>po</a:t>
            </a:r>
            <a:r>
              <a:rPr lang="en-US" sz="2400" dirty="0"/>
              <a:t> </a:t>
            </a:r>
            <a:r>
              <a:rPr lang="en-US" sz="2400" dirty="0" err="1"/>
              <a:t>kadru</a:t>
            </a:r>
            <a:r>
              <a:rPr lang="en-US" sz="2400" dirty="0"/>
              <a:t>?</a:t>
            </a:r>
          </a:p>
          <a:p>
            <a:r>
              <a:rPr lang="en-US" sz="2400" dirty="0"/>
              <a:t>3. </a:t>
            </a:r>
            <a:r>
              <a:rPr lang="en-US" sz="2400" dirty="0" err="1"/>
              <a:t>Kojoj</a:t>
            </a:r>
            <a:r>
              <a:rPr lang="en-US" sz="2400" dirty="0"/>
              <a:t> </a:t>
            </a:r>
            <a:r>
              <a:rPr lang="en-US" sz="2400" dirty="0" err="1"/>
              <a:t>kulturi</a:t>
            </a:r>
            <a:r>
              <a:rPr lang="en-US" sz="2400" dirty="0"/>
              <a:t> </a:t>
            </a:r>
            <a:r>
              <a:rPr lang="en-US" sz="2400" dirty="0" err="1"/>
              <a:t>pripada</a:t>
            </a:r>
            <a:r>
              <a:rPr lang="en-US" sz="2400" dirty="0"/>
              <a:t>?</a:t>
            </a:r>
            <a:endParaRPr lang="hr-HR" sz="2400" dirty="0"/>
          </a:p>
        </p:txBody>
      </p:sp>
      <p:pic>
        <p:nvPicPr>
          <p:cNvPr id="11270" name="Picture 6" descr="File:Craftsmen, Tomb of Nebamun and Ipuky MET eg30.4.103a.jpg - Wikimedia  Comm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460" y="949900"/>
            <a:ext cx="6473190" cy="4833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2290" name="Picture 2" descr="Alejandro Jodorowsky Reflects on 'The Incal,' 40 Years Later | Hollywood  Reporte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975" y="0"/>
            <a:ext cx="4972050" cy="6676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74620" y="6400800"/>
            <a:ext cx="6663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Moebius, </a:t>
            </a:r>
            <a:r>
              <a:rPr lang="en-US" i="1" dirty="0" err="1"/>
              <a:t>Inkal</a:t>
            </a:r>
            <a:r>
              <a:rPr lang="en-US" dirty="0"/>
              <a:t>, 1980.</a:t>
            </a:r>
            <a:endParaRPr lang="hr-HR" dirty="0"/>
          </a:p>
        </p:txBody>
      </p:sp>
      <p:sp>
        <p:nvSpPr>
          <p:cNvPr id="5" name="Freeform 4"/>
          <p:cNvSpPr/>
          <p:nvPr/>
        </p:nvSpPr>
        <p:spPr>
          <a:xfrm>
            <a:off x="4514850" y="868680"/>
            <a:ext cx="3360420" cy="4629150"/>
          </a:xfrm>
          <a:custGeom>
            <a:avLst/>
            <a:gdLst>
              <a:gd name="connsiteX0" fmla="*/ 0 w 3360420"/>
              <a:gd name="connsiteY0" fmla="*/ 0 h 4629150"/>
              <a:gd name="connsiteX1" fmla="*/ 1954530 w 3360420"/>
              <a:gd name="connsiteY1" fmla="*/ 182880 h 4629150"/>
              <a:gd name="connsiteX2" fmla="*/ 2491740 w 3360420"/>
              <a:gd name="connsiteY2" fmla="*/ 525780 h 4629150"/>
              <a:gd name="connsiteX3" fmla="*/ 2446020 w 3360420"/>
              <a:gd name="connsiteY3" fmla="*/ 1051560 h 4629150"/>
              <a:gd name="connsiteX4" fmla="*/ 2171700 w 3360420"/>
              <a:gd name="connsiteY4" fmla="*/ 1303020 h 4629150"/>
              <a:gd name="connsiteX5" fmla="*/ 1485900 w 3360420"/>
              <a:gd name="connsiteY5" fmla="*/ 1543050 h 4629150"/>
              <a:gd name="connsiteX6" fmla="*/ 422910 w 3360420"/>
              <a:gd name="connsiteY6" fmla="*/ 1771650 h 4629150"/>
              <a:gd name="connsiteX7" fmla="*/ 308610 w 3360420"/>
              <a:gd name="connsiteY7" fmla="*/ 2091690 h 4629150"/>
              <a:gd name="connsiteX8" fmla="*/ 1120140 w 3360420"/>
              <a:gd name="connsiteY8" fmla="*/ 2377440 h 4629150"/>
              <a:gd name="connsiteX9" fmla="*/ 2766060 w 3360420"/>
              <a:gd name="connsiteY9" fmla="*/ 2183130 h 4629150"/>
              <a:gd name="connsiteX10" fmla="*/ 3040380 w 3360420"/>
              <a:gd name="connsiteY10" fmla="*/ 2366010 h 4629150"/>
              <a:gd name="connsiteX11" fmla="*/ 2548890 w 3360420"/>
              <a:gd name="connsiteY11" fmla="*/ 2697480 h 4629150"/>
              <a:gd name="connsiteX12" fmla="*/ 948690 w 3360420"/>
              <a:gd name="connsiteY12" fmla="*/ 2857500 h 4629150"/>
              <a:gd name="connsiteX13" fmla="*/ 274320 w 3360420"/>
              <a:gd name="connsiteY13" fmla="*/ 3188970 h 4629150"/>
              <a:gd name="connsiteX14" fmla="*/ 320040 w 3360420"/>
              <a:gd name="connsiteY14" fmla="*/ 3611880 h 4629150"/>
              <a:gd name="connsiteX15" fmla="*/ 1028700 w 3360420"/>
              <a:gd name="connsiteY15" fmla="*/ 3966210 h 4629150"/>
              <a:gd name="connsiteX16" fmla="*/ 2868930 w 3360420"/>
              <a:gd name="connsiteY16" fmla="*/ 4480560 h 4629150"/>
              <a:gd name="connsiteX17" fmla="*/ 3211830 w 3360420"/>
              <a:gd name="connsiteY17" fmla="*/ 4583430 h 4629150"/>
              <a:gd name="connsiteX18" fmla="*/ 3360420 w 3360420"/>
              <a:gd name="connsiteY18" fmla="*/ 4629150 h 46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60420" h="4629150">
                <a:moveTo>
                  <a:pt x="0" y="0"/>
                </a:moveTo>
                <a:cubicBezTo>
                  <a:pt x="769620" y="47625"/>
                  <a:pt x="1539240" y="95250"/>
                  <a:pt x="1954530" y="182880"/>
                </a:cubicBezTo>
                <a:cubicBezTo>
                  <a:pt x="2369820" y="270510"/>
                  <a:pt x="2409825" y="381000"/>
                  <a:pt x="2491740" y="525780"/>
                </a:cubicBezTo>
                <a:cubicBezTo>
                  <a:pt x="2573655" y="670560"/>
                  <a:pt x="2499360" y="922020"/>
                  <a:pt x="2446020" y="1051560"/>
                </a:cubicBezTo>
                <a:cubicBezTo>
                  <a:pt x="2392680" y="1181100"/>
                  <a:pt x="2331720" y="1221105"/>
                  <a:pt x="2171700" y="1303020"/>
                </a:cubicBezTo>
                <a:cubicBezTo>
                  <a:pt x="2011680" y="1384935"/>
                  <a:pt x="1777365" y="1464945"/>
                  <a:pt x="1485900" y="1543050"/>
                </a:cubicBezTo>
                <a:cubicBezTo>
                  <a:pt x="1194435" y="1621155"/>
                  <a:pt x="619125" y="1680210"/>
                  <a:pt x="422910" y="1771650"/>
                </a:cubicBezTo>
                <a:cubicBezTo>
                  <a:pt x="226695" y="1863090"/>
                  <a:pt x="192405" y="1990725"/>
                  <a:pt x="308610" y="2091690"/>
                </a:cubicBezTo>
                <a:cubicBezTo>
                  <a:pt x="424815" y="2192655"/>
                  <a:pt x="710565" y="2362200"/>
                  <a:pt x="1120140" y="2377440"/>
                </a:cubicBezTo>
                <a:cubicBezTo>
                  <a:pt x="1529715" y="2392680"/>
                  <a:pt x="2446020" y="2185035"/>
                  <a:pt x="2766060" y="2183130"/>
                </a:cubicBezTo>
                <a:cubicBezTo>
                  <a:pt x="3086100" y="2181225"/>
                  <a:pt x="3076575" y="2280285"/>
                  <a:pt x="3040380" y="2366010"/>
                </a:cubicBezTo>
                <a:cubicBezTo>
                  <a:pt x="3004185" y="2451735"/>
                  <a:pt x="2897505" y="2615565"/>
                  <a:pt x="2548890" y="2697480"/>
                </a:cubicBezTo>
                <a:cubicBezTo>
                  <a:pt x="2200275" y="2779395"/>
                  <a:pt x="1327785" y="2775585"/>
                  <a:pt x="948690" y="2857500"/>
                </a:cubicBezTo>
                <a:cubicBezTo>
                  <a:pt x="569595" y="2939415"/>
                  <a:pt x="379095" y="3063240"/>
                  <a:pt x="274320" y="3188970"/>
                </a:cubicBezTo>
                <a:cubicBezTo>
                  <a:pt x="169545" y="3314700"/>
                  <a:pt x="194310" y="3482340"/>
                  <a:pt x="320040" y="3611880"/>
                </a:cubicBezTo>
                <a:cubicBezTo>
                  <a:pt x="445770" y="3741420"/>
                  <a:pt x="603885" y="3821430"/>
                  <a:pt x="1028700" y="3966210"/>
                </a:cubicBezTo>
                <a:cubicBezTo>
                  <a:pt x="1453515" y="4110990"/>
                  <a:pt x="2505075" y="4377690"/>
                  <a:pt x="2868930" y="4480560"/>
                </a:cubicBezTo>
                <a:cubicBezTo>
                  <a:pt x="3232785" y="4583430"/>
                  <a:pt x="3211830" y="4583430"/>
                  <a:pt x="3211830" y="4583430"/>
                </a:cubicBezTo>
                <a:lnTo>
                  <a:pt x="3360420" y="4629150"/>
                </a:ln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4701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13314" name="Picture 2" descr="File:Craftsmen, Tomb of Nebamun and Ipuky MET eg30.4.103a.jpg - Wikimedia  Comm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510" y="746240"/>
            <a:ext cx="7273290" cy="543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69030" y="6176963"/>
            <a:ext cx="827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Obrtnici</a:t>
            </a:r>
            <a:r>
              <a:rPr lang="en-US" dirty="0"/>
              <a:t>, </a:t>
            </a:r>
            <a:r>
              <a:rPr lang="en-US" dirty="0" err="1"/>
              <a:t>freska</a:t>
            </a:r>
            <a:r>
              <a:rPr lang="en-US" dirty="0"/>
              <a:t>, </a:t>
            </a:r>
            <a:r>
              <a:rPr lang="en-US" dirty="0" err="1"/>
              <a:t>Grobnica</a:t>
            </a:r>
            <a:r>
              <a:rPr lang="en-US" dirty="0"/>
              <a:t> </a:t>
            </a:r>
            <a:r>
              <a:rPr lang="en-US" dirty="0" err="1"/>
              <a:t>Nebamun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Ipuky</a:t>
            </a:r>
            <a:r>
              <a:rPr lang="en-US" dirty="0"/>
              <a:t>, </a:t>
            </a:r>
            <a:r>
              <a:rPr lang="en-US" dirty="0" err="1"/>
              <a:t>Egipat</a:t>
            </a:r>
            <a:r>
              <a:rPr lang="en-US" dirty="0"/>
              <a:t>, 1390. pr. Kr. </a:t>
            </a:r>
            <a:endParaRPr lang="hr-HR" dirty="0"/>
          </a:p>
        </p:txBody>
      </p:sp>
      <p:sp>
        <p:nvSpPr>
          <p:cNvPr id="5" name="Rectangle 4"/>
          <p:cNvSpPr/>
          <p:nvPr/>
        </p:nvSpPr>
        <p:spPr>
          <a:xfrm>
            <a:off x="4080510" y="3577590"/>
            <a:ext cx="7273290" cy="2599373"/>
          </a:xfrm>
          <a:prstGeom prst="rect">
            <a:avLst/>
          </a:prstGeom>
          <a:solidFill>
            <a:schemeClr val="accent2">
              <a:alpha val="59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Rectangle 5"/>
          <p:cNvSpPr/>
          <p:nvPr/>
        </p:nvSpPr>
        <p:spPr>
          <a:xfrm>
            <a:off x="4080510" y="746240"/>
            <a:ext cx="7273290" cy="2831350"/>
          </a:xfrm>
          <a:prstGeom prst="rect">
            <a:avLst/>
          </a:prstGeom>
          <a:solidFill>
            <a:schemeClr val="accent1">
              <a:alpha val="6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TextBox 6"/>
          <p:cNvSpPr txBox="1"/>
          <p:nvPr/>
        </p:nvSpPr>
        <p:spPr>
          <a:xfrm>
            <a:off x="0" y="2258736"/>
            <a:ext cx="43510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Više</a:t>
            </a:r>
            <a:r>
              <a:rPr lang="en-US" sz="2400" dirty="0"/>
              <a:t> </a:t>
            </a:r>
            <a:r>
              <a:rPr lang="en-US" sz="2400" dirty="0" err="1"/>
              <a:t>traka</a:t>
            </a:r>
            <a:r>
              <a:rPr lang="en-US" sz="2400" dirty="0"/>
              <a:t>, </a:t>
            </a:r>
            <a:r>
              <a:rPr lang="en-US" sz="2400" dirty="0" err="1"/>
              <a:t>više</a:t>
            </a:r>
            <a:r>
              <a:rPr lang="en-US" sz="2400" dirty="0"/>
              <a:t> </a:t>
            </a:r>
            <a:r>
              <a:rPr lang="en-US" sz="2400" dirty="0" err="1"/>
              <a:t>prostornih</a:t>
            </a:r>
            <a:r>
              <a:rPr lang="en-US" sz="2400" dirty="0"/>
              <a:t> </a:t>
            </a:r>
            <a:r>
              <a:rPr lang="en-US" sz="2400" dirty="0" err="1"/>
              <a:t>planova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Likovi</a:t>
            </a:r>
            <a:r>
              <a:rPr lang="en-US" sz="2400" dirty="0"/>
              <a:t> se ne </a:t>
            </a:r>
            <a:r>
              <a:rPr lang="en-US" sz="2400" dirty="0" err="1"/>
              <a:t>smanjuju</a:t>
            </a:r>
            <a:r>
              <a:rPr lang="en-US" sz="2400" dirty="0"/>
              <a:t> s </a:t>
            </a:r>
            <a:r>
              <a:rPr lang="en-US" sz="2400" dirty="0" err="1"/>
              <a:t>udaljenošću</a:t>
            </a:r>
            <a:r>
              <a:rPr lang="en-US" sz="2400" dirty="0"/>
              <a:t>, </a:t>
            </a:r>
            <a:r>
              <a:rPr lang="en-US" sz="2400" dirty="0" err="1"/>
              <a:t>te</a:t>
            </a:r>
            <a:r>
              <a:rPr lang="en-US" sz="2400" dirty="0"/>
              <a:t> se ne </a:t>
            </a:r>
            <a:r>
              <a:rPr lang="en-US" sz="2400" dirty="0" err="1"/>
              <a:t>preklapaju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Horizontalni</a:t>
            </a:r>
            <a:r>
              <a:rPr lang="en-US" sz="2400" dirty="0"/>
              <a:t> </a:t>
            </a:r>
            <a:r>
              <a:rPr lang="en-US" sz="2400" dirty="0" err="1"/>
              <a:t>pojasi</a:t>
            </a:r>
            <a:r>
              <a:rPr lang="en-US" sz="2400" dirty="0"/>
              <a:t> u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razdvojeni</a:t>
            </a:r>
            <a:r>
              <a:rPr lang="en-US" sz="2400" dirty="0"/>
              <a:t> </a:t>
            </a:r>
            <a:r>
              <a:rPr lang="en-US" sz="2400" dirty="0" err="1"/>
              <a:t>prostorni</a:t>
            </a:r>
            <a:r>
              <a:rPr lang="en-US" sz="2400" dirty="0"/>
              <a:t> </a:t>
            </a:r>
            <a:r>
              <a:rPr lang="en-US" sz="2400" dirty="0" err="1"/>
              <a:t>planovi</a:t>
            </a:r>
            <a:r>
              <a:rPr lang="en-US" sz="2400" dirty="0"/>
              <a:t> </a:t>
            </a:r>
            <a:r>
              <a:rPr lang="en-US" sz="2400" dirty="0" err="1"/>
              <a:t>nazivamo</a:t>
            </a:r>
            <a:r>
              <a:rPr lang="en-US" sz="2400" dirty="0"/>
              <a:t> REGISTRI.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Vertikalno</a:t>
            </a:r>
            <a:r>
              <a:rPr lang="en-US" sz="2400" dirty="0"/>
              <a:t> se </a:t>
            </a:r>
            <a:r>
              <a:rPr lang="en-US" sz="2400" dirty="0" err="1"/>
              <a:t>nižu</a:t>
            </a:r>
            <a:r>
              <a:rPr lang="en-US" sz="2400" dirty="0"/>
              <a:t> </a:t>
            </a:r>
            <a:r>
              <a:rPr lang="en-US" sz="2400" dirty="0" err="1"/>
              <a:t>jedan</a:t>
            </a:r>
            <a:r>
              <a:rPr lang="en-US" sz="2400" dirty="0"/>
              <a:t> </a:t>
            </a:r>
            <a:r>
              <a:rPr lang="en-US" sz="2400" dirty="0" err="1"/>
              <a:t>iznad</a:t>
            </a:r>
            <a:r>
              <a:rPr lang="en-US" sz="2400" dirty="0"/>
              <a:t> </a:t>
            </a:r>
            <a:r>
              <a:rPr lang="en-US" sz="2400" dirty="0" err="1"/>
              <a:t>drugog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Ono </a:t>
            </a:r>
            <a:r>
              <a:rPr lang="en-US" sz="2400" dirty="0" err="1"/>
              <a:t>što</a:t>
            </a:r>
            <a:r>
              <a:rPr lang="en-US" sz="2400" dirty="0"/>
              <a:t> bi </a:t>
            </a:r>
            <a:r>
              <a:rPr lang="en-US" sz="2400" dirty="0" err="1"/>
              <a:t>trebalo</a:t>
            </a:r>
            <a:r>
              <a:rPr lang="en-US" sz="2400" dirty="0"/>
              <a:t> </a:t>
            </a:r>
            <a:r>
              <a:rPr lang="en-US" sz="2400" dirty="0" err="1"/>
              <a:t>biti</a:t>
            </a:r>
            <a:r>
              <a:rPr lang="en-US" sz="2400" dirty="0"/>
              <a:t> </a:t>
            </a:r>
            <a:r>
              <a:rPr lang="en-US" sz="2400" dirty="0" err="1"/>
              <a:t>bliže</a:t>
            </a:r>
            <a:r>
              <a:rPr lang="en-US" sz="2400" dirty="0"/>
              <a:t>, </a:t>
            </a:r>
            <a:r>
              <a:rPr lang="en-US" sz="2400" dirty="0" err="1"/>
              <a:t>nalazi</a:t>
            </a:r>
            <a:r>
              <a:rPr lang="en-US" sz="2400" dirty="0"/>
              <a:t> se u </a:t>
            </a:r>
            <a:r>
              <a:rPr lang="en-US" sz="2400" dirty="0" err="1"/>
              <a:t>donjem</a:t>
            </a:r>
            <a:r>
              <a:rPr lang="en-US" sz="2400" dirty="0"/>
              <a:t> </a:t>
            </a:r>
            <a:r>
              <a:rPr lang="en-US" sz="2400" dirty="0" err="1"/>
              <a:t>registru</a:t>
            </a:r>
            <a:r>
              <a:rPr lang="en-US" sz="2400" dirty="0"/>
              <a:t>.</a:t>
            </a:r>
            <a:endParaRPr lang="hr-HR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80060" y="689145"/>
            <a:ext cx="37376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VERTIKALNA PERSPEKTIVA</a:t>
            </a:r>
            <a:endParaRPr lang="hr-HR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17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14338" name="Picture 2" descr="Norman de Garis Davies | Craftsmen, Tomb of Nebamun and Ipuky | New Kingdom  | The Metropolitan Museum of Ar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9" y="2326302"/>
            <a:ext cx="11003280" cy="378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48356" y="6250424"/>
            <a:ext cx="6146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/>
              <a:t>Obrtnici</a:t>
            </a:r>
            <a:r>
              <a:rPr lang="en-US" dirty="0"/>
              <a:t>, </a:t>
            </a:r>
            <a:r>
              <a:rPr lang="en-US" dirty="0" err="1"/>
              <a:t>freska</a:t>
            </a:r>
            <a:r>
              <a:rPr lang="en-US" dirty="0"/>
              <a:t>, </a:t>
            </a:r>
            <a:r>
              <a:rPr lang="en-US" dirty="0" err="1"/>
              <a:t>Grobnica</a:t>
            </a:r>
            <a:r>
              <a:rPr lang="en-US" dirty="0"/>
              <a:t> </a:t>
            </a:r>
            <a:r>
              <a:rPr lang="en-US" dirty="0" err="1"/>
              <a:t>Nebamun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Ipuky</a:t>
            </a:r>
            <a:r>
              <a:rPr lang="en-US" dirty="0"/>
              <a:t>, </a:t>
            </a:r>
            <a:r>
              <a:rPr lang="en-US" dirty="0" err="1"/>
              <a:t>Egipat</a:t>
            </a:r>
            <a:r>
              <a:rPr lang="en-US" dirty="0"/>
              <a:t>, 1390. pr. Kr. 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422910" y="305070"/>
            <a:ext cx="50063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Izdvaja</a:t>
            </a:r>
            <a:r>
              <a:rPr lang="en-US" sz="2800" dirty="0"/>
              <a:t> li se </a:t>
            </a:r>
            <a:r>
              <a:rPr lang="en-US" sz="2800" dirty="0" err="1"/>
              <a:t>neki</a:t>
            </a:r>
            <a:r>
              <a:rPr lang="en-US" sz="2800" dirty="0"/>
              <a:t> </a:t>
            </a:r>
            <a:r>
              <a:rPr lang="en-US" sz="2800" dirty="0" err="1"/>
              <a:t>lik</a:t>
            </a:r>
            <a:r>
              <a:rPr lang="en-US" sz="2800" dirty="0"/>
              <a:t> od </a:t>
            </a:r>
            <a:r>
              <a:rPr lang="en-US" sz="2800" dirty="0" err="1"/>
              <a:t>ostalih</a:t>
            </a:r>
            <a:r>
              <a:rPr lang="en-US" sz="2800" dirty="0"/>
              <a:t>? Koji?</a:t>
            </a:r>
            <a:endParaRPr lang="hr-HR" sz="2800" dirty="0"/>
          </a:p>
        </p:txBody>
      </p:sp>
      <p:sp>
        <p:nvSpPr>
          <p:cNvPr id="6" name="Oval 5"/>
          <p:cNvSpPr/>
          <p:nvPr/>
        </p:nvSpPr>
        <p:spPr>
          <a:xfrm>
            <a:off x="960120" y="2644795"/>
            <a:ext cx="1485900" cy="3200400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TextBox 6"/>
          <p:cNvSpPr txBox="1"/>
          <p:nvPr/>
        </p:nvSpPr>
        <p:spPr>
          <a:xfrm>
            <a:off x="422910" y="1269519"/>
            <a:ext cx="5006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Zašto</a:t>
            </a:r>
            <a:r>
              <a:rPr lang="en-US" sz="2800" dirty="0"/>
              <a:t> je </a:t>
            </a:r>
            <a:r>
              <a:rPr lang="en-US" sz="2800" dirty="0" err="1"/>
              <a:t>tako</a:t>
            </a:r>
            <a:r>
              <a:rPr lang="en-US" sz="2800" dirty="0"/>
              <a:t> </a:t>
            </a:r>
            <a:r>
              <a:rPr lang="en-US" sz="2800" dirty="0" err="1"/>
              <a:t>prikazan</a:t>
            </a:r>
            <a:r>
              <a:rPr lang="en-US" sz="2800" dirty="0"/>
              <a:t>?</a:t>
            </a:r>
            <a:endParaRPr lang="hr-HR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332220" y="664976"/>
            <a:ext cx="5669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IKONOGRAFSKA (HIJERARHIJSKA) PERSPEKTIVA</a:t>
            </a:r>
            <a:endParaRPr lang="hr-HR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07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5362" name="Picture 2" descr="File:Santa maria tahull abside.jpg - Wikimedia Comm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114" y="443249"/>
            <a:ext cx="8169245" cy="536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55114" y="5882440"/>
            <a:ext cx="8195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Santa Maria de </a:t>
            </a:r>
            <a:r>
              <a:rPr lang="en-US" dirty="0" err="1"/>
              <a:t>Taull</a:t>
            </a:r>
            <a:r>
              <a:rPr lang="en-US" dirty="0"/>
              <a:t>, </a:t>
            </a:r>
            <a:r>
              <a:rPr lang="en-US" dirty="0" err="1"/>
              <a:t>Katalonija</a:t>
            </a:r>
            <a:r>
              <a:rPr lang="en-US" dirty="0"/>
              <a:t>, 1122.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137160" y="1821419"/>
            <a:ext cx="37179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Objasnite</a:t>
            </a:r>
            <a:r>
              <a:rPr lang="en-US" sz="2800" dirty="0"/>
              <a:t> </a:t>
            </a:r>
            <a:r>
              <a:rPr lang="en-US" sz="2800" dirty="0" err="1"/>
              <a:t>primjenu</a:t>
            </a:r>
            <a:r>
              <a:rPr lang="en-US" sz="2800" dirty="0"/>
              <a:t> </a:t>
            </a:r>
            <a:r>
              <a:rPr lang="en-US" sz="2800" dirty="0" err="1"/>
              <a:t>vertikalne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ikonografske</a:t>
            </a:r>
            <a:r>
              <a:rPr lang="en-US" sz="2800" dirty="0"/>
              <a:t> </a:t>
            </a:r>
            <a:r>
              <a:rPr lang="en-US" sz="2800" dirty="0" err="1"/>
              <a:t>perspektive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prikazanome</a:t>
            </a:r>
            <a:r>
              <a:rPr lang="en-US" sz="2800" dirty="0"/>
              <a:t> </a:t>
            </a:r>
            <a:r>
              <a:rPr lang="en-US" sz="2800" dirty="0" err="1"/>
              <a:t>primjeru</a:t>
            </a:r>
            <a:r>
              <a:rPr lang="en-US" sz="2800" dirty="0"/>
              <a:t>.</a:t>
            </a:r>
            <a:endParaRPr lang="hr-HR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37160" y="4320540"/>
            <a:ext cx="37179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Odgovor</a:t>
            </a:r>
            <a:r>
              <a:rPr lang="en-US" sz="2800" dirty="0"/>
              <a:t>: </a:t>
            </a:r>
            <a:r>
              <a:rPr lang="en-US" sz="2800" dirty="0" err="1"/>
              <a:t>Registri</a:t>
            </a:r>
            <a:r>
              <a:rPr lang="en-US" sz="2800" dirty="0"/>
              <a:t> u </a:t>
            </a:r>
            <a:r>
              <a:rPr lang="en-US" sz="2800" dirty="0" err="1"/>
              <a:t>različitim</a:t>
            </a:r>
            <a:r>
              <a:rPr lang="en-US" sz="2800" dirty="0"/>
              <a:t> </a:t>
            </a:r>
            <a:r>
              <a:rPr lang="en-US" sz="2800" dirty="0" err="1"/>
              <a:t>bojama</a:t>
            </a:r>
            <a:r>
              <a:rPr lang="en-US" sz="2800" dirty="0"/>
              <a:t> </a:t>
            </a:r>
            <a:r>
              <a:rPr lang="en-US" sz="2800" dirty="0" err="1"/>
              <a:t>naznačuju</a:t>
            </a:r>
            <a:r>
              <a:rPr lang="en-US" sz="2800" dirty="0"/>
              <a:t> </a:t>
            </a:r>
            <a:r>
              <a:rPr lang="en-US" sz="2800" dirty="0" err="1"/>
              <a:t>pejzaž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Važniji</a:t>
            </a:r>
            <a:r>
              <a:rPr lang="en-US" sz="2800" dirty="0"/>
              <a:t> </a:t>
            </a:r>
            <a:r>
              <a:rPr lang="en-US" sz="2800" dirty="0" err="1"/>
              <a:t>likovi</a:t>
            </a:r>
            <a:r>
              <a:rPr lang="en-US" sz="2800" dirty="0"/>
              <a:t> </a:t>
            </a:r>
            <a:r>
              <a:rPr lang="en-US" sz="2800" dirty="0" err="1"/>
              <a:t>su</a:t>
            </a:r>
            <a:r>
              <a:rPr lang="en-US" sz="2800" dirty="0"/>
              <a:t> </a:t>
            </a:r>
            <a:r>
              <a:rPr lang="en-US" sz="2800" dirty="0" err="1"/>
              <a:t>prikazani</a:t>
            </a:r>
            <a:r>
              <a:rPr lang="en-US" sz="2800" dirty="0"/>
              <a:t> </a:t>
            </a:r>
            <a:r>
              <a:rPr lang="en-US" sz="2800" dirty="0" err="1"/>
              <a:t>većima</a:t>
            </a:r>
            <a:r>
              <a:rPr lang="en-US" sz="2800" dirty="0"/>
              <a:t>.</a:t>
            </a:r>
            <a:endParaRPr lang="hr-HR" sz="2800" dirty="0"/>
          </a:p>
        </p:txBody>
      </p:sp>
    </p:spTree>
    <p:extLst>
      <p:ext uri="{BB962C8B-B14F-4D97-AF65-F5344CB8AC3E}">
        <p14:creationId xmlns:p14="http://schemas.microsoft.com/office/powerpoint/2010/main" val="232460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kraj</a:t>
            </a:r>
            <a:r>
              <a:rPr lang="en-US" dirty="0"/>
              <a:t>…</a:t>
            </a:r>
            <a:br>
              <a:rPr lang="en-US" dirty="0"/>
            </a:br>
            <a:br>
              <a:rPr lang="en-US" dirty="0"/>
            </a:b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 err="1"/>
              <a:t>Koje</a:t>
            </a:r>
            <a:r>
              <a:rPr lang="en-US" sz="3200" dirty="0"/>
              <a:t> </a:t>
            </a:r>
            <a:r>
              <a:rPr lang="en-US" sz="3200" dirty="0" err="1"/>
              <a:t>perspektive</a:t>
            </a:r>
            <a:r>
              <a:rPr lang="en-US" sz="3200" dirty="0"/>
              <a:t> </a:t>
            </a:r>
            <a:r>
              <a:rPr lang="en-US" sz="3200" dirty="0" err="1"/>
              <a:t>pokazuju</a:t>
            </a:r>
            <a:r>
              <a:rPr lang="en-US" sz="3200" dirty="0"/>
              <a:t> </a:t>
            </a:r>
            <a:r>
              <a:rPr lang="en-US" sz="3200" dirty="0" err="1"/>
              <a:t>htijenje</a:t>
            </a:r>
            <a:r>
              <a:rPr lang="en-US" sz="3200" dirty="0"/>
              <a:t> </a:t>
            </a:r>
            <a:r>
              <a:rPr lang="en-US" sz="3200" dirty="0" err="1"/>
              <a:t>realističnoga</a:t>
            </a:r>
            <a:r>
              <a:rPr lang="en-US" sz="3200" dirty="0"/>
              <a:t> </a:t>
            </a:r>
            <a:r>
              <a:rPr lang="en-US" sz="3200" dirty="0" err="1"/>
              <a:t>prikazivanja</a:t>
            </a:r>
            <a:r>
              <a:rPr lang="en-US" sz="3200" dirty="0"/>
              <a:t> </a:t>
            </a:r>
            <a:r>
              <a:rPr lang="en-US" sz="3200" dirty="0" err="1"/>
              <a:t>prostora</a:t>
            </a:r>
            <a:r>
              <a:rPr lang="en-US" sz="3200" dirty="0"/>
              <a:t>? (3)</a:t>
            </a:r>
          </a:p>
          <a:p>
            <a:pPr marL="514350" indent="-514350">
              <a:buAutoNum type="arabicPeriod"/>
            </a:pPr>
            <a:r>
              <a:rPr lang="en-US" sz="3200" dirty="0" err="1"/>
              <a:t>Za</a:t>
            </a:r>
            <a:r>
              <a:rPr lang="en-US" sz="3200" dirty="0"/>
              <a:t> </a:t>
            </a:r>
            <a:r>
              <a:rPr lang="en-US" sz="3200" dirty="0" err="1"/>
              <a:t>koje</a:t>
            </a:r>
            <a:r>
              <a:rPr lang="en-US" sz="3200" dirty="0"/>
              <a:t> je </a:t>
            </a:r>
            <a:r>
              <a:rPr lang="en-US" sz="3200" dirty="0" err="1"/>
              <a:t>perspektive</a:t>
            </a:r>
            <a:r>
              <a:rPr lang="en-US" sz="3200" dirty="0"/>
              <a:t> </a:t>
            </a:r>
            <a:r>
              <a:rPr lang="en-US" sz="3200" dirty="0" err="1"/>
              <a:t>karakteristično</a:t>
            </a:r>
            <a:r>
              <a:rPr lang="en-US" sz="3200" dirty="0"/>
              <a:t> </a:t>
            </a:r>
            <a:r>
              <a:rPr lang="en-US" sz="3200" dirty="0" err="1"/>
              <a:t>namjerno</a:t>
            </a:r>
            <a:r>
              <a:rPr lang="en-US" sz="3200" dirty="0"/>
              <a:t> </a:t>
            </a:r>
            <a:r>
              <a:rPr lang="en-US" sz="3200" dirty="0" err="1"/>
              <a:t>nerealistično</a:t>
            </a:r>
            <a:r>
              <a:rPr lang="en-US" sz="3200" dirty="0"/>
              <a:t> </a:t>
            </a:r>
            <a:r>
              <a:rPr lang="en-US" sz="3200" dirty="0" err="1"/>
              <a:t>prikazivanje</a:t>
            </a:r>
            <a:r>
              <a:rPr lang="en-US" sz="3200" dirty="0"/>
              <a:t> </a:t>
            </a:r>
            <a:r>
              <a:rPr lang="en-US" sz="3200" dirty="0" err="1"/>
              <a:t>prostora</a:t>
            </a:r>
            <a:r>
              <a:rPr lang="en-US" sz="3200" dirty="0"/>
              <a:t>? (2)</a:t>
            </a:r>
          </a:p>
          <a:p>
            <a:pPr marL="514350" indent="-514350">
              <a:buAutoNum type="arabicPeriod"/>
            </a:pPr>
            <a:r>
              <a:rPr lang="en-US" sz="3200" dirty="0" err="1"/>
              <a:t>Koja</a:t>
            </a:r>
            <a:r>
              <a:rPr lang="en-US" sz="3200" dirty="0"/>
              <a:t> </a:t>
            </a:r>
            <a:r>
              <a:rPr lang="en-US" sz="3200" dirty="0" err="1"/>
              <a:t>perspektiva</a:t>
            </a:r>
            <a:r>
              <a:rPr lang="en-US" sz="3200" dirty="0"/>
              <a:t> </a:t>
            </a:r>
            <a:r>
              <a:rPr lang="en-US" sz="3200" dirty="0" err="1"/>
              <a:t>uopće</a:t>
            </a:r>
            <a:r>
              <a:rPr lang="en-US" sz="3200" dirty="0"/>
              <a:t> ne </a:t>
            </a:r>
            <a:r>
              <a:rPr lang="en-US" sz="3200" dirty="0" err="1"/>
              <a:t>rješava</a:t>
            </a:r>
            <a:r>
              <a:rPr lang="en-US" sz="3200" dirty="0"/>
              <a:t> </a:t>
            </a:r>
            <a:r>
              <a:rPr lang="en-US" sz="3200" dirty="0" err="1"/>
              <a:t>prostorne</a:t>
            </a:r>
            <a:r>
              <a:rPr lang="en-US" sz="3200" dirty="0"/>
              <a:t> </a:t>
            </a:r>
            <a:r>
              <a:rPr lang="en-US" sz="3200" dirty="0" err="1"/>
              <a:t>odnose</a:t>
            </a:r>
            <a:r>
              <a:rPr lang="en-US" sz="3200" dirty="0"/>
              <a:t>? (1)</a:t>
            </a: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280049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678</Words>
  <Application>Microsoft Office PowerPoint</Application>
  <PresentationFormat>Široki zaslon</PresentationFormat>
  <Paragraphs>119</Paragraphs>
  <Slides>29</Slides>
  <Notes>1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VRSTE PERSPEKTIVA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Zadatak </vt:lpstr>
      <vt:lpstr>PowerPoint prezentacija</vt:lpstr>
      <vt:lpstr>PowerPoint prezentacija</vt:lpstr>
      <vt:lpstr>Promotrimo pažljivo ovu reprodukciju</vt:lpstr>
      <vt:lpstr>Zadatak: </vt:lpstr>
      <vt:lpstr>PowerPoint prezentacija</vt:lpstr>
      <vt:lpstr>PowerPoint prezentacija</vt:lpstr>
      <vt:lpstr>Ispunite tablicu</vt:lpstr>
      <vt:lpstr>    Koji detalj prikazuje najbliži, a koji najdalji plan?</vt:lpstr>
      <vt:lpstr>PowerPoint prezentacija</vt:lpstr>
      <vt:lpstr>Promotrite! Koje boje prevladavaju na prikazanim detaljima? Koji isječak prikazuje bliži, a koji dalji plan? Zašto tako mislite? Usporedite obrise i kontraste. </vt:lpstr>
      <vt:lpstr>PowerPoint prezentacija</vt:lpstr>
      <vt:lpstr>Zadatak: izradite Vennov dijagram u kojemu ćete usporediti atmosfersku i kolorističku perspektivu.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I za kraj…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VRSTE PERSPEKTIVA</dc:title>
  <dc:creator>Maja Bachler</dc:creator>
  <cp:lastModifiedBy>Korisnik</cp:lastModifiedBy>
  <cp:revision>40</cp:revision>
  <dcterms:created xsi:type="dcterms:W3CDTF">2020-12-17T18:42:33Z</dcterms:created>
  <dcterms:modified xsi:type="dcterms:W3CDTF">2025-01-10T08:28:39Z</dcterms:modified>
</cp:coreProperties>
</file>