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83" r:id="rId5"/>
    <p:sldId id="284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58" r:id="rId17"/>
    <p:sldId id="259" r:id="rId18"/>
    <p:sldId id="261" r:id="rId19"/>
    <p:sldId id="263" r:id="rId20"/>
    <p:sldId id="262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9" r:id="rId33"/>
    <p:sldId id="277" r:id="rId34"/>
    <p:sldId id="297" r:id="rId35"/>
    <p:sldId id="298" r:id="rId36"/>
    <p:sldId id="296" r:id="rId37"/>
    <p:sldId id="280" r:id="rId38"/>
    <p:sldId id="281" r:id="rId39"/>
    <p:sldId id="282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3" autoAdjust="0"/>
    <p:restoredTop sz="94660"/>
  </p:normalViewPr>
  <p:slideViewPr>
    <p:cSldViewPr snapToGrid="0">
      <p:cViewPr>
        <p:scale>
          <a:sx n="99" d="100"/>
          <a:sy n="99" d="100"/>
        </p:scale>
        <p:origin x="14" y="-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CA3B-7B54-4D93-8A36-880B2A5F7DDE}" type="datetimeFigureOut">
              <a:rPr lang="hr-HR" smtClean="0"/>
              <a:t>13.3.2025.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C5B8-F164-42ED-B52B-000CA4CFBA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08511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CA3B-7B54-4D93-8A36-880B2A5F7DDE}" type="datetimeFigureOut">
              <a:rPr lang="hr-HR" smtClean="0"/>
              <a:t>13.3.2025.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C5B8-F164-42ED-B52B-000CA4CFBA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40479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CA3B-7B54-4D93-8A36-880B2A5F7DDE}" type="datetimeFigureOut">
              <a:rPr lang="hr-HR" smtClean="0"/>
              <a:t>13.3.2025.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C5B8-F164-42ED-B52B-000CA4CFBA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30763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CA3B-7B54-4D93-8A36-880B2A5F7DDE}" type="datetimeFigureOut">
              <a:rPr lang="hr-HR" smtClean="0"/>
              <a:t>13.3.2025.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C5B8-F164-42ED-B52B-000CA4CFBA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13654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CA3B-7B54-4D93-8A36-880B2A5F7DDE}" type="datetimeFigureOut">
              <a:rPr lang="hr-HR" smtClean="0"/>
              <a:t>13.3.2025.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C5B8-F164-42ED-B52B-000CA4CFBA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7019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CA3B-7B54-4D93-8A36-880B2A5F7DDE}" type="datetimeFigureOut">
              <a:rPr lang="hr-HR" smtClean="0"/>
              <a:t>13.3.2025.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C5B8-F164-42ED-B52B-000CA4CFBA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09499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CA3B-7B54-4D93-8A36-880B2A5F7DDE}" type="datetimeFigureOut">
              <a:rPr lang="hr-HR" smtClean="0"/>
              <a:t>13.3.2025.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C5B8-F164-42ED-B52B-000CA4CFBA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9160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CA3B-7B54-4D93-8A36-880B2A5F7DDE}" type="datetimeFigureOut">
              <a:rPr lang="hr-HR" smtClean="0"/>
              <a:t>13.3.2025.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C5B8-F164-42ED-B52B-000CA4CFBA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3183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CA3B-7B54-4D93-8A36-880B2A5F7DDE}" type="datetimeFigureOut">
              <a:rPr lang="hr-HR" smtClean="0"/>
              <a:t>13.3.2025.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C5B8-F164-42ED-B52B-000CA4CFBA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07318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CA3B-7B54-4D93-8A36-880B2A5F7DDE}" type="datetimeFigureOut">
              <a:rPr lang="hr-HR" smtClean="0"/>
              <a:t>13.3.2025.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C5B8-F164-42ED-B52B-000CA4CFBA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93284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CA3B-7B54-4D93-8A36-880B2A5F7DDE}" type="datetimeFigureOut">
              <a:rPr lang="hr-HR" smtClean="0"/>
              <a:t>13.3.2025.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C5B8-F164-42ED-B52B-000CA4CFBA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48527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ECA3B-7B54-4D93-8A36-880B2A5F7DDE}" type="datetimeFigureOut">
              <a:rPr lang="hr-HR" smtClean="0"/>
              <a:t>13.3.2025.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9C5B8-F164-42ED-B52B-000CA4CFBA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4886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026" name="Picture 2" descr="Image result for annunciation fra angelico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5967" y="775065"/>
            <a:ext cx="7100065" cy="493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34856" y="5845215"/>
            <a:ext cx="7153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Fra Angelico, </a:t>
            </a:r>
            <a:r>
              <a:rPr lang="en-US" i="1" dirty="0" err="1"/>
              <a:t>Navještenje</a:t>
            </a:r>
            <a:r>
              <a:rPr lang="en-US" dirty="0"/>
              <a:t>, 1437.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2291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IKONOGRAFIJA I IKONOLOGIJA</a:t>
            </a:r>
            <a:endParaRPr lang="hr-H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40392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IKONOGRAFIJA – </a:t>
            </a:r>
            <a:r>
              <a:rPr lang="en-US" dirty="0" err="1"/>
              <a:t>bavi</a:t>
            </a:r>
            <a:r>
              <a:rPr lang="en-US" dirty="0"/>
              <a:t> se </a:t>
            </a:r>
            <a:r>
              <a:rPr lang="en-US" dirty="0" err="1"/>
              <a:t>temom</a:t>
            </a:r>
            <a:r>
              <a:rPr lang="en-US" dirty="0"/>
              <a:t> </a:t>
            </a:r>
            <a:r>
              <a:rPr lang="en-US" dirty="0" err="1"/>
              <a:t>djela</a:t>
            </a:r>
            <a:r>
              <a:rPr lang="en-US" dirty="0"/>
              <a:t>, </a:t>
            </a:r>
            <a:r>
              <a:rPr lang="en-US" dirty="0" err="1"/>
              <a:t>simbolima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prikazom</a:t>
            </a:r>
            <a:r>
              <a:rPr lang="en-US" dirty="0"/>
              <a:t> </a:t>
            </a:r>
            <a:r>
              <a:rPr lang="en-US" dirty="0" err="1"/>
              <a:t>materijalnih</a:t>
            </a:r>
            <a:r>
              <a:rPr lang="en-US" dirty="0"/>
              <a:t> </a:t>
            </a:r>
            <a:r>
              <a:rPr lang="en-US" dirty="0" err="1"/>
              <a:t>pojedinosti</a:t>
            </a:r>
            <a:r>
              <a:rPr lang="en-US" dirty="0"/>
              <a:t>, </a:t>
            </a:r>
            <a:r>
              <a:rPr lang="en-US" dirty="0" err="1"/>
              <a:t>odnosno</a:t>
            </a:r>
            <a:r>
              <a:rPr lang="en-US" dirty="0"/>
              <a:t> </a:t>
            </a:r>
            <a:r>
              <a:rPr lang="en-US" dirty="0" err="1"/>
              <a:t>nelikovnim</a:t>
            </a:r>
            <a:r>
              <a:rPr lang="en-US" dirty="0"/>
              <a:t> </a:t>
            </a:r>
            <a:r>
              <a:rPr lang="en-US" dirty="0" err="1"/>
              <a:t>elementima</a:t>
            </a:r>
            <a:r>
              <a:rPr lang="en-US" dirty="0"/>
              <a:t> </a:t>
            </a:r>
            <a:r>
              <a:rPr lang="en-US" dirty="0" err="1"/>
              <a:t>likovnoga</a:t>
            </a:r>
            <a:r>
              <a:rPr lang="en-US" dirty="0"/>
              <a:t> </a:t>
            </a:r>
            <a:r>
              <a:rPr lang="en-US" dirty="0" err="1"/>
              <a:t>djela</a:t>
            </a:r>
            <a:r>
              <a:rPr lang="en-US" dirty="0"/>
              <a:t>. </a:t>
            </a:r>
            <a:r>
              <a:rPr lang="en-US" dirty="0" err="1"/>
              <a:t>Odgovara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pitanje</a:t>
            </a:r>
            <a:r>
              <a:rPr lang="pl-PL" dirty="0"/>
              <a:t>"tko je tko" i "što je što" na likovnom djelu</a:t>
            </a:r>
            <a:endParaRPr lang="en-US" dirty="0"/>
          </a:p>
          <a:p>
            <a:endParaRPr lang="en-US" dirty="0"/>
          </a:p>
          <a:p>
            <a:r>
              <a:rPr lang="en-US" dirty="0"/>
              <a:t>IKONOLOGIJA -  je </a:t>
            </a:r>
            <a:r>
              <a:rPr lang="en-US" dirty="0" err="1"/>
              <a:t>znanost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se </a:t>
            </a:r>
            <a:r>
              <a:rPr lang="en-US" dirty="0" err="1"/>
              <a:t>bavi</a:t>
            </a:r>
            <a:r>
              <a:rPr lang="en-US" dirty="0"/>
              <a:t> </a:t>
            </a:r>
            <a:r>
              <a:rPr lang="en-US" dirty="0" err="1"/>
              <a:t>tumačenjem</a:t>
            </a:r>
            <a:r>
              <a:rPr lang="en-US" dirty="0"/>
              <a:t> </a:t>
            </a:r>
            <a:r>
              <a:rPr lang="en-US" dirty="0" err="1"/>
              <a:t>smisla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značenja</a:t>
            </a:r>
            <a:r>
              <a:rPr lang="en-US" dirty="0"/>
              <a:t> </a:t>
            </a:r>
            <a:r>
              <a:rPr lang="en-US" dirty="0" err="1"/>
              <a:t>likovnog</a:t>
            </a:r>
            <a:r>
              <a:rPr lang="en-US" dirty="0"/>
              <a:t> </a:t>
            </a:r>
            <a:r>
              <a:rPr lang="en-US" dirty="0" err="1"/>
              <a:t>djela</a:t>
            </a:r>
            <a:r>
              <a:rPr lang="en-US" dirty="0"/>
              <a:t>. To je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kojom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temelju</a:t>
            </a:r>
            <a:r>
              <a:rPr lang="en-US" dirty="0"/>
              <a:t> </a:t>
            </a:r>
            <a:r>
              <a:rPr lang="en-US" dirty="0" err="1"/>
              <a:t>ikonografskih</a:t>
            </a:r>
            <a:r>
              <a:rPr lang="en-US" dirty="0"/>
              <a:t> </a:t>
            </a:r>
            <a:r>
              <a:rPr lang="en-US" dirty="0" err="1"/>
              <a:t>tumačenja</a:t>
            </a:r>
            <a:r>
              <a:rPr lang="en-US" dirty="0"/>
              <a:t> </a:t>
            </a:r>
            <a:r>
              <a:rPr lang="en-US" dirty="0" err="1"/>
              <a:t>utvrđuje</a:t>
            </a:r>
            <a:r>
              <a:rPr lang="en-US" dirty="0"/>
              <a:t> </a:t>
            </a:r>
            <a:r>
              <a:rPr lang="en-US" dirty="0" err="1"/>
              <a:t>povezanost</a:t>
            </a:r>
            <a:r>
              <a:rPr lang="en-US" dirty="0"/>
              <a:t> </a:t>
            </a:r>
            <a:r>
              <a:rPr lang="en-US" dirty="0" err="1"/>
              <a:t>motiva</a:t>
            </a:r>
            <a:r>
              <a:rPr lang="en-US" dirty="0"/>
              <a:t> u </a:t>
            </a:r>
            <a:r>
              <a:rPr lang="en-US" dirty="0" err="1"/>
              <a:t>umjetničkom</a:t>
            </a:r>
            <a:r>
              <a:rPr lang="en-US" dirty="0"/>
              <a:t> </a:t>
            </a:r>
            <a:r>
              <a:rPr lang="en-US" dirty="0" err="1"/>
              <a:t>djelu</a:t>
            </a:r>
            <a:r>
              <a:rPr lang="en-US" dirty="0"/>
              <a:t>. 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52223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146" y="365125"/>
            <a:ext cx="4249648" cy="5762234"/>
          </a:xfrm>
        </p:spPr>
      </p:pic>
      <p:sp>
        <p:nvSpPr>
          <p:cNvPr id="5" name="TextBox 4"/>
          <p:cNvSpPr txBox="1"/>
          <p:nvPr/>
        </p:nvSpPr>
        <p:spPr>
          <a:xfrm>
            <a:off x="2406869" y="6243145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Andrea Mantegna, </a:t>
            </a:r>
            <a:r>
              <a:rPr lang="en-US" i="1" dirty="0" err="1"/>
              <a:t>Sv</a:t>
            </a:r>
            <a:r>
              <a:rPr lang="en-US" i="1" dirty="0"/>
              <a:t>. </a:t>
            </a:r>
            <a:r>
              <a:rPr lang="en-US" i="1" dirty="0" err="1"/>
              <a:t>Sebastijan</a:t>
            </a:r>
            <a:r>
              <a:rPr lang="en-US" dirty="0"/>
              <a:t>, 1480.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21311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028" name="Picture 4" descr="https://upload.wikimedia.org/wikipedia/commons/thumb/c/cb/Josse_Lieferinxe_-_Saint_Sebastian_Interceding_for_the_Plague_Stricken_-_Walters_371995.jpg/800px-Josse_Lieferinxe_-_Saint_Sebastian_Interceding_for_the_Plague_Stricken_-_Walters_371995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331" y="235765"/>
            <a:ext cx="3899338" cy="5814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132083" y="6190593"/>
            <a:ext cx="5927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Josse</a:t>
            </a:r>
            <a:r>
              <a:rPr lang="en-US" dirty="0"/>
              <a:t> </a:t>
            </a:r>
            <a:r>
              <a:rPr lang="en-US" dirty="0" err="1"/>
              <a:t>Lieferinxe</a:t>
            </a:r>
            <a:r>
              <a:rPr lang="en-US" dirty="0"/>
              <a:t>, </a:t>
            </a:r>
            <a:r>
              <a:rPr lang="en-US" i="1" dirty="0" err="1"/>
              <a:t>Sv</a:t>
            </a:r>
            <a:r>
              <a:rPr lang="en-US" i="1" dirty="0"/>
              <a:t>. </a:t>
            </a:r>
            <a:r>
              <a:rPr lang="en-US" i="1" dirty="0" err="1"/>
              <a:t>Sebastijan</a:t>
            </a:r>
            <a:r>
              <a:rPr lang="en-US" i="1" dirty="0"/>
              <a:t> </a:t>
            </a:r>
            <a:r>
              <a:rPr lang="en-US" i="1" dirty="0" err="1"/>
              <a:t>pomaže</a:t>
            </a:r>
            <a:r>
              <a:rPr lang="en-US" i="1" dirty="0"/>
              <a:t> </a:t>
            </a:r>
            <a:r>
              <a:rPr lang="en-US" i="1" dirty="0" err="1"/>
              <a:t>pogođenima</a:t>
            </a:r>
            <a:r>
              <a:rPr lang="en-US" i="1" dirty="0"/>
              <a:t> </a:t>
            </a:r>
            <a:r>
              <a:rPr lang="en-US" i="1" dirty="0" err="1"/>
              <a:t>kugom</a:t>
            </a:r>
            <a:r>
              <a:rPr lang="en-US" dirty="0"/>
              <a:t>, 1497.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44604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3074" name="Picture 2" descr="Image result for muhammad ali st sebastia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550" y="224037"/>
            <a:ext cx="4792900" cy="5863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988527" y="6144322"/>
            <a:ext cx="6200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Carl Fischer, </a:t>
            </a:r>
            <a:r>
              <a:rPr lang="en-US" i="1" dirty="0"/>
              <a:t>Muhammad Ali </a:t>
            </a:r>
            <a:r>
              <a:rPr lang="en-US" i="1" dirty="0" err="1"/>
              <a:t>kao</a:t>
            </a:r>
            <a:r>
              <a:rPr lang="en-US" i="1" dirty="0"/>
              <a:t> </a:t>
            </a:r>
            <a:r>
              <a:rPr lang="en-US" i="1" dirty="0" err="1"/>
              <a:t>Sv</a:t>
            </a:r>
            <a:r>
              <a:rPr lang="en-US" i="1" dirty="0"/>
              <a:t>. </a:t>
            </a:r>
            <a:r>
              <a:rPr lang="en-US" i="1" dirty="0" err="1"/>
              <a:t>Sebastijan</a:t>
            </a:r>
            <a:r>
              <a:rPr lang="en-US" dirty="0"/>
              <a:t>, 1967.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05614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098" name="Picture 2" descr="Image result for kazimir malevich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803" y="511446"/>
            <a:ext cx="5204393" cy="5197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865863" y="5977054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Kazimir</a:t>
            </a:r>
            <a:r>
              <a:rPr lang="en-US" dirty="0"/>
              <a:t> Malevich, </a:t>
            </a:r>
            <a:r>
              <a:rPr lang="en-US" i="1" dirty="0" err="1"/>
              <a:t>Crni</a:t>
            </a:r>
            <a:r>
              <a:rPr lang="en-US" i="1" dirty="0"/>
              <a:t> </a:t>
            </a:r>
            <a:r>
              <a:rPr lang="en-US" i="1" dirty="0" err="1"/>
              <a:t>kvadrat</a:t>
            </a:r>
            <a:r>
              <a:rPr lang="en-US" dirty="0"/>
              <a:t>, 1913.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23012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“In 1913, trying desperately to free art from the weight of the real world, I took refuge in the form of the square.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Up until then there were no attempts at painting as such, without any attributes of real life… Painting was aesthetic side of a thing, but never was original and an end in itself.” 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37253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5122" name="Picture 2" descr="Related imag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538" y="599794"/>
            <a:ext cx="7082924" cy="546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410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6146" name="Picture 2" descr="Image result for vasili maximov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962" y="255747"/>
            <a:ext cx="7176075" cy="568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873405" y="6155473"/>
            <a:ext cx="8396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Vasili</a:t>
            </a:r>
            <a:r>
              <a:rPr lang="en-US" dirty="0"/>
              <a:t> </a:t>
            </a:r>
            <a:r>
              <a:rPr lang="en-US" dirty="0" err="1"/>
              <a:t>Maximov</a:t>
            </a:r>
            <a:r>
              <a:rPr lang="en-US" dirty="0"/>
              <a:t>, </a:t>
            </a:r>
            <a:r>
              <a:rPr lang="en-US" i="1" dirty="0" err="1"/>
              <a:t>Bolesnik</a:t>
            </a:r>
            <a:r>
              <a:rPr lang="en-US" dirty="0"/>
              <a:t>, 1881,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58621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419" y="598768"/>
            <a:ext cx="7723161" cy="5767765"/>
          </a:xfrm>
        </p:spPr>
      </p:pic>
    </p:spTree>
    <p:extLst>
      <p:ext uri="{BB962C8B-B14F-4D97-AF65-F5344CB8AC3E}">
        <p14:creationId xmlns:p14="http://schemas.microsoft.com/office/powerpoint/2010/main" val="814976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131" y="215087"/>
            <a:ext cx="9935737" cy="6270802"/>
          </a:xfrm>
        </p:spPr>
      </p:pic>
    </p:spTree>
    <p:extLst>
      <p:ext uri="{BB962C8B-B14F-4D97-AF65-F5344CB8AC3E}">
        <p14:creationId xmlns:p14="http://schemas.microsoft.com/office/powerpoint/2010/main" val="3345094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43" y="591015"/>
            <a:ext cx="10485557" cy="5898605"/>
          </a:xfrm>
        </p:spPr>
      </p:pic>
    </p:spTree>
    <p:extLst>
      <p:ext uri="{BB962C8B-B14F-4D97-AF65-F5344CB8AC3E}">
        <p14:creationId xmlns:p14="http://schemas.microsoft.com/office/powerpoint/2010/main" val="3703639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17" y="554695"/>
            <a:ext cx="10549366" cy="5934501"/>
          </a:xfrm>
        </p:spPr>
      </p:pic>
    </p:spTree>
    <p:extLst>
      <p:ext uri="{BB962C8B-B14F-4D97-AF65-F5344CB8AC3E}">
        <p14:creationId xmlns:p14="http://schemas.microsoft.com/office/powerpoint/2010/main" val="2709256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046"/>
            <a:ext cx="10374630" cy="676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289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BIBLIJA – </a:t>
            </a:r>
            <a:r>
              <a:rPr lang="en-US" dirty="0" err="1"/>
              <a:t>izvor</a:t>
            </a:r>
            <a:r>
              <a:rPr lang="en-US" dirty="0"/>
              <a:t> </a:t>
            </a:r>
            <a:r>
              <a:rPr lang="en-US" dirty="0" err="1"/>
              <a:t>tema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umjetnici</a:t>
            </a:r>
            <a:r>
              <a:rPr lang="en-US" dirty="0"/>
              <a:t> </a:t>
            </a:r>
            <a:r>
              <a:rPr lang="en-US" dirty="0" err="1"/>
              <a:t>koristili</a:t>
            </a:r>
            <a:r>
              <a:rPr lang="en-US" dirty="0"/>
              <a:t> u </a:t>
            </a:r>
            <a:r>
              <a:rPr lang="en-US" dirty="0" err="1"/>
              <a:t>svojim</a:t>
            </a:r>
            <a:r>
              <a:rPr lang="en-US" dirty="0"/>
              <a:t> </a:t>
            </a:r>
            <a:r>
              <a:rPr lang="en-US" dirty="0" err="1"/>
              <a:t>radovima</a:t>
            </a:r>
            <a:endParaRPr lang="en-US" dirty="0"/>
          </a:p>
          <a:p>
            <a:endParaRPr lang="en-US" dirty="0"/>
          </a:p>
          <a:p>
            <a:r>
              <a:rPr lang="en-US" dirty="0"/>
              <a:t>IKONOGRAFSKE NORME</a:t>
            </a:r>
          </a:p>
          <a:p>
            <a:endParaRPr lang="en-US" dirty="0"/>
          </a:p>
          <a:p>
            <a:r>
              <a:rPr lang="en-US" dirty="0"/>
              <a:t>SREDNJOVJEKOVNA UMJETNOST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51759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Odnosi</a:t>
            </a:r>
            <a:r>
              <a:rPr lang="en-US" sz="3200" dirty="0"/>
              <a:t> </a:t>
            </a:r>
            <a:r>
              <a:rPr lang="en-US" sz="3200" dirty="0" err="1"/>
              <a:t>riječi</a:t>
            </a:r>
            <a:r>
              <a:rPr lang="en-US" sz="3200" dirty="0"/>
              <a:t> </a:t>
            </a:r>
            <a:r>
              <a:rPr lang="en-US" sz="3200" dirty="0" err="1"/>
              <a:t>i</a:t>
            </a:r>
            <a:r>
              <a:rPr lang="en-US" sz="3200" dirty="0"/>
              <a:t> </a:t>
            </a:r>
            <a:r>
              <a:rPr lang="en-US" sz="3200" dirty="0" err="1"/>
              <a:t>slike</a:t>
            </a:r>
            <a:r>
              <a:rPr lang="en-US" sz="3200" dirty="0"/>
              <a:t>:</a:t>
            </a:r>
            <a:endParaRPr lang="hr-H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SUKLADNA INTERPRETACIJA – ono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napisano</a:t>
            </a:r>
            <a:r>
              <a:rPr lang="en-US" dirty="0"/>
              <a:t> </a:t>
            </a:r>
            <a:r>
              <a:rPr lang="en-US" dirty="0" err="1"/>
              <a:t>preneseno</a:t>
            </a:r>
            <a:r>
              <a:rPr lang="en-US" dirty="0"/>
              <a:t> je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adekvatan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slici</a:t>
            </a:r>
            <a:endParaRPr lang="en-US" dirty="0"/>
          </a:p>
          <a:p>
            <a:endParaRPr lang="en-US" dirty="0"/>
          </a:p>
          <a:p>
            <a:r>
              <a:rPr lang="en-US" dirty="0"/>
              <a:t>DOSLOVNA INTERPRETACIJA – </a:t>
            </a:r>
            <a:r>
              <a:rPr lang="en-US" dirty="0" err="1"/>
              <a:t>umjetnik</a:t>
            </a:r>
            <a:r>
              <a:rPr lang="en-US" dirty="0"/>
              <a:t> se </a:t>
            </a:r>
            <a:r>
              <a:rPr lang="en-US" dirty="0" err="1"/>
              <a:t>ropski</a:t>
            </a:r>
            <a:r>
              <a:rPr lang="en-US" dirty="0"/>
              <a:t> </a:t>
            </a:r>
            <a:r>
              <a:rPr lang="en-US" dirty="0" err="1"/>
              <a:t>drži</a:t>
            </a:r>
            <a:r>
              <a:rPr lang="en-US" dirty="0"/>
              <a:t> </a:t>
            </a:r>
            <a:r>
              <a:rPr lang="en-US" dirty="0" err="1"/>
              <a:t>riječi</a:t>
            </a:r>
            <a:r>
              <a:rPr lang="en-US" dirty="0"/>
              <a:t> </a:t>
            </a:r>
            <a:r>
              <a:rPr lang="en-US" dirty="0" err="1"/>
              <a:t>teksta</a:t>
            </a:r>
            <a:r>
              <a:rPr lang="en-US" dirty="0"/>
              <a:t> ne </a:t>
            </a:r>
            <a:r>
              <a:rPr lang="en-US" dirty="0" err="1"/>
              <a:t>želeći</a:t>
            </a:r>
            <a:r>
              <a:rPr lang="en-US" dirty="0"/>
              <a:t> </a:t>
            </a:r>
            <a:r>
              <a:rPr lang="en-US" dirty="0" err="1"/>
              <a:t>shvatiti</a:t>
            </a:r>
            <a:r>
              <a:rPr lang="en-US" dirty="0"/>
              <a:t> </a:t>
            </a:r>
            <a:r>
              <a:rPr lang="en-US" dirty="0" err="1"/>
              <a:t>pravo</a:t>
            </a:r>
            <a:r>
              <a:rPr lang="en-US" dirty="0"/>
              <a:t> </a:t>
            </a:r>
            <a:r>
              <a:rPr lang="en-US" dirty="0" err="1"/>
              <a:t>značenje</a:t>
            </a:r>
            <a:endParaRPr lang="en-US" dirty="0"/>
          </a:p>
          <a:p>
            <a:endParaRPr lang="en-US" dirty="0"/>
          </a:p>
          <a:p>
            <a:r>
              <a:rPr lang="en-US" dirty="0"/>
              <a:t>SLOBODNI PRIJEVOD – </a:t>
            </a:r>
            <a:r>
              <a:rPr lang="en-US" dirty="0" err="1"/>
              <a:t>likovna</a:t>
            </a:r>
            <a:r>
              <a:rPr lang="en-US" dirty="0"/>
              <a:t> </a:t>
            </a:r>
            <a:r>
              <a:rPr lang="en-US" dirty="0" err="1"/>
              <a:t>interpretacija</a:t>
            </a:r>
            <a:r>
              <a:rPr lang="en-US" dirty="0"/>
              <a:t> </a:t>
            </a:r>
            <a:r>
              <a:rPr lang="en-US" dirty="0" err="1"/>
              <a:t>daje</a:t>
            </a:r>
            <a:r>
              <a:rPr lang="en-US" dirty="0"/>
              <a:t> novo </a:t>
            </a:r>
            <a:r>
              <a:rPr lang="en-US" dirty="0" err="1"/>
              <a:t>značenje</a:t>
            </a:r>
            <a:r>
              <a:rPr lang="en-US" dirty="0"/>
              <a:t>, </a:t>
            </a:r>
            <a:r>
              <a:rPr lang="en-US" dirty="0" err="1"/>
              <a:t>ponekad</a:t>
            </a:r>
            <a:r>
              <a:rPr lang="en-US" dirty="0"/>
              <a:t> </a:t>
            </a:r>
            <a:r>
              <a:rPr lang="en-US" dirty="0" err="1"/>
              <a:t>drukčije</a:t>
            </a:r>
            <a:r>
              <a:rPr lang="en-US" dirty="0"/>
              <a:t> od </a:t>
            </a:r>
            <a:r>
              <a:rPr lang="en-US" dirty="0" err="1"/>
              <a:t>značenja</a:t>
            </a:r>
            <a:r>
              <a:rPr lang="en-US" dirty="0"/>
              <a:t> </a:t>
            </a:r>
            <a:r>
              <a:rPr lang="en-US" dirty="0" err="1"/>
              <a:t>teksta</a:t>
            </a:r>
            <a:endParaRPr lang="en-US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022365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177" y="82565"/>
            <a:ext cx="10515600" cy="69293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SUKLADNA INTERPRETACIJA</a:t>
            </a:r>
            <a:endParaRPr lang="hr-HR" sz="2800" b="1" dirty="0"/>
          </a:p>
        </p:txBody>
      </p:sp>
      <p:pic>
        <p:nvPicPr>
          <p:cNvPr id="2050" name="Picture 2" descr="Image result for michelangelo last judgmen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697" y="775504"/>
            <a:ext cx="4682559" cy="515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634451" y="6088284"/>
            <a:ext cx="4780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Michelangelo, </a:t>
            </a:r>
            <a:r>
              <a:rPr lang="en-US" i="1" dirty="0" err="1"/>
              <a:t>Posljednji</a:t>
            </a:r>
            <a:r>
              <a:rPr lang="en-US" i="1" dirty="0"/>
              <a:t> </a:t>
            </a:r>
            <a:r>
              <a:rPr lang="en-US" i="1" dirty="0" err="1"/>
              <a:t>sud</a:t>
            </a:r>
            <a:r>
              <a:rPr lang="en-US" dirty="0"/>
              <a:t>, 1536.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732319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671331"/>
            <a:ext cx="10515600" cy="2362020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DOSLOVNA INTERPRETACIJA</a:t>
            </a:r>
            <a:endParaRPr lang="hr-HR" sz="2800" dirty="0"/>
          </a:p>
        </p:txBody>
      </p:sp>
      <p:pic>
        <p:nvPicPr>
          <p:cNvPr id="4098" name="Picture 2" descr="Image result for ST JOHN DURER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489" y="806595"/>
            <a:ext cx="4085021" cy="545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20992" y="6366076"/>
            <a:ext cx="6296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Albrecht Durer, </a:t>
            </a:r>
            <a:r>
              <a:rPr lang="en-US" i="1" dirty="0" err="1"/>
              <a:t>Apokalipsa</a:t>
            </a:r>
            <a:r>
              <a:rPr lang="en-US" i="1" dirty="0"/>
              <a:t>: </a:t>
            </a:r>
            <a:r>
              <a:rPr lang="en-US" i="1" dirty="0" err="1"/>
              <a:t>Sv</a:t>
            </a:r>
            <a:r>
              <a:rPr lang="en-US" i="1" dirty="0"/>
              <a:t>. Ivan “</a:t>
            </a:r>
            <a:r>
              <a:rPr lang="en-US" i="1" dirty="0" err="1"/>
              <a:t>guta</a:t>
            </a:r>
            <a:r>
              <a:rPr lang="en-US" i="1" dirty="0"/>
              <a:t>” </a:t>
            </a:r>
            <a:r>
              <a:rPr lang="en-US" i="1" dirty="0" err="1"/>
              <a:t>knjigu</a:t>
            </a:r>
            <a:r>
              <a:rPr lang="en-US" dirty="0"/>
              <a:t>, 1498.</a:t>
            </a:r>
          </a:p>
        </p:txBody>
      </p:sp>
    </p:spTree>
    <p:extLst>
      <p:ext uri="{BB962C8B-B14F-4D97-AF65-F5344CB8AC3E}">
        <p14:creationId xmlns:p14="http://schemas.microsoft.com/office/powerpoint/2010/main" val="4168940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SLOBODNI PRIJEVOD</a:t>
            </a:r>
            <a:endParaRPr lang="hr-HR" sz="3200" dirty="0"/>
          </a:p>
        </p:txBody>
      </p:sp>
      <p:pic>
        <p:nvPicPr>
          <p:cNvPr id="3074" name="Picture 2" descr="Creación de Adán (Miguel Ángel)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430" y="1598090"/>
            <a:ext cx="9329140" cy="423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423686" y="5972537"/>
            <a:ext cx="9375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Michelangelo, </a:t>
            </a:r>
            <a:r>
              <a:rPr lang="en-US" i="1" dirty="0" err="1"/>
              <a:t>Stvaranje</a:t>
            </a:r>
            <a:r>
              <a:rPr lang="en-US" i="1" dirty="0"/>
              <a:t> </a:t>
            </a:r>
            <a:r>
              <a:rPr lang="en-US" i="1" dirty="0" err="1"/>
              <a:t>Adama</a:t>
            </a:r>
            <a:r>
              <a:rPr lang="en-US" dirty="0"/>
              <a:t>, 1512.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907137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IKONOGRAFSKA TOPOGRAFIJA</a:t>
            </a:r>
            <a:endParaRPr lang="hr-H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dirty="0" err="1"/>
              <a:t>Položaj</a:t>
            </a:r>
            <a:r>
              <a:rPr lang="en-US" dirty="0"/>
              <a:t> </a:t>
            </a:r>
            <a:r>
              <a:rPr lang="en-US" dirty="0" err="1"/>
              <a:t>likovnog</a:t>
            </a:r>
            <a:r>
              <a:rPr lang="en-US" dirty="0"/>
              <a:t> </a:t>
            </a:r>
            <a:r>
              <a:rPr lang="en-US" dirty="0" err="1"/>
              <a:t>djela</a:t>
            </a:r>
            <a:r>
              <a:rPr lang="en-US" dirty="0"/>
              <a:t> u </a:t>
            </a:r>
            <a:r>
              <a:rPr lang="en-US" dirty="0" err="1"/>
              <a:t>prostoru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odnos</a:t>
            </a:r>
            <a:r>
              <a:rPr lang="en-US" dirty="0"/>
              <a:t> </a:t>
            </a:r>
            <a:r>
              <a:rPr lang="en-US" dirty="0" err="1"/>
              <a:t>slike</a:t>
            </a:r>
            <a:r>
              <a:rPr lang="en-US" dirty="0"/>
              <a:t> (</a:t>
            </a:r>
            <a:r>
              <a:rPr lang="en-US" dirty="0" err="1"/>
              <a:t>skulpture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arhitekture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2" descr="Image result for pantocrator do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398" y="2947998"/>
            <a:ext cx="4485203" cy="3363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507129" y="6311900"/>
            <a:ext cx="5081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Santa Maria la Nuova, 1170., </a:t>
            </a:r>
            <a:r>
              <a:rPr lang="en-US" dirty="0" err="1"/>
              <a:t>Monreale</a:t>
            </a:r>
            <a:r>
              <a:rPr lang="en-US" dirty="0"/>
              <a:t>, </a:t>
            </a:r>
            <a:r>
              <a:rPr lang="en-US" dirty="0" err="1"/>
              <a:t>Sicilija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881041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0471" y="462988"/>
            <a:ext cx="10828064" cy="8357570"/>
          </a:xfrm>
        </p:spPr>
        <p:txBody>
          <a:bodyPr>
            <a:normAutofit/>
          </a:bodyPr>
          <a:lstStyle/>
          <a:p>
            <a:r>
              <a:rPr lang="en-US" dirty="0"/>
              <a:t>2. </a:t>
            </a:r>
            <a:r>
              <a:rPr lang="en-US" dirty="0" err="1"/>
              <a:t>Slijed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raspored</a:t>
            </a:r>
            <a:r>
              <a:rPr lang="en-US" dirty="0"/>
              <a:t> </a:t>
            </a:r>
            <a:r>
              <a:rPr lang="en-US" dirty="0" err="1"/>
              <a:t>prikazanih</a:t>
            </a:r>
            <a:r>
              <a:rPr lang="en-US" dirty="0"/>
              <a:t> </a:t>
            </a:r>
            <a:r>
              <a:rPr lang="en-US" dirty="0" err="1"/>
              <a:t>likova</a:t>
            </a:r>
            <a:endParaRPr lang="en-US" dirty="0"/>
          </a:p>
          <a:p>
            <a:endParaRPr lang="hr-HR" dirty="0"/>
          </a:p>
        </p:txBody>
      </p:sp>
      <p:pic>
        <p:nvPicPr>
          <p:cNvPr id="7172" name="Picture 4" descr="Image result for cefalu cathedral mosai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950" y="1224676"/>
            <a:ext cx="3498099" cy="4883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808071" y="6169306"/>
            <a:ext cx="446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Katedrala</a:t>
            </a:r>
            <a:r>
              <a:rPr lang="en-US" dirty="0"/>
              <a:t> </a:t>
            </a:r>
            <a:r>
              <a:rPr lang="en-US" dirty="0" err="1"/>
              <a:t>Cefalu</a:t>
            </a:r>
            <a:r>
              <a:rPr lang="en-US" dirty="0"/>
              <a:t>, 12. </a:t>
            </a:r>
            <a:r>
              <a:rPr lang="en-US" dirty="0" err="1"/>
              <a:t>st.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7955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3. </a:t>
            </a:r>
            <a:r>
              <a:rPr lang="en-US" sz="3200" dirty="0" err="1"/>
              <a:t>Prostorni</a:t>
            </a:r>
            <a:r>
              <a:rPr lang="en-US" sz="3200" dirty="0"/>
              <a:t> </a:t>
            </a:r>
            <a:r>
              <a:rPr lang="en-US" sz="3200" dirty="0" err="1"/>
              <a:t>odnos</a:t>
            </a:r>
            <a:r>
              <a:rPr lang="en-US" sz="3200" dirty="0"/>
              <a:t> </a:t>
            </a:r>
            <a:r>
              <a:rPr lang="en-US" sz="3200" dirty="0" err="1"/>
              <a:t>likovnoga</a:t>
            </a:r>
            <a:r>
              <a:rPr lang="en-US" sz="3200" dirty="0"/>
              <a:t> </a:t>
            </a:r>
            <a:r>
              <a:rPr lang="en-US" sz="3200" dirty="0" err="1"/>
              <a:t>djela</a:t>
            </a:r>
            <a:r>
              <a:rPr lang="en-US" sz="3200" dirty="0"/>
              <a:t> </a:t>
            </a:r>
            <a:r>
              <a:rPr lang="en-US" sz="3200" dirty="0" err="1"/>
              <a:t>i</a:t>
            </a:r>
            <a:r>
              <a:rPr lang="en-US" sz="3200" dirty="0"/>
              <a:t> </a:t>
            </a:r>
            <a:r>
              <a:rPr lang="en-US" sz="3200" dirty="0" err="1"/>
              <a:t>gledatelja</a:t>
            </a:r>
            <a:endParaRPr lang="hr-HR" sz="3200" dirty="0"/>
          </a:p>
        </p:txBody>
      </p:sp>
      <p:pic>
        <p:nvPicPr>
          <p:cNvPr id="8194" name="Picture 2" descr="Related imag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741" y="1383122"/>
            <a:ext cx="5940517" cy="445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102015" y="6007261"/>
            <a:ext cx="6007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Katedrala</a:t>
            </a:r>
            <a:r>
              <a:rPr lang="en-US" dirty="0"/>
              <a:t> Notre Dame, </a:t>
            </a:r>
            <a:r>
              <a:rPr lang="en-US" i="1" dirty="0" err="1"/>
              <a:t>Posljednji</a:t>
            </a:r>
            <a:r>
              <a:rPr lang="en-US" i="1" dirty="0"/>
              <a:t> </a:t>
            </a:r>
            <a:r>
              <a:rPr lang="en-US" i="1" dirty="0" err="1"/>
              <a:t>sud</a:t>
            </a:r>
            <a:r>
              <a:rPr lang="en-US" dirty="0"/>
              <a:t>, 1220.-1230., </a:t>
            </a:r>
            <a:r>
              <a:rPr lang="en-US" dirty="0" err="1"/>
              <a:t>Pariz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056558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06055"/>
            <a:ext cx="10515600" cy="2106475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ATRIBUTI</a:t>
            </a:r>
            <a:endParaRPr lang="hr-HR" sz="3200" dirty="0"/>
          </a:p>
        </p:txBody>
      </p:sp>
      <p:pic>
        <p:nvPicPr>
          <p:cNvPr id="9218" name="Picture 2" descr="https://upload.wikimedia.org/wikipedia/commons/b/b4/Saint_Lucy_by_Domenico_di_Pace_Beccafumi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987" y="821803"/>
            <a:ext cx="3646026" cy="5266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08071" y="608828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Domenico </a:t>
            </a:r>
            <a:r>
              <a:rPr lang="en-US" dirty="0" err="1"/>
              <a:t>Beccafumi</a:t>
            </a:r>
            <a:r>
              <a:rPr lang="en-US" dirty="0"/>
              <a:t>, </a:t>
            </a:r>
            <a:r>
              <a:rPr lang="en-US" i="1" dirty="0"/>
              <a:t>Sveta </a:t>
            </a:r>
            <a:r>
              <a:rPr lang="en-US" i="1" dirty="0" err="1"/>
              <a:t>Lucija</a:t>
            </a:r>
            <a:r>
              <a:rPr lang="en-US" dirty="0"/>
              <a:t>, 1521.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75368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0244" name="Picture 4" descr="Image result for aachen evangeliar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820" y="365125"/>
            <a:ext cx="4544359" cy="5684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287210" y="6123008"/>
            <a:ext cx="5521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Aachenski</a:t>
            </a:r>
            <a:r>
              <a:rPr lang="en-US" dirty="0"/>
              <a:t> </a:t>
            </a:r>
            <a:r>
              <a:rPr lang="en-US" dirty="0" err="1"/>
              <a:t>evangelijsr</a:t>
            </a:r>
            <a:r>
              <a:rPr lang="en-US" dirty="0"/>
              <a:t> Karla </a:t>
            </a:r>
            <a:r>
              <a:rPr lang="en-US" dirty="0" err="1"/>
              <a:t>Velikog</a:t>
            </a:r>
            <a:r>
              <a:rPr lang="en-US" dirty="0"/>
              <a:t>, 9. </a:t>
            </a:r>
            <a:r>
              <a:rPr lang="en-US" dirty="0" err="1"/>
              <a:t>st.</a:t>
            </a:r>
            <a:endParaRPr lang="hr-HR" dirty="0"/>
          </a:p>
        </p:txBody>
      </p:sp>
      <p:sp>
        <p:nvSpPr>
          <p:cNvPr id="6" name="TextBox 5"/>
          <p:cNvSpPr txBox="1"/>
          <p:nvPr/>
        </p:nvSpPr>
        <p:spPr>
          <a:xfrm>
            <a:off x="393539" y="1979271"/>
            <a:ext cx="31946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Sv</a:t>
            </a:r>
            <a:r>
              <a:rPr lang="en-US" dirty="0"/>
              <a:t>. </a:t>
            </a:r>
            <a:r>
              <a:rPr lang="en-US" dirty="0" err="1"/>
              <a:t>Matej</a:t>
            </a:r>
            <a:r>
              <a:rPr lang="en-US" dirty="0"/>
              <a:t> – </a:t>
            </a:r>
            <a:r>
              <a:rPr lang="en-US" dirty="0" err="1"/>
              <a:t>anđeo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Sv</a:t>
            </a:r>
            <a:r>
              <a:rPr lang="en-US" dirty="0"/>
              <a:t>. Marko – </a:t>
            </a:r>
            <a:r>
              <a:rPr lang="en-US" dirty="0" err="1"/>
              <a:t>lav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Sv</a:t>
            </a:r>
            <a:r>
              <a:rPr lang="en-US" dirty="0"/>
              <a:t>. Ivan – </a:t>
            </a:r>
            <a:r>
              <a:rPr lang="en-US" dirty="0" err="1"/>
              <a:t>orao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Sv</a:t>
            </a:r>
            <a:r>
              <a:rPr lang="en-US" dirty="0"/>
              <a:t>. Luka - </a:t>
            </a:r>
            <a:r>
              <a:rPr lang="en-US" dirty="0" err="1"/>
              <a:t>bik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5661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1266" name="Picture 2" descr="Image result for st lawrence gala placidi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039" y="911225"/>
            <a:ext cx="794592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071868" y="5555848"/>
            <a:ext cx="8044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Mauzolej</a:t>
            </a:r>
            <a:r>
              <a:rPr lang="en-US" dirty="0"/>
              <a:t> Galle </a:t>
            </a:r>
            <a:r>
              <a:rPr lang="en-US" dirty="0" err="1"/>
              <a:t>Placidije</a:t>
            </a:r>
            <a:r>
              <a:rPr lang="en-US" dirty="0"/>
              <a:t>, 450., Ravenna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494408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974" y="-648181"/>
            <a:ext cx="10427825" cy="2338870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IKONOGRAFSKA PERSPEKTIVA</a:t>
            </a:r>
            <a:endParaRPr lang="hr-H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975" y="1041723"/>
            <a:ext cx="8565266" cy="1574156"/>
          </a:xfrm>
        </p:spPr>
        <p:txBody>
          <a:bodyPr>
            <a:normAutofit/>
          </a:bodyPr>
          <a:lstStyle/>
          <a:p>
            <a:r>
              <a:rPr lang="en-US" dirty="0" err="1"/>
              <a:t>Pokazuje</a:t>
            </a:r>
            <a:r>
              <a:rPr lang="en-US" dirty="0"/>
              <a:t> </a:t>
            </a:r>
            <a:r>
              <a:rPr lang="en-US" dirty="0" err="1"/>
              <a:t>važnost</a:t>
            </a:r>
            <a:r>
              <a:rPr lang="en-US" dirty="0"/>
              <a:t> </a:t>
            </a:r>
            <a:r>
              <a:rPr lang="en-US" dirty="0" err="1"/>
              <a:t>pojedinih</a:t>
            </a:r>
            <a:r>
              <a:rPr lang="en-US" dirty="0"/>
              <a:t> </a:t>
            </a:r>
            <a:r>
              <a:rPr lang="en-US" dirty="0" err="1"/>
              <a:t>likova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njihov</a:t>
            </a:r>
            <a:r>
              <a:rPr lang="en-US" dirty="0"/>
              <a:t> </a:t>
            </a:r>
            <a:r>
              <a:rPr lang="en-US" dirty="0" err="1"/>
              <a:t>međusobni</a:t>
            </a:r>
            <a:r>
              <a:rPr lang="en-US" dirty="0"/>
              <a:t> </a:t>
            </a:r>
            <a:r>
              <a:rPr lang="en-US" dirty="0" err="1"/>
              <a:t>odnos</a:t>
            </a:r>
            <a:endParaRPr lang="en-US" dirty="0"/>
          </a:p>
          <a:p>
            <a:endParaRPr lang="en-US" dirty="0"/>
          </a:p>
          <a:p>
            <a:endParaRPr lang="hr-HR" dirty="0"/>
          </a:p>
        </p:txBody>
      </p:sp>
      <p:pic>
        <p:nvPicPr>
          <p:cNvPr id="12290" name="Picture 2" descr="https://upload.wikimedia.org/wikipedia/commons/thumb/f/f0/Duccio_maesta1021.jpg/1920px-Duccio_maesta102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751" y="2154653"/>
            <a:ext cx="7872270" cy="3878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199190" y="6204030"/>
            <a:ext cx="787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Duccio</a:t>
            </a:r>
            <a:r>
              <a:rPr lang="en-US" dirty="0"/>
              <a:t>, </a:t>
            </a:r>
            <a:r>
              <a:rPr lang="en-US" i="1" dirty="0" err="1"/>
              <a:t>Maesta</a:t>
            </a:r>
            <a:r>
              <a:rPr lang="en-US" dirty="0"/>
              <a:t>, 1308.-1311.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4756125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IKONOGRAFSKE METODE</a:t>
            </a:r>
            <a:endParaRPr lang="hr-H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Načini</a:t>
            </a:r>
            <a:r>
              <a:rPr lang="en-US" dirty="0"/>
              <a:t> </a:t>
            </a:r>
            <a:r>
              <a:rPr lang="en-US" dirty="0" err="1"/>
              <a:t>pretvaranja</a:t>
            </a:r>
            <a:r>
              <a:rPr lang="en-US" dirty="0"/>
              <a:t> </a:t>
            </a:r>
            <a:r>
              <a:rPr lang="en-US" dirty="0" err="1"/>
              <a:t>teksta</a:t>
            </a:r>
            <a:r>
              <a:rPr lang="en-US" dirty="0"/>
              <a:t> u </a:t>
            </a:r>
            <a:r>
              <a:rPr lang="en-US" dirty="0" err="1"/>
              <a:t>sliku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8821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1. GOVOR SIMBOLA</a:t>
            </a:r>
            <a:endParaRPr lang="hr-H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Simboli</a:t>
            </a:r>
            <a:r>
              <a:rPr lang="en-US" dirty="0"/>
              <a:t>: </a:t>
            </a:r>
            <a:r>
              <a:rPr lang="en-US" dirty="0" err="1"/>
              <a:t>grafički</a:t>
            </a:r>
            <a:r>
              <a:rPr lang="en-US" dirty="0"/>
              <a:t>, </a:t>
            </a:r>
            <a:r>
              <a:rPr lang="en-US" dirty="0" err="1"/>
              <a:t>zoomorfni</a:t>
            </a:r>
            <a:r>
              <a:rPr lang="en-US" dirty="0"/>
              <a:t>, </a:t>
            </a:r>
            <a:r>
              <a:rPr lang="en-US" dirty="0" err="1"/>
              <a:t>antropomorfni</a:t>
            </a:r>
            <a:r>
              <a:rPr lang="hr-HR" dirty="0"/>
              <a:t>, fitomorfni…</a:t>
            </a:r>
          </a:p>
          <a:p>
            <a:endParaRPr lang="hr-HR" dirty="0"/>
          </a:p>
          <a:p>
            <a:r>
              <a:rPr lang="hr-HR" dirty="0"/>
              <a:t>Ranokršćansko razdoblje</a:t>
            </a:r>
          </a:p>
        </p:txBody>
      </p:sp>
    </p:spTree>
    <p:extLst>
      <p:ext uri="{BB962C8B-B14F-4D97-AF65-F5344CB8AC3E}">
        <p14:creationId xmlns:p14="http://schemas.microsoft.com/office/powerpoint/2010/main" val="24638373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3314" name="Picture 2" descr="Image result for san apollinare in classe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731" y="563984"/>
            <a:ext cx="7180537" cy="538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33914" y="6099858"/>
            <a:ext cx="7766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San </a:t>
            </a:r>
            <a:r>
              <a:rPr lang="en-US" dirty="0" err="1"/>
              <a:t>Apollinare</a:t>
            </a:r>
            <a:r>
              <a:rPr lang="en-US" dirty="0"/>
              <a:t> in </a:t>
            </a:r>
            <a:r>
              <a:rPr lang="en-US" dirty="0" err="1"/>
              <a:t>Classe</a:t>
            </a:r>
            <a:r>
              <a:rPr lang="en-US" dirty="0"/>
              <a:t>, </a:t>
            </a:r>
            <a:r>
              <a:rPr lang="en-US" dirty="0" err="1"/>
              <a:t>detalj</a:t>
            </a:r>
            <a:r>
              <a:rPr lang="en-US" dirty="0"/>
              <a:t>, 6. </a:t>
            </a:r>
            <a:r>
              <a:rPr lang="en-US" dirty="0" err="1"/>
              <a:t>st.</a:t>
            </a:r>
            <a:r>
              <a:rPr lang="en-US" dirty="0"/>
              <a:t> Ravenna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054457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9615"/>
            <a:ext cx="10515600" cy="1325563"/>
          </a:xfrm>
        </p:spPr>
        <p:txBody>
          <a:bodyPr/>
          <a:lstStyle/>
          <a:p>
            <a:endParaRPr lang="hr-HR"/>
          </a:p>
        </p:txBody>
      </p:sp>
      <p:pic>
        <p:nvPicPr>
          <p:cNvPr id="14338" name="Picture 2" descr="https://upload.wikimedia.org/wikipedia/commons/thumb/2/24/Stele_Licinia_Amias_Terme_67646.jpg/800px-Stele_Licinia_Amias_Terme_67646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209" y="712469"/>
            <a:ext cx="5841581" cy="5074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159889" y="5926238"/>
            <a:ext cx="5856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Pogrebna</a:t>
            </a:r>
            <a:r>
              <a:rPr lang="en-US" dirty="0"/>
              <a:t> stela, 3. </a:t>
            </a:r>
            <a:r>
              <a:rPr lang="en-US" dirty="0" err="1"/>
              <a:t>st.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2686885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TextBox 3"/>
          <p:cNvSpPr txBox="1"/>
          <p:nvPr/>
        </p:nvSpPr>
        <p:spPr>
          <a:xfrm>
            <a:off x="1585732" y="6088284"/>
            <a:ext cx="9039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/>
              <a:t>Dobri</a:t>
            </a:r>
            <a:r>
              <a:rPr lang="en-US" i="1" dirty="0"/>
              <a:t> </a:t>
            </a:r>
            <a:r>
              <a:rPr lang="en-US" i="1" dirty="0" err="1"/>
              <a:t>pastir</a:t>
            </a:r>
            <a:r>
              <a:rPr lang="en-US" dirty="0"/>
              <a:t>, </a:t>
            </a:r>
            <a:r>
              <a:rPr lang="hr-HR" dirty="0"/>
              <a:t>Vatikanski muzej, 300</a:t>
            </a:r>
            <a:r>
              <a:rPr lang="en-US" dirty="0"/>
              <a:t>. </a:t>
            </a:r>
            <a:r>
              <a:rPr lang="hr-HR" dirty="0"/>
              <a:t>g., Rim</a:t>
            </a:r>
          </a:p>
        </p:txBody>
      </p:sp>
      <p:pic>
        <p:nvPicPr>
          <p:cNvPr id="1026" name="Picture 2" descr="The Good Shepherd by EARLY CHRISTIAN SCULPTOR, Italian">
            <a:extLst>
              <a:ext uri="{FF2B5EF4-FFF2-40B4-BE49-F238E27FC236}">
                <a16:creationId xmlns:a16="http://schemas.microsoft.com/office/drawing/2014/main" id="{36D32B4B-D4D0-434E-AA65-F2542F7656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6596" y="365125"/>
            <a:ext cx="3258807" cy="5517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8760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2. SIMBOLIČNE SCENE </a:t>
            </a:r>
            <a:endParaRPr lang="hr-HR" sz="3200" dirty="0"/>
          </a:p>
        </p:txBody>
      </p:sp>
      <p:sp>
        <p:nvSpPr>
          <p:cNvPr id="5" name="Rezervirano mjesto sadržaja 4">
            <a:extLst>
              <a:ext uri="{FF2B5EF4-FFF2-40B4-BE49-F238E27FC236}">
                <a16:creationId xmlns:a16="http://schemas.microsoft.com/office/drawing/2014/main" id="{C0C7A779-9172-41D3-AC99-3BA3249EC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err="1"/>
              <a:t>Ranokršćanstvo</a:t>
            </a:r>
            <a:r>
              <a:rPr lang="hr-HR" dirty="0"/>
              <a:t> i predromanika</a:t>
            </a:r>
          </a:p>
          <a:p>
            <a:r>
              <a:rPr lang="hr-HR" dirty="0"/>
              <a:t>Krist u slavi (na oblaku)</a:t>
            </a:r>
          </a:p>
          <a:p>
            <a:r>
              <a:rPr lang="hr-HR" dirty="0" err="1"/>
              <a:t>Agnus</a:t>
            </a:r>
            <a:r>
              <a:rPr lang="hr-HR" dirty="0"/>
              <a:t> Dei</a:t>
            </a:r>
          </a:p>
          <a:p>
            <a:r>
              <a:rPr lang="hr-HR" dirty="0"/>
              <a:t>Isusova aureola s upisanim križem</a:t>
            </a:r>
          </a:p>
        </p:txBody>
      </p:sp>
    </p:spTree>
    <p:extLst>
      <p:ext uri="{BB962C8B-B14F-4D97-AF65-F5344CB8AC3E}">
        <p14:creationId xmlns:p14="http://schemas.microsoft.com/office/powerpoint/2010/main" val="35080662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1CAB3BD-E541-4E39-B435-FA41A7B6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sadržaja 4">
            <a:extLst>
              <a:ext uri="{FF2B5EF4-FFF2-40B4-BE49-F238E27FC236}">
                <a16:creationId xmlns:a16="http://schemas.microsoft.com/office/drawing/2014/main" id="{7D5F81F1-4EAA-4047-9949-AEDC98A76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2052" name="Picture 4" descr="Apsidalni mozaik u Eufrazijani - plod bizantske majstorske preciznosti i  teološke genijalnosti - Bitno.net">
            <a:extLst>
              <a:ext uri="{FF2B5EF4-FFF2-40B4-BE49-F238E27FC236}">
                <a16:creationId xmlns:a16="http://schemas.microsoft.com/office/drawing/2014/main" id="{BCC51C3B-8CAF-459C-970C-FF98A04C3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47" y="1464815"/>
            <a:ext cx="11686905" cy="3264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38A7FE58-B92B-4D04-AB93-1D637A67CA3F}"/>
              </a:ext>
            </a:extLst>
          </p:cNvPr>
          <p:cNvSpPr txBox="1"/>
          <p:nvPr/>
        </p:nvSpPr>
        <p:spPr>
          <a:xfrm>
            <a:off x="284085" y="5042517"/>
            <a:ext cx="11656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/>
              <a:t>Eufrazijeva bazilika, 6. st, Poreč</a:t>
            </a:r>
          </a:p>
        </p:txBody>
      </p:sp>
    </p:spTree>
    <p:extLst>
      <p:ext uri="{BB962C8B-B14F-4D97-AF65-F5344CB8AC3E}">
        <p14:creationId xmlns:p14="http://schemas.microsoft.com/office/powerpoint/2010/main" val="3198734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20C0D2D-E905-4AD3-B1A3-A3688AD80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3074" name="Picture 2" descr="https://bitno3-64c8.kxcdn.com/wp-content/uploads/2021/08/james-stringer-flickrcom.jpg">
            <a:extLst>
              <a:ext uri="{FF2B5EF4-FFF2-40B4-BE49-F238E27FC236}">
                <a16:creationId xmlns:a16="http://schemas.microsoft.com/office/drawing/2014/main" id="{7E9A28DF-5A7E-4968-8529-D6B51B1A68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170" y="870112"/>
            <a:ext cx="8121659" cy="540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ipsa 3">
            <a:extLst>
              <a:ext uri="{FF2B5EF4-FFF2-40B4-BE49-F238E27FC236}">
                <a16:creationId xmlns:a16="http://schemas.microsoft.com/office/drawing/2014/main" id="{55D4E9FC-75F3-497F-BA3C-6BEFF2424FDB}"/>
              </a:ext>
            </a:extLst>
          </p:cNvPr>
          <p:cNvSpPr/>
          <p:nvPr/>
        </p:nvSpPr>
        <p:spPr>
          <a:xfrm>
            <a:off x="5282214" y="710214"/>
            <a:ext cx="1819922" cy="168675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" name="Elipsa 5">
            <a:extLst>
              <a:ext uri="{FF2B5EF4-FFF2-40B4-BE49-F238E27FC236}">
                <a16:creationId xmlns:a16="http://schemas.microsoft.com/office/drawing/2014/main" id="{C3CFB152-4E27-483F-AF01-35A21391BCB1}"/>
              </a:ext>
            </a:extLst>
          </p:cNvPr>
          <p:cNvSpPr/>
          <p:nvPr/>
        </p:nvSpPr>
        <p:spPr>
          <a:xfrm>
            <a:off x="4751034" y="4199137"/>
            <a:ext cx="1819922" cy="206997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7" name="Elipsa 6">
            <a:extLst>
              <a:ext uri="{FF2B5EF4-FFF2-40B4-BE49-F238E27FC236}">
                <a16:creationId xmlns:a16="http://schemas.microsoft.com/office/drawing/2014/main" id="{CD81A422-FD59-4C20-9A0B-967512ED62F3}"/>
              </a:ext>
            </a:extLst>
          </p:cNvPr>
          <p:cNvSpPr/>
          <p:nvPr/>
        </p:nvSpPr>
        <p:spPr>
          <a:xfrm>
            <a:off x="4903434" y="3144175"/>
            <a:ext cx="1319135" cy="105274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197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CE9FA77-95D0-4A2E-9191-94D61240E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4" name="Picture 2" descr="Image result for traditio legis ravenna">
            <a:extLst>
              <a:ext uri="{FF2B5EF4-FFF2-40B4-BE49-F238E27FC236}">
                <a16:creationId xmlns:a16="http://schemas.microsoft.com/office/drawing/2014/main" id="{09245F3D-1240-4C5E-80CF-0D4C50F482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998" y="1604333"/>
            <a:ext cx="5201920" cy="390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ravokutnik 4">
            <a:extLst>
              <a:ext uri="{FF2B5EF4-FFF2-40B4-BE49-F238E27FC236}">
                <a16:creationId xmlns:a16="http://schemas.microsoft.com/office/drawing/2014/main" id="{E1D3C144-136E-46CE-91CF-36624017E0FF}"/>
              </a:ext>
            </a:extLst>
          </p:cNvPr>
          <p:cNvSpPr/>
          <p:nvPr/>
        </p:nvSpPr>
        <p:spPr>
          <a:xfrm>
            <a:off x="3140137" y="5573302"/>
            <a:ext cx="47276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/>
              <a:t>Sarkofag</a:t>
            </a:r>
            <a:r>
              <a:rPr lang="en-US" dirty="0"/>
              <a:t> </a:t>
            </a:r>
            <a:r>
              <a:rPr lang="en-US" dirty="0" err="1"/>
              <a:t>nadbiskupa</a:t>
            </a:r>
            <a:r>
              <a:rPr lang="en-US" dirty="0"/>
              <a:t> </a:t>
            </a:r>
            <a:r>
              <a:rPr lang="en-US" dirty="0" err="1"/>
              <a:t>Rinalda</a:t>
            </a:r>
            <a:r>
              <a:rPr lang="en-US" dirty="0"/>
              <a:t>, </a:t>
            </a:r>
            <a:r>
              <a:rPr lang="en-US" i="1" dirty="0" err="1"/>
              <a:t>Traditio</a:t>
            </a:r>
            <a:r>
              <a:rPr lang="en-US" i="1" dirty="0"/>
              <a:t> </a:t>
            </a:r>
            <a:r>
              <a:rPr lang="en-US" i="1" dirty="0" err="1"/>
              <a:t>legis</a:t>
            </a:r>
            <a:r>
              <a:rPr lang="en-US" dirty="0"/>
              <a:t>, 5. </a:t>
            </a:r>
            <a:r>
              <a:rPr lang="en-US" dirty="0" err="1"/>
              <a:t>st.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7532363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3. METODA REDUKCIJE</a:t>
            </a:r>
            <a:endParaRPr lang="hr-HR" sz="3200" dirty="0"/>
          </a:p>
        </p:txBody>
      </p:sp>
      <p:pic>
        <p:nvPicPr>
          <p:cNvPr id="18438" name="Picture 6" descr="Image result for SREBRNA ŠKRINJA SV ŠIMUNA ZADAR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480" y="1450748"/>
            <a:ext cx="5605040" cy="4353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05246" y="5914663"/>
            <a:ext cx="6435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Prikazanje</a:t>
            </a:r>
            <a:r>
              <a:rPr lang="en-US" dirty="0"/>
              <a:t> u </a:t>
            </a:r>
            <a:r>
              <a:rPr lang="en-US" dirty="0" err="1"/>
              <a:t>hramu</a:t>
            </a:r>
            <a:r>
              <a:rPr lang="en-US" dirty="0"/>
              <a:t>, </a:t>
            </a:r>
            <a:r>
              <a:rPr lang="en-US" dirty="0" err="1"/>
              <a:t>Srebrna</a:t>
            </a:r>
            <a:r>
              <a:rPr lang="en-US" dirty="0"/>
              <a:t> </a:t>
            </a:r>
            <a:r>
              <a:rPr lang="en-US" dirty="0" err="1"/>
              <a:t>škrinja</a:t>
            </a:r>
            <a:r>
              <a:rPr lang="en-US" dirty="0"/>
              <a:t> </a:t>
            </a:r>
            <a:r>
              <a:rPr lang="en-US" dirty="0" err="1"/>
              <a:t>sv</a:t>
            </a:r>
            <a:r>
              <a:rPr lang="en-US" dirty="0"/>
              <a:t>. </a:t>
            </a:r>
            <a:r>
              <a:rPr lang="en-US" dirty="0" err="1"/>
              <a:t>Šimuna</a:t>
            </a:r>
            <a:r>
              <a:rPr lang="en-US" dirty="0"/>
              <a:t>, 14. </a:t>
            </a:r>
            <a:r>
              <a:rPr lang="en-US" dirty="0" err="1"/>
              <a:t>st.</a:t>
            </a:r>
            <a:r>
              <a:rPr lang="en-US" dirty="0"/>
              <a:t>, Zadar</a:t>
            </a:r>
            <a:endParaRPr lang="hr-HR" dirty="0"/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280B0EC1-2602-463A-A5BE-B333337A0D22}"/>
              </a:ext>
            </a:extLst>
          </p:cNvPr>
          <p:cNvSpPr txBox="1"/>
          <p:nvPr/>
        </p:nvSpPr>
        <p:spPr>
          <a:xfrm>
            <a:off x="178231" y="1914041"/>
            <a:ext cx="278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Romanika</a:t>
            </a:r>
          </a:p>
        </p:txBody>
      </p:sp>
    </p:spTree>
    <p:extLst>
      <p:ext uri="{BB962C8B-B14F-4D97-AF65-F5344CB8AC3E}">
        <p14:creationId xmlns:p14="http://schemas.microsoft.com/office/powerpoint/2010/main" val="29117168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4. NARATIVNA METODA</a:t>
            </a:r>
            <a:endParaRPr lang="hr-HR" sz="3200" dirty="0"/>
          </a:p>
        </p:txBody>
      </p:sp>
      <p:pic>
        <p:nvPicPr>
          <p:cNvPr id="19458" name="Picture 2" descr="Image result for DUCCIO MOUN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857" y="1284789"/>
            <a:ext cx="7266285" cy="477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430684" y="6192456"/>
            <a:ext cx="730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Duccio</a:t>
            </a:r>
            <a:r>
              <a:rPr lang="en-US" dirty="0"/>
              <a:t>, </a:t>
            </a:r>
            <a:r>
              <a:rPr lang="en-US" i="1" dirty="0" err="1"/>
              <a:t>Molitva</a:t>
            </a:r>
            <a:r>
              <a:rPr lang="en-US" i="1" dirty="0"/>
              <a:t> </a:t>
            </a:r>
            <a:r>
              <a:rPr lang="en-US" i="1" dirty="0" err="1"/>
              <a:t>na</a:t>
            </a:r>
            <a:r>
              <a:rPr lang="en-US" i="1" dirty="0"/>
              <a:t> </a:t>
            </a:r>
            <a:r>
              <a:rPr lang="en-US" i="1" dirty="0" err="1"/>
              <a:t>Maslinskoj</a:t>
            </a:r>
            <a:r>
              <a:rPr lang="en-US" i="1" dirty="0"/>
              <a:t> </a:t>
            </a:r>
            <a:r>
              <a:rPr lang="en-US" i="1" dirty="0" err="1"/>
              <a:t>gori</a:t>
            </a:r>
            <a:r>
              <a:rPr lang="en-US" dirty="0"/>
              <a:t>, 1310.</a:t>
            </a:r>
            <a:endParaRPr lang="hr-HR" dirty="0"/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17B60F88-9284-45F8-B166-CA0FB5241DD2}"/>
              </a:ext>
            </a:extLst>
          </p:cNvPr>
          <p:cNvSpPr txBox="1"/>
          <p:nvPr/>
        </p:nvSpPr>
        <p:spPr>
          <a:xfrm>
            <a:off x="170481" y="2084522"/>
            <a:ext cx="206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Gotika</a:t>
            </a:r>
          </a:p>
        </p:txBody>
      </p:sp>
    </p:spTree>
    <p:extLst>
      <p:ext uri="{BB962C8B-B14F-4D97-AF65-F5344CB8AC3E}">
        <p14:creationId xmlns:p14="http://schemas.microsoft.com/office/powerpoint/2010/main" val="38279450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5. METODA SIMULACIJE</a:t>
            </a:r>
            <a:endParaRPr lang="hr-HR" sz="3200" dirty="0"/>
          </a:p>
        </p:txBody>
      </p:sp>
      <p:pic>
        <p:nvPicPr>
          <p:cNvPr id="20482" name="Picture 2" descr="Image result for PIERO DELLA FRANCESC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112" y="1442217"/>
            <a:ext cx="6319776" cy="4428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905246" y="6018835"/>
            <a:ext cx="636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Piero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Francesca, </a:t>
            </a:r>
            <a:r>
              <a:rPr lang="en-US" i="1" dirty="0" err="1"/>
              <a:t>Bičevanje</a:t>
            </a:r>
            <a:r>
              <a:rPr lang="en-US" i="1" dirty="0"/>
              <a:t> Krista</a:t>
            </a:r>
            <a:r>
              <a:rPr lang="en-US" dirty="0"/>
              <a:t>, 1450.</a:t>
            </a:r>
            <a:endParaRPr lang="hr-HR" dirty="0"/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F8477BA6-308A-47B1-A92C-52E47C10FF6E}"/>
              </a:ext>
            </a:extLst>
          </p:cNvPr>
          <p:cNvSpPr txBox="1"/>
          <p:nvPr/>
        </p:nvSpPr>
        <p:spPr>
          <a:xfrm>
            <a:off x="85241" y="2115519"/>
            <a:ext cx="2634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Renesansa i barok</a:t>
            </a:r>
          </a:p>
        </p:txBody>
      </p:sp>
    </p:spTree>
    <p:extLst>
      <p:ext uri="{BB962C8B-B14F-4D97-AF65-F5344CB8AC3E}">
        <p14:creationId xmlns:p14="http://schemas.microsoft.com/office/powerpoint/2010/main" val="3182750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524</Words>
  <Application>Microsoft Office PowerPoint</Application>
  <PresentationFormat>Široki zaslon</PresentationFormat>
  <Paragraphs>82</Paragraphs>
  <Slides>39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Office Theme</vt:lpstr>
      <vt:lpstr>PowerPoint prezentacija</vt:lpstr>
      <vt:lpstr>IKONOGRAFIJA I IKONOLOGIJA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Odnosi riječi i slike:</vt:lpstr>
      <vt:lpstr>SUKLADNA INTERPRETACIJA</vt:lpstr>
      <vt:lpstr>DOSLOVNA INTERPRETACIJA</vt:lpstr>
      <vt:lpstr>SLOBODNI PRIJEVOD</vt:lpstr>
      <vt:lpstr>IKONOGRAFSKA TOPOGRAFIJA</vt:lpstr>
      <vt:lpstr>PowerPoint prezentacija</vt:lpstr>
      <vt:lpstr>3. Prostorni odnos likovnoga djela i gledatelja</vt:lpstr>
      <vt:lpstr>ATRIBUTI</vt:lpstr>
      <vt:lpstr>PowerPoint prezentacija</vt:lpstr>
      <vt:lpstr>PowerPoint prezentacija</vt:lpstr>
      <vt:lpstr>IKONOGRAFSKA PERSPEKTIVA</vt:lpstr>
      <vt:lpstr>IKONOGRAFSKE METODE</vt:lpstr>
      <vt:lpstr>1. GOVOR SIMBOLA</vt:lpstr>
      <vt:lpstr>PowerPoint prezentacija</vt:lpstr>
      <vt:lpstr>PowerPoint prezentacija</vt:lpstr>
      <vt:lpstr>PowerPoint prezentacija</vt:lpstr>
      <vt:lpstr>2. SIMBOLIČNE SCENE </vt:lpstr>
      <vt:lpstr>PowerPoint prezentacija</vt:lpstr>
      <vt:lpstr>PowerPoint prezentacija</vt:lpstr>
      <vt:lpstr>PowerPoint prezentacija</vt:lpstr>
      <vt:lpstr>3. METODA REDUKCIJE</vt:lpstr>
      <vt:lpstr>4. NARATIVNA METODA</vt:lpstr>
      <vt:lpstr>5. METODA SIMULACIJE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IKONOGRAFIJA I IKONOLOGIJA</dc:title>
  <dc:creator>Windows User</dc:creator>
  <cp:lastModifiedBy>Maja Bachler</cp:lastModifiedBy>
  <cp:revision>33</cp:revision>
  <dcterms:created xsi:type="dcterms:W3CDTF">2017-11-05T11:32:31Z</dcterms:created>
  <dcterms:modified xsi:type="dcterms:W3CDTF">2025-03-13T08:50:36Z</dcterms:modified>
</cp:coreProperties>
</file>