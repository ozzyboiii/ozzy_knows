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9.jpg" ContentType="image/pn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9" r:id="rId2"/>
    <p:sldId id="257" r:id="rId3"/>
    <p:sldId id="258" r:id="rId4"/>
    <p:sldId id="260" r:id="rId5"/>
    <p:sldId id="259" r:id="rId6"/>
    <p:sldId id="261" r:id="rId7"/>
    <p:sldId id="266" r:id="rId8"/>
    <p:sldId id="273" r:id="rId9"/>
    <p:sldId id="270" r:id="rId10"/>
    <p:sldId id="274" r:id="rId11"/>
    <p:sldId id="275" r:id="rId12"/>
    <p:sldId id="276" r:id="rId13"/>
    <p:sldId id="263" r:id="rId14"/>
    <p:sldId id="265" r:id="rId15"/>
    <p:sldId id="272" r:id="rId16"/>
    <p:sldId id="267" r:id="rId17"/>
    <p:sldId id="268" r:id="rId18"/>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7124"/>
    <a:srgbClr val="807662"/>
    <a:srgbClr val="40382C"/>
    <a:srgbClr val="9C887C"/>
    <a:srgbClr val="DD5391"/>
    <a:srgbClr val="974A0F"/>
    <a:srgbClr val="DDAF61"/>
    <a:srgbClr val="91826B"/>
    <a:srgbClr val="9F291F"/>
    <a:srgbClr val="79AE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autoAdjust="0"/>
    <p:restoredTop sz="85427" autoAdjust="0"/>
  </p:normalViewPr>
  <p:slideViewPr>
    <p:cSldViewPr snapToGrid="0">
      <p:cViewPr varScale="1">
        <p:scale>
          <a:sx n="74" d="100"/>
          <a:sy n="74" d="100"/>
        </p:scale>
        <p:origin x="136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zaglavlj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Rezervirano mjesto datum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C7C6D-2820-4CCA-AAC8-1E1A8127225C}" type="datetimeFigureOut">
              <a:rPr lang="hr-HR" smtClean="0"/>
              <a:t>14.2.2021.</a:t>
            </a:fld>
            <a:endParaRPr lang="hr-HR"/>
          </a:p>
        </p:txBody>
      </p:sp>
      <p:sp>
        <p:nvSpPr>
          <p:cNvPr id="4" name="Rezervirano mjesto slike slajd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r-HR"/>
          </a:p>
        </p:txBody>
      </p:sp>
      <p:sp>
        <p:nvSpPr>
          <p:cNvPr id="5" name="Rezervirano mjesto bilježaka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6" name="Rezervirano mjesto podnožj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7" name="Rezervirano mjesto broja slajd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E15AD3-CC62-4373-B72D-290963E6019B}" type="slidenum">
              <a:rPr lang="hr-HR" smtClean="0"/>
              <a:t>‹#›</a:t>
            </a:fld>
            <a:endParaRPr lang="hr-HR"/>
          </a:p>
        </p:txBody>
      </p:sp>
    </p:spTree>
    <p:extLst>
      <p:ext uri="{BB962C8B-B14F-4D97-AF65-F5344CB8AC3E}">
        <p14:creationId xmlns:p14="http://schemas.microsoft.com/office/powerpoint/2010/main" val="1611898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baseline="0" dirty="0" smtClean="0"/>
              <a:t>Danas ćemo se baviti raznim temama u likovnoj umjetnosti, bliskim vašim interesima. Za početak, može li mi netko reći koji motiv se pojavljuje na sve tri reprodukcije? (Konj.)  Po čemu se reprodukcije međusobno razlikuju? (Materijal/medij, način izrade). Možete li pretpostaviti koji je najraniji, a koji najkasniji prikaz? (Otkrivanje legendi) Zašto mislite da je tako? (Fotografija je najkasnije izumljena). Vremenska razlika između prvog i posljednjeg prikaza je oko 2300 godina, te po njima možemo usporediti i morfologiju životinje, koja se po ovim primjerima nije previše promijenila. Likovna umjetnost, uz biološka i povijesna istraživanja, funkcionira kao enciklopedija u kojoj možemo pratiti razvoj određene vrste. George </a:t>
            </a:r>
            <a:r>
              <a:rPr lang="hr-HR" baseline="0" dirty="0" err="1" smtClean="0"/>
              <a:t>Stubbs</a:t>
            </a:r>
            <a:r>
              <a:rPr lang="hr-HR" baseline="0" dirty="0" smtClean="0"/>
              <a:t> je napravio i vlastitu enciklopediju o anatomiji konja. Konj po taksonomiji spada u koje carstvo? (</a:t>
            </a:r>
            <a:r>
              <a:rPr lang="hr-HR" baseline="0" dirty="0" err="1" smtClean="0"/>
              <a:t>Animalia</a:t>
            </a:r>
            <a:r>
              <a:rPr lang="hr-HR" baseline="0" dirty="0" smtClean="0"/>
              <a:t>). Korištenje bilo kojeg životinjskog motiva u likovnoj umjetnosti zove se </a:t>
            </a:r>
            <a:r>
              <a:rPr lang="hr-HR" i="1" baseline="0" dirty="0" smtClean="0"/>
              <a:t>animalizam</a:t>
            </a:r>
            <a:r>
              <a:rPr lang="hr-HR" i="0" baseline="0" dirty="0" smtClean="0"/>
              <a:t>.</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2</a:t>
            </a:fld>
            <a:endParaRPr lang="hr-HR"/>
          </a:p>
        </p:txBody>
      </p:sp>
    </p:spTree>
    <p:extLst>
      <p:ext uri="{BB962C8B-B14F-4D97-AF65-F5344CB8AC3E}">
        <p14:creationId xmlns:p14="http://schemas.microsoft.com/office/powerpoint/2010/main" val="55673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Fokusirat ćemo se na prikaz</a:t>
            </a:r>
            <a:r>
              <a:rPr lang="hr-HR" baseline="0" dirty="0" smtClean="0"/>
              <a:t> </a:t>
            </a:r>
            <a:r>
              <a:rPr lang="hr-HR" i="1" baseline="0" dirty="0" smtClean="0"/>
              <a:t>Konjanika</a:t>
            </a:r>
            <a:r>
              <a:rPr lang="hr-HR" baseline="0" dirty="0" smtClean="0"/>
              <a:t> s Partenona, antičkog grčkog hrama. Što na njemu vidimo? (Čovjeka koji jaše). Međutim, na istom hramu postoje i ovakvi prikazi. (Pokretanje animacije). Vidimo li nešto drugačije na ovom reljefu? (Kentaur). Kako izgleda njegovo tijelo? (polu konj, polu čovjek). Kentaur je</a:t>
            </a:r>
            <a:r>
              <a:rPr lang="hr-HR" dirty="0" smtClean="0"/>
              <a:t> biće iz grčke mitologije s</a:t>
            </a:r>
            <a:r>
              <a:rPr lang="hr-HR" baseline="0" dirty="0" smtClean="0"/>
              <a:t> donjim dijelom tijela konja, a gornjim čovjeka. Njihov je praotac Kentaur, sin </a:t>
            </a:r>
            <a:r>
              <a:rPr lang="hr-HR" baseline="0" dirty="0" err="1" smtClean="0"/>
              <a:t>Ishiona</a:t>
            </a:r>
            <a:r>
              <a:rPr lang="hr-HR" baseline="0" dirty="0" smtClean="0"/>
              <a:t> (kralja </a:t>
            </a:r>
            <a:r>
              <a:rPr lang="hr-HR" baseline="0" dirty="0" err="1" smtClean="0"/>
              <a:t>Lapita</a:t>
            </a:r>
            <a:r>
              <a:rPr lang="hr-HR" baseline="0" dirty="0" smtClean="0"/>
              <a:t>) i </a:t>
            </a:r>
            <a:r>
              <a:rPr lang="hr-HR" baseline="0" dirty="0" err="1" smtClean="0"/>
              <a:t>Nefele</a:t>
            </a:r>
            <a:r>
              <a:rPr lang="hr-HR" baseline="0" dirty="0" smtClean="0"/>
              <a:t> (nimfe). Smatrali su ih surovima, željnim za borbom i vinom. Prikazana </a:t>
            </a:r>
            <a:r>
              <a:rPr lang="hr-HR" baseline="0" dirty="0" err="1" smtClean="0"/>
              <a:t>kentauromahija</a:t>
            </a:r>
            <a:r>
              <a:rPr lang="hr-HR" baseline="0" dirty="0" smtClean="0"/>
              <a:t> bila je omiljena tema grčkih umjetnika, simbol pobjede nad barbarima. Može li ovakvo biće nastati u stvarnosti? Zašto ne? (Organizam nastao kombinacijom kompletno različitih genotipova, razlike u broju kromosoma.) </a:t>
            </a:r>
            <a:r>
              <a:rPr lang="hr-HR" sz="1200" kern="1200" baseline="0" dirty="0" smtClean="0">
                <a:solidFill>
                  <a:schemeClr val="tx1"/>
                </a:solidFill>
                <a:effectLst/>
                <a:latin typeface="+mn-lt"/>
                <a:ea typeface="+mn-ea"/>
                <a:cs typeface="+mn-cs"/>
              </a:rPr>
              <a:t>Z</a:t>
            </a:r>
            <a:r>
              <a:rPr lang="hr-HR" sz="1200" kern="1200" dirty="0" smtClean="0">
                <a:solidFill>
                  <a:schemeClr val="tx1"/>
                </a:solidFill>
                <a:effectLst/>
                <a:latin typeface="+mn-lt"/>
                <a:ea typeface="+mn-ea"/>
                <a:cs typeface="+mn-cs"/>
              </a:rPr>
              <a:t>nate li što prikazuje</a:t>
            </a:r>
            <a:r>
              <a:rPr lang="hr-HR" sz="1200" kern="1200" baseline="0" dirty="0" smtClean="0">
                <a:solidFill>
                  <a:schemeClr val="tx1"/>
                </a:solidFill>
                <a:effectLst/>
                <a:latin typeface="+mn-lt"/>
                <a:ea typeface="+mn-ea"/>
                <a:cs typeface="+mn-cs"/>
              </a:rPr>
              <a:t> s</a:t>
            </a:r>
            <a:r>
              <a:rPr lang="hr-HR" sz="1200" kern="1200" dirty="0" smtClean="0">
                <a:solidFill>
                  <a:schemeClr val="tx1"/>
                </a:solidFill>
                <a:effectLst/>
                <a:latin typeface="+mn-lt"/>
                <a:ea typeface="+mn-ea"/>
                <a:cs typeface="+mn-cs"/>
              </a:rPr>
              <a:t>kulptura koju vidite? Smatrate li da je to prikaz životinje iz stvarnoga svijeta? </a:t>
            </a:r>
            <a:r>
              <a:rPr lang="hr-HR" sz="1200" kern="1200" baseline="0" dirty="0" smtClean="0">
                <a:solidFill>
                  <a:schemeClr val="tx1"/>
                </a:solidFill>
                <a:effectLst/>
                <a:latin typeface="+mn-lt"/>
                <a:ea typeface="+mn-ea"/>
                <a:cs typeface="+mn-cs"/>
              </a:rPr>
              <a:t>H</a:t>
            </a:r>
            <a:r>
              <a:rPr lang="hr-HR" baseline="0" dirty="0" smtClean="0"/>
              <a:t>imera u mitologiji označava monstruozno biće konstruirano od nekoliko različitih životinja – vrlo često lava sa zmijskim repom i kozjom glavom koja izbija iz leđa. Himera se koristi kao pojam koji označava mitsko ili fantastično biće koje je ‘’sklopljeno’’ od vrlo različitih organizama te je izgledom bizarno, nemoguće. Po toj definiciji je i kentaur himera.</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3</a:t>
            </a:fld>
            <a:endParaRPr lang="hr-HR"/>
          </a:p>
        </p:txBody>
      </p:sp>
    </p:spTree>
    <p:extLst>
      <p:ext uri="{BB962C8B-B14F-4D97-AF65-F5344CB8AC3E}">
        <p14:creationId xmlns:p14="http://schemas.microsoft.com/office/powerpoint/2010/main" val="3137938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https://artsandculture.google.com/asset/the-garden-of-earthly-delights-hieronymus-van-aken-aka-bosch/EwHP5mUuUOzqVg?hl=en </a:t>
            </a:r>
          </a:p>
          <a:p>
            <a:endParaRPr lang="hr-HR" dirty="0" smtClean="0"/>
          </a:p>
          <a:p>
            <a:r>
              <a:rPr lang="hr-HR" dirty="0" smtClean="0"/>
              <a:t>Dolazimo</a:t>
            </a:r>
            <a:r>
              <a:rPr lang="hr-HR" baseline="0" dirty="0" smtClean="0"/>
              <a:t> na prvi zadatak, upišite u Google tražilicu na svojim mobitelima ‘’Bosch </a:t>
            </a:r>
            <a:r>
              <a:rPr lang="hr-HR" baseline="0" dirty="0" err="1" smtClean="0"/>
              <a:t>Garden</a:t>
            </a:r>
            <a:r>
              <a:rPr lang="hr-HR" baseline="0" dirty="0" smtClean="0"/>
              <a:t> Google Arts’’ i uđite na prvu poveznicu. Cilj je pronaći jednu </a:t>
            </a:r>
            <a:r>
              <a:rPr lang="hr-HR" baseline="0" dirty="0" err="1" smtClean="0"/>
              <a:t>chimeru</a:t>
            </a:r>
            <a:r>
              <a:rPr lang="hr-HR" baseline="0" dirty="0" smtClean="0"/>
              <a:t> na prikazu (ima ih jako puno), a imate za to jednu minutu. (…) Želi li itko opisati kako njegova </a:t>
            </a:r>
            <a:r>
              <a:rPr lang="hr-HR" baseline="0" dirty="0" err="1" smtClean="0"/>
              <a:t>chimera</a:t>
            </a:r>
            <a:r>
              <a:rPr lang="hr-HR" baseline="0" dirty="0" smtClean="0"/>
              <a:t> izgleda? </a:t>
            </a:r>
          </a:p>
          <a:p>
            <a:r>
              <a:rPr lang="hr-HR" baseline="0" dirty="0" smtClean="0"/>
              <a:t>CILJ?</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4</a:t>
            </a:fld>
            <a:endParaRPr lang="hr-HR"/>
          </a:p>
        </p:txBody>
      </p:sp>
    </p:spTree>
    <p:extLst>
      <p:ext uri="{BB962C8B-B14F-4D97-AF65-F5344CB8AC3E}">
        <p14:creationId xmlns:p14="http://schemas.microsoft.com/office/powerpoint/2010/main" val="2941515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Ovo su detalji himera iz Vrta zemaljskih užitaka koje sam osobno</a:t>
            </a:r>
            <a:r>
              <a:rPr lang="hr-HR" baseline="0" dirty="0" smtClean="0"/>
              <a:t> izabrala. </a:t>
            </a:r>
            <a:r>
              <a:rPr lang="hr-HR" baseline="0" dirty="0" err="1" smtClean="0"/>
              <a:t>Hieronymus</a:t>
            </a:r>
            <a:r>
              <a:rPr lang="hr-HR" baseline="0" dirty="0" smtClean="0"/>
              <a:t> Bosch koristi veliku količinu motiva poput ljudi te stvarnih i nestvarnih životinja. Do sada smo vidjeli dva različita pristupa animalizma kao temi u likovnoj umjetnosti. Jedan prikazuje motiv životinje realistično, izražavajući slikarsku i crtačku sposobnost, dok drugi prikazuje imaginarni svijet utemeljen na simbolici.</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5</a:t>
            </a:fld>
            <a:endParaRPr lang="hr-HR"/>
          </a:p>
        </p:txBody>
      </p:sp>
    </p:spTree>
    <p:extLst>
      <p:ext uri="{BB962C8B-B14F-4D97-AF65-F5344CB8AC3E}">
        <p14:creationId xmlns:p14="http://schemas.microsoft.com/office/powerpoint/2010/main" val="1937810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Prisjetite</a:t>
            </a:r>
            <a:r>
              <a:rPr lang="hr-HR" baseline="0" dirty="0" smtClean="0"/>
              <a:t> se primjera koje smo do sad vidjeli. </a:t>
            </a:r>
            <a:r>
              <a:rPr lang="hr-HR" dirty="0" smtClean="0"/>
              <a:t>Koje</a:t>
            </a:r>
            <a:r>
              <a:rPr lang="hr-HR" baseline="0" dirty="0" smtClean="0"/>
              <a:t> asocijacije imate kad</a:t>
            </a:r>
            <a:r>
              <a:rPr lang="hr-HR" dirty="0" smtClean="0"/>
              <a:t> vam kažem da je ovo umjetničko djelo? Što</a:t>
            </a:r>
            <a:r>
              <a:rPr lang="hr-HR" baseline="0" dirty="0" smtClean="0"/>
              <a:t> mislite, koji dio ove fotografije je umjetničko djelo? (Zec.) </a:t>
            </a:r>
            <a:r>
              <a:rPr lang="hr-HR" dirty="0" smtClean="0"/>
              <a:t>Što ovog zeca razlikuje od ostalih</a:t>
            </a:r>
            <a:r>
              <a:rPr lang="hr-HR" baseline="0" dirty="0" smtClean="0"/>
              <a:t>? Prepoznajete li bilo kakve promjene na njegovom izgledu? (Promjena animacije). A sad? </a:t>
            </a:r>
          </a:p>
          <a:p>
            <a:r>
              <a:rPr lang="hr-HR" baseline="0" dirty="0" err="1" smtClean="0"/>
              <a:t>Eduardo</a:t>
            </a:r>
            <a:r>
              <a:rPr lang="hr-HR" baseline="0" dirty="0" smtClean="0"/>
              <a:t> </a:t>
            </a:r>
            <a:r>
              <a:rPr lang="hr-HR" baseline="0" dirty="0" err="1" smtClean="0"/>
              <a:t>Kac</a:t>
            </a:r>
            <a:r>
              <a:rPr lang="hr-HR" baseline="0" dirty="0" smtClean="0"/>
              <a:t> stvorio je </a:t>
            </a:r>
            <a:r>
              <a:rPr lang="hr-HR" baseline="0" dirty="0" err="1" smtClean="0"/>
              <a:t>Albu</a:t>
            </a:r>
            <a:r>
              <a:rPr lang="hr-HR" baseline="0" dirty="0" smtClean="0"/>
              <a:t>, albino zeca u čiju je </a:t>
            </a:r>
            <a:r>
              <a:rPr lang="hr-HR" baseline="0" dirty="0" err="1" smtClean="0"/>
              <a:t>zigotu</a:t>
            </a:r>
            <a:r>
              <a:rPr lang="hr-HR" baseline="0" dirty="0" smtClean="0"/>
              <a:t> integrirao GFP (</a:t>
            </a:r>
            <a:r>
              <a:rPr lang="hr-HR" baseline="0" dirty="0" err="1" smtClean="0"/>
              <a:t>green</a:t>
            </a:r>
            <a:r>
              <a:rPr lang="hr-HR" baseline="0" dirty="0" smtClean="0"/>
              <a:t> </a:t>
            </a:r>
            <a:r>
              <a:rPr lang="hr-HR" baseline="0" dirty="0" err="1" smtClean="0"/>
              <a:t>fluorescent</a:t>
            </a:r>
            <a:r>
              <a:rPr lang="hr-HR" baseline="0" dirty="0" smtClean="0"/>
              <a:t> protein) ekstrahiran iz posebne vrste meduze koji ju pod posebnim svjetlom čini fluorescentno zelenom. Međutim, njegovo umjetničko djelo se ne sastoji samo od k</a:t>
            </a:r>
            <a:r>
              <a:rPr lang="hr-HR" dirty="0" smtClean="0"/>
              <a:t>reacije fluorescentno</a:t>
            </a:r>
            <a:r>
              <a:rPr lang="hr-HR" baseline="0" dirty="0" smtClean="0"/>
              <a:t> zelenog zeca, već i o javne diskusije o tome te integracije zeca u društveno okruženje. </a:t>
            </a:r>
            <a:r>
              <a:rPr lang="hr-HR" baseline="0" dirty="0" err="1" smtClean="0"/>
              <a:t>Kac</a:t>
            </a:r>
            <a:r>
              <a:rPr lang="hr-HR" baseline="0" dirty="0" smtClean="0"/>
              <a:t> kaže da je </a:t>
            </a:r>
            <a:r>
              <a:rPr lang="hr-HR" baseline="0" dirty="0" err="1" smtClean="0"/>
              <a:t>transgenska</a:t>
            </a:r>
            <a:r>
              <a:rPr lang="hr-HR" baseline="0" dirty="0" smtClean="0"/>
              <a:t> umjetnost nova umjetnička forma koja se </a:t>
            </a:r>
            <a:r>
              <a:rPr lang="hr-HR" baseline="0" dirty="0" err="1" smtClean="0"/>
              <a:t>bazire</a:t>
            </a:r>
            <a:r>
              <a:rPr lang="hr-HR" baseline="0" dirty="0" smtClean="0"/>
              <a:t> na genetskom </a:t>
            </a:r>
            <a:r>
              <a:rPr lang="hr-HR" baseline="0" dirty="0" err="1" smtClean="0"/>
              <a:t>inžinjeringu</a:t>
            </a:r>
            <a:r>
              <a:rPr lang="hr-HR" baseline="0" dirty="0" smtClean="0"/>
              <a:t> u svrhu stvaranja jedinstvenih živih bića. Što mislite o ovakvoj umjetnosti? </a:t>
            </a:r>
            <a:r>
              <a:rPr lang="hr-HR" baseline="0" dirty="0" err="1" smtClean="0"/>
              <a:t>Alba</a:t>
            </a:r>
            <a:r>
              <a:rPr lang="hr-HR" baseline="0" dirty="0" smtClean="0"/>
              <a:t> je albino zec čije ponašanje i zdravlje nije ni na koji način ugroženo.</a:t>
            </a:r>
            <a:r>
              <a:rPr lang="hr-HR" dirty="0" smtClean="0"/>
              <a:t> Umjetnik je htio</a:t>
            </a:r>
            <a:r>
              <a:rPr lang="hr-HR" baseline="0" dirty="0" smtClean="0"/>
              <a:t> baš ovo, potaknuti dijalog o kulturnim i etičkim implikacijama vezana uz genetski </a:t>
            </a:r>
            <a:r>
              <a:rPr lang="hr-HR" baseline="0" dirty="0" err="1" smtClean="0"/>
              <a:t>inžinjering</a:t>
            </a:r>
            <a:r>
              <a:rPr lang="hr-HR" baseline="0" dirty="0" smtClean="0"/>
              <a:t>, razvoj </a:t>
            </a:r>
            <a:r>
              <a:rPr lang="hr-HR" baseline="0" dirty="0" err="1" smtClean="0"/>
              <a:t>bioraznolikosti</a:t>
            </a:r>
            <a:r>
              <a:rPr lang="hr-HR" baseline="0" dirty="0" smtClean="0"/>
              <a:t> i preispitivanje pojma ‘’normalnoga’’.</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6</a:t>
            </a:fld>
            <a:endParaRPr lang="hr-HR"/>
          </a:p>
        </p:txBody>
      </p:sp>
    </p:spTree>
    <p:extLst>
      <p:ext uri="{BB962C8B-B14F-4D97-AF65-F5344CB8AC3E}">
        <p14:creationId xmlns:p14="http://schemas.microsoft.com/office/powerpoint/2010/main" val="2606656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Pogledajmo</a:t>
            </a:r>
            <a:r>
              <a:rPr lang="hr-HR" baseline="0" dirty="0" smtClean="0"/>
              <a:t> ponovno cjeloviti prikaz. Gdje Bosch smješta svoje likove? Što sve možemo uočiti? (Vanjski prostor, priroda, jezera, drveće, planine…) </a:t>
            </a:r>
            <a:r>
              <a:rPr lang="hr-HR" i="0" baseline="0" dirty="0" smtClean="0"/>
              <a:t>Bosch uzima motiv vrta i prikazuje ga doslovno na svome djelu. Iako je prikaz prepun ljudskih likova i raznoraznih bića, krajolik je svejedno vrlo važan element bez kojeg djelo ne bi moglo funkcionirati.</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7</a:t>
            </a:fld>
            <a:endParaRPr lang="hr-HR"/>
          </a:p>
        </p:txBody>
      </p:sp>
    </p:spTree>
    <p:extLst>
      <p:ext uri="{BB962C8B-B14F-4D97-AF65-F5344CB8AC3E}">
        <p14:creationId xmlns:p14="http://schemas.microsoft.com/office/powerpoint/2010/main" val="2642876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Krećemo na</a:t>
            </a:r>
            <a:r>
              <a:rPr lang="hr-HR" baseline="0" dirty="0" smtClean="0"/>
              <a:t> jedan malo drugačiji prikaz od prijašnjeg. </a:t>
            </a:r>
            <a:r>
              <a:rPr lang="hr-HR" dirty="0" smtClean="0"/>
              <a:t>Postoje</a:t>
            </a:r>
            <a:r>
              <a:rPr lang="hr-HR" baseline="0" dirty="0" smtClean="0"/>
              <a:t> li na ovom djelu sličnosti s Vrtom zemaljskih užitaka? (Da.) Što točno? (Krajolik, zelenilo, šuma). Kako su prikazani ljudski likovi na ovom djelu? (Sitni, gotovo pa neprimjetni). Koji bi onda bio glavni motiv ovoga djela? (Priroda, krajolik). Tema u likovnoj umjetnosti koja prikazuje krajolik zove se pejzaž. Na ovom primjeru možemo vidjeti pejzaž kao samostalnu temu, iako on može biti i dio raznih likovnih djela, kao što smo vidjeli na Vrtu zemaljskih užitaka. Ovo djelo nastalo je stoljeće nakon prijašnjeg te ćemo se od sada nadalje zadržati na sjevernjačkom slikarstvu 17. stoljeća. </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8</a:t>
            </a:fld>
            <a:endParaRPr lang="hr-HR"/>
          </a:p>
        </p:txBody>
      </p:sp>
    </p:spTree>
    <p:extLst>
      <p:ext uri="{BB962C8B-B14F-4D97-AF65-F5344CB8AC3E}">
        <p14:creationId xmlns:p14="http://schemas.microsoft.com/office/powerpoint/2010/main" val="2096460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baseline="0" dirty="0" smtClean="0"/>
              <a:t>Što ovaj pejzaž prikazuje? (Grad.) Takav prikaz u povijesti umjetnosti se zove veduta. Pogledajte još jedan pejzaž istog umjetnika. Što uzima kao motiv? (Brodove, jedrilice, more). Pejzaž koji tematizira more zove se marina. Nizozemski umjetnici bili su inspirirani prikazima mora zbog njihove orijentiranosti ka trgovini i pomorstvu.</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9</a:t>
            </a:fld>
            <a:endParaRPr lang="hr-HR"/>
          </a:p>
        </p:txBody>
      </p:sp>
    </p:spTree>
    <p:extLst>
      <p:ext uri="{BB962C8B-B14F-4D97-AF65-F5344CB8AC3E}">
        <p14:creationId xmlns:p14="http://schemas.microsoft.com/office/powerpoint/2010/main" val="3911834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baseline="0" dirty="0" smtClean="0"/>
              <a:t>Krajem 16. do druge polovice 17. stoljeća u Nizozemskoj je vladalo tzv. Zlatno doba, u kojem je nizozemska umjetnost, vojska i trgovina bila jedna od najcjenjenijih u svijetu. Na koji nam način umjetnik dočarava stanje u Nizozemskoj? (Prizor je vrlo raskošan). Koje predmete i životinje bira kao motive? (Egzotične životinje i voće, skupocjene prekooceanske predmete). Na koji način ih prikazuje? (Vrlo realistično, veliku pozornost predaje detaljima). </a:t>
            </a:r>
            <a:r>
              <a:rPr lang="hr-HR" dirty="0" smtClean="0"/>
              <a:t>Može li mi netko reći</a:t>
            </a:r>
            <a:r>
              <a:rPr lang="hr-HR" baseline="0" dirty="0" smtClean="0"/>
              <a:t> svoj dojam prikaza? Kakav je prostor u kojem se nalazi? Na što umjetnik stavlja veći naglasak?</a:t>
            </a:r>
          </a:p>
        </p:txBody>
      </p:sp>
      <p:sp>
        <p:nvSpPr>
          <p:cNvPr id="4" name="Rezervirano mjesto broja slajda 3"/>
          <p:cNvSpPr>
            <a:spLocks noGrp="1"/>
          </p:cNvSpPr>
          <p:nvPr>
            <p:ph type="sldNum" sz="quarter" idx="10"/>
          </p:nvPr>
        </p:nvSpPr>
        <p:spPr/>
        <p:txBody>
          <a:bodyPr/>
          <a:lstStyle/>
          <a:p>
            <a:fld id="{83E15AD3-CC62-4373-B72D-290963E6019B}" type="slidenum">
              <a:rPr lang="hr-HR" smtClean="0"/>
              <a:t>13</a:t>
            </a:fld>
            <a:endParaRPr lang="hr-HR"/>
          </a:p>
        </p:txBody>
      </p:sp>
    </p:spTree>
    <p:extLst>
      <p:ext uri="{BB962C8B-B14F-4D97-AF65-F5344CB8AC3E}">
        <p14:creationId xmlns:p14="http://schemas.microsoft.com/office/powerpoint/2010/main" val="3914946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Gdje</a:t>
            </a:r>
            <a:r>
              <a:rPr lang="hr-HR" baseline="0" dirty="0" smtClean="0"/>
              <a:t> se nalazi prikaz mrtve prirode na ovom djelu? </a:t>
            </a:r>
            <a:r>
              <a:rPr lang="hr-HR" dirty="0" smtClean="0"/>
              <a:t>Kakav</a:t>
            </a:r>
            <a:r>
              <a:rPr lang="hr-HR" baseline="0" dirty="0" smtClean="0"/>
              <a:t> dojam daje ovo djelo naspram prijašnjeg? Kojim biste ga pridjevima opisali? Gdje je prikaz smješten? (U unutrašnjem prostoru).</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14</a:t>
            </a:fld>
            <a:endParaRPr lang="hr-HR"/>
          </a:p>
        </p:txBody>
      </p:sp>
    </p:spTree>
    <p:extLst>
      <p:ext uri="{BB962C8B-B14F-4D97-AF65-F5344CB8AC3E}">
        <p14:creationId xmlns:p14="http://schemas.microsoft.com/office/powerpoint/2010/main" val="155844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r>
              <a:rPr lang="hr-HR" dirty="0" smtClean="0"/>
              <a:t>Prelazimo</a:t>
            </a:r>
            <a:r>
              <a:rPr lang="hr-HR" baseline="0" dirty="0" smtClean="0"/>
              <a:t> na još jedno djelo koje dijeli temu s prijašnjim prikazom. </a:t>
            </a:r>
            <a:r>
              <a:rPr lang="hr-HR" dirty="0" smtClean="0"/>
              <a:t>Kako biste opisali</a:t>
            </a:r>
            <a:r>
              <a:rPr lang="hr-HR" baseline="0" dirty="0" smtClean="0"/>
              <a:t> ovo djelo? U kakvom se prostoru nalazi? (Također unutrašnjem prostoru). Tema u likovnoj umjetnosti koja prikazuje unutrašnji prostor ili prizor života u domu zove se interijer. Imate li dojam da ga je naslikao isti umjetnik čije smo djelo vidjeli na prošlom slajdu? Zašto? </a:t>
            </a:r>
            <a:r>
              <a:rPr lang="hr-HR" baseline="0" dirty="0" err="1" smtClean="0"/>
              <a:t>Vermeer</a:t>
            </a:r>
            <a:r>
              <a:rPr lang="hr-HR" baseline="0" dirty="0" smtClean="0"/>
              <a:t> u svojem opusu provlači temu interijera te njime naglašava ono što ga zanima: intimu, mirnoću, dašak mističnosti.</a:t>
            </a:r>
            <a:endParaRPr lang="hr-HR" dirty="0"/>
          </a:p>
        </p:txBody>
      </p:sp>
      <p:sp>
        <p:nvSpPr>
          <p:cNvPr id="4" name="Rezervirano mjesto broja slajda 3"/>
          <p:cNvSpPr>
            <a:spLocks noGrp="1"/>
          </p:cNvSpPr>
          <p:nvPr>
            <p:ph type="sldNum" sz="quarter" idx="10"/>
          </p:nvPr>
        </p:nvSpPr>
        <p:spPr/>
        <p:txBody>
          <a:bodyPr/>
          <a:lstStyle/>
          <a:p>
            <a:fld id="{83E15AD3-CC62-4373-B72D-290963E6019B}" type="slidenum">
              <a:rPr lang="hr-HR" smtClean="0"/>
              <a:t>15</a:t>
            </a:fld>
            <a:endParaRPr lang="hr-HR"/>
          </a:p>
        </p:txBody>
      </p:sp>
    </p:spTree>
    <p:extLst>
      <p:ext uri="{BB962C8B-B14F-4D97-AF65-F5344CB8AC3E}">
        <p14:creationId xmlns:p14="http://schemas.microsoft.com/office/powerpoint/2010/main" val="2378096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p:cNvSpPr>
            <a:spLocks noGrp="1"/>
          </p:cNvSpPr>
          <p:nvPr>
            <p:ph type="ctrTitle"/>
          </p:nvPr>
        </p:nvSpPr>
        <p:spPr>
          <a:xfrm>
            <a:off x="1524000" y="1122363"/>
            <a:ext cx="9144000" cy="2387600"/>
          </a:xfrm>
        </p:spPr>
        <p:txBody>
          <a:bodyPr anchor="b"/>
          <a:lstStyle>
            <a:lvl1pPr algn="ctr">
              <a:defRPr sz="6000"/>
            </a:lvl1pPr>
          </a:lstStyle>
          <a:p>
            <a:r>
              <a:rPr lang="hr-HR" smtClean="0"/>
              <a:t>Uredite stil naslova matrice</a:t>
            </a:r>
            <a:endParaRPr lang="hr-HR"/>
          </a:p>
        </p:txBody>
      </p:sp>
      <p:sp>
        <p:nvSpPr>
          <p:cNvPr id="3" name="Podnaslov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smtClean="0"/>
              <a:t>Kliknite da biste uredili stil podnaslova matrice</a:t>
            </a:r>
            <a:endParaRPr lang="hr-HR"/>
          </a:p>
        </p:txBody>
      </p:sp>
      <p:sp>
        <p:nvSpPr>
          <p:cNvPr id="4" name="Rezervirano mjesto datuma 3"/>
          <p:cNvSpPr>
            <a:spLocks noGrp="1"/>
          </p:cNvSpPr>
          <p:nvPr>
            <p:ph type="dt" sz="half" idx="10"/>
          </p:nvPr>
        </p:nvSpPr>
        <p:spPr/>
        <p:txBody>
          <a:bodyPr/>
          <a:lstStyle/>
          <a:p>
            <a:fld id="{5E55C710-B3B4-4678-8ACC-1AEEF7F8B622}" type="datetimeFigureOut">
              <a:rPr lang="hr-HR" smtClean="0"/>
              <a:t>14.2.2021.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202950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smtClean="0"/>
              <a:t>Uredite stil naslova matrice</a:t>
            </a:r>
            <a:endParaRPr lang="hr-HR"/>
          </a:p>
        </p:txBody>
      </p:sp>
      <p:sp>
        <p:nvSpPr>
          <p:cNvPr id="3" name="Rezervirano mjesto sadržaja 2"/>
          <p:cNvSpPr>
            <a:spLocks noGrp="1"/>
          </p:cNvSpPr>
          <p:nvPr>
            <p:ph idx="1"/>
          </p:nvPr>
        </p:nvSpPr>
        <p:spPr/>
        <p:txBody>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datuma 3"/>
          <p:cNvSpPr>
            <a:spLocks noGrp="1"/>
          </p:cNvSpPr>
          <p:nvPr>
            <p:ph type="dt" sz="half" idx="10"/>
          </p:nvPr>
        </p:nvSpPr>
        <p:spPr/>
        <p:txBody>
          <a:bodyPr/>
          <a:lstStyle/>
          <a:p>
            <a:fld id="{5E55C710-B3B4-4678-8ACC-1AEEF7F8B622}" type="datetimeFigureOut">
              <a:rPr lang="hr-HR" smtClean="0"/>
              <a:t>14.2.2021.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6028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sekcije">
    <p:spTree>
      <p:nvGrpSpPr>
        <p:cNvPr id="1" name=""/>
        <p:cNvGrpSpPr/>
        <p:nvPr/>
      </p:nvGrpSpPr>
      <p:grpSpPr>
        <a:xfrm>
          <a:off x="0" y="0"/>
          <a:ext cx="0" cy="0"/>
          <a:chOff x="0" y="0"/>
          <a:chExt cx="0" cy="0"/>
        </a:xfrm>
      </p:grpSpPr>
      <p:sp>
        <p:nvSpPr>
          <p:cNvPr id="2" name="Naslov 1"/>
          <p:cNvSpPr>
            <a:spLocks noGrp="1"/>
          </p:cNvSpPr>
          <p:nvPr>
            <p:ph type="title"/>
          </p:nvPr>
        </p:nvSpPr>
        <p:spPr>
          <a:xfrm>
            <a:off x="831850" y="1709738"/>
            <a:ext cx="10515600" cy="2852737"/>
          </a:xfrm>
        </p:spPr>
        <p:txBody>
          <a:bodyPr anchor="b"/>
          <a:lstStyle>
            <a:lvl1pPr>
              <a:defRPr sz="6000"/>
            </a:lvl1pPr>
          </a:lstStyle>
          <a:p>
            <a:r>
              <a:rPr lang="hr-HR" smtClean="0"/>
              <a:t>Uredite stil naslova matrice</a:t>
            </a:r>
            <a:endParaRPr lang="hr-HR"/>
          </a:p>
        </p:txBody>
      </p:sp>
      <p:sp>
        <p:nvSpPr>
          <p:cNvPr id="3" name="Rezervirano mjesto teksta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r-HR" smtClean="0"/>
              <a:t>Uredite stilove teksta matrice</a:t>
            </a:r>
          </a:p>
        </p:txBody>
      </p:sp>
      <p:sp>
        <p:nvSpPr>
          <p:cNvPr id="4" name="Rezervirano mjesto datuma 3"/>
          <p:cNvSpPr>
            <a:spLocks noGrp="1"/>
          </p:cNvSpPr>
          <p:nvPr>
            <p:ph type="dt" sz="half" idx="10"/>
          </p:nvPr>
        </p:nvSpPr>
        <p:spPr/>
        <p:txBody>
          <a:bodyPr/>
          <a:lstStyle/>
          <a:p>
            <a:fld id="{5E55C710-B3B4-4678-8ACC-1AEEF7F8B622}" type="datetimeFigureOut">
              <a:rPr lang="hr-HR" smtClean="0"/>
              <a:t>14.2.2021.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3604170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smtClean="0"/>
              <a:t>Uredite stil naslova matrice</a:t>
            </a:r>
            <a:endParaRPr lang="hr-HR"/>
          </a:p>
        </p:txBody>
      </p:sp>
      <p:sp>
        <p:nvSpPr>
          <p:cNvPr id="3" name="Rezervirano mjesto sadržaja 2"/>
          <p:cNvSpPr>
            <a:spLocks noGrp="1"/>
          </p:cNvSpPr>
          <p:nvPr>
            <p:ph sz="half" idx="1"/>
          </p:nvPr>
        </p:nvSpPr>
        <p:spPr>
          <a:xfrm>
            <a:off x="838200" y="1825625"/>
            <a:ext cx="5181600" cy="4351338"/>
          </a:xfrm>
        </p:spPr>
        <p:txBody>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sadržaja 3"/>
          <p:cNvSpPr>
            <a:spLocks noGrp="1"/>
          </p:cNvSpPr>
          <p:nvPr>
            <p:ph sz="half" idx="2"/>
          </p:nvPr>
        </p:nvSpPr>
        <p:spPr>
          <a:xfrm>
            <a:off x="6172200" y="1825625"/>
            <a:ext cx="5181600" cy="4351338"/>
          </a:xfrm>
        </p:spPr>
        <p:txBody>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5" name="Rezervirano mjesto datuma 4"/>
          <p:cNvSpPr>
            <a:spLocks noGrp="1"/>
          </p:cNvSpPr>
          <p:nvPr>
            <p:ph type="dt" sz="half" idx="10"/>
          </p:nvPr>
        </p:nvSpPr>
        <p:spPr/>
        <p:txBody>
          <a:bodyPr/>
          <a:lstStyle/>
          <a:p>
            <a:fld id="{5E55C710-B3B4-4678-8ACC-1AEEF7F8B622}" type="datetimeFigureOut">
              <a:rPr lang="hr-HR" smtClean="0"/>
              <a:t>14.2.2021.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608347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p:cNvSpPr>
            <a:spLocks noGrp="1"/>
          </p:cNvSpPr>
          <p:nvPr>
            <p:ph type="title"/>
          </p:nvPr>
        </p:nvSpPr>
        <p:spPr>
          <a:xfrm>
            <a:off x="839788" y="365125"/>
            <a:ext cx="10515600" cy="1325563"/>
          </a:xfrm>
        </p:spPr>
        <p:txBody>
          <a:bodyPr/>
          <a:lstStyle/>
          <a:p>
            <a:r>
              <a:rPr lang="hr-HR" smtClean="0"/>
              <a:t>Uredite stil naslova matrice</a:t>
            </a:r>
            <a:endParaRPr lang="hr-HR"/>
          </a:p>
        </p:txBody>
      </p:sp>
      <p:sp>
        <p:nvSpPr>
          <p:cNvPr id="3" name="Rezervirano mjesto teksta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smtClean="0"/>
              <a:t>Uredite stilove teksta matrice</a:t>
            </a:r>
          </a:p>
        </p:txBody>
      </p:sp>
      <p:sp>
        <p:nvSpPr>
          <p:cNvPr id="4" name="Rezervirano mjesto sadržaja 3"/>
          <p:cNvSpPr>
            <a:spLocks noGrp="1"/>
          </p:cNvSpPr>
          <p:nvPr>
            <p:ph sz="half" idx="2"/>
          </p:nvPr>
        </p:nvSpPr>
        <p:spPr>
          <a:xfrm>
            <a:off x="839788" y="2505075"/>
            <a:ext cx="5157787" cy="3684588"/>
          </a:xfrm>
        </p:spPr>
        <p:txBody>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5" name="Rezervirano mjesto teksta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smtClean="0"/>
              <a:t>Uredite stilove teksta matrice</a:t>
            </a:r>
          </a:p>
        </p:txBody>
      </p:sp>
      <p:sp>
        <p:nvSpPr>
          <p:cNvPr id="6" name="Rezervirano mjesto sadržaja 5"/>
          <p:cNvSpPr>
            <a:spLocks noGrp="1"/>
          </p:cNvSpPr>
          <p:nvPr>
            <p:ph sz="quarter" idx="4"/>
          </p:nvPr>
        </p:nvSpPr>
        <p:spPr>
          <a:xfrm>
            <a:off x="6172200" y="2505075"/>
            <a:ext cx="5183188" cy="3684588"/>
          </a:xfrm>
        </p:spPr>
        <p:txBody>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7" name="Rezervirano mjesto datuma 6"/>
          <p:cNvSpPr>
            <a:spLocks noGrp="1"/>
          </p:cNvSpPr>
          <p:nvPr>
            <p:ph type="dt" sz="half" idx="10"/>
          </p:nvPr>
        </p:nvSpPr>
        <p:spPr/>
        <p:txBody>
          <a:bodyPr/>
          <a:lstStyle/>
          <a:p>
            <a:fld id="{5E55C710-B3B4-4678-8ACC-1AEEF7F8B622}" type="datetimeFigureOut">
              <a:rPr lang="hr-HR" smtClean="0"/>
              <a:t>14.2.2021.</a:t>
            </a:fld>
            <a:endParaRPr lang="hr-HR"/>
          </a:p>
        </p:txBody>
      </p:sp>
      <p:sp>
        <p:nvSpPr>
          <p:cNvPr id="8" name="Rezervirano mjesto podnožja 7"/>
          <p:cNvSpPr>
            <a:spLocks noGrp="1"/>
          </p:cNvSpPr>
          <p:nvPr>
            <p:ph type="ftr" sz="quarter" idx="11"/>
          </p:nvPr>
        </p:nvSpPr>
        <p:spPr/>
        <p:txBody>
          <a:bodyPr/>
          <a:lstStyle/>
          <a:p>
            <a:endParaRPr lang="hr-HR"/>
          </a:p>
        </p:txBody>
      </p:sp>
      <p:sp>
        <p:nvSpPr>
          <p:cNvPr id="9" name="Rezervirano mjesto broja slajda 8"/>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1018515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smtClean="0"/>
              <a:t>Uredite stil naslova matrice</a:t>
            </a:r>
            <a:endParaRPr lang="hr-HR"/>
          </a:p>
        </p:txBody>
      </p:sp>
      <p:sp>
        <p:nvSpPr>
          <p:cNvPr id="3" name="Rezervirano mjesto datuma 2"/>
          <p:cNvSpPr>
            <a:spLocks noGrp="1"/>
          </p:cNvSpPr>
          <p:nvPr>
            <p:ph type="dt" sz="half" idx="10"/>
          </p:nvPr>
        </p:nvSpPr>
        <p:spPr/>
        <p:txBody>
          <a:bodyPr/>
          <a:lstStyle/>
          <a:p>
            <a:fld id="{5E55C710-B3B4-4678-8ACC-1AEEF7F8B622}" type="datetimeFigureOut">
              <a:rPr lang="hr-HR" smtClean="0"/>
              <a:t>14.2.2021.</a:t>
            </a:fld>
            <a:endParaRPr lang="hr-HR"/>
          </a:p>
        </p:txBody>
      </p:sp>
      <p:sp>
        <p:nvSpPr>
          <p:cNvPr id="4" name="Rezervirano mjesto podnožja 3"/>
          <p:cNvSpPr>
            <a:spLocks noGrp="1"/>
          </p:cNvSpPr>
          <p:nvPr>
            <p:ph type="ftr" sz="quarter" idx="11"/>
          </p:nvPr>
        </p:nvSpPr>
        <p:spPr/>
        <p:txBody>
          <a:bodyPr/>
          <a:lstStyle/>
          <a:p>
            <a:endParaRPr lang="hr-HR"/>
          </a:p>
        </p:txBody>
      </p:sp>
      <p:sp>
        <p:nvSpPr>
          <p:cNvPr id="5" name="Rezervirano mjesto broja slajda 4"/>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3628389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p:cNvSpPr>
            <a:spLocks noGrp="1"/>
          </p:cNvSpPr>
          <p:nvPr>
            <p:ph type="dt" sz="half" idx="10"/>
          </p:nvPr>
        </p:nvSpPr>
        <p:spPr/>
        <p:txBody>
          <a:bodyPr/>
          <a:lstStyle/>
          <a:p>
            <a:fld id="{5E55C710-B3B4-4678-8ACC-1AEEF7F8B622}" type="datetimeFigureOut">
              <a:rPr lang="hr-HR" smtClean="0"/>
              <a:t>14.2.2021.</a:t>
            </a:fld>
            <a:endParaRPr lang="hr-HR"/>
          </a:p>
        </p:txBody>
      </p:sp>
      <p:sp>
        <p:nvSpPr>
          <p:cNvPr id="3" name="Rezervirano mjesto podnožja 2"/>
          <p:cNvSpPr>
            <a:spLocks noGrp="1"/>
          </p:cNvSpPr>
          <p:nvPr>
            <p:ph type="ftr" sz="quarter" idx="11"/>
          </p:nvPr>
        </p:nvSpPr>
        <p:spPr/>
        <p:txBody>
          <a:bodyPr/>
          <a:lstStyle/>
          <a:p>
            <a:endParaRPr lang="hr-HR"/>
          </a:p>
        </p:txBody>
      </p:sp>
      <p:sp>
        <p:nvSpPr>
          <p:cNvPr id="4" name="Rezervirano mjesto broja slajda 3"/>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1196583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p:cNvSpPr>
            <a:spLocks noGrp="1"/>
          </p:cNvSpPr>
          <p:nvPr>
            <p:ph type="title"/>
          </p:nvPr>
        </p:nvSpPr>
        <p:spPr>
          <a:xfrm>
            <a:off x="839788" y="457200"/>
            <a:ext cx="3932237" cy="1600200"/>
          </a:xfrm>
        </p:spPr>
        <p:txBody>
          <a:bodyPr anchor="b"/>
          <a:lstStyle>
            <a:lvl1pPr>
              <a:defRPr sz="3200"/>
            </a:lvl1pPr>
          </a:lstStyle>
          <a:p>
            <a:r>
              <a:rPr lang="hr-HR" smtClean="0"/>
              <a:t>Uredite stil naslova matrice</a:t>
            </a:r>
            <a:endParaRPr lang="hr-HR"/>
          </a:p>
        </p:txBody>
      </p:sp>
      <p:sp>
        <p:nvSpPr>
          <p:cNvPr id="3" name="Rezervirano mjesto sadržaja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teksta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smtClean="0"/>
              <a:t>Uredite stilove teksta matrice</a:t>
            </a:r>
          </a:p>
        </p:txBody>
      </p:sp>
      <p:sp>
        <p:nvSpPr>
          <p:cNvPr id="5" name="Rezervirano mjesto datuma 4"/>
          <p:cNvSpPr>
            <a:spLocks noGrp="1"/>
          </p:cNvSpPr>
          <p:nvPr>
            <p:ph type="dt" sz="half" idx="10"/>
          </p:nvPr>
        </p:nvSpPr>
        <p:spPr/>
        <p:txBody>
          <a:bodyPr/>
          <a:lstStyle/>
          <a:p>
            <a:fld id="{5E55C710-B3B4-4678-8ACC-1AEEF7F8B622}" type="datetimeFigureOut">
              <a:rPr lang="hr-HR" smtClean="0"/>
              <a:t>14.2.2021.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191622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 opisom">
    <p:spTree>
      <p:nvGrpSpPr>
        <p:cNvPr id="1" name=""/>
        <p:cNvGrpSpPr/>
        <p:nvPr/>
      </p:nvGrpSpPr>
      <p:grpSpPr>
        <a:xfrm>
          <a:off x="0" y="0"/>
          <a:ext cx="0" cy="0"/>
          <a:chOff x="0" y="0"/>
          <a:chExt cx="0" cy="0"/>
        </a:xfrm>
      </p:grpSpPr>
      <p:sp>
        <p:nvSpPr>
          <p:cNvPr id="2" name="Naslov 1"/>
          <p:cNvSpPr>
            <a:spLocks noGrp="1"/>
          </p:cNvSpPr>
          <p:nvPr>
            <p:ph type="title"/>
          </p:nvPr>
        </p:nvSpPr>
        <p:spPr>
          <a:xfrm>
            <a:off x="839788" y="457200"/>
            <a:ext cx="3932237" cy="1600200"/>
          </a:xfrm>
        </p:spPr>
        <p:txBody>
          <a:bodyPr anchor="b"/>
          <a:lstStyle>
            <a:lvl1pPr>
              <a:defRPr sz="3200"/>
            </a:lvl1pPr>
          </a:lstStyle>
          <a:p>
            <a:r>
              <a:rPr lang="hr-HR" smtClean="0"/>
              <a:t>Uredite stil naslova matrice</a:t>
            </a:r>
            <a:endParaRPr lang="hr-HR"/>
          </a:p>
        </p:txBody>
      </p:sp>
      <p:sp>
        <p:nvSpPr>
          <p:cNvPr id="3" name="Rezervirano mjesto slik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Rezervirano mjesto teksta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smtClean="0"/>
              <a:t>Uredite stilove teksta matrice</a:t>
            </a:r>
          </a:p>
        </p:txBody>
      </p:sp>
      <p:sp>
        <p:nvSpPr>
          <p:cNvPr id="5" name="Rezervirano mjesto datuma 4"/>
          <p:cNvSpPr>
            <a:spLocks noGrp="1"/>
          </p:cNvSpPr>
          <p:nvPr>
            <p:ph type="dt" sz="half" idx="10"/>
          </p:nvPr>
        </p:nvSpPr>
        <p:spPr/>
        <p:txBody>
          <a:bodyPr/>
          <a:lstStyle/>
          <a:p>
            <a:fld id="{5E55C710-B3B4-4678-8ACC-1AEEF7F8B622}" type="datetimeFigureOut">
              <a:rPr lang="hr-HR" smtClean="0"/>
              <a:t>14.2.2021.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1579787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smtClean="0"/>
              <a:t>Uredite stil naslova matrice</a:t>
            </a:r>
            <a:endParaRPr lang="hr-HR"/>
          </a:p>
        </p:txBody>
      </p:sp>
      <p:sp>
        <p:nvSpPr>
          <p:cNvPr id="3" name="Rezervirano mjesto okomitog teksta 2"/>
          <p:cNvSpPr>
            <a:spLocks noGrp="1"/>
          </p:cNvSpPr>
          <p:nvPr>
            <p:ph type="body" orient="vert" idx="1"/>
          </p:nvPr>
        </p:nvSpPr>
        <p:spPr/>
        <p:txBody>
          <a:bodyPr vert="eaVert"/>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datuma 3"/>
          <p:cNvSpPr>
            <a:spLocks noGrp="1"/>
          </p:cNvSpPr>
          <p:nvPr>
            <p:ph type="dt" sz="half" idx="10"/>
          </p:nvPr>
        </p:nvSpPr>
        <p:spPr/>
        <p:txBody>
          <a:bodyPr/>
          <a:lstStyle/>
          <a:p>
            <a:fld id="{5E55C710-B3B4-4678-8ACC-1AEEF7F8B622}" type="datetimeFigureOut">
              <a:rPr lang="hr-HR" smtClean="0"/>
              <a:t>14.2.2021.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3566199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p:cNvSpPr>
            <a:spLocks noGrp="1"/>
          </p:cNvSpPr>
          <p:nvPr>
            <p:ph type="title" orient="vert"/>
          </p:nvPr>
        </p:nvSpPr>
        <p:spPr>
          <a:xfrm>
            <a:off x="8724900" y="365125"/>
            <a:ext cx="2628900" cy="5811838"/>
          </a:xfrm>
        </p:spPr>
        <p:txBody>
          <a:bodyPr vert="eaVert"/>
          <a:lstStyle/>
          <a:p>
            <a:r>
              <a:rPr lang="hr-HR" smtClean="0"/>
              <a:t>Uredite stil naslova matrice</a:t>
            </a:r>
            <a:endParaRPr lang="hr-HR"/>
          </a:p>
        </p:txBody>
      </p:sp>
      <p:sp>
        <p:nvSpPr>
          <p:cNvPr id="3" name="Rezervirano mjesto okomitog teksta 2"/>
          <p:cNvSpPr>
            <a:spLocks noGrp="1"/>
          </p:cNvSpPr>
          <p:nvPr>
            <p:ph type="body" orient="vert" idx="1"/>
          </p:nvPr>
        </p:nvSpPr>
        <p:spPr>
          <a:xfrm>
            <a:off x="838200" y="365125"/>
            <a:ext cx="7734300" cy="5811838"/>
          </a:xfrm>
        </p:spPr>
        <p:txBody>
          <a:bodyPr vert="eaVert"/>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datuma 3"/>
          <p:cNvSpPr>
            <a:spLocks noGrp="1"/>
          </p:cNvSpPr>
          <p:nvPr>
            <p:ph type="dt" sz="half" idx="10"/>
          </p:nvPr>
        </p:nvSpPr>
        <p:spPr/>
        <p:txBody>
          <a:bodyPr/>
          <a:lstStyle/>
          <a:p>
            <a:fld id="{5E55C710-B3B4-4678-8ACC-1AEEF7F8B622}" type="datetimeFigureOut">
              <a:rPr lang="hr-HR" smtClean="0"/>
              <a:t>14.2.2021.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47359352-57C2-4C01-B44A-187E082DD480}" type="slidenum">
              <a:rPr lang="hr-HR" smtClean="0"/>
              <a:t>‹#›</a:t>
            </a:fld>
            <a:endParaRPr lang="hr-HR"/>
          </a:p>
        </p:txBody>
      </p:sp>
    </p:spTree>
    <p:extLst>
      <p:ext uri="{BB962C8B-B14F-4D97-AF65-F5344CB8AC3E}">
        <p14:creationId xmlns:p14="http://schemas.microsoft.com/office/powerpoint/2010/main" val="413109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smtClean="0"/>
              <a:t>Uredite stil naslova matrice</a:t>
            </a:r>
            <a:endParaRPr lang="hr-HR"/>
          </a:p>
        </p:txBody>
      </p:sp>
      <p:sp>
        <p:nvSpPr>
          <p:cNvPr id="3" name="Rezervirano mjesto teksta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smtClean="0"/>
              <a:t>Uredite stilove teksta matrice</a:t>
            </a:r>
          </a:p>
          <a:p>
            <a:pPr lvl="1"/>
            <a:r>
              <a:rPr lang="hr-HR" smtClean="0"/>
              <a:t>Druga razina</a:t>
            </a:r>
          </a:p>
          <a:p>
            <a:pPr lvl="2"/>
            <a:r>
              <a:rPr lang="hr-HR" smtClean="0"/>
              <a:t>Treća razina</a:t>
            </a:r>
          </a:p>
          <a:p>
            <a:pPr lvl="3"/>
            <a:r>
              <a:rPr lang="hr-HR" smtClean="0"/>
              <a:t>Četvrta razina</a:t>
            </a:r>
          </a:p>
          <a:p>
            <a:pPr lvl="4"/>
            <a:r>
              <a:rPr lang="hr-HR" smtClean="0"/>
              <a:t>Peta razina</a:t>
            </a:r>
            <a:endParaRPr lang="hr-HR"/>
          </a:p>
        </p:txBody>
      </p:sp>
      <p:sp>
        <p:nvSpPr>
          <p:cNvPr id="4" name="Rezervirano mjesto datum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5C710-B3B4-4678-8ACC-1AEEF7F8B622}" type="datetimeFigureOut">
              <a:rPr lang="hr-HR" smtClean="0"/>
              <a:t>14.2.2021.</a:t>
            </a:fld>
            <a:endParaRPr lang="hr-HR"/>
          </a:p>
        </p:txBody>
      </p:sp>
      <p:sp>
        <p:nvSpPr>
          <p:cNvPr id="5" name="Rezervirano mjesto podnožj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59352-57C2-4C01-B44A-187E082DD480}" type="slidenum">
              <a:rPr lang="hr-HR" smtClean="0"/>
              <a:t>‹#›</a:t>
            </a:fld>
            <a:endParaRPr lang="hr-HR"/>
          </a:p>
        </p:txBody>
      </p:sp>
    </p:spTree>
    <p:extLst>
      <p:ext uri="{BB962C8B-B14F-4D97-AF65-F5344CB8AC3E}">
        <p14:creationId xmlns:p14="http://schemas.microsoft.com/office/powerpoint/2010/main" val="2234906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2" Type="http://schemas.openxmlformats.org/officeDocument/2006/relationships/hyperlink" Target="https://view.genial.ly/5fbeb1ef81188c0d4057fa5e/interactive-content-untitled-geniall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niOkvir 2"/>
          <p:cNvSpPr txBox="1"/>
          <p:nvPr/>
        </p:nvSpPr>
        <p:spPr>
          <a:xfrm>
            <a:off x="3674630" y="2936004"/>
            <a:ext cx="4747709" cy="646331"/>
          </a:xfrm>
          <a:prstGeom prst="rect">
            <a:avLst/>
          </a:prstGeom>
          <a:noFill/>
        </p:spPr>
        <p:txBody>
          <a:bodyPr wrap="square" rtlCol="0">
            <a:spAutoFit/>
          </a:bodyPr>
          <a:lstStyle/>
          <a:p>
            <a:pPr algn="ctr"/>
            <a:r>
              <a:rPr lang="hr-HR" sz="3600" dirty="0" smtClean="0"/>
              <a:t>Odabir i prikaz tema</a:t>
            </a:r>
            <a:endParaRPr lang="hr-HR" sz="3600" dirty="0"/>
          </a:p>
        </p:txBody>
      </p:sp>
    </p:spTree>
    <p:extLst>
      <p:ext uri="{BB962C8B-B14F-4D97-AF65-F5344CB8AC3E}">
        <p14:creationId xmlns:p14="http://schemas.microsoft.com/office/powerpoint/2010/main" val="30639171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122" y="763341"/>
            <a:ext cx="3063859" cy="3676630"/>
          </a:xfrm>
          <a:prstGeom prst="rect">
            <a:avLst/>
          </a:prstGeom>
        </p:spPr>
      </p:pic>
      <p:pic>
        <p:nvPicPr>
          <p:cNvPr id="5" name="Slika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67791" y="2060323"/>
            <a:ext cx="4399781" cy="2379648"/>
          </a:xfrm>
          <a:prstGeom prst="rect">
            <a:avLst/>
          </a:prstGeom>
        </p:spPr>
      </p:pic>
      <p:pic>
        <p:nvPicPr>
          <p:cNvPr id="7" name="Slika 6"/>
          <p:cNvPicPr>
            <a:picLocks noChangeAspect="1"/>
          </p:cNvPicPr>
          <p:nvPr/>
        </p:nvPicPr>
        <p:blipFill rotWithShape="1">
          <a:blip r:embed="rId5" cstate="print">
            <a:extLst>
              <a:ext uri="{28A0092B-C50C-407E-A947-70E740481C1C}">
                <a14:useLocalDpi xmlns:a14="http://schemas.microsoft.com/office/drawing/2010/main" val="0"/>
              </a:ext>
            </a:extLst>
          </a:blip>
          <a:srcRect l="9539" t="6388" r="9751" b="7914"/>
          <a:stretch/>
        </p:blipFill>
        <p:spPr>
          <a:xfrm>
            <a:off x="3815481" y="1748272"/>
            <a:ext cx="3682563" cy="2688187"/>
          </a:xfrm>
          <a:prstGeom prst="rect">
            <a:avLst/>
          </a:prstGeom>
        </p:spPr>
      </p:pic>
      <p:sp>
        <p:nvSpPr>
          <p:cNvPr id="8" name="TekstniOkvir 7"/>
          <p:cNvSpPr txBox="1"/>
          <p:nvPr/>
        </p:nvSpPr>
        <p:spPr>
          <a:xfrm>
            <a:off x="3954015" y="4704956"/>
            <a:ext cx="3561425" cy="738664"/>
          </a:xfrm>
          <a:prstGeom prst="rect">
            <a:avLst/>
          </a:prstGeom>
          <a:noFill/>
        </p:spPr>
        <p:txBody>
          <a:bodyPr wrap="square" rtlCol="0">
            <a:spAutoFit/>
          </a:bodyPr>
          <a:lstStyle/>
          <a:p>
            <a:pPr lvl="0" algn="ctr"/>
            <a:r>
              <a:rPr lang="en-US" sz="1400" i="1" dirty="0" err="1"/>
              <a:t>Konjanici</a:t>
            </a:r>
            <a:r>
              <a:rPr lang="en-US" sz="1400" dirty="0"/>
              <a:t>, </a:t>
            </a:r>
            <a:r>
              <a:rPr lang="en-US" sz="1400" dirty="0" err="1"/>
              <a:t>zapadni</a:t>
            </a:r>
            <a:r>
              <a:rPr lang="en-US" sz="1400" dirty="0"/>
              <a:t> </a:t>
            </a:r>
            <a:r>
              <a:rPr lang="en-US" sz="1400" dirty="0" err="1"/>
              <a:t>friz</a:t>
            </a:r>
            <a:r>
              <a:rPr lang="en-US" sz="1400" dirty="0"/>
              <a:t> </a:t>
            </a:r>
            <a:r>
              <a:rPr lang="en-US" sz="1400" dirty="0" err="1"/>
              <a:t>Partenona</a:t>
            </a:r>
            <a:r>
              <a:rPr lang="en-US" sz="1400" dirty="0"/>
              <a:t>, </a:t>
            </a:r>
            <a:r>
              <a:rPr lang="en-US" sz="1400" dirty="0" err="1"/>
              <a:t>mramor</a:t>
            </a:r>
            <a:r>
              <a:rPr lang="en-US" sz="1400" dirty="0"/>
              <a:t>, </a:t>
            </a:r>
            <a:r>
              <a:rPr lang="en-US" sz="1400" dirty="0" err="1"/>
              <a:t>između</a:t>
            </a:r>
            <a:r>
              <a:rPr lang="en-US" sz="1400" dirty="0"/>
              <a:t> </a:t>
            </a:r>
            <a:r>
              <a:rPr lang="en-US" sz="1400" b="1" dirty="0"/>
              <a:t>440. </a:t>
            </a:r>
            <a:r>
              <a:rPr lang="en-US" sz="1400" b="1" dirty="0" err="1"/>
              <a:t>i</a:t>
            </a:r>
            <a:r>
              <a:rPr lang="en-US" sz="1400" b="1" dirty="0"/>
              <a:t> 432</a:t>
            </a:r>
            <a:r>
              <a:rPr lang="en-US" sz="1400" dirty="0"/>
              <a:t>. g. pr. Kr., </a:t>
            </a:r>
            <a:r>
              <a:rPr lang="en-US" sz="1400" dirty="0" err="1"/>
              <a:t>visina</a:t>
            </a:r>
            <a:r>
              <a:rPr lang="en-US" sz="1400" dirty="0"/>
              <a:t> 109,3 cm, The British Museum, </a:t>
            </a:r>
            <a:r>
              <a:rPr lang="en-US" sz="1400" dirty="0" smtClean="0"/>
              <a:t>London</a:t>
            </a:r>
            <a:endParaRPr lang="hr-HR" sz="1400" dirty="0"/>
          </a:p>
        </p:txBody>
      </p:sp>
      <p:sp>
        <p:nvSpPr>
          <p:cNvPr id="9" name="Pravokutnik 8"/>
          <p:cNvSpPr/>
          <p:nvPr/>
        </p:nvSpPr>
        <p:spPr>
          <a:xfrm>
            <a:off x="7815474" y="4661062"/>
            <a:ext cx="4104413" cy="738664"/>
          </a:xfrm>
          <a:prstGeom prst="rect">
            <a:avLst/>
          </a:prstGeom>
        </p:spPr>
        <p:txBody>
          <a:bodyPr wrap="square">
            <a:spAutoFit/>
          </a:bodyPr>
          <a:lstStyle/>
          <a:p>
            <a:pPr algn="ctr"/>
            <a:r>
              <a:rPr lang="en-US" sz="1400" dirty="0" err="1">
                <a:ea typeface="Times New Roman" panose="02020603050405020304" pitchFamily="18" charset="0"/>
              </a:rPr>
              <a:t>Eadweard</a:t>
            </a:r>
            <a:r>
              <a:rPr lang="en-US" sz="1400" dirty="0">
                <a:ea typeface="Times New Roman" panose="02020603050405020304" pitchFamily="18" charset="0"/>
              </a:rPr>
              <a:t> Muybridge, </a:t>
            </a:r>
            <a:r>
              <a:rPr lang="en-US" sz="1400" i="1" dirty="0">
                <a:ea typeface="Times New Roman" panose="02020603050405020304" pitchFamily="18" charset="0"/>
              </a:rPr>
              <a:t>Bez </a:t>
            </a:r>
            <a:r>
              <a:rPr lang="en-US" sz="1400" i="1" dirty="0" err="1">
                <a:ea typeface="Times New Roman" panose="02020603050405020304" pitchFamily="18" charset="0"/>
              </a:rPr>
              <a:t>naziva</a:t>
            </a:r>
            <a:r>
              <a:rPr lang="en-US" sz="1400" dirty="0">
                <a:ea typeface="Times New Roman" panose="02020603050405020304" pitchFamily="18" charset="0"/>
              </a:rPr>
              <a:t>, (</a:t>
            </a:r>
            <a:r>
              <a:rPr lang="en-US" sz="1400" dirty="0" err="1">
                <a:ea typeface="Times New Roman" panose="02020603050405020304" pitchFamily="18" charset="0"/>
              </a:rPr>
              <a:t>sekvencijalne</a:t>
            </a:r>
            <a:r>
              <a:rPr lang="en-US" sz="1400" dirty="0">
                <a:ea typeface="Times New Roman" panose="02020603050405020304" pitchFamily="18" charset="0"/>
              </a:rPr>
              <a:t> </a:t>
            </a:r>
            <a:r>
              <a:rPr lang="en-US" sz="1400" dirty="0" err="1">
                <a:ea typeface="Times New Roman" panose="02020603050405020304" pitchFamily="18" charset="0"/>
              </a:rPr>
              <a:t>fotografije</a:t>
            </a:r>
            <a:r>
              <a:rPr lang="en-US" sz="1400" dirty="0">
                <a:ea typeface="Times New Roman" panose="02020603050405020304" pitchFamily="18" charset="0"/>
              </a:rPr>
              <a:t> </a:t>
            </a:r>
            <a:r>
              <a:rPr lang="en-US" sz="1400" dirty="0" err="1">
                <a:ea typeface="Times New Roman" panose="02020603050405020304" pitchFamily="18" charset="0"/>
              </a:rPr>
              <a:t>kasa</a:t>
            </a:r>
            <a:r>
              <a:rPr lang="en-US" sz="1400" dirty="0">
                <a:ea typeface="Times New Roman" panose="02020603050405020304" pitchFamily="18" charset="0"/>
              </a:rPr>
              <a:t> </a:t>
            </a:r>
            <a:r>
              <a:rPr lang="en-US" sz="1400" dirty="0" err="1">
                <a:ea typeface="Times New Roman" panose="02020603050405020304" pitchFamily="18" charset="0"/>
              </a:rPr>
              <a:t>i</a:t>
            </a:r>
            <a:r>
              <a:rPr lang="en-US" sz="1400" dirty="0">
                <a:ea typeface="Times New Roman" panose="02020603050405020304" pitchFamily="18" charset="0"/>
              </a:rPr>
              <a:t> </a:t>
            </a:r>
            <a:r>
              <a:rPr lang="en-US" sz="1400" dirty="0" err="1">
                <a:ea typeface="Times New Roman" panose="02020603050405020304" pitchFamily="18" charset="0"/>
              </a:rPr>
              <a:t>galopa</a:t>
            </a:r>
            <a:r>
              <a:rPr lang="en-US" sz="1400" dirty="0" smtClean="0">
                <a:ea typeface="Times New Roman" panose="02020603050405020304" pitchFamily="18" charset="0"/>
              </a:rPr>
              <a:t>), </a:t>
            </a:r>
            <a:r>
              <a:rPr lang="en-US" sz="1400" dirty="0" err="1" smtClean="0">
                <a:ea typeface="Times New Roman" panose="02020603050405020304" pitchFamily="18" charset="0"/>
              </a:rPr>
              <a:t>gravu</a:t>
            </a:r>
            <a:r>
              <a:rPr lang="hr-HR" sz="1400" dirty="0" smtClean="0">
                <a:ea typeface="Times New Roman" panose="02020603050405020304" pitchFamily="18" charset="0"/>
              </a:rPr>
              <a:t>r</a:t>
            </a:r>
            <a:r>
              <a:rPr lang="en-US" sz="1400" dirty="0" smtClean="0">
                <a:ea typeface="Times New Roman" panose="02020603050405020304" pitchFamily="18" charset="0"/>
              </a:rPr>
              <a:t>e</a:t>
            </a:r>
            <a:r>
              <a:rPr lang="en-US" sz="1400" dirty="0">
                <a:ea typeface="Times New Roman" panose="02020603050405020304" pitchFamily="18" charset="0"/>
              </a:rPr>
              <a:t>, </a:t>
            </a:r>
            <a:r>
              <a:rPr lang="en-US" sz="1400" dirty="0" err="1">
                <a:ea typeface="Times New Roman" panose="02020603050405020304" pitchFamily="18" charset="0"/>
              </a:rPr>
              <a:t>prosinac</a:t>
            </a:r>
            <a:r>
              <a:rPr lang="en-US" sz="1400" dirty="0">
                <a:ea typeface="Times New Roman" panose="02020603050405020304" pitchFamily="18" charset="0"/>
              </a:rPr>
              <a:t> </a:t>
            </a:r>
            <a:r>
              <a:rPr lang="en-US" sz="1400" b="1" dirty="0">
                <a:ea typeface="Times New Roman" panose="02020603050405020304" pitchFamily="18" charset="0"/>
              </a:rPr>
              <a:t>1878</a:t>
            </a:r>
            <a:r>
              <a:rPr lang="en-US" sz="1400" dirty="0">
                <a:ea typeface="Times New Roman" panose="02020603050405020304" pitchFamily="18" charset="0"/>
              </a:rPr>
              <a:t>., </a:t>
            </a:r>
            <a:r>
              <a:rPr lang="en-US" sz="1400" dirty="0" err="1">
                <a:ea typeface="Times New Roman" panose="02020603050405020304" pitchFamily="18" charset="0"/>
              </a:rPr>
              <a:t>Kuća</a:t>
            </a:r>
            <a:r>
              <a:rPr lang="en-US" sz="1400" dirty="0">
                <a:ea typeface="Times New Roman" panose="02020603050405020304" pitchFamily="18" charset="0"/>
              </a:rPr>
              <a:t> </a:t>
            </a:r>
            <a:r>
              <a:rPr lang="en-US" sz="1400" dirty="0" err="1">
                <a:ea typeface="Times New Roman" panose="02020603050405020304" pitchFamily="18" charset="0"/>
              </a:rPr>
              <a:t>Georgea</a:t>
            </a:r>
            <a:r>
              <a:rPr lang="en-US" sz="1400" dirty="0">
                <a:ea typeface="Times New Roman" panose="02020603050405020304" pitchFamily="18" charset="0"/>
              </a:rPr>
              <a:t> </a:t>
            </a:r>
            <a:r>
              <a:rPr lang="en-US" sz="1400" dirty="0" err="1">
                <a:ea typeface="Times New Roman" panose="02020603050405020304" pitchFamily="18" charset="0"/>
              </a:rPr>
              <a:t>Eastmana</a:t>
            </a:r>
            <a:r>
              <a:rPr lang="en-US" sz="1400" dirty="0">
                <a:ea typeface="Times New Roman" panose="02020603050405020304" pitchFamily="18" charset="0"/>
              </a:rPr>
              <a:t>, Rochester, New York</a:t>
            </a:r>
            <a:r>
              <a:rPr lang="en-US" sz="1400" dirty="0">
                <a:latin typeface="Times New Roman" panose="02020603050405020304" pitchFamily="18" charset="0"/>
                <a:ea typeface="Times New Roman" panose="02020603050405020304" pitchFamily="18" charset="0"/>
              </a:rPr>
              <a:t> </a:t>
            </a:r>
            <a:endParaRPr lang="hr-HR" sz="1400" dirty="0"/>
          </a:p>
        </p:txBody>
      </p:sp>
      <p:sp>
        <p:nvSpPr>
          <p:cNvPr id="10" name="Pravokutnik 9"/>
          <p:cNvSpPr/>
          <p:nvPr/>
        </p:nvSpPr>
        <p:spPr>
          <a:xfrm>
            <a:off x="541925" y="4707252"/>
            <a:ext cx="2904255" cy="738664"/>
          </a:xfrm>
          <a:prstGeom prst="rect">
            <a:avLst/>
          </a:prstGeom>
        </p:spPr>
        <p:txBody>
          <a:bodyPr wrap="square">
            <a:spAutoFit/>
          </a:bodyPr>
          <a:lstStyle/>
          <a:p>
            <a:pPr algn="ctr"/>
            <a:r>
              <a:rPr lang="en-US" sz="1400" dirty="0">
                <a:ea typeface="Times New Roman" panose="02020603050405020304" pitchFamily="18" charset="0"/>
              </a:rPr>
              <a:t>George Stubbs, </a:t>
            </a:r>
            <a:r>
              <a:rPr lang="en-US" sz="1400" i="1" dirty="0" err="1">
                <a:ea typeface="Times New Roman" panose="02020603050405020304" pitchFamily="18" charset="0"/>
              </a:rPr>
              <a:t>Whistlejacket</a:t>
            </a:r>
            <a:r>
              <a:rPr lang="en-US" sz="1400" dirty="0">
                <a:ea typeface="Times New Roman" panose="02020603050405020304" pitchFamily="18" charset="0"/>
              </a:rPr>
              <a:t>, </a:t>
            </a:r>
            <a:r>
              <a:rPr lang="en-US" sz="1400" dirty="0" err="1">
                <a:ea typeface="Times New Roman" panose="02020603050405020304" pitchFamily="18" charset="0"/>
              </a:rPr>
              <a:t>ulje</a:t>
            </a:r>
            <a:r>
              <a:rPr lang="en-US" sz="1400" dirty="0">
                <a:ea typeface="Times New Roman" panose="02020603050405020304" pitchFamily="18" charset="0"/>
              </a:rPr>
              <a:t> </a:t>
            </a:r>
            <a:r>
              <a:rPr lang="en-US" sz="1400" dirty="0" err="1">
                <a:ea typeface="Times New Roman" panose="02020603050405020304" pitchFamily="18" charset="0"/>
              </a:rPr>
              <a:t>na</a:t>
            </a:r>
            <a:r>
              <a:rPr lang="en-US" sz="1400" dirty="0">
                <a:ea typeface="Times New Roman" panose="02020603050405020304" pitchFamily="18" charset="0"/>
              </a:rPr>
              <a:t> </a:t>
            </a:r>
            <a:r>
              <a:rPr lang="en-US" sz="1400" dirty="0" err="1">
                <a:ea typeface="Times New Roman" panose="02020603050405020304" pitchFamily="18" charset="0"/>
              </a:rPr>
              <a:t>platnu</a:t>
            </a:r>
            <a:r>
              <a:rPr lang="en-US" sz="1400" dirty="0">
                <a:ea typeface="Times New Roman" panose="02020603050405020304" pitchFamily="18" charset="0"/>
              </a:rPr>
              <a:t>, </a:t>
            </a:r>
            <a:r>
              <a:rPr lang="en-US" sz="1400" b="1" dirty="0">
                <a:ea typeface="Times New Roman" panose="02020603050405020304" pitchFamily="18" charset="0"/>
              </a:rPr>
              <a:t>1762.</a:t>
            </a:r>
            <a:r>
              <a:rPr lang="en-US" sz="1400" dirty="0">
                <a:ea typeface="Times New Roman" panose="02020603050405020304" pitchFamily="18" charset="0"/>
              </a:rPr>
              <a:t>, 292x246.4 cm, National Gallery, London </a:t>
            </a:r>
            <a:endParaRPr lang="hr-HR" sz="1400" dirty="0"/>
          </a:p>
        </p:txBody>
      </p:sp>
      <p:sp>
        <p:nvSpPr>
          <p:cNvPr id="11" name="TekstniOkvir 10"/>
          <p:cNvSpPr txBox="1"/>
          <p:nvPr/>
        </p:nvSpPr>
        <p:spPr>
          <a:xfrm>
            <a:off x="7910624" y="515793"/>
            <a:ext cx="3160329" cy="584775"/>
          </a:xfrm>
          <a:prstGeom prst="rect">
            <a:avLst/>
          </a:prstGeom>
          <a:noFill/>
        </p:spPr>
        <p:txBody>
          <a:bodyPr wrap="square" rtlCol="0">
            <a:spAutoFit/>
          </a:bodyPr>
          <a:lstStyle/>
          <a:p>
            <a:r>
              <a:rPr lang="hr-HR" sz="3200" b="1" dirty="0" smtClean="0"/>
              <a:t>ANIMALIZAM</a:t>
            </a:r>
            <a:endParaRPr lang="hr-HR" sz="3200" b="1" dirty="0"/>
          </a:p>
        </p:txBody>
      </p:sp>
      <p:pic>
        <p:nvPicPr>
          <p:cNvPr id="12" name="Slika 11"/>
          <p:cNvPicPr>
            <a:picLocks noChangeAspect="1"/>
          </p:cNvPicPr>
          <p:nvPr/>
        </p:nvPicPr>
        <p:blipFill rotWithShape="1">
          <a:blip r:embed="rId6" cstate="print">
            <a:extLst>
              <a:ext uri="{28A0092B-C50C-407E-A947-70E740481C1C}">
                <a14:useLocalDpi xmlns:a14="http://schemas.microsoft.com/office/drawing/2010/main" val="0"/>
              </a:ext>
            </a:extLst>
          </a:blip>
          <a:srcRect l="8082" t="12273" r="12829" b="8939"/>
          <a:stretch/>
        </p:blipFill>
        <p:spPr>
          <a:xfrm>
            <a:off x="342367" y="1748272"/>
            <a:ext cx="3303368" cy="2688187"/>
          </a:xfrm>
          <a:prstGeom prst="rect">
            <a:avLst/>
          </a:prstGeom>
        </p:spPr>
      </p:pic>
      <p:sp>
        <p:nvSpPr>
          <p:cNvPr id="2" name="Pravokutnik 1"/>
          <p:cNvSpPr/>
          <p:nvPr/>
        </p:nvSpPr>
        <p:spPr>
          <a:xfrm>
            <a:off x="462122" y="4704956"/>
            <a:ext cx="2807300" cy="738664"/>
          </a:xfrm>
          <a:prstGeom prst="rect">
            <a:avLst/>
          </a:prstGeom>
        </p:spPr>
        <p:txBody>
          <a:bodyPr wrap="square">
            <a:spAutoFit/>
          </a:bodyPr>
          <a:lstStyle/>
          <a:p>
            <a:pPr algn="ctr"/>
            <a:r>
              <a:rPr lang="en-US" sz="1400" dirty="0">
                <a:ea typeface="Times New Roman" panose="02020603050405020304" pitchFamily="18" charset="0"/>
              </a:rPr>
              <a:t>George Stubbs, </a:t>
            </a:r>
            <a:r>
              <a:rPr lang="en-US" sz="1400" i="1" dirty="0">
                <a:ea typeface="Times New Roman" panose="02020603050405020304" pitchFamily="18" charset="0"/>
              </a:rPr>
              <a:t>The Anatomy of a Horse</a:t>
            </a:r>
            <a:r>
              <a:rPr lang="en-US" sz="1400" dirty="0">
                <a:ea typeface="Times New Roman" panose="02020603050405020304" pitchFamily="18" charset="0"/>
              </a:rPr>
              <a:t>, 1766., J. Purser, for the Author, London </a:t>
            </a:r>
            <a:endParaRPr lang="hr-HR" sz="1400" dirty="0"/>
          </a:p>
        </p:txBody>
      </p:sp>
      <p:sp>
        <p:nvSpPr>
          <p:cNvPr id="4" name="TekstniOkvir 3"/>
          <p:cNvSpPr txBox="1"/>
          <p:nvPr/>
        </p:nvSpPr>
        <p:spPr>
          <a:xfrm>
            <a:off x="7910624" y="1045899"/>
            <a:ext cx="3717235" cy="646331"/>
          </a:xfrm>
          <a:prstGeom prst="rect">
            <a:avLst/>
          </a:prstGeom>
          <a:noFill/>
        </p:spPr>
        <p:txBody>
          <a:bodyPr wrap="square" rtlCol="0">
            <a:spAutoFit/>
          </a:bodyPr>
          <a:lstStyle/>
          <a:p>
            <a:r>
              <a:rPr lang="hr-HR" dirty="0"/>
              <a:t>p</a:t>
            </a:r>
            <a:r>
              <a:rPr lang="hr-HR" dirty="0" smtClean="0"/>
              <a:t>rikaz životinjskih motiva u likovnoj umjetnosti</a:t>
            </a:r>
            <a:endParaRPr lang="hr-HR" dirty="0"/>
          </a:p>
        </p:txBody>
      </p:sp>
    </p:spTree>
    <p:extLst>
      <p:ext uri="{BB962C8B-B14F-4D97-AF65-F5344CB8AC3E}">
        <p14:creationId xmlns:p14="http://schemas.microsoft.com/office/powerpoint/2010/main" val="219050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xit" presetSubtype="0" fill="hold" grpId="1" nodeType="with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0" grpId="1"/>
      <p:bldP spid="11"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lika 5"/>
          <p:cNvPicPr>
            <a:picLocks noChangeAspect="1"/>
          </p:cNvPicPr>
          <p:nvPr/>
        </p:nvPicPr>
        <p:blipFill rotWithShape="1">
          <a:blip r:embed="rId3" cstate="print">
            <a:extLst>
              <a:ext uri="{28A0092B-C50C-407E-A947-70E740481C1C}">
                <a14:useLocalDpi xmlns:a14="http://schemas.microsoft.com/office/drawing/2010/main" val="0"/>
              </a:ext>
            </a:extLst>
          </a:blip>
          <a:srcRect l="9449" t="6789" r="9956" b="8024"/>
          <a:stretch/>
        </p:blipFill>
        <p:spPr>
          <a:xfrm>
            <a:off x="653143" y="1375949"/>
            <a:ext cx="4929051" cy="3605349"/>
          </a:xfrm>
          <a:prstGeom prst="rect">
            <a:avLst/>
          </a:prstGeom>
        </p:spPr>
      </p:pic>
      <p:sp>
        <p:nvSpPr>
          <p:cNvPr id="5" name="TekstniOkvir 4"/>
          <p:cNvSpPr txBox="1"/>
          <p:nvPr/>
        </p:nvSpPr>
        <p:spPr>
          <a:xfrm>
            <a:off x="875586" y="5155276"/>
            <a:ext cx="4484163" cy="523220"/>
          </a:xfrm>
          <a:prstGeom prst="rect">
            <a:avLst/>
          </a:prstGeom>
          <a:noFill/>
        </p:spPr>
        <p:txBody>
          <a:bodyPr wrap="square" rtlCol="0">
            <a:spAutoFit/>
          </a:bodyPr>
          <a:lstStyle/>
          <a:p>
            <a:pPr lvl="0" algn="ctr"/>
            <a:r>
              <a:rPr lang="en-US" sz="1400" i="1" dirty="0" err="1"/>
              <a:t>Konjanici</a:t>
            </a:r>
            <a:r>
              <a:rPr lang="en-US" sz="1400" dirty="0"/>
              <a:t>, </a:t>
            </a:r>
            <a:r>
              <a:rPr lang="en-US" sz="1400" dirty="0" err="1"/>
              <a:t>zapadni</a:t>
            </a:r>
            <a:r>
              <a:rPr lang="en-US" sz="1400" dirty="0"/>
              <a:t> </a:t>
            </a:r>
            <a:r>
              <a:rPr lang="en-US" sz="1400" dirty="0" err="1"/>
              <a:t>friz</a:t>
            </a:r>
            <a:r>
              <a:rPr lang="en-US" sz="1400" dirty="0"/>
              <a:t> </a:t>
            </a:r>
            <a:r>
              <a:rPr lang="en-US" sz="1400" dirty="0" err="1"/>
              <a:t>Partenona</a:t>
            </a:r>
            <a:r>
              <a:rPr lang="en-US" sz="1400" dirty="0"/>
              <a:t>, </a:t>
            </a:r>
            <a:r>
              <a:rPr lang="en-US" sz="1400" dirty="0" err="1"/>
              <a:t>mramor</a:t>
            </a:r>
            <a:r>
              <a:rPr lang="en-US" sz="1400" dirty="0"/>
              <a:t>, </a:t>
            </a:r>
            <a:r>
              <a:rPr lang="en-US" sz="1400" dirty="0" err="1"/>
              <a:t>između</a:t>
            </a:r>
            <a:r>
              <a:rPr lang="en-US" sz="1400" dirty="0"/>
              <a:t> 440. </a:t>
            </a:r>
            <a:r>
              <a:rPr lang="en-US" sz="1400" dirty="0" err="1"/>
              <a:t>i</a:t>
            </a:r>
            <a:r>
              <a:rPr lang="en-US" sz="1400" dirty="0"/>
              <a:t> 432. g. pr. Kr., </a:t>
            </a:r>
            <a:r>
              <a:rPr lang="en-US" sz="1400" dirty="0" err="1"/>
              <a:t>visina</a:t>
            </a:r>
            <a:r>
              <a:rPr lang="en-US" sz="1400" dirty="0"/>
              <a:t> 109,3 cm, The British Museum, </a:t>
            </a:r>
            <a:r>
              <a:rPr lang="en-US" sz="1400" dirty="0" smtClean="0"/>
              <a:t>London</a:t>
            </a:r>
            <a:endParaRPr lang="hr-HR" sz="1400" dirty="0"/>
          </a:p>
        </p:txBody>
      </p:sp>
      <p:pic>
        <p:nvPicPr>
          <p:cNvPr id="4" name="Slika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148" y="1062634"/>
            <a:ext cx="5369694" cy="4780042"/>
          </a:xfrm>
          <a:prstGeom prst="rect">
            <a:avLst/>
          </a:prstGeom>
        </p:spPr>
      </p:pic>
      <p:sp>
        <p:nvSpPr>
          <p:cNvPr id="2" name="Pravokutnik 1"/>
          <p:cNvSpPr/>
          <p:nvPr/>
        </p:nvSpPr>
        <p:spPr>
          <a:xfrm>
            <a:off x="800892" y="5842676"/>
            <a:ext cx="4781302" cy="738664"/>
          </a:xfrm>
          <a:prstGeom prst="rect">
            <a:avLst/>
          </a:prstGeom>
        </p:spPr>
        <p:txBody>
          <a:bodyPr wrap="square">
            <a:spAutoFit/>
          </a:bodyPr>
          <a:lstStyle/>
          <a:p>
            <a:pPr lvl="0" algn="ctr">
              <a:lnSpc>
                <a:spcPct val="150000"/>
              </a:lnSpc>
              <a:spcAft>
                <a:spcPts val="0"/>
              </a:spcAft>
            </a:pPr>
            <a:r>
              <a:rPr lang="en-US" sz="1400" i="1" dirty="0" err="1">
                <a:ea typeface="Times New Roman" panose="02020603050405020304" pitchFamily="18" charset="0"/>
              </a:rPr>
              <a:t>Lapit</a:t>
            </a:r>
            <a:r>
              <a:rPr lang="en-US" sz="1400" i="1" dirty="0">
                <a:ea typeface="Times New Roman" panose="02020603050405020304" pitchFamily="18" charset="0"/>
              </a:rPr>
              <a:t> </a:t>
            </a:r>
            <a:r>
              <a:rPr lang="en-US" sz="1400" i="1" dirty="0" err="1">
                <a:ea typeface="Times New Roman" panose="02020603050405020304" pitchFamily="18" charset="0"/>
              </a:rPr>
              <a:t>i</a:t>
            </a:r>
            <a:r>
              <a:rPr lang="en-US" sz="1400" i="1" dirty="0">
                <a:ea typeface="Times New Roman" panose="02020603050405020304" pitchFamily="18" charset="0"/>
              </a:rPr>
              <a:t> </a:t>
            </a:r>
            <a:r>
              <a:rPr lang="hr-HR" sz="1400" i="1" dirty="0" smtClean="0">
                <a:ea typeface="Times New Roman" panose="02020603050405020304" pitchFamily="18" charset="0"/>
              </a:rPr>
              <a:t>k</a:t>
            </a:r>
            <a:r>
              <a:rPr lang="en-US" sz="1400" i="1" dirty="0" err="1" smtClean="0">
                <a:ea typeface="Times New Roman" panose="02020603050405020304" pitchFamily="18" charset="0"/>
              </a:rPr>
              <a:t>entaur</a:t>
            </a:r>
            <a:r>
              <a:rPr lang="en-US" sz="1400" dirty="0">
                <a:ea typeface="Times New Roman" panose="02020603050405020304" pitchFamily="18" charset="0"/>
              </a:rPr>
              <a:t>, </a:t>
            </a:r>
            <a:r>
              <a:rPr lang="en-US" sz="1400" dirty="0" err="1">
                <a:ea typeface="Times New Roman" panose="02020603050405020304" pitchFamily="18" charset="0"/>
              </a:rPr>
              <a:t>metopa</a:t>
            </a:r>
            <a:r>
              <a:rPr lang="en-US" sz="1400" dirty="0">
                <a:ea typeface="Times New Roman" panose="02020603050405020304" pitchFamily="18" charset="0"/>
              </a:rPr>
              <a:t> s </a:t>
            </a:r>
            <a:r>
              <a:rPr lang="en-US" sz="1400" dirty="0" err="1">
                <a:ea typeface="Times New Roman" panose="02020603050405020304" pitchFamily="18" charset="0"/>
              </a:rPr>
              <a:t>južne</a:t>
            </a:r>
            <a:r>
              <a:rPr lang="en-US" sz="1400" dirty="0">
                <a:ea typeface="Times New Roman" panose="02020603050405020304" pitchFamily="18" charset="0"/>
              </a:rPr>
              <a:t> </a:t>
            </a:r>
            <a:r>
              <a:rPr lang="en-US" sz="1400" dirty="0" err="1">
                <a:ea typeface="Times New Roman" panose="02020603050405020304" pitchFamily="18" charset="0"/>
              </a:rPr>
              <a:t>strane</a:t>
            </a:r>
            <a:r>
              <a:rPr lang="en-US" sz="1400" dirty="0">
                <a:ea typeface="Times New Roman" panose="02020603050405020304" pitchFamily="18" charset="0"/>
              </a:rPr>
              <a:t> </a:t>
            </a:r>
            <a:r>
              <a:rPr lang="en-US" sz="1400" dirty="0" err="1">
                <a:ea typeface="Times New Roman" panose="02020603050405020304" pitchFamily="18" charset="0"/>
              </a:rPr>
              <a:t>Partenona</a:t>
            </a:r>
            <a:r>
              <a:rPr lang="en-US" sz="1400" dirty="0">
                <a:ea typeface="Times New Roman" panose="02020603050405020304" pitchFamily="18" charset="0"/>
              </a:rPr>
              <a:t>, </a:t>
            </a:r>
            <a:r>
              <a:rPr lang="en-US" sz="1400" dirty="0" err="1">
                <a:ea typeface="Times New Roman" panose="02020603050405020304" pitchFamily="18" charset="0"/>
              </a:rPr>
              <a:t>mramor</a:t>
            </a:r>
            <a:r>
              <a:rPr lang="en-US" sz="1400" dirty="0">
                <a:ea typeface="Times New Roman" panose="02020603050405020304" pitchFamily="18" charset="0"/>
              </a:rPr>
              <a:t>, </a:t>
            </a:r>
            <a:r>
              <a:rPr lang="en-US" sz="1400" dirty="0" err="1">
                <a:ea typeface="Times New Roman" panose="02020603050405020304" pitchFamily="18" charset="0"/>
              </a:rPr>
              <a:t>oko</a:t>
            </a:r>
            <a:r>
              <a:rPr lang="en-US" sz="1400" dirty="0">
                <a:ea typeface="Times New Roman" panose="02020603050405020304" pitchFamily="18" charset="0"/>
              </a:rPr>
              <a:t> 440. g. pr. Kr., </a:t>
            </a:r>
            <a:r>
              <a:rPr lang="en-US" sz="1400" dirty="0" err="1">
                <a:ea typeface="Times New Roman" panose="02020603050405020304" pitchFamily="18" charset="0"/>
              </a:rPr>
              <a:t>visina</a:t>
            </a:r>
            <a:r>
              <a:rPr lang="en-US" sz="1400" dirty="0">
                <a:ea typeface="Times New Roman" panose="02020603050405020304" pitchFamily="18" charset="0"/>
              </a:rPr>
              <a:t> 142,2 cm, The British Museum, </a:t>
            </a:r>
            <a:r>
              <a:rPr lang="en-US" sz="1400" dirty="0" smtClean="0">
                <a:ea typeface="Times New Roman" panose="02020603050405020304" pitchFamily="18" charset="0"/>
              </a:rPr>
              <a:t>London</a:t>
            </a:r>
            <a:endParaRPr lang="hr-HR" sz="1400" dirty="0">
              <a:ea typeface="Times New Roman" panose="02020603050405020304" pitchFamily="18" charset="0"/>
            </a:endParaRPr>
          </a:p>
        </p:txBody>
      </p:sp>
      <p:sp>
        <p:nvSpPr>
          <p:cNvPr id="3" name="TekstniOkvir 2"/>
          <p:cNvSpPr txBox="1"/>
          <p:nvPr/>
        </p:nvSpPr>
        <p:spPr>
          <a:xfrm>
            <a:off x="6257425" y="692368"/>
            <a:ext cx="5336284" cy="769441"/>
          </a:xfrm>
          <a:prstGeom prst="rect">
            <a:avLst/>
          </a:prstGeom>
          <a:noFill/>
        </p:spPr>
        <p:txBody>
          <a:bodyPr wrap="square" rtlCol="0">
            <a:spAutoFit/>
          </a:bodyPr>
          <a:lstStyle/>
          <a:p>
            <a:r>
              <a:rPr lang="hr-HR" sz="2400" b="1" dirty="0" smtClean="0">
                <a:solidFill>
                  <a:schemeClr val="accent2"/>
                </a:solidFill>
              </a:rPr>
              <a:t>HIMERA</a:t>
            </a:r>
            <a:r>
              <a:rPr lang="hr-HR" sz="2400" dirty="0" smtClean="0">
                <a:solidFill>
                  <a:schemeClr val="accent2"/>
                </a:solidFill>
              </a:rPr>
              <a:t> </a:t>
            </a:r>
            <a:r>
              <a:rPr lang="hr-HR" sz="2400" i="1" dirty="0" smtClean="0">
                <a:solidFill>
                  <a:schemeClr val="accent2"/>
                </a:solidFill>
              </a:rPr>
              <a:t>(</a:t>
            </a:r>
            <a:r>
              <a:rPr lang="hr-HR" sz="2400" i="1" dirty="0" err="1" smtClean="0">
                <a:solidFill>
                  <a:schemeClr val="accent2"/>
                </a:solidFill>
              </a:rPr>
              <a:t>chimera</a:t>
            </a:r>
            <a:r>
              <a:rPr lang="hr-HR" sz="2400" i="1" dirty="0" smtClean="0">
                <a:solidFill>
                  <a:schemeClr val="accent2"/>
                </a:solidFill>
              </a:rPr>
              <a:t>)</a:t>
            </a:r>
            <a:r>
              <a:rPr lang="hr-HR" sz="2400" dirty="0" smtClean="0">
                <a:solidFill>
                  <a:schemeClr val="accent2"/>
                </a:solidFill>
              </a:rPr>
              <a:t> </a:t>
            </a:r>
            <a:r>
              <a:rPr lang="hr-HR" sz="2000" dirty="0" smtClean="0"/>
              <a:t>= </a:t>
            </a:r>
            <a:r>
              <a:rPr lang="hr-HR" sz="2000" dirty="0" smtClean="0">
                <a:solidFill>
                  <a:srgbClr val="40382C"/>
                </a:solidFill>
              </a:rPr>
              <a:t>fantastično biće konstruirano od različitih organizama</a:t>
            </a:r>
            <a:endParaRPr lang="hr-HR" sz="2000" dirty="0">
              <a:solidFill>
                <a:srgbClr val="857663"/>
              </a:solidFill>
            </a:endParaRPr>
          </a:p>
        </p:txBody>
      </p:sp>
      <p:pic>
        <p:nvPicPr>
          <p:cNvPr id="1026" name="Picture 2" descr="Understanding Genetic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3490" y="1588396"/>
            <a:ext cx="5244154" cy="3901651"/>
          </a:xfrm>
          <a:prstGeom prst="rect">
            <a:avLst/>
          </a:prstGeom>
          <a:noFill/>
          <a:extLst>
            <a:ext uri="{909E8E84-426E-40DD-AFC4-6F175D3DCCD1}">
              <a14:hiddenFill xmlns:a14="http://schemas.microsoft.com/office/drawing/2010/main">
                <a:solidFill>
                  <a:srgbClr val="FFFFFF"/>
                </a:solidFill>
              </a14:hiddenFill>
            </a:ext>
          </a:extLst>
        </p:spPr>
      </p:pic>
      <p:sp>
        <p:nvSpPr>
          <p:cNvPr id="8" name="TekstniOkvir 7"/>
          <p:cNvSpPr txBox="1"/>
          <p:nvPr/>
        </p:nvSpPr>
        <p:spPr>
          <a:xfrm>
            <a:off x="7003474" y="5581066"/>
            <a:ext cx="3927763" cy="523220"/>
          </a:xfrm>
          <a:prstGeom prst="rect">
            <a:avLst/>
          </a:prstGeom>
          <a:noFill/>
        </p:spPr>
        <p:txBody>
          <a:bodyPr wrap="square" rtlCol="0">
            <a:spAutoFit/>
          </a:bodyPr>
          <a:lstStyle/>
          <a:p>
            <a:pPr algn="ctr"/>
            <a:r>
              <a:rPr lang="hr-HR" sz="1400" i="1" dirty="0"/>
              <a:t>H</a:t>
            </a:r>
            <a:r>
              <a:rPr lang="hr-HR" sz="1400" i="1" dirty="0" smtClean="0"/>
              <a:t>imera iz </a:t>
            </a:r>
            <a:r>
              <a:rPr lang="hr-HR" sz="1400" i="1" dirty="0" err="1" smtClean="0"/>
              <a:t>Arezza</a:t>
            </a:r>
            <a:r>
              <a:rPr lang="hr-HR" sz="1400" i="1" dirty="0" smtClean="0"/>
              <a:t>, </a:t>
            </a:r>
            <a:r>
              <a:rPr lang="hr-HR" sz="1400" dirty="0" err="1" smtClean="0"/>
              <a:t>bronza</a:t>
            </a:r>
            <a:r>
              <a:rPr lang="hr-HR" sz="1400" dirty="0" smtClean="0"/>
              <a:t>, oko 400. pr. Kr</a:t>
            </a:r>
            <a:r>
              <a:rPr lang="hr-HR" sz="1400" dirty="0"/>
              <a:t>., </a:t>
            </a:r>
            <a:r>
              <a:rPr lang="hr-HR" sz="1400" dirty="0" err="1"/>
              <a:t>Museo</a:t>
            </a:r>
            <a:r>
              <a:rPr lang="hr-HR" sz="1400" dirty="0"/>
              <a:t> </a:t>
            </a:r>
            <a:r>
              <a:rPr lang="hr-HR" sz="1400" dirty="0" err="1"/>
              <a:t>Archeologico</a:t>
            </a:r>
            <a:r>
              <a:rPr lang="hr-HR" sz="1400" dirty="0"/>
              <a:t> </a:t>
            </a:r>
            <a:r>
              <a:rPr lang="hr-HR" sz="1400" dirty="0" err="1"/>
              <a:t>Nazionale</a:t>
            </a:r>
            <a:r>
              <a:rPr lang="hr-HR" sz="1400" dirty="0"/>
              <a:t>, </a:t>
            </a:r>
            <a:r>
              <a:rPr lang="hr-HR" sz="1400" dirty="0" smtClean="0"/>
              <a:t>Firenca</a:t>
            </a:r>
            <a:endParaRPr lang="hr-HR" sz="1400" i="1" dirty="0"/>
          </a:p>
        </p:txBody>
      </p:sp>
      <p:sp>
        <p:nvSpPr>
          <p:cNvPr id="7" name="TekstniOkvir 6"/>
          <p:cNvSpPr txBox="1"/>
          <p:nvPr/>
        </p:nvSpPr>
        <p:spPr>
          <a:xfrm>
            <a:off x="573148" y="237374"/>
            <a:ext cx="5231304" cy="769441"/>
          </a:xfrm>
          <a:prstGeom prst="rect">
            <a:avLst/>
          </a:prstGeom>
          <a:noFill/>
        </p:spPr>
        <p:txBody>
          <a:bodyPr wrap="square" rtlCol="0">
            <a:spAutoFit/>
          </a:bodyPr>
          <a:lstStyle/>
          <a:p>
            <a:r>
              <a:rPr lang="hr-HR" sz="2400" b="1" dirty="0" smtClean="0">
                <a:solidFill>
                  <a:schemeClr val="accent2"/>
                </a:solidFill>
              </a:rPr>
              <a:t>KENTAUROMAHIJA</a:t>
            </a:r>
            <a:r>
              <a:rPr lang="hr-HR" sz="2000" b="1" dirty="0" smtClean="0"/>
              <a:t> </a:t>
            </a:r>
            <a:r>
              <a:rPr lang="hr-HR" sz="2000" dirty="0" smtClean="0"/>
              <a:t>= prikaz borbe kentaura i </a:t>
            </a:r>
            <a:r>
              <a:rPr lang="hr-HR" sz="2000" dirty="0" err="1" smtClean="0"/>
              <a:t>Lapita</a:t>
            </a:r>
            <a:r>
              <a:rPr lang="hr-HR" sz="2000" dirty="0" smtClean="0"/>
              <a:t> u antičkoj grčkoj umjetnosti</a:t>
            </a:r>
            <a:endParaRPr lang="hr-HR" sz="2000" b="1" dirty="0"/>
          </a:p>
        </p:txBody>
      </p:sp>
    </p:spTree>
    <p:extLst>
      <p:ext uri="{BB962C8B-B14F-4D97-AF65-F5344CB8AC3E}">
        <p14:creationId xmlns:p14="http://schemas.microsoft.com/office/powerpoint/2010/main" val="11662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xit" presetSubtype="0" fill="hold" nodeType="withEffect">
                                  <p:stCondLst>
                                    <p:cond delay="0"/>
                                  </p:stCondLst>
                                  <p:childTnLst>
                                    <p:animEffect transition="out" filter="fade">
                                      <p:cBhvr>
                                        <p:cTn id="9" dur="2000"/>
                                        <p:tgtEl>
                                          <p:spTgt spid="6"/>
                                        </p:tgtEl>
                                      </p:cBhvr>
                                    </p:animEffect>
                                    <p:set>
                                      <p:cBhvr>
                                        <p:cTn id="10" dur="1" fill="hold">
                                          <p:stCondLst>
                                            <p:cond delay="1999"/>
                                          </p:stCondLst>
                                        </p:cTn>
                                        <p:tgtEl>
                                          <p:spTgt spid="6"/>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500"/>
                                        <p:tgtEl>
                                          <p:spTgt spid="10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699" y="561049"/>
            <a:ext cx="9118771" cy="5191049"/>
          </a:xfrm>
          <a:prstGeom prst="rect">
            <a:avLst/>
          </a:prstGeom>
        </p:spPr>
      </p:pic>
      <p:sp>
        <p:nvSpPr>
          <p:cNvPr id="3" name="Pravokutnik 2"/>
          <p:cNvSpPr/>
          <p:nvPr/>
        </p:nvSpPr>
        <p:spPr>
          <a:xfrm>
            <a:off x="824774" y="5859674"/>
            <a:ext cx="8132619" cy="461665"/>
          </a:xfrm>
          <a:prstGeom prst="rect">
            <a:avLst/>
          </a:prstGeom>
        </p:spPr>
        <p:txBody>
          <a:bodyPr wrap="square">
            <a:spAutoFit/>
          </a:bodyPr>
          <a:lstStyle/>
          <a:p>
            <a:pPr algn="ctr"/>
            <a:r>
              <a:rPr lang="en-US" sz="1200" dirty="0">
                <a:ea typeface="Times New Roman" panose="02020603050405020304" pitchFamily="18" charset="0"/>
              </a:rPr>
              <a:t>Hieronymus Bosch, </a:t>
            </a:r>
            <a:r>
              <a:rPr lang="en-US" sz="1200" i="1" dirty="0" err="1">
                <a:ea typeface="Times New Roman" panose="02020603050405020304" pitchFamily="18" charset="0"/>
              </a:rPr>
              <a:t>Vrt</a:t>
            </a:r>
            <a:r>
              <a:rPr lang="en-US" sz="1200" i="1" dirty="0">
                <a:ea typeface="Times New Roman" panose="02020603050405020304" pitchFamily="18" charset="0"/>
              </a:rPr>
              <a:t> </a:t>
            </a:r>
            <a:r>
              <a:rPr lang="en-US" sz="1200" i="1" dirty="0" err="1">
                <a:ea typeface="Times New Roman" panose="02020603050405020304" pitchFamily="18" charset="0"/>
              </a:rPr>
              <a:t>zemaljskih</a:t>
            </a:r>
            <a:r>
              <a:rPr lang="en-US" sz="1200" i="1" dirty="0">
                <a:ea typeface="Times New Roman" panose="02020603050405020304" pitchFamily="18" charset="0"/>
              </a:rPr>
              <a:t> </a:t>
            </a:r>
            <a:r>
              <a:rPr lang="en-US" sz="1200" i="1" dirty="0" err="1">
                <a:ea typeface="Times New Roman" panose="02020603050405020304" pitchFamily="18" charset="0"/>
              </a:rPr>
              <a:t>užitaka</a:t>
            </a:r>
            <a:r>
              <a:rPr lang="en-US" sz="1200" dirty="0">
                <a:ea typeface="Times New Roman" panose="02020603050405020304" pitchFamily="18" charset="0"/>
              </a:rPr>
              <a:t>, </a:t>
            </a:r>
            <a:r>
              <a:rPr lang="en-US" sz="1200" dirty="0" err="1">
                <a:ea typeface="Times New Roman" panose="02020603050405020304" pitchFamily="18" charset="0"/>
              </a:rPr>
              <a:t>ulje</a:t>
            </a:r>
            <a:r>
              <a:rPr lang="en-US" sz="1200" dirty="0">
                <a:ea typeface="Times New Roman" panose="02020603050405020304" pitchFamily="18" charset="0"/>
              </a:rPr>
              <a:t> </a:t>
            </a:r>
            <a:r>
              <a:rPr lang="en-US" sz="1200" dirty="0" err="1">
                <a:ea typeface="Times New Roman" panose="02020603050405020304" pitchFamily="18" charset="0"/>
              </a:rPr>
              <a:t>na</a:t>
            </a:r>
            <a:r>
              <a:rPr lang="en-US" sz="1200" dirty="0">
                <a:ea typeface="Times New Roman" panose="02020603050405020304" pitchFamily="18" charset="0"/>
              </a:rPr>
              <a:t> </a:t>
            </a:r>
            <a:r>
              <a:rPr lang="en-US" sz="1200" dirty="0" err="1">
                <a:ea typeface="Times New Roman" panose="02020603050405020304" pitchFamily="18" charset="0"/>
              </a:rPr>
              <a:t>dasci</a:t>
            </a:r>
            <a:r>
              <a:rPr lang="en-US" sz="1200" dirty="0">
                <a:ea typeface="Times New Roman" panose="02020603050405020304" pitchFamily="18" charset="0"/>
              </a:rPr>
              <a:t>, </a:t>
            </a:r>
            <a:r>
              <a:rPr lang="en-US" sz="1200" dirty="0" err="1">
                <a:ea typeface="Times New Roman" panose="02020603050405020304" pitchFamily="18" charset="0"/>
              </a:rPr>
              <a:t>oko</a:t>
            </a:r>
            <a:r>
              <a:rPr lang="en-US" sz="1200" dirty="0">
                <a:ea typeface="Times New Roman" panose="02020603050405020304" pitchFamily="18" charset="0"/>
              </a:rPr>
              <a:t> 1480.-1515., </a:t>
            </a:r>
            <a:r>
              <a:rPr lang="en-US" sz="1200" dirty="0" err="1">
                <a:ea typeface="Times New Roman" panose="02020603050405020304" pitchFamily="18" charset="0"/>
              </a:rPr>
              <a:t>središnja</a:t>
            </a:r>
            <a:r>
              <a:rPr lang="en-US" sz="1200" dirty="0">
                <a:ea typeface="Times New Roman" panose="02020603050405020304" pitchFamily="18" charset="0"/>
              </a:rPr>
              <a:t> </a:t>
            </a:r>
            <a:r>
              <a:rPr lang="en-US" sz="1200" dirty="0" err="1">
                <a:ea typeface="Times New Roman" panose="02020603050405020304" pitchFamily="18" charset="0"/>
              </a:rPr>
              <a:t>slika</a:t>
            </a:r>
            <a:r>
              <a:rPr lang="en-US" sz="1200" dirty="0">
                <a:ea typeface="Times New Roman" panose="02020603050405020304" pitchFamily="18" charset="0"/>
              </a:rPr>
              <a:t> </a:t>
            </a:r>
            <a:r>
              <a:rPr lang="en-US" sz="1200" dirty="0" smtClean="0">
                <a:ea typeface="Times New Roman" panose="02020603050405020304" pitchFamily="18" charset="0"/>
              </a:rPr>
              <a:t>219</a:t>
            </a:r>
            <a:r>
              <a:rPr lang="hr-HR" sz="1200" dirty="0" smtClean="0">
                <a:ea typeface="Times New Roman" panose="02020603050405020304" pitchFamily="18" charset="0"/>
              </a:rPr>
              <a:t> </a:t>
            </a:r>
            <a:r>
              <a:rPr lang="en-US" sz="1200" dirty="0" smtClean="0">
                <a:ea typeface="Times New Roman" panose="02020603050405020304" pitchFamily="18" charset="0"/>
              </a:rPr>
              <a:t>x</a:t>
            </a:r>
            <a:r>
              <a:rPr lang="hr-HR" sz="1200" dirty="0" smtClean="0">
                <a:ea typeface="Times New Roman" panose="02020603050405020304" pitchFamily="18" charset="0"/>
              </a:rPr>
              <a:t> </a:t>
            </a:r>
            <a:r>
              <a:rPr lang="en-US" sz="1200" dirty="0" smtClean="0">
                <a:ea typeface="Times New Roman" panose="02020603050405020304" pitchFamily="18" charset="0"/>
              </a:rPr>
              <a:t>195 </a:t>
            </a:r>
            <a:r>
              <a:rPr lang="en-US" sz="1200" dirty="0">
                <a:ea typeface="Times New Roman" panose="02020603050405020304" pitchFamily="18" charset="0"/>
              </a:rPr>
              <a:t>cm, </a:t>
            </a:r>
            <a:r>
              <a:rPr lang="en-US" sz="1200" dirty="0" err="1">
                <a:ea typeface="Times New Roman" panose="02020603050405020304" pitchFamily="18" charset="0"/>
              </a:rPr>
              <a:t>svako</a:t>
            </a:r>
            <a:r>
              <a:rPr lang="en-US" sz="1200" dirty="0">
                <a:ea typeface="Times New Roman" panose="02020603050405020304" pitchFamily="18" charset="0"/>
              </a:rPr>
              <a:t> </a:t>
            </a:r>
            <a:r>
              <a:rPr lang="en-US" sz="1200" dirty="0" err="1">
                <a:ea typeface="Times New Roman" panose="02020603050405020304" pitchFamily="18" charset="0"/>
              </a:rPr>
              <a:t>krilo</a:t>
            </a:r>
            <a:r>
              <a:rPr lang="en-US" sz="1200" dirty="0">
                <a:ea typeface="Times New Roman" panose="02020603050405020304" pitchFamily="18" charset="0"/>
              </a:rPr>
              <a:t> </a:t>
            </a:r>
            <a:r>
              <a:rPr lang="en-US" sz="1200" dirty="0" smtClean="0">
                <a:ea typeface="Times New Roman" panose="02020603050405020304" pitchFamily="18" charset="0"/>
              </a:rPr>
              <a:t>219</a:t>
            </a:r>
            <a:r>
              <a:rPr lang="hr-HR" sz="1200" dirty="0" smtClean="0">
                <a:ea typeface="Times New Roman" panose="02020603050405020304" pitchFamily="18" charset="0"/>
              </a:rPr>
              <a:t> </a:t>
            </a:r>
            <a:r>
              <a:rPr lang="en-US" sz="1200" dirty="0" smtClean="0">
                <a:ea typeface="Times New Roman" panose="02020603050405020304" pitchFamily="18" charset="0"/>
              </a:rPr>
              <a:t>x</a:t>
            </a:r>
            <a:r>
              <a:rPr lang="hr-HR" sz="1200" dirty="0" smtClean="0">
                <a:ea typeface="Times New Roman" panose="02020603050405020304" pitchFamily="18" charset="0"/>
              </a:rPr>
              <a:t> </a:t>
            </a:r>
            <a:r>
              <a:rPr lang="en-US" sz="1200" dirty="0" smtClean="0">
                <a:ea typeface="Times New Roman" panose="02020603050405020304" pitchFamily="18" charset="0"/>
              </a:rPr>
              <a:t>96 </a:t>
            </a:r>
            <a:r>
              <a:rPr lang="en-US" sz="1200" dirty="0">
                <a:ea typeface="Times New Roman" panose="02020603050405020304" pitchFamily="18" charset="0"/>
              </a:rPr>
              <a:t>cm, </a:t>
            </a:r>
            <a:r>
              <a:rPr lang="en-US" sz="1200" dirty="0" err="1">
                <a:ea typeface="Times New Roman" panose="02020603050405020304" pitchFamily="18" charset="0"/>
              </a:rPr>
              <a:t>Museo</a:t>
            </a:r>
            <a:r>
              <a:rPr lang="en-US" sz="1200" dirty="0">
                <a:ea typeface="Times New Roman" panose="02020603050405020304" pitchFamily="18" charset="0"/>
              </a:rPr>
              <a:t> del Prado, Madrid </a:t>
            </a:r>
            <a:endParaRPr lang="hr-HR" sz="1200" dirty="0"/>
          </a:p>
        </p:txBody>
      </p:sp>
      <p:sp>
        <p:nvSpPr>
          <p:cNvPr id="4" name="TekstniOkvir 3"/>
          <p:cNvSpPr txBox="1"/>
          <p:nvPr/>
        </p:nvSpPr>
        <p:spPr>
          <a:xfrm>
            <a:off x="9559637" y="3075766"/>
            <a:ext cx="1974272" cy="369332"/>
          </a:xfrm>
          <a:prstGeom prst="rect">
            <a:avLst/>
          </a:prstGeom>
          <a:noFill/>
        </p:spPr>
        <p:txBody>
          <a:bodyPr wrap="square" rtlCol="0">
            <a:spAutoFit/>
          </a:bodyPr>
          <a:lstStyle/>
          <a:p>
            <a:r>
              <a:rPr lang="hr-HR" dirty="0" smtClean="0"/>
              <a:t>ZADATAK:</a:t>
            </a:r>
            <a:endParaRPr lang="hr-HR" dirty="0"/>
          </a:p>
        </p:txBody>
      </p:sp>
      <p:sp>
        <p:nvSpPr>
          <p:cNvPr id="5" name="TekstniOkvir 4"/>
          <p:cNvSpPr txBox="1"/>
          <p:nvPr/>
        </p:nvSpPr>
        <p:spPr>
          <a:xfrm>
            <a:off x="9559637" y="3553808"/>
            <a:ext cx="2410690" cy="2031325"/>
          </a:xfrm>
          <a:prstGeom prst="rect">
            <a:avLst/>
          </a:prstGeom>
          <a:noFill/>
        </p:spPr>
        <p:txBody>
          <a:bodyPr wrap="square" rtlCol="0">
            <a:spAutoFit/>
          </a:bodyPr>
          <a:lstStyle/>
          <a:p>
            <a:pPr marL="342900" indent="-342900">
              <a:buFont typeface="+mj-lt"/>
              <a:buAutoNum type="arabicPeriod"/>
            </a:pPr>
            <a:r>
              <a:rPr lang="hr-HR" dirty="0" smtClean="0"/>
              <a:t>U Google upiši ‘’</a:t>
            </a:r>
            <a:r>
              <a:rPr lang="hr-HR" b="1" dirty="0" smtClean="0">
                <a:solidFill>
                  <a:srgbClr val="B1A737"/>
                </a:solidFill>
              </a:rPr>
              <a:t>Bosch </a:t>
            </a:r>
            <a:r>
              <a:rPr lang="hr-HR" b="1" dirty="0" err="1" smtClean="0">
                <a:solidFill>
                  <a:srgbClr val="B1A737"/>
                </a:solidFill>
              </a:rPr>
              <a:t>Garden</a:t>
            </a:r>
            <a:r>
              <a:rPr lang="hr-HR" b="1" dirty="0" smtClean="0">
                <a:solidFill>
                  <a:srgbClr val="B1A737"/>
                </a:solidFill>
              </a:rPr>
              <a:t> Google Arts</a:t>
            </a:r>
            <a:r>
              <a:rPr lang="hr-HR" dirty="0" smtClean="0"/>
              <a:t>’’ i uđi na prvu poveznicu</a:t>
            </a:r>
          </a:p>
          <a:p>
            <a:pPr marL="342900" indent="-342900">
              <a:buFont typeface="+mj-lt"/>
              <a:buAutoNum type="arabicPeriod"/>
            </a:pPr>
            <a:endParaRPr lang="hr-HR" dirty="0" smtClean="0"/>
          </a:p>
          <a:p>
            <a:pPr marL="342900" indent="-342900">
              <a:buFont typeface="+mj-lt"/>
              <a:buAutoNum type="arabicPeriod"/>
            </a:pPr>
            <a:r>
              <a:rPr lang="hr-HR" dirty="0" smtClean="0"/>
              <a:t>Pronađi</a:t>
            </a:r>
            <a:r>
              <a:rPr lang="hr-HR" b="1" dirty="0" smtClean="0">
                <a:solidFill>
                  <a:srgbClr val="849041"/>
                </a:solidFill>
              </a:rPr>
              <a:t> </a:t>
            </a:r>
            <a:r>
              <a:rPr lang="hr-HR" b="1" dirty="0">
                <a:solidFill>
                  <a:srgbClr val="849041"/>
                </a:solidFill>
              </a:rPr>
              <a:t>jednu </a:t>
            </a:r>
            <a:r>
              <a:rPr lang="hr-HR" b="1" dirty="0" smtClean="0">
                <a:solidFill>
                  <a:srgbClr val="849041"/>
                </a:solidFill>
              </a:rPr>
              <a:t>himeru </a:t>
            </a:r>
            <a:r>
              <a:rPr lang="hr-HR" dirty="0"/>
              <a:t>u prikazu! </a:t>
            </a:r>
          </a:p>
        </p:txBody>
      </p:sp>
    </p:spTree>
    <p:extLst>
      <p:ext uri="{BB962C8B-B14F-4D97-AF65-F5344CB8AC3E}">
        <p14:creationId xmlns:p14="http://schemas.microsoft.com/office/powerpoint/2010/main" val="20580444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9294" y="374468"/>
            <a:ext cx="4778313" cy="5538652"/>
          </a:xfrm>
          <a:prstGeom prst="rect">
            <a:avLst/>
          </a:prstGeom>
        </p:spPr>
      </p:pic>
      <p:pic>
        <p:nvPicPr>
          <p:cNvPr id="6" name="Slika 5"/>
          <p:cNvPicPr>
            <a:picLocks noChangeAspect="1"/>
          </p:cNvPicPr>
          <p:nvPr/>
        </p:nvPicPr>
        <p:blipFill rotWithShape="1">
          <a:blip r:embed="rId4">
            <a:extLst>
              <a:ext uri="{28A0092B-C50C-407E-A947-70E740481C1C}">
                <a14:useLocalDpi xmlns:a14="http://schemas.microsoft.com/office/drawing/2010/main" val="0"/>
              </a:ext>
            </a:extLst>
          </a:blip>
          <a:srcRect l="306" t="7111" r="-1253" b="12254"/>
          <a:stretch/>
        </p:blipFill>
        <p:spPr>
          <a:xfrm>
            <a:off x="6557554" y="374468"/>
            <a:ext cx="4511040" cy="5529943"/>
          </a:xfrm>
          <a:prstGeom prst="rect">
            <a:avLst/>
          </a:prstGeom>
        </p:spPr>
      </p:pic>
      <p:sp>
        <p:nvSpPr>
          <p:cNvPr id="2" name="Pravokutnik 1"/>
          <p:cNvSpPr/>
          <p:nvPr/>
        </p:nvSpPr>
        <p:spPr>
          <a:xfrm>
            <a:off x="803563" y="6001480"/>
            <a:ext cx="4859482" cy="461665"/>
          </a:xfrm>
          <a:prstGeom prst="rect">
            <a:avLst/>
          </a:prstGeom>
        </p:spPr>
        <p:txBody>
          <a:bodyPr wrap="square">
            <a:spAutoFit/>
          </a:bodyPr>
          <a:lstStyle/>
          <a:p>
            <a:pPr algn="ctr"/>
            <a:r>
              <a:rPr lang="en-US" sz="1200" dirty="0">
                <a:ea typeface="Times New Roman" panose="02020603050405020304" pitchFamily="18" charset="0"/>
              </a:rPr>
              <a:t>Hieronymus Bosch, </a:t>
            </a:r>
            <a:r>
              <a:rPr lang="en-US" sz="1200" i="1" dirty="0" err="1">
                <a:ea typeface="Times New Roman" panose="02020603050405020304" pitchFamily="18" charset="0"/>
              </a:rPr>
              <a:t>Vrt</a:t>
            </a:r>
            <a:r>
              <a:rPr lang="en-US" sz="1200" i="1" dirty="0">
                <a:ea typeface="Times New Roman" panose="02020603050405020304" pitchFamily="18" charset="0"/>
              </a:rPr>
              <a:t> </a:t>
            </a:r>
            <a:r>
              <a:rPr lang="en-US" sz="1200" i="1" dirty="0" err="1">
                <a:ea typeface="Times New Roman" panose="02020603050405020304" pitchFamily="18" charset="0"/>
              </a:rPr>
              <a:t>zemaljskih</a:t>
            </a:r>
            <a:r>
              <a:rPr lang="en-US" sz="1200" i="1" dirty="0">
                <a:ea typeface="Times New Roman" panose="02020603050405020304" pitchFamily="18" charset="0"/>
              </a:rPr>
              <a:t> </a:t>
            </a:r>
            <a:r>
              <a:rPr lang="en-US" sz="1200" i="1" dirty="0" err="1" smtClean="0">
                <a:ea typeface="Times New Roman" panose="02020603050405020304" pitchFamily="18" charset="0"/>
              </a:rPr>
              <a:t>užitaka</a:t>
            </a:r>
            <a:r>
              <a:rPr lang="hr-HR" sz="1200" i="1" dirty="0" smtClean="0">
                <a:ea typeface="Times New Roman" panose="02020603050405020304" pitchFamily="18" charset="0"/>
              </a:rPr>
              <a:t> </a:t>
            </a:r>
            <a:r>
              <a:rPr lang="hr-HR" sz="1200" dirty="0" smtClean="0">
                <a:ea typeface="Times New Roman" panose="02020603050405020304" pitchFamily="18" charset="0"/>
              </a:rPr>
              <a:t>(detalj)</a:t>
            </a:r>
            <a:r>
              <a:rPr lang="en-US" sz="1200" dirty="0" smtClean="0">
                <a:ea typeface="Times New Roman" panose="02020603050405020304" pitchFamily="18" charset="0"/>
              </a:rPr>
              <a:t>, </a:t>
            </a:r>
            <a:r>
              <a:rPr lang="en-US" sz="1200" dirty="0" err="1">
                <a:ea typeface="Times New Roman" panose="02020603050405020304" pitchFamily="18" charset="0"/>
              </a:rPr>
              <a:t>ulje</a:t>
            </a:r>
            <a:r>
              <a:rPr lang="en-US" sz="1200" dirty="0">
                <a:ea typeface="Times New Roman" panose="02020603050405020304" pitchFamily="18" charset="0"/>
              </a:rPr>
              <a:t> </a:t>
            </a:r>
            <a:r>
              <a:rPr lang="en-US" sz="1200" dirty="0" err="1">
                <a:ea typeface="Times New Roman" panose="02020603050405020304" pitchFamily="18" charset="0"/>
              </a:rPr>
              <a:t>na</a:t>
            </a:r>
            <a:r>
              <a:rPr lang="en-US" sz="1200" dirty="0">
                <a:ea typeface="Times New Roman" panose="02020603050405020304" pitchFamily="18" charset="0"/>
              </a:rPr>
              <a:t> </a:t>
            </a:r>
            <a:r>
              <a:rPr lang="en-US" sz="1200" dirty="0" err="1">
                <a:ea typeface="Times New Roman" panose="02020603050405020304" pitchFamily="18" charset="0"/>
              </a:rPr>
              <a:t>dasci</a:t>
            </a:r>
            <a:r>
              <a:rPr lang="en-US" sz="1200" dirty="0">
                <a:ea typeface="Times New Roman" panose="02020603050405020304" pitchFamily="18" charset="0"/>
              </a:rPr>
              <a:t>, </a:t>
            </a:r>
            <a:r>
              <a:rPr lang="en-US" sz="1200" dirty="0" err="1">
                <a:ea typeface="Times New Roman" panose="02020603050405020304" pitchFamily="18" charset="0"/>
              </a:rPr>
              <a:t>oko</a:t>
            </a:r>
            <a:r>
              <a:rPr lang="en-US" sz="1200" dirty="0">
                <a:ea typeface="Times New Roman" panose="02020603050405020304" pitchFamily="18" charset="0"/>
              </a:rPr>
              <a:t> 1480.-1515., </a:t>
            </a:r>
            <a:r>
              <a:rPr lang="hr-HR" sz="1200" dirty="0" smtClean="0">
                <a:ea typeface="Times New Roman" panose="02020603050405020304" pitchFamily="18" charset="0"/>
              </a:rPr>
              <a:t>lijevo krilo, </a:t>
            </a:r>
            <a:r>
              <a:rPr lang="en-US" sz="1200" dirty="0" smtClean="0">
                <a:ea typeface="Times New Roman" panose="02020603050405020304" pitchFamily="18" charset="0"/>
              </a:rPr>
              <a:t>219</a:t>
            </a:r>
            <a:r>
              <a:rPr lang="hr-HR" sz="1200" dirty="0" smtClean="0">
                <a:ea typeface="Times New Roman" panose="02020603050405020304" pitchFamily="18" charset="0"/>
              </a:rPr>
              <a:t> </a:t>
            </a:r>
            <a:r>
              <a:rPr lang="en-US" sz="1200" dirty="0" smtClean="0">
                <a:ea typeface="Times New Roman" panose="02020603050405020304" pitchFamily="18" charset="0"/>
              </a:rPr>
              <a:t>x</a:t>
            </a:r>
            <a:r>
              <a:rPr lang="hr-HR" sz="1200" dirty="0" smtClean="0">
                <a:ea typeface="Times New Roman" panose="02020603050405020304" pitchFamily="18" charset="0"/>
              </a:rPr>
              <a:t> </a:t>
            </a:r>
            <a:r>
              <a:rPr lang="en-US" sz="1200" dirty="0" smtClean="0">
                <a:ea typeface="Times New Roman" panose="02020603050405020304" pitchFamily="18" charset="0"/>
              </a:rPr>
              <a:t>96 </a:t>
            </a:r>
            <a:r>
              <a:rPr lang="en-US" sz="1200" dirty="0">
                <a:ea typeface="Times New Roman" panose="02020603050405020304" pitchFamily="18" charset="0"/>
              </a:rPr>
              <a:t>cm, </a:t>
            </a:r>
            <a:r>
              <a:rPr lang="en-US" sz="1200" dirty="0" err="1">
                <a:ea typeface="Times New Roman" panose="02020603050405020304" pitchFamily="18" charset="0"/>
              </a:rPr>
              <a:t>Museo</a:t>
            </a:r>
            <a:r>
              <a:rPr lang="en-US" sz="1200" dirty="0">
                <a:ea typeface="Times New Roman" panose="02020603050405020304" pitchFamily="18" charset="0"/>
              </a:rPr>
              <a:t> del Prado, Madrid </a:t>
            </a:r>
            <a:endParaRPr lang="hr-HR" sz="1200" dirty="0"/>
          </a:p>
        </p:txBody>
      </p:sp>
      <p:sp>
        <p:nvSpPr>
          <p:cNvPr id="4" name="Pravokutnik 3"/>
          <p:cNvSpPr/>
          <p:nvPr/>
        </p:nvSpPr>
        <p:spPr>
          <a:xfrm>
            <a:off x="6711339" y="6001480"/>
            <a:ext cx="4357255" cy="461665"/>
          </a:xfrm>
          <a:prstGeom prst="rect">
            <a:avLst/>
          </a:prstGeom>
        </p:spPr>
        <p:txBody>
          <a:bodyPr wrap="square">
            <a:spAutoFit/>
          </a:bodyPr>
          <a:lstStyle/>
          <a:p>
            <a:pPr algn="ctr"/>
            <a:r>
              <a:rPr lang="en-US" sz="1200" dirty="0">
                <a:ea typeface="Times New Roman" panose="02020603050405020304" pitchFamily="18" charset="0"/>
              </a:rPr>
              <a:t>Hieronymus Bosch, </a:t>
            </a:r>
            <a:r>
              <a:rPr lang="en-US" sz="1200" i="1" dirty="0" err="1">
                <a:ea typeface="Times New Roman" panose="02020603050405020304" pitchFamily="18" charset="0"/>
              </a:rPr>
              <a:t>Vrt</a:t>
            </a:r>
            <a:r>
              <a:rPr lang="en-US" sz="1200" i="1" dirty="0">
                <a:ea typeface="Times New Roman" panose="02020603050405020304" pitchFamily="18" charset="0"/>
              </a:rPr>
              <a:t> </a:t>
            </a:r>
            <a:r>
              <a:rPr lang="en-US" sz="1200" i="1" dirty="0" err="1">
                <a:ea typeface="Times New Roman" panose="02020603050405020304" pitchFamily="18" charset="0"/>
              </a:rPr>
              <a:t>zemaljskih</a:t>
            </a:r>
            <a:r>
              <a:rPr lang="en-US" sz="1200" i="1" dirty="0">
                <a:ea typeface="Times New Roman" panose="02020603050405020304" pitchFamily="18" charset="0"/>
              </a:rPr>
              <a:t> </a:t>
            </a:r>
            <a:r>
              <a:rPr lang="en-US" sz="1200" i="1" dirty="0" err="1">
                <a:ea typeface="Times New Roman" panose="02020603050405020304" pitchFamily="18" charset="0"/>
              </a:rPr>
              <a:t>užitaka</a:t>
            </a:r>
            <a:r>
              <a:rPr lang="hr-HR" sz="1200" i="1" dirty="0">
                <a:ea typeface="Times New Roman" panose="02020603050405020304" pitchFamily="18" charset="0"/>
              </a:rPr>
              <a:t> </a:t>
            </a:r>
            <a:r>
              <a:rPr lang="hr-HR" sz="1200" dirty="0">
                <a:ea typeface="Times New Roman" panose="02020603050405020304" pitchFamily="18" charset="0"/>
              </a:rPr>
              <a:t>(detalj)</a:t>
            </a:r>
            <a:r>
              <a:rPr lang="en-US" sz="1200" dirty="0">
                <a:ea typeface="Times New Roman" panose="02020603050405020304" pitchFamily="18" charset="0"/>
              </a:rPr>
              <a:t>, </a:t>
            </a:r>
            <a:r>
              <a:rPr lang="en-US" sz="1200" dirty="0" err="1">
                <a:ea typeface="Times New Roman" panose="02020603050405020304" pitchFamily="18" charset="0"/>
              </a:rPr>
              <a:t>ulje</a:t>
            </a:r>
            <a:r>
              <a:rPr lang="en-US" sz="1200" dirty="0">
                <a:ea typeface="Times New Roman" panose="02020603050405020304" pitchFamily="18" charset="0"/>
              </a:rPr>
              <a:t> </a:t>
            </a:r>
            <a:r>
              <a:rPr lang="en-US" sz="1200" dirty="0" err="1">
                <a:ea typeface="Times New Roman" panose="02020603050405020304" pitchFamily="18" charset="0"/>
              </a:rPr>
              <a:t>na</a:t>
            </a:r>
            <a:r>
              <a:rPr lang="en-US" sz="1200" dirty="0">
                <a:ea typeface="Times New Roman" panose="02020603050405020304" pitchFamily="18" charset="0"/>
              </a:rPr>
              <a:t> </a:t>
            </a:r>
            <a:r>
              <a:rPr lang="en-US" sz="1200" dirty="0" err="1">
                <a:ea typeface="Times New Roman" panose="02020603050405020304" pitchFamily="18" charset="0"/>
              </a:rPr>
              <a:t>dasci</a:t>
            </a:r>
            <a:r>
              <a:rPr lang="en-US" sz="1200" dirty="0">
                <a:ea typeface="Times New Roman" panose="02020603050405020304" pitchFamily="18" charset="0"/>
              </a:rPr>
              <a:t>, </a:t>
            </a:r>
            <a:r>
              <a:rPr lang="en-US" sz="1200" dirty="0" err="1">
                <a:ea typeface="Times New Roman" panose="02020603050405020304" pitchFamily="18" charset="0"/>
              </a:rPr>
              <a:t>oko</a:t>
            </a:r>
            <a:r>
              <a:rPr lang="en-US" sz="1200" dirty="0">
                <a:ea typeface="Times New Roman" panose="02020603050405020304" pitchFamily="18" charset="0"/>
              </a:rPr>
              <a:t> 1480.-1515., </a:t>
            </a:r>
            <a:r>
              <a:rPr lang="hr-HR" sz="1200" dirty="0" smtClean="0">
                <a:ea typeface="Times New Roman" panose="02020603050405020304" pitchFamily="18" charset="0"/>
              </a:rPr>
              <a:t>desno </a:t>
            </a:r>
            <a:r>
              <a:rPr lang="hr-HR" sz="1200" dirty="0">
                <a:ea typeface="Times New Roman" panose="02020603050405020304" pitchFamily="18" charset="0"/>
              </a:rPr>
              <a:t>krilo, </a:t>
            </a:r>
            <a:r>
              <a:rPr lang="en-US" sz="1200" dirty="0" smtClean="0">
                <a:ea typeface="Times New Roman" panose="02020603050405020304" pitchFamily="18" charset="0"/>
              </a:rPr>
              <a:t>219</a:t>
            </a:r>
            <a:r>
              <a:rPr lang="hr-HR" sz="1200" dirty="0" smtClean="0">
                <a:ea typeface="Times New Roman" panose="02020603050405020304" pitchFamily="18" charset="0"/>
              </a:rPr>
              <a:t> </a:t>
            </a:r>
            <a:r>
              <a:rPr lang="en-US" sz="1200" dirty="0" smtClean="0">
                <a:ea typeface="Times New Roman" panose="02020603050405020304" pitchFamily="18" charset="0"/>
              </a:rPr>
              <a:t>x</a:t>
            </a:r>
            <a:r>
              <a:rPr lang="hr-HR" sz="1200" dirty="0" smtClean="0">
                <a:ea typeface="Times New Roman" panose="02020603050405020304" pitchFamily="18" charset="0"/>
              </a:rPr>
              <a:t> </a:t>
            </a:r>
            <a:r>
              <a:rPr lang="en-US" sz="1200" dirty="0" smtClean="0">
                <a:ea typeface="Times New Roman" panose="02020603050405020304" pitchFamily="18" charset="0"/>
              </a:rPr>
              <a:t>96 </a:t>
            </a:r>
            <a:r>
              <a:rPr lang="en-US" sz="1200" dirty="0">
                <a:ea typeface="Times New Roman" panose="02020603050405020304" pitchFamily="18" charset="0"/>
              </a:rPr>
              <a:t>cm, </a:t>
            </a:r>
            <a:r>
              <a:rPr lang="en-US" sz="1200" dirty="0" err="1">
                <a:ea typeface="Times New Roman" panose="02020603050405020304" pitchFamily="18" charset="0"/>
              </a:rPr>
              <a:t>Museo</a:t>
            </a:r>
            <a:r>
              <a:rPr lang="en-US" sz="1200" dirty="0">
                <a:ea typeface="Times New Roman" panose="02020603050405020304" pitchFamily="18" charset="0"/>
              </a:rPr>
              <a:t> del Prado, Madrid </a:t>
            </a:r>
            <a:endParaRPr lang="hr-HR" sz="1200" dirty="0"/>
          </a:p>
        </p:txBody>
      </p:sp>
    </p:spTree>
    <p:extLst>
      <p:ext uri="{BB962C8B-B14F-4D97-AF65-F5344CB8AC3E}">
        <p14:creationId xmlns:p14="http://schemas.microsoft.com/office/powerpoint/2010/main" val="1043487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7634" y="1795030"/>
            <a:ext cx="5486400" cy="4533900"/>
          </a:xfrm>
          <a:prstGeom prst="rect">
            <a:avLst/>
          </a:prstGeom>
        </p:spPr>
      </p:pic>
      <p:pic>
        <p:nvPicPr>
          <p:cNvPr id="3" name="Slika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2460" y="445943"/>
            <a:ext cx="3104005" cy="5691941"/>
          </a:xfrm>
          <a:prstGeom prst="rect">
            <a:avLst/>
          </a:prstGeom>
        </p:spPr>
      </p:pic>
      <p:sp>
        <p:nvSpPr>
          <p:cNvPr id="4" name="Pravokutnik 3"/>
          <p:cNvSpPr/>
          <p:nvPr/>
        </p:nvSpPr>
        <p:spPr>
          <a:xfrm>
            <a:off x="1358161" y="6137884"/>
            <a:ext cx="2449645" cy="382092"/>
          </a:xfrm>
          <a:prstGeom prst="rect">
            <a:avLst/>
          </a:prstGeom>
        </p:spPr>
        <p:txBody>
          <a:bodyPr wrap="none">
            <a:spAutoFit/>
          </a:bodyPr>
          <a:lstStyle/>
          <a:p>
            <a:pPr lvl="0">
              <a:lnSpc>
                <a:spcPct val="150000"/>
              </a:lnSpc>
              <a:spcAft>
                <a:spcPts val="0"/>
              </a:spcAft>
            </a:pPr>
            <a:r>
              <a:rPr lang="en-US" sz="1400" dirty="0">
                <a:ea typeface="Times New Roman" panose="02020603050405020304" pitchFamily="18" charset="0"/>
              </a:rPr>
              <a:t>Eduardo </a:t>
            </a:r>
            <a:r>
              <a:rPr lang="en-US" sz="1400" dirty="0" err="1">
                <a:ea typeface="Times New Roman" panose="02020603050405020304" pitchFamily="18" charset="0"/>
              </a:rPr>
              <a:t>Kac</a:t>
            </a:r>
            <a:r>
              <a:rPr lang="en-US" sz="1400" dirty="0">
                <a:ea typeface="Times New Roman" panose="02020603050405020304" pitchFamily="18" charset="0"/>
              </a:rPr>
              <a:t>, </a:t>
            </a:r>
            <a:r>
              <a:rPr lang="en-US" sz="1400" i="1" dirty="0">
                <a:ea typeface="Times New Roman" panose="02020603050405020304" pitchFamily="18" charset="0"/>
              </a:rPr>
              <a:t>GFP Bunny</a:t>
            </a:r>
            <a:r>
              <a:rPr lang="en-US" sz="1400" dirty="0">
                <a:ea typeface="Times New Roman" panose="02020603050405020304" pitchFamily="18" charset="0"/>
              </a:rPr>
              <a:t>, 2000.</a:t>
            </a:r>
            <a:endParaRPr lang="hr-HR" sz="1400" dirty="0">
              <a:ea typeface="Times New Roman" panose="02020603050405020304" pitchFamily="18" charset="0"/>
            </a:endParaRPr>
          </a:p>
        </p:txBody>
      </p:sp>
      <p:sp>
        <p:nvSpPr>
          <p:cNvPr id="5" name="TekstniOkvir 4"/>
          <p:cNvSpPr txBox="1"/>
          <p:nvPr/>
        </p:nvSpPr>
        <p:spPr>
          <a:xfrm>
            <a:off x="6902246" y="445943"/>
            <a:ext cx="5058696" cy="584775"/>
          </a:xfrm>
          <a:prstGeom prst="rect">
            <a:avLst/>
          </a:prstGeom>
          <a:noFill/>
        </p:spPr>
        <p:txBody>
          <a:bodyPr wrap="square" rtlCol="0">
            <a:spAutoFit/>
          </a:bodyPr>
          <a:lstStyle/>
          <a:p>
            <a:r>
              <a:rPr lang="hr-HR" sz="3200" b="1" dirty="0" smtClean="0">
                <a:solidFill>
                  <a:srgbClr val="79AE22"/>
                </a:solidFill>
              </a:rPr>
              <a:t>TRANSGENSKA UMJETNOST</a:t>
            </a:r>
            <a:endParaRPr lang="hr-HR" sz="3200" b="1" dirty="0">
              <a:solidFill>
                <a:srgbClr val="79AE22"/>
              </a:solidFill>
            </a:endParaRPr>
          </a:p>
        </p:txBody>
      </p:sp>
      <p:sp>
        <p:nvSpPr>
          <p:cNvPr id="6" name="TekstniOkvir 5"/>
          <p:cNvSpPr txBox="1"/>
          <p:nvPr/>
        </p:nvSpPr>
        <p:spPr>
          <a:xfrm>
            <a:off x="6970807" y="911065"/>
            <a:ext cx="4837471" cy="646331"/>
          </a:xfrm>
          <a:prstGeom prst="rect">
            <a:avLst/>
          </a:prstGeom>
          <a:noFill/>
        </p:spPr>
        <p:txBody>
          <a:bodyPr wrap="square" rtlCol="0">
            <a:spAutoFit/>
          </a:bodyPr>
          <a:lstStyle/>
          <a:p>
            <a:r>
              <a:rPr lang="hr-HR" dirty="0" smtClean="0"/>
              <a:t>umjetnička forma koja se </a:t>
            </a:r>
            <a:r>
              <a:rPr lang="hr-HR" dirty="0" err="1" smtClean="0"/>
              <a:t>bazire</a:t>
            </a:r>
            <a:r>
              <a:rPr lang="hr-HR" dirty="0" smtClean="0"/>
              <a:t> na genetskom inženjeringu</a:t>
            </a:r>
            <a:endParaRPr lang="hr-HR" dirty="0"/>
          </a:p>
        </p:txBody>
      </p:sp>
    </p:spTree>
    <p:extLst>
      <p:ext uri="{BB962C8B-B14F-4D97-AF65-F5344CB8AC3E}">
        <p14:creationId xmlns:p14="http://schemas.microsoft.com/office/powerpoint/2010/main" val="100185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371" y="256560"/>
            <a:ext cx="10424495" cy="5934360"/>
          </a:xfrm>
          <a:prstGeom prst="rect">
            <a:avLst/>
          </a:prstGeom>
        </p:spPr>
      </p:pic>
      <p:sp>
        <p:nvSpPr>
          <p:cNvPr id="3" name="Pravokutnik 2"/>
          <p:cNvSpPr/>
          <p:nvPr/>
        </p:nvSpPr>
        <p:spPr>
          <a:xfrm>
            <a:off x="2181308" y="6203330"/>
            <a:ext cx="8132619" cy="523220"/>
          </a:xfrm>
          <a:prstGeom prst="rect">
            <a:avLst/>
          </a:prstGeom>
        </p:spPr>
        <p:txBody>
          <a:bodyPr wrap="square">
            <a:spAutoFit/>
          </a:bodyPr>
          <a:lstStyle/>
          <a:p>
            <a:pPr algn="ctr"/>
            <a:r>
              <a:rPr lang="en-US" sz="1400" dirty="0">
                <a:ea typeface="Times New Roman" panose="02020603050405020304" pitchFamily="18" charset="0"/>
              </a:rPr>
              <a:t>Hieronymus Bosch, </a:t>
            </a:r>
            <a:r>
              <a:rPr lang="en-US" sz="1400" i="1" dirty="0" err="1">
                <a:ea typeface="Times New Roman" panose="02020603050405020304" pitchFamily="18" charset="0"/>
              </a:rPr>
              <a:t>Vrt</a:t>
            </a:r>
            <a:r>
              <a:rPr lang="en-US" sz="1400" i="1" dirty="0">
                <a:ea typeface="Times New Roman" panose="02020603050405020304" pitchFamily="18" charset="0"/>
              </a:rPr>
              <a:t> </a:t>
            </a:r>
            <a:r>
              <a:rPr lang="en-US" sz="1400" i="1" dirty="0" err="1">
                <a:ea typeface="Times New Roman" panose="02020603050405020304" pitchFamily="18" charset="0"/>
              </a:rPr>
              <a:t>zemaljskih</a:t>
            </a:r>
            <a:r>
              <a:rPr lang="en-US" sz="1400" i="1" dirty="0">
                <a:ea typeface="Times New Roman" panose="02020603050405020304" pitchFamily="18" charset="0"/>
              </a:rPr>
              <a:t> </a:t>
            </a:r>
            <a:r>
              <a:rPr lang="en-US" sz="1400" i="1" dirty="0" err="1">
                <a:ea typeface="Times New Roman" panose="02020603050405020304" pitchFamily="18" charset="0"/>
              </a:rPr>
              <a:t>užitaka</a:t>
            </a:r>
            <a:r>
              <a:rPr lang="en-US" sz="1400" dirty="0">
                <a:ea typeface="Times New Roman" panose="02020603050405020304" pitchFamily="18" charset="0"/>
              </a:rPr>
              <a:t>, </a:t>
            </a:r>
            <a:r>
              <a:rPr lang="en-US" sz="1400" dirty="0" err="1">
                <a:ea typeface="Times New Roman" panose="02020603050405020304" pitchFamily="18" charset="0"/>
              </a:rPr>
              <a:t>ulje</a:t>
            </a:r>
            <a:r>
              <a:rPr lang="en-US" sz="1400" dirty="0">
                <a:ea typeface="Times New Roman" panose="02020603050405020304" pitchFamily="18" charset="0"/>
              </a:rPr>
              <a:t> </a:t>
            </a:r>
            <a:r>
              <a:rPr lang="en-US" sz="1400" dirty="0" err="1">
                <a:ea typeface="Times New Roman" panose="02020603050405020304" pitchFamily="18" charset="0"/>
              </a:rPr>
              <a:t>na</a:t>
            </a:r>
            <a:r>
              <a:rPr lang="en-US" sz="1400" dirty="0">
                <a:ea typeface="Times New Roman" panose="02020603050405020304" pitchFamily="18" charset="0"/>
              </a:rPr>
              <a:t> </a:t>
            </a:r>
            <a:r>
              <a:rPr lang="en-US" sz="1400" dirty="0" err="1">
                <a:ea typeface="Times New Roman" panose="02020603050405020304" pitchFamily="18" charset="0"/>
              </a:rPr>
              <a:t>dasci</a:t>
            </a:r>
            <a:r>
              <a:rPr lang="en-US" sz="1400" dirty="0">
                <a:ea typeface="Times New Roman" panose="02020603050405020304" pitchFamily="18" charset="0"/>
              </a:rPr>
              <a:t>, </a:t>
            </a:r>
            <a:r>
              <a:rPr lang="en-US" sz="1400" dirty="0" err="1">
                <a:ea typeface="Times New Roman" panose="02020603050405020304" pitchFamily="18" charset="0"/>
              </a:rPr>
              <a:t>oko</a:t>
            </a:r>
            <a:r>
              <a:rPr lang="en-US" sz="1400" dirty="0">
                <a:ea typeface="Times New Roman" panose="02020603050405020304" pitchFamily="18" charset="0"/>
              </a:rPr>
              <a:t> 1480.-1515., </a:t>
            </a:r>
            <a:r>
              <a:rPr lang="en-US" sz="1400" dirty="0" err="1">
                <a:ea typeface="Times New Roman" panose="02020603050405020304" pitchFamily="18" charset="0"/>
              </a:rPr>
              <a:t>središnja</a:t>
            </a:r>
            <a:r>
              <a:rPr lang="en-US" sz="1400" dirty="0">
                <a:ea typeface="Times New Roman" panose="02020603050405020304" pitchFamily="18" charset="0"/>
              </a:rPr>
              <a:t> </a:t>
            </a:r>
            <a:r>
              <a:rPr lang="en-US" sz="1400" dirty="0" err="1">
                <a:ea typeface="Times New Roman" panose="02020603050405020304" pitchFamily="18" charset="0"/>
              </a:rPr>
              <a:t>slika</a:t>
            </a:r>
            <a:r>
              <a:rPr lang="en-US" sz="1400" dirty="0">
                <a:ea typeface="Times New Roman" panose="02020603050405020304" pitchFamily="18" charset="0"/>
              </a:rPr>
              <a:t> </a:t>
            </a:r>
            <a:r>
              <a:rPr lang="en-US" sz="1400" dirty="0" smtClean="0">
                <a:ea typeface="Times New Roman" panose="02020603050405020304" pitchFamily="18" charset="0"/>
              </a:rPr>
              <a:t>219</a:t>
            </a:r>
            <a:r>
              <a:rPr lang="hr-HR" sz="1400" dirty="0" smtClean="0">
                <a:ea typeface="Times New Roman" panose="02020603050405020304" pitchFamily="18" charset="0"/>
              </a:rPr>
              <a:t> </a:t>
            </a:r>
            <a:r>
              <a:rPr lang="en-US" sz="1400" dirty="0" smtClean="0">
                <a:ea typeface="Times New Roman" panose="02020603050405020304" pitchFamily="18" charset="0"/>
              </a:rPr>
              <a:t>x</a:t>
            </a:r>
            <a:r>
              <a:rPr lang="hr-HR" sz="1400" dirty="0" smtClean="0">
                <a:ea typeface="Times New Roman" panose="02020603050405020304" pitchFamily="18" charset="0"/>
              </a:rPr>
              <a:t> </a:t>
            </a:r>
            <a:r>
              <a:rPr lang="en-US" sz="1400" dirty="0" smtClean="0">
                <a:ea typeface="Times New Roman" panose="02020603050405020304" pitchFamily="18" charset="0"/>
              </a:rPr>
              <a:t>195 </a:t>
            </a:r>
            <a:r>
              <a:rPr lang="en-US" sz="1400" dirty="0">
                <a:ea typeface="Times New Roman" panose="02020603050405020304" pitchFamily="18" charset="0"/>
              </a:rPr>
              <a:t>cm, </a:t>
            </a:r>
            <a:r>
              <a:rPr lang="en-US" sz="1400" dirty="0" err="1">
                <a:ea typeface="Times New Roman" panose="02020603050405020304" pitchFamily="18" charset="0"/>
              </a:rPr>
              <a:t>svako</a:t>
            </a:r>
            <a:r>
              <a:rPr lang="en-US" sz="1400" dirty="0">
                <a:ea typeface="Times New Roman" panose="02020603050405020304" pitchFamily="18" charset="0"/>
              </a:rPr>
              <a:t> </a:t>
            </a:r>
            <a:r>
              <a:rPr lang="en-US" sz="1400" dirty="0" err="1">
                <a:ea typeface="Times New Roman" panose="02020603050405020304" pitchFamily="18" charset="0"/>
              </a:rPr>
              <a:t>krilo</a:t>
            </a:r>
            <a:r>
              <a:rPr lang="en-US" sz="1400" dirty="0">
                <a:ea typeface="Times New Roman" panose="02020603050405020304" pitchFamily="18" charset="0"/>
              </a:rPr>
              <a:t> </a:t>
            </a:r>
            <a:r>
              <a:rPr lang="en-US" sz="1400" dirty="0" smtClean="0">
                <a:ea typeface="Times New Roman" panose="02020603050405020304" pitchFamily="18" charset="0"/>
              </a:rPr>
              <a:t>219</a:t>
            </a:r>
            <a:r>
              <a:rPr lang="hr-HR" sz="1400" dirty="0" smtClean="0">
                <a:ea typeface="Times New Roman" panose="02020603050405020304" pitchFamily="18" charset="0"/>
              </a:rPr>
              <a:t> </a:t>
            </a:r>
            <a:r>
              <a:rPr lang="en-US" sz="1400" dirty="0" smtClean="0">
                <a:ea typeface="Times New Roman" panose="02020603050405020304" pitchFamily="18" charset="0"/>
              </a:rPr>
              <a:t>x</a:t>
            </a:r>
            <a:r>
              <a:rPr lang="hr-HR" sz="1400" dirty="0" smtClean="0">
                <a:ea typeface="Times New Roman" panose="02020603050405020304" pitchFamily="18" charset="0"/>
              </a:rPr>
              <a:t> </a:t>
            </a:r>
            <a:r>
              <a:rPr lang="en-US" sz="1400" dirty="0" smtClean="0">
                <a:ea typeface="Times New Roman" panose="02020603050405020304" pitchFamily="18" charset="0"/>
              </a:rPr>
              <a:t>96 </a:t>
            </a:r>
            <a:r>
              <a:rPr lang="en-US" sz="1400" dirty="0">
                <a:ea typeface="Times New Roman" panose="02020603050405020304" pitchFamily="18" charset="0"/>
              </a:rPr>
              <a:t>cm, </a:t>
            </a:r>
            <a:r>
              <a:rPr lang="en-US" sz="1400" dirty="0" err="1">
                <a:ea typeface="Times New Roman" panose="02020603050405020304" pitchFamily="18" charset="0"/>
              </a:rPr>
              <a:t>Museo</a:t>
            </a:r>
            <a:r>
              <a:rPr lang="en-US" sz="1400" dirty="0">
                <a:ea typeface="Times New Roman" panose="02020603050405020304" pitchFamily="18" charset="0"/>
              </a:rPr>
              <a:t> del Prado, Madrid </a:t>
            </a:r>
            <a:endParaRPr lang="hr-HR" sz="1400" dirty="0"/>
          </a:p>
        </p:txBody>
      </p:sp>
    </p:spTree>
    <p:extLst>
      <p:ext uri="{BB962C8B-B14F-4D97-AF65-F5344CB8AC3E}">
        <p14:creationId xmlns:p14="http://schemas.microsoft.com/office/powerpoint/2010/main" val="5413832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5116" y="206477"/>
            <a:ext cx="8501154" cy="6120581"/>
          </a:xfrm>
          <a:prstGeom prst="rect">
            <a:avLst/>
          </a:prstGeom>
        </p:spPr>
      </p:pic>
      <p:sp>
        <p:nvSpPr>
          <p:cNvPr id="3" name="TekstniOkvir 2"/>
          <p:cNvSpPr txBox="1"/>
          <p:nvPr/>
        </p:nvSpPr>
        <p:spPr>
          <a:xfrm>
            <a:off x="1725116" y="6400798"/>
            <a:ext cx="8641179" cy="307777"/>
          </a:xfrm>
          <a:prstGeom prst="rect">
            <a:avLst/>
          </a:prstGeom>
          <a:noFill/>
        </p:spPr>
        <p:txBody>
          <a:bodyPr wrap="square" rtlCol="0">
            <a:spAutoFit/>
          </a:bodyPr>
          <a:lstStyle/>
          <a:p>
            <a:pPr algn="ctr"/>
            <a:r>
              <a:rPr lang="hr-HR" sz="1400" dirty="0" err="1" smtClean="0"/>
              <a:t>Meindert</a:t>
            </a:r>
            <a:r>
              <a:rPr lang="hr-HR" sz="1400" dirty="0" smtClean="0"/>
              <a:t> </a:t>
            </a:r>
            <a:r>
              <a:rPr lang="hr-HR" sz="1400" dirty="0" err="1" smtClean="0"/>
              <a:t>Hobbema</a:t>
            </a:r>
            <a:r>
              <a:rPr lang="hr-HR" sz="1400" dirty="0" smtClean="0"/>
              <a:t>, </a:t>
            </a:r>
            <a:r>
              <a:rPr lang="hr-HR" sz="1400" i="1" dirty="0" smtClean="0"/>
              <a:t>Šumski krajolik</a:t>
            </a:r>
            <a:r>
              <a:rPr lang="hr-HR" sz="1400" dirty="0" smtClean="0"/>
              <a:t>, 1663., ulje na platnu, 94.7 x 130.5 cm, kolekcija </a:t>
            </a:r>
            <a:r>
              <a:rPr lang="hr-HR" sz="1400" dirty="0" err="1" smtClean="0"/>
              <a:t>Andrewa</a:t>
            </a:r>
            <a:r>
              <a:rPr lang="hr-HR" sz="1400" dirty="0" smtClean="0"/>
              <a:t> W. </a:t>
            </a:r>
            <a:r>
              <a:rPr lang="hr-HR" sz="1400" dirty="0" err="1" smtClean="0"/>
              <a:t>Mellona</a:t>
            </a:r>
            <a:r>
              <a:rPr lang="hr-HR" sz="1400" dirty="0" smtClean="0"/>
              <a:t> </a:t>
            </a:r>
            <a:endParaRPr lang="hr-HR" sz="1400" dirty="0"/>
          </a:p>
        </p:txBody>
      </p:sp>
      <p:sp>
        <p:nvSpPr>
          <p:cNvPr id="4" name="TekstniOkvir 3"/>
          <p:cNvSpPr txBox="1"/>
          <p:nvPr/>
        </p:nvSpPr>
        <p:spPr>
          <a:xfrm>
            <a:off x="10398990" y="855406"/>
            <a:ext cx="1436675" cy="584775"/>
          </a:xfrm>
          <a:prstGeom prst="rect">
            <a:avLst/>
          </a:prstGeom>
          <a:noFill/>
        </p:spPr>
        <p:txBody>
          <a:bodyPr wrap="square" rtlCol="0">
            <a:spAutoFit/>
          </a:bodyPr>
          <a:lstStyle/>
          <a:p>
            <a:r>
              <a:rPr lang="hr-HR" sz="3200" b="1" dirty="0" smtClean="0"/>
              <a:t>PEJZAŽ</a:t>
            </a:r>
            <a:endParaRPr lang="hr-HR" sz="3000" b="1" dirty="0"/>
          </a:p>
        </p:txBody>
      </p:sp>
      <p:sp>
        <p:nvSpPr>
          <p:cNvPr id="5" name="TekstniOkvir 4"/>
          <p:cNvSpPr txBox="1"/>
          <p:nvPr/>
        </p:nvSpPr>
        <p:spPr>
          <a:xfrm>
            <a:off x="10429470" y="1385612"/>
            <a:ext cx="1592025" cy="923330"/>
          </a:xfrm>
          <a:prstGeom prst="rect">
            <a:avLst/>
          </a:prstGeom>
          <a:noFill/>
        </p:spPr>
        <p:txBody>
          <a:bodyPr wrap="square" rtlCol="0">
            <a:spAutoFit/>
          </a:bodyPr>
          <a:lstStyle/>
          <a:p>
            <a:r>
              <a:rPr lang="hr-HR" dirty="0" smtClean="0"/>
              <a:t>prikaz krajolika u likovnoj umjetnosti</a:t>
            </a:r>
            <a:endParaRPr lang="hr-HR" dirty="0"/>
          </a:p>
        </p:txBody>
      </p:sp>
    </p:spTree>
    <p:extLst>
      <p:ext uri="{BB962C8B-B14F-4D97-AF65-F5344CB8AC3E}">
        <p14:creationId xmlns:p14="http://schemas.microsoft.com/office/powerpoint/2010/main" val="220236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avokutnik 4"/>
          <p:cNvSpPr/>
          <p:nvPr/>
        </p:nvSpPr>
        <p:spPr>
          <a:xfrm>
            <a:off x="2984878" y="6105242"/>
            <a:ext cx="6361465" cy="307777"/>
          </a:xfrm>
          <a:prstGeom prst="rect">
            <a:avLst/>
          </a:prstGeom>
        </p:spPr>
        <p:txBody>
          <a:bodyPr wrap="square">
            <a:spAutoFit/>
          </a:bodyPr>
          <a:lstStyle/>
          <a:p>
            <a:pPr algn="ctr"/>
            <a:r>
              <a:rPr lang="hr-HR" sz="1400" dirty="0" smtClean="0">
                <a:ea typeface="Times New Roman" panose="02020603050405020304" pitchFamily="18" charset="0"/>
              </a:rPr>
              <a:t>Jan van </a:t>
            </a:r>
            <a:r>
              <a:rPr lang="hr-HR" sz="1400" dirty="0" err="1" smtClean="0">
                <a:ea typeface="Times New Roman" panose="02020603050405020304" pitchFamily="18" charset="0"/>
              </a:rPr>
              <a:t>Goyen</a:t>
            </a:r>
            <a:r>
              <a:rPr lang="en-US" sz="1400" dirty="0" smtClean="0">
                <a:ea typeface="Times New Roman" panose="02020603050405020304" pitchFamily="18" charset="0"/>
              </a:rPr>
              <a:t>, </a:t>
            </a:r>
            <a:r>
              <a:rPr lang="en-US" sz="1400" i="1" dirty="0" err="1">
                <a:ea typeface="Times New Roman" panose="02020603050405020304" pitchFamily="18" charset="0"/>
              </a:rPr>
              <a:t>Gezicht</a:t>
            </a:r>
            <a:r>
              <a:rPr lang="en-US" sz="1400" i="1" dirty="0">
                <a:ea typeface="Times New Roman" panose="02020603050405020304" pitchFamily="18" charset="0"/>
              </a:rPr>
              <a:t> op </a:t>
            </a:r>
            <a:r>
              <a:rPr lang="en-US" sz="1400" i="1" dirty="0" err="1">
                <a:ea typeface="Times New Roman" panose="02020603050405020304" pitchFamily="18" charset="0"/>
              </a:rPr>
              <a:t>Emmerich</a:t>
            </a:r>
            <a:r>
              <a:rPr lang="en-US" sz="1400" dirty="0" smtClean="0">
                <a:ea typeface="Times New Roman" panose="02020603050405020304" pitchFamily="18" charset="0"/>
              </a:rPr>
              <a:t>, </a:t>
            </a:r>
            <a:r>
              <a:rPr lang="en-US" sz="1400" dirty="0" err="1">
                <a:ea typeface="Times New Roman" panose="02020603050405020304" pitchFamily="18" charset="0"/>
              </a:rPr>
              <a:t>ulje</a:t>
            </a:r>
            <a:r>
              <a:rPr lang="en-US" sz="1400" dirty="0">
                <a:ea typeface="Times New Roman" panose="02020603050405020304" pitchFamily="18" charset="0"/>
              </a:rPr>
              <a:t> </a:t>
            </a:r>
            <a:r>
              <a:rPr lang="en-US" sz="1400" dirty="0" err="1">
                <a:ea typeface="Times New Roman" panose="02020603050405020304" pitchFamily="18" charset="0"/>
              </a:rPr>
              <a:t>na</a:t>
            </a:r>
            <a:r>
              <a:rPr lang="en-US" sz="1400" dirty="0">
                <a:ea typeface="Times New Roman" panose="02020603050405020304" pitchFamily="18" charset="0"/>
              </a:rPr>
              <a:t> </a:t>
            </a:r>
            <a:r>
              <a:rPr lang="hr-HR" sz="1400" dirty="0" smtClean="0">
                <a:ea typeface="Times New Roman" panose="02020603050405020304" pitchFamily="18" charset="0"/>
              </a:rPr>
              <a:t>platnu, 1645.</a:t>
            </a:r>
            <a:r>
              <a:rPr lang="en-US" sz="1400" dirty="0">
                <a:ea typeface="Times New Roman" panose="02020603050405020304" pitchFamily="18" charset="0"/>
              </a:rPr>
              <a:t>, </a:t>
            </a:r>
            <a:r>
              <a:rPr lang="en-US" sz="1400" dirty="0" smtClean="0">
                <a:ea typeface="Times New Roman" panose="02020603050405020304" pitchFamily="18" charset="0"/>
              </a:rPr>
              <a:t>Cleveland</a:t>
            </a:r>
            <a:r>
              <a:rPr lang="hr-HR" sz="1400" dirty="0" smtClean="0">
                <a:ea typeface="Times New Roman" panose="02020603050405020304" pitchFamily="18" charset="0"/>
              </a:rPr>
              <a:t> </a:t>
            </a:r>
            <a:r>
              <a:rPr lang="en-US" sz="1400" dirty="0" smtClean="0">
                <a:ea typeface="Times New Roman" panose="02020603050405020304" pitchFamily="18" charset="0"/>
              </a:rPr>
              <a:t>Museum</a:t>
            </a:r>
            <a:r>
              <a:rPr lang="hr-HR" sz="1400" dirty="0" smtClean="0">
                <a:ea typeface="Times New Roman" panose="02020603050405020304" pitchFamily="18" charset="0"/>
              </a:rPr>
              <a:t> </a:t>
            </a:r>
            <a:r>
              <a:rPr lang="en-US" sz="1400" dirty="0" smtClean="0">
                <a:ea typeface="Times New Roman" panose="02020603050405020304" pitchFamily="18" charset="0"/>
              </a:rPr>
              <a:t>of</a:t>
            </a:r>
            <a:r>
              <a:rPr lang="hr-HR" sz="1400" dirty="0" smtClean="0">
                <a:ea typeface="Times New Roman" panose="02020603050405020304" pitchFamily="18" charset="0"/>
              </a:rPr>
              <a:t> </a:t>
            </a:r>
            <a:r>
              <a:rPr lang="en-US" sz="1400" dirty="0" smtClean="0">
                <a:ea typeface="Times New Roman" panose="02020603050405020304" pitchFamily="18" charset="0"/>
              </a:rPr>
              <a:t>Art</a:t>
            </a:r>
            <a:endParaRPr lang="hr-HR" sz="1400" dirty="0"/>
          </a:p>
        </p:txBody>
      </p:sp>
      <p:sp>
        <p:nvSpPr>
          <p:cNvPr id="6" name="TekstniOkvir 5"/>
          <p:cNvSpPr txBox="1"/>
          <p:nvPr/>
        </p:nvSpPr>
        <p:spPr>
          <a:xfrm>
            <a:off x="205185" y="1365012"/>
            <a:ext cx="1577987" cy="584775"/>
          </a:xfrm>
          <a:prstGeom prst="rect">
            <a:avLst/>
          </a:prstGeom>
          <a:noFill/>
        </p:spPr>
        <p:txBody>
          <a:bodyPr wrap="square" rtlCol="0">
            <a:spAutoFit/>
          </a:bodyPr>
          <a:lstStyle/>
          <a:p>
            <a:r>
              <a:rPr lang="hr-HR" sz="3200" b="1" dirty="0" smtClean="0"/>
              <a:t>VEDUTA</a:t>
            </a:r>
            <a:endParaRPr lang="hr-HR" sz="3600" b="1" dirty="0"/>
          </a:p>
        </p:txBody>
      </p:sp>
      <p:sp>
        <p:nvSpPr>
          <p:cNvPr id="9" name="Pravokutnik 8"/>
          <p:cNvSpPr/>
          <p:nvPr/>
        </p:nvSpPr>
        <p:spPr>
          <a:xfrm>
            <a:off x="1696011" y="6151748"/>
            <a:ext cx="7831628" cy="307777"/>
          </a:xfrm>
          <a:prstGeom prst="rect">
            <a:avLst/>
          </a:prstGeom>
        </p:spPr>
        <p:txBody>
          <a:bodyPr wrap="square">
            <a:spAutoFit/>
          </a:bodyPr>
          <a:lstStyle/>
          <a:p>
            <a:pPr algn="ctr"/>
            <a:r>
              <a:rPr lang="hr-HR" sz="1400" dirty="0" smtClean="0">
                <a:ea typeface="Times New Roman" panose="02020603050405020304" pitchFamily="18" charset="0"/>
              </a:rPr>
              <a:t>Jan van </a:t>
            </a:r>
            <a:r>
              <a:rPr lang="hr-HR" sz="1400" dirty="0" err="1" smtClean="0">
                <a:ea typeface="Times New Roman" panose="02020603050405020304" pitchFamily="18" charset="0"/>
              </a:rPr>
              <a:t>Goyen</a:t>
            </a:r>
            <a:r>
              <a:rPr lang="en-US" sz="1400" dirty="0" smtClean="0">
                <a:ea typeface="Times New Roman" panose="02020603050405020304" pitchFamily="18" charset="0"/>
              </a:rPr>
              <a:t>, </a:t>
            </a:r>
            <a:r>
              <a:rPr lang="hr-HR" sz="1400" i="1" dirty="0" smtClean="0">
                <a:ea typeface="Times New Roman" panose="02020603050405020304" pitchFamily="18" charset="0"/>
              </a:rPr>
              <a:t>Brodovi na mirnom moru</a:t>
            </a:r>
            <a:r>
              <a:rPr lang="en-US" sz="1400" dirty="0" smtClean="0">
                <a:ea typeface="Times New Roman" panose="02020603050405020304" pitchFamily="18" charset="0"/>
              </a:rPr>
              <a:t>, </a:t>
            </a:r>
            <a:r>
              <a:rPr lang="en-US" sz="1400" dirty="0" err="1">
                <a:ea typeface="Times New Roman" panose="02020603050405020304" pitchFamily="18" charset="0"/>
              </a:rPr>
              <a:t>ulje</a:t>
            </a:r>
            <a:r>
              <a:rPr lang="en-US" sz="1400" dirty="0">
                <a:ea typeface="Times New Roman" panose="02020603050405020304" pitchFamily="18" charset="0"/>
              </a:rPr>
              <a:t> </a:t>
            </a:r>
            <a:r>
              <a:rPr lang="hr-HR" sz="1400" dirty="0" smtClean="0">
                <a:ea typeface="Times New Roman" panose="02020603050405020304" pitchFamily="18" charset="0"/>
              </a:rPr>
              <a:t>na dasci, prva polovica 17. stoljeća</a:t>
            </a:r>
            <a:r>
              <a:rPr lang="en-US" sz="1400" dirty="0" smtClean="0">
                <a:ea typeface="Times New Roman" panose="02020603050405020304" pitchFamily="18" charset="0"/>
              </a:rPr>
              <a:t>, </a:t>
            </a:r>
            <a:r>
              <a:rPr lang="hr-HR" sz="1400" dirty="0" smtClean="0">
                <a:ea typeface="Times New Roman" panose="02020603050405020304" pitchFamily="18" charset="0"/>
              </a:rPr>
              <a:t>privatno vlasništvo</a:t>
            </a:r>
            <a:endParaRPr lang="hr-HR" sz="1400" dirty="0"/>
          </a:p>
        </p:txBody>
      </p:sp>
      <p:pic>
        <p:nvPicPr>
          <p:cNvPr id="11" name="Rezervirano mjesto sadržaja 10"/>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01540" y="339382"/>
            <a:ext cx="8528143" cy="5749834"/>
          </a:xfrm>
        </p:spPr>
      </p:pic>
      <p:sp>
        <p:nvSpPr>
          <p:cNvPr id="12" name="TekstniOkvir 11"/>
          <p:cNvSpPr txBox="1"/>
          <p:nvPr/>
        </p:nvSpPr>
        <p:spPr>
          <a:xfrm>
            <a:off x="10360065" y="1511449"/>
            <a:ext cx="1751552" cy="584775"/>
          </a:xfrm>
          <a:prstGeom prst="rect">
            <a:avLst/>
          </a:prstGeom>
          <a:noFill/>
        </p:spPr>
        <p:txBody>
          <a:bodyPr wrap="square" rtlCol="0">
            <a:spAutoFit/>
          </a:bodyPr>
          <a:lstStyle/>
          <a:p>
            <a:r>
              <a:rPr lang="hr-HR" sz="3200" b="1" dirty="0" smtClean="0"/>
              <a:t>MARINA</a:t>
            </a:r>
            <a:endParaRPr lang="hr-HR" sz="3200" b="1" dirty="0"/>
          </a:p>
        </p:txBody>
      </p:sp>
      <p:sp>
        <p:nvSpPr>
          <p:cNvPr id="2" name="TekstniOkvir 1"/>
          <p:cNvSpPr txBox="1"/>
          <p:nvPr/>
        </p:nvSpPr>
        <p:spPr>
          <a:xfrm>
            <a:off x="205185" y="1949787"/>
            <a:ext cx="1577987" cy="646331"/>
          </a:xfrm>
          <a:prstGeom prst="rect">
            <a:avLst/>
          </a:prstGeom>
          <a:noFill/>
        </p:spPr>
        <p:txBody>
          <a:bodyPr wrap="square" rtlCol="0">
            <a:spAutoFit/>
          </a:bodyPr>
          <a:lstStyle/>
          <a:p>
            <a:r>
              <a:rPr lang="hr-HR" dirty="0" smtClean="0"/>
              <a:t>tip pejzaža koji prikazuje grad</a:t>
            </a:r>
            <a:endParaRPr lang="hr-HR" dirty="0"/>
          </a:p>
        </p:txBody>
      </p:sp>
      <p:pic>
        <p:nvPicPr>
          <p:cNvPr id="7" name="Slika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4073" y="323356"/>
            <a:ext cx="9435505" cy="5752710"/>
          </a:xfrm>
          <a:prstGeom prst="rect">
            <a:avLst/>
          </a:prstGeom>
        </p:spPr>
      </p:pic>
      <p:sp>
        <p:nvSpPr>
          <p:cNvPr id="10" name="TekstniOkvir 9"/>
          <p:cNvSpPr txBox="1"/>
          <p:nvPr/>
        </p:nvSpPr>
        <p:spPr>
          <a:xfrm>
            <a:off x="10360065" y="2054939"/>
            <a:ext cx="1577987" cy="646331"/>
          </a:xfrm>
          <a:prstGeom prst="rect">
            <a:avLst/>
          </a:prstGeom>
          <a:noFill/>
        </p:spPr>
        <p:txBody>
          <a:bodyPr wrap="square" rtlCol="0">
            <a:spAutoFit/>
          </a:bodyPr>
          <a:lstStyle/>
          <a:p>
            <a:r>
              <a:rPr lang="hr-HR" dirty="0" smtClean="0"/>
              <a:t>tip pejzaža koji prikazuje more</a:t>
            </a:r>
            <a:endParaRPr lang="hr-HR" dirty="0"/>
          </a:p>
        </p:txBody>
      </p:sp>
    </p:spTree>
    <p:extLst>
      <p:ext uri="{BB962C8B-B14F-4D97-AF65-F5344CB8AC3E}">
        <p14:creationId xmlns:p14="http://schemas.microsoft.com/office/powerpoint/2010/main" val="292218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500"/>
                                        <p:tgtEl>
                                          <p:spTgt spid="7"/>
                                        </p:tgtEl>
                                      </p:cBhvr>
                                    </p:animEffect>
                                  </p:childTnLst>
                                </p:cTn>
                              </p:par>
                              <p:par>
                                <p:cTn id="16" presetID="10" presetClass="exit" presetSubtype="0" fill="hold" nodeType="withEffect">
                                  <p:stCondLst>
                                    <p:cond delay="0"/>
                                  </p:stCondLst>
                                  <p:childTnLst>
                                    <p:animEffect transition="out" filter="fade">
                                      <p:cBhvr>
                                        <p:cTn id="17" dur="1500"/>
                                        <p:tgtEl>
                                          <p:spTgt spid="11"/>
                                        </p:tgtEl>
                                      </p:cBhvr>
                                    </p:animEffect>
                                    <p:set>
                                      <p:cBhvr>
                                        <p:cTn id="18" dur="1" fill="hold">
                                          <p:stCondLst>
                                            <p:cond delay="1499"/>
                                          </p:stCondLst>
                                        </p:cTn>
                                        <p:tgtEl>
                                          <p:spTgt spid="11"/>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xit" presetSubtype="0" fill="hold" grpId="0" nodeType="withEffect">
                                  <p:stCondLst>
                                    <p:cond delay="0"/>
                                  </p:stCondLst>
                                  <p:childTnLst>
                                    <p:animEffect transition="out" filter="fade">
                                      <p:cBhvr>
                                        <p:cTn id="26" dur="500"/>
                                        <p:tgtEl>
                                          <p:spTgt spid="6">
                                            <p:txEl>
                                              <p:pRg st="0" end="0"/>
                                            </p:txEl>
                                          </p:spTgt>
                                        </p:tgtEl>
                                      </p:cBhvr>
                                    </p:animEffect>
                                    <p:set>
                                      <p:cBhvr>
                                        <p:cTn id="27" dur="1" fill="hold">
                                          <p:stCondLst>
                                            <p:cond delay="499"/>
                                          </p:stCondLst>
                                        </p:cTn>
                                        <p:tgtEl>
                                          <p:spTgt spid="6">
                                            <p:txEl>
                                              <p:pRg st="0" end="0"/>
                                            </p:txEl>
                                          </p:spTgt>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2">
                                            <p:txEl>
                                              <p:pRg st="0" end="0"/>
                                            </p:txEl>
                                          </p:spTgt>
                                        </p:tgtEl>
                                      </p:cBhvr>
                                    </p:animEffect>
                                    <p:set>
                                      <p:cBhvr>
                                        <p:cTn id="30" dur="1" fill="hold">
                                          <p:stCondLst>
                                            <p:cond delay="499"/>
                                          </p:stCondLst>
                                        </p:cTn>
                                        <p:tgtEl>
                                          <p:spTgt spid="2">
                                            <p:txEl>
                                              <p:pRg st="0" end="0"/>
                                            </p:txEl>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allAtOnce"/>
      <p:bldP spid="9" grpId="0"/>
      <p:bldP spid="12" grpId="0"/>
      <p:bldP spid="2"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endParaRPr lang="hr-HR" dirty="0"/>
          </a:p>
        </p:txBody>
      </p:sp>
      <p:sp>
        <p:nvSpPr>
          <p:cNvPr id="4" name="Rectangle 3"/>
          <p:cNvSpPr/>
          <p:nvPr/>
        </p:nvSpPr>
        <p:spPr>
          <a:xfrm>
            <a:off x="838200" y="617290"/>
            <a:ext cx="6096000" cy="2893100"/>
          </a:xfrm>
          <a:prstGeom prst="rect">
            <a:avLst/>
          </a:prstGeom>
        </p:spPr>
        <p:txBody>
          <a:bodyPr>
            <a:spAutoFit/>
          </a:bodyPr>
          <a:lstStyle/>
          <a:p>
            <a:r>
              <a:rPr lang="hr-HR" dirty="0">
                <a:solidFill>
                  <a:srgbClr val="C37124"/>
                </a:solidFill>
              </a:rPr>
              <a:t>ZADATAK:</a:t>
            </a:r>
          </a:p>
          <a:p>
            <a:endParaRPr lang="hr-HR" dirty="0"/>
          </a:p>
          <a:p>
            <a:pPr marL="342900" indent="-342900">
              <a:buFont typeface="+mj-lt"/>
              <a:buAutoNum type="arabicPeriod"/>
            </a:pPr>
            <a:r>
              <a:rPr lang="hr-HR" dirty="0"/>
              <a:t>Otvorite poveznicu</a:t>
            </a:r>
          </a:p>
          <a:p>
            <a:pPr marL="342900" indent="-342900">
              <a:buFont typeface="+mj-lt"/>
              <a:buAutoNum type="arabicPeriod"/>
            </a:pPr>
            <a:endParaRPr lang="hr-HR" dirty="0"/>
          </a:p>
          <a:p>
            <a:pPr marL="342900" indent="-342900">
              <a:buFont typeface="+mj-lt"/>
              <a:buAutoNum type="arabicPeriod"/>
            </a:pPr>
            <a:r>
              <a:rPr lang="hr-HR" dirty="0"/>
              <a:t>Posloži elemente u kompoziciju</a:t>
            </a:r>
          </a:p>
          <a:p>
            <a:pPr marL="342900" indent="-342900">
              <a:buFont typeface="+mj-lt"/>
              <a:buAutoNum type="arabicPeriod"/>
            </a:pPr>
            <a:endParaRPr lang="hr-HR" dirty="0"/>
          </a:p>
          <a:p>
            <a:pPr marL="342900" indent="-342900">
              <a:buFont typeface="+mj-lt"/>
              <a:buAutoNum type="arabicPeriod"/>
            </a:pPr>
            <a:r>
              <a:rPr lang="hr-HR" dirty="0"/>
              <a:t>Napravi screenshot</a:t>
            </a:r>
          </a:p>
          <a:p>
            <a:pPr marL="342900" indent="-342900">
              <a:buFont typeface="+mj-lt"/>
              <a:buAutoNum type="arabicPeriod"/>
            </a:pPr>
            <a:endParaRPr lang="hr-HR" dirty="0"/>
          </a:p>
          <a:p>
            <a:pPr marL="342900" indent="-342900">
              <a:buFont typeface="+mj-lt"/>
              <a:buAutoNum type="arabicPeriod"/>
            </a:pPr>
            <a:r>
              <a:rPr lang="hr-HR" dirty="0"/>
              <a:t>Postavi na Padlet</a:t>
            </a:r>
          </a:p>
          <a:p>
            <a:r>
              <a:rPr lang="hr-HR" sz="2000" b="1" dirty="0">
                <a:solidFill>
                  <a:schemeClr val="accent2"/>
                </a:solidFill>
              </a:rPr>
              <a:t>https://padlet.com/majapsvp/zadatak1</a:t>
            </a:r>
            <a:endParaRPr lang="hr-HR" dirty="0"/>
          </a:p>
        </p:txBody>
      </p:sp>
      <p:sp>
        <p:nvSpPr>
          <p:cNvPr id="5" name="TextBox 4"/>
          <p:cNvSpPr txBox="1"/>
          <p:nvPr/>
        </p:nvSpPr>
        <p:spPr>
          <a:xfrm>
            <a:off x="334852" y="4275786"/>
            <a:ext cx="11018948" cy="461665"/>
          </a:xfrm>
          <a:prstGeom prst="rect">
            <a:avLst/>
          </a:prstGeom>
          <a:noFill/>
        </p:spPr>
        <p:txBody>
          <a:bodyPr wrap="square" rtlCol="0">
            <a:spAutoFit/>
          </a:bodyPr>
          <a:lstStyle/>
          <a:p>
            <a:r>
              <a:rPr lang="hr-HR" sz="2400" dirty="0">
                <a:hlinkClick r:id="rId2"/>
              </a:rPr>
              <a:t>https://view.genial.ly/5fbeb1ef81188c0d4057fa5e/interactive-content-untitled-genially</a:t>
            </a:r>
            <a:r>
              <a:rPr lang="hr-HR" sz="2400" dirty="0"/>
              <a:t> </a:t>
            </a:r>
          </a:p>
        </p:txBody>
      </p:sp>
    </p:spTree>
    <p:extLst>
      <p:ext uri="{BB962C8B-B14F-4D97-AF65-F5344CB8AC3E}">
        <p14:creationId xmlns:p14="http://schemas.microsoft.com/office/powerpoint/2010/main" val="526691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4" name="Rezervirano mjesto sadržaja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0158" y="365125"/>
            <a:ext cx="10411683" cy="5811838"/>
          </a:xfrm>
        </p:spPr>
      </p:pic>
    </p:spTree>
    <p:extLst>
      <p:ext uri="{BB962C8B-B14F-4D97-AF65-F5344CB8AC3E}">
        <p14:creationId xmlns:p14="http://schemas.microsoft.com/office/powerpoint/2010/main" val="7029393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6642" y="0"/>
            <a:ext cx="8221254" cy="6035771"/>
          </a:xfrm>
          <a:prstGeom prst="rect">
            <a:avLst/>
          </a:prstGeom>
        </p:spPr>
      </p:pic>
      <p:sp>
        <p:nvSpPr>
          <p:cNvPr id="5" name="TextBox 4"/>
          <p:cNvSpPr txBox="1"/>
          <p:nvPr/>
        </p:nvSpPr>
        <p:spPr>
          <a:xfrm>
            <a:off x="3866642" y="6035771"/>
            <a:ext cx="8221254" cy="923330"/>
          </a:xfrm>
          <a:prstGeom prst="rect">
            <a:avLst/>
          </a:prstGeom>
          <a:noFill/>
        </p:spPr>
        <p:txBody>
          <a:bodyPr wrap="square" rtlCol="0">
            <a:spAutoFit/>
          </a:bodyPr>
          <a:lstStyle/>
          <a:p>
            <a:pPr algn="ctr"/>
            <a:r>
              <a:rPr lang="hr-HR" dirty="0"/>
              <a:t>Clara Peeters, </a:t>
            </a:r>
            <a:r>
              <a:rPr lang="hr-HR" i="1" dirty="0"/>
              <a:t>Mrtva priroda s vjevericom</a:t>
            </a:r>
            <a:r>
              <a:rPr lang="hr-HR" dirty="0"/>
              <a:t>, ulje na platnu, 34,1 x 46,8 cm, privatno vlasništvo</a:t>
            </a:r>
          </a:p>
          <a:p>
            <a:pPr algn="ctr"/>
            <a:endParaRPr lang="hr-HR" dirty="0"/>
          </a:p>
        </p:txBody>
      </p:sp>
      <p:sp>
        <p:nvSpPr>
          <p:cNvPr id="6" name="TextBox 5"/>
          <p:cNvSpPr txBox="1"/>
          <p:nvPr/>
        </p:nvSpPr>
        <p:spPr>
          <a:xfrm>
            <a:off x="347730" y="1931831"/>
            <a:ext cx="3052293" cy="1600438"/>
          </a:xfrm>
          <a:prstGeom prst="rect">
            <a:avLst/>
          </a:prstGeom>
          <a:noFill/>
        </p:spPr>
        <p:txBody>
          <a:bodyPr wrap="square" rtlCol="0">
            <a:spAutoFit/>
          </a:bodyPr>
          <a:lstStyle/>
          <a:p>
            <a:r>
              <a:rPr lang="hr-HR" sz="4000" b="1" dirty="0"/>
              <a:t>MRTVA PRIRODA</a:t>
            </a:r>
          </a:p>
          <a:p>
            <a:endParaRPr lang="hr-HR" dirty="0"/>
          </a:p>
        </p:txBody>
      </p:sp>
      <p:sp>
        <p:nvSpPr>
          <p:cNvPr id="7" name="TextBox 6"/>
          <p:cNvSpPr txBox="1"/>
          <p:nvPr/>
        </p:nvSpPr>
        <p:spPr>
          <a:xfrm>
            <a:off x="347730" y="3438659"/>
            <a:ext cx="2562895" cy="2308324"/>
          </a:xfrm>
          <a:prstGeom prst="rect">
            <a:avLst/>
          </a:prstGeom>
          <a:noFill/>
        </p:spPr>
        <p:txBody>
          <a:bodyPr wrap="square" rtlCol="0">
            <a:spAutoFit/>
          </a:bodyPr>
          <a:lstStyle/>
          <a:p>
            <a:pPr algn="just"/>
            <a:r>
              <a:rPr lang="hr-HR" sz="2400" dirty="0"/>
              <a:t>tema u likovnoj umjetnosti koja prikazuje nepokretne </a:t>
            </a:r>
          </a:p>
          <a:p>
            <a:pPr algn="just"/>
            <a:r>
              <a:rPr lang="hr-HR" sz="2400" dirty="0"/>
              <a:t>i nežive predmete</a:t>
            </a:r>
          </a:p>
          <a:p>
            <a:pPr algn="just"/>
            <a:endParaRPr lang="hr-HR" sz="2400" dirty="0"/>
          </a:p>
        </p:txBody>
      </p:sp>
    </p:spTree>
    <p:extLst>
      <p:ext uri="{BB962C8B-B14F-4D97-AF65-F5344CB8AC3E}">
        <p14:creationId xmlns:p14="http://schemas.microsoft.com/office/powerpoint/2010/main" val="105533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3062" y="251812"/>
            <a:ext cx="4886206" cy="6369627"/>
          </a:xfrm>
          <a:prstGeom prst="rect">
            <a:avLst/>
          </a:prstGeom>
        </p:spPr>
      </p:pic>
      <p:pic>
        <p:nvPicPr>
          <p:cNvPr id="3" name="Slika 2"/>
          <p:cNvPicPr>
            <a:picLocks noChangeAspect="1"/>
          </p:cNvPicPr>
          <p:nvPr/>
        </p:nvPicPr>
        <p:blipFill rotWithShape="1">
          <a:blip r:embed="rId3">
            <a:extLst>
              <a:ext uri="{28A0092B-C50C-407E-A947-70E740481C1C}">
                <a14:useLocalDpi xmlns:a14="http://schemas.microsoft.com/office/drawing/2010/main" val="0"/>
              </a:ext>
            </a:extLst>
          </a:blip>
          <a:srcRect l="45516" t="44893" r="34385" b="42190"/>
          <a:stretch/>
        </p:blipFill>
        <p:spPr>
          <a:xfrm>
            <a:off x="9080571" y="2312973"/>
            <a:ext cx="2272450" cy="1903945"/>
          </a:xfrm>
          <a:prstGeom prst="rect">
            <a:avLst/>
          </a:prstGeom>
        </p:spPr>
      </p:pic>
      <p:pic>
        <p:nvPicPr>
          <p:cNvPr id="4" name="Slika 3"/>
          <p:cNvPicPr>
            <a:picLocks noChangeAspect="1"/>
          </p:cNvPicPr>
          <p:nvPr/>
        </p:nvPicPr>
        <p:blipFill rotWithShape="1">
          <a:blip r:embed="rId3">
            <a:extLst>
              <a:ext uri="{28A0092B-C50C-407E-A947-70E740481C1C}">
                <a14:useLocalDpi xmlns:a14="http://schemas.microsoft.com/office/drawing/2010/main" val="0"/>
              </a:ext>
            </a:extLst>
          </a:blip>
          <a:srcRect l="61206" t="66612" r="941" b="7450"/>
          <a:stretch/>
        </p:blipFill>
        <p:spPr>
          <a:xfrm>
            <a:off x="394853" y="3917373"/>
            <a:ext cx="2594069" cy="2317172"/>
          </a:xfrm>
          <a:prstGeom prst="rect">
            <a:avLst/>
          </a:prstGeom>
        </p:spPr>
      </p:pic>
      <p:pic>
        <p:nvPicPr>
          <p:cNvPr id="5" name="Slika 4"/>
          <p:cNvPicPr>
            <a:picLocks noChangeAspect="1"/>
          </p:cNvPicPr>
          <p:nvPr/>
        </p:nvPicPr>
        <p:blipFill rotWithShape="1">
          <a:blip r:embed="rId3">
            <a:extLst>
              <a:ext uri="{28A0092B-C50C-407E-A947-70E740481C1C}">
                <a14:useLocalDpi xmlns:a14="http://schemas.microsoft.com/office/drawing/2010/main" val="0"/>
              </a:ext>
            </a:extLst>
          </a:blip>
          <a:srcRect l="32922" t="30560" r="38794" b="49212"/>
          <a:stretch/>
        </p:blipFill>
        <p:spPr>
          <a:xfrm>
            <a:off x="719341" y="806824"/>
            <a:ext cx="2269581" cy="2116002"/>
          </a:xfrm>
          <a:prstGeom prst="rect">
            <a:avLst/>
          </a:prstGeom>
        </p:spPr>
      </p:pic>
      <p:sp>
        <p:nvSpPr>
          <p:cNvPr id="6" name="Pravokutnik 5"/>
          <p:cNvSpPr/>
          <p:nvPr/>
        </p:nvSpPr>
        <p:spPr>
          <a:xfrm>
            <a:off x="8519874" y="5660677"/>
            <a:ext cx="3005959" cy="954107"/>
          </a:xfrm>
          <a:prstGeom prst="rect">
            <a:avLst/>
          </a:prstGeom>
        </p:spPr>
        <p:txBody>
          <a:bodyPr wrap="square">
            <a:spAutoFit/>
          </a:bodyPr>
          <a:lstStyle/>
          <a:p>
            <a:r>
              <a:rPr lang="en-US" sz="1400" dirty="0">
                <a:ea typeface="Times New Roman" panose="02020603050405020304" pitchFamily="18" charset="0"/>
              </a:rPr>
              <a:t>Jan de </a:t>
            </a:r>
            <a:r>
              <a:rPr lang="en-US" sz="1400" dirty="0" err="1">
                <a:ea typeface="Times New Roman" panose="02020603050405020304" pitchFamily="18" charset="0"/>
              </a:rPr>
              <a:t>Heem</a:t>
            </a:r>
            <a:r>
              <a:rPr lang="en-US" sz="1400" dirty="0">
                <a:ea typeface="Times New Roman" panose="02020603050405020304" pitchFamily="18" charset="0"/>
              </a:rPr>
              <a:t>, </a:t>
            </a:r>
            <a:r>
              <a:rPr lang="en-US" sz="1400" i="1" dirty="0" err="1">
                <a:ea typeface="Times New Roman" panose="02020603050405020304" pitchFamily="18" charset="0"/>
              </a:rPr>
              <a:t>Mrtva</a:t>
            </a:r>
            <a:r>
              <a:rPr lang="en-US" sz="1400" i="1" dirty="0">
                <a:ea typeface="Times New Roman" panose="02020603050405020304" pitchFamily="18" charset="0"/>
              </a:rPr>
              <a:t> </a:t>
            </a:r>
            <a:r>
              <a:rPr lang="en-US" sz="1400" i="1" dirty="0" err="1">
                <a:ea typeface="Times New Roman" panose="02020603050405020304" pitchFamily="18" charset="0"/>
              </a:rPr>
              <a:t>priroda</a:t>
            </a:r>
            <a:r>
              <a:rPr lang="en-US" sz="1400" i="1" dirty="0">
                <a:ea typeface="Times New Roman" panose="02020603050405020304" pitchFamily="18" charset="0"/>
              </a:rPr>
              <a:t> s </a:t>
            </a:r>
            <a:r>
              <a:rPr lang="en-US" sz="1400" i="1" dirty="0" err="1">
                <a:ea typeface="Times New Roman" panose="02020603050405020304" pitchFamily="18" charset="0"/>
              </a:rPr>
              <a:t>papigom</a:t>
            </a:r>
            <a:r>
              <a:rPr lang="en-US" sz="1400" i="1" dirty="0">
                <a:ea typeface="Times New Roman" panose="02020603050405020304" pitchFamily="18" charset="0"/>
              </a:rPr>
              <a:t>, </a:t>
            </a:r>
            <a:r>
              <a:rPr lang="en-US" sz="1400" dirty="0" err="1">
                <a:ea typeface="Times New Roman" panose="02020603050405020304" pitchFamily="18" charset="0"/>
              </a:rPr>
              <a:t>ulje</a:t>
            </a:r>
            <a:r>
              <a:rPr lang="en-US" sz="1400" dirty="0">
                <a:ea typeface="Times New Roman" panose="02020603050405020304" pitchFamily="18" charset="0"/>
              </a:rPr>
              <a:t> </a:t>
            </a:r>
            <a:r>
              <a:rPr lang="en-US" sz="1400" dirty="0" err="1">
                <a:ea typeface="Times New Roman" panose="02020603050405020304" pitchFamily="18" charset="0"/>
              </a:rPr>
              <a:t>na</a:t>
            </a:r>
            <a:r>
              <a:rPr lang="en-US" sz="1400" dirty="0">
                <a:ea typeface="Times New Roman" panose="02020603050405020304" pitchFamily="18" charset="0"/>
              </a:rPr>
              <a:t> </a:t>
            </a:r>
            <a:r>
              <a:rPr lang="en-US" sz="1400" dirty="0" err="1">
                <a:ea typeface="Times New Roman" panose="02020603050405020304" pitchFamily="18" charset="0"/>
              </a:rPr>
              <a:t>platnu</a:t>
            </a:r>
            <a:r>
              <a:rPr lang="en-US" sz="1400" dirty="0">
                <a:ea typeface="Times New Roman" panose="02020603050405020304" pitchFamily="18" charset="0"/>
              </a:rPr>
              <a:t>, </a:t>
            </a:r>
            <a:r>
              <a:rPr lang="en-US" sz="1400" dirty="0" err="1">
                <a:ea typeface="Times New Roman" panose="02020603050405020304" pitchFamily="18" charset="0"/>
              </a:rPr>
              <a:t>oko</a:t>
            </a:r>
            <a:r>
              <a:rPr lang="en-US" sz="1400" dirty="0">
                <a:ea typeface="Times New Roman" panose="02020603050405020304" pitchFamily="18" charset="0"/>
              </a:rPr>
              <a:t> 1640., </a:t>
            </a:r>
            <a:r>
              <a:rPr lang="en-US" sz="1400" dirty="0" smtClean="0">
                <a:ea typeface="Times New Roman" panose="02020603050405020304" pitchFamily="18" charset="0"/>
              </a:rPr>
              <a:t>150,5</a:t>
            </a:r>
            <a:r>
              <a:rPr lang="hr-HR" sz="1400" dirty="0" smtClean="0">
                <a:ea typeface="Times New Roman" panose="02020603050405020304" pitchFamily="18" charset="0"/>
              </a:rPr>
              <a:t> </a:t>
            </a:r>
            <a:r>
              <a:rPr lang="en-US" sz="1400" dirty="0" smtClean="0">
                <a:ea typeface="Times New Roman" panose="02020603050405020304" pitchFamily="18" charset="0"/>
              </a:rPr>
              <a:t>x</a:t>
            </a:r>
            <a:r>
              <a:rPr lang="hr-HR" sz="1400" dirty="0" smtClean="0">
                <a:ea typeface="Times New Roman" panose="02020603050405020304" pitchFamily="18" charset="0"/>
              </a:rPr>
              <a:t> </a:t>
            </a:r>
            <a:r>
              <a:rPr lang="en-US" sz="1400" dirty="0" smtClean="0">
                <a:ea typeface="Times New Roman" panose="02020603050405020304" pitchFamily="18" charset="0"/>
              </a:rPr>
              <a:t>115,5 </a:t>
            </a:r>
            <a:r>
              <a:rPr lang="en-US" sz="1400" dirty="0">
                <a:ea typeface="Times New Roman" panose="02020603050405020304" pitchFamily="18" charset="0"/>
              </a:rPr>
              <a:t>cm, The State Art Museum of Florida, Sarasota, Florida</a:t>
            </a:r>
            <a:endParaRPr lang="hr-HR" sz="1400" dirty="0"/>
          </a:p>
        </p:txBody>
      </p:sp>
      <p:sp>
        <p:nvSpPr>
          <p:cNvPr id="7" name="Elipsa 6"/>
          <p:cNvSpPr/>
          <p:nvPr/>
        </p:nvSpPr>
        <p:spPr>
          <a:xfrm>
            <a:off x="5841400" y="2936842"/>
            <a:ext cx="968188" cy="93591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8" name="Elipsa 7"/>
          <p:cNvSpPr/>
          <p:nvPr/>
        </p:nvSpPr>
        <p:spPr>
          <a:xfrm>
            <a:off x="6422316" y="4527689"/>
            <a:ext cx="1962731" cy="1262527"/>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Elipsa 8"/>
          <p:cNvSpPr/>
          <p:nvPr/>
        </p:nvSpPr>
        <p:spPr>
          <a:xfrm>
            <a:off x="5291462" y="2180699"/>
            <a:ext cx="1463040" cy="954175"/>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cxnSp>
        <p:nvCxnSpPr>
          <p:cNvPr id="11" name="Ravni poveznik sa strelicom 10"/>
          <p:cNvCxnSpPr>
            <a:stCxn id="8" idx="2"/>
          </p:cNvCxnSpPr>
          <p:nvPr/>
        </p:nvCxnSpPr>
        <p:spPr>
          <a:xfrm flipH="1" flipV="1">
            <a:off x="3227295" y="5158952"/>
            <a:ext cx="319502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Ravni poveznik sa strelicom 12"/>
          <p:cNvCxnSpPr>
            <a:stCxn id="7" idx="6"/>
          </p:cNvCxnSpPr>
          <p:nvPr/>
        </p:nvCxnSpPr>
        <p:spPr>
          <a:xfrm>
            <a:off x="6809588" y="3404800"/>
            <a:ext cx="201168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Ravni poveznik sa strelicom 14"/>
          <p:cNvCxnSpPr>
            <a:stCxn id="9" idx="2"/>
          </p:cNvCxnSpPr>
          <p:nvPr/>
        </p:nvCxnSpPr>
        <p:spPr>
          <a:xfrm flipH="1" flipV="1">
            <a:off x="3195021" y="2180699"/>
            <a:ext cx="2096441" cy="4770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kstniOkvir 16"/>
          <p:cNvSpPr txBox="1"/>
          <p:nvPr/>
        </p:nvSpPr>
        <p:spPr>
          <a:xfrm>
            <a:off x="9007428" y="4288199"/>
            <a:ext cx="2418736" cy="369332"/>
          </a:xfrm>
          <a:prstGeom prst="rect">
            <a:avLst/>
          </a:prstGeom>
          <a:noFill/>
        </p:spPr>
        <p:txBody>
          <a:bodyPr wrap="square" rtlCol="0">
            <a:spAutoFit/>
          </a:bodyPr>
          <a:lstStyle/>
          <a:p>
            <a:r>
              <a:rPr lang="hr-HR" dirty="0"/>
              <a:t>g</a:t>
            </a:r>
            <a:r>
              <a:rPr lang="hr-HR" dirty="0" smtClean="0"/>
              <a:t>rožđe = simbol obilja</a:t>
            </a:r>
            <a:endParaRPr lang="hr-HR" dirty="0"/>
          </a:p>
        </p:txBody>
      </p:sp>
      <p:sp>
        <p:nvSpPr>
          <p:cNvPr id="14" name="TekstniOkvir 13"/>
          <p:cNvSpPr txBox="1"/>
          <p:nvPr/>
        </p:nvSpPr>
        <p:spPr>
          <a:xfrm>
            <a:off x="9007428" y="483658"/>
            <a:ext cx="2222940" cy="646331"/>
          </a:xfrm>
          <a:prstGeom prst="rect">
            <a:avLst/>
          </a:prstGeom>
          <a:noFill/>
        </p:spPr>
        <p:txBody>
          <a:bodyPr wrap="square" rtlCol="0">
            <a:spAutoFit/>
          </a:bodyPr>
          <a:lstStyle/>
          <a:p>
            <a:r>
              <a:rPr lang="hr-HR" dirty="0" smtClean="0"/>
              <a:t>Nizozemsko slikarstvo 17. stoljeća</a:t>
            </a:r>
            <a:endParaRPr lang="hr-HR" dirty="0"/>
          </a:p>
        </p:txBody>
      </p:sp>
    </p:spTree>
    <p:extLst>
      <p:ext uri="{BB962C8B-B14F-4D97-AF65-F5344CB8AC3E}">
        <p14:creationId xmlns:p14="http://schemas.microsoft.com/office/powerpoint/2010/main" val="320805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8"/>
                                        </p:tgtEl>
                                      </p:cBhvr>
                                    </p:animEffect>
                                    <p:set>
                                      <p:cBhvr>
                                        <p:cTn id="42" dur="1" fill="hold">
                                          <p:stCondLst>
                                            <p:cond delay="499"/>
                                          </p:stCondLst>
                                        </p:cTn>
                                        <p:tgtEl>
                                          <p:spTgt spid="8"/>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11"/>
                                        </p:tgtEl>
                                      </p:cBhvr>
                                    </p:animEffect>
                                    <p:set>
                                      <p:cBhvr>
                                        <p:cTn id="45" dur="1" fill="hold">
                                          <p:stCondLst>
                                            <p:cond delay="499"/>
                                          </p:stCondLst>
                                        </p:cTn>
                                        <p:tgtEl>
                                          <p:spTgt spid="11"/>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4"/>
                                        </p:tgtEl>
                                      </p:cBhvr>
                                    </p:animEffect>
                                    <p:set>
                                      <p:cBhvr>
                                        <p:cTn id="48" dur="1" fill="hold">
                                          <p:stCondLst>
                                            <p:cond delay="499"/>
                                          </p:stCondLst>
                                        </p:cTn>
                                        <p:tgtEl>
                                          <p:spTgt spid="4"/>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7"/>
                                        </p:tgtEl>
                                      </p:cBhvr>
                                    </p:animEffect>
                                    <p:set>
                                      <p:cBhvr>
                                        <p:cTn id="54" dur="1" fill="hold">
                                          <p:stCondLst>
                                            <p:cond delay="499"/>
                                          </p:stCondLst>
                                        </p:cTn>
                                        <p:tgtEl>
                                          <p:spTgt spid="7"/>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3"/>
                                        </p:tgtEl>
                                      </p:cBhvr>
                                    </p:animEffect>
                                    <p:set>
                                      <p:cBhvr>
                                        <p:cTn id="57" dur="1" fill="hold">
                                          <p:stCondLst>
                                            <p:cond delay="499"/>
                                          </p:stCondLst>
                                        </p:cTn>
                                        <p:tgtEl>
                                          <p:spTgt spid="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15"/>
                                        </p:tgtEl>
                                      </p:cBhvr>
                                    </p:animEffect>
                                    <p:set>
                                      <p:cBhvr>
                                        <p:cTn id="63" dur="1" fill="hold">
                                          <p:stCondLst>
                                            <p:cond delay="499"/>
                                          </p:stCondLst>
                                        </p:cTn>
                                        <p:tgtEl>
                                          <p:spTgt spid="15"/>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9"/>
                                        </p:tgtEl>
                                      </p:cBhvr>
                                    </p:animEffect>
                                    <p:set>
                                      <p:cBhvr>
                                        <p:cTn id="66" dur="1" fill="hold">
                                          <p:stCondLst>
                                            <p:cond delay="499"/>
                                          </p:stCondLst>
                                        </p:cTn>
                                        <p:tgtEl>
                                          <p:spTgt spid="9"/>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5"/>
                                        </p:tgtEl>
                                      </p:cBhvr>
                                    </p:animEffect>
                                    <p:set>
                                      <p:cBhvr>
                                        <p:cTn id="69"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7" grpId="0"/>
      <p:bldP spid="17" grpId="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9021" y="139850"/>
            <a:ext cx="5838152" cy="6546028"/>
          </a:xfrm>
          <a:prstGeom prst="rect">
            <a:avLst/>
          </a:prstGeom>
        </p:spPr>
      </p:pic>
      <p:sp>
        <p:nvSpPr>
          <p:cNvPr id="5" name="Elipsa 4"/>
          <p:cNvSpPr/>
          <p:nvPr/>
        </p:nvSpPr>
        <p:spPr>
          <a:xfrm>
            <a:off x="3894083" y="3563007"/>
            <a:ext cx="2554014" cy="170267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 name="Pravokutnik 5"/>
          <p:cNvSpPr/>
          <p:nvPr/>
        </p:nvSpPr>
        <p:spPr>
          <a:xfrm>
            <a:off x="553282" y="5657718"/>
            <a:ext cx="2832101" cy="738664"/>
          </a:xfrm>
          <a:prstGeom prst="rect">
            <a:avLst/>
          </a:prstGeom>
        </p:spPr>
        <p:txBody>
          <a:bodyPr wrap="square">
            <a:spAutoFit/>
          </a:bodyPr>
          <a:lstStyle/>
          <a:p>
            <a:pPr algn="r"/>
            <a:r>
              <a:rPr lang="hr-HR" sz="1400" dirty="0" err="1">
                <a:solidFill>
                  <a:srgbClr val="202122"/>
                </a:solidFill>
              </a:rPr>
              <a:t>Johannes</a:t>
            </a:r>
            <a:r>
              <a:rPr lang="hr-HR" sz="1400" dirty="0">
                <a:solidFill>
                  <a:srgbClr val="202122"/>
                </a:solidFill>
              </a:rPr>
              <a:t> </a:t>
            </a:r>
            <a:r>
              <a:rPr lang="hr-HR" sz="1400" dirty="0" err="1" smtClean="0">
                <a:solidFill>
                  <a:srgbClr val="202122"/>
                </a:solidFill>
              </a:rPr>
              <a:t>Vermeer</a:t>
            </a:r>
            <a:r>
              <a:rPr lang="hr-HR" sz="1400" dirty="0" smtClean="0">
                <a:solidFill>
                  <a:srgbClr val="202122"/>
                </a:solidFill>
              </a:rPr>
              <a:t>, </a:t>
            </a:r>
            <a:r>
              <a:rPr lang="hr-HR" sz="1400" i="1" dirty="0" smtClean="0">
                <a:solidFill>
                  <a:srgbClr val="202122"/>
                </a:solidFill>
              </a:rPr>
              <a:t>Mljekarica, </a:t>
            </a:r>
            <a:r>
              <a:rPr lang="hr-HR" sz="1400" dirty="0" smtClean="0">
                <a:solidFill>
                  <a:srgbClr val="202122"/>
                </a:solidFill>
              </a:rPr>
              <a:t>1657-1658</a:t>
            </a:r>
            <a:r>
              <a:rPr lang="hr-HR" sz="1400" dirty="0">
                <a:solidFill>
                  <a:srgbClr val="202122"/>
                </a:solidFill>
              </a:rPr>
              <a:t>., </a:t>
            </a:r>
            <a:r>
              <a:rPr lang="hr-HR" sz="1400" dirty="0" smtClean="0">
                <a:solidFill>
                  <a:srgbClr val="202122"/>
                </a:solidFill>
              </a:rPr>
              <a:t>ulje na platnu, 45,5 x 41 cm, </a:t>
            </a:r>
            <a:r>
              <a:rPr lang="hr-HR" sz="1400" dirty="0" err="1" smtClean="0">
                <a:solidFill>
                  <a:srgbClr val="202122"/>
                </a:solidFill>
              </a:rPr>
              <a:t>Rijksmuseum</a:t>
            </a:r>
            <a:r>
              <a:rPr lang="hr-HR" sz="1400" dirty="0" smtClean="0">
                <a:solidFill>
                  <a:srgbClr val="202122"/>
                </a:solidFill>
              </a:rPr>
              <a:t>, Rotterdam</a:t>
            </a:r>
            <a:endParaRPr lang="hr-HR" sz="1400" dirty="0"/>
          </a:p>
        </p:txBody>
      </p:sp>
    </p:spTree>
    <p:extLst>
      <p:ext uri="{BB962C8B-B14F-4D97-AF65-F5344CB8AC3E}">
        <p14:creationId xmlns:p14="http://schemas.microsoft.com/office/powerpoint/2010/main" val="398019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751" y="161364"/>
            <a:ext cx="5662976" cy="6491186"/>
          </a:xfrm>
          <a:prstGeom prst="rect">
            <a:avLst/>
          </a:prstGeom>
        </p:spPr>
      </p:pic>
      <p:sp>
        <p:nvSpPr>
          <p:cNvPr id="3" name="Pravokutnik 2"/>
          <p:cNvSpPr/>
          <p:nvPr/>
        </p:nvSpPr>
        <p:spPr>
          <a:xfrm>
            <a:off x="474392" y="5698443"/>
            <a:ext cx="2832101" cy="738664"/>
          </a:xfrm>
          <a:prstGeom prst="rect">
            <a:avLst/>
          </a:prstGeom>
        </p:spPr>
        <p:txBody>
          <a:bodyPr wrap="square">
            <a:spAutoFit/>
          </a:bodyPr>
          <a:lstStyle/>
          <a:p>
            <a:pPr algn="r"/>
            <a:r>
              <a:rPr lang="hr-HR" sz="1400" dirty="0" err="1">
                <a:solidFill>
                  <a:srgbClr val="202122"/>
                </a:solidFill>
              </a:rPr>
              <a:t>Johannes</a:t>
            </a:r>
            <a:r>
              <a:rPr lang="hr-HR" sz="1400" dirty="0">
                <a:solidFill>
                  <a:srgbClr val="202122"/>
                </a:solidFill>
              </a:rPr>
              <a:t> </a:t>
            </a:r>
            <a:r>
              <a:rPr lang="hr-HR" sz="1400" dirty="0" err="1" smtClean="0">
                <a:solidFill>
                  <a:srgbClr val="202122"/>
                </a:solidFill>
              </a:rPr>
              <a:t>Vermeer</a:t>
            </a:r>
            <a:r>
              <a:rPr lang="hr-HR" sz="1400" dirty="0" smtClean="0">
                <a:solidFill>
                  <a:srgbClr val="202122"/>
                </a:solidFill>
              </a:rPr>
              <a:t>, </a:t>
            </a:r>
            <a:r>
              <a:rPr lang="hr-HR" sz="1400" i="1" dirty="0">
                <a:solidFill>
                  <a:srgbClr val="202122"/>
                </a:solidFill>
              </a:rPr>
              <a:t>De </a:t>
            </a:r>
            <a:r>
              <a:rPr lang="hr-HR" sz="1400" i="1" dirty="0" err="1">
                <a:solidFill>
                  <a:srgbClr val="202122"/>
                </a:solidFill>
              </a:rPr>
              <a:t>muziekles</a:t>
            </a:r>
            <a:r>
              <a:rPr lang="hr-HR" sz="1400" i="1" dirty="0">
                <a:solidFill>
                  <a:srgbClr val="202122"/>
                </a:solidFill>
              </a:rPr>
              <a:t>, </a:t>
            </a:r>
            <a:r>
              <a:rPr lang="hr-HR" sz="1400" dirty="0" smtClean="0">
                <a:solidFill>
                  <a:srgbClr val="202122"/>
                </a:solidFill>
              </a:rPr>
              <a:t>1662-1665</a:t>
            </a:r>
            <a:r>
              <a:rPr lang="hr-HR" sz="1400" dirty="0">
                <a:solidFill>
                  <a:srgbClr val="202122"/>
                </a:solidFill>
              </a:rPr>
              <a:t>, </a:t>
            </a:r>
            <a:r>
              <a:rPr lang="hr-HR" sz="1400" dirty="0" smtClean="0">
                <a:solidFill>
                  <a:srgbClr val="202122"/>
                </a:solidFill>
              </a:rPr>
              <a:t>ulje na platnu, </a:t>
            </a:r>
            <a:r>
              <a:rPr lang="hr-HR" sz="1400" dirty="0">
                <a:solidFill>
                  <a:srgbClr val="202122"/>
                </a:solidFill>
              </a:rPr>
              <a:t>74.6 </a:t>
            </a:r>
            <a:r>
              <a:rPr lang="hr-HR" sz="1400" dirty="0" smtClean="0">
                <a:solidFill>
                  <a:srgbClr val="202122"/>
                </a:solidFill>
              </a:rPr>
              <a:t>cm × 64.1 </a:t>
            </a:r>
            <a:r>
              <a:rPr lang="hr-HR" sz="1400" dirty="0">
                <a:solidFill>
                  <a:srgbClr val="202122"/>
                </a:solidFill>
              </a:rPr>
              <a:t>cm, Royal </a:t>
            </a:r>
            <a:r>
              <a:rPr lang="hr-HR" sz="1400" dirty="0" err="1">
                <a:solidFill>
                  <a:srgbClr val="202122"/>
                </a:solidFill>
              </a:rPr>
              <a:t>Collection</a:t>
            </a:r>
            <a:r>
              <a:rPr lang="hr-HR" sz="1400" dirty="0">
                <a:solidFill>
                  <a:srgbClr val="202122"/>
                </a:solidFill>
              </a:rPr>
              <a:t>, London</a:t>
            </a:r>
            <a:endParaRPr lang="hr-HR" sz="1400" dirty="0"/>
          </a:p>
        </p:txBody>
      </p:sp>
      <p:sp>
        <p:nvSpPr>
          <p:cNvPr id="4" name="TekstniOkvir 3"/>
          <p:cNvSpPr txBox="1"/>
          <p:nvPr/>
        </p:nvSpPr>
        <p:spPr>
          <a:xfrm>
            <a:off x="9253984" y="840889"/>
            <a:ext cx="1952495" cy="584775"/>
          </a:xfrm>
          <a:prstGeom prst="rect">
            <a:avLst/>
          </a:prstGeom>
          <a:noFill/>
        </p:spPr>
        <p:txBody>
          <a:bodyPr wrap="square" rtlCol="0">
            <a:spAutoFit/>
          </a:bodyPr>
          <a:lstStyle/>
          <a:p>
            <a:r>
              <a:rPr lang="hr-HR" sz="3200" b="1" dirty="0" smtClean="0"/>
              <a:t>INTERIJER</a:t>
            </a:r>
            <a:endParaRPr lang="hr-HR" sz="3200" b="1" dirty="0"/>
          </a:p>
        </p:txBody>
      </p:sp>
      <p:sp>
        <p:nvSpPr>
          <p:cNvPr id="5" name="TekstniOkvir 4"/>
          <p:cNvSpPr txBox="1"/>
          <p:nvPr/>
        </p:nvSpPr>
        <p:spPr>
          <a:xfrm>
            <a:off x="9253985" y="1384379"/>
            <a:ext cx="2450335" cy="1200329"/>
          </a:xfrm>
          <a:prstGeom prst="rect">
            <a:avLst/>
          </a:prstGeom>
          <a:noFill/>
        </p:spPr>
        <p:txBody>
          <a:bodyPr wrap="square" rtlCol="0">
            <a:spAutoFit/>
          </a:bodyPr>
          <a:lstStyle/>
          <a:p>
            <a:r>
              <a:rPr lang="hr-HR" dirty="0" smtClean="0"/>
              <a:t>tema u likovnoj umjetnosti koja prikazuje unutrašnji prostor ili život u domu</a:t>
            </a:r>
            <a:endParaRPr lang="hr-HR" dirty="0"/>
          </a:p>
        </p:txBody>
      </p:sp>
    </p:spTree>
    <p:extLst>
      <p:ext uri="{BB962C8B-B14F-4D97-AF65-F5344CB8AC3E}">
        <p14:creationId xmlns:p14="http://schemas.microsoft.com/office/powerpoint/2010/main" val="328720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dirty="0" smtClean="0"/>
              <a:t>Ponavljanje</a:t>
            </a:r>
            <a:endParaRPr lang="hr-HR" dirty="0"/>
          </a:p>
        </p:txBody>
      </p:sp>
      <p:sp>
        <p:nvSpPr>
          <p:cNvPr id="3" name="Rezervirano mjesto sadržaja 2"/>
          <p:cNvSpPr>
            <a:spLocks noGrp="1"/>
          </p:cNvSpPr>
          <p:nvPr>
            <p:ph idx="1"/>
          </p:nvPr>
        </p:nvSpPr>
        <p:spPr/>
        <p:txBody>
          <a:bodyPr/>
          <a:lstStyle/>
          <a:p>
            <a:r>
              <a:rPr lang="hr-HR" dirty="0" smtClean="0"/>
              <a:t>Što je animalizam, a što mrtva priroda? </a:t>
            </a:r>
          </a:p>
          <a:p>
            <a:r>
              <a:rPr lang="hr-HR" dirty="0" smtClean="0"/>
              <a:t>Što je pejzaž? Nabroji dvije vrste pejzaža koje smo danas vidjeli.</a:t>
            </a:r>
          </a:p>
          <a:p>
            <a:r>
              <a:rPr lang="hr-HR" dirty="0" smtClean="0"/>
              <a:t>Prisjeti se i navedi primjer </a:t>
            </a:r>
            <a:r>
              <a:rPr lang="hr-HR" dirty="0" err="1" smtClean="0"/>
              <a:t>transgenske</a:t>
            </a:r>
            <a:r>
              <a:rPr lang="hr-HR" dirty="0" smtClean="0"/>
              <a:t> umjetnosti.</a:t>
            </a:r>
          </a:p>
          <a:p>
            <a:r>
              <a:rPr lang="hr-HR" dirty="0" smtClean="0"/>
              <a:t>Kako se zove prikaz unutrašnjeg prostora u likovnoj umjetnosti?</a:t>
            </a:r>
            <a:endParaRPr lang="hr-HR" dirty="0"/>
          </a:p>
          <a:p>
            <a:endParaRPr lang="hr-HR" dirty="0" smtClean="0"/>
          </a:p>
        </p:txBody>
      </p:sp>
    </p:spTree>
    <p:extLst>
      <p:ext uri="{BB962C8B-B14F-4D97-AF65-F5344CB8AC3E}">
        <p14:creationId xmlns:p14="http://schemas.microsoft.com/office/powerpoint/2010/main" val="258390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zervirano mjesto sadržaja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9655" y="1174321"/>
            <a:ext cx="4894659" cy="3263106"/>
          </a:xfrm>
        </p:spPr>
      </p:pic>
      <p:sp>
        <p:nvSpPr>
          <p:cNvPr id="5" name="TekstniOkvir 4"/>
          <p:cNvSpPr txBox="1"/>
          <p:nvPr/>
        </p:nvSpPr>
        <p:spPr>
          <a:xfrm>
            <a:off x="5135136" y="4880863"/>
            <a:ext cx="1663696" cy="365760"/>
          </a:xfrm>
          <a:prstGeom prst="rect">
            <a:avLst/>
          </a:prstGeom>
          <a:noFill/>
        </p:spPr>
        <p:txBody>
          <a:bodyPr wrap="square" rtlCol="0">
            <a:spAutoFit/>
          </a:bodyPr>
          <a:lstStyle/>
          <a:p>
            <a:r>
              <a:rPr lang="hr-HR" dirty="0" smtClean="0"/>
              <a:t>Hvala na pažnji!</a:t>
            </a:r>
            <a:endParaRPr lang="hr-HR" dirty="0"/>
          </a:p>
        </p:txBody>
      </p:sp>
    </p:spTree>
    <p:extLst>
      <p:ext uri="{BB962C8B-B14F-4D97-AF65-F5344CB8AC3E}">
        <p14:creationId xmlns:p14="http://schemas.microsoft.com/office/powerpoint/2010/main" val="382498466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1178</TotalTime>
  <Words>1825</Words>
  <Application>Microsoft Office PowerPoint</Application>
  <PresentationFormat>Widescreen</PresentationFormat>
  <Paragraphs>86</Paragraphs>
  <Slides>17</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Tema sustava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Ponavljanje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Klara</dc:creator>
  <cp:lastModifiedBy>Maja Bachler</cp:lastModifiedBy>
  <cp:revision>178</cp:revision>
  <dcterms:created xsi:type="dcterms:W3CDTF">2020-11-13T18:01:09Z</dcterms:created>
  <dcterms:modified xsi:type="dcterms:W3CDTF">2021-02-14T10:11:05Z</dcterms:modified>
</cp:coreProperties>
</file>