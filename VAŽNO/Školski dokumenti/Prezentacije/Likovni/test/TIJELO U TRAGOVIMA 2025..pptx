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1" r:id="rId5"/>
    <p:sldId id="262" r:id="rId6"/>
    <p:sldId id="264" r:id="rId7"/>
    <p:sldId id="277" r:id="rId8"/>
    <p:sldId id="278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46218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871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725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6987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8542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1006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5434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07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4590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3455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98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0BA1-6127-491A-AB4B-999234B3466A}" type="datetimeFigureOut">
              <a:rPr lang="hr-HR" smtClean="0"/>
              <a:t>28.3.2025.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F29E3-85A9-4C6F-8444-1678FF4BE4A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1918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>
            <a:normAutofit fontScale="92500" lnSpcReduction="20000"/>
          </a:bodyPr>
          <a:lstStyle/>
          <a:p>
            <a:r>
              <a:rPr lang="hr-HR" sz="3200" dirty="0"/>
              <a:t>bit.ly/citylines</a:t>
            </a:r>
          </a:p>
          <a:p>
            <a:r>
              <a:rPr lang="hr-HR" sz="3200" dirty="0"/>
              <a:t>Pripremite bilježnice i linijske tragove koje vidite u filmu zabilježite u svoje bilježnice</a:t>
            </a:r>
          </a:p>
          <a:p>
            <a:endParaRPr lang="hr-HR" sz="3200" dirty="0"/>
          </a:p>
          <a:p>
            <a:r>
              <a:rPr lang="hr-HR" sz="3200" dirty="0"/>
              <a:t>Film </a:t>
            </a:r>
            <a:r>
              <a:rPr lang="hr-HR" sz="3200" dirty="0" err="1"/>
              <a:t>Alema</a:t>
            </a:r>
            <a:r>
              <a:rPr lang="hr-HR" sz="3200" dirty="0"/>
              <a:t> Korkuta iz 2013.</a:t>
            </a:r>
          </a:p>
          <a:p>
            <a:r>
              <a:rPr lang="hr-HR" sz="3200" dirty="0"/>
              <a:t>Umjetnik </a:t>
            </a:r>
            <a:r>
              <a:rPr lang="hr-HR" sz="3200" dirty="0" err="1"/>
              <a:t>Alem</a:t>
            </a:r>
            <a:r>
              <a:rPr lang="hr-HR" sz="3200" dirty="0"/>
              <a:t> Korkut u ovom je radu pokušao zabilježiti one linije koje ne ostaju zabilježene kao trag u nekom konkretnom materijalu</a:t>
            </a:r>
          </a:p>
          <a:p>
            <a:endParaRPr lang="hr-HR" sz="3200" dirty="0"/>
          </a:p>
          <a:p>
            <a:r>
              <a:rPr lang="hr-HR" sz="3200" dirty="0"/>
              <a:t>Koja vam pitanja padaju na pamet gledajući video? Razmislite, koje vidljive i nevidljive tragove ostavljate tijekom dana svojim kretanjem i djelovanjem? Jeste li ih svjesni? Koje tragove ostavljate svjesno i s kojim razlogom?</a:t>
            </a:r>
          </a:p>
        </p:txBody>
      </p:sp>
    </p:spTree>
    <p:extLst>
      <p:ext uri="{BB962C8B-B14F-4D97-AF65-F5344CB8AC3E}">
        <p14:creationId xmlns:p14="http://schemas.microsoft.com/office/powerpoint/2010/main" val="168055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TIJELO U TRAGOVIMA</a:t>
            </a:r>
            <a:endParaRPr lang="hr-H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3819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Razlikovat ćete različite načine ostavljanja traga kroz povijest umjetnosti</a:t>
            </a:r>
          </a:p>
          <a:p>
            <a:r>
              <a:rPr lang="hr-HR" dirty="0"/>
              <a:t>Usporediti otisak paleotlitskog čovjeka s tragom koji ostavlja suvremeni umjetnik</a:t>
            </a:r>
          </a:p>
          <a:p>
            <a:r>
              <a:rPr lang="hr-HR" dirty="0"/>
              <a:t>Analizirati različite načine ostavljanja traga </a:t>
            </a:r>
          </a:p>
        </p:txBody>
      </p:sp>
    </p:spTree>
    <p:extLst>
      <p:ext uri="{BB962C8B-B14F-4D97-AF65-F5344CB8AC3E}">
        <p14:creationId xmlns:p14="http://schemas.microsoft.com/office/powerpoint/2010/main" val="16168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26" name="Picture 2" descr="Pech Merle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050" y="136525"/>
            <a:ext cx="4525930" cy="632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18020" y="6509218"/>
            <a:ext cx="500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Otisak u ruke u spilji Pech Merle,  25 000 g. Pr. Kr.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890" y="136525"/>
            <a:ext cx="61493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3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Trag u pećini – (svjesna) ideja o ostavljanju traga, začetak umjetničkog djelovanja i komunikacije slikom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005" y="2974926"/>
            <a:ext cx="5833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dirty="0">
                <a:latin typeface="+mj-lt"/>
              </a:rPr>
              <a:t>Što mislite zašto je čovjek ostavio trag?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005" y="4069080"/>
            <a:ext cx="5991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latin typeface="+mj-lt"/>
              </a:rPr>
              <a:t>PALEOLIT – starije kameno doba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latin typeface="+mj-lt"/>
              </a:rPr>
              <a:t>Nastao ispuhivanjem boje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latin typeface="+mj-lt"/>
              </a:rPr>
              <a:t>Prvi potpis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latin typeface="+mj-lt"/>
              </a:rPr>
              <a:t>Iskonska potreba ostavljanja traga</a:t>
            </a:r>
          </a:p>
        </p:txBody>
      </p:sp>
    </p:spTree>
    <p:extLst>
      <p:ext uri="{BB962C8B-B14F-4D97-AF65-F5344CB8AC3E}">
        <p14:creationId xmlns:p14="http://schemas.microsoft.com/office/powerpoint/2010/main" val="237744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2050" name="Picture 2" descr="File:Grafiti Branimirova Zagreb.jp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67" y="240030"/>
            <a:ext cx="11099665" cy="521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0070" y="5600700"/>
            <a:ext cx="1114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latin typeface="+mj-lt"/>
              </a:rPr>
              <a:t>Grafit u Branimirovoj ulici u Zagrebu</a:t>
            </a:r>
          </a:p>
        </p:txBody>
      </p:sp>
    </p:spTree>
    <p:extLst>
      <p:ext uri="{BB962C8B-B14F-4D97-AF65-F5344CB8AC3E}">
        <p14:creationId xmlns:p14="http://schemas.microsoft.com/office/powerpoint/2010/main" val="81700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074" name="Picture 2" descr="Angel bell - Paul Klee | Wikioo.org - The Encyclopedia of Fine Ar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54" y="0"/>
            <a:ext cx="4822415" cy="629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0050" y="6332220"/>
            <a:ext cx="488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latin typeface="+mj-lt"/>
              </a:rPr>
              <a:t>Paul Klee, </a:t>
            </a:r>
            <a:r>
              <a:rPr lang="hr-HR" i="1" dirty="0">
                <a:latin typeface="+mj-lt"/>
              </a:rPr>
              <a:t>Anđeo zvonar</a:t>
            </a:r>
            <a:r>
              <a:rPr lang="hr-HR" dirty="0">
                <a:latin typeface="+mj-lt"/>
              </a:rPr>
              <a:t>, 1939.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1690688"/>
            <a:ext cx="6000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„Linija je točka koja je krenula u šetnju.” – Paul Klee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6380" y="3059044"/>
            <a:ext cx="6595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hr-HR" sz="2400" dirty="0">
                <a:latin typeface="+mj-lt"/>
              </a:rPr>
              <a:t>Pokušajte odgonetnuti kako se kretala umjetnikova ruka. (Pokretom svoje ruke pratite tok svake od linija)</a:t>
            </a:r>
          </a:p>
        </p:txBody>
      </p:sp>
    </p:spTree>
    <p:extLst>
      <p:ext uri="{BB962C8B-B14F-4D97-AF65-F5344CB8AC3E}">
        <p14:creationId xmlns:p14="http://schemas.microsoft.com/office/powerpoint/2010/main" val="279167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69AA-D3E4-4568-A317-88E6F3E9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E41B1-F556-45B5-AED6-189E5585B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Određivanje crte/linije prema značenju: </a:t>
            </a:r>
          </a:p>
          <a:p>
            <a:pPr marL="0" indent="0">
              <a:buNone/>
            </a:pP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r-H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Obrisna</a:t>
            </a:r>
          </a:p>
          <a:p>
            <a:pPr algn="ctr"/>
            <a:endParaRPr lang="hr-H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r-H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Strukturalna</a:t>
            </a:r>
          </a:p>
          <a:p>
            <a:pPr algn="ctr"/>
            <a:endParaRPr lang="hr-H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r-H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Teksturna </a:t>
            </a:r>
          </a:p>
        </p:txBody>
      </p:sp>
    </p:spTree>
    <p:extLst>
      <p:ext uri="{BB962C8B-B14F-4D97-AF65-F5344CB8AC3E}">
        <p14:creationId xmlns:p14="http://schemas.microsoft.com/office/powerpoint/2010/main" val="10224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62A7-CA6C-486F-9678-F3331E11D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0FD024C-BABC-4223-A609-4D24C2F17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295" y="2273382"/>
            <a:ext cx="3729171" cy="295292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F5CAB-7357-4B5A-A61A-4B74F2C91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" y="1279594"/>
            <a:ext cx="3333135" cy="4529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C8BCC7-C34C-4276-8095-7C3FDAEE7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657" y="2138808"/>
            <a:ext cx="4692343" cy="3222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1C8E69-7401-47E1-8FFF-1B3BC3D1BF4F}"/>
              </a:ext>
            </a:extLst>
          </p:cNvPr>
          <p:cNvSpPr txBox="1"/>
          <p:nvPr/>
        </p:nvSpPr>
        <p:spPr>
          <a:xfrm>
            <a:off x="124969" y="5397910"/>
            <a:ext cx="3333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Pablo Picasso, </a:t>
            </a:r>
            <a:r>
              <a:rPr lang="hr-H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Glava žene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9A80B-A796-43BD-A963-F7263529CCF3}"/>
              </a:ext>
            </a:extLst>
          </p:cNvPr>
          <p:cNvSpPr txBox="1"/>
          <p:nvPr/>
        </p:nvSpPr>
        <p:spPr>
          <a:xfrm>
            <a:off x="3614295" y="5226310"/>
            <a:ext cx="372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Linea</a:t>
            </a:r>
          </a:p>
          <a:p>
            <a:pPr algn="ctr"/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6A734-9DBE-4FD5-878D-D810A4C077AF}"/>
              </a:ext>
            </a:extLst>
          </p:cNvPr>
          <p:cNvSpPr txBox="1"/>
          <p:nvPr/>
        </p:nvSpPr>
        <p:spPr>
          <a:xfrm>
            <a:off x="7499657" y="5549475"/>
            <a:ext cx="469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Monet, </a:t>
            </a:r>
            <a:r>
              <a:rPr lang="hr-H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Pogled na Rouen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1902.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A1643-539E-4F7B-AA5A-87344A9C7092}"/>
              </a:ext>
            </a:extLst>
          </p:cNvPr>
          <p:cNvSpPr txBox="1"/>
          <p:nvPr/>
        </p:nvSpPr>
        <p:spPr>
          <a:xfrm>
            <a:off x="124968" y="508308"/>
            <a:ext cx="333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r-H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Strukturalne crte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ED021-7AE5-45FD-B212-283EE0AC6773}"/>
              </a:ext>
            </a:extLst>
          </p:cNvPr>
          <p:cNvSpPr txBox="1"/>
          <p:nvPr/>
        </p:nvSpPr>
        <p:spPr>
          <a:xfrm>
            <a:off x="3731342" y="1690688"/>
            <a:ext cx="345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Obrisne crte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A7F46-24E8-491B-8A4E-3E0DBB28BC55}"/>
              </a:ext>
            </a:extLst>
          </p:cNvPr>
          <p:cNvSpPr txBox="1"/>
          <p:nvPr/>
        </p:nvSpPr>
        <p:spPr>
          <a:xfrm>
            <a:off x="7499657" y="1519084"/>
            <a:ext cx="4692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Teksturne crte</a:t>
            </a:r>
          </a:p>
          <a:p>
            <a:pPr algn="ctr"/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53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098" name="Picture 2" descr="Vincent van Gogh Enclosed Field behind Saint-Paul Hospital | Van gogh  drawings, Van gogh landscapes, Artist van gog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518" y="547371"/>
            <a:ext cx="6705137" cy="520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ngel bell - Paul Klee | Wikioo.org - The Encyclopedia of Fine Ar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44" y="0"/>
            <a:ext cx="4822415" cy="629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65867" y="6297930"/>
            <a:ext cx="3121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r-HR" dirty="0">
                <a:latin typeface="+mj-lt"/>
              </a:rPr>
              <a:t>Paul Klee, </a:t>
            </a:r>
            <a:r>
              <a:rPr lang="hr-HR" i="1" dirty="0">
                <a:latin typeface="+mj-lt"/>
              </a:rPr>
              <a:t>Anđeo zvonar</a:t>
            </a:r>
            <a:r>
              <a:rPr lang="hr-HR" dirty="0">
                <a:latin typeface="+mj-lt"/>
              </a:rPr>
              <a:t>, 1939</a:t>
            </a:r>
            <a:r>
              <a:rPr lang="hr-HR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71518" y="6071631"/>
            <a:ext cx="6705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r-HR" dirty="0">
                <a:latin typeface="+mj-lt"/>
              </a:rPr>
              <a:t>Vincent van Gogh, </a:t>
            </a:r>
            <a:r>
              <a:rPr lang="hr-HR" i="1" dirty="0">
                <a:latin typeface="+mj-lt"/>
              </a:rPr>
              <a:t>Zatvoreno polje iza bolnice Saint Paul</a:t>
            </a:r>
            <a:r>
              <a:rPr lang="hr-HR" dirty="0">
                <a:latin typeface="+mj-lt"/>
              </a:rPr>
              <a:t>, 1889</a:t>
            </a:r>
            <a:r>
              <a:rPr lang="hr-H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11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bit.ly/klein5</a:t>
            </a:r>
          </a:p>
          <a:p>
            <a:endParaRPr lang="hr-HR" dirty="0"/>
          </a:p>
          <a:p>
            <a:r>
              <a:rPr lang="hr-HR" dirty="0"/>
              <a:t>Dok gledate film, pokušajte naći poveznicu s prethistorijskim načinom ostavljanja traga. Svoje zaključke zapišite.</a:t>
            </a:r>
            <a:endParaRPr lang="en-US" dirty="0"/>
          </a:p>
          <a:p>
            <a:r>
              <a:rPr lang="en-US" dirty="0"/>
              <a:t>Yves Klein </a:t>
            </a:r>
            <a:r>
              <a:rPr lang="en-US" dirty="0" err="1"/>
              <a:t>organizira</a:t>
            </a:r>
            <a:r>
              <a:rPr lang="en-US" dirty="0"/>
              <a:t> </a:t>
            </a:r>
            <a:r>
              <a:rPr lang="en-US" dirty="0" err="1"/>
              <a:t>pred</a:t>
            </a:r>
            <a:r>
              <a:rPr lang="en-US" dirty="0"/>
              <a:t> </a:t>
            </a:r>
            <a:r>
              <a:rPr lang="en-US" dirty="0" err="1"/>
              <a:t>publikom</a:t>
            </a:r>
            <a:r>
              <a:rPr lang="en-US" dirty="0"/>
              <a:t> </a:t>
            </a:r>
            <a:r>
              <a:rPr lang="en-US" dirty="0" err="1"/>
              <a:t>bojenje</a:t>
            </a:r>
            <a:r>
              <a:rPr lang="en-US" dirty="0"/>
              <a:t> </a:t>
            </a:r>
            <a:r>
              <a:rPr lang="en-US" dirty="0" err="1"/>
              <a:t>tijela</a:t>
            </a:r>
            <a:r>
              <a:rPr lang="en-US" dirty="0"/>
              <a:t> </a:t>
            </a:r>
            <a:r>
              <a:rPr lang="en-US" dirty="0" err="1"/>
              <a:t>ultramarin</a:t>
            </a:r>
            <a:r>
              <a:rPr lang="en-US" dirty="0"/>
              <a:t> </a:t>
            </a:r>
            <a:r>
              <a:rPr lang="en-US" dirty="0" err="1"/>
              <a:t>plavom</a:t>
            </a:r>
            <a:r>
              <a:rPr lang="en-US" dirty="0"/>
              <a:t> </a:t>
            </a:r>
            <a:r>
              <a:rPr lang="en-US" dirty="0" err="1"/>
              <a:t>bojom</a:t>
            </a:r>
            <a:endParaRPr lang="hr-HR" dirty="0"/>
          </a:p>
          <a:p>
            <a:r>
              <a:rPr lang="hr-HR" dirty="0"/>
              <a:t>Dok u pozadini orkestar svira, ženski aktovi se bojaju i otiskuju svoje tijelo na platno</a:t>
            </a:r>
          </a:p>
        </p:txBody>
      </p:sp>
    </p:spTree>
    <p:extLst>
      <p:ext uri="{BB962C8B-B14F-4D97-AF65-F5344CB8AC3E}">
        <p14:creationId xmlns:p14="http://schemas.microsoft.com/office/powerpoint/2010/main" val="79881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0119"/>
          </a:xfrm>
        </p:spPr>
        <p:txBody>
          <a:bodyPr>
            <a:normAutofit/>
          </a:bodyPr>
          <a:lstStyle/>
          <a:p>
            <a:pPr algn="ctr"/>
            <a:endParaRPr lang="hr-HR" sz="3600" b="1" dirty="0"/>
          </a:p>
        </p:txBody>
      </p:sp>
      <p:pic>
        <p:nvPicPr>
          <p:cNvPr id="4" name="Picture 2" descr="Pech Merle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1051560"/>
            <a:ext cx="3834081" cy="536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orks - Untitled Anthropometry - Yves Kle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460" y="685800"/>
            <a:ext cx="4072540" cy="584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412883"/>
            <a:ext cx="4929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dirty="0">
                <a:latin typeface="+mj-lt"/>
              </a:rPr>
              <a:t>Otisak u ruke u spilji Pech Merle,  25 000 g. Pr. Kr.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0210" y="6412883"/>
            <a:ext cx="289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+mj-lt"/>
              </a:rPr>
              <a:t>Yves Klein, </a:t>
            </a:r>
            <a:r>
              <a:rPr lang="hr-HR" i="1" dirty="0">
                <a:latin typeface="+mj-lt"/>
              </a:rPr>
              <a:t>ANT154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0050" y="1657350"/>
            <a:ext cx="3771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2800" dirty="0">
                <a:latin typeface="+mj-lt"/>
              </a:rPr>
              <a:t>Kod Kleina je manje bitan trag, a više sam proces stvaranja u kojem glavnu ulogu ima tijelo, dok kod paleolitskog prikaza ruke radi se upravo o želji ostavljanja traga postojanja.</a:t>
            </a:r>
          </a:p>
        </p:txBody>
      </p:sp>
    </p:spTree>
    <p:extLst>
      <p:ext uri="{BB962C8B-B14F-4D97-AF65-F5344CB8AC3E}">
        <p14:creationId xmlns:p14="http://schemas.microsoft.com/office/powerpoint/2010/main" val="356162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14388"/>
            <a:ext cx="6617970" cy="5362576"/>
          </a:xfrm>
        </p:spPr>
        <p:txBody>
          <a:bodyPr>
            <a:normAutofit/>
          </a:bodyPr>
          <a:lstStyle/>
          <a:p>
            <a:r>
              <a:rPr lang="en-US" dirty="0"/>
              <a:t>bit.ly/matisse5</a:t>
            </a:r>
            <a:endParaRPr lang="hr-HR" dirty="0"/>
          </a:p>
          <a:p>
            <a:r>
              <a:rPr lang="hr-HR" dirty="0"/>
              <a:t>Tehnika kolaža</a:t>
            </a:r>
          </a:p>
        </p:txBody>
      </p:sp>
      <p:pic>
        <p:nvPicPr>
          <p:cNvPr id="1026" name="Picture 2" descr="From the Tate to the MoMA: cross-continental perspectives of Matisse's cut- ou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939" y="365125"/>
            <a:ext cx="5243513" cy="52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92240" y="5749290"/>
            <a:ext cx="528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Henri Matisse, </a:t>
            </a:r>
            <a:r>
              <a:rPr lang="hr-HR" i="1" dirty="0"/>
              <a:t>Snop</a:t>
            </a:r>
            <a:r>
              <a:rPr lang="hr-HR" dirty="0"/>
              <a:t>, 1953.</a:t>
            </a:r>
          </a:p>
        </p:txBody>
      </p:sp>
    </p:spTree>
    <p:extLst>
      <p:ext uri="{BB962C8B-B14F-4D97-AF65-F5344CB8AC3E}">
        <p14:creationId xmlns:p14="http://schemas.microsoft.com/office/powerpoint/2010/main" val="325279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02869"/>
            <a:ext cx="10515600" cy="994409"/>
          </a:xfrm>
        </p:spPr>
        <p:txBody>
          <a:bodyPr/>
          <a:lstStyle/>
          <a:p>
            <a:r>
              <a:rPr lang="hr-HR" dirty="0"/>
              <a:t>Što im je zajedničko?</a:t>
            </a:r>
          </a:p>
        </p:txBody>
      </p:sp>
      <p:pic>
        <p:nvPicPr>
          <p:cNvPr id="4" name="Picture 2" descr="Pech Merle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8555"/>
            <a:ext cx="3947160" cy="5519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orks - Untitled Anthropometry - Yves Kle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840" y="1338555"/>
            <a:ext cx="3836320" cy="550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om the Tate to the MoMA: cross-continental perspectives of Matisse's cut- out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272" y="1874520"/>
            <a:ext cx="4031298" cy="403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395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Svaki umjetnik na svoj način ostavlja trag i šalje nam poruku</a:t>
            </a:r>
          </a:p>
          <a:p>
            <a:r>
              <a:rPr lang="hr-HR" dirty="0"/>
              <a:t>Paleolitski je trag ruke kao otisak, Kleinov je trag obojenog tijela, a Matisseov je trag izrezanog papira koji je gesta umjetnikove ruke</a:t>
            </a:r>
          </a:p>
        </p:txBody>
      </p:sp>
    </p:spTree>
    <p:extLst>
      <p:ext uri="{BB962C8B-B14F-4D97-AF65-F5344CB8AC3E}">
        <p14:creationId xmlns:p14="http://schemas.microsoft.com/office/powerpoint/2010/main" val="47420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0"/>
            <a:ext cx="320040" cy="719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r-HR" dirty="0"/>
          </a:p>
        </p:txBody>
      </p:sp>
      <p:pic>
        <p:nvPicPr>
          <p:cNvPr id="2050" name="Picture 2" descr="Datoteka:Montagne Sainte-Victoire, par Paul Cézanne 108.jpg – Wikipedij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0823"/>
            <a:ext cx="5783580" cy="453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488668"/>
            <a:ext cx="577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Paul Cezanne, </a:t>
            </a:r>
            <a:r>
              <a:rPr lang="en-US" i="1" dirty="0" err="1"/>
              <a:t>Planina</a:t>
            </a:r>
            <a:r>
              <a:rPr lang="en-US" i="1" dirty="0"/>
              <a:t> Sainte-</a:t>
            </a:r>
            <a:r>
              <a:rPr lang="en-US" i="1" dirty="0" err="1"/>
              <a:t>Victoire</a:t>
            </a:r>
            <a:r>
              <a:rPr lang="en-US" dirty="0"/>
              <a:t>, 1904.</a:t>
            </a:r>
            <a:endParaRPr lang="hr-HR" dirty="0"/>
          </a:p>
        </p:txBody>
      </p:sp>
      <p:pic>
        <p:nvPicPr>
          <p:cNvPr id="2052" name="Picture 4" descr="Datoteka:Wheat-Field-with-Cypresses-(1889)-Vincent-van-Gogh-Met.jpg –  Wikipedij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80" y="1849099"/>
            <a:ext cx="5718810" cy="448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69380" y="6488668"/>
            <a:ext cx="5722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Vincent van Gogh, </a:t>
            </a:r>
            <a:r>
              <a:rPr lang="en-US" i="1" dirty="0" err="1"/>
              <a:t>Polje</a:t>
            </a:r>
            <a:r>
              <a:rPr lang="en-US" i="1" dirty="0"/>
              <a:t> </a:t>
            </a:r>
            <a:r>
              <a:rPr lang="en-US" i="1" dirty="0" err="1"/>
              <a:t>pšenice</a:t>
            </a:r>
            <a:r>
              <a:rPr lang="en-US" i="1" dirty="0"/>
              <a:t> s </a:t>
            </a:r>
            <a:r>
              <a:rPr lang="en-US" i="1" dirty="0" err="1"/>
              <a:t>čempresima</a:t>
            </a:r>
            <a:r>
              <a:rPr lang="en-US" dirty="0"/>
              <a:t>, 1889.</a:t>
            </a:r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365125"/>
            <a:ext cx="9132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Još</a:t>
            </a:r>
            <a:r>
              <a:rPr lang="en-US" sz="3600" dirty="0"/>
              <a:t> </a:t>
            </a:r>
            <a:r>
              <a:rPr lang="en-US" sz="3600" dirty="0" err="1"/>
              <a:t>neki</a:t>
            </a:r>
            <a:r>
              <a:rPr lang="en-US" sz="3600" dirty="0"/>
              <a:t> </a:t>
            </a:r>
            <a:r>
              <a:rPr lang="en-US" sz="3600" dirty="0" err="1"/>
              <a:t>načini</a:t>
            </a:r>
            <a:r>
              <a:rPr lang="en-US" sz="3600" dirty="0"/>
              <a:t> </a:t>
            </a:r>
            <a:r>
              <a:rPr lang="en-US" sz="3600" dirty="0" err="1"/>
              <a:t>ostavljanja</a:t>
            </a:r>
            <a:r>
              <a:rPr lang="en-US" sz="3600" dirty="0"/>
              <a:t> </a:t>
            </a:r>
            <a:r>
              <a:rPr lang="en-US" sz="3600" dirty="0" err="1"/>
              <a:t>traga</a:t>
            </a:r>
            <a:r>
              <a:rPr lang="en-US" sz="3600" dirty="0"/>
              <a:t>…</a:t>
            </a:r>
            <a:endParaRPr lang="hr-HR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027906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Usporedite</a:t>
            </a:r>
            <a:r>
              <a:rPr lang="en-US" sz="2800" dirty="0"/>
              <a:t> </a:t>
            </a:r>
            <a:r>
              <a:rPr lang="en-US" sz="2800" dirty="0" err="1"/>
              <a:t>rukopise</a:t>
            </a:r>
            <a:r>
              <a:rPr lang="en-US" sz="2800" dirty="0"/>
              <a:t> </a:t>
            </a:r>
            <a:r>
              <a:rPr lang="en-US" sz="2800" dirty="0" err="1"/>
              <a:t>dva</a:t>
            </a:r>
            <a:r>
              <a:rPr lang="en-US" sz="2800" dirty="0"/>
              <a:t> </a:t>
            </a:r>
            <a:r>
              <a:rPr lang="en-US" sz="2800" dirty="0" err="1"/>
              <a:t>slikara</a:t>
            </a:r>
            <a:r>
              <a:rPr lang="en-US" sz="2800" dirty="0"/>
              <a:t> – </a:t>
            </a:r>
            <a:r>
              <a:rPr lang="en-US" sz="2800" dirty="0" err="1"/>
              <a:t>Cezannea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Van </a:t>
            </a:r>
            <a:r>
              <a:rPr lang="en-US" sz="2800" dirty="0" err="1"/>
              <a:t>Gogha</a:t>
            </a:r>
            <a:endParaRPr lang="hr-HR" sz="2800" dirty="0"/>
          </a:p>
        </p:txBody>
      </p:sp>
    </p:spTree>
    <p:extLst>
      <p:ext uri="{BB962C8B-B14F-4D97-AF65-F5344CB8AC3E}">
        <p14:creationId xmlns:p14="http://schemas.microsoft.com/office/powerpoint/2010/main" val="160764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754379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Slikarski</a:t>
            </a:r>
            <a:r>
              <a:rPr lang="en-US" sz="3200" dirty="0"/>
              <a:t> </a:t>
            </a:r>
            <a:r>
              <a:rPr lang="en-US" sz="3200" dirty="0" err="1"/>
              <a:t>rukopis</a:t>
            </a:r>
            <a:r>
              <a:rPr lang="en-US" sz="3200" dirty="0"/>
              <a:t> </a:t>
            </a:r>
            <a:r>
              <a:rPr lang="en-US" sz="3200" dirty="0" err="1"/>
              <a:t>kao</a:t>
            </a:r>
            <a:r>
              <a:rPr lang="en-US" sz="3200" dirty="0"/>
              <a:t> </a:t>
            </a:r>
            <a:r>
              <a:rPr lang="en-US" sz="3200" dirty="0" err="1"/>
              <a:t>trag</a:t>
            </a:r>
            <a:r>
              <a:rPr lang="en-US" sz="3200" dirty="0"/>
              <a:t> </a:t>
            </a:r>
            <a:r>
              <a:rPr lang="en-US" sz="3200" dirty="0" err="1"/>
              <a:t>odraz</a:t>
            </a:r>
            <a:r>
              <a:rPr lang="en-US" sz="3200" dirty="0"/>
              <a:t> je </a:t>
            </a:r>
            <a:r>
              <a:rPr lang="en-US" sz="3200" dirty="0" err="1"/>
              <a:t>osobnosti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individualnosti</a:t>
            </a:r>
            <a:r>
              <a:rPr lang="en-US" sz="3200" dirty="0"/>
              <a:t> </a:t>
            </a:r>
            <a:r>
              <a:rPr lang="en-US" sz="3200" dirty="0" err="1"/>
              <a:t>slikara</a:t>
            </a:r>
            <a:endParaRPr lang="hr-HR" sz="3200" dirty="0"/>
          </a:p>
        </p:txBody>
      </p:sp>
      <p:pic>
        <p:nvPicPr>
          <p:cNvPr id="4098" name="Picture 2" descr="File:Paul Cézanne - Three Apples (Deux pommes et demie) - BF57 - Barnes  Foundation.jpg - Wikimedia Comm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89602"/>
            <a:ext cx="263803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ile:Vincent van Gogh - Self-portrait with grey felt hat - Google Art  Project.jp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913" y="1889602"/>
            <a:ext cx="3541672" cy="429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eorges Seurat, Women by the Wa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465" y="2635499"/>
            <a:ext cx="5296535" cy="325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6240940"/>
            <a:ext cx="263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Paul Cezanne, </a:t>
            </a:r>
            <a:r>
              <a:rPr lang="en-US" i="1" dirty="0"/>
              <a:t>Tri </a:t>
            </a:r>
            <a:r>
              <a:rPr lang="en-US" i="1" dirty="0" err="1"/>
              <a:t>jabuke</a:t>
            </a:r>
            <a:r>
              <a:rPr lang="en-US" dirty="0"/>
              <a:t>, 1878.</a:t>
            </a:r>
            <a:endParaRPr lang="hr-HR" dirty="0"/>
          </a:p>
        </p:txBody>
      </p:sp>
      <p:sp>
        <p:nvSpPr>
          <p:cNvPr id="5" name="TextBox 4"/>
          <p:cNvSpPr txBox="1"/>
          <p:nvPr/>
        </p:nvSpPr>
        <p:spPr>
          <a:xfrm>
            <a:off x="2995913" y="6240940"/>
            <a:ext cx="354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Vincent van Gogh, </a:t>
            </a:r>
            <a:r>
              <a:rPr lang="en-US" i="1" dirty="0" err="1"/>
              <a:t>Autoportret</a:t>
            </a:r>
            <a:r>
              <a:rPr lang="en-US" i="1" dirty="0"/>
              <a:t> </a:t>
            </a:r>
            <a:r>
              <a:rPr lang="en-US" i="1" dirty="0" err="1"/>
              <a:t>sa</a:t>
            </a:r>
            <a:r>
              <a:rPr lang="en-US" i="1" dirty="0"/>
              <a:t> </a:t>
            </a:r>
            <a:r>
              <a:rPr lang="en-US" i="1" dirty="0" err="1"/>
              <a:t>sivim</a:t>
            </a:r>
            <a:r>
              <a:rPr lang="en-US" i="1" dirty="0"/>
              <a:t> </a:t>
            </a:r>
            <a:r>
              <a:rPr lang="en-US" i="1" dirty="0" err="1"/>
              <a:t>šeširom</a:t>
            </a:r>
            <a:r>
              <a:rPr lang="en-US" dirty="0"/>
              <a:t>, 1887.</a:t>
            </a:r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6895465" y="6240940"/>
            <a:ext cx="529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Georges Seurat, </a:t>
            </a:r>
            <a:r>
              <a:rPr lang="en-US" i="1" dirty="0" err="1"/>
              <a:t>Žene</a:t>
            </a:r>
            <a:r>
              <a:rPr lang="en-US" i="1" dirty="0"/>
              <a:t> </a:t>
            </a:r>
            <a:r>
              <a:rPr lang="en-US" i="1" dirty="0" err="1"/>
              <a:t>na</a:t>
            </a:r>
            <a:r>
              <a:rPr lang="en-US" i="1" dirty="0"/>
              <a:t> </a:t>
            </a:r>
            <a:r>
              <a:rPr lang="en-US" i="1" dirty="0" err="1"/>
              <a:t>rubu</a:t>
            </a:r>
            <a:r>
              <a:rPr lang="en-US" i="1" dirty="0"/>
              <a:t> </a:t>
            </a:r>
            <a:r>
              <a:rPr lang="en-US" i="1" dirty="0" err="1"/>
              <a:t>jezera</a:t>
            </a:r>
            <a:r>
              <a:rPr lang="en-US" dirty="0"/>
              <a:t>, 1885.</a:t>
            </a:r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53908"/>
            <a:ext cx="1154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Sva</a:t>
            </a:r>
            <a:r>
              <a:rPr lang="en-US" sz="2400" dirty="0"/>
              <a:t> tri </a:t>
            </a:r>
            <a:r>
              <a:rPr lang="en-US" sz="2400" dirty="0" err="1"/>
              <a:t>rukopisa</a:t>
            </a:r>
            <a:r>
              <a:rPr lang="en-US" sz="2400" dirty="0"/>
              <a:t> </a:t>
            </a:r>
            <a:r>
              <a:rPr lang="en-US" sz="2400" dirty="0" err="1"/>
              <a:t>ovih</a:t>
            </a:r>
            <a:r>
              <a:rPr lang="en-US" sz="2400" dirty="0"/>
              <a:t> </a:t>
            </a:r>
            <a:r>
              <a:rPr lang="en-US" sz="2400" dirty="0" err="1"/>
              <a:t>slikara</a:t>
            </a:r>
            <a:r>
              <a:rPr lang="en-US" sz="2400" dirty="0"/>
              <a:t> </a:t>
            </a:r>
            <a:r>
              <a:rPr lang="en-US" sz="2400" dirty="0" err="1"/>
              <a:t>koriste</a:t>
            </a:r>
            <a:r>
              <a:rPr lang="en-US" sz="2400" dirty="0"/>
              <a:t> </a:t>
            </a:r>
            <a:r>
              <a:rPr lang="en-US" sz="2400" dirty="0" err="1"/>
              <a:t>tehniku</a:t>
            </a:r>
            <a:r>
              <a:rPr lang="en-US" sz="2400" dirty="0"/>
              <a:t> IMPASTO – </a:t>
            </a:r>
            <a:r>
              <a:rPr lang="en-US" sz="2400" dirty="0" err="1"/>
              <a:t>potez</a:t>
            </a:r>
            <a:r>
              <a:rPr lang="en-US" sz="2400" dirty="0"/>
              <a:t> </a:t>
            </a:r>
            <a:r>
              <a:rPr lang="en-US" sz="2400" dirty="0" err="1"/>
              <a:t>kista</a:t>
            </a:r>
            <a:r>
              <a:rPr lang="en-US" sz="2400" dirty="0"/>
              <a:t> je gust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vidljiv</a:t>
            </a:r>
            <a:endParaRPr lang="hr-HR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748790" y="1172937"/>
            <a:ext cx="3760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EKSPRESIJA – </a:t>
            </a:r>
            <a:r>
              <a:rPr lang="en-US" b="1" dirty="0" err="1"/>
              <a:t>energičnost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izražajnost</a:t>
            </a:r>
            <a:r>
              <a:rPr lang="en-US" b="1" dirty="0"/>
              <a:t>, </a:t>
            </a:r>
            <a:r>
              <a:rPr lang="en-US" b="1" dirty="0" err="1"/>
              <a:t>subjektivan</a:t>
            </a:r>
            <a:r>
              <a:rPr lang="en-US" b="1" dirty="0"/>
              <a:t> </a:t>
            </a:r>
            <a:r>
              <a:rPr lang="en-US" b="1" dirty="0" err="1"/>
              <a:t>iskaz</a:t>
            </a:r>
            <a:endParaRPr lang="hr-H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895465" y="1769480"/>
            <a:ext cx="5296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POENTILIZAM - </a:t>
            </a:r>
            <a:r>
              <a:rPr lang="en-US" b="1" dirty="0" err="1"/>
              <a:t>proučavanje</a:t>
            </a:r>
            <a:r>
              <a:rPr lang="en-US" b="1" dirty="0"/>
              <a:t> </a:t>
            </a:r>
            <a:r>
              <a:rPr lang="en-US" b="1" dirty="0" err="1"/>
              <a:t>optičkih</a:t>
            </a:r>
            <a:r>
              <a:rPr lang="en-US" b="1" dirty="0"/>
              <a:t> </a:t>
            </a:r>
            <a:r>
              <a:rPr lang="en-US" b="1" dirty="0" err="1"/>
              <a:t>svojstava</a:t>
            </a:r>
            <a:r>
              <a:rPr lang="en-US" b="1" dirty="0"/>
              <a:t> </a:t>
            </a:r>
            <a:r>
              <a:rPr lang="en-US" b="1" dirty="0" err="1"/>
              <a:t>boje</a:t>
            </a:r>
            <a:r>
              <a:rPr lang="en-US" b="1" dirty="0"/>
              <a:t>, </a:t>
            </a:r>
            <a:r>
              <a:rPr lang="en-US" b="1" dirty="0" err="1"/>
              <a:t>što</a:t>
            </a:r>
            <a:r>
              <a:rPr lang="en-US" b="1" dirty="0"/>
              <a:t> se </a:t>
            </a:r>
            <a:r>
              <a:rPr lang="en-US" b="1" dirty="0" err="1"/>
              <a:t>događa</a:t>
            </a:r>
            <a:r>
              <a:rPr lang="en-US" b="1" dirty="0"/>
              <a:t> u </a:t>
            </a:r>
            <a:r>
              <a:rPr lang="en-US" b="1" dirty="0" err="1"/>
              <a:t>našem</a:t>
            </a:r>
            <a:r>
              <a:rPr lang="en-US" b="1" dirty="0"/>
              <a:t> </a:t>
            </a:r>
            <a:r>
              <a:rPr lang="en-US" b="1" dirty="0" err="1"/>
              <a:t>oku</a:t>
            </a:r>
            <a:r>
              <a:rPr lang="en-US" b="1" dirty="0"/>
              <a:t> </a:t>
            </a:r>
            <a:r>
              <a:rPr lang="en-US" b="1" dirty="0" err="1"/>
              <a:t>kada</a:t>
            </a:r>
            <a:r>
              <a:rPr lang="en-US" b="1" dirty="0"/>
              <a:t> se </a:t>
            </a:r>
            <a:r>
              <a:rPr lang="en-US" b="1" dirty="0" err="1"/>
              <a:t>stavi</a:t>
            </a:r>
            <a:r>
              <a:rPr lang="en-US" b="1" dirty="0"/>
              <a:t> </a:t>
            </a:r>
            <a:r>
              <a:rPr lang="en-US" b="1" dirty="0" err="1"/>
              <a:t>boja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boju</a:t>
            </a:r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49206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2890"/>
            <a:ext cx="10515600" cy="5914073"/>
          </a:xfrm>
        </p:spPr>
        <p:txBody>
          <a:bodyPr/>
          <a:lstStyle/>
          <a:p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drugačiji</a:t>
            </a:r>
            <a:r>
              <a:rPr lang="en-US" dirty="0"/>
              <a:t> </a:t>
            </a:r>
            <a:r>
              <a:rPr lang="en-US" dirty="0" err="1"/>
              <a:t>načij</a:t>
            </a:r>
            <a:r>
              <a:rPr lang="en-US" dirty="0"/>
              <a:t> </a:t>
            </a:r>
            <a:r>
              <a:rPr lang="en-US" dirty="0" err="1"/>
              <a:t>ostavljanja</a:t>
            </a:r>
            <a:r>
              <a:rPr lang="en-US" dirty="0"/>
              <a:t> </a:t>
            </a:r>
            <a:r>
              <a:rPr lang="en-US" dirty="0" err="1"/>
              <a:t>traga</a:t>
            </a:r>
            <a:r>
              <a:rPr lang="en-US" dirty="0"/>
              <a:t> </a:t>
            </a:r>
            <a:r>
              <a:rPr lang="en-US" dirty="0" err="1"/>
              <a:t>istražuju</a:t>
            </a:r>
            <a:r>
              <a:rPr lang="en-US" dirty="0"/>
              <a:t> </a:t>
            </a:r>
            <a:r>
              <a:rPr lang="en-US" dirty="0" err="1"/>
              <a:t>umjetnici</a:t>
            </a:r>
            <a:r>
              <a:rPr lang="en-US" dirty="0"/>
              <a:t> 20. </a:t>
            </a:r>
            <a:r>
              <a:rPr lang="en-US" dirty="0" err="1"/>
              <a:t>st.</a:t>
            </a:r>
            <a:r>
              <a:rPr lang="en-US" dirty="0"/>
              <a:t> </a:t>
            </a:r>
            <a:endParaRPr lang="hr-HR" dirty="0"/>
          </a:p>
        </p:txBody>
      </p:sp>
      <p:pic>
        <p:nvPicPr>
          <p:cNvPr id="5122" name="Picture 2" descr="Gattin, Ivo | Hrvatska enciklopedij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" y="1984394"/>
            <a:ext cx="5970905" cy="429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2890" y="6412230"/>
            <a:ext cx="600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Ivo </a:t>
            </a:r>
            <a:r>
              <a:rPr lang="en-US" dirty="0" err="1">
                <a:latin typeface="+mj-lt"/>
              </a:rPr>
              <a:t>Gattin</a:t>
            </a:r>
            <a:r>
              <a:rPr lang="en-US" dirty="0">
                <a:latin typeface="+mj-lt"/>
              </a:rPr>
              <a:t>, </a:t>
            </a:r>
            <a:r>
              <a:rPr lang="en-US" i="1" dirty="0" err="1">
                <a:latin typeface="+mj-lt"/>
              </a:rPr>
              <a:t>Crvena</a:t>
            </a:r>
            <a:r>
              <a:rPr lang="en-US" i="1" dirty="0">
                <a:latin typeface="+mj-lt"/>
              </a:rPr>
              <a:t> </a:t>
            </a:r>
            <a:r>
              <a:rPr lang="en-US" i="1" dirty="0" err="1">
                <a:latin typeface="+mj-lt"/>
              </a:rPr>
              <a:t>površina</a:t>
            </a:r>
            <a:r>
              <a:rPr lang="en-US" i="1" dirty="0">
                <a:latin typeface="+mj-lt"/>
              </a:rPr>
              <a:t> s </a:t>
            </a:r>
            <a:r>
              <a:rPr lang="en-US" i="1" dirty="0" err="1">
                <a:latin typeface="+mj-lt"/>
              </a:rPr>
              <a:t>dvije</a:t>
            </a:r>
            <a:r>
              <a:rPr lang="en-US" i="1" dirty="0">
                <a:latin typeface="+mj-lt"/>
              </a:rPr>
              <a:t> </a:t>
            </a:r>
            <a:r>
              <a:rPr lang="en-US" i="1" dirty="0" err="1">
                <a:latin typeface="+mj-lt"/>
              </a:rPr>
              <a:t>usjekotine</a:t>
            </a:r>
            <a:r>
              <a:rPr lang="en-US" dirty="0">
                <a:latin typeface="+mj-lt"/>
              </a:rPr>
              <a:t>, 1961.</a:t>
            </a:r>
            <a:endParaRPr lang="hr-HR" dirty="0">
              <a:latin typeface="+mj-lt"/>
            </a:endParaRPr>
          </a:p>
        </p:txBody>
      </p:sp>
      <p:pic>
        <p:nvPicPr>
          <p:cNvPr id="5124" name="Picture 4" descr="Lucio Fontana | Concetto spaziale, Attesa, 19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686" y="1908848"/>
            <a:ext cx="3578236" cy="436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42439" y="6346172"/>
            <a:ext cx="5116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Lucio Fontana, </a:t>
            </a:r>
            <a:r>
              <a:rPr lang="en-US" i="1" dirty="0" err="1">
                <a:latin typeface="+mj-lt"/>
              </a:rPr>
              <a:t>Prostorni</a:t>
            </a:r>
            <a:r>
              <a:rPr lang="en-US" i="1" dirty="0">
                <a:latin typeface="+mj-lt"/>
              </a:rPr>
              <a:t> </a:t>
            </a:r>
            <a:r>
              <a:rPr lang="en-US" i="1" dirty="0" err="1">
                <a:latin typeface="+mj-lt"/>
              </a:rPr>
              <a:t>koncept</a:t>
            </a:r>
            <a:r>
              <a:rPr lang="en-US" dirty="0">
                <a:latin typeface="+mj-lt"/>
              </a:rPr>
              <a:t>, 1960.</a:t>
            </a:r>
            <a:endParaRPr lang="hr-HR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9824" y="1281389"/>
            <a:ext cx="588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ENFORMEL</a:t>
            </a:r>
            <a:r>
              <a:rPr lang="en-US" dirty="0">
                <a:latin typeface="+mj-lt"/>
              </a:rPr>
              <a:t> (</a:t>
            </a:r>
            <a:r>
              <a:rPr lang="en-US" dirty="0" err="1">
                <a:latin typeface="+mj-lt"/>
              </a:rPr>
              <a:t>umjetnost</a:t>
            </a:r>
            <a:r>
              <a:rPr lang="en-US" dirty="0">
                <a:latin typeface="+mj-lt"/>
              </a:rPr>
              <a:t> bez </a:t>
            </a:r>
            <a:r>
              <a:rPr lang="en-US" dirty="0" err="1">
                <a:latin typeface="+mj-lt"/>
              </a:rPr>
              <a:t>forme</a:t>
            </a:r>
            <a:r>
              <a:rPr lang="en-US" dirty="0">
                <a:latin typeface="+mj-lt"/>
              </a:rPr>
              <a:t>)</a:t>
            </a:r>
            <a:endParaRPr lang="hr-HR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4498" y="1237217"/>
            <a:ext cx="2454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NOVI REALIZAM</a:t>
            </a:r>
            <a:endParaRPr lang="hr-HR" b="1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99279" y="1623656"/>
            <a:ext cx="5234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j-lt"/>
              </a:rPr>
              <a:t>Trag</a:t>
            </a:r>
            <a:r>
              <a:rPr lang="en-US" dirty="0">
                <a:latin typeface="+mj-lt"/>
              </a:rPr>
              <a:t> u </a:t>
            </a:r>
            <a:r>
              <a:rPr lang="en-US" dirty="0" err="1">
                <a:latin typeface="+mj-lt"/>
              </a:rPr>
              <a:t>materijalu</a:t>
            </a:r>
            <a:endParaRPr lang="hr-HR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93686" y="1554973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j-lt"/>
              </a:rPr>
              <a:t>Prostorni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koncept</a:t>
            </a:r>
            <a:r>
              <a:rPr lang="en-US" dirty="0">
                <a:latin typeface="+mj-lt"/>
              </a:rPr>
              <a:t> – </a:t>
            </a:r>
            <a:r>
              <a:rPr lang="en-US" dirty="0" err="1">
                <a:latin typeface="+mj-lt"/>
              </a:rPr>
              <a:t>rezanje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platna</a:t>
            </a:r>
            <a:endParaRPr lang="hr-H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846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Igra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kraj</a:t>
            </a:r>
            <a:r>
              <a:rPr lang="en-US" dirty="0"/>
              <a:t>: bit.ly/</a:t>
            </a:r>
            <a:r>
              <a:rPr lang="en-US" dirty="0" err="1"/>
              <a:t>tijelotragovi</a:t>
            </a:r>
            <a:endParaRPr lang="hr-HR" dirty="0"/>
          </a:p>
        </p:txBody>
      </p:sp>
      <p:sp>
        <p:nvSpPr>
          <p:cNvPr id="4" name="Explosion 1 3"/>
          <p:cNvSpPr/>
          <p:nvPr/>
        </p:nvSpPr>
        <p:spPr>
          <a:xfrm>
            <a:off x="546735" y="2295888"/>
            <a:ext cx="582930" cy="516573"/>
          </a:xfrm>
          <a:prstGeom prst="irregularSeal1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0492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589</Words>
  <Application>Microsoft Office PowerPoint</Application>
  <PresentationFormat>Široki zaslon</PresentationFormat>
  <Paragraphs>74</Paragraphs>
  <Slides>18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PowerPoint prezentacija</vt:lpstr>
      <vt:lpstr>TIJELO U TRAGOVIMA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Što im je zajedničko?</vt:lpstr>
      <vt:lpstr>PowerPoint prezentacija</vt:lpstr>
      <vt:lpstr>PowerPoint prezentacija</vt:lpstr>
      <vt:lpstr>Slikarski rukopis kao trag odraz je osobnosti i individualnosti slikara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TIJELO U TRAGOVIMA</dc:title>
  <dc:creator>Maja Bachler</dc:creator>
  <cp:lastModifiedBy>Maja Bachler</cp:lastModifiedBy>
  <cp:revision>46</cp:revision>
  <dcterms:created xsi:type="dcterms:W3CDTF">2021-04-03T09:11:17Z</dcterms:created>
  <dcterms:modified xsi:type="dcterms:W3CDTF">2025-03-28T10:04:32Z</dcterms:modified>
</cp:coreProperties>
</file>