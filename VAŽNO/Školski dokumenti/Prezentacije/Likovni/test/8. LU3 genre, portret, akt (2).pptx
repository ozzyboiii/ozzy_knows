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8" r:id="rId2"/>
    <p:sldId id="256" r:id="rId3"/>
    <p:sldId id="272" r:id="rId4"/>
    <p:sldId id="260" r:id="rId5"/>
    <p:sldId id="259" r:id="rId6"/>
    <p:sldId id="274" r:id="rId7"/>
    <p:sldId id="273" r:id="rId8"/>
    <p:sldId id="275" r:id="rId9"/>
    <p:sldId id="261" r:id="rId10"/>
    <p:sldId id="262" r:id="rId11"/>
    <p:sldId id="276" r:id="rId12"/>
    <p:sldId id="277" r:id="rId13"/>
    <p:sldId id="264" r:id="rId14"/>
    <p:sldId id="265" r:id="rId15"/>
    <p:sldId id="282" r:id="rId16"/>
    <p:sldId id="278" r:id="rId17"/>
    <p:sldId id="283" r:id="rId18"/>
    <p:sldId id="284" r:id="rId19"/>
    <p:sldId id="285" r:id="rId20"/>
    <p:sldId id="286" r:id="rId21"/>
    <p:sldId id="279" r:id="rId22"/>
    <p:sldId id="268" r:id="rId23"/>
    <p:sldId id="270" r:id="rId24"/>
    <p:sldId id="280" r:id="rId25"/>
    <p:sldId id="281" r:id="rId26"/>
  </p:sldIdLst>
  <p:sldSz cx="9144000" cy="6858000" type="screen4x3"/>
  <p:notesSz cx="6858000" cy="9144000"/>
  <p:defaultTextStyle>
    <a:defPPr>
      <a:defRPr lang="sr-Latn-C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7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73245" autoAdjust="0"/>
  </p:normalViewPr>
  <p:slideViewPr>
    <p:cSldViewPr>
      <p:cViewPr varScale="1">
        <p:scale>
          <a:sx n="63" d="100"/>
          <a:sy n="63" d="100"/>
        </p:scale>
        <p:origin x="219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7A0790-D054-459C-8EBC-8B1CD51DA901}" type="datetimeFigureOut">
              <a:rPr lang="hr-HR" smtClean="0"/>
              <a:pPr/>
              <a:t>16.3.2021.</a:t>
            </a:fld>
            <a:endParaRPr lang="hr-H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hr-H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hr-H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181528-4546-4746-82B1-858489D225BF}" type="slidenum">
              <a:rPr lang="hr-HR" smtClean="0"/>
              <a:pPr/>
              <a:t>‹#›</a:t>
            </a:fld>
            <a:endParaRPr lang="hr-H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a:t>
            </a:fld>
            <a:endParaRPr lang="hr-H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sz="1200" kern="1200" dirty="0" smtClean="0">
                <a:solidFill>
                  <a:schemeClr val="tx1"/>
                </a:solidFill>
                <a:latin typeface="+mn-lt"/>
                <a:ea typeface="+mn-ea"/>
                <a:cs typeface="+mn-cs"/>
              </a:rPr>
              <a:t>Za početak trebate u svojim mobitelima pronaći par fotografija sa scenama i prizorima iz svakodnevnog života.</a:t>
            </a:r>
            <a:r>
              <a:rPr lang="hr-HR" sz="1200" i="1" kern="1200" dirty="0" smtClean="0">
                <a:solidFill>
                  <a:schemeClr val="tx1"/>
                </a:solidFill>
                <a:latin typeface="+mn-lt"/>
                <a:ea typeface="+mn-ea"/>
                <a:cs typeface="+mn-cs"/>
              </a:rPr>
              <a:t> </a:t>
            </a:r>
            <a:endParaRPr lang="hr-HR" sz="1200" kern="1200" dirty="0" smtClean="0">
              <a:solidFill>
                <a:schemeClr val="tx1"/>
              </a:solidFill>
              <a:latin typeface="+mn-lt"/>
              <a:ea typeface="+mn-ea"/>
              <a:cs typeface="+mn-cs"/>
            </a:endParaRPr>
          </a:p>
          <a:p>
            <a:r>
              <a:rPr lang="hr-HR" sz="1200" kern="1200" dirty="0" smtClean="0">
                <a:solidFill>
                  <a:schemeClr val="tx1"/>
                </a:solidFill>
                <a:latin typeface="+mn-lt"/>
                <a:ea typeface="+mn-ea"/>
                <a:cs typeface="+mn-cs"/>
              </a:rPr>
              <a:t> </a:t>
            </a:r>
          </a:p>
          <a:p>
            <a:r>
              <a:rPr lang="hr-HR" sz="1200" kern="1200" dirty="0" smtClean="0">
                <a:solidFill>
                  <a:schemeClr val="tx1"/>
                </a:solidFill>
                <a:latin typeface="+mn-lt"/>
                <a:ea typeface="+mn-ea"/>
                <a:cs typeface="+mn-cs"/>
              </a:rPr>
              <a:t> </a:t>
            </a:r>
          </a:p>
          <a:p>
            <a:r>
              <a:rPr lang="hr-HR" sz="1200" kern="1200" dirty="0" smtClean="0">
                <a:solidFill>
                  <a:schemeClr val="tx1"/>
                </a:solidFill>
                <a:latin typeface="+mn-lt"/>
                <a:ea typeface="+mn-ea"/>
                <a:cs typeface="+mn-cs"/>
              </a:rPr>
              <a:t> </a:t>
            </a:r>
          </a:p>
          <a:p>
            <a:r>
              <a:rPr lang="hr-HR" sz="1200" kern="1200" dirty="0" smtClean="0">
                <a:solidFill>
                  <a:schemeClr val="tx1"/>
                </a:solidFill>
                <a:latin typeface="+mn-lt"/>
                <a:ea typeface="+mn-ea"/>
                <a:cs typeface="+mn-cs"/>
              </a:rPr>
              <a:t> </a:t>
            </a:r>
          </a:p>
          <a:p>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a:t>
            </a:fld>
            <a:endParaRPr lang="hr-H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sz="1200" i="1" kern="1200" dirty="0" smtClean="0">
                <a:solidFill>
                  <a:schemeClr val="tx1"/>
                </a:solidFill>
                <a:latin typeface="+mn-lt"/>
                <a:ea typeface="+mn-ea"/>
                <a:cs typeface="+mn-cs"/>
              </a:rPr>
              <a:t>Koji prizori i scene se nalaze na vašim fotografijama? </a:t>
            </a:r>
            <a:r>
              <a:rPr lang="hr-HR" sz="1200" kern="1200" dirty="0" smtClean="0">
                <a:solidFill>
                  <a:schemeClr val="tx1"/>
                </a:solidFill>
                <a:latin typeface="+mn-lt"/>
                <a:ea typeface="+mn-ea"/>
                <a:cs typeface="+mn-cs"/>
              </a:rPr>
              <a:t>(Druženja s prijateljima i obitelji, razne aktivnosti, večere, kafići ...)</a:t>
            </a:r>
          </a:p>
          <a:p>
            <a:r>
              <a:rPr lang="hr-HR" dirty="0" smtClean="0"/>
              <a:t>Prizori druženja</a:t>
            </a:r>
            <a:r>
              <a:rPr lang="hr-HR" baseline="0" dirty="0" smtClean="0"/>
              <a:t> s prijateljima i obitelji kao što vidimo na fotografiji te privatne i poslovne aktivnosti prikazuju naš svakodnevni život.</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3</a:t>
            </a:fld>
            <a:endParaRPr lang="hr-H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r-HR" sz="1200" kern="1200" dirty="0" smtClean="0">
                <a:solidFill>
                  <a:schemeClr val="tx1"/>
                </a:solidFill>
                <a:latin typeface="+mn-lt"/>
                <a:ea typeface="+mn-ea"/>
                <a:cs typeface="+mn-cs"/>
              </a:rPr>
              <a:t>Vidjeli ste sada na fotografiji jedan prikaz iz svakodnevnog života i naveli ste neke svoje primjere, a sada ćemo vidjeti kako se svakodnevica prikazuje kao tema u likovnoj umjetnosti. </a:t>
            </a:r>
            <a:r>
              <a:rPr lang="hr-HR" sz="1200" i="1" kern="1200" dirty="0" smtClean="0">
                <a:solidFill>
                  <a:schemeClr val="tx1"/>
                </a:solidFill>
                <a:latin typeface="+mn-lt"/>
                <a:ea typeface="+mn-ea"/>
                <a:cs typeface="+mn-cs"/>
              </a:rPr>
              <a:t>Usporedite prizore vaše svakodnevice s ovim prizorima</a:t>
            </a:r>
            <a:r>
              <a:rPr lang="hr-HR" sz="1200" kern="1200" dirty="0" smtClean="0">
                <a:solidFill>
                  <a:schemeClr val="tx1"/>
                </a:solidFill>
                <a:latin typeface="+mn-lt"/>
                <a:ea typeface="+mn-ea"/>
                <a:cs typeface="+mn-cs"/>
              </a:rPr>
              <a:t>? (Ljudi se međusobno druže ili obavljaju neke poslove, aktivnosti) Na primjerima primjećujemo prizore iz svakodnevnog života, ljude koji kližu i druže se, lovce s psima koji se vraćaju iz lova, ljude koji nose grane i grupu ljudi koja pali vatru ispred kuće, odnosno ondašnjeg mjesta okupljanja, kafića. Možemo primijetiti neke sličnosti u aktivnostima s prizora koji su u današnje vrijeme pojednostavljeni i olakšani. Vidimo ljude koji kližu na jezeru, aktivnost koja je poželjna i u današnje vrijeme, no odvija se na umjetno stvorenim klizalištima, a rijetko kada na smrznutome jezeru. Zatim lov, aktivnost koja je i danas u manjoj mjeri popularna, ali ne na način kao u prošlo vrijeme kada je bila nužna za preživljavanje. </a:t>
            </a:r>
          </a:p>
          <a:p>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4</a:t>
            </a:fld>
            <a:endParaRPr lang="hr-H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sz="1200" kern="1200" dirty="0" smtClean="0">
                <a:solidFill>
                  <a:schemeClr val="tx1"/>
                </a:solidFill>
                <a:latin typeface="+mn-lt"/>
                <a:ea typeface="+mn-ea"/>
                <a:cs typeface="+mn-cs"/>
              </a:rPr>
              <a:t>Dakle, na razmatranom umjetničkom djelu slikar je želio prikazati svakodnevne scene i prikaze tadašnjega života. Takvu temu nazivamo genre scenom. </a:t>
            </a:r>
          </a:p>
          <a:p>
            <a:r>
              <a:rPr lang="hr-HR" sz="1200" kern="1200" dirty="0" smtClean="0">
                <a:solidFill>
                  <a:schemeClr val="tx1"/>
                </a:solidFill>
                <a:latin typeface="+mn-lt"/>
                <a:ea typeface="+mn-ea"/>
                <a:cs typeface="+mn-cs"/>
              </a:rPr>
              <a:t>Žanr scena je likovni motiv koji prikazuje prizore i teme iz svakodnevnog života,</a:t>
            </a:r>
            <a:r>
              <a:rPr lang="hr-HR" sz="1200" u="sng" kern="1200" dirty="0" smtClean="0">
                <a:solidFill>
                  <a:schemeClr val="tx1"/>
                </a:solidFill>
                <a:latin typeface="+mn-lt"/>
                <a:ea typeface="+mn-ea"/>
                <a:cs typeface="+mn-cs"/>
              </a:rPr>
              <a:t> </a:t>
            </a:r>
            <a:r>
              <a:rPr lang="hr-HR" sz="1200" kern="1200" dirty="0" smtClean="0">
                <a:solidFill>
                  <a:schemeClr val="tx1"/>
                </a:solidFill>
                <a:latin typeface="+mn-lt"/>
                <a:ea typeface="+mn-ea"/>
                <a:cs typeface="+mn-cs"/>
              </a:rPr>
              <a:t>a najčešće su to prikazi tržnica, domaćinstva, zabava i uličnih događanja. </a:t>
            </a:r>
            <a:r>
              <a:rPr lang="hr-HR" sz="1200" i="1" kern="1200" dirty="0" smtClean="0">
                <a:solidFill>
                  <a:schemeClr val="tx1"/>
                </a:solidFill>
                <a:latin typeface="+mn-lt"/>
                <a:ea typeface="+mn-ea"/>
                <a:cs typeface="+mn-cs"/>
              </a:rPr>
              <a:t>Što mislite, zašto je žanr scena važan likovni motiv? </a:t>
            </a:r>
            <a:r>
              <a:rPr lang="hr-HR" sz="1200" kern="1200" dirty="0" smtClean="0">
                <a:solidFill>
                  <a:schemeClr val="tx1"/>
                </a:solidFill>
                <a:latin typeface="+mn-lt"/>
                <a:ea typeface="+mn-ea"/>
                <a:cs typeface="+mn-cs"/>
              </a:rPr>
              <a:t>(Žanr scena važna je zbog prikaza svakodnevnog života u vrijeme kad fotografija nije postojala, na ovaj način se dokumentirao svakodnevni život)</a:t>
            </a:r>
            <a:r>
              <a:rPr lang="hr-HR" sz="1200" u="sng" kern="1200" dirty="0" smtClean="0">
                <a:solidFill>
                  <a:schemeClr val="tx1"/>
                </a:solidFill>
                <a:latin typeface="+mn-lt"/>
                <a:ea typeface="+mn-ea"/>
                <a:cs typeface="+mn-cs"/>
              </a:rPr>
              <a:t>.</a:t>
            </a:r>
            <a:r>
              <a:rPr lang="hr-HR" sz="1200" kern="1200" dirty="0" smtClean="0">
                <a:solidFill>
                  <a:schemeClr val="tx1"/>
                </a:solidFill>
                <a:latin typeface="+mn-lt"/>
                <a:ea typeface="+mn-ea"/>
                <a:cs typeface="+mn-cs"/>
              </a:rPr>
              <a:t> Kao motiv u umjetnosti, žanr scena je važna jer dokumentira svakodnevicu kroz sliku u vrijeme dok još nisu postojali fotoaparat i kamera te tako dokumentira promjene u životu ljudi kroz povijest.  Žanr</a:t>
            </a:r>
            <a:r>
              <a:rPr lang="hr-HR" sz="1200" kern="1200" baseline="0" dirty="0" smtClean="0">
                <a:solidFill>
                  <a:schemeClr val="tx1"/>
                </a:solidFill>
                <a:latin typeface="+mn-lt"/>
                <a:ea typeface="+mn-ea"/>
                <a:cs typeface="+mn-cs"/>
              </a:rPr>
              <a:t> scena se kao motiv osamostaljuje i dobiva na važnosti u baroku.</a:t>
            </a:r>
            <a:endParaRPr lang="hr-HR" sz="1200" kern="1200" dirty="0" smtClean="0">
              <a:solidFill>
                <a:schemeClr val="tx1"/>
              </a:solidFill>
              <a:latin typeface="+mn-lt"/>
              <a:ea typeface="+mn-ea"/>
              <a:cs typeface="+mn-cs"/>
            </a:endParaRPr>
          </a:p>
          <a:p>
            <a:endParaRPr lang="hr-HR" i="1"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5</a:t>
            </a:fld>
            <a:endParaRPr lang="hr-H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dirty="0" smtClean="0"/>
              <a:t>Sada ćemo kroz par</a:t>
            </a:r>
            <a:r>
              <a:rPr lang="hr-HR" baseline="0" dirty="0" smtClean="0"/>
              <a:t> djela </a:t>
            </a:r>
            <a:r>
              <a:rPr lang="hr-HR" dirty="0" smtClean="0"/>
              <a:t>promotrit različite načine prikazivanja svakodnevnog života</a:t>
            </a:r>
            <a:r>
              <a:rPr lang="hr-HR" i="1" dirty="0" smtClean="0"/>
              <a:t>. Što je prikazano na ovom likovnom primjeru? </a:t>
            </a:r>
            <a:r>
              <a:rPr lang="hr-HR" dirty="0" smtClean="0"/>
              <a:t>(Prikazana </a:t>
            </a:r>
            <a:r>
              <a:rPr lang="hr-HR" baseline="0" dirty="0" smtClean="0"/>
              <a:t> je grupa ljudi, po odjeći i interijeru primjećujemo da su ugledni ljudi  iz visokog društva</a:t>
            </a:r>
            <a:r>
              <a:rPr lang="hr-HR" i="1" baseline="0" dirty="0" smtClean="0"/>
              <a:t>). Koji društveni sloj je prikazan na slici? </a:t>
            </a:r>
            <a:r>
              <a:rPr lang="hr-HR" baseline="0" dirty="0" smtClean="0"/>
              <a:t>(uglednici, dvorjani) Slika prikazuje prostoriju u palači u čijem se središtu nalazi princeza Margarita Tereza, a oko nje su dvorske dame koje ju dvore.</a:t>
            </a:r>
            <a:r>
              <a:rPr lang="hr-HR" i="1" baseline="0" dirty="0" smtClean="0"/>
              <a:t> Kakva je svakodnevica prikazana na ovom djelu naspram svakodnevice prikazane na djelu Lovci u snijegu? </a:t>
            </a:r>
            <a:r>
              <a:rPr lang="hr-HR" baseline="0" dirty="0" smtClean="0"/>
              <a:t>Na prošlom primjeru smo vidjeli prikaz seoskog života, dok ovdje vidimo prikaz dvorske svakodnevice i njenu raskoš.</a:t>
            </a:r>
            <a:r>
              <a:rPr lang="hr-HR" sz="1200" kern="1200" baseline="0" dirty="0" smtClean="0">
                <a:solidFill>
                  <a:schemeClr val="tx1"/>
                </a:solidFill>
                <a:latin typeface="+mn-lt"/>
                <a:ea typeface="+mn-ea"/>
                <a:cs typeface="+mn-cs"/>
              </a:rPr>
              <a:t>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6</a:t>
            </a:fld>
            <a:endParaRPr lang="hr-H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i="1" dirty="0" smtClean="0"/>
              <a:t>Koju aktivnost iz svakodnevnog života primjećujete na ovom djelu? </a:t>
            </a:r>
            <a:r>
              <a:rPr lang="hr-HR" dirty="0" smtClean="0"/>
              <a:t>(Ljude</a:t>
            </a:r>
            <a:r>
              <a:rPr lang="hr-HR" baseline="0" dirty="0" smtClean="0"/>
              <a:t> koji rade s kamenjem).  </a:t>
            </a:r>
            <a:r>
              <a:rPr lang="hr-HR" i="1" baseline="0" dirty="0" smtClean="0"/>
              <a:t>Koji društveni sloj prikazuje ovo djelo? </a:t>
            </a:r>
            <a:r>
              <a:rPr lang="hr-HR" baseline="0" dirty="0" smtClean="0"/>
              <a:t>(Prikazuje radnike, seljake) Djelo prikazuje seoske radnike. </a:t>
            </a:r>
            <a:r>
              <a:rPr lang="hr-HR" i="1" baseline="0" dirty="0" smtClean="0"/>
              <a:t>Što možete primjetiti na temelju prikazana dva lika, kako se razlikuje njihova svakodnevica naspram naše svakodnevice? </a:t>
            </a:r>
            <a:r>
              <a:rPr lang="hr-HR" baseline="0" dirty="0" smtClean="0"/>
              <a:t>(Svakodnevica dvojice likova je težak rad s kamenjem). Svakodnevica prikazanih likova je fizički naporan posao i mukotrpan rad dok je naša svakodnevica opuštenija, jednostavnija i komotnija.</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7</a:t>
            </a:fld>
            <a:endParaRPr lang="hr-H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i="1" baseline="0" dirty="0" smtClean="0"/>
              <a:t>Možete li usporediti ovaj prizor s prikazima iz vašeg svakodnevnog života?(</a:t>
            </a:r>
            <a:r>
              <a:rPr lang="hr-HR" baseline="0" dirty="0" smtClean="0"/>
              <a:t>Vidimo sličnosti u zajedničkom druženju, odlasku u bar...) </a:t>
            </a:r>
            <a:r>
              <a:rPr lang="hr-HR" i="1" baseline="0" dirty="0" smtClean="0"/>
              <a:t>Po čemu je ovaj prizor bliži i sličniji prizorima iz vašeg svakodnevnog života nego prethodni primjeri? </a:t>
            </a:r>
            <a:r>
              <a:rPr lang="hr-HR" baseline="0" dirty="0" smtClean="0"/>
              <a:t>(Ljudi se druže u kafiću, imaju suvremeniju odjeću...) </a:t>
            </a:r>
            <a:r>
              <a:rPr lang="hr-HR" i="1" baseline="0" dirty="0" smtClean="0"/>
              <a:t>Opišite mjesto i prostor koje se nalazi na slici? </a:t>
            </a:r>
            <a:r>
              <a:rPr lang="hr-HR" baseline="0" dirty="0" smtClean="0"/>
              <a:t>(Primjećujemo interijer kafića, ulicu, zgradu...). Na ovoj slici primjećujemo prikaz gradskog života.</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8</a:t>
            </a:fld>
            <a:endParaRPr lang="hr-H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sz="1200" i="1" kern="1200" dirty="0" smtClean="0">
                <a:solidFill>
                  <a:schemeClr val="tx1"/>
                </a:solidFill>
                <a:latin typeface="+mn-lt"/>
                <a:ea typeface="+mn-ea"/>
                <a:cs typeface="+mn-cs"/>
              </a:rPr>
              <a:t>Koje su glavne razlike u prikazivanju svakodnevice</a:t>
            </a:r>
            <a:r>
              <a:rPr lang="hr-HR" sz="1200" i="1" kern="1200" baseline="0" dirty="0" smtClean="0">
                <a:solidFill>
                  <a:schemeClr val="tx1"/>
                </a:solidFill>
                <a:latin typeface="+mn-lt"/>
                <a:ea typeface="+mn-ea"/>
                <a:cs typeface="+mn-cs"/>
              </a:rPr>
              <a:t> na ovim primjerima? </a:t>
            </a:r>
            <a:r>
              <a:rPr lang="hr-HR" sz="1200" kern="1200" baseline="0" dirty="0" smtClean="0">
                <a:solidFill>
                  <a:schemeClr val="tx1"/>
                </a:solidFill>
                <a:latin typeface="+mn-lt"/>
                <a:ea typeface="+mn-ea"/>
                <a:cs typeface="+mn-cs"/>
              </a:rPr>
              <a:t>( Seoski, dvorski, gradski prikazi). </a:t>
            </a:r>
            <a:r>
              <a:rPr lang="hr-HR" sz="1200" kern="1200" dirty="0" smtClean="0">
                <a:solidFill>
                  <a:schemeClr val="tx1"/>
                </a:solidFill>
                <a:latin typeface="+mn-lt"/>
                <a:ea typeface="+mn-ea"/>
                <a:cs typeface="+mn-cs"/>
              </a:rPr>
              <a:t>Na</a:t>
            </a:r>
            <a:r>
              <a:rPr lang="hr-HR" sz="1200" kern="1200" baseline="0" dirty="0" smtClean="0">
                <a:solidFill>
                  <a:schemeClr val="tx1"/>
                </a:solidFill>
                <a:latin typeface="+mn-lt"/>
                <a:ea typeface="+mn-ea"/>
                <a:cs typeface="+mn-cs"/>
              </a:rPr>
              <a:t> ovim likovnim primjerima vidimo različit pristup temama iz svakodnevnog života, p</a:t>
            </a:r>
            <a:r>
              <a:rPr lang="hr-HR" sz="1200" kern="1200" dirty="0" smtClean="0">
                <a:solidFill>
                  <a:schemeClr val="tx1"/>
                </a:solidFill>
                <a:latin typeface="+mn-lt"/>
                <a:ea typeface="+mn-ea"/>
                <a:cs typeface="+mn-cs"/>
              </a:rPr>
              <a:t>rimjećujemo</a:t>
            </a:r>
            <a:r>
              <a:rPr lang="hr-HR" sz="1200" kern="1200" baseline="0" dirty="0" smtClean="0">
                <a:solidFill>
                  <a:schemeClr val="tx1"/>
                </a:solidFill>
                <a:latin typeface="+mn-lt"/>
                <a:ea typeface="+mn-ea"/>
                <a:cs typeface="+mn-cs"/>
              </a:rPr>
              <a:t> r</a:t>
            </a:r>
            <a:r>
              <a:rPr lang="hr-HR" sz="1200" kern="1200" dirty="0" smtClean="0">
                <a:solidFill>
                  <a:schemeClr val="tx1"/>
                </a:solidFill>
                <a:latin typeface="+mn-lt"/>
                <a:ea typeface="+mn-ea"/>
                <a:cs typeface="+mn-cs"/>
              </a:rPr>
              <a:t>azliku u kontekstu, društvenom sloju koji se pojavljuje</a:t>
            </a:r>
            <a:r>
              <a:rPr lang="hr-HR" sz="1200" kern="1200" baseline="0" dirty="0" smtClean="0">
                <a:solidFill>
                  <a:schemeClr val="tx1"/>
                </a:solidFill>
                <a:latin typeface="+mn-lt"/>
                <a:ea typeface="+mn-ea"/>
                <a:cs typeface="+mn-cs"/>
              </a:rPr>
              <a:t> na slikama i</a:t>
            </a:r>
            <a:r>
              <a:rPr lang="hr-HR" sz="1200" kern="1200" dirty="0" smtClean="0">
                <a:solidFill>
                  <a:schemeClr val="tx1"/>
                </a:solidFill>
                <a:latin typeface="+mn-lt"/>
                <a:ea typeface="+mn-ea"/>
                <a:cs typeface="+mn-cs"/>
              </a:rPr>
              <a:t> vremenu koje se prikazuje.</a:t>
            </a:r>
          </a:p>
          <a:p>
            <a:r>
              <a:rPr lang="hr-HR" sz="1200" kern="1200" dirty="0" smtClean="0">
                <a:solidFill>
                  <a:schemeClr val="tx1"/>
                </a:solidFill>
                <a:latin typeface="+mn-lt"/>
                <a:ea typeface="+mn-ea"/>
                <a:cs typeface="+mn-cs"/>
              </a:rPr>
              <a:t> </a:t>
            </a:r>
            <a:r>
              <a:rPr lang="hr-HR" i="0" baseline="0" dirty="0" smtClean="0"/>
              <a:t> </a:t>
            </a:r>
            <a:endParaRPr lang="hr-HR" i="1"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9</a:t>
            </a:fld>
            <a:endParaRPr lang="hr-H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baseline="0" dirty="0" smtClean="0"/>
              <a:t>Možemo primjetiti veliko zanimanje za svakodnevni život u današnje vrijeme. </a:t>
            </a:r>
            <a:r>
              <a:rPr lang="hr-HR" i="1" baseline="0" dirty="0" smtClean="0"/>
              <a:t>Osim fotografije koja je uvelike doprinjela dokumentiranju svakodnevnog života, što bi još naveli kao doprinos veličanja svakodnevnog života u današnje vrijeme? </a:t>
            </a:r>
            <a:r>
              <a:rPr lang="hr-HR" baseline="0" dirty="0" smtClean="0"/>
              <a:t>Pojavom interneta, posebice društvenih mreža, svakodnevni život je dokumentiran i prikazivan više nego ikada. Prisjetite se prizora s vaših fotografija koje ste naveli na početku sata. U današnje vrijeme možete dokumentirati svaku sitnicu iz svakodnevnog života i podjeliti je s drugima. Naravno sav taj sadržaj ne smatra se umjetničkim djelima. </a:t>
            </a:r>
            <a:r>
              <a:rPr lang="hr-HR" i="1" baseline="0" dirty="0" smtClean="0"/>
              <a:t>Zašto ovu fotografiju smatramo umjetničkim djelom, a vaše fotografije koje prikazuju svakodnevicu ne smatramo? </a:t>
            </a:r>
            <a:r>
              <a:rPr lang="hr-HR" baseline="0" dirty="0" smtClean="0"/>
              <a:t>Zbog ideje, koncepta i promišljanja koji se nalaze iza rada umjetnice, razlikujemo svakodnevne fotografije s fotografijama koje su nastale s namjerom. Julie Blackmon koja je inspirirana slikama 17. stoljeća kao što je slika Lovci u snijegu u svojim radovima prikazuje svakodnevicu na način na koji je ona percipira, s elementima imaginarnog i realnog. Umjetnica kroz fotografiju, pažljivo scenira prizore sa svojom obitelji u različitim svakodnevnim prizorima kojima kombinira realnost svakodnevice i fantazije.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10</a:t>
            </a:fld>
            <a:endParaRPr lang="hr-H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dirty="0" smtClean="0"/>
              <a:t>Potražite u svom mobitelu fotografiju neke osobe. Opišite</a:t>
            </a:r>
            <a:r>
              <a:rPr lang="hr-HR" baseline="0" dirty="0" smtClean="0"/>
              <a:t> osobu s fotografije. </a:t>
            </a:r>
            <a:r>
              <a:rPr lang="hr-HR" i="1" baseline="0" dirty="0" smtClean="0"/>
              <a:t>Što sve možete saznati o osobi gledajući fotografiju? Kakav je stav i izraz osobe? </a:t>
            </a:r>
            <a:r>
              <a:rPr lang="hr-HR" baseline="0" dirty="0" smtClean="0"/>
              <a:t>Osoba je prikazana s njezinim fizičkim obilježjima i psihičkim izrazom, odnosno pripadajućim im karakteristikama. Takav prikaz osobe u likovnoj umjetnosti naziva se portretom. Usporedite osobu s vaše fotografije i osobu na likovnom primjeru. </a:t>
            </a:r>
            <a:r>
              <a:rPr lang="hr-HR" i="1" baseline="0" dirty="0" smtClean="0"/>
              <a:t>Kakav je stav i izraz lica figure sa slike, Baracka Obame? </a:t>
            </a:r>
            <a:r>
              <a:rPr lang="hr-HR" baseline="0" dirty="0" smtClean="0"/>
              <a:t>Obama je prikazan kao ugledna i utjecajna figura, u odjelu, odlučnog stava. Takav način portretiranja koji </a:t>
            </a:r>
            <a:r>
              <a:rPr lang="hr-HR" sz="1200" kern="1200" dirty="0" smtClean="0">
                <a:solidFill>
                  <a:schemeClr val="tx1"/>
                </a:solidFill>
                <a:latin typeface="+mn-lt"/>
                <a:ea typeface="+mn-ea"/>
                <a:cs typeface="+mn-cs"/>
              </a:rPr>
              <a:t>prikazuje ugledne figure na vladajućim pozicijama, po formalno sadržajnom značenju nazivamo reprezentativnima. </a:t>
            </a:r>
            <a:r>
              <a:rPr lang="hr-HR" sz="1200" i="1" kern="1200" dirty="0" smtClean="0">
                <a:solidFill>
                  <a:schemeClr val="tx1"/>
                </a:solidFill>
                <a:latin typeface="+mn-lt"/>
                <a:ea typeface="+mn-ea"/>
                <a:cs typeface="+mn-cs"/>
              </a:rPr>
              <a:t>Što je neobično kod ovog portreta?</a:t>
            </a:r>
            <a:r>
              <a:rPr lang="hr-HR" sz="1200" kern="1200" dirty="0" smtClean="0">
                <a:solidFill>
                  <a:schemeClr val="tx1"/>
                </a:solidFill>
                <a:latin typeface="+mn-lt"/>
                <a:ea typeface="+mn-ea"/>
                <a:cs typeface="+mn-cs"/>
              </a:rPr>
              <a:t> (Lik koji predstavlja važnu političku figuru okružen je cvijećem) Portreti s političkim figurama često sadrže neke političe reference kroz razne predmete. Ovdje primjećujemo razno bilje, cvijeće koje se nalazi oko lika Obame, umjetnik je uvrstio vrste cvijeća koje za Obamu simboliziraju neke važne trenutke iz njegova života. Primjerice jasmin predstavlja Havaje na kojima je proveo većinu svog djetinjstva.</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11</a:t>
            </a:fld>
            <a:endParaRPr lang="hr-H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dirty="0" smtClean="0"/>
              <a:t>Ovo je također primjer reprezentativnog portreta, koji</a:t>
            </a:r>
            <a:r>
              <a:rPr lang="hr-HR" baseline="0" dirty="0" smtClean="0"/>
              <a:t> je nastao kao narudžba i kao takav trebao bi prikazivati moć, utjecaj, bogatstvo i ljepotu likova.</a:t>
            </a:r>
            <a:r>
              <a:rPr lang="hr-HR" i="1" baseline="0" dirty="0" smtClean="0"/>
              <a:t> No, što vam je neobično kod prikaza ovih likova? </a:t>
            </a:r>
            <a:r>
              <a:rPr lang="hr-HR" baseline="0" dirty="0" smtClean="0"/>
              <a:t>Promotrite portrete bračnog para.</a:t>
            </a:r>
            <a:r>
              <a:rPr lang="hr-HR" sz="1200" kern="1200" dirty="0" smtClean="0">
                <a:solidFill>
                  <a:schemeClr val="tx1"/>
                </a:solidFill>
                <a:latin typeface="+mn-lt"/>
                <a:ea typeface="+mn-ea"/>
                <a:cs typeface="+mn-cs"/>
              </a:rPr>
              <a:t> Specifičnost ovog grupnog portreta je što Goya kraljevsku obitelj ne prikazuje tradicionalno uljepšane i u njihovom najboljem izdanju</a:t>
            </a:r>
            <a:r>
              <a:rPr lang="hr-HR" sz="1200" u="sng" kern="1200" dirty="0" smtClean="0">
                <a:solidFill>
                  <a:schemeClr val="tx1"/>
                </a:solidFill>
                <a:latin typeface="+mn-lt"/>
                <a:ea typeface="+mn-ea"/>
                <a:cs typeface="+mn-cs"/>
              </a:rPr>
              <a:t>,</a:t>
            </a:r>
            <a:r>
              <a:rPr lang="hr-HR" sz="1200" kern="1200" dirty="0" smtClean="0">
                <a:solidFill>
                  <a:schemeClr val="tx1"/>
                </a:solidFill>
                <a:latin typeface="+mn-lt"/>
                <a:ea typeface="+mn-ea"/>
                <a:cs typeface="+mn-cs"/>
              </a:rPr>
              <a:t> već kao nezgrapne likove. Goya je htio prikazati njihov unutrašnji karakter. </a:t>
            </a:r>
            <a:r>
              <a:rPr lang="hr-HR" sz="1200" i="1" kern="1200" dirty="0" smtClean="0">
                <a:solidFill>
                  <a:schemeClr val="tx1"/>
                </a:solidFill>
                <a:latin typeface="+mn-lt"/>
                <a:ea typeface="+mn-ea"/>
                <a:cs typeface="+mn-cs"/>
              </a:rPr>
              <a:t>Koje</a:t>
            </a:r>
            <a:r>
              <a:rPr lang="hr-HR" sz="1200" i="1" kern="1200" baseline="0" dirty="0" smtClean="0">
                <a:solidFill>
                  <a:schemeClr val="tx1"/>
                </a:solidFill>
                <a:latin typeface="+mn-lt"/>
                <a:ea typeface="+mn-ea"/>
                <a:cs typeface="+mn-cs"/>
              </a:rPr>
              <a:t> razlike primjećujete u prikazu Obame i obitelji Karla IV.? </a:t>
            </a:r>
            <a:r>
              <a:rPr lang="hr-HR" sz="1200" kern="1200" baseline="0" dirty="0" smtClean="0">
                <a:solidFill>
                  <a:schemeClr val="tx1"/>
                </a:solidFill>
                <a:latin typeface="+mn-lt"/>
                <a:ea typeface="+mn-ea"/>
                <a:cs typeface="+mn-cs"/>
              </a:rPr>
              <a:t>Ovo djelo prikazuje grupni portret koji portretira više likova u jednom djelu, takve portrete nazivamo grupni portreti. Također, ovo je i obiteljski portret jer portretira članove obitelji.</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12</a:t>
            </a:fld>
            <a:endParaRPr lang="hr-H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r-HR" sz="1200" i="1" kern="1200" dirty="0" smtClean="0">
                <a:solidFill>
                  <a:schemeClr val="tx1"/>
                </a:solidFill>
                <a:latin typeface="+mn-lt"/>
                <a:ea typeface="+mn-ea"/>
                <a:cs typeface="+mn-cs"/>
              </a:rPr>
              <a:t>Ako su prethodni portreti bili reprezentativni, kakav bi bio ovaj portret po odnosu slikara prema modelu?</a:t>
            </a:r>
            <a:r>
              <a:rPr lang="hr-HR" sz="1200" kern="1200" dirty="0" smtClean="0">
                <a:solidFill>
                  <a:schemeClr val="tx1"/>
                </a:solidFill>
                <a:latin typeface="+mn-lt"/>
                <a:ea typeface="+mn-ea"/>
                <a:cs typeface="+mn-cs"/>
              </a:rPr>
              <a:t>  Može vam pomoći naziv djela. (Intiman, osoban) Po odnosu slikara prema modelu, ovo je intiman portret, vrsta portreta koja najčešće prikazuje prijatelje, članove obitelji i poznanike i portretira ih prema osobnom doživljaju. Umjetnik portretira svoga oca. Slika je sastavljena od 150 kvadratića, a umjetnik je svaki dan slikao po 5 nasumično odabranih kvadratića. </a:t>
            </a:r>
            <a:r>
              <a:rPr lang="hr-HR" sz="1200" i="1" kern="1200" dirty="0" smtClean="0">
                <a:solidFill>
                  <a:schemeClr val="tx1"/>
                </a:solidFill>
                <a:latin typeface="+mn-lt"/>
                <a:ea typeface="+mn-ea"/>
                <a:cs typeface="+mn-cs"/>
              </a:rPr>
              <a:t>Kakav dojam na vas ostavlja ovaj portret?(monumentalan, dojmljiv,osoban). </a:t>
            </a:r>
            <a:r>
              <a:rPr lang="hr-HR" sz="1200" kern="1200" dirty="0" smtClean="0">
                <a:solidFill>
                  <a:schemeClr val="tx1"/>
                </a:solidFill>
                <a:latin typeface="+mn-lt"/>
                <a:ea typeface="+mn-ea"/>
                <a:cs typeface="+mn-cs"/>
              </a:rPr>
              <a:t>Ekspresija lika je neutralna, gotovo kao službena fotografija no portret je istovremeno intiman i monumentalan, kao da nas priziva na promatranje. </a:t>
            </a:r>
          </a:p>
          <a:p>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13</a:t>
            </a:fld>
            <a:endParaRPr lang="hr-H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r-HR" dirty="0" smtClean="0"/>
              <a:t>Portreti</a:t>
            </a:r>
            <a:r>
              <a:rPr lang="hr-HR" baseline="0" dirty="0" smtClean="0"/>
              <a:t> su kao likovni motiv i dalje popularni i potrebiti, no njihova važnost i potreba mjenja se s raličitim stilovima i vremenima. Prije otkrića fotoaparata, portreti su su imali svrhu dokumentacije  i kao što smo naveli bili simbolom moći i prestiža. </a:t>
            </a:r>
            <a:r>
              <a:rPr lang="hr-HR" i="1" baseline="0" dirty="0" smtClean="0"/>
              <a:t>Koja bi bila uloga portreta u današnje vrijeme kada smo ionako okruženi fotografijama i selfijima? </a:t>
            </a:r>
            <a:r>
              <a:rPr lang="hr-HR" baseline="0" dirty="0" smtClean="0"/>
              <a:t>U današnje vrijeme okruženi smo fotografijama i selfijima koji prezentiraju samo fizičku osobnost, stoga je bitno kroz portret kao likovni motiv u suvremenoj umjetnosti obratiti pažnju na kontekst, društveno pitanje i socijalnu tematiku. Portret Djevojke s bisernom naušnicom djelo je flamanskog umjetnika Vermeera, poznatog po slikanju žanr scena, a i na ovom djelu je zabilježio uhvačeni trenutak, pogled djevojke s turbanom na glavi. Djelo Vrećica fotografirano je po uzoru na Djevojku s bisernom naušnicom. </a:t>
            </a:r>
            <a:r>
              <a:rPr lang="hr-HR" i="1" baseline="0" dirty="0" smtClean="0"/>
              <a:t>Možete li pretpostaviti na što umjetnik želi poručiti svojom interpretacijom poznatog portreta? </a:t>
            </a:r>
            <a:r>
              <a:rPr lang="hr-HR" baseline="0" dirty="0" smtClean="0"/>
              <a:t>Umjetnik koristi plastičnu vrećicu umjesto turbana koji su bili popularni na djelima nizozemskih slikara. Osvrće se na pretjeranu upotrebu plastičnih vrećica, a fotografiju smatra uljem 21. stoljeća. </a:t>
            </a:r>
          </a:p>
        </p:txBody>
      </p:sp>
      <p:sp>
        <p:nvSpPr>
          <p:cNvPr id="4" name="Slide Number Placeholder 3"/>
          <p:cNvSpPr>
            <a:spLocks noGrp="1"/>
          </p:cNvSpPr>
          <p:nvPr>
            <p:ph type="sldNum" sz="quarter" idx="10"/>
          </p:nvPr>
        </p:nvSpPr>
        <p:spPr/>
        <p:txBody>
          <a:bodyPr/>
          <a:lstStyle/>
          <a:p>
            <a:fld id="{F9181528-4546-4746-82B1-858489D225BF}" type="slidenum">
              <a:rPr lang="hr-HR" smtClean="0"/>
              <a:pPr/>
              <a:t>14</a:t>
            </a:fld>
            <a:endParaRPr lang="hr-H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r-HR" dirty="0" smtClean="0"/>
              <a:t>Kao što smo spomenuli, okruženi smo selfijima i fotografijama</a:t>
            </a:r>
            <a:r>
              <a:rPr lang="hr-HR" baseline="0" dirty="0" smtClean="0"/>
              <a:t> koje se osvrću samo na fizičke karakteristike. </a:t>
            </a:r>
            <a:r>
              <a:rPr lang="hr-HR" i="1" baseline="0" dirty="0" smtClean="0"/>
              <a:t>Koga točno prikazuju selfiji? </a:t>
            </a:r>
            <a:r>
              <a:rPr lang="hr-HR" baseline="0" dirty="0" smtClean="0"/>
              <a:t>(Nas) Selfiji prikazuju naš lik. U umjetnosti, likovni motiv koji prikazuje vlastiti lik nazivamo autoportretom koji je podvrsta portreta. Umjetnici portretiraju sami sebe, prikazuju vlastite fizičke karakteristike kao i vi na vašim selfijima, no također prikazuju vlastiti psihički i duhovni karakter. Na aplikaciji Google Arts &amp; Culture nalazi se zanimljiva igra Art Selfie. Vi trebate napraviti selfi, a program će pronaći kojem umjetničkom djelu, odnosno portretu sličite. Ovu aplikaciju možete isprobati u slobodno vrijeme.</a:t>
            </a:r>
            <a:endParaRPr lang="hr-HR" dirty="0" smtClean="0"/>
          </a:p>
          <a:p>
            <a:endParaRPr lang="hr-HR" dirty="0" smtClean="0"/>
          </a:p>
          <a:p>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15</a:t>
            </a:fld>
            <a:endParaRPr lang="hr-H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dirty="0" smtClean="0"/>
              <a:t>Na</a:t>
            </a:r>
            <a:r>
              <a:rPr lang="hr-HR" baseline="0" dirty="0" smtClean="0"/>
              <a:t> radnom listiću nalaze se autoportreti umjetnika i umjetnica te citati i tekstovi koji opisuju njihova psihička stanja i životnu situaciju iz koje su crpili inspiraciju. Poveži autoportret s tekstom za koji misliš da ga najbolje opisuje. Za ovaj zadatak imate tri minute. Ako ste završili, pročitajte vaša rješenja. </a:t>
            </a:r>
            <a:r>
              <a:rPr lang="hr-HR" i="1" baseline="0" dirty="0" smtClean="0"/>
              <a:t>Ima li netko koj je drugačije povezao tekstove s autoportretima? Na temelju čega ste uspjeli povezati autoportrete s tekstom? Kakve dojmove na vas ostavljaju ovi autoportreti? </a:t>
            </a:r>
            <a:r>
              <a:rPr lang="hr-HR" baseline="0" dirty="0" smtClean="0"/>
              <a:t>Objasnite za svako djelo. Tekstovi i citati kriju opis navedenih autoportreta. </a:t>
            </a:r>
            <a:r>
              <a:rPr lang="hr-HR" sz="1200" kern="1200" dirty="0" smtClean="0">
                <a:solidFill>
                  <a:schemeClr val="tx1"/>
                </a:solidFill>
                <a:latin typeface="+mn-lt"/>
                <a:ea typeface="+mn-ea"/>
                <a:cs typeface="+mn-cs"/>
              </a:rPr>
              <a:t>Kroz različit  način prikazivanja, autoportreti ostavljaju različite dojmove koje možemo povezati s navedenim tekstovima.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16</a:t>
            </a:fld>
            <a:endParaRPr lang="hr-H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baseline="0" dirty="0" smtClean="0"/>
              <a:t>Frida Kahlo prikazana je kao jelen koji simbolizira žrtvu i lov, a u citatu navodi da se osjeća kao da je bez oblika.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17</a:t>
            </a:fld>
            <a:endParaRPr lang="hr-H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baseline="0" dirty="0" smtClean="0"/>
              <a:t>Kate Kollowiz realistično prikazuje izraz lica bez ikakve pozadine i dodatnog sadržaja, stavljajući naglasak na jedinstvenost pojedinca.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18</a:t>
            </a:fld>
            <a:endParaRPr lang="hr-H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baseline="0" dirty="0" smtClean="0"/>
              <a:t> Vincent van Gogh prikazuje se u zeleno-žuto-plavim tonovima koji asociraju na bolest, a izvedba pozadine i potezi kistom ukazuju na nemir autora.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19</a:t>
            </a:fld>
            <a:endParaRPr lang="hr-H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r-HR" baseline="0" dirty="0" smtClean="0"/>
              <a:t>Francis Bacon deformira vlastiti prikaz i time upućuje na vlastito nezadovoljstvo fizičkog lika. </a:t>
            </a:r>
            <a:r>
              <a:rPr lang="hr-HR" i="1" baseline="0" dirty="0" smtClean="0"/>
              <a:t>Jeste li lako uspjeli povezati djela s tekstovima? Nakon što ste riješili zadatak, primjećujete li koje bi bile razlike između selfija i autoportreta umjetnika? </a:t>
            </a:r>
            <a:r>
              <a:rPr lang="hr-HR" baseline="0" dirty="0" smtClean="0"/>
              <a:t>Selfiji prikazuju fizičke karakteristike dok autoportreti umjetnika imaju puno dublje značenje i prikazuju njihov psihički izraz.</a:t>
            </a:r>
            <a:endParaRPr lang="hr-HR" dirty="0" smtClean="0"/>
          </a:p>
          <a:p>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20</a:t>
            </a:fld>
            <a:endParaRPr lang="hr-H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i="1" dirty="0" smtClean="0"/>
              <a:t>Nakon što smo objasnili pojam</a:t>
            </a:r>
            <a:r>
              <a:rPr lang="hr-HR" i="1" baseline="0" dirty="0" smtClean="0"/>
              <a:t> portreta, p</a:t>
            </a:r>
            <a:r>
              <a:rPr lang="hr-HR" i="1" dirty="0" smtClean="0"/>
              <a:t>o čemu se ovaj likovni</a:t>
            </a:r>
            <a:r>
              <a:rPr lang="hr-HR" i="1" baseline="0" dirty="0" smtClean="0"/>
              <a:t> motiv razlikuje od portreta? </a:t>
            </a:r>
            <a:r>
              <a:rPr lang="hr-HR" baseline="0" dirty="0" smtClean="0"/>
              <a:t>Na slici je prikazan naga ženska figura. Naveditete koje sve doživljaje i asocijacije vežete uz prikaz nagog tijela u umjetnosti. </a:t>
            </a:r>
            <a:r>
              <a:rPr lang="hr-HR" i="1" baseline="0" dirty="0" smtClean="0"/>
              <a:t>Zašto je prikaz nagog tijela  i dalje, mogli bi reći, kontroverzan? </a:t>
            </a:r>
            <a:r>
              <a:rPr lang="hr-HR" baseline="0" dirty="0" smtClean="0"/>
              <a:t>Prikaz nagog ljudskog tijela sa sobom kroz povijest nosi dozu misterije, intrige, divljenja, zgražanja, zabrane i ljepote. Likovni motiv koji prikazuje nago ljudsko tijelo zovemo akt. </a:t>
            </a:r>
            <a:r>
              <a:rPr lang="hr-HR" i="1" baseline="0" dirty="0" smtClean="0"/>
              <a:t>Kako je prikazano tijelo na slici? Što mislite, koji dojam umjetnica želi prenjeti ovakvim prikazom tijela? </a:t>
            </a:r>
            <a:r>
              <a:rPr lang="hr-HR" sz="1200" i="0" kern="1200" dirty="0" smtClean="0">
                <a:solidFill>
                  <a:schemeClr val="tx1"/>
                </a:solidFill>
                <a:latin typeface="+mn-lt"/>
                <a:ea typeface="+mn-ea"/>
                <a:cs typeface="+mn-cs"/>
              </a:rPr>
              <a:t>Jenny </a:t>
            </a:r>
            <a:r>
              <a:rPr lang="hr-HR" sz="1200" kern="1200" dirty="0" smtClean="0">
                <a:solidFill>
                  <a:schemeClr val="tx1"/>
                </a:solidFill>
                <a:latin typeface="+mn-lt"/>
                <a:ea typeface="+mn-ea"/>
                <a:cs typeface="+mn-cs"/>
              </a:rPr>
              <a:t>Saville svojim autoportretom Propped slavi žensko tijelo ali kontrira nametnutim idealima ljepote društva tako što istiće nesavršenosti kroz jake poteze kistom i izmjenjenom perspektivom.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21</a:t>
            </a:fld>
            <a:endParaRPr lang="hr-H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i="1" baseline="0" dirty="0" smtClean="0"/>
              <a:t>Koje su sličnosti kod ovih likovnih primjera? </a:t>
            </a:r>
            <a:r>
              <a:rPr lang="hr-HR" baseline="0" dirty="0" smtClean="0"/>
              <a:t>Možemo primjetiti da oba primjera istiću ženstvenost, obline, majčinstvo, ljepotu. Kod primjera Venere iz Willendorfa, tema plodnosti provučena je kroz motiv akta. Fotograf Irving Penn u svojim se radovima referira na formu i duh figurica simbola plodnosti kao što je Venera iz Willendorfa. </a:t>
            </a:r>
            <a:r>
              <a:rPr lang="hr-HR" i="1" baseline="0" dirty="0" smtClean="0"/>
              <a:t>Oba primjera koriste motiv akta za prikaz plodnosti, no po čemu se razlikuje prikaz tijela na ova dva primjera? </a:t>
            </a:r>
            <a:r>
              <a:rPr lang="hr-HR" baseline="0" dirty="0" smtClean="0"/>
              <a:t>Primjer iz prapovijesti, Venera iz Willendorfa prikazana je kao izrazito malena figura, no monumentalna po svom oblikovanju i isticanju oblina. Irving Penn fotografira tijelo stvarne osobe, modela i na fotografiji kadrira ženske obline koje ukazuju na ženstvenost i plodnost.</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22</a:t>
            </a:fld>
            <a:endParaRPr lang="hr-H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hr-HR" sz="1200" i="1" kern="1200" dirty="0" smtClean="0">
                <a:solidFill>
                  <a:schemeClr val="tx1"/>
                </a:solidFill>
                <a:latin typeface="+mn-lt"/>
                <a:ea typeface="+mn-ea"/>
                <a:cs typeface="+mn-cs"/>
              </a:rPr>
              <a:t>Promotrite pozu</a:t>
            </a:r>
            <a:r>
              <a:rPr lang="hr-HR" sz="1200" i="1" kern="1200" baseline="0" dirty="0" smtClean="0">
                <a:solidFill>
                  <a:schemeClr val="tx1"/>
                </a:solidFill>
                <a:latin typeface="+mn-lt"/>
                <a:ea typeface="+mn-ea"/>
                <a:cs typeface="+mn-cs"/>
              </a:rPr>
              <a:t> </a:t>
            </a:r>
            <a:r>
              <a:rPr lang="hr-HR" sz="1200" i="1" kern="1200" dirty="0" smtClean="0">
                <a:solidFill>
                  <a:schemeClr val="tx1"/>
                </a:solidFill>
                <a:latin typeface="+mn-lt"/>
                <a:ea typeface="+mn-ea"/>
                <a:cs typeface="+mn-cs"/>
              </a:rPr>
              <a:t>i stav lika s reprodukcije, kakav dojam ostavljaja</a:t>
            </a:r>
            <a:r>
              <a:rPr lang="hr-HR" sz="1200" kern="1200" dirty="0" smtClean="0">
                <a:solidFill>
                  <a:schemeClr val="tx1"/>
                </a:solidFill>
                <a:latin typeface="+mn-lt"/>
                <a:ea typeface="+mn-ea"/>
                <a:cs typeface="+mn-cs"/>
              </a:rPr>
              <a:t>? (Nelagodu,</a:t>
            </a:r>
            <a:r>
              <a:rPr lang="hr-HR" sz="1200" kern="1200" baseline="0" dirty="0" smtClean="0">
                <a:solidFill>
                  <a:schemeClr val="tx1"/>
                </a:solidFill>
                <a:latin typeface="+mn-lt"/>
                <a:ea typeface="+mn-ea"/>
                <a:cs typeface="+mn-cs"/>
              </a:rPr>
              <a:t> sram,strah</a:t>
            </a:r>
            <a:r>
              <a:rPr lang="hr-HR" sz="1200" kern="1200" dirty="0" smtClean="0">
                <a:solidFill>
                  <a:schemeClr val="tx1"/>
                </a:solidFill>
                <a:latin typeface="+mn-lt"/>
                <a:ea typeface="+mn-ea"/>
                <a:cs typeface="+mn-cs"/>
              </a:rPr>
              <a:t>). </a:t>
            </a:r>
            <a:r>
              <a:rPr lang="hr-HR" sz="1200" i="1" kern="1200" dirty="0" smtClean="0">
                <a:solidFill>
                  <a:schemeClr val="tx1"/>
                </a:solidFill>
                <a:latin typeface="+mn-lt"/>
                <a:ea typeface="+mn-ea"/>
                <a:cs typeface="+mn-cs"/>
              </a:rPr>
              <a:t>Kako je umjetnik postigao</a:t>
            </a:r>
            <a:r>
              <a:rPr lang="hr-HR" sz="1200" i="1" kern="1200" baseline="0" dirty="0" smtClean="0">
                <a:solidFill>
                  <a:schemeClr val="tx1"/>
                </a:solidFill>
                <a:latin typeface="+mn-lt"/>
                <a:ea typeface="+mn-ea"/>
                <a:cs typeface="+mn-cs"/>
              </a:rPr>
              <a:t> </a:t>
            </a:r>
            <a:r>
              <a:rPr lang="hr-HR" sz="1200" i="1" kern="1200" dirty="0" smtClean="0">
                <a:solidFill>
                  <a:schemeClr val="tx1"/>
                </a:solidFill>
                <a:latin typeface="+mn-lt"/>
                <a:ea typeface="+mn-ea"/>
                <a:cs typeface="+mn-cs"/>
              </a:rPr>
              <a:t>takav dojam koje ovo djelo budi u nama? (</a:t>
            </a:r>
            <a:r>
              <a:rPr lang="hr-HR" sz="1200" kern="1200" dirty="0" smtClean="0">
                <a:solidFill>
                  <a:schemeClr val="tx1"/>
                </a:solidFill>
                <a:latin typeface="+mn-lt"/>
                <a:ea typeface="+mn-ea"/>
                <a:cs typeface="+mn-cs"/>
              </a:rPr>
              <a:t>Kod Muecka možemo primijetiti osjećaj nelagode jer lik skučeno sjedi u kutu).</a:t>
            </a:r>
            <a:r>
              <a:rPr lang="hr-HR" sz="1200" kern="1200" baseline="0" dirty="0" smtClean="0">
                <a:solidFill>
                  <a:schemeClr val="tx1"/>
                </a:solidFill>
                <a:latin typeface="+mn-lt"/>
                <a:ea typeface="+mn-ea"/>
                <a:cs typeface="+mn-cs"/>
              </a:rPr>
              <a:t> </a:t>
            </a:r>
            <a:r>
              <a:rPr lang="hr-HR" sz="1200" kern="1200" dirty="0" smtClean="0">
                <a:solidFill>
                  <a:schemeClr val="tx1"/>
                </a:solidFill>
                <a:latin typeface="+mn-lt"/>
                <a:ea typeface="+mn-ea"/>
                <a:cs typeface="+mn-cs"/>
              </a:rPr>
              <a:t>Ron Mueck izrađuje ljudske figure u velikim dimenzijama koje izgledaju hiperrealistično i tako ističe nelagodu koju vežemo uz nago ljudsko tijelo. </a:t>
            </a:r>
            <a:r>
              <a:rPr lang="hr-HR" sz="1200" i="1" kern="1200" dirty="0" smtClean="0">
                <a:solidFill>
                  <a:schemeClr val="tx1"/>
                </a:solidFill>
                <a:latin typeface="+mn-lt"/>
                <a:ea typeface="+mn-ea"/>
                <a:cs typeface="+mn-cs"/>
              </a:rPr>
              <a:t>Koje sličnosti primjećujete između</a:t>
            </a:r>
            <a:r>
              <a:rPr lang="hr-HR" sz="1200" i="1" kern="1200" baseline="0" dirty="0" smtClean="0">
                <a:solidFill>
                  <a:schemeClr val="tx1"/>
                </a:solidFill>
                <a:latin typeface="+mn-lt"/>
                <a:ea typeface="+mn-ea"/>
                <a:cs typeface="+mn-cs"/>
              </a:rPr>
              <a:t> Mueckove skulpture i Michelangelove skulpture Davida?</a:t>
            </a:r>
            <a:r>
              <a:rPr lang="hr-HR" sz="1200" i="1" kern="1200" dirty="0" smtClean="0">
                <a:solidFill>
                  <a:schemeClr val="tx1"/>
                </a:solidFill>
                <a:latin typeface="+mn-lt"/>
                <a:ea typeface="+mn-ea"/>
                <a:cs typeface="+mn-cs"/>
              </a:rPr>
              <a:t> </a:t>
            </a:r>
            <a:r>
              <a:rPr lang="hr-HR" sz="1200" kern="1200" dirty="0" smtClean="0">
                <a:solidFill>
                  <a:schemeClr val="tx1"/>
                </a:solidFill>
                <a:latin typeface="+mn-lt"/>
                <a:ea typeface="+mn-ea"/>
                <a:cs typeface="+mn-cs"/>
              </a:rPr>
              <a:t>Umjetnik Mueck se referira i ugleda na antičke i renesansne skulpture. Mueck figure</a:t>
            </a:r>
            <a:r>
              <a:rPr lang="hr-HR" sz="1200" kern="1200" baseline="0" dirty="0" smtClean="0">
                <a:solidFill>
                  <a:schemeClr val="tx1"/>
                </a:solidFill>
                <a:latin typeface="+mn-lt"/>
                <a:ea typeface="+mn-ea"/>
                <a:cs typeface="+mn-cs"/>
              </a:rPr>
              <a:t> oblikuje</a:t>
            </a:r>
            <a:r>
              <a:rPr lang="hr-HR" sz="1200" kern="1200" dirty="0" smtClean="0">
                <a:solidFill>
                  <a:schemeClr val="tx1"/>
                </a:solidFill>
                <a:latin typeface="+mn-lt"/>
                <a:ea typeface="+mn-ea"/>
                <a:cs typeface="+mn-cs"/>
              </a:rPr>
              <a:t> prirodne i nesavršene za razliku od renesansnih skulptura koje naglašavaju savršene proporcije muškog tijela. </a:t>
            </a:r>
            <a:r>
              <a:rPr lang="hr-HR" sz="1200" kern="1200" baseline="0" dirty="0" smtClean="0">
                <a:solidFill>
                  <a:schemeClr val="tx1"/>
                </a:solidFill>
                <a:latin typeface="+mn-lt"/>
                <a:ea typeface="+mn-ea"/>
                <a:cs typeface="+mn-cs"/>
              </a:rPr>
              <a:t>Figura Davida prikazana je idealizirano.</a:t>
            </a:r>
            <a:r>
              <a:rPr lang="hr-HR" sz="1200" kern="1200" dirty="0" smtClean="0">
                <a:solidFill>
                  <a:schemeClr val="tx1"/>
                </a:solidFill>
                <a:latin typeface="+mn-lt"/>
                <a:ea typeface="+mn-ea"/>
                <a:cs typeface="+mn-cs"/>
              </a:rPr>
              <a:t> </a:t>
            </a:r>
            <a:r>
              <a:rPr lang="hr-HR" sz="1200" i="1" kern="1200" dirty="0" smtClean="0">
                <a:solidFill>
                  <a:schemeClr val="tx1"/>
                </a:solidFill>
                <a:latin typeface="+mn-lt"/>
                <a:ea typeface="+mn-ea"/>
                <a:cs typeface="+mn-cs"/>
              </a:rPr>
              <a:t>Kakav dojam na vas ostavlja Davidov</a:t>
            </a:r>
            <a:r>
              <a:rPr lang="hr-HR" sz="1200" i="1" kern="1200" baseline="0" dirty="0" smtClean="0">
                <a:solidFill>
                  <a:schemeClr val="tx1"/>
                </a:solidFill>
                <a:latin typeface="+mn-lt"/>
                <a:ea typeface="+mn-ea"/>
                <a:cs typeface="+mn-cs"/>
              </a:rPr>
              <a:t>a poza i stav?</a:t>
            </a:r>
            <a:r>
              <a:rPr lang="hr-HR" sz="1200" i="1" kern="1200" dirty="0" smtClean="0">
                <a:solidFill>
                  <a:schemeClr val="tx1"/>
                </a:solidFill>
                <a:latin typeface="+mn-lt"/>
                <a:ea typeface="+mn-ea"/>
                <a:cs typeface="+mn-cs"/>
              </a:rPr>
              <a:t>  </a:t>
            </a:r>
            <a:r>
              <a:rPr lang="hr-HR" sz="1200" i="0" kern="1200" dirty="0" smtClean="0">
                <a:solidFill>
                  <a:schemeClr val="tx1"/>
                </a:solidFill>
                <a:latin typeface="+mn-lt"/>
                <a:ea typeface="+mn-ea"/>
                <a:cs typeface="+mn-cs"/>
              </a:rPr>
              <a:t>(Samouvjerenost, hrabrost).</a:t>
            </a:r>
            <a:r>
              <a:rPr lang="hr-HR" sz="1200" i="0" kern="1200" baseline="0" dirty="0" smtClean="0">
                <a:solidFill>
                  <a:schemeClr val="tx1"/>
                </a:solidFill>
                <a:latin typeface="+mn-lt"/>
                <a:ea typeface="+mn-ea"/>
                <a:cs typeface="+mn-cs"/>
              </a:rPr>
              <a:t> </a:t>
            </a:r>
            <a:r>
              <a:rPr lang="hr-HR" sz="1200" kern="1200" dirty="0" smtClean="0">
                <a:solidFill>
                  <a:schemeClr val="tx1"/>
                </a:solidFill>
                <a:latin typeface="+mn-lt"/>
                <a:ea typeface="+mn-ea"/>
                <a:cs typeface="+mn-cs"/>
              </a:rPr>
              <a:t>Michelangelov David renesansni je primjer idealnog muškog tijela na koje se ugledao Ron u svojima radovima, a Michelalngelo i renesansni umjetnici ugledali su se na antičke modele koji su svoj utjecaj tražili u bogovima i junacima. Stoga</a:t>
            </a:r>
            <a:r>
              <a:rPr lang="hr-HR" sz="1200" kern="1200" baseline="0" dirty="0" smtClean="0">
                <a:solidFill>
                  <a:schemeClr val="tx1"/>
                </a:solidFill>
                <a:latin typeface="+mn-lt"/>
                <a:ea typeface="+mn-ea"/>
                <a:cs typeface="+mn-cs"/>
              </a:rPr>
              <a:t> primjećujemo samopouzdanje i odlučnost u stavu modela. </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23</a:t>
            </a:fld>
            <a:endParaRPr lang="hr-H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sz="1200" i="1" kern="1200" baseline="0" dirty="0" smtClean="0">
                <a:solidFill>
                  <a:schemeClr val="tx1"/>
                </a:solidFill>
                <a:latin typeface="+mn-lt"/>
                <a:ea typeface="+mn-ea"/>
                <a:cs typeface="+mn-cs"/>
              </a:rPr>
              <a:t>Kako se razlikuje prikaz tijela na ovom primjeru od prethodna dva? </a:t>
            </a:r>
            <a:r>
              <a:rPr lang="hr-HR" sz="1200" kern="1200" baseline="0" dirty="0" smtClean="0">
                <a:solidFill>
                  <a:schemeClr val="tx1"/>
                </a:solidFill>
                <a:latin typeface="+mn-lt"/>
                <a:ea typeface="+mn-ea"/>
                <a:cs typeface="+mn-cs"/>
              </a:rPr>
              <a:t>Prikazano je stvarno ljudsko tijelo i zabilježeno je fotografijom.</a:t>
            </a:r>
            <a:endParaRPr lang="hr-HR" sz="1200" kern="1200" dirty="0" smtClean="0">
              <a:solidFill>
                <a:schemeClr val="tx1"/>
              </a:solidFill>
              <a:latin typeface="+mn-lt"/>
              <a:ea typeface="+mn-ea"/>
              <a:cs typeface="+mn-cs"/>
            </a:endParaRPr>
          </a:p>
          <a:p>
            <a:r>
              <a:rPr lang="hr-HR" sz="1200" kern="1200" dirty="0" smtClean="0">
                <a:solidFill>
                  <a:schemeClr val="tx1"/>
                </a:solidFill>
                <a:latin typeface="+mn-lt"/>
                <a:ea typeface="+mn-ea"/>
                <a:cs typeface="+mn-cs"/>
              </a:rPr>
              <a:t>Novi pristup tijelu pojavljuje se performativnom </a:t>
            </a:r>
            <a:r>
              <a:rPr lang="hr-HR" sz="1200" i="0" kern="1200" dirty="0" smtClean="0">
                <a:solidFill>
                  <a:schemeClr val="tx1"/>
                </a:solidFill>
                <a:latin typeface="+mn-lt"/>
                <a:ea typeface="+mn-ea"/>
                <a:cs typeface="+mn-cs"/>
              </a:rPr>
              <a:t>umjetnošću (događaj u kojem jedna ili više osoba izvodi neku akciju, performans sadrži scenske elemente), </a:t>
            </a:r>
            <a:r>
              <a:rPr lang="hr-HR" sz="1200" kern="1200" dirty="0" smtClean="0">
                <a:solidFill>
                  <a:schemeClr val="tx1"/>
                </a:solidFill>
                <a:latin typeface="+mn-lt"/>
                <a:ea typeface="+mn-ea"/>
                <a:cs typeface="+mn-cs"/>
              </a:rPr>
              <a:t>umjetnici doslovce koriste svoje tijelo kako bi se izrazili, tako i Tomislav Gotovac koristi svoje nago tijelo kao način oslobađanja,</a:t>
            </a:r>
            <a:r>
              <a:rPr lang="hr-HR" sz="1200" u="sng" kern="1200" dirty="0" smtClean="0">
                <a:solidFill>
                  <a:schemeClr val="tx1"/>
                </a:solidFill>
                <a:latin typeface="+mn-lt"/>
                <a:ea typeface="+mn-ea"/>
                <a:cs typeface="+mn-cs"/>
              </a:rPr>
              <a:t> </a:t>
            </a:r>
            <a:r>
              <a:rPr lang="hr-HR" sz="1200" kern="1200" dirty="0" smtClean="0">
                <a:solidFill>
                  <a:schemeClr val="tx1"/>
                </a:solidFill>
                <a:latin typeface="+mn-lt"/>
                <a:ea typeface="+mn-ea"/>
                <a:cs typeface="+mn-cs"/>
              </a:rPr>
              <a:t>a u ovom performansu, Gotovac hoda do Trga bana Josipa Jelačića i uzvikuje Zagreb, volim te i ljubi asfalt.</a:t>
            </a: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24</a:t>
            </a:fld>
            <a:endParaRPr lang="hr-H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hr-HR" sz="1200" b="0" i="0" u="none" strike="noStrike" kern="1200" dirty="0" smtClean="0">
                <a:solidFill>
                  <a:schemeClr val="tx1"/>
                </a:solidFill>
                <a:latin typeface="+mn-lt"/>
                <a:ea typeface="+mn-ea"/>
                <a:cs typeface="+mn-cs"/>
              </a:rPr>
              <a:t>Kako</a:t>
            </a:r>
            <a:r>
              <a:rPr lang="hr-HR" sz="1200" b="0" i="0" u="none" strike="noStrike" kern="1200" baseline="0" dirty="0" smtClean="0">
                <a:solidFill>
                  <a:schemeClr val="tx1"/>
                </a:solidFill>
                <a:latin typeface="+mn-lt"/>
                <a:ea typeface="+mn-ea"/>
                <a:cs typeface="+mn-cs"/>
              </a:rPr>
              <a:t> bi ponovili nastavni sadržaj kojim smo se danas bavili, radit ćete u</a:t>
            </a:r>
            <a:r>
              <a:rPr lang="vi-VN" sz="1200" b="0" i="0" u="none" strike="noStrike" kern="1200" dirty="0" smtClean="0">
                <a:solidFill>
                  <a:schemeClr val="tx1"/>
                </a:solidFill>
                <a:latin typeface="+mn-lt"/>
                <a:ea typeface="+mn-ea"/>
                <a:cs typeface="+mn-cs"/>
              </a:rPr>
              <a:t>mn</a:t>
            </a:r>
            <a:r>
              <a:rPr lang="hr-HR" sz="1200" b="0" i="0" u="none" strike="noStrike" kern="1200" dirty="0" smtClean="0">
                <a:solidFill>
                  <a:schemeClr val="tx1"/>
                </a:solidFill>
                <a:latin typeface="+mn-lt"/>
                <a:ea typeface="+mn-ea"/>
                <a:cs typeface="+mn-cs"/>
              </a:rPr>
              <a:t>u</a:t>
            </a:r>
            <a:r>
              <a:rPr lang="vi-VN" sz="1200" b="0" i="0" u="none" strike="noStrike" kern="1200" dirty="0" smtClean="0">
                <a:solidFill>
                  <a:schemeClr val="tx1"/>
                </a:solidFill>
                <a:latin typeface="+mn-lt"/>
                <a:ea typeface="+mn-ea"/>
                <a:cs typeface="+mn-cs"/>
              </a:rPr>
              <a:t> map</a:t>
            </a:r>
            <a:r>
              <a:rPr lang="hr-HR" sz="1200" b="0" i="0" u="none" strike="noStrike" kern="1200" dirty="0" smtClean="0">
                <a:solidFill>
                  <a:schemeClr val="tx1"/>
                </a:solidFill>
                <a:latin typeface="+mn-lt"/>
                <a:ea typeface="+mn-ea"/>
                <a:cs typeface="+mn-cs"/>
              </a:rPr>
              <a:t>u. Umna</a:t>
            </a:r>
            <a:r>
              <a:rPr lang="hr-HR" sz="1200" b="0" i="0" u="none" strike="noStrike" kern="1200" baseline="0" dirty="0" smtClean="0">
                <a:solidFill>
                  <a:schemeClr val="tx1"/>
                </a:solidFill>
                <a:latin typeface="+mn-lt"/>
                <a:ea typeface="+mn-ea"/>
                <a:cs typeface="+mn-cs"/>
              </a:rPr>
              <a:t> mapa</a:t>
            </a:r>
            <a:r>
              <a:rPr lang="hr-HR" sz="1200" b="0" i="0" u="none" strike="noStrike" kern="1200" dirty="0" smtClean="0">
                <a:solidFill>
                  <a:schemeClr val="tx1"/>
                </a:solidFill>
                <a:latin typeface="+mn-lt"/>
                <a:ea typeface="+mn-ea"/>
                <a:cs typeface="+mn-cs"/>
              </a:rPr>
              <a:t> </a:t>
            </a:r>
            <a:r>
              <a:rPr lang="hr-HR" sz="1200" b="0" i="0" u="none" strike="noStrike" kern="1200" baseline="0" dirty="0" smtClean="0">
                <a:solidFill>
                  <a:schemeClr val="tx1"/>
                </a:solidFill>
                <a:latin typeface="+mn-lt"/>
                <a:ea typeface="+mn-ea"/>
                <a:cs typeface="+mn-cs"/>
              </a:rPr>
              <a:t>pogodna je za </a:t>
            </a:r>
            <a:r>
              <a:rPr lang="vi-VN" sz="1200" b="0" i="0" u="none" strike="noStrike" kern="1200" dirty="0" smtClean="0">
                <a:solidFill>
                  <a:schemeClr val="tx1"/>
                </a:solidFill>
                <a:latin typeface="+mn-lt"/>
                <a:ea typeface="+mn-ea"/>
                <a:cs typeface="+mn-cs"/>
              </a:rPr>
              <a:t>povezivanje sadržaja učenja ili prikazivanje vlastitih ideja i promišljanja o nekoj  temi.</a:t>
            </a:r>
            <a:endParaRPr lang="vi-VN" b="0" dirty="0" smtClean="0"/>
          </a:p>
          <a:p>
            <a:pPr rtl="0"/>
            <a:r>
              <a:rPr lang="hr-HR" sz="1200" b="0" i="0" u="none" strike="noStrike" kern="1200" dirty="0" smtClean="0">
                <a:solidFill>
                  <a:schemeClr val="tx1"/>
                </a:solidFill>
                <a:latin typeface="+mn-lt"/>
                <a:ea typeface="+mn-ea"/>
                <a:cs typeface="+mn-cs"/>
              </a:rPr>
              <a:t>Dok</a:t>
            </a:r>
            <a:r>
              <a:rPr lang="hr-HR" sz="1200" b="0" i="0" u="none" strike="noStrike" kern="1200" baseline="0" dirty="0" smtClean="0">
                <a:solidFill>
                  <a:schemeClr val="tx1"/>
                </a:solidFill>
                <a:latin typeface="+mn-lt"/>
                <a:ea typeface="+mn-ea"/>
                <a:cs typeface="+mn-cs"/>
              </a:rPr>
              <a:t> radite mentalnu mapu možete koristiti internet ako je potrebno, a za zadatak imate tri minute.</a:t>
            </a:r>
            <a:r>
              <a:rPr lang="hr-HR" sz="1200" b="0" i="1" u="none" strike="noStrike" kern="1200" baseline="0" dirty="0" smtClean="0">
                <a:solidFill>
                  <a:schemeClr val="tx1"/>
                </a:solidFill>
                <a:latin typeface="+mn-lt"/>
                <a:ea typeface="+mn-ea"/>
                <a:cs typeface="+mn-cs"/>
              </a:rPr>
              <a:t> Što ste naveli u mentalnoj mapi za navedene likovne motive? Kako ste navedene likovne motive povezali vlastitim asocijacijama i idejama? </a:t>
            </a:r>
          </a:p>
          <a:p>
            <a:pPr rtl="0"/>
            <a:r>
              <a:rPr lang="hr-HR" sz="1200" b="0" i="0" u="none" strike="noStrike" kern="1200" baseline="0" dirty="0" smtClean="0">
                <a:solidFill>
                  <a:schemeClr val="tx1"/>
                </a:solidFill>
                <a:latin typeface="+mn-lt"/>
                <a:ea typeface="+mn-ea"/>
                <a:cs typeface="+mn-cs"/>
              </a:rPr>
              <a:t>Zahvaljujem vam na pažnji.</a:t>
            </a:r>
            <a:endParaRPr lang="vi-VN" b="0" dirty="0" smtClean="0"/>
          </a:p>
          <a:p>
            <a:r>
              <a:rPr lang="vi-VN" dirty="0" smtClean="0"/>
              <a:t/>
            </a:r>
            <a:br>
              <a:rPr lang="vi-VN" dirty="0" smtClean="0"/>
            </a:br>
            <a:endParaRPr lang="hr-HR" dirty="0"/>
          </a:p>
        </p:txBody>
      </p:sp>
      <p:sp>
        <p:nvSpPr>
          <p:cNvPr id="4" name="Slide Number Placeholder 3"/>
          <p:cNvSpPr>
            <a:spLocks noGrp="1"/>
          </p:cNvSpPr>
          <p:nvPr>
            <p:ph type="sldNum" sz="quarter" idx="10"/>
          </p:nvPr>
        </p:nvSpPr>
        <p:spPr/>
        <p:txBody>
          <a:bodyPr/>
          <a:lstStyle/>
          <a:p>
            <a:fld id="{F9181528-4546-4746-82B1-858489D225BF}" type="slidenum">
              <a:rPr lang="hr-HR" smtClean="0"/>
              <a:pPr/>
              <a:t>25</a:t>
            </a:fld>
            <a:endParaRPr lang="hr-H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hr-H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hr-HR"/>
          </a:p>
        </p:txBody>
      </p:sp>
      <p:sp>
        <p:nvSpPr>
          <p:cNvPr id="4" name="Date Placeholder 3"/>
          <p:cNvSpPr>
            <a:spLocks noGrp="1"/>
          </p:cNvSpPr>
          <p:nvPr>
            <p:ph type="dt" sz="half" idx="10"/>
          </p:nvPr>
        </p:nvSpPr>
        <p:spPr/>
        <p:txBody>
          <a:bodyPr/>
          <a:lstStyle/>
          <a:p>
            <a:fld id="{CD3B6936-D443-42BB-A9DE-B3B5737FA46C}" type="datetimeFigureOut">
              <a:rPr lang="hr-HR" smtClean="0"/>
              <a:pPr/>
              <a:t>16.3.2021.</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10"/>
          </p:nvPr>
        </p:nvSpPr>
        <p:spPr/>
        <p:txBody>
          <a:bodyPr/>
          <a:lstStyle/>
          <a:p>
            <a:fld id="{CD3B6936-D443-42BB-A9DE-B3B5737FA46C}" type="datetimeFigureOut">
              <a:rPr lang="hr-HR" smtClean="0"/>
              <a:pPr/>
              <a:t>16.3.2021.</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hr-H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3B6936-D443-42BB-A9DE-B3B5737FA46C}" type="datetimeFigureOut">
              <a:rPr lang="hr-HR" smtClean="0"/>
              <a:pPr/>
              <a:t>16.3.2021.</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5" name="Date Placeholder 4"/>
          <p:cNvSpPr>
            <a:spLocks noGrp="1"/>
          </p:cNvSpPr>
          <p:nvPr>
            <p:ph type="dt" sz="half" idx="10"/>
          </p:nvPr>
        </p:nvSpPr>
        <p:spPr/>
        <p:txBody>
          <a:bodyPr/>
          <a:lstStyle/>
          <a:p>
            <a:fld id="{CD3B6936-D443-42BB-A9DE-B3B5737FA46C}" type="datetimeFigureOut">
              <a:rPr lang="hr-HR" smtClean="0"/>
              <a:pPr/>
              <a:t>16.3.2021.</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hr-H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7" name="Date Placeholder 6"/>
          <p:cNvSpPr>
            <a:spLocks noGrp="1"/>
          </p:cNvSpPr>
          <p:nvPr>
            <p:ph type="dt" sz="half" idx="10"/>
          </p:nvPr>
        </p:nvSpPr>
        <p:spPr/>
        <p:txBody>
          <a:bodyPr/>
          <a:lstStyle/>
          <a:p>
            <a:fld id="{CD3B6936-D443-42BB-A9DE-B3B5737FA46C}" type="datetimeFigureOut">
              <a:rPr lang="hr-HR" smtClean="0"/>
              <a:pPr/>
              <a:t>16.3.2021.</a:t>
            </a:fld>
            <a:endParaRPr lang="hr-HR"/>
          </a:p>
        </p:txBody>
      </p:sp>
      <p:sp>
        <p:nvSpPr>
          <p:cNvPr id="8" name="Footer Placeholder 7"/>
          <p:cNvSpPr>
            <a:spLocks noGrp="1"/>
          </p:cNvSpPr>
          <p:nvPr>
            <p:ph type="ftr" sz="quarter" idx="11"/>
          </p:nvPr>
        </p:nvSpPr>
        <p:spPr/>
        <p:txBody>
          <a:bodyPr/>
          <a:lstStyle/>
          <a:p>
            <a:endParaRPr lang="hr-HR"/>
          </a:p>
        </p:txBody>
      </p:sp>
      <p:sp>
        <p:nvSpPr>
          <p:cNvPr id="9" name="Slide Number Placeholder 8"/>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Date Placeholder 2"/>
          <p:cNvSpPr>
            <a:spLocks noGrp="1"/>
          </p:cNvSpPr>
          <p:nvPr>
            <p:ph type="dt" sz="half" idx="10"/>
          </p:nvPr>
        </p:nvSpPr>
        <p:spPr/>
        <p:txBody>
          <a:bodyPr/>
          <a:lstStyle/>
          <a:p>
            <a:fld id="{CD3B6936-D443-42BB-A9DE-B3B5737FA46C}" type="datetimeFigureOut">
              <a:rPr lang="hr-HR" smtClean="0"/>
              <a:pPr/>
              <a:t>16.3.2021.</a:t>
            </a:fld>
            <a:endParaRPr lang="hr-HR"/>
          </a:p>
        </p:txBody>
      </p:sp>
      <p:sp>
        <p:nvSpPr>
          <p:cNvPr id="4" name="Footer Placeholder 3"/>
          <p:cNvSpPr>
            <a:spLocks noGrp="1"/>
          </p:cNvSpPr>
          <p:nvPr>
            <p:ph type="ftr" sz="quarter" idx="11"/>
          </p:nvPr>
        </p:nvSpPr>
        <p:spPr/>
        <p:txBody>
          <a:bodyPr/>
          <a:lstStyle/>
          <a:p>
            <a:endParaRPr lang="hr-HR"/>
          </a:p>
        </p:txBody>
      </p:sp>
      <p:sp>
        <p:nvSpPr>
          <p:cNvPr id="5" name="Slide Number Placeholder 4"/>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3B6936-D443-42BB-A9DE-B3B5737FA46C}" type="datetimeFigureOut">
              <a:rPr lang="hr-HR" smtClean="0"/>
              <a:pPr/>
              <a:t>16.3.2021.</a:t>
            </a:fld>
            <a:endParaRPr lang="hr-HR"/>
          </a:p>
        </p:txBody>
      </p:sp>
      <p:sp>
        <p:nvSpPr>
          <p:cNvPr id="3" name="Footer Placeholder 2"/>
          <p:cNvSpPr>
            <a:spLocks noGrp="1"/>
          </p:cNvSpPr>
          <p:nvPr>
            <p:ph type="ftr" sz="quarter" idx="11"/>
          </p:nvPr>
        </p:nvSpPr>
        <p:spPr/>
        <p:txBody>
          <a:bodyPr/>
          <a:lstStyle/>
          <a:p>
            <a:endParaRPr lang="hr-HR"/>
          </a:p>
        </p:txBody>
      </p:sp>
      <p:sp>
        <p:nvSpPr>
          <p:cNvPr id="4" name="Slide Number Placeholder 3"/>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hr-H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3B6936-D443-42BB-A9DE-B3B5737FA46C}" type="datetimeFigureOut">
              <a:rPr lang="hr-HR" smtClean="0"/>
              <a:pPr/>
              <a:t>16.3.2021.</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hr-H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3B6936-D443-42BB-A9DE-B3B5737FA46C}" type="datetimeFigureOut">
              <a:rPr lang="hr-HR" smtClean="0"/>
              <a:pPr/>
              <a:t>16.3.2021.</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10"/>
          </p:nvPr>
        </p:nvSpPr>
        <p:spPr/>
        <p:txBody>
          <a:bodyPr/>
          <a:lstStyle/>
          <a:p>
            <a:fld id="{CD3B6936-D443-42BB-A9DE-B3B5737FA46C}" type="datetimeFigureOut">
              <a:rPr lang="hr-HR" smtClean="0"/>
              <a:pPr/>
              <a:t>16.3.2021.</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hr-H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10"/>
          </p:nvPr>
        </p:nvSpPr>
        <p:spPr/>
        <p:txBody>
          <a:bodyPr/>
          <a:lstStyle/>
          <a:p>
            <a:fld id="{CD3B6936-D443-42BB-A9DE-B3B5737FA46C}" type="datetimeFigureOut">
              <a:rPr lang="hr-HR" smtClean="0"/>
              <a:pPr/>
              <a:t>16.3.2021.</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387D3E5-EC4F-4459-9FBD-6531F128920C}" type="slidenum">
              <a:rPr lang="hr-HR" smtClean="0"/>
              <a:pPr/>
              <a:t>‹#›</a:t>
            </a:fld>
            <a:endParaRPr lang="hr-H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hr-H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3B6936-D443-42BB-A9DE-B3B5737FA46C}" type="datetimeFigureOut">
              <a:rPr lang="hr-HR" smtClean="0"/>
              <a:pPr/>
              <a:t>16.3.2021.</a:t>
            </a:fld>
            <a:endParaRPr lang="hr-H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87D3E5-EC4F-4459-9FBD-6531F128920C}" type="slidenum">
              <a:rPr lang="hr-HR" smtClean="0"/>
              <a:pPr/>
              <a:t>‹#›</a:t>
            </a:fld>
            <a:endParaRPr lang="hr-H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sr-Latn-C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hyperlink" Target="https://artsandculture.google.com/camera/selfie" TargetMode="Externa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7584" y="2564904"/>
            <a:ext cx="7416824" cy="1656184"/>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 name="TextBox 1"/>
          <p:cNvSpPr txBox="1"/>
          <p:nvPr/>
        </p:nvSpPr>
        <p:spPr>
          <a:xfrm>
            <a:off x="1187624" y="2924944"/>
            <a:ext cx="7056784" cy="769441"/>
          </a:xfrm>
          <a:prstGeom prst="rect">
            <a:avLst/>
          </a:prstGeom>
          <a:noFill/>
        </p:spPr>
        <p:txBody>
          <a:bodyPr wrap="square" rtlCol="0">
            <a:spAutoFit/>
          </a:bodyPr>
          <a:lstStyle/>
          <a:p>
            <a:pPr algn="just"/>
            <a:r>
              <a:rPr lang="hr-HR" sz="4400" b="1" dirty="0" smtClean="0">
                <a:latin typeface="Times New Roman" pitchFamily="18" charset="0"/>
                <a:cs typeface="Times New Roman" pitchFamily="18" charset="0"/>
              </a:rPr>
              <a:t>Teme u likovnoj umjetnosti</a:t>
            </a:r>
            <a:endParaRPr lang="hr-HR" sz="4400" b="1" dirty="0">
              <a:latin typeface="Times New Roman" pitchFamily="18" charset="0"/>
              <a:cs typeface="Times New Roman" pitchFamily="18" charset="0"/>
            </a:endParaRPr>
          </a:p>
        </p:txBody>
      </p:sp>
      <p:sp>
        <p:nvSpPr>
          <p:cNvPr id="3" name="TextBox 2"/>
          <p:cNvSpPr txBox="1"/>
          <p:nvPr/>
        </p:nvSpPr>
        <p:spPr>
          <a:xfrm>
            <a:off x="179512" y="116632"/>
            <a:ext cx="6768752" cy="646331"/>
          </a:xfrm>
          <a:prstGeom prst="rect">
            <a:avLst/>
          </a:prstGeom>
          <a:noFill/>
        </p:spPr>
        <p:txBody>
          <a:bodyPr wrap="square" rtlCol="0">
            <a:spAutoFit/>
          </a:bodyPr>
          <a:lstStyle/>
          <a:p>
            <a:r>
              <a:rPr lang="hr-HR" dirty="0" smtClean="0"/>
              <a:t/>
            </a:r>
            <a:br>
              <a:rPr lang="hr-HR" dirty="0" smtClean="0"/>
            </a:br>
            <a:endParaRPr lang="hr-H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7584" y="1196752"/>
            <a:ext cx="7416824" cy="4176464"/>
          </a:xfrm>
          <a:prstGeom prst="rect">
            <a:avLst/>
          </a:prstGeom>
          <a:solidFill>
            <a:srgbClr val="EEE792"/>
          </a:solidFill>
          <a:ln>
            <a:solidFill>
              <a:srgbClr val="EEE79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hr-HR"/>
          </a:p>
        </p:txBody>
      </p:sp>
      <p:sp>
        <p:nvSpPr>
          <p:cNvPr id="2" name="Title 1"/>
          <p:cNvSpPr>
            <a:spLocks noGrp="1"/>
          </p:cNvSpPr>
          <p:nvPr>
            <p:ph type="ctrTitle"/>
          </p:nvPr>
        </p:nvSpPr>
        <p:spPr/>
        <p:txBody>
          <a:bodyPr>
            <a:normAutofit fontScale="90000"/>
          </a:bodyPr>
          <a:lstStyle/>
          <a:p>
            <a:r>
              <a:rPr lang="hr-HR" dirty="0" smtClean="0">
                <a:latin typeface="Times New Roman" pitchFamily="18" charset="0"/>
                <a:cs typeface="Times New Roman" pitchFamily="18" charset="0"/>
              </a:rPr>
              <a:t>Pronađite u svom mobitelu fotografije koje prikazuju teme iz vašeg svakodnevnog života.</a:t>
            </a:r>
            <a:br>
              <a:rPr lang="hr-HR" dirty="0" smtClean="0">
                <a:latin typeface="Times New Roman" pitchFamily="18" charset="0"/>
                <a:cs typeface="Times New Roman" pitchFamily="18" charset="0"/>
              </a:rPr>
            </a:br>
            <a:r>
              <a:rPr lang="hr-HR" dirty="0" smtClean="0">
                <a:latin typeface="Times New Roman" pitchFamily="18" charset="0"/>
                <a:cs typeface="Times New Roman" pitchFamily="18" charset="0"/>
              </a:rPr>
              <a:t>Što se na njima nalazi?</a:t>
            </a:r>
            <a:endParaRPr lang="hr-HR"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amily-gathering-covid-mc-main1-200603_d1b1ee0c7ebf4e887ac8daf622ad784a.fit-760w.jpg"/>
          <p:cNvPicPr>
            <a:picLocks noChangeAspect="1"/>
          </p:cNvPicPr>
          <p:nvPr/>
        </p:nvPicPr>
        <p:blipFill>
          <a:blip r:embed="rId3" cstate="print"/>
          <a:stretch>
            <a:fillRect/>
          </a:stretch>
        </p:blipFill>
        <p:spPr>
          <a:xfrm>
            <a:off x="395536" y="1052736"/>
            <a:ext cx="8352928" cy="417646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png"/>
          <p:cNvPicPr>
            <a:picLocks noChangeAspect="1"/>
          </p:cNvPicPr>
          <p:nvPr/>
        </p:nvPicPr>
        <p:blipFill>
          <a:blip r:embed="rId3" cstate="print"/>
          <a:srcRect l="40005" t="10801" r="9838" b="8001"/>
          <a:stretch>
            <a:fillRect/>
          </a:stretch>
        </p:blipFill>
        <p:spPr>
          <a:xfrm>
            <a:off x="395536" y="3645024"/>
            <a:ext cx="3312368" cy="3016335"/>
          </a:xfrm>
          <a:prstGeom prst="rect">
            <a:avLst/>
          </a:prstGeom>
        </p:spPr>
      </p:pic>
      <p:pic>
        <p:nvPicPr>
          <p:cNvPr id="4" name="Picture 3" descr="Screenshot (3).png"/>
          <p:cNvPicPr>
            <a:picLocks noChangeAspect="1"/>
          </p:cNvPicPr>
          <p:nvPr/>
        </p:nvPicPr>
        <p:blipFill>
          <a:blip r:embed="rId4" cstate="print"/>
          <a:srcRect l="13387" t="9401" r="17713" b="10800"/>
          <a:stretch>
            <a:fillRect/>
          </a:stretch>
        </p:blipFill>
        <p:spPr>
          <a:xfrm>
            <a:off x="3851920" y="213736"/>
            <a:ext cx="4972074" cy="3239214"/>
          </a:xfrm>
          <a:prstGeom prst="rect">
            <a:avLst/>
          </a:prstGeom>
        </p:spPr>
      </p:pic>
      <p:pic>
        <p:nvPicPr>
          <p:cNvPr id="6" name="Picture 5" descr="Screenshot (5).png"/>
          <p:cNvPicPr>
            <a:picLocks noChangeAspect="1"/>
          </p:cNvPicPr>
          <p:nvPr/>
        </p:nvPicPr>
        <p:blipFill>
          <a:blip r:embed="rId5" cstate="print"/>
          <a:srcRect l="5901" t="9401" r="32675" b="6601"/>
          <a:stretch>
            <a:fillRect/>
          </a:stretch>
        </p:blipFill>
        <p:spPr>
          <a:xfrm>
            <a:off x="4644008" y="3645024"/>
            <a:ext cx="3938838" cy="3029875"/>
          </a:xfrm>
          <a:prstGeom prst="rect">
            <a:avLst/>
          </a:prstGeom>
        </p:spPr>
      </p:pic>
      <p:pic>
        <p:nvPicPr>
          <p:cNvPr id="7" name="Picture 6" descr="Screenshot (6).png"/>
          <p:cNvPicPr>
            <a:picLocks noChangeAspect="1"/>
          </p:cNvPicPr>
          <p:nvPr/>
        </p:nvPicPr>
        <p:blipFill>
          <a:blip r:embed="rId6" cstate="print"/>
          <a:srcRect l="12201" t="9401" r="50000" b="10800"/>
          <a:stretch>
            <a:fillRect/>
          </a:stretch>
        </p:blipFill>
        <p:spPr>
          <a:xfrm>
            <a:off x="323528" y="188640"/>
            <a:ext cx="2808312" cy="333487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79512" y="116632"/>
            <a:ext cx="8640960" cy="648072"/>
          </a:xfrm>
          <a:prstGeom prst="rect">
            <a:avLst/>
          </a:prstGeom>
          <a:solidFill>
            <a:srgbClr val="EEE792"/>
          </a:solidFill>
          <a:ln w="12700">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 name="TextBox 2"/>
          <p:cNvSpPr txBox="1"/>
          <p:nvPr/>
        </p:nvSpPr>
        <p:spPr>
          <a:xfrm>
            <a:off x="467544" y="6309320"/>
            <a:ext cx="8964488" cy="369332"/>
          </a:xfrm>
          <a:prstGeom prst="rect">
            <a:avLst/>
          </a:prstGeom>
          <a:noFill/>
        </p:spPr>
        <p:txBody>
          <a:bodyPr wrap="square" rtlCol="0">
            <a:spAutoFit/>
          </a:bodyPr>
          <a:lstStyle/>
          <a:p>
            <a:pPr algn="just"/>
            <a:r>
              <a:rPr lang="hr-HR" sz="1200" dirty="0" smtClean="0">
                <a:latin typeface="Times New Roman" pitchFamily="18" charset="0"/>
                <a:cs typeface="Times New Roman" pitchFamily="18" charset="0"/>
              </a:rPr>
              <a:t>Pieter Brueghel stariji, </a:t>
            </a:r>
            <a:r>
              <a:rPr lang="hr-HR" sz="1200" i="1" dirty="0" smtClean="0">
                <a:latin typeface="Times New Roman" pitchFamily="18" charset="0"/>
                <a:cs typeface="Times New Roman" pitchFamily="18" charset="0"/>
              </a:rPr>
              <a:t>Lovci u snijegu,</a:t>
            </a:r>
            <a:r>
              <a:rPr lang="hr-HR" sz="1200" dirty="0" smtClean="0">
                <a:latin typeface="Times New Roman" pitchFamily="18" charset="0"/>
                <a:cs typeface="Times New Roman" pitchFamily="18" charset="0"/>
              </a:rPr>
              <a:t> 1565., ulje na drvenoj dasci, 1,17x1.62m,  Muzej povijesti umjetnosti u Beču     </a:t>
            </a:r>
            <a:r>
              <a:rPr lang="hr-HR" b="1" dirty="0" smtClean="0">
                <a:latin typeface="Times New Roman" pitchFamily="18" charset="0"/>
                <a:cs typeface="Times New Roman" pitchFamily="18" charset="0"/>
              </a:rPr>
              <a:t>BAROK</a:t>
            </a:r>
          </a:p>
        </p:txBody>
      </p:sp>
      <p:sp>
        <p:nvSpPr>
          <p:cNvPr id="4" name="TextBox 3"/>
          <p:cNvSpPr txBox="1"/>
          <p:nvPr/>
        </p:nvSpPr>
        <p:spPr>
          <a:xfrm>
            <a:off x="323528" y="116632"/>
            <a:ext cx="8496944" cy="646331"/>
          </a:xfrm>
          <a:prstGeom prst="rect">
            <a:avLst/>
          </a:prstGeom>
          <a:noFill/>
        </p:spPr>
        <p:txBody>
          <a:bodyPr wrap="square" rtlCol="0">
            <a:spAutoFit/>
          </a:bodyPr>
          <a:lstStyle/>
          <a:p>
            <a:pPr algn="just"/>
            <a:r>
              <a:rPr lang="hr-HR" b="1" dirty="0" smtClean="0">
                <a:latin typeface="Times New Roman" pitchFamily="18" charset="0"/>
                <a:cs typeface="Times New Roman" pitchFamily="18" charset="0"/>
              </a:rPr>
              <a:t>GENRE ILI ŽANR-SCENA je likovni motiv koji prikazuje prizor iz običnog, svakodnevnog života.</a:t>
            </a:r>
            <a:endParaRPr lang="hr-HR" b="1" dirty="0">
              <a:latin typeface="Times New Roman" pitchFamily="18" charset="0"/>
              <a:cs typeface="Times New Roman" pitchFamily="18" charset="0"/>
            </a:endParaRPr>
          </a:p>
        </p:txBody>
      </p:sp>
      <p:pic>
        <p:nvPicPr>
          <p:cNvPr id="8" name="Picture 7" descr="1200px-Pieter_Bruegel_the_Elder_-_Hunters_in_the_Snow_(Winter)_-_Google_Art_Project.jpg"/>
          <p:cNvPicPr>
            <a:picLocks noChangeAspect="1"/>
          </p:cNvPicPr>
          <p:nvPr/>
        </p:nvPicPr>
        <p:blipFill>
          <a:blip r:embed="rId3" cstate="print"/>
          <a:stretch>
            <a:fillRect/>
          </a:stretch>
        </p:blipFill>
        <p:spPr>
          <a:xfrm>
            <a:off x="683568" y="836712"/>
            <a:ext cx="7791029" cy="554461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as_Meninas_01.jpg"/>
          <p:cNvPicPr>
            <a:picLocks noChangeAspect="1"/>
          </p:cNvPicPr>
          <p:nvPr/>
        </p:nvPicPr>
        <p:blipFill>
          <a:blip r:embed="rId3" cstate="print"/>
          <a:stretch>
            <a:fillRect/>
          </a:stretch>
        </p:blipFill>
        <p:spPr>
          <a:xfrm>
            <a:off x="251520" y="165739"/>
            <a:ext cx="5688632" cy="6546667"/>
          </a:xfrm>
          <a:prstGeom prst="rect">
            <a:avLst/>
          </a:prstGeom>
        </p:spPr>
      </p:pic>
      <p:sp>
        <p:nvSpPr>
          <p:cNvPr id="3" name="Rectangle 2"/>
          <p:cNvSpPr/>
          <p:nvPr/>
        </p:nvSpPr>
        <p:spPr>
          <a:xfrm>
            <a:off x="6084168" y="5517232"/>
            <a:ext cx="2520280" cy="738664"/>
          </a:xfrm>
          <a:prstGeom prst="rect">
            <a:avLst/>
          </a:prstGeom>
        </p:spPr>
        <p:txBody>
          <a:bodyPr wrap="square">
            <a:spAutoFit/>
          </a:bodyPr>
          <a:lstStyle/>
          <a:p>
            <a:pPr algn="just"/>
            <a:r>
              <a:rPr lang="hr-HR" sz="1400" dirty="0" smtClean="0">
                <a:latin typeface="Times New Roman" pitchFamily="18" charset="0"/>
                <a:cs typeface="Times New Roman" pitchFamily="18" charset="0"/>
              </a:rPr>
              <a:t>Diego Velázquez, </a:t>
            </a:r>
            <a:r>
              <a:rPr lang="hr-HR" sz="1400" i="1" dirty="0" smtClean="0">
                <a:latin typeface="Times New Roman" pitchFamily="18" charset="0"/>
                <a:cs typeface="Times New Roman" pitchFamily="18" charset="0"/>
              </a:rPr>
              <a:t>Las Meninas, </a:t>
            </a:r>
            <a:r>
              <a:rPr lang="hr-HR" sz="1400" dirty="0" smtClean="0">
                <a:latin typeface="Times New Roman" pitchFamily="18" charset="0"/>
                <a:cs typeface="Times New Roman" pitchFamily="18" charset="0"/>
              </a:rPr>
              <a:t>1656., ulje na platnu, 3,18x2,76m, Prado</a:t>
            </a:r>
            <a:endParaRPr lang="hr-HR"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3528" y="5517232"/>
            <a:ext cx="8280920" cy="307777"/>
          </a:xfrm>
          <a:prstGeom prst="rect">
            <a:avLst/>
          </a:prstGeom>
        </p:spPr>
        <p:txBody>
          <a:bodyPr wrap="square">
            <a:spAutoFit/>
          </a:bodyPr>
          <a:lstStyle/>
          <a:p>
            <a:pPr algn="just"/>
            <a:r>
              <a:rPr lang="hr-HR" sz="1400" dirty="0" smtClean="0">
                <a:latin typeface="Times New Roman" pitchFamily="18" charset="0"/>
                <a:cs typeface="Times New Roman" pitchFamily="18" charset="0"/>
              </a:rPr>
              <a:t>Gustave Courbet, </a:t>
            </a:r>
            <a:r>
              <a:rPr lang="hr-HR" sz="1400" i="1" dirty="0" smtClean="0">
                <a:latin typeface="Times New Roman" pitchFamily="18" charset="0"/>
                <a:cs typeface="Times New Roman" pitchFamily="18" charset="0"/>
              </a:rPr>
              <a:t>Tucači kamena,</a:t>
            </a:r>
            <a:r>
              <a:rPr lang="hr-HR" sz="1400" dirty="0" smtClean="0">
                <a:latin typeface="Times New Roman" pitchFamily="18" charset="0"/>
                <a:cs typeface="Times New Roman" pitchFamily="18" charset="0"/>
              </a:rPr>
              <a:t> 1849., ulje na platnu, 1,65x2,57m, Gemäldegalerie, Dresden (uništena)</a:t>
            </a:r>
          </a:p>
        </p:txBody>
      </p:sp>
      <p:pic>
        <p:nvPicPr>
          <p:cNvPr id="5" name="Picture 4" descr="gustave_courbet_the-stone-breakers-1849.jpg"/>
          <p:cNvPicPr>
            <a:picLocks noChangeAspect="1"/>
          </p:cNvPicPr>
          <p:nvPr/>
        </p:nvPicPr>
        <p:blipFill>
          <a:blip r:embed="rId3" cstate="print"/>
          <a:stretch>
            <a:fillRect/>
          </a:stretch>
        </p:blipFill>
        <p:spPr>
          <a:xfrm>
            <a:off x="179512" y="144760"/>
            <a:ext cx="8779851" cy="53502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0608_r36609.jpg"/>
          <p:cNvPicPr>
            <a:picLocks noChangeAspect="1"/>
          </p:cNvPicPr>
          <p:nvPr/>
        </p:nvPicPr>
        <p:blipFill>
          <a:blip r:embed="rId3" cstate="print"/>
          <a:stretch>
            <a:fillRect/>
          </a:stretch>
        </p:blipFill>
        <p:spPr>
          <a:xfrm>
            <a:off x="179512" y="692696"/>
            <a:ext cx="8795149" cy="4798853"/>
          </a:xfrm>
          <a:prstGeom prst="rect">
            <a:avLst/>
          </a:prstGeom>
        </p:spPr>
      </p:pic>
      <p:sp>
        <p:nvSpPr>
          <p:cNvPr id="3" name="Rectangle 2"/>
          <p:cNvSpPr/>
          <p:nvPr/>
        </p:nvSpPr>
        <p:spPr>
          <a:xfrm>
            <a:off x="179512" y="5589240"/>
            <a:ext cx="8424936" cy="307777"/>
          </a:xfrm>
          <a:prstGeom prst="rect">
            <a:avLst/>
          </a:prstGeom>
        </p:spPr>
        <p:txBody>
          <a:bodyPr wrap="square">
            <a:spAutoFit/>
          </a:bodyPr>
          <a:lstStyle/>
          <a:p>
            <a:pPr algn="just"/>
            <a:r>
              <a:rPr lang="hr-HR" sz="1400" dirty="0" smtClean="0">
                <a:latin typeface="Times New Roman" pitchFamily="18" charset="0"/>
                <a:cs typeface="Times New Roman" pitchFamily="18" charset="0"/>
              </a:rPr>
              <a:t>Edward Hopper, </a:t>
            </a:r>
            <a:r>
              <a:rPr lang="hr-HR" sz="1400" i="1" dirty="0" smtClean="0">
                <a:latin typeface="Times New Roman" pitchFamily="18" charset="0"/>
                <a:cs typeface="Times New Roman" pitchFamily="18" charset="0"/>
              </a:rPr>
              <a:t>Noćne ptice u baru, </a:t>
            </a:r>
            <a:r>
              <a:rPr lang="hr-HR" sz="1400" dirty="0" smtClean="0">
                <a:latin typeface="Times New Roman" pitchFamily="18" charset="0"/>
                <a:cs typeface="Times New Roman" pitchFamily="18" charset="0"/>
              </a:rPr>
              <a:t>1942., ulje na platnu, 0,84x1,52m, Umjetnički institut u Chicagu</a:t>
            </a:r>
            <a:endParaRPr lang="hr-HR"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4860032" y="332656"/>
            <a:ext cx="1872208" cy="360040"/>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7" name="Rectangle 16"/>
          <p:cNvSpPr/>
          <p:nvPr/>
        </p:nvSpPr>
        <p:spPr>
          <a:xfrm>
            <a:off x="6588224" y="5949280"/>
            <a:ext cx="1872208" cy="360040"/>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Rectangle 15"/>
          <p:cNvSpPr/>
          <p:nvPr/>
        </p:nvSpPr>
        <p:spPr>
          <a:xfrm>
            <a:off x="2051720" y="6381328"/>
            <a:ext cx="1872208" cy="360040"/>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4" name="Picture 3" descr="1200px-Gustave_Courbet_018.jpg"/>
          <p:cNvPicPr>
            <a:picLocks noChangeAspect="1"/>
          </p:cNvPicPr>
          <p:nvPr/>
        </p:nvPicPr>
        <p:blipFill>
          <a:blip r:embed="rId3" cstate="print"/>
          <a:stretch>
            <a:fillRect/>
          </a:stretch>
        </p:blipFill>
        <p:spPr>
          <a:xfrm>
            <a:off x="179512" y="100790"/>
            <a:ext cx="4536504" cy="2767268"/>
          </a:xfrm>
          <a:prstGeom prst="rect">
            <a:avLst/>
          </a:prstGeom>
        </p:spPr>
      </p:pic>
      <p:sp>
        <p:nvSpPr>
          <p:cNvPr id="6" name="TextBox 5"/>
          <p:cNvSpPr txBox="1"/>
          <p:nvPr/>
        </p:nvSpPr>
        <p:spPr>
          <a:xfrm>
            <a:off x="107504" y="2852936"/>
            <a:ext cx="4176464" cy="415498"/>
          </a:xfrm>
          <a:prstGeom prst="rect">
            <a:avLst/>
          </a:prstGeom>
          <a:noFill/>
        </p:spPr>
        <p:txBody>
          <a:bodyPr wrap="square" rtlCol="0">
            <a:spAutoFit/>
          </a:bodyPr>
          <a:lstStyle/>
          <a:p>
            <a:pPr algn="just"/>
            <a:r>
              <a:rPr lang="hr-HR" sz="1050" dirty="0" smtClean="0">
                <a:latin typeface="Times New Roman" pitchFamily="18" charset="0"/>
                <a:cs typeface="Times New Roman" pitchFamily="18" charset="0"/>
              </a:rPr>
              <a:t>Gustave Courbet, </a:t>
            </a:r>
            <a:r>
              <a:rPr lang="hr-HR" sz="1050" i="1" dirty="0" smtClean="0">
                <a:latin typeface="Times New Roman" pitchFamily="18" charset="0"/>
                <a:cs typeface="Times New Roman" pitchFamily="18" charset="0"/>
              </a:rPr>
              <a:t>Tucači kamena,</a:t>
            </a:r>
            <a:r>
              <a:rPr lang="hr-HR" sz="1050" dirty="0" smtClean="0">
                <a:latin typeface="Times New Roman" pitchFamily="18" charset="0"/>
                <a:cs typeface="Times New Roman" pitchFamily="18" charset="0"/>
              </a:rPr>
              <a:t> 1849., ulje na platnu, 1,65x2,57m, Gemäldegalerie, Dresden (uništena)</a:t>
            </a:r>
          </a:p>
        </p:txBody>
      </p:sp>
      <p:sp>
        <p:nvSpPr>
          <p:cNvPr id="9" name="TextBox 8"/>
          <p:cNvSpPr txBox="1"/>
          <p:nvPr/>
        </p:nvSpPr>
        <p:spPr>
          <a:xfrm>
            <a:off x="107504" y="6021288"/>
            <a:ext cx="4427984" cy="415498"/>
          </a:xfrm>
          <a:prstGeom prst="rect">
            <a:avLst/>
          </a:prstGeom>
          <a:noFill/>
        </p:spPr>
        <p:txBody>
          <a:bodyPr wrap="square" rtlCol="0">
            <a:spAutoFit/>
          </a:bodyPr>
          <a:lstStyle/>
          <a:p>
            <a:pPr algn="just"/>
            <a:r>
              <a:rPr lang="hr-HR" sz="1050" dirty="0" smtClean="0">
                <a:latin typeface="Times New Roman" pitchFamily="18" charset="0"/>
                <a:cs typeface="Times New Roman" pitchFamily="18" charset="0"/>
              </a:rPr>
              <a:t>Edward Hopper, </a:t>
            </a:r>
            <a:r>
              <a:rPr lang="hr-HR" sz="1050" i="1" dirty="0" smtClean="0">
                <a:latin typeface="Times New Roman" pitchFamily="18" charset="0"/>
                <a:cs typeface="Times New Roman" pitchFamily="18" charset="0"/>
              </a:rPr>
              <a:t>Noćne ptice u baru, </a:t>
            </a:r>
            <a:r>
              <a:rPr lang="hr-HR" sz="1050" dirty="0" smtClean="0">
                <a:latin typeface="Times New Roman" pitchFamily="18" charset="0"/>
                <a:cs typeface="Times New Roman" pitchFamily="18" charset="0"/>
              </a:rPr>
              <a:t>1942., ulje na platnu, 0,84x1,52m, Umjetnički institut u Chicagu</a:t>
            </a:r>
            <a:endParaRPr lang="hr-HR" sz="1050" dirty="0">
              <a:latin typeface="Times New Roman" pitchFamily="18" charset="0"/>
              <a:cs typeface="Times New Roman" pitchFamily="18" charset="0"/>
            </a:endParaRPr>
          </a:p>
        </p:txBody>
      </p:sp>
      <p:pic>
        <p:nvPicPr>
          <p:cNvPr id="10" name="Picture 9" descr="200608_r36609.jpg"/>
          <p:cNvPicPr>
            <a:picLocks noChangeAspect="1"/>
          </p:cNvPicPr>
          <p:nvPr/>
        </p:nvPicPr>
        <p:blipFill>
          <a:blip r:embed="rId4" cstate="print"/>
          <a:stretch>
            <a:fillRect/>
          </a:stretch>
        </p:blipFill>
        <p:spPr>
          <a:xfrm>
            <a:off x="179512" y="3408614"/>
            <a:ext cx="4680520" cy="2553808"/>
          </a:xfrm>
          <a:prstGeom prst="rect">
            <a:avLst/>
          </a:prstGeom>
        </p:spPr>
      </p:pic>
      <p:sp>
        <p:nvSpPr>
          <p:cNvPr id="11" name="Rectangle 10"/>
          <p:cNvSpPr/>
          <p:nvPr/>
        </p:nvSpPr>
        <p:spPr>
          <a:xfrm>
            <a:off x="5868144" y="5445224"/>
            <a:ext cx="3024336" cy="415498"/>
          </a:xfrm>
          <a:prstGeom prst="rect">
            <a:avLst/>
          </a:prstGeom>
        </p:spPr>
        <p:txBody>
          <a:bodyPr wrap="square">
            <a:spAutoFit/>
          </a:bodyPr>
          <a:lstStyle/>
          <a:p>
            <a:pPr algn="just"/>
            <a:r>
              <a:rPr lang="hr-HR" sz="1050" dirty="0" smtClean="0">
                <a:latin typeface="Times New Roman" pitchFamily="18" charset="0"/>
                <a:cs typeface="Times New Roman" pitchFamily="18" charset="0"/>
              </a:rPr>
              <a:t>Diego Velázquez, </a:t>
            </a:r>
            <a:r>
              <a:rPr lang="hr-HR" sz="1050" i="1" dirty="0" smtClean="0">
                <a:latin typeface="Times New Roman" pitchFamily="18" charset="0"/>
                <a:cs typeface="Times New Roman" pitchFamily="18" charset="0"/>
              </a:rPr>
              <a:t>Las Meninas, </a:t>
            </a:r>
            <a:r>
              <a:rPr lang="hr-HR" sz="1050" dirty="0" smtClean="0">
                <a:latin typeface="Times New Roman" pitchFamily="18" charset="0"/>
                <a:cs typeface="Times New Roman" pitchFamily="18" charset="0"/>
              </a:rPr>
              <a:t>1656., ulje na platnu, 3,18x2,76m, Prado</a:t>
            </a:r>
            <a:endParaRPr lang="hr-HR" sz="1050" dirty="0">
              <a:latin typeface="Times New Roman" pitchFamily="18" charset="0"/>
              <a:cs typeface="Times New Roman" pitchFamily="18" charset="0"/>
            </a:endParaRPr>
          </a:p>
        </p:txBody>
      </p:sp>
      <p:pic>
        <p:nvPicPr>
          <p:cNvPr id="12" name="Picture 11" descr="Las_Meninas_01.jpg"/>
          <p:cNvPicPr>
            <a:picLocks noChangeAspect="1"/>
          </p:cNvPicPr>
          <p:nvPr/>
        </p:nvPicPr>
        <p:blipFill>
          <a:blip r:embed="rId5" cstate="print"/>
          <a:stretch>
            <a:fillRect/>
          </a:stretch>
        </p:blipFill>
        <p:spPr>
          <a:xfrm>
            <a:off x="5220071" y="980728"/>
            <a:ext cx="3816789" cy="4392488"/>
          </a:xfrm>
          <a:prstGeom prst="rect">
            <a:avLst/>
          </a:prstGeom>
        </p:spPr>
      </p:pic>
      <p:sp>
        <p:nvSpPr>
          <p:cNvPr id="13" name="TextBox 12"/>
          <p:cNvSpPr txBox="1"/>
          <p:nvPr/>
        </p:nvSpPr>
        <p:spPr>
          <a:xfrm>
            <a:off x="4860032" y="260648"/>
            <a:ext cx="2304256" cy="461665"/>
          </a:xfrm>
          <a:prstGeom prst="rect">
            <a:avLst/>
          </a:prstGeom>
          <a:noFill/>
        </p:spPr>
        <p:txBody>
          <a:bodyPr wrap="square" rtlCol="0">
            <a:spAutoFit/>
          </a:bodyPr>
          <a:lstStyle/>
          <a:p>
            <a:r>
              <a:rPr lang="hr-HR" sz="2400" dirty="0" smtClean="0">
                <a:latin typeface="Times New Roman" pitchFamily="18" charset="0"/>
                <a:cs typeface="Times New Roman" pitchFamily="18" charset="0"/>
              </a:rPr>
              <a:t>Seoski prikaz</a:t>
            </a:r>
            <a:endParaRPr lang="hr-HR" sz="2400" dirty="0">
              <a:latin typeface="Times New Roman" pitchFamily="18" charset="0"/>
              <a:cs typeface="Times New Roman" pitchFamily="18" charset="0"/>
            </a:endParaRPr>
          </a:p>
        </p:txBody>
      </p:sp>
      <p:sp>
        <p:nvSpPr>
          <p:cNvPr id="14" name="TextBox 13"/>
          <p:cNvSpPr txBox="1"/>
          <p:nvPr/>
        </p:nvSpPr>
        <p:spPr>
          <a:xfrm>
            <a:off x="2051720" y="6309320"/>
            <a:ext cx="2664296" cy="461665"/>
          </a:xfrm>
          <a:prstGeom prst="rect">
            <a:avLst/>
          </a:prstGeom>
          <a:noFill/>
        </p:spPr>
        <p:txBody>
          <a:bodyPr wrap="square" rtlCol="0">
            <a:spAutoFit/>
          </a:bodyPr>
          <a:lstStyle/>
          <a:p>
            <a:pPr algn="just"/>
            <a:r>
              <a:rPr lang="hr-HR" sz="2400" dirty="0" smtClean="0">
                <a:latin typeface="Times New Roman" pitchFamily="18" charset="0"/>
                <a:cs typeface="Times New Roman" pitchFamily="18" charset="0"/>
              </a:rPr>
              <a:t>Gradski prikaz</a:t>
            </a:r>
            <a:endParaRPr lang="hr-HR" sz="2400" dirty="0">
              <a:latin typeface="Times New Roman" pitchFamily="18" charset="0"/>
              <a:cs typeface="Times New Roman" pitchFamily="18" charset="0"/>
            </a:endParaRPr>
          </a:p>
        </p:txBody>
      </p:sp>
      <p:sp>
        <p:nvSpPr>
          <p:cNvPr id="15" name="TextBox 14"/>
          <p:cNvSpPr txBox="1"/>
          <p:nvPr/>
        </p:nvSpPr>
        <p:spPr>
          <a:xfrm>
            <a:off x="6588224" y="5877272"/>
            <a:ext cx="2376264" cy="461665"/>
          </a:xfrm>
          <a:prstGeom prst="rect">
            <a:avLst/>
          </a:prstGeom>
          <a:noFill/>
        </p:spPr>
        <p:txBody>
          <a:bodyPr wrap="square" rtlCol="0">
            <a:spAutoFit/>
          </a:bodyPr>
          <a:lstStyle/>
          <a:p>
            <a:pPr algn="just"/>
            <a:r>
              <a:rPr lang="hr-HR" sz="2400" dirty="0" smtClean="0">
                <a:latin typeface="Times New Roman" pitchFamily="18" charset="0"/>
                <a:cs typeface="Times New Roman" pitchFamily="18" charset="0"/>
              </a:rPr>
              <a:t>Dvorski prikaz</a:t>
            </a:r>
            <a:endParaRPr lang="hr-HR"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20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0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0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0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6" grpId="0" animBg="1"/>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228594.jpg"/>
          <p:cNvPicPr>
            <a:picLocks noChangeAspect="1"/>
          </p:cNvPicPr>
          <p:nvPr/>
        </p:nvPicPr>
        <p:blipFill>
          <a:blip r:embed="rId3" cstate="print"/>
          <a:stretch>
            <a:fillRect/>
          </a:stretch>
        </p:blipFill>
        <p:spPr>
          <a:xfrm>
            <a:off x="467545" y="169744"/>
            <a:ext cx="8160378" cy="6154132"/>
          </a:xfrm>
          <a:prstGeom prst="rect">
            <a:avLst/>
          </a:prstGeom>
        </p:spPr>
      </p:pic>
      <p:sp>
        <p:nvSpPr>
          <p:cNvPr id="4" name="TextBox 3"/>
          <p:cNvSpPr txBox="1"/>
          <p:nvPr/>
        </p:nvSpPr>
        <p:spPr>
          <a:xfrm>
            <a:off x="5076056" y="6309320"/>
            <a:ext cx="5040560" cy="276999"/>
          </a:xfrm>
          <a:prstGeom prst="rect">
            <a:avLst/>
          </a:prstGeom>
          <a:noFill/>
        </p:spPr>
        <p:txBody>
          <a:bodyPr wrap="square" rtlCol="0">
            <a:spAutoFit/>
          </a:bodyPr>
          <a:lstStyle/>
          <a:p>
            <a:pPr algn="just"/>
            <a:r>
              <a:rPr lang="hr-HR" sz="1200" dirty="0" smtClean="0">
                <a:latin typeface="Times New Roman" pitchFamily="18" charset="0"/>
                <a:cs typeface="Times New Roman" pitchFamily="18" charset="0"/>
              </a:rPr>
              <a:t>Julie Blackmon, </a:t>
            </a:r>
            <a:r>
              <a:rPr lang="hr-HR" sz="1200" i="1" dirty="0" smtClean="0">
                <a:latin typeface="Times New Roman" pitchFamily="18" charset="0"/>
                <a:cs typeface="Times New Roman" pitchFamily="18" charset="0"/>
              </a:rPr>
              <a:t>Laying out, </a:t>
            </a:r>
            <a:r>
              <a:rPr lang="hr-HR" sz="1200" dirty="0" smtClean="0">
                <a:latin typeface="Times New Roman" pitchFamily="18" charset="0"/>
                <a:cs typeface="Times New Roman" pitchFamily="18" charset="0"/>
              </a:rPr>
              <a:t>2015., fotografija</a:t>
            </a:r>
            <a:endParaRPr lang="hr-HR"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79512" y="260648"/>
            <a:ext cx="3816424" cy="1152128"/>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Rectangle 8"/>
          <p:cNvSpPr/>
          <p:nvPr/>
        </p:nvSpPr>
        <p:spPr>
          <a:xfrm>
            <a:off x="1043608" y="5373216"/>
            <a:ext cx="2664296" cy="576064"/>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 name="Rectangle 3"/>
          <p:cNvSpPr/>
          <p:nvPr/>
        </p:nvSpPr>
        <p:spPr>
          <a:xfrm>
            <a:off x="179512" y="1628800"/>
            <a:ext cx="2808312" cy="2376264"/>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 name="TextBox 2"/>
          <p:cNvSpPr txBox="1"/>
          <p:nvPr/>
        </p:nvSpPr>
        <p:spPr>
          <a:xfrm>
            <a:off x="395536" y="1844824"/>
            <a:ext cx="2376264" cy="1887890"/>
          </a:xfrm>
          <a:prstGeom prst="rect">
            <a:avLst/>
          </a:prstGeom>
          <a:noFill/>
        </p:spPr>
        <p:txBody>
          <a:bodyPr wrap="square" rtlCol="0">
            <a:spAutoFit/>
          </a:bodyPr>
          <a:lstStyle/>
          <a:p>
            <a:pPr algn="just"/>
            <a:r>
              <a:rPr lang="hr-HR" sz="2800" dirty="0" smtClean="0">
                <a:latin typeface="Times New Roman" pitchFamily="18" charset="0"/>
                <a:cs typeface="Times New Roman" pitchFamily="18" charset="0"/>
              </a:rPr>
              <a:t>Potražite u svom mobitelu fotografiju neke osobe.</a:t>
            </a:r>
            <a:endParaRPr lang="hr-HR" sz="2800" dirty="0">
              <a:latin typeface="Times New Roman" pitchFamily="18" charset="0"/>
              <a:cs typeface="Times New Roman" pitchFamily="18" charset="0"/>
            </a:endParaRPr>
          </a:p>
        </p:txBody>
      </p:sp>
      <p:pic>
        <p:nvPicPr>
          <p:cNvPr id="5" name="Picture 4" descr="Cunningham-Obama-Kehinde-Wiley.jpg"/>
          <p:cNvPicPr>
            <a:picLocks noChangeAspect="1"/>
          </p:cNvPicPr>
          <p:nvPr/>
        </p:nvPicPr>
        <p:blipFill>
          <a:blip r:embed="rId3" cstate="print"/>
          <a:stretch>
            <a:fillRect/>
          </a:stretch>
        </p:blipFill>
        <p:spPr>
          <a:xfrm>
            <a:off x="4211960" y="98992"/>
            <a:ext cx="4536504" cy="6648516"/>
          </a:xfrm>
          <a:prstGeom prst="rect">
            <a:avLst/>
          </a:prstGeom>
        </p:spPr>
      </p:pic>
      <p:sp>
        <p:nvSpPr>
          <p:cNvPr id="6" name="Rectangle 5"/>
          <p:cNvSpPr/>
          <p:nvPr/>
        </p:nvSpPr>
        <p:spPr>
          <a:xfrm>
            <a:off x="611560" y="6237312"/>
            <a:ext cx="3528392" cy="430887"/>
          </a:xfrm>
          <a:prstGeom prst="rect">
            <a:avLst/>
          </a:prstGeom>
        </p:spPr>
        <p:txBody>
          <a:bodyPr wrap="square">
            <a:spAutoFit/>
          </a:bodyPr>
          <a:lstStyle/>
          <a:p>
            <a:pPr algn="just"/>
            <a:r>
              <a:rPr lang="hr-HR" sz="1100" dirty="0" smtClean="0">
                <a:latin typeface="Times New Roman" pitchFamily="18" charset="0"/>
                <a:cs typeface="Times New Roman" pitchFamily="18" charset="0"/>
              </a:rPr>
              <a:t>Kehinde Wiley,  </a:t>
            </a:r>
            <a:r>
              <a:rPr lang="hr-HR" sz="1100" i="1" dirty="0" smtClean="0">
                <a:latin typeface="Times New Roman" pitchFamily="18" charset="0"/>
                <a:cs typeface="Times New Roman" pitchFamily="18" charset="0"/>
              </a:rPr>
              <a:t>Predsjednik Barack Obama, </a:t>
            </a:r>
            <a:r>
              <a:rPr lang="hr-HR" sz="1100" dirty="0" smtClean="0">
                <a:latin typeface="Times New Roman" pitchFamily="18" charset="0"/>
                <a:cs typeface="Times New Roman" pitchFamily="18" charset="0"/>
              </a:rPr>
              <a:t>2018., ulje na platnu,2,13x1,47m,  National Portrait Gallery</a:t>
            </a:r>
            <a:endParaRPr lang="hr-HR" sz="1100" dirty="0">
              <a:latin typeface="Times New Roman" pitchFamily="18" charset="0"/>
              <a:cs typeface="Times New Roman" pitchFamily="18" charset="0"/>
            </a:endParaRPr>
          </a:p>
        </p:txBody>
      </p:sp>
      <p:sp>
        <p:nvSpPr>
          <p:cNvPr id="7" name="Rectangle 6"/>
          <p:cNvSpPr/>
          <p:nvPr/>
        </p:nvSpPr>
        <p:spPr>
          <a:xfrm>
            <a:off x="251520" y="332656"/>
            <a:ext cx="3744416" cy="1015663"/>
          </a:xfrm>
          <a:prstGeom prst="rect">
            <a:avLst/>
          </a:prstGeom>
        </p:spPr>
        <p:txBody>
          <a:bodyPr wrap="square">
            <a:spAutoFit/>
          </a:bodyPr>
          <a:lstStyle/>
          <a:p>
            <a:pPr algn="just"/>
            <a:r>
              <a:rPr lang="hr-HR" sz="2000" b="1" dirty="0" smtClean="0">
                <a:latin typeface="Times New Roman" pitchFamily="18" charset="0"/>
                <a:cs typeface="Times New Roman" pitchFamily="18" charset="0"/>
              </a:rPr>
              <a:t>PORTRET</a:t>
            </a:r>
            <a:r>
              <a:rPr lang="hr-HR" sz="2000" dirty="0" smtClean="0">
                <a:latin typeface="Times New Roman" pitchFamily="18" charset="0"/>
                <a:cs typeface="Times New Roman" pitchFamily="18" charset="0"/>
              </a:rPr>
              <a:t> je prikaz određene osobe s njezinim fizičkim obilježjima i psihičkim izrazom.</a:t>
            </a:r>
          </a:p>
        </p:txBody>
      </p:sp>
      <p:sp>
        <p:nvSpPr>
          <p:cNvPr id="8" name="Rectangle 7"/>
          <p:cNvSpPr/>
          <p:nvPr/>
        </p:nvSpPr>
        <p:spPr>
          <a:xfrm>
            <a:off x="1115616" y="5445224"/>
            <a:ext cx="4056491" cy="369332"/>
          </a:xfrm>
          <a:prstGeom prst="rect">
            <a:avLst/>
          </a:prstGeom>
        </p:spPr>
        <p:txBody>
          <a:bodyPr wrap="square">
            <a:spAutoFit/>
          </a:bodyPr>
          <a:lstStyle/>
          <a:p>
            <a:pPr algn="just"/>
            <a:r>
              <a:rPr lang="hr-HR" b="1" dirty="0" smtClean="0">
                <a:latin typeface="Times New Roman" pitchFamily="18" charset="0"/>
                <a:cs typeface="Times New Roman" pitchFamily="18" charset="0"/>
              </a:rPr>
              <a:t>Reprezentativni portreti</a:t>
            </a:r>
            <a:endParaRPr lang="hr-HR" b="1" dirty="0">
              <a:latin typeface="Times New Roman" pitchFamily="18" charset="0"/>
              <a:cs typeface="Times New Roman" pitchFamily="18" charset="0"/>
            </a:endParaRPr>
          </a:p>
        </p:txBody>
      </p:sp>
      <p:sp>
        <p:nvSpPr>
          <p:cNvPr id="10" name="Flowchart: Connector 9"/>
          <p:cNvSpPr/>
          <p:nvPr/>
        </p:nvSpPr>
        <p:spPr>
          <a:xfrm>
            <a:off x="7956376" y="1340768"/>
            <a:ext cx="720080" cy="720080"/>
          </a:xfrm>
          <a:prstGeom prst="flowChartConnector">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20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20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2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20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2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4" grpId="0" animBg="1"/>
      <p:bldP spid="3" grpId="0"/>
      <p:bldP spid="6" grpId="0"/>
      <p:bldP spid="7" grpId="0"/>
      <p:bldP spid="8" grpId="0"/>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rles IV of Spain and His Family in Detail Francisco de Goya.jpg"/>
          <p:cNvPicPr>
            <a:picLocks noChangeAspect="1"/>
          </p:cNvPicPr>
          <p:nvPr/>
        </p:nvPicPr>
        <p:blipFill>
          <a:blip r:embed="rId3" cstate="print"/>
          <a:stretch>
            <a:fillRect/>
          </a:stretch>
        </p:blipFill>
        <p:spPr>
          <a:xfrm>
            <a:off x="179512" y="692696"/>
            <a:ext cx="6374031" cy="5197574"/>
          </a:xfrm>
          <a:prstGeom prst="rect">
            <a:avLst/>
          </a:prstGeom>
        </p:spPr>
      </p:pic>
      <p:sp>
        <p:nvSpPr>
          <p:cNvPr id="3" name="Rectangle 2"/>
          <p:cNvSpPr/>
          <p:nvPr/>
        </p:nvSpPr>
        <p:spPr>
          <a:xfrm>
            <a:off x="179512" y="6021288"/>
            <a:ext cx="5760640" cy="261610"/>
          </a:xfrm>
          <a:prstGeom prst="rect">
            <a:avLst/>
          </a:prstGeom>
        </p:spPr>
        <p:txBody>
          <a:bodyPr wrap="square">
            <a:spAutoFit/>
          </a:bodyPr>
          <a:lstStyle/>
          <a:p>
            <a:pPr algn="just"/>
            <a:r>
              <a:rPr lang="hr-HR" sz="1100" dirty="0" smtClean="0">
                <a:latin typeface="Times New Roman" pitchFamily="18" charset="0"/>
                <a:cs typeface="Times New Roman" pitchFamily="18" charset="0"/>
              </a:rPr>
              <a:t>Francisco Goya, </a:t>
            </a:r>
            <a:r>
              <a:rPr lang="hr-HR" sz="1100" i="1" dirty="0" smtClean="0">
                <a:latin typeface="Times New Roman" pitchFamily="18" charset="0"/>
                <a:cs typeface="Times New Roman" pitchFamily="18" charset="0"/>
              </a:rPr>
              <a:t>Obitelj Karla IV, </a:t>
            </a:r>
            <a:r>
              <a:rPr lang="hr-HR" sz="1100" dirty="0" smtClean="0">
                <a:latin typeface="Times New Roman" pitchFamily="18" charset="0"/>
                <a:cs typeface="Times New Roman" pitchFamily="18" charset="0"/>
              </a:rPr>
              <a:t>1801., romantizam, ulje na platnu, 2,80x3,36m,  Prado</a:t>
            </a:r>
            <a:endParaRPr lang="hr-HR" sz="1100" dirty="0">
              <a:latin typeface="Times New Roman" pitchFamily="18" charset="0"/>
              <a:cs typeface="Times New Roman" pitchFamily="18" charset="0"/>
            </a:endParaRPr>
          </a:p>
        </p:txBody>
      </p:sp>
      <p:pic>
        <p:nvPicPr>
          <p:cNvPr id="4" name="Picture 3" descr="goya_familycharlesiv_queen.jpg"/>
          <p:cNvPicPr>
            <a:picLocks noChangeAspect="1"/>
          </p:cNvPicPr>
          <p:nvPr/>
        </p:nvPicPr>
        <p:blipFill>
          <a:blip r:embed="rId4" cstate="print"/>
          <a:srcRect r="2243" b="32383"/>
          <a:stretch>
            <a:fillRect/>
          </a:stretch>
        </p:blipFill>
        <p:spPr>
          <a:xfrm>
            <a:off x="6804248" y="764704"/>
            <a:ext cx="2160240" cy="2271022"/>
          </a:xfrm>
          <a:prstGeom prst="rect">
            <a:avLst/>
          </a:prstGeom>
        </p:spPr>
      </p:pic>
      <p:pic>
        <p:nvPicPr>
          <p:cNvPr id="5" name="Picture 4" descr="goya_familycharlesiv_kingfa.jpg"/>
          <p:cNvPicPr>
            <a:picLocks noChangeAspect="1"/>
          </p:cNvPicPr>
          <p:nvPr/>
        </p:nvPicPr>
        <p:blipFill>
          <a:blip r:embed="rId5" cstate="print"/>
          <a:stretch>
            <a:fillRect/>
          </a:stretch>
        </p:blipFill>
        <p:spPr>
          <a:xfrm>
            <a:off x="6804248" y="3573016"/>
            <a:ext cx="2160240" cy="2194804"/>
          </a:xfrm>
          <a:prstGeom prst="rect">
            <a:avLst/>
          </a:prstGeom>
        </p:spPr>
      </p:pic>
      <p:sp>
        <p:nvSpPr>
          <p:cNvPr id="6" name="TextBox 5"/>
          <p:cNvSpPr txBox="1"/>
          <p:nvPr/>
        </p:nvSpPr>
        <p:spPr>
          <a:xfrm>
            <a:off x="395536" y="188640"/>
            <a:ext cx="7848872" cy="400110"/>
          </a:xfrm>
          <a:prstGeom prst="rect">
            <a:avLst/>
          </a:prstGeom>
          <a:noFill/>
        </p:spPr>
        <p:txBody>
          <a:bodyPr wrap="square" rtlCol="0">
            <a:spAutoFit/>
          </a:bodyPr>
          <a:lstStyle/>
          <a:p>
            <a:r>
              <a:rPr lang="hr-HR" sz="2000" b="1" dirty="0" smtClean="0">
                <a:latin typeface="Times New Roman" pitchFamily="18" charset="0"/>
                <a:cs typeface="Times New Roman" pitchFamily="18" charset="0"/>
              </a:rPr>
              <a:t>GRUPNI PORTRET    OBITELJSKI PORTRET                 </a:t>
            </a:r>
            <a:endParaRPr lang="hr-HR" sz="2000" b="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580112" y="548680"/>
            <a:ext cx="1800200" cy="432048"/>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2" name="Picture 1" descr="tadic.jpg"/>
          <p:cNvPicPr>
            <a:picLocks noChangeAspect="1"/>
          </p:cNvPicPr>
          <p:nvPr/>
        </p:nvPicPr>
        <p:blipFill>
          <a:blip r:embed="rId3" cstate="print"/>
          <a:stretch>
            <a:fillRect/>
          </a:stretch>
        </p:blipFill>
        <p:spPr>
          <a:xfrm>
            <a:off x="323528" y="116632"/>
            <a:ext cx="4968552" cy="6583589"/>
          </a:xfrm>
          <a:prstGeom prst="rect">
            <a:avLst/>
          </a:prstGeom>
        </p:spPr>
      </p:pic>
      <p:sp>
        <p:nvSpPr>
          <p:cNvPr id="3" name="TextBox 2"/>
          <p:cNvSpPr txBox="1"/>
          <p:nvPr/>
        </p:nvSpPr>
        <p:spPr>
          <a:xfrm>
            <a:off x="5364088" y="6165304"/>
            <a:ext cx="3528392" cy="461665"/>
          </a:xfrm>
          <a:prstGeom prst="rect">
            <a:avLst/>
          </a:prstGeom>
          <a:noFill/>
        </p:spPr>
        <p:txBody>
          <a:bodyPr wrap="square" rtlCol="0">
            <a:spAutoFit/>
          </a:bodyPr>
          <a:lstStyle/>
          <a:p>
            <a:pPr algn="just"/>
            <a:r>
              <a:rPr lang="hr-HR" sz="1200" dirty="0" smtClean="0">
                <a:latin typeface="Times New Roman" pitchFamily="18" charset="0"/>
                <a:cs typeface="Times New Roman" pitchFamily="18" charset="0"/>
              </a:rPr>
              <a:t>Stipan Tadić, </a:t>
            </a:r>
            <a:r>
              <a:rPr lang="hr-HR" sz="1200" i="1" dirty="0" smtClean="0">
                <a:latin typeface="Times New Roman" pitchFamily="18" charset="0"/>
                <a:cs typeface="Times New Roman" pitchFamily="18" charset="0"/>
              </a:rPr>
              <a:t>Tata,  2009./</a:t>
            </a:r>
            <a:r>
              <a:rPr lang="hr-HR" sz="1200" dirty="0" smtClean="0">
                <a:latin typeface="Times New Roman" pitchFamily="18" charset="0"/>
                <a:cs typeface="Times New Roman" pitchFamily="18" charset="0"/>
              </a:rPr>
              <a:t>2010., ulje na platnu, 2x1,5m</a:t>
            </a:r>
            <a:endParaRPr lang="hr-HR" sz="1200" dirty="0">
              <a:latin typeface="Times New Roman" pitchFamily="18" charset="0"/>
              <a:cs typeface="Times New Roman" pitchFamily="18" charset="0"/>
            </a:endParaRPr>
          </a:p>
        </p:txBody>
      </p:sp>
      <p:sp>
        <p:nvSpPr>
          <p:cNvPr id="4" name="TextBox 3"/>
          <p:cNvSpPr txBox="1"/>
          <p:nvPr/>
        </p:nvSpPr>
        <p:spPr>
          <a:xfrm>
            <a:off x="5652120" y="548680"/>
            <a:ext cx="2160240" cy="369332"/>
          </a:xfrm>
          <a:prstGeom prst="rect">
            <a:avLst/>
          </a:prstGeom>
          <a:noFill/>
        </p:spPr>
        <p:txBody>
          <a:bodyPr wrap="square" rtlCol="0">
            <a:spAutoFit/>
          </a:bodyPr>
          <a:lstStyle/>
          <a:p>
            <a:pPr algn="just"/>
            <a:r>
              <a:rPr lang="hr-HR" b="1" dirty="0" smtClean="0">
                <a:latin typeface="Times New Roman" pitchFamily="18" charset="0"/>
                <a:cs typeface="Times New Roman" pitchFamily="18" charset="0"/>
              </a:rPr>
              <a:t>Intiman portret</a:t>
            </a:r>
            <a:endParaRPr lang="hr-HR" b="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endrik-Kerstens-Photographs-his-Daughter-in-the-Style-of-Dutch-Masters-with-a-Twist-Yellowtrace-07.jpg"/>
          <p:cNvPicPr>
            <a:picLocks noChangeAspect="1"/>
          </p:cNvPicPr>
          <p:nvPr/>
        </p:nvPicPr>
        <p:blipFill>
          <a:blip r:embed="rId3" cstate="print"/>
          <a:stretch>
            <a:fillRect/>
          </a:stretch>
        </p:blipFill>
        <p:spPr>
          <a:xfrm>
            <a:off x="4283968" y="332656"/>
            <a:ext cx="4680520" cy="5850650"/>
          </a:xfrm>
          <a:prstGeom prst="rect">
            <a:avLst/>
          </a:prstGeom>
        </p:spPr>
      </p:pic>
      <p:pic>
        <p:nvPicPr>
          <p:cNvPr id="3" name="Picture 2" descr="wikipedija-e1499625823927.jpg"/>
          <p:cNvPicPr>
            <a:picLocks noChangeAspect="1"/>
          </p:cNvPicPr>
          <p:nvPr/>
        </p:nvPicPr>
        <p:blipFill>
          <a:blip r:embed="rId4" cstate="print"/>
          <a:stretch>
            <a:fillRect/>
          </a:stretch>
        </p:blipFill>
        <p:spPr>
          <a:xfrm>
            <a:off x="179512" y="836712"/>
            <a:ext cx="3977868" cy="4659077"/>
          </a:xfrm>
          <a:prstGeom prst="rect">
            <a:avLst/>
          </a:prstGeom>
        </p:spPr>
      </p:pic>
      <p:sp>
        <p:nvSpPr>
          <p:cNvPr id="4" name="TextBox 3"/>
          <p:cNvSpPr txBox="1"/>
          <p:nvPr/>
        </p:nvSpPr>
        <p:spPr>
          <a:xfrm>
            <a:off x="179512" y="5589240"/>
            <a:ext cx="3456384" cy="646331"/>
          </a:xfrm>
          <a:prstGeom prst="rect">
            <a:avLst/>
          </a:prstGeom>
          <a:noFill/>
        </p:spPr>
        <p:txBody>
          <a:bodyPr wrap="square" rtlCol="0">
            <a:spAutoFit/>
          </a:bodyPr>
          <a:lstStyle/>
          <a:p>
            <a:pPr algn="just"/>
            <a:r>
              <a:rPr lang="hr-HR" sz="1200" dirty="0" smtClean="0">
                <a:latin typeface="Times New Roman" pitchFamily="18" charset="0"/>
                <a:cs typeface="Times New Roman" pitchFamily="18" charset="0"/>
              </a:rPr>
              <a:t>Johannes Vermeer, </a:t>
            </a:r>
            <a:r>
              <a:rPr lang="hr-HR" sz="1200" i="1" dirty="0" smtClean="0">
                <a:latin typeface="Times New Roman" pitchFamily="18" charset="0"/>
                <a:cs typeface="Times New Roman" pitchFamily="18" charset="0"/>
              </a:rPr>
              <a:t>Djevojka s bisernom naušnicom, </a:t>
            </a:r>
            <a:r>
              <a:rPr lang="hr-HR" sz="1200" dirty="0" smtClean="0">
                <a:latin typeface="Times New Roman" pitchFamily="18" charset="0"/>
                <a:cs typeface="Times New Roman" pitchFamily="18" charset="0"/>
              </a:rPr>
              <a:t>1665., ulje na platnu, 0,44x0,39m, muzej Mauritshuis u Haagu.</a:t>
            </a:r>
            <a:endParaRPr lang="hr-HR" sz="1200" dirty="0">
              <a:latin typeface="Times New Roman" pitchFamily="18" charset="0"/>
              <a:cs typeface="Times New Roman" pitchFamily="18" charset="0"/>
            </a:endParaRPr>
          </a:p>
        </p:txBody>
      </p:sp>
      <p:sp>
        <p:nvSpPr>
          <p:cNvPr id="5" name="TextBox 4"/>
          <p:cNvSpPr txBox="1"/>
          <p:nvPr/>
        </p:nvSpPr>
        <p:spPr>
          <a:xfrm>
            <a:off x="4355976" y="6237312"/>
            <a:ext cx="3960440" cy="276999"/>
          </a:xfrm>
          <a:prstGeom prst="rect">
            <a:avLst/>
          </a:prstGeom>
          <a:noFill/>
        </p:spPr>
        <p:txBody>
          <a:bodyPr wrap="square" rtlCol="0">
            <a:spAutoFit/>
          </a:bodyPr>
          <a:lstStyle/>
          <a:p>
            <a:pPr algn="just"/>
            <a:r>
              <a:rPr lang="hr-HR" sz="1200" dirty="0" smtClean="0">
                <a:latin typeface="Times New Roman" pitchFamily="18" charset="0"/>
                <a:cs typeface="Times New Roman" pitchFamily="18" charset="0"/>
              </a:rPr>
              <a:t>Hendrik Kerstens, </a:t>
            </a:r>
            <a:r>
              <a:rPr lang="hr-HR" sz="1200" i="1" dirty="0" smtClean="0">
                <a:latin typeface="Times New Roman" pitchFamily="18" charset="0"/>
                <a:cs typeface="Times New Roman" pitchFamily="18" charset="0"/>
              </a:rPr>
              <a:t>Vrećica, </a:t>
            </a:r>
            <a:r>
              <a:rPr lang="hr-HR" sz="1200" dirty="0" smtClean="0">
                <a:latin typeface="Times New Roman" pitchFamily="18" charset="0"/>
                <a:cs typeface="Times New Roman" pitchFamily="18" charset="0"/>
              </a:rPr>
              <a:t>2007., fotografija, 1x0,80m </a:t>
            </a:r>
            <a:endParaRPr lang="hr-HR" sz="1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3528" y="260648"/>
            <a:ext cx="8496944" cy="936104"/>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2" name="Picture 1" descr="google-arts-culture-screen-shot.png"/>
          <p:cNvPicPr>
            <a:picLocks noChangeAspect="1"/>
          </p:cNvPicPr>
          <p:nvPr/>
        </p:nvPicPr>
        <p:blipFill>
          <a:blip r:embed="rId3" cstate="print"/>
          <a:stretch>
            <a:fillRect/>
          </a:stretch>
        </p:blipFill>
        <p:spPr>
          <a:xfrm>
            <a:off x="251520" y="1484784"/>
            <a:ext cx="4052299" cy="4052299"/>
          </a:xfrm>
          <a:prstGeom prst="rect">
            <a:avLst/>
          </a:prstGeom>
        </p:spPr>
      </p:pic>
      <p:pic>
        <p:nvPicPr>
          <p:cNvPr id="3" name="Picture 2" descr="godfried-schalken.jpg"/>
          <p:cNvPicPr>
            <a:picLocks noChangeAspect="1"/>
          </p:cNvPicPr>
          <p:nvPr/>
        </p:nvPicPr>
        <p:blipFill>
          <a:blip r:embed="rId4" cstate="print"/>
          <a:stretch>
            <a:fillRect/>
          </a:stretch>
        </p:blipFill>
        <p:spPr>
          <a:xfrm>
            <a:off x="4572000" y="1412776"/>
            <a:ext cx="4437112" cy="4437112"/>
          </a:xfrm>
          <a:prstGeom prst="rect">
            <a:avLst/>
          </a:prstGeom>
        </p:spPr>
      </p:pic>
      <p:sp>
        <p:nvSpPr>
          <p:cNvPr id="4" name="Rectangle 3"/>
          <p:cNvSpPr/>
          <p:nvPr/>
        </p:nvSpPr>
        <p:spPr>
          <a:xfrm>
            <a:off x="323528" y="332656"/>
            <a:ext cx="8424936" cy="707886"/>
          </a:xfrm>
          <a:prstGeom prst="rect">
            <a:avLst/>
          </a:prstGeom>
        </p:spPr>
        <p:txBody>
          <a:bodyPr wrap="square">
            <a:spAutoFit/>
          </a:bodyPr>
          <a:lstStyle/>
          <a:p>
            <a:pPr algn="just"/>
            <a:r>
              <a:rPr lang="hr-HR" sz="2000" b="1" dirty="0" smtClean="0">
                <a:latin typeface="Times New Roman" pitchFamily="18" charset="0"/>
                <a:cs typeface="Times New Roman" pitchFamily="18" charset="0"/>
              </a:rPr>
              <a:t>Autoportret</a:t>
            </a:r>
            <a:r>
              <a:rPr lang="hr-HR" sz="2000" dirty="0" smtClean="0">
                <a:latin typeface="Times New Roman" pitchFamily="18" charset="0"/>
                <a:cs typeface="Times New Roman" pitchFamily="18" charset="0"/>
              </a:rPr>
              <a:t> je podvrsta portreta, prikazuje vlastiti lik s fizičkim i psihičkim karakteristikama.</a:t>
            </a:r>
            <a:endParaRPr lang="hr-HR" sz="2000" dirty="0"/>
          </a:p>
        </p:txBody>
      </p:sp>
      <p:sp>
        <p:nvSpPr>
          <p:cNvPr id="6" name="Rectangle 5"/>
          <p:cNvSpPr/>
          <p:nvPr/>
        </p:nvSpPr>
        <p:spPr>
          <a:xfrm>
            <a:off x="4355976" y="6021288"/>
            <a:ext cx="4435894" cy="369332"/>
          </a:xfrm>
          <a:prstGeom prst="rect">
            <a:avLst/>
          </a:prstGeom>
        </p:spPr>
        <p:txBody>
          <a:bodyPr wrap="none">
            <a:spAutoFit/>
          </a:bodyPr>
          <a:lstStyle/>
          <a:p>
            <a:pPr algn="just"/>
            <a:r>
              <a:rPr lang="hr-HR" b="1" dirty="0" smtClean="0">
                <a:latin typeface="Times New Roman" pitchFamily="18" charset="0"/>
                <a:cs typeface="Times New Roman" pitchFamily="18" charset="0"/>
              </a:rPr>
              <a:t>Art Selfie: </a:t>
            </a:r>
            <a:r>
              <a:rPr lang="hr-HR" dirty="0" smtClean="0">
                <a:latin typeface="Times New Roman" pitchFamily="18" charset="0"/>
                <a:cs typeface="Times New Roman" pitchFamily="18" charset="0"/>
                <a:hlinkClick r:id="rId5"/>
              </a:rPr>
              <a:t>Camera — Google Arts &amp; Culture</a:t>
            </a:r>
            <a:endParaRPr lang="hr-HR"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rancis-Bacon-Self-Portrait-1969-an-example-of-a-mis-aligned-face-C-The-Estate-of.png"/>
          <p:cNvPicPr>
            <a:picLocks noChangeAspect="1"/>
          </p:cNvPicPr>
          <p:nvPr/>
        </p:nvPicPr>
        <p:blipFill>
          <a:blip r:embed="rId3" cstate="print"/>
          <a:stretch>
            <a:fillRect/>
          </a:stretch>
        </p:blipFill>
        <p:spPr>
          <a:xfrm>
            <a:off x="2195736" y="4293096"/>
            <a:ext cx="2034947" cy="2400573"/>
          </a:xfrm>
          <a:prstGeom prst="rect">
            <a:avLst/>
          </a:prstGeom>
        </p:spPr>
      </p:pic>
      <p:pic>
        <p:nvPicPr>
          <p:cNvPr id="5" name="Picture 4" descr="kn-209-b.jpg"/>
          <p:cNvPicPr>
            <a:picLocks noChangeAspect="1"/>
          </p:cNvPicPr>
          <p:nvPr/>
        </p:nvPicPr>
        <p:blipFill>
          <a:blip r:embed="rId4" cstate="print"/>
          <a:stretch>
            <a:fillRect/>
          </a:stretch>
        </p:blipFill>
        <p:spPr>
          <a:xfrm>
            <a:off x="3275855" y="908720"/>
            <a:ext cx="2016225" cy="2664248"/>
          </a:xfrm>
          <a:prstGeom prst="rect">
            <a:avLst/>
          </a:prstGeom>
        </p:spPr>
      </p:pic>
      <p:sp>
        <p:nvSpPr>
          <p:cNvPr id="15362" name="Rectangle 2"/>
          <p:cNvSpPr>
            <a:spLocks noChangeArrowheads="1"/>
          </p:cNvSpPr>
          <p:nvPr/>
        </p:nvSpPr>
        <p:spPr bwMode="auto">
          <a:xfrm>
            <a:off x="179512" y="153888"/>
            <a:ext cx="8964488"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ZADATAK: Na radnom listiću nalaze se autoportreti umjetnika i umjetnica te citati i tekstovi koji opisuju njihova psihička stanja i životnu situaciju iz koje su crpili inspiraciju. Poveži autoportret s tekstom za koji misli</a:t>
            </a:r>
            <a:r>
              <a:rPr kumimoji="0" lang="hr-HR" sz="1400" b="0" i="0" u="none" strike="noStrike" cap="none" normalizeH="0" baseline="0" dirty="0" smtClean="0">
                <a:ln>
                  <a:noFill/>
                </a:ln>
                <a:solidFill>
                  <a:schemeClr val="tx1"/>
                </a:solidFill>
                <a:effectLst/>
                <a:latin typeface="Calibri"/>
                <a:ea typeface="Calibri" pitchFamily="34" charset="0"/>
                <a:cs typeface="Times New Roman" pitchFamily="18" charset="0"/>
              </a:rPr>
              <a:t>š</a:t>
            </a:r>
            <a:r>
              <a:rPr kumimoji="0" lang="hr-HR" sz="1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da ga najbolje opisuje. </a:t>
            </a:r>
            <a:endParaRPr kumimoji="0" lang="hr-HR" sz="1400" b="0" i="0" u="none" strike="noStrike" cap="none" normalizeH="0" baseline="0" dirty="0" smtClean="0">
              <a:ln>
                <a:noFill/>
              </a:ln>
              <a:solidFill>
                <a:schemeClr val="tx1"/>
              </a:solidFill>
              <a:effectLst/>
              <a:latin typeface="Arial" pitchFamily="34" charset="0"/>
              <a:cs typeface="Arial" pitchFamily="34" charset="0"/>
            </a:endParaRPr>
          </a:p>
        </p:txBody>
      </p:sp>
      <p:sp>
        <p:nvSpPr>
          <p:cNvPr id="15363" name="Rectangle 3"/>
          <p:cNvSpPr>
            <a:spLocks noChangeArrowheads="1"/>
          </p:cNvSpPr>
          <p:nvPr/>
        </p:nvSpPr>
        <p:spPr bwMode="auto">
          <a:xfrm>
            <a:off x="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sr-Latn-CS" sz="1800" b="0" i="0" u="none" strike="noStrike" cap="none" normalizeH="0" baseline="0" smtClean="0">
              <a:ln>
                <a:noFill/>
              </a:ln>
              <a:solidFill>
                <a:schemeClr val="tx1"/>
              </a:solidFill>
              <a:effectLst/>
              <a:latin typeface="Arial" pitchFamily="34" charset="0"/>
              <a:cs typeface="Arial" pitchFamily="34" charset="0"/>
            </a:endParaRPr>
          </a:p>
        </p:txBody>
      </p:sp>
      <p:sp>
        <p:nvSpPr>
          <p:cNvPr id="15364" name="Rectangle 4"/>
          <p:cNvSpPr>
            <a:spLocks noChangeArrowheads="1"/>
          </p:cNvSpPr>
          <p:nvPr/>
        </p:nvSpPr>
        <p:spPr bwMode="auto">
          <a:xfrm>
            <a:off x="5724128" y="954887"/>
            <a:ext cx="2952328"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200" b="1" i="0" u="none" strike="noStrike" cap="none" normalizeH="0" baseline="0" dirty="0" smtClean="0">
                <a:ln>
                  <a:noFill/>
                </a:ln>
                <a:solidFill>
                  <a:srgbClr val="333333"/>
                </a:solidFill>
                <a:effectLst/>
                <a:latin typeface="Calibri"/>
                <a:ea typeface="Calibri" pitchFamily="34" charset="0"/>
                <a:cs typeface="Times New Roman" pitchFamily="18" charset="0"/>
              </a:rPr>
              <a:t>1. </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a:t>
            </a:r>
            <a:r>
              <a:rPr kumimoji="0" lang="hr-HR"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 poprilično tužno (...) ne</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š</a:t>
            </a:r>
            <a:r>
              <a:rPr kumimoji="0" lang="hr-HR"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to poput prikaza lica smrti.</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a:t>
            </a:r>
            <a:endParaRPr kumimoji="0" lang="hr-HR"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hr-HR"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Autoportret prikazuje intenzivno i psihotično stanje umjetnika/ce u kojem je naslikao/la ovo djelo. </a:t>
            </a:r>
            <a:endParaRPr kumimoji="0" lang="hr-HR" sz="1200" b="0" i="0" u="none" strike="noStrike" cap="none" normalizeH="0" baseline="0" dirty="0" smtClean="0">
              <a:ln>
                <a:noFill/>
              </a:ln>
              <a:solidFill>
                <a:schemeClr val="tx1"/>
              </a:solidFill>
              <a:effectLst/>
              <a:latin typeface="Arial" pitchFamily="34" charset="0"/>
              <a:cs typeface="Arial" pitchFamily="34" charset="0"/>
            </a:endParaRPr>
          </a:p>
        </p:txBody>
      </p:sp>
      <p:sp>
        <p:nvSpPr>
          <p:cNvPr id="15365" name="Rectangle 5"/>
          <p:cNvSpPr>
            <a:spLocks noChangeArrowheads="1"/>
          </p:cNvSpPr>
          <p:nvPr/>
        </p:nvSpPr>
        <p:spPr bwMode="auto">
          <a:xfrm>
            <a:off x="5724128" y="2557210"/>
            <a:ext cx="2448272"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200" b="1"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        2</a:t>
            </a:r>
            <a:r>
              <a:rPr kumimoji="0" lang="hr-HR"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  </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a:t>
            </a:r>
            <a:r>
              <a:rPr kumimoji="0" lang="hr-HR"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Prezirem svoje lice.</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a:t>
            </a:r>
            <a:endParaRPr kumimoji="0" lang="hr-HR" sz="1200" b="0" i="0" u="none" strike="noStrike" cap="none" normalizeH="0" baseline="0" dirty="0" smtClean="0">
              <a:ln>
                <a:noFill/>
              </a:ln>
              <a:solidFill>
                <a:schemeClr val="tx1"/>
              </a:solidFill>
              <a:effectLst/>
              <a:latin typeface="Arial" pitchFamily="34" charset="0"/>
              <a:cs typeface="Arial" pitchFamily="34" charset="0"/>
            </a:endParaRPr>
          </a:p>
        </p:txBody>
      </p:sp>
      <p:sp>
        <p:nvSpPr>
          <p:cNvPr id="15366" name="Rectangle 6"/>
          <p:cNvSpPr>
            <a:spLocks noChangeArrowheads="1"/>
          </p:cNvSpPr>
          <p:nvPr/>
        </p:nvSpPr>
        <p:spPr bwMode="auto">
          <a:xfrm>
            <a:off x="5436096" y="3501008"/>
            <a:ext cx="3384376"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200" b="1" i="0" u="none" strike="noStrike" cap="none" normalizeH="0" baseline="0" dirty="0" smtClean="0">
                <a:ln>
                  <a:noFill/>
                </a:ln>
                <a:solidFill>
                  <a:srgbClr val="333333"/>
                </a:solidFill>
                <a:effectLst/>
                <a:latin typeface="Calibri"/>
                <a:ea typeface="Calibri" pitchFamily="34" charset="0"/>
                <a:cs typeface="Times New Roman" pitchFamily="18" charset="0"/>
              </a:rPr>
              <a:t>3. </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a:t>
            </a:r>
            <a:r>
              <a:rPr kumimoji="0" lang="hr-HR"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Ne skrivaj se, budi osoba kakva jesi i pronađi svoju esenciju.</a:t>
            </a:r>
            <a:r>
              <a:rPr kumimoji="0" lang="hr-HR" sz="1200" b="0" i="0" u="none" strike="noStrike" cap="none" normalizeH="0" baseline="0" dirty="0" smtClean="0">
                <a:ln>
                  <a:noFill/>
                </a:ln>
                <a:solidFill>
                  <a:srgbClr val="333333"/>
                </a:solidFill>
                <a:effectLst/>
                <a:latin typeface="Calibri"/>
                <a:ea typeface="Calibri" pitchFamily="34" charset="0"/>
                <a:cs typeface="Times New Roman" pitchFamily="18" charset="0"/>
              </a:rPr>
              <a:t>”</a:t>
            </a:r>
            <a:endParaRPr kumimoji="0" lang="hr-HR"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hr-HR" sz="1200" b="0" i="0" u="none" strike="noStrike" cap="none" normalizeH="0" baseline="0" dirty="0" smtClean="0">
                <a:ln>
                  <a:noFill/>
                </a:ln>
                <a:solidFill>
                  <a:srgbClr val="333333"/>
                </a:solidFill>
                <a:effectLst/>
                <a:latin typeface="Times New Roman" pitchFamily="18" charset="0"/>
                <a:ea typeface="Calibri" pitchFamily="34" charset="0"/>
                <a:cs typeface="Times New Roman" pitchFamily="18" charset="0"/>
              </a:rPr>
              <a:t>Umjetnik/ca svoje autoportrete naziva vizualnom formom monologa. U autoportretima stavlja naglasak samo na prikazu lica koje</a:t>
            </a:r>
            <a:r>
              <a:rPr kumimoji="0" lang="hr-HR" sz="1200" b="0" i="0" u="none" strike="noStrike" cap="none" normalizeH="0" dirty="0" smtClean="0">
                <a:ln>
                  <a:noFill/>
                </a:ln>
                <a:solidFill>
                  <a:srgbClr val="333333"/>
                </a:solidFill>
                <a:effectLst/>
                <a:latin typeface="Times New Roman" pitchFamily="18" charset="0"/>
                <a:ea typeface="Calibri" pitchFamily="34" charset="0"/>
                <a:cs typeface="Times New Roman" pitchFamily="18" charset="0"/>
              </a:rPr>
              <a:t> dokumentira protok vremena i starenja.</a:t>
            </a:r>
            <a:endParaRPr kumimoji="0" lang="hr-HR" sz="1200" b="0" i="0" u="none" strike="noStrike" cap="none" normalizeH="0" baseline="0" dirty="0" smtClean="0">
              <a:ln>
                <a:noFill/>
              </a:ln>
              <a:solidFill>
                <a:schemeClr val="tx1"/>
              </a:solidFill>
              <a:effectLst/>
              <a:latin typeface="Arial" pitchFamily="34" charset="0"/>
              <a:cs typeface="Arial" pitchFamily="34" charset="0"/>
            </a:endParaRPr>
          </a:p>
        </p:txBody>
      </p:sp>
      <p:sp>
        <p:nvSpPr>
          <p:cNvPr id="15367" name="Rectangle 7"/>
          <p:cNvSpPr>
            <a:spLocks noChangeArrowheads="1"/>
          </p:cNvSpPr>
          <p:nvPr/>
        </p:nvSpPr>
        <p:spPr bwMode="auto">
          <a:xfrm>
            <a:off x="4572000" y="5407802"/>
            <a:ext cx="3816424"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200" b="1" i="0" u="none" strike="noStrike" cap="none" normalizeH="0" baseline="0" dirty="0" smtClean="0">
                <a:ln>
                  <a:noFill/>
                </a:ln>
                <a:solidFill>
                  <a:schemeClr val="tx1"/>
                </a:solidFill>
                <a:effectLst/>
                <a:latin typeface="Calibri"/>
                <a:ea typeface="Calibri" pitchFamily="34" charset="0"/>
                <a:cs typeface="Times New Roman" pitchFamily="18" charset="0"/>
              </a:rPr>
              <a:t>4. </a:t>
            </a:r>
            <a:r>
              <a:rPr kumimoji="0" lang="hr-HR" sz="1200" b="0" i="0" u="none" strike="noStrike" cap="none" normalizeH="0" baseline="0" dirty="0" smtClean="0">
                <a:ln>
                  <a:noFill/>
                </a:ln>
                <a:solidFill>
                  <a:schemeClr val="tx1"/>
                </a:solidFill>
                <a:effectLst/>
                <a:latin typeface="Calibri"/>
                <a:ea typeface="Calibri" pitchFamily="34" charset="0"/>
                <a:cs typeface="Times New Roman" pitchFamily="18" charset="0"/>
              </a:rPr>
              <a:t>„</a:t>
            </a:r>
            <a:r>
              <a:rPr kumimoji="0" lang="hr-HR"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Ostavljam vam ovaj portret kako bih bio/la uz vas sve dane i noći kad budem daleko. Svojim slikama prikazujem tugu, ali takvo je moje stanje ‒ bez oblika sam.</a:t>
            </a:r>
            <a:r>
              <a:rPr kumimoji="0" lang="hr-HR" sz="1200" b="0" i="0" u="none" strike="noStrike" cap="none" normalizeH="0" baseline="0" dirty="0" smtClean="0">
                <a:ln>
                  <a:noFill/>
                </a:ln>
                <a:solidFill>
                  <a:schemeClr val="tx1"/>
                </a:solidFill>
                <a:effectLst/>
                <a:latin typeface="Calibri"/>
                <a:ea typeface="Calibri" pitchFamily="34" charset="0"/>
                <a:cs typeface="Times New Roman" pitchFamily="18" charset="0"/>
              </a:rPr>
              <a:t>”</a:t>
            </a:r>
            <a:r>
              <a:rPr kumimoji="0" lang="hr-HR"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hr-HR"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hr-HR"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Umjetnik/ca se ovim autoportretom prikazuje kao žrtva sudbine koju ne može kontrolirati</a:t>
            </a:r>
            <a:r>
              <a:rPr kumimoji="0" lang="hr-HR" sz="11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endParaRPr kumimoji="0" lang="hr-H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4" name="TextBox 13"/>
          <p:cNvSpPr txBox="1"/>
          <p:nvPr/>
        </p:nvSpPr>
        <p:spPr>
          <a:xfrm>
            <a:off x="0" y="836712"/>
            <a:ext cx="395536" cy="307777"/>
          </a:xfrm>
          <a:prstGeom prst="rect">
            <a:avLst/>
          </a:prstGeom>
          <a:noFill/>
        </p:spPr>
        <p:txBody>
          <a:bodyPr wrap="square" rtlCol="0">
            <a:spAutoFit/>
          </a:bodyPr>
          <a:lstStyle/>
          <a:p>
            <a:r>
              <a:rPr lang="hr-HR" sz="1400" dirty="0" smtClean="0">
                <a:latin typeface="Times New Roman" pitchFamily="18" charset="0"/>
                <a:cs typeface="Times New Roman" pitchFamily="18" charset="0"/>
              </a:rPr>
              <a:t>a)</a:t>
            </a:r>
            <a:endParaRPr lang="hr-HR" sz="1400" dirty="0">
              <a:latin typeface="Times New Roman" pitchFamily="18" charset="0"/>
              <a:cs typeface="Times New Roman" pitchFamily="18" charset="0"/>
            </a:endParaRPr>
          </a:p>
        </p:txBody>
      </p:sp>
      <p:sp>
        <p:nvSpPr>
          <p:cNvPr id="15" name="TextBox 14"/>
          <p:cNvSpPr txBox="1"/>
          <p:nvPr/>
        </p:nvSpPr>
        <p:spPr>
          <a:xfrm>
            <a:off x="5220072" y="980728"/>
            <a:ext cx="395536" cy="307777"/>
          </a:xfrm>
          <a:prstGeom prst="rect">
            <a:avLst/>
          </a:prstGeom>
          <a:noFill/>
        </p:spPr>
        <p:txBody>
          <a:bodyPr wrap="square" rtlCol="0">
            <a:spAutoFit/>
          </a:bodyPr>
          <a:lstStyle/>
          <a:p>
            <a:r>
              <a:rPr lang="hr-HR" sz="1400" dirty="0" smtClean="0">
                <a:latin typeface="Times New Roman" pitchFamily="18" charset="0"/>
                <a:cs typeface="Times New Roman" pitchFamily="18" charset="0"/>
              </a:rPr>
              <a:t>b)</a:t>
            </a:r>
            <a:endParaRPr lang="hr-HR" sz="1400" dirty="0">
              <a:latin typeface="Times New Roman" pitchFamily="18" charset="0"/>
              <a:cs typeface="Times New Roman" pitchFamily="18" charset="0"/>
            </a:endParaRPr>
          </a:p>
        </p:txBody>
      </p:sp>
      <p:sp>
        <p:nvSpPr>
          <p:cNvPr id="16" name="TextBox 15"/>
          <p:cNvSpPr txBox="1"/>
          <p:nvPr/>
        </p:nvSpPr>
        <p:spPr>
          <a:xfrm>
            <a:off x="2123728" y="3068960"/>
            <a:ext cx="395536" cy="307777"/>
          </a:xfrm>
          <a:prstGeom prst="rect">
            <a:avLst/>
          </a:prstGeom>
          <a:noFill/>
        </p:spPr>
        <p:txBody>
          <a:bodyPr wrap="square" rtlCol="0">
            <a:spAutoFit/>
          </a:bodyPr>
          <a:lstStyle/>
          <a:p>
            <a:r>
              <a:rPr lang="hr-HR" sz="1400" dirty="0" smtClean="0">
                <a:latin typeface="Times New Roman" pitchFamily="18" charset="0"/>
                <a:cs typeface="Times New Roman" pitchFamily="18" charset="0"/>
              </a:rPr>
              <a:t>c)</a:t>
            </a:r>
            <a:endParaRPr lang="hr-HR" sz="1400" dirty="0">
              <a:latin typeface="Times New Roman" pitchFamily="18" charset="0"/>
              <a:cs typeface="Times New Roman" pitchFamily="18" charset="0"/>
            </a:endParaRPr>
          </a:p>
        </p:txBody>
      </p:sp>
      <p:sp>
        <p:nvSpPr>
          <p:cNvPr id="17" name="TextBox 16"/>
          <p:cNvSpPr txBox="1"/>
          <p:nvPr/>
        </p:nvSpPr>
        <p:spPr>
          <a:xfrm>
            <a:off x="4211960" y="4365104"/>
            <a:ext cx="395536" cy="307777"/>
          </a:xfrm>
          <a:prstGeom prst="rect">
            <a:avLst/>
          </a:prstGeom>
          <a:noFill/>
        </p:spPr>
        <p:txBody>
          <a:bodyPr wrap="square" rtlCol="0">
            <a:spAutoFit/>
          </a:bodyPr>
          <a:lstStyle/>
          <a:p>
            <a:r>
              <a:rPr lang="hr-HR" sz="1400" dirty="0" smtClean="0">
                <a:latin typeface="Times New Roman" pitchFamily="18" charset="0"/>
                <a:cs typeface="Times New Roman" pitchFamily="18" charset="0"/>
              </a:rPr>
              <a:t>d)</a:t>
            </a:r>
            <a:endParaRPr lang="hr-HR" sz="1400" dirty="0">
              <a:latin typeface="Times New Roman" pitchFamily="18" charset="0"/>
              <a:cs typeface="Times New Roman" pitchFamily="18" charset="0"/>
            </a:endParaRPr>
          </a:p>
        </p:txBody>
      </p:sp>
      <p:sp>
        <p:nvSpPr>
          <p:cNvPr id="18" name="TextBox 17"/>
          <p:cNvSpPr txBox="1"/>
          <p:nvPr/>
        </p:nvSpPr>
        <p:spPr>
          <a:xfrm>
            <a:off x="179512" y="0"/>
            <a:ext cx="10657184" cy="338554"/>
          </a:xfrm>
          <a:prstGeom prst="rect">
            <a:avLst/>
          </a:prstGeom>
          <a:noFill/>
        </p:spPr>
        <p:txBody>
          <a:bodyPr wrap="square" rtlCol="0">
            <a:spAutoFit/>
          </a:bodyPr>
          <a:lstStyle/>
          <a:p>
            <a:r>
              <a:rPr lang="hr-HR" sz="1600" dirty="0" smtClean="0">
                <a:latin typeface="Times New Roman" pitchFamily="18" charset="0"/>
                <a:cs typeface="Times New Roman" pitchFamily="18" charset="0"/>
              </a:rPr>
              <a:t>.</a:t>
            </a:r>
            <a:endParaRPr lang="hr-HR" sz="1600" dirty="0">
              <a:latin typeface="Times New Roman" pitchFamily="18" charset="0"/>
              <a:cs typeface="Times New Roman" pitchFamily="18" charset="0"/>
            </a:endParaRPr>
          </a:p>
        </p:txBody>
      </p:sp>
      <p:pic>
        <p:nvPicPr>
          <p:cNvPr id="19" name="Picture 18" descr="the-wounded-deer-1946.jpg"/>
          <p:cNvPicPr>
            <a:picLocks noChangeAspect="1"/>
          </p:cNvPicPr>
          <p:nvPr/>
        </p:nvPicPr>
        <p:blipFill>
          <a:blip r:embed="rId5" cstate="print"/>
          <a:stretch>
            <a:fillRect/>
          </a:stretch>
        </p:blipFill>
        <p:spPr>
          <a:xfrm>
            <a:off x="251520" y="692696"/>
            <a:ext cx="2880320" cy="2226487"/>
          </a:xfrm>
          <a:prstGeom prst="rect">
            <a:avLst/>
          </a:prstGeom>
        </p:spPr>
      </p:pic>
      <p:pic>
        <p:nvPicPr>
          <p:cNvPr id="20" name="Picture 19" descr="450px-Vincent_van_Gogh_-_Self-Portrait_-_Google_Art_Project.jpg"/>
          <p:cNvPicPr>
            <a:picLocks noChangeAspect="1"/>
          </p:cNvPicPr>
          <p:nvPr/>
        </p:nvPicPr>
        <p:blipFill>
          <a:blip r:embed="rId6" cstate="print"/>
          <a:stretch>
            <a:fillRect/>
          </a:stretch>
        </p:blipFill>
        <p:spPr>
          <a:xfrm>
            <a:off x="176088" y="3140968"/>
            <a:ext cx="1954879" cy="237626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wounded-deer-1946.jpg"/>
          <p:cNvPicPr>
            <a:picLocks noChangeAspect="1"/>
          </p:cNvPicPr>
          <p:nvPr/>
        </p:nvPicPr>
        <p:blipFill>
          <a:blip r:embed="rId3" cstate="print"/>
          <a:stretch>
            <a:fillRect/>
          </a:stretch>
        </p:blipFill>
        <p:spPr>
          <a:xfrm>
            <a:off x="86359" y="620689"/>
            <a:ext cx="6717889" cy="5192928"/>
          </a:xfrm>
          <a:prstGeom prst="rect">
            <a:avLst/>
          </a:prstGeom>
        </p:spPr>
      </p:pic>
      <p:sp>
        <p:nvSpPr>
          <p:cNvPr id="4" name="Rectangle 3"/>
          <p:cNvSpPr/>
          <p:nvPr/>
        </p:nvSpPr>
        <p:spPr>
          <a:xfrm>
            <a:off x="6876256" y="1628800"/>
            <a:ext cx="2051720" cy="2462213"/>
          </a:xfrm>
          <a:prstGeom prst="rect">
            <a:avLst/>
          </a:prstGeom>
        </p:spPr>
        <p:txBody>
          <a:bodyPr wrap="square">
            <a:spAutoFit/>
          </a:bodyPr>
          <a:lstStyle/>
          <a:p>
            <a:pPr lvl="0" algn="just" fontAlgn="base">
              <a:spcBef>
                <a:spcPct val="0"/>
              </a:spcBef>
              <a:spcAft>
                <a:spcPct val="0"/>
              </a:spcAft>
            </a:pPr>
            <a:r>
              <a:rPr lang="hr-HR" sz="1400" b="1" dirty="0" smtClean="0">
                <a:ea typeface="Calibri" pitchFamily="34" charset="0"/>
                <a:cs typeface="Times New Roman" pitchFamily="18" charset="0"/>
              </a:rPr>
              <a:t>4. </a:t>
            </a:r>
            <a:r>
              <a:rPr lang="hr-HR" sz="1400" dirty="0" smtClean="0">
                <a:ea typeface="Calibri" pitchFamily="34" charset="0"/>
                <a:cs typeface="Times New Roman" pitchFamily="18" charset="0"/>
              </a:rPr>
              <a:t>„</a:t>
            </a:r>
            <a:r>
              <a:rPr lang="hr-HR" sz="1400" dirty="0" smtClean="0">
                <a:latin typeface="Times New Roman" pitchFamily="18" charset="0"/>
                <a:ea typeface="Calibri" pitchFamily="34" charset="0"/>
                <a:cs typeface="Times New Roman" pitchFamily="18" charset="0"/>
              </a:rPr>
              <a:t>Ostavljam vam ovaj portret kako bih bio/la uz vas sve dane i noći kad budem daleko. Svojim slikama prikazujem tugu, ali takvo je moje stanje ‒ bez oblika sam.</a:t>
            </a:r>
            <a:r>
              <a:rPr lang="hr-HR" sz="1400" dirty="0" smtClean="0">
                <a:ea typeface="Calibri" pitchFamily="34" charset="0"/>
                <a:cs typeface="Times New Roman" pitchFamily="18" charset="0"/>
              </a:rPr>
              <a:t>”</a:t>
            </a:r>
            <a:r>
              <a:rPr lang="hr-HR" sz="1400" dirty="0" smtClean="0">
                <a:latin typeface="Times New Roman" pitchFamily="18" charset="0"/>
                <a:ea typeface="Calibri" pitchFamily="34" charset="0"/>
                <a:cs typeface="Times New Roman" pitchFamily="18" charset="0"/>
              </a:rPr>
              <a:t> </a:t>
            </a:r>
            <a:endParaRPr lang="hr-HR" sz="1400" dirty="0" smtClean="0">
              <a:latin typeface="Arial" pitchFamily="34" charset="0"/>
              <a:cs typeface="Arial" pitchFamily="34" charset="0"/>
            </a:endParaRPr>
          </a:p>
          <a:p>
            <a:pPr lvl="0" algn="just" eaLnBrk="0" fontAlgn="base" hangingPunct="0">
              <a:spcBef>
                <a:spcPct val="0"/>
              </a:spcBef>
              <a:spcAft>
                <a:spcPct val="0"/>
              </a:spcAft>
            </a:pPr>
            <a:r>
              <a:rPr lang="hr-HR" sz="1400" dirty="0" smtClean="0">
                <a:latin typeface="Times New Roman" pitchFamily="18" charset="0"/>
                <a:ea typeface="Calibri" pitchFamily="34" charset="0"/>
                <a:cs typeface="Times New Roman" pitchFamily="18" charset="0"/>
              </a:rPr>
              <a:t>Umjetnik/ca se ovim autoportretom prikazuje kao žrtva sudbine koju ne može kontrolirati</a:t>
            </a:r>
            <a:endParaRPr lang="hr-HR" sz="1400" dirty="0"/>
          </a:p>
        </p:txBody>
      </p:sp>
      <p:sp>
        <p:nvSpPr>
          <p:cNvPr id="4097" name="Rectangle 1"/>
          <p:cNvSpPr>
            <a:spLocks noChangeArrowheads="1"/>
          </p:cNvSpPr>
          <p:nvPr/>
        </p:nvSpPr>
        <p:spPr bwMode="auto">
          <a:xfrm>
            <a:off x="179512" y="5877272"/>
            <a:ext cx="6237605"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hr-HR" sz="1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Frida Kahlo, </a:t>
            </a:r>
            <a:r>
              <a:rPr kumimoji="0" lang="hr-HR" sz="12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Autoportret kao ranjeni jelen,</a:t>
            </a:r>
            <a:r>
              <a:rPr kumimoji="0" lang="hr-HR" sz="1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1946. ulje na lesonitu, kolekcija Carolyn Farb, Teksas </a:t>
            </a:r>
            <a:endParaRPr kumimoji="0" lang="hr-HR" sz="1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kn-209-b.jpg"/>
          <p:cNvPicPr>
            <a:picLocks noChangeAspect="1"/>
          </p:cNvPicPr>
          <p:nvPr/>
        </p:nvPicPr>
        <p:blipFill>
          <a:blip r:embed="rId3" cstate="print"/>
          <a:stretch>
            <a:fillRect/>
          </a:stretch>
        </p:blipFill>
        <p:spPr>
          <a:xfrm>
            <a:off x="3851920" y="188640"/>
            <a:ext cx="4824536" cy="6375162"/>
          </a:xfrm>
          <a:prstGeom prst="rect">
            <a:avLst/>
          </a:prstGeom>
        </p:spPr>
      </p:pic>
      <p:sp>
        <p:nvSpPr>
          <p:cNvPr id="3" name="Rectangle 2"/>
          <p:cNvSpPr/>
          <p:nvPr/>
        </p:nvSpPr>
        <p:spPr>
          <a:xfrm>
            <a:off x="251520" y="764704"/>
            <a:ext cx="3384376" cy="2592288"/>
          </a:xfrm>
          <a:prstGeom prst="rect">
            <a:avLst/>
          </a:prstGeom>
        </p:spPr>
        <p:txBody>
          <a:bodyPr wrap="square">
            <a:spAutoFit/>
          </a:bodyPr>
          <a:lstStyle/>
          <a:p>
            <a:pPr lvl="0" algn="just" fontAlgn="base">
              <a:spcBef>
                <a:spcPct val="0"/>
              </a:spcBef>
              <a:spcAft>
                <a:spcPct val="0"/>
              </a:spcAft>
            </a:pPr>
            <a:r>
              <a:rPr lang="hr-HR" b="1" dirty="0" smtClean="0">
                <a:solidFill>
                  <a:srgbClr val="333333"/>
                </a:solidFill>
                <a:ea typeface="Calibri" pitchFamily="34" charset="0"/>
                <a:cs typeface="Times New Roman" pitchFamily="18" charset="0"/>
              </a:rPr>
              <a:t>3. </a:t>
            </a:r>
            <a:r>
              <a:rPr lang="hr-HR" dirty="0" smtClean="0">
                <a:solidFill>
                  <a:srgbClr val="333333"/>
                </a:solidFill>
                <a:ea typeface="Calibri" pitchFamily="34" charset="0"/>
                <a:cs typeface="Times New Roman" pitchFamily="18" charset="0"/>
              </a:rPr>
              <a:t>“</a:t>
            </a:r>
            <a:r>
              <a:rPr lang="hr-HR" dirty="0" smtClean="0">
                <a:solidFill>
                  <a:srgbClr val="333333"/>
                </a:solidFill>
                <a:latin typeface="Times New Roman" pitchFamily="18" charset="0"/>
                <a:ea typeface="Calibri" pitchFamily="34" charset="0"/>
                <a:cs typeface="Times New Roman" pitchFamily="18" charset="0"/>
              </a:rPr>
              <a:t>Ne skrivaj se, budi osoba kakva jesi i pronađi svoju esenciju.</a:t>
            </a:r>
            <a:r>
              <a:rPr lang="hr-HR" dirty="0" smtClean="0">
                <a:solidFill>
                  <a:srgbClr val="333333"/>
                </a:solidFill>
                <a:ea typeface="Calibri" pitchFamily="34" charset="0"/>
                <a:cs typeface="Times New Roman" pitchFamily="18" charset="0"/>
              </a:rPr>
              <a:t>”</a:t>
            </a:r>
            <a:endParaRPr lang="hr-HR" dirty="0" smtClean="0">
              <a:latin typeface="Arial" pitchFamily="34" charset="0"/>
              <a:cs typeface="Arial" pitchFamily="34" charset="0"/>
            </a:endParaRPr>
          </a:p>
          <a:p>
            <a:pPr lvl="0" algn="just" eaLnBrk="0" fontAlgn="base" hangingPunct="0">
              <a:spcBef>
                <a:spcPct val="0"/>
              </a:spcBef>
              <a:spcAft>
                <a:spcPct val="0"/>
              </a:spcAft>
            </a:pPr>
            <a:r>
              <a:rPr lang="hr-HR" dirty="0" smtClean="0">
                <a:solidFill>
                  <a:srgbClr val="333333"/>
                </a:solidFill>
                <a:latin typeface="Times New Roman" pitchFamily="18" charset="0"/>
                <a:ea typeface="Calibri" pitchFamily="34" charset="0"/>
                <a:cs typeface="Times New Roman" pitchFamily="18" charset="0"/>
              </a:rPr>
              <a:t>Umjetnik/ca svoje autoportrete naziva vizualnom formom monologa. U autoportretima stavlja naglasak samo na prikazu lica koje dokumentira protok vremena i starenja.</a:t>
            </a:r>
            <a:endParaRPr lang="hr-HR" dirty="0" smtClean="0">
              <a:latin typeface="Arial" pitchFamily="34" charset="0"/>
              <a:cs typeface="Arial" pitchFamily="34" charset="0"/>
            </a:endParaRPr>
          </a:p>
        </p:txBody>
      </p:sp>
      <p:sp>
        <p:nvSpPr>
          <p:cNvPr id="3073" name="Rectangle 1"/>
          <p:cNvSpPr>
            <a:spLocks noChangeArrowheads="1"/>
          </p:cNvSpPr>
          <p:nvPr/>
        </p:nvSpPr>
        <p:spPr bwMode="auto">
          <a:xfrm>
            <a:off x="827584" y="6036676"/>
            <a:ext cx="2985474" cy="40011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Käthe Kollwitz, </a:t>
            </a:r>
            <a:r>
              <a:rPr kumimoji="0" lang="hr-HR" sz="10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Autoportret,</a:t>
            </a:r>
            <a:r>
              <a:rPr kumimoji="0" lang="hr-HR" sz="1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1924., litografija, Käthe Kollwitz muzej, Köln</a:t>
            </a:r>
            <a:endParaRPr kumimoji="0" lang="hr-HR" sz="1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512" y="1052736"/>
            <a:ext cx="3024336" cy="2031325"/>
          </a:xfrm>
          <a:prstGeom prst="rect">
            <a:avLst/>
          </a:prstGeom>
        </p:spPr>
        <p:txBody>
          <a:bodyPr wrap="square">
            <a:spAutoFit/>
          </a:bodyPr>
          <a:lstStyle/>
          <a:p>
            <a:pPr lvl="0" algn="just" fontAlgn="base">
              <a:spcBef>
                <a:spcPct val="0"/>
              </a:spcBef>
              <a:spcAft>
                <a:spcPct val="0"/>
              </a:spcAft>
            </a:pPr>
            <a:r>
              <a:rPr lang="hr-HR" b="1" dirty="0" smtClean="0">
                <a:solidFill>
                  <a:srgbClr val="333333"/>
                </a:solidFill>
                <a:ea typeface="Calibri" pitchFamily="34" charset="0"/>
                <a:cs typeface="Times New Roman" pitchFamily="18" charset="0"/>
              </a:rPr>
              <a:t>1. </a:t>
            </a:r>
            <a:r>
              <a:rPr lang="hr-HR" dirty="0" smtClean="0">
                <a:solidFill>
                  <a:srgbClr val="333333"/>
                </a:solidFill>
                <a:ea typeface="Calibri" pitchFamily="34" charset="0"/>
                <a:cs typeface="Times New Roman" pitchFamily="18" charset="0"/>
              </a:rPr>
              <a:t>“</a:t>
            </a:r>
            <a:r>
              <a:rPr lang="hr-HR" dirty="0" smtClean="0">
                <a:solidFill>
                  <a:srgbClr val="333333"/>
                </a:solidFill>
                <a:latin typeface="Times New Roman" pitchFamily="18" charset="0"/>
                <a:ea typeface="Calibri" pitchFamily="34" charset="0"/>
                <a:cs typeface="Times New Roman" pitchFamily="18" charset="0"/>
              </a:rPr>
              <a:t>(...) poprilično tužno (...) ne</a:t>
            </a:r>
            <a:r>
              <a:rPr lang="hr-HR" dirty="0" smtClean="0">
                <a:solidFill>
                  <a:srgbClr val="333333"/>
                </a:solidFill>
                <a:ea typeface="Calibri" pitchFamily="34" charset="0"/>
                <a:cs typeface="Times New Roman" pitchFamily="18" charset="0"/>
              </a:rPr>
              <a:t>š</a:t>
            </a:r>
            <a:r>
              <a:rPr lang="hr-HR" dirty="0" smtClean="0">
                <a:solidFill>
                  <a:srgbClr val="333333"/>
                </a:solidFill>
                <a:latin typeface="Times New Roman" pitchFamily="18" charset="0"/>
                <a:ea typeface="Calibri" pitchFamily="34" charset="0"/>
                <a:cs typeface="Times New Roman" pitchFamily="18" charset="0"/>
              </a:rPr>
              <a:t>to poput prikaza lica smrti.</a:t>
            </a:r>
            <a:r>
              <a:rPr lang="hr-HR" dirty="0" smtClean="0">
                <a:solidFill>
                  <a:srgbClr val="333333"/>
                </a:solidFill>
                <a:ea typeface="Calibri" pitchFamily="34" charset="0"/>
                <a:cs typeface="Times New Roman" pitchFamily="18" charset="0"/>
              </a:rPr>
              <a:t>”</a:t>
            </a:r>
            <a:endParaRPr lang="hr-HR" dirty="0" smtClean="0">
              <a:latin typeface="Arial" pitchFamily="34" charset="0"/>
              <a:cs typeface="Arial" pitchFamily="34" charset="0"/>
            </a:endParaRPr>
          </a:p>
          <a:p>
            <a:pPr lvl="0" algn="just" eaLnBrk="0" fontAlgn="base" hangingPunct="0">
              <a:spcBef>
                <a:spcPct val="0"/>
              </a:spcBef>
              <a:spcAft>
                <a:spcPct val="0"/>
              </a:spcAft>
            </a:pPr>
            <a:r>
              <a:rPr lang="hr-HR" dirty="0" smtClean="0">
                <a:latin typeface="Times New Roman" pitchFamily="18" charset="0"/>
                <a:ea typeface="Calibri" pitchFamily="34" charset="0"/>
                <a:cs typeface="Times New Roman" pitchFamily="18" charset="0"/>
              </a:rPr>
              <a:t>Autoportret prikazuje intenzivno i psihotično stanje umjetnika/ce u kojem je naslikao/la ovo djelo. </a:t>
            </a:r>
            <a:endParaRPr lang="hr-HR" dirty="0" smtClean="0">
              <a:latin typeface="Arial" pitchFamily="34" charset="0"/>
              <a:cs typeface="Arial" pitchFamily="34" charset="0"/>
            </a:endParaRPr>
          </a:p>
        </p:txBody>
      </p:sp>
      <p:sp>
        <p:nvSpPr>
          <p:cNvPr id="2049" name="Rectangle 1"/>
          <p:cNvSpPr>
            <a:spLocks noChangeArrowheads="1"/>
          </p:cNvSpPr>
          <p:nvPr/>
        </p:nvSpPr>
        <p:spPr bwMode="auto">
          <a:xfrm>
            <a:off x="179512" y="6093296"/>
            <a:ext cx="313184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Vincent van Gogh, </a:t>
            </a:r>
            <a:r>
              <a:rPr kumimoji="0" lang="hr-HR" sz="12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Autoportret,</a:t>
            </a:r>
            <a:r>
              <a:rPr kumimoji="0" lang="hr-HR" sz="1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1889., ulje na platnu, 65x54cm, Muzej Orsay, Pariz</a:t>
            </a:r>
            <a:endParaRPr kumimoji="0" lang="hr-HR" sz="12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7" name="Picture 6" descr="800px-Vincent_van_Gogh_-_Self-Portrait_-_Google_Art_Project.jpg"/>
          <p:cNvPicPr>
            <a:picLocks noChangeAspect="1"/>
          </p:cNvPicPr>
          <p:nvPr/>
        </p:nvPicPr>
        <p:blipFill>
          <a:blip r:embed="rId3" cstate="print"/>
          <a:stretch>
            <a:fillRect/>
          </a:stretch>
        </p:blipFill>
        <p:spPr>
          <a:xfrm>
            <a:off x="3491880" y="104390"/>
            <a:ext cx="5400600" cy="656173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ncis-Bacon-Self-Portrait-1969-an-example-of-a-mis-aligned-face-C-The-Estate-of.png"/>
          <p:cNvPicPr>
            <a:picLocks noChangeAspect="1"/>
          </p:cNvPicPr>
          <p:nvPr/>
        </p:nvPicPr>
        <p:blipFill>
          <a:blip r:embed="rId3" cstate="print"/>
          <a:stretch>
            <a:fillRect/>
          </a:stretch>
        </p:blipFill>
        <p:spPr>
          <a:xfrm>
            <a:off x="251520" y="188640"/>
            <a:ext cx="5528723" cy="6522087"/>
          </a:xfrm>
          <a:prstGeom prst="rect">
            <a:avLst/>
          </a:prstGeom>
        </p:spPr>
      </p:pic>
      <p:sp>
        <p:nvSpPr>
          <p:cNvPr id="3" name="Rectangle 2"/>
          <p:cNvSpPr/>
          <p:nvPr/>
        </p:nvSpPr>
        <p:spPr>
          <a:xfrm>
            <a:off x="6012160" y="1484784"/>
            <a:ext cx="2550698" cy="369332"/>
          </a:xfrm>
          <a:prstGeom prst="rect">
            <a:avLst/>
          </a:prstGeom>
        </p:spPr>
        <p:txBody>
          <a:bodyPr wrap="none">
            <a:spAutoFit/>
          </a:bodyPr>
          <a:lstStyle/>
          <a:p>
            <a:r>
              <a:rPr lang="hr-HR" b="1" dirty="0" smtClean="0">
                <a:solidFill>
                  <a:srgbClr val="333333"/>
                </a:solidFill>
                <a:latin typeface="Times New Roman" pitchFamily="18" charset="0"/>
                <a:ea typeface="Calibri" pitchFamily="34" charset="0"/>
                <a:cs typeface="Times New Roman" pitchFamily="18" charset="0"/>
              </a:rPr>
              <a:t> 2</a:t>
            </a:r>
            <a:r>
              <a:rPr lang="hr-HR" dirty="0" smtClean="0">
                <a:solidFill>
                  <a:srgbClr val="333333"/>
                </a:solidFill>
                <a:latin typeface="Times New Roman" pitchFamily="18" charset="0"/>
                <a:ea typeface="Calibri" pitchFamily="34" charset="0"/>
                <a:cs typeface="Times New Roman" pitchFamily="18" charset="0"/>
              </a:rPr>
              <a:t>.  </a:t>
            </a:r>
            <a:r>
              <a:rPr lang="hr-HR" dirty="0" smtClean="0">
                <a:solidFill>
                  <a:srgbClr val="333333"/>
                </a:solidFill>
                <a:ea typeface="Calibri" pitchFamily="34" charset="0"/>
                <a:cs typeface="Times New Roman" pitchFamily="18" charset="0"/>
              </a:rPr>
              <a:t>“</a:t>
            </a:r>
            <a:r>
              <a:rPr lang="hr-HR" dirty="0" smtClean="0">
                <a:solidFill>
                  <a:srgbClr val="333333"/>
                </a:solidFill>
                <a:latin typeface="Times New Roman" pitchFamily="18" charset="0"/>
                <a:ea typeface="Calibri" pitchFamily="34" charset="0"/>
                <a:cs typeface="Times New Roman" pitchFamily="18" charset="0"/>
              </a:rPr>
              <a:t>Prezirem svoje lice.</a:t>
            </a:r>
            <a:r>
              <a:rPr lang="hr-HR" dirty="0" smtClean="0">
                <a:solidFill>
                  <a:srgbClr val="333333"/>
                </a:solidFill>
                <a:ea typeface="Calibri" pitchFamily="34" charset="0"/>
                <a:cs typeface="Times New Roman" pitchFamily="18" charset="0"/>
              </a:rPr>
              <a:t>”</a:t>
            </a:r>
            <a:endParaRPr lang="hr-HR" dirty="0"/>
          </a:p>
        </p:txBody>
      </p:sp>
      <p:sp>
        <p:nvSpPr>
          <p:cNvPr id="1025" name="Rectangle 1"/>
          <p:cNvSpPr>
            <a:spLocks noChangeArrowheads="1"/>
          </p:cNvSpPr>
          <p:nvPr/>
        </p:nvSpPr>
        <p:spPr bwMode="auto">
          <a:xfrm>
            <a:off x="5831632" y="6093296"/>
            <a:ext cx="3312368"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r-HR" sz="1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Francis Bacon, </a:t>
            </a:r>
            <a:r>
              <a:rPr kumimoji="0" lang="hr-HR" sz="1200"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Autoportret,</a:t>
            </a:r>
            <a:r>
              <a:rPr kumimoji="0" lang="hr-HR" sz="1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1969., ulje na platnu, 35,5x30,5cm, u privatnoj kolekciji</a:t>
            </a:r>
            <a:endParaRPr kumimoji="0" lang="hr-HR" sz="1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79512" y="548680"/>
            <a:ext cx="2520280" cy="864096"/>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 name="Rectangle 4"/>
          <p:cNvSpPr/>
          <p:nvPr/>
        </p:nvSpPr>
        <p:spPr>
          <a:xfrm>
            <a:off x="323528" y="2492896"/>
            <a:ext cx="2736304" cy="1368152"/>
          </a:xfrm>
          <a:prstGeom prst="rect">
            <a:avLst/>
          </a:prstGeom>
          <a:solidFill>
            <a:srgbClr val="EEE792"/>
          </a:solidFill>
          <a:ln>
            <a:solidFill>
              <a:srgbClr val="EEE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2" name="Picture 1" descr="preuzimanje (2).jpg"/>
          <p:cNvPicPr>
            <a:picLocks noChangeAspect="1"/>
          </p:cNvPicPr>
          <p:nvPr/>
        </p:nvPicPr>
        <p:blipFill>
          <a:blip r:embed="rId3" cstate="print"/>
          <a:stretch>
            <a:fillRect/>
          </a:stretch>
        </p:blipFill>
        <p:spPr>
          <a:xfrm>
            <a:off x="3347864" y="116632"/>
            <a:ext cx="5544616" cy="6565992"/>
          </a:xfrm>
          <a:prstGeom prst="rect">
            <a:avLst/>
          </a:prstGeom>
        </p:spPr>
      </p:pic>
      <p:sp>
        <p:nvSpPr>
          <p:cNvPr id="3" name="Rectangle 2"/>
          <p:cNvSpPr/>
          <p:nvPr/>
        </p:nvSpPr>
        <p:spPr>
          <a:xfrm>
            <a:off x="467544" y="6093296"/>
            <a:ext cx="2699792" cy="430887"/>
          </a:xfrm>
          <a:prstGeom prst="rect">
            <a:avLst/>
          </a:prstGeom>
        </p:spPr>
        <p:txBody>
          <a:bodyPr wrap="square">
            <a:spAutoFit/>
          </a:bodyPr>
          <a:lstStyle/>
          <a:p>
            <a:pPr algn="just"/>
            <a:r>
              <a:rPr lang="hr-HR" sz="1100" dirty="0" smtClean="0">
                <a:latin typeface="Times New Roman" pitchFamily="18" charset="0"/>
                <a:cs typeface="Times New Roman" pitchFamily="18" charset="0"/>
              </a:rPr>
              <a:t>Jenny Saville, </a:t>
            </a:r>
            <a:r>
              <a:rPr lang="hr-HR" sz="1100" i="1" dirty="0" smtClean="0">
                <a:latin typeface="Times New Roman" pitchFamily="18" charset="0"/>
                <a:cs typeface="Times New Roman" pitchFamily="18" charset="0"/>
              </a:rPr>
              <a:t>Propped, </a:t>
            </a:r>
            <a:r>
              <a:rPr lang="hr-HR" sz="1100" dirty="0" smtClean="0">
                <a:latin typeface="Times New Roman" pitchFamily="18" charset="0"/>
                <a:cs typeface="Times New Roman" pitchFamily="18" charset="0"/>
              </a:rPr>
              <a:t>1992., ulje na platnu, 2,13x1,83m</a:t>
            </a:r>
            <a:endParaRPr lang="hr-HR" sz="1100" dirty="0">
              <a:latin typeface="Times New Roman" pitchFamily="18" charset="0"/>
              <a:cs typeface="Times New Roman" pitchFamily="18" charset="0"/>
            </a:endParaRPr>
          </a:p>
        </p:txBody>
      </p:sp>
      <p:sp>
        <p:nvSpPr>
          <p:cNvPr id="4" name="Rectangle 3"/>
          <p:cNvSpPr/>
          <p:nvPr/>
        </p:nvSpPr>
        <p:spPr>
          <a:xfrm>
            <a:off x="395536" y="2564904"/>
            <a:ext cx="2574032" cy="1200329"/>
          </a:xfrm>
          <a:prstGeom prst="rect">
            <a:avLst/>
          </a:prstGeom>
        </p:spPr>
        <p:txBody>
          <a:bodyPr wrap="square">
            <a:spAutoFit/>
          </a:bodyPr>
          <a:lstStyle/>
          <a:p>
            <a:pPr algn="just"/>
            <a:r>
              <a:rPr lang="hr-HR" dirty="0" smtClean="0">
                <a:latin typeface="Times New Roman" pitchFamily="18" charset="0"/>
                <a:cs typeface="Times New Roman" pitchFamily="18" charset="0"/>
              </a:rPr>
              <a:t>Koje sve doživljaje i asocijacije vežete uz prikaz nagog tijela u umjetnosti.</a:t>
            </a:r>
            <a:endParaRPr lang="hr-HR" dirty="0">
              <a:latin typeface="Times New Roman" pitchFamily="18" charset="0"/>
              <a:cs typeface="Times New Roman" pitchFamily="18" charset="0"/>
            </a:endParaRPr>
          </a:p>
        </p:txBody>
      </p:sp>
      <p:sp>
        <p:nvSpPr>
          <p:cNvPr id="6" name="Rectangle 5"/>
          <p:cNvSpPr/>
          <p:nvPr/>
        </p:nvSpPr>
        <p:spPr>
          <a:xfrm>
            <a:off x="179512" y="548680"/>
            <a:ext cx="2520280" cy="707886"/>
          </a:xfrm>
          <a:prstGeom prst="rect">
            <a:avLst/>
          </a:prstGeom>
        </p:spPr>
        <p:txBody>
          <a:bodyPr wrap="square">
            <a:spAutoFit/>
          </a:bodyPr>
          <a:lstStyle/>
          <a:p>
            <a:pPr algn="just"/>
            <a:r>
              <a:rPr lang="hr-HR" sz="2000" b="1" dirty="0" smtClean="0">
                <a:latin typeface="Times New Roman" pitchFamily="18" charset="0"/>
                <a:cs typeface="Times New Roman" pitchFamily="18" charset="0"/>
              </a:rPr>
              <a:t>AKT</a:t>
            </a:r>
            <a:r>
              <a:rPr lang="hr-HR" sz="2000" dirty="0" smtClean="0">
                <a:latin typeface="Times New Roman" pitchFamily="18" charset="0"/>
                <a:cs typeface="Times New Roman" pitchFamily="18" charset="0"/>
              </a:rPr>
              <a:t> je prikaz nagog ljudskog tijela.</a:t>
            </a:r>
            <a:endParaRPr lang="hr-HR" sz="2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1" nodeType="clickEffect">
                                  <p:stCondLst>
                                    <p:cond delay="0"/>
                                  </p:stCondLst>
                                  <p:childTnLst>
                                    <p:animEffect transition="out" filter="blinds(horizontal)">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par>
                                <p:cTn id="16" presetID="3" presetClass="exit" presetSubtype="10" fill="hold" grpId="1" nodeType="withEffect">
                                  <p:stCondLst>
                                    <p:cond delay="0"/>
                                  </p:stCondLst>
                                  <p:childTnLst>
                                    <p:animEffect transition="out" filter="blinds(horizontal)">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0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P spid="5" grpId="1" animBg="1"/>
      <p:bldP spid="4" grpId="0"/>
      <p:bldP spid="4" grpId="1"/>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stricted.jpg"/>
          <p:cNvPicPr>
            <a:picLocks noChangeAspect="1"/>
          </p:cNvPicPr>
          <p:nvPr/>
        </p:nvPicPr>
        <p:blipFill>
          <a:blip r:embed="rId3" cstate="print"/>
          <a:stretch>
            <a:fillRect/>
          </a:stretch>
        </p:blipFill>
        <p:spPr>
          <a:xfrm>
            <a:off x="179512" y="692696"/>
            <a:ext cx="5194314" cy="4865339"/>
          </a:xfrm>
          <a:prstGeom prst="rect">
            <a:avLst/>
          </a:prstGeom>
        </p:spPr>
      </p:pic>
      <p:pic>
        <p:nvPicPr>
          <p:cNvPr id="5" name="Picture 4" descr="300px-Venus_von_Willendorf_01.jpg"/>
          <p:cNvPicPr>
            <a:picLocks noChangeAspect="1"/>
          </p:cNvPicPr>
          <p:nvPr/>
        </p:nvPicPr>
        <p:blipFill>
          <a:blip r:embed="rId4" cstate="print"/>
          <a:stretch>
            <a:fillRect/>
          </a:stretch>
        </p:blipFill>
        <p:spPr>
          <a:xfrm>
            <a:off x="6156176" y="908720"/>
            <a:ext cx="2232248" cy="4196628"/>
          </a:xfrm>
          <a:prstGeom prst="rect">
            <a:avLst/>
          </a:prstGeom>
        </p:spPr>
      </p:pic>
      <p:sp>
        <p:nvSpPr>
          <p:cNvPr id="9" name="TextBox 8"/>
          <p:cNvSpPr txBox="1"/>
          <p:nvPr/>
        </p:nvSpPr>
        <p:spPr>
          <a:xfrm>
            <a:off x="6228184" y="5661248"/>
            <a:ext cx="2304256" cy="738664"/>
          </a:xfrm>
          <a:prstGeom prst="rect">
            <a:avLst/>
          </a:prstGeom>
          <a:noFill/>
        </p:spPr>
        <p:txBody>
          <a:bodyPr wrap="square" rtlCol="0">
            <a:spAutoFit/>
          </a:bodyPr>
          <a:lstStyle/>
          <a:p>
            <a:pPr algn="just"/>
            <a:r>
              <a:rPr lang="hr-HR" sz="1050" i="1" dirty="0" smtClean="0">
                <a:latin typeface="Times New Roman" pitchFamily="18" charset="0"/>
                <a:cs typeface="Times New Roman" pitchFamily="18" charset="0"/>
              </a:rPr>
              <a:t>Venera iz Willendorfa, </a:t>
            </a:r>
            <a:r>
              <a:rPr lang="hr-HR" sz="1050" dirty="0" smtClean="0">
                <a:latin typeface="Times New Roman" pitchFamily="18" charset="0"/>
                <a:cs typeface="Times New Roman" pitchFamily="18" charset="0"/>
              </a:rPr>
              <a:t>nepoznat autor, oko 25000. pr. Kr. - 21000. pr. Kr., vapnenac, 11,5 cm, Prirodoslovno-povijesni muzej, Beč</a:t>
            </a:r>
            <a:endParaRPr lang="hr-HR" sz="1050" dirty="0">
              <a:latin typeface="Times New Roman" pitchFamily="18" charset="0"/>
              <a:cs typeface="Times New Roman" pitchFamily="18" charset="0"/>
            </a:endParaRPr>
          </a:p>
        </p:txBody>
      </p:sp>
      <p:sp>
        <p:nvSpPr>
          <p:cNvPr id="13" name="TextBox 12"/>
          <p:cNvSpPr txBox="1"/>
          <p:nvPr/>
        </p:nvSpPr>
        <p:spPr>
          <a:xfrm>
            <a:off x="251520" y="5805264"/>
            <a:ext cx="4104456" cy="253916"/>
          </a:xfrm>
          <a:prstGeom prst="rect">
            <a:avLst/>
          </a:prstGeom>
          <a:noFill/>
        </p:spPr>
        <p:txBody>
          <a:bodyPr wrap="square" rtlCol="0">
            <a:spAutoFit/>
          </a:bodyPr>
          <a:lstStyle/>
          <a:p>
            <a:pPr algn="just"/>
            <a:r>
              <a:rPr lang="hr-HR" sz="1050" dirty="0" smtClean="0">
                <a:latin typeface="Times New Roman" pitchFamily="18" charset="0"/>
                <a:cs typeface="Times New Roman" pitchFamily="18" charset="0"/>
              </a:rPr>
              <a:t>Irving Penn, </a:t>
            </a:r>
            <a:r>
              <a:rPr lang="hr-HR" sz="1050" i="1" dirty="0" smtClean="0">
                <a:latin typeface="Times New Roman" pitchFamily="18" charset="0"/>
                <a:cs typeface="Times New Roman" pitchFamily="18" charset="0"/>
              </a:rPr>
              <a:t>Akt br.72</a:t>
            </a:r>
            <a:r>
              <a:rPr lang="hr-HR" sz="1050" dirty="0" smtClean="0">
                <a:latin typeface="Times New Roman" pitchFamily="18" charset="0"/>
                <a:cs typeface="Times New Roman" pitchFamily="18" charset="0"/>
              </a:rPr>
              <a:t>, 1949-50., New York, fotografija </a:t>
            </a:r>
            <a:endParaRPr lang="hr-HR" sz="105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 name="Picture 1" descr="97784b984e71c8017eaba9738756e96a.jpg"/>
          <p:cNvPicPr>
            <a:picLocks noChangeAspect="1"/>
          </p:cNvPicPr>
          <p:nvPr/>
        </p:nvPicPr>
        <p:blipFill>
          <a:blip r:embed="rId3" cstate="print"/>
          <a:stretch>
            <a:fillRect/>
          </a:stretch>
        </p:blipFill>
        <p:spPr>
          <a:xfrm>
            <a:off x="107504" y="1090465"/>
            <a:ext cx="4752528" cy="3717863"/>
          </a:xfrm>
          <a:prstGeom prst="rect">
            <a:avLst/>
          </a:prstGeom>
        </p:spPr>
      </p:pic>
      <p:sp>
        <p:nvSpPr>
          <p:cNvPr id="6" name="TextBox 5"/>
          <p:cNvSpPr txBox="1"/>
          <p:nvPr/>
        </p:nvSpPr>
        <p:spPr>
          <a:xfrm>
            <a:off x="179512" y="4869160"/>
            <a:ext cx="4536504" cy="415498"/>
          </a:xfrm>
          <a:prstGeom prst="rect">
            <a:avLst/>
          </a:prstGeom>
          <a:noFill/>
        </p:spPr>
        <p:txBody>
          <a:bodyPr wrap="square" rtlCol="0">
            <a:spAutoFit/>
          </a:bodyPr>
          <a:lstStyle/>
          <a:p>
            <a:pPr algn="just"/>
            <a:r>
              <a:rPr lang="en-US" sz="1000" dirty="0" smtClean="0">
                <a:latin typeface="Times New Roman" pitchFamily="18" charset="0"/>
                <a:cs typeface="Times New Roman" pitchFamily="18" charset="0"/>
              </a:rPr>
              <a:t>Ron </a:t>
            </a:r>
            <a:r>
              <a:rPr lang="en-US" sz="1000" dirty="0" err="1" smtClean="0">
                <a:latin typeface="Times New Roman" pitchFamily="18" charset="0"/>
                <a:cs typeface="Times New Roman" pitchFamily="18" charset="0"/>
              </a:rPr>
              <a:t>Mueck</a:t>
            </a:r>
            <a:r>
              <a:rPr lang="en-US" sz="1000" dirty="0" smtClean="0">
                <a:latin typeface="Times New Roman" pitchFamily="18" charset="0"/>
                <a:cs typeface="Times New Roman" pitchFamily="18" charset="0"/>
              </a:rPr>
              <a:t>, </a:t>
            </a:r>
            <a:r>
              <a:rPr lang="hr-HR" sz="1000" i="1" dirty="0" smtClean="0">
                <a:latin typeface="Times New Roman" pitchFamily="18" charset="0"/>
                <a:cs typeface="Times New Roman" pitchFamily="18" charset="0"/>
              </a:rPr>
              <a:t>Bez naslova</a:t>
            </a:r>
            <a:r>
              <a:rPr lang="en-US" sz="1000" i="1" dirty="0" smtClean="0">
                <a:latin typeface="Times New Roman" pitchFamily="18" charset="0"/>
                <a:cs typeface="Times New Roman" pitchFamily="18" charset="0"/>
              </a:rPr>
              <a:t> (</a:t>
            </a:r>
            <a:r>
              <a:rPr lang="hr-HR" sz="1000" i="1" dirty="0" smtClean="0">
                <a:latin typeface="Times New Roman" pitchFamily="18" charset="0"/>
                <a:cs typeface="Times New Roman" pitchFamily="18" charset="0"/>
              </a:rPr>
              <a:t>Veliki muškarac</a:t>
            </a:r>
            <a:r>
              <a:rPr lang="en-US" sz="1000" i="1" dirty="0" smtClean="0">
                <a:latin typeface="Times New Roman" pitchFamily="18" charset="0"/>
                <a:cs typeface="Times New Roman" pitchFamily="18" charset="0"/>
              </a:rPr>
              <a:t>), </a:t>
            </a:r>
            <a:r>
              <a:rPr lang="en-US" sz="1000" dirty="0" smtClean="0">
                <a:latin typeface="Times New Roman" pitchFamily="18" charset="0"/>
                <a:cs typeface="Times New Roman" pitchFamily="18" charset="0"/>
              </a:rPr>
              <a:t>2000</a:t>
            </a:r>
            <a:r>
              <a:rPr lang="hr-HR" sz="1000" dirty="0" smtClean="0">
                <a:latin typeface="Times New Roman" pitchFamily="18" charset="0"/>
                <a:cs typeface="Times New Roman" pitchFamily="18" charset="0"/>
              </a:rPr>
              <a:t>., pigmentirana poliesterska smola na stakloplastici, 2,03x1,20x2,4 m</a:t>
            </a:r>
            <a:endParaRPr lang="hr-HR" sz="1000" dirty="0">
              <a:latin typeface="Times New Roman" pitchFamily="18" charset="0"/>
              <a:cs typeface="Times New Roman" pitchFamily="18" charset="0"/>
            </a:endParaRPr>
          </a:p>
        </p:txBody>
      </p:sp>
      <p:pic>
        <p:nvPicPr>
          <p:cNvPr id="7" name="Picture 6" descr="david-sculpture-3.jpg"/>
          <p:cNvPicPr>
            <a:picLocks noChangeAspect="1"/>
          </p:cNvPicPr>
          <p:nvPr/>
        </p:nvPicPr>
        <p:blipFill>
          <a:blip r:embed="rId4" cstate="print"/>
          <a:stretch>
            <a:fillRect/>
          </a:stretch>
        </p:blipFill>
        <p:spPr>
          <a:xfrm>
            <a:off x="5004048" y="188640"/>
            <a:ext cx="3984443" cy="5976664"/>
          </a:xfrm>
          <a:prstGeom prst="rect">
            <a:avLst/>
          </a:prstGeom>
        </p:spPr>
      </p:pic>
      <p:sp>
        <p:nvSpPr>
          <p:cNvPr id="11" name="TextBox 10"/>
          <p:cNvSpPr txBox="1"/>
          <p:nvPr/>
        </p:nvSpPr>
        <p:spPr>
          <a:xfrm>
            <a:off x="5004048" y="6165304"/>
            <a:ext cx="3923928" cy="415498"/>
          </a:xfrm>
          <a:prstGeom prst="rect">
            <a:avLst/>
          </a:prstGeom>
          <a:noFill/>
        </p:spPr>
        <p:txBody>
          <a:bodyPr wrap="square" rtlCol="0">
            <a:spAutoFit/>
          </a:bodyPr>
          <a:lstStyle/>
          <a:p>
            <a:pPr algn="just"/>
            <a:r>
              <a:rPr lang="it-IT" sz="1000" dirty="0" smtClean="0">
                <a:latin typeface="Times New Roman" pitchFamily="18" charset="0"/>
                <a:cs typeface="Times New Roman" pitchFamily="18" charset="0"/>
              </a:rPr>
              <a:t>Michelangelo di Lodovico Buonarroti Simoni </a:t>
            </a:r>
            <a:r>
              <a:rPr lang="hr-HR" sz="1000" dirty="0" smtClean="0">
                <a:latin typeface="Times New Roman" pitchFamily="18" charset="0"/>
                <a:cs typeface="Times New Roman" pitchFamily="18" charset="0"/>
              </a:rPr>
              <a:t>,</a:t>
            </a:r>
            <a:r>
              <a:rPr lang="it-IT" sz="1000" dirty="0" smtClean="0">
                <a:latin typeface="Times New Roman" pitchFamily="18" charset="0"/>
                <a:cs typeface="Times New Roman" pitchFamily="18" charset="0"/>
              </a:rPr>
              <a:t> </a:t>
            </a:r>
            <a:r>
              <a:rPr lang="hr-HR" sz="1000" i="1" dirty="0" smtClean="0">
                <a:latin typeface="Times New Roman" pitchFamily="18" charset="0"/>
                <a:cs typeface="Times New Roman" pitchFamily="18" charset="0"/>
              </a:rPr>
              <a:t>David, </a:t>
            </a:r>
            <a:r>
              <a:rPr lang="hr-HR" sz="1000" dirty="0" smtClean="0">
                <a:latin typeface="Times New Roman" pitchFamily="18" charset="0"/>
                <a:cs typeface="Times New Roman" pitchFamily="18" charset="0"/>
              </a:rPr>
              <a:t>1504., mramor, 5,17m, Galerija Akademije, Firenca</a:t>
            </a:r>
            <a:endParaRPr lang="hr-HR" sz="1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mislav-Gotovac-2.jpg"/>
          <p:cNvPicPr>
            <a:picLocks noChangeAspect="1"/>
          </p:cNvPicPr>
          <p:nvPr/>
        </p:nvPicPr>
        <p:blipFill>
          <a:blip r:embed="rId3" cstate="print"/>
          <a:stretch>
            <a:fillRect/>
          </a:stretch>
        </p:blipFill>
        <p:spPr>
          <a:xfrm>
            <a:off x="99794" y="908720"/>
            <a:ext cx="8892989" cy="4680520"/>
          </a:xfrm>
          <a:prstGeom prst="rect">
            <a:avLst/>
          </a:prstGeom>
        </p:spPr>
      </p:pic>
      <p:sp>
        <p:nvSpPr>
          <p:cNvPr id="3" name="Rectangle 2"/>
          <p:cNvSpPr/>
          <p:nvPr/>
        </p:nvSpPr>
        <p:spPr>
          <a:xfrm>
            <a:off x="179512" y="5661248"/>
            <a:ext cx="3600400" cy="830997"/>
          </a:xfrm>
          <a:prstGeom prst="rect">
            <a:avLst/>
          </a:prstGeom>
        </p:spPr>
        <p:txBody>
          <a:bodyPr wrap="square">
            <a:spAutoFit/>
          </a:bodyPr>
          <a:lstStyle/>
          <a:p>
            <a:pPr algn="just"/>
            <a:r>
              <a:rPr lang="hr-HR" sz="1200" dirty="0" smtClean="0">
                <a:latin typeface="Times New Roman" pitchFamily="18" charset="0"/>
                <a:cs typeface="Times New Roman" pitchFamily="18" charset="0"/>
              </a:rPr>
              <a:t>Tomislav Gotovac, </a:t>
            </a:r>
            <a:r>
              <a:rPr lang="hr-HR" sz="1200" i="1" dirty="0" smtClean="0">
                <a:latin typeface="Times New Roman" pitchFamily="18" charset="0"/>
                <a:cs typeface="Times New Roman" pitchFamily="18" charset="0"/>
              </a:rPr>
              <a:t>Ležanje gol na asfaltu, ljubljenje asfalta (Zagreb, volim te…). Hommage Howardu Hawksu i njegovu filmu Hatari!,</a:t>
            </a:r>
            <a:r>
              <a:rPr lang="hr-HR" sz="1200" dirty="0" smtClean="0">
                <a:latin typeface="Times New Roman" pitchFamily="18" charset="0"/>
                <a:cs typeface="Times New Roman" pitchFamily="18" charset="0"/>
              </a:rPr>
              <a:t>1981., Trg bana Josipa Jelačića, performans</a:t>
            </a:r>
            <a:endParaRPr lang="hr-HR" sz="1200" dirty="0">
              <a:latin typeface="Times New Roman" pitchFamily="18" charset="0"/>
              <a:cs typeface="Times New Roman" pitchFamily="18" charset="0"/>
            </a:endParaRPr>
          </a:p>
        </p:txBody>
      </p:sp>
      <p:sp>
        <p:nvSpPr>
          <p:cNvPr id="4" name="TextBox 3"/>
          <p:cNvSpPr txBox="1"/>
          <p:nvPr/>
        </p:nvSpPr>
        <p:spPr>
          <a:xfrm>
            <a:off x="323528" y="188640"/>
            <a:ext cx="8136904" cy="646331"/>
          </a:xfrm>
          <a:prstGeom prst="rect">
            <a:avLst/>
          </a:prstGeom>
          <a:noFill/>
        </p:spPr>
        <p:txBody>
          <a:bodyPr wrap="square" rtlCol="0">
            <a:spAutoFit/>
          </a:bodyPr>
          <a:lstStyle/>
          <a:p>
            <a:pPr algn="just"/>
            <a:r>
              <a:rPr lang="hr-HR" b="1" dirty="0" smtClean="0">
                <a:latin typeface="Times New Roman" pitchFamily="18" charset="0"/>
                <a:cs typeface="Times New Roman" pitchFamily="18" charset="0"/>
              </a:rPr>
              <a:t>PERFORMANS</a:t>
            </a:r>
            <a:r>
              <a:rPr lang="hr-HR" dirty="0" smtClean="0">
                <a:latin typeface="Times New Roman" pitchFamily="18" charset="0"/>
                <a:cs typeface="Times New Roman" pitchFamily="18" charset="0"/>
              </a:rPr>
              <a:t> je događaj u kojem jedna ili više osoba izvodi neku akciju, performans sadrži scenske elemente.</a:t>
            </a:r>
            <a:endParaRPr lang="hr-HR"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23528" y="260648"/>
            <a:ext cx="8388424" cy="738664"/>
          </a:xfrm>
          <a:prstGeom prst="rect">
            <a:avLst/>
          </a:prstGeom>
        </p:spPr>
        <p:txBody>
          <a:bodyPr wrap="square">
            <a:spAutoFit/>
          </a:bodyPr>
          <a:lstStyle/>
          <a:p>
            <a:pPr algn="just"/>
            <a:r>
              <a:rPr lang="hr-HR" sz="1400" dirty="0" smtClean="0">
                <a:latin typeface="Times New Roman" pitchFamily="18" charset="0"/>
                <a:cs typeface="Times New Roman" pitchFamily="18" charset="0"/>
              </a:rPr>
              <a:t>ZADATAK: Ispunite i dovršite mentalnu mapu. </a:t>
            </a:r>
            <a:r>
              <a:rPr lang="vi-VN" sz="1400" dirty="0" smtClean="0">
                <a:latin typeface="Times New Roman" pitchFamily="18" charset="0"/>
                <a:cs typeface="Times New Roman" pitchFamily="18" charset="0"/>
              </a:rPr>
              <a:t>U središtu mape navodi se glavna tema iz koje se granaju podteme. Iz svake podteme proizlaze pojedinosti.  Na grane podtema pišu se riječi, vrlo kratke rečenice, simboli i znakovi koji objašnjavaju  podtemu</a:t>
            </a:r>
            <a:r>
              <a:rPr lang="hr-HR" sz="1400" dirty="0" smtClean="0">
                <a:latin typeface="Times New Roman" pitchFamily="18" charset="0"/>
                <a:cs typeface="Times New Roman" pitchFamily="18" charset="0"/>
              </a:rPr>
              <a:t>. U mentalnu mapu uvrstite </a:t>
            </a:r>
            <a:r>
              <a:rPr lang="hr-HR" sz="1400" b="1" dirty="0" smtClean="0">
                <a:latin typeface="Times New Roman" pitchFamily="18" charset="0"/>
                <a:cs typeface="Times New Roman" pitchFamily="18" charset="0"/>
              </a:rPr>
              <a:t>vlastite asocijacije</a:t>
            </a:r>
            <a:r>
              <a:rPr lang="hr-HR" sz="1400" dirty="0" smtClean="0">
                <a:latin typeface="Times New Roman" pitchFamily="18" charset="0"/>
                <a:cs typeface="Times New Roman" pitchFamily="18" charset="0"/>
              </a:rPr>
              <a:t> i </a:t>
            </a:r>
            <a:r>
              <a:rPr lang="hr-HR" sz="1400" b="1" dirty="0" smtClean="0">
                <a:latin typeface="Times New Roman" pitchFamily="18" charset="0"/>
                <a:cs typeface="Times New Roman" pitchFamily="18" charset="0"/>
              </a:rPr>
              <a:t>ideje</a:t>
            </a:r>
            <a:r>
              <a:rPr lang="hr-HR" sz="1400" dirty="0" smtClean="0">
                <a:latin typeface="Times New Roman" pitchFamily="18" charset="0"/>
                <a:cs typeface="Times New Roman" pitchFamily="18" charset="0"/>
              </a:rPr>
              <a:t>. </a:t>
            </a:r>
            <a:endParaRPr lang="hr-HR" sz="1400" dirty="0">
              <a:latin typeface="Times New Roman" pitchFamily="18" charset="0"/>
              <a:cs typeface="Times New Roman" pitchFamily="18" charset="0"/>
            </a:endParaRPr>
          </a:p>
        </p:txBody>
      </p:sp>
      <p:pic>
        <p:nvPicPr>
          <p:cNvPr id="4" name="Picture 3" descr="Screenshot (96).png"/>
          <p:cNvPicPr>
            <a:picLocks noChangeAspect="1"/>
          </p:cNvPicPr>
          <p:nvPr/>
        </p:nvPicPr>
        <p:blipFill>
          <a:blip r:embed="rId3" cstate="print"/>
          <a:srcRect l="9051" t="16400" r="18500" b="15001"/>
          <a:stretch>
            <a:fillRect/>
          </a:stretch>
        </p:blipFill>
        <p:spPr>
          <a:xfrm>
            <a:off x="179512" y="1268760"/>
            <a:ext cx="8784976" cy="467895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4372</TotalTime>
  <Words>3172</Words>
  <Application>Microsoft Office PowerPoint</Application>
  <PresentationFormat>On-screen Show (4:3)</PresentationFormat>
  <Paragraphs>121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PowerPoint Presentation</vt:lpstr>
      <vt:lpstr>Pronađite u svom mobitelu fotografije koje prikazuju teme iz vašeg svakodnevnog života. Što se na njima nalazi?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Pronađite u svom mobitelu fotografije koje prikazuju teme iz vašeg svakodnevnog života.</dc:title>
  <dc:creator>user</dc:creator>
  <cp:lastModifiedBy>Maja Bachler</cp:lastModifiedBy>
  <cp:revision>292</cp:revision>
  <dcterms:created xsi:type="dcterms:W3CDTF">2020-11-20T11:02:52Z</dcterms:created>
  <dcterms:modified xsi:type="dcterms:W3CDTF">2021-03-16T14:41:11Z</dcterms:modified>
</cp:coreProperties>
</file>