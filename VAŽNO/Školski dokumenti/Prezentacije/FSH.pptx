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 smtClean="0"/>
              <a:t>Kliknite da biste uredili stil podnaslova matrice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ED12-AED7-4E77-92F7-A06551CD3891}" type="datetimeFigureOut">
              <a:rPr lang="hr-HR" smtClean="0"/>
              <a:t>18.12.2024.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DD87-8BE1-4795-B7BD-9CBDAF5B5C4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6099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ED12-AED7-4E77-92F7-A06551CD3891}" type="datetimeFigureOut">
              <a:rPr lang="hr-HR" smtClean="0"/>
              <a:t>18.12.2024.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DD87-8BE1-4795-B7BD-9CBDAF5B5C4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71946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ED12-AED7-4E77-92F7-A06551CD3891}" type="datetimeFigureOut">
              <a:rPr lang="hr-HR" smtClean="0"/>
              <a:t>18.12.2024.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DD87-8BE1-4795-B7BD-9CBDAF5B5C4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27121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ED12-AED7-4E77-92F7-A06551CD3891}" type="datetimeFigureOut">
              <a:rPr lang="hr-HR" smtClean="0"/>
              <a:t>18.12.2024.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DD87-8BE1-4795-B7BD-9CBDAF5B5C4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67608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5" name="Rezervirano mjesto teksta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6" name="Rezervirano mjesto sadržaja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7" name="Rezervirano mjesto datum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ED12-AED7-4E77-92F7-A06551CD3891}" type="datetimeFigureOut">
              <a:rPr lang="hr-HR" smtClean="0"/>
              <a:t>18.12.2024.</a:t>
            </a:fld>
            <a:endParaRPr lang="hr-HR"/>
          </a:p>
        </p:txBody>
      </p:sp>
      <p:sp>
        <p:nvSpPr>
          <p:cNvPr id="8" name="Rezervirano mjesto podnožj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DD87-8BE1-4795-B7BD-9CBDAF5B5C4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5587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ED12-AED7-4E77-92F7-A06551CD3891}" type="datetimeFigureOut">
              <a:rPr lang="hr-HR" smtClean="0"/>
              <a:t>18.12.2024.</a:t>
            </a:fld>
            <a:endParaRPr lang="hr-HR"/>
          </a:p>
        </p:txBody>
      </p:sp>
      <p:sp>
        <p:nvSpPr>
          <p:cNvPr id="4" name="Rezervirano mjesto podnožj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DD87-8BE1-4795-B7BD-9CBDAF5B5C4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90884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ED12-AED7-4E77-92F7-A06551CD3891}" type="datetimeFigureOut">
              <a:rPr lang="hr-HR" smtClean="0"/>
              <a:t>18.12.2024.</a:t>
            </a:fld>
            <a:endParaRPr lang="hr-HR"/>
          </a:p>
        </p:txBody>
      </p:sp>
      <p:sp>
        <p:nvSpPr>
          <p:cNvPr id="3" name="Rezervirano mjesto podnožj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DD87-8BE1-4795-B7BD-9CBDAF5B5C4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8101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ED12-AED7-4E77-92F7-A06551CD3891}" type="datetimeFigureOut">
              <a:rPr lang="hr-HR" smtClean="0"/>
              <a:t>18.12.2024.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DD87-8BE1-4795-B7BD-9CBDAF5B5C4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89564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lik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ED12-AED7-4E77-92F7-A06551CD3891}" type="datetimeFigureOut">
              <a:rPr lang="hr-HR" smtClean="0"/>
              <a:t>18.12.2024.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DD87-8BE1-4795-B7BD-9CBDAF5B5C4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48449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ED12-AED7-4E77-92F7-A06551CD3891}" type="datetimeFigureOut">
              <a:rPr lang="hr-HR" smtClean="0"/>
              <a:t>18.12.2024.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DD87-8BE1-4795-B7BD-9CBDAF5B5C4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06316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ED12-AED7-4E77-92F7-A06551CD3891}" type="datetimeFigureOut">
              <a:rPr lang="hr-HR" smtClean="0"/>
              <a:t>18.12.2024.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DD87-8BE1-4795-B7BD-9CBDAF5B5C4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6757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ED12-AED7-4E77-92F7-A06551CD3891}" type="datetimeFigureOut">
              <a:rPr lang="hr-HR" smtClean="0"/>
              <a:t>18.12.2024.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1DD87-8BE1-4795-B7BD-9CBDAF5B5C4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4416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r.wikipedia.org/wiki/Folikulostimuliraju%C4%87i_hormon" TargetMode="External"/><Relationship Id="rId2" Type="http://schemas.openxmlformats.org/officeDocument/2006/relationships/hyperlink" Target="https://en.wikipedia.org/wiki/Follicle-stimulating_hormon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Sertoli_cel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 smtClean="0"/>
              <a:t>FSH</a:t>
            </a:r>
            <a:endParaRPr lang="hr-HR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 smtClean="0"/>
              <a:t>Matej </a:t>
            </a:r>
            <a:r>
              <a:rPr lang="hr-HR" dirty="0" err="1" smtClean="0"/>
              <a:t>Mašić</a:t>
            </a:r>
            <a:r>
              <a:rPr lang="hr-HR" dirty="0" smtClean="0"/>
              <a:t>, Lovro Oreški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9777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Općenito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>
          <a:xfrm>
            <a:off x="167054" y="1825624"/>
            <a:ext cx="5852746" cy="4874113"/>
          </a:xfrm>
        </p:spPr>
        <p:txBody>
          <a:bodyPr/>
          <a:lstStyle/>
          <a:p>
            <a:r>
              <a:rPr lang="hr-HR" dirty="0" smtClean="0"/>
              <a:t>FSH (</a:t>
            </a:r>
            <a:r>
              <a:rPr lang="hr-HR" dirty="0" err="1" smtClean="0"/>
              <a:t>folikostimulirajući</a:t>
            </a:r>
            <a:r>
              <a:rPr lang="hr-HR" dirty="0" smtClean="0"/>
              <a:t> hormon) nastaje u prednjem režnju hipofize</a:t>
            </a:r>
          </a:p>
          <a:p>
            <a:r>
              <a:rPr lang="hr-HR" dirty="0" err="1" smtClean="0"/>
              <a:t>Gonadotropin</a:t>
            </a:r>
            <a:endParaRPr lang="hr-HR" dirty="0" smtClean="0"/>
          </a:p>
          <a:p>
            <a:r>
              <a:rPr lang="hr-HR" dirty="0" err="1" smtClean="0"/>
              <a:t>Glikoprotein</a:t>
            </a:r>
            <a:endParaRPr lang="hr-HR" dirty="0"/>
          </a:p>
          <a:p>
            <a:r>
              <a:rPr lang="hr-HR" dirty="0"/>
              <a:t>G</a:t>
            </a:r>
            <a:r>
              <a:rPr lang="hr-HR" dirty="0" smtClean="0"/>
              <a:t>rađen je od dva </a:t>
            </a:r>
            <a:r>
              <a:rPr lang="hr-HR" dirty="0" err="1" smtClean="0"/>
              <a:t>polipeptidna</a:t>
            </a:r>
            <a:r>
              <a:rPr lang="hr-HR" dirty="0" smtClean="0"/>
              <a:t> lanca</a:t>
            </a:r>
          </a:p>
          <a:p>
            <a:r>
              <a:rPr lang="hr-HR" dirty="0" smtClean="0"/>
              <a:t>Na krajevima lanaca je šećerni dio</a:t>
            </a:r>
          </a:p>
        </p:txBody>
      </p:sp>
      <p:pic>
        <p:nvPicPr>
          <p:cNvPr id="1026" name="Picture 2" descr="https://upload.wikimedia.org/wikipedia/commons/thumb/d/d9/FSHA%2BB%2Breceptor_1XWD.png/220px-FSHA%2BB%2Breceptor_1XWD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5" y="1916723"/>
            <a:ext cx="4526881" cy="3498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11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Funkcija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 smtClean="0"/>
              <a:t>                     U žena</a:t>
            </a:r>
          </a:p>
          <a:p>
            <a:r>
              <a:rPr lang="hr-HR" dirty="0" smtClean="0"/>
              <a:t>Sudjeluje u sazrijevanju jajnih stanica</a:t>
            </a:r>
          </a:p>
          <a:p>
            <a:r>
              <a:rPr lang="hr-HR" dirty="0" smtClean="0"/>
              <a:t>Regulira pubertetski razvoj</a:t>
            </a:r>
          </a:p>
          <a:p>
            <a:r>
              <a:rPr lang="hr-HR" dirty="0" smtClean="0"/>
              <a:t>Razina je promjenjiva, smanjuje se u kasnoj </a:t>
            </a:r>
            <a:r>
              <a:rPr lang="hr-HR" dirty="0" err="1" smtClean="0"/>
              <a:t>folikularnoj</a:t>
            </a:r>
            <a:r>
              <a:rPr lang="hr-HR" dirty="0" smtClean="0"/>
              <a:t> fazi i malo se </a:t>
            </a:r>
            <a:r>
              <a:rPr lang="hr-HR" dirty="0" err="1" smtClean="0"/>
              <a:t>povečava</a:t>
            </a:r>
            <a:r>
              <a:rPr lang="hr-HR" dirty="0" smtClean="0"/>
              <a:t> na kraju </a:t>
            </a:r>
            <a:r>
              <a:rPr lang="hr-HR" dirty="0" err="1" smtClean="0"/>
              <a:t>lutealne</a:t>
            </a:r>
            <a:r>
              <a:rPr lang="hr-HR" dirty="0" smtClean="0"/>
              <a:t> faze</a:t>
            </a:r>
          </a:p>
          <a:p>
            <a:r>
              <a:rPr lang="hr-HR" dirty="0" smtClean="0"/>
              <a:t>Potiče rast </a:t>
            </a:r>
            <a:r>
              <a:rPr lang="hr-HR" dirty="0" err="1" smtClean="0"/>
              <a:t>folikula</a:t>
            </a:r>
            <a:endParaRPr lang="hr-HR" dirty="0" smtClean="0"/>
          </a:p>
          <a:p>
            <a:endParaRPr lang="hr-HR" dirty="0" smtClean="0"/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 smtClean="0"/>
              <a:t>                 U muškaraca</a:t>
            </a:r>
          </a:p>
          <a:p>
            <a:r>
              <a:rPr lang="hr-HR" dirty="0" smtClean="0"/>
              <a:t>Sudjeluje u sazrijevanju spermija</a:t>
            </a:r>
          </a:p>
          <a:p>
            <a:r>
              <a:rPr lang="hr-HR" dirty="0" smtClean="0"/>
              <a:t>Regulira pubertetski razvoj</a:t>
            </a:r>
            <a:endParaRPr lang="hr-HR" dirty="0" smtClean="0"/>
          </a:p>
          <a:p>
            <a:r>
              <a:rPr lang="hr-HR" dirty="0" smtClean="0"/>
              <a:t>Razina je stalna</a:t>
            </a:r>
          </a:p>
          <a:p>
            <a:r>
              <a:rPr lang="hr-HR" dirty="0" smtClean="0"/>
              <a:t>Potiče proizvodnju proteina koji se vežu za androgene u </a:t>
            </a:r>
            <a:r>
              <a:rPr lang="hr-HR" dirty="0" err="1" smtClean="0"/>
              <a:t>Sertiolijevih</a:t>
            </a:r>
            <a:r>
              <a:rPr lang="hr-HR" dirty="0" smtClean="0"/>
              <a:t> stanica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958433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Izvori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err="1" smtClean="0">
                <a:hlinkClick r:id="rId2"/>
              </a:rPr>
              <a:t>Follicle-stimulating</a:t>
            </a:r>
            <a:r>
              <a:rPr lang="hr-HR" dirty="0" smtClean="0">
                <a:hlinkClick r:id="rId2"/>
              </a:rPr>
              <a:t> hormone – </a:t>
            </a:r>
            <a:r>
              <a:rPr lang="hr-HR" dirty="0" err="1" smtClean="0">
                <a:hlinkClick r:id="rId2"/>
              </a:rPr>
              <a:t>Wikipedia</a:t>
            </a:r>
            <a:endParaRPr lang="hr-HR" dirty="0" smtClean="0"/>
          </a:p>
          <a:p>
            <a:r>
              <a:rPr lang="hr-HR" dirty="0" err="1" smtClean="0">
                <a:hlinkClick r:id="rId3"/>
              </a:rPr>
              <a:t>Folikulostimulirajući</a:t>
            </a:r>
            <a:r>
              <a:rPr lang="hr-HR" dirty="0" smtClean="0">
                <a:hlinkClick r:id="rId3"/>
              </a:rPr>
              <a:t> hormon – Wikipedija</a:t>
            </a:r>
            <a:endParaRPr lang="hr-HR" dirty="0" smtClean="0"/>
          </a:p>
          <a:p>
            <a:r>
              <a:rPr lang="hr-HR" dirty="0" err="1" smtClean="0">
                <a:hlinkClick r:id="rId4"/>
              </a:rPr>
              <a:t>Sertoli</a:t>
            </a:r>
            <a:r>
              <a:rPr lang="hr-HR" dirty="0" smtClean="0">
                <a:hlinkClick r:id="rId4"/>
              </a:rPr>
              <a:t> </a:t>
            </a:r>
            <a:r>
              <a:rPr lang="hr-HR" dirty="0" err="1" smtClean="0">
                <a:hlinkClick r:id="rId4"/>
              </a:rPr>
              <a:t>cell</a:t>
            </a:r>
            <a:r>
              <a:rPr lang="hr-HR" dirty="0" smtClean="0">
                <a:hlinkClick r:id="rId4"/>
              </a:rPr>
              <a:t> - </a:t>
            </a:r>
            <a:r>
              <a:rPr lang="hr-HR" dirty="0" err="1" smtClean="0">
                <a:hlinkClick r:id="rId4"/>
              </a:rPr>
              <a:t>Wikipedia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9510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 smtClean="0"/>
              <a:t>Hvala na pažnji</a:t>
            </a:r>
            <a:endParaRPr lang="hr-HR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766456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104</Words>
  <Application>Microsoft Office PowerPoint</Application>
  <PresentationFormat>Široki zaslon</PresentationFormat>
  <Paragraphs>24</Paragraphs>
  <Slides>5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sustava Office</vt:lpstr>
      <vt:lpstr>FSH</vt:lpstr>
      <vt:lpstr>Općenito</vt:lpstr>
      <vt:lpstr>Funkcija</vt:lpstr>
      <vt:lpstr>Izvori</vt:lpstr>
      <vt:lpstr>Hvala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FSH</dc:title>
  <dc:creator>Ucenik</dc:creator>
  <cp:lastModifiedBy>Ucenik</cp:lastModifiedBy>
  <cp:revision>6</cp:revision>
  <dcterms:created xsi:type="dcterms:W3CDTF">2024-12-18T13:04:38Z</dcterms:created>
  <dcterms:modified xsi:type="dcterms:W3CDTF">2024-12-18T13:38:36Z</dcterms:modified>
</cp:coreProperties>
</file>