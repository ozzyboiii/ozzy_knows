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7D161956-2C6E-BB23-F55D-29BC2BA63416}"/>
              </a:ext>
            </a:extLst>
          </p:cNvPr>
          <p:cNvSpPr>
            <a:spLocks noGrp="1"/>
          </p:cNvSpPr>
          <p:nvPr>
            <p:ph type="ctrTitle"/>
          </p:nvPr>
        </p:nvSpPr>
        <p:spPr>
          <a:xfrm>
            <a:off x="1524000" y="1122363"/>
            <a:ext cx="9144000" cy="2387600"/>
          </a:xfrm>
        </p:spPr>
        <p:txBody>
          <a:bodyPr anchor="b"/>
          <a:lstStyle>
            <a:lvl1pPr algn="ctr">
              <a:defRPr sz="6000"/>
            </a:lvl1pPr>
          </a:lstStyle>
          <a:p>
            <a:r>
              <a:rPr lang="hr-HR"/>
              <a:t>Kliknite da biste uredili stil naslova matrice</a:t>
            </a:r>
          </a:p>
        </p:txBody>
      </p:sp>
      <p:sp>
        <p:nvSpPr>
          <p:cNvPr id="3" name="Podnaslov 2">
            <a:extLst>
              <a:ext uri="{FF2B5EF4-FFF2-40B4-BE49-F238E27FC236}">
                <a16:creationId xmlns:a16="http://schemas.microsoft.com/office/drawing/2014/main" id="{B0B4C68F-64A5-B0E1-10C5-DF4BEF4F7A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a:t>Kliknite da biste uredili stil podnaslova matrice</a:t>
            </a:r>
          </a:p>
        </p:txBody>
      </p:sp>
      <p:sp>
        <p:nvSpPr>
          <p:cNvPr id="4" name="Rezervirano mjesto datuma 3">
            <a:extLst>
              <a:ext uri="{FF2B5EF4-FFF2-40B4-BE49-F238E27FC236}">
                <a16:creationId xmlns:a16="http://schemas.microsoft.com/office/drawing/2014/main" id="{474CE79F-1554-4D28-3FA1-3927C4012256}"/>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5" name="Rezervirano mjesto podnožja 4">
            <a:extLst>
              <a:ext uri="{FF2B5EF4-FFF2-40B4-BE49-F238E27FC236}">
                <a16:creationId xmlns:a16="http://schemas.microsoft.com/office/drawing/2014/main" id="{F191F231-7006-63F4-F993-532094A5F933}"/>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FBF13C50-0EBC-98C1-3F73-26F2E67D11BF}"/>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31564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E26F9ECA-8F3E-CAB3-AD06-8F27A2E208EB}"/>
              </a:ext>
            </a:extLst>
          </p:cNvPr>
          <p:cNvSpPr>
            <a:spLocks noGrp="1"/>
          </p:cNvSpPr>
          <p:nvPr>
            <p:ph type="title"/>
          </p:nvPr>
        </p:nvSpPr>
        <p:spPr/>
        <p:txBody>
          <a:bodyPr/>
          <a:lstStyle/>
          <a:p>
            <a:r>
              <a:rPr lang="hr-HR"/>
              <a:t>Kliknite da biste uredili stil naslova matrice</a:t>
            </a:r>
          </a:p>
        </p:txBody>
      </p:sp>
      <p:sp>
        <p:nvSpPr>
          <p:cNvPr id="3" name="Rezervirano mjesto sadržaja 2">
            <a:extLst>
              <a:ext uri="{FF2B5EF4-FFF2-40B4-BE49-F238E27FC236}">
                <a16:creationId xmlns:a16="http://schemas.microsoft.com/office/drawing/2014/main" id="{14508FCC-DEDF-E0B7-1936-6AA104BAF75E}"/>
              </a:ext>
            </a:extLst>
          </p:cNvPr>
          <p:cNvSpPr>
            <a:spLocks noGrp="1"/>
          </p:cNvSpPr>
          <p:nvPr>
            <p:ph idx="1"/>
          </p:nvPr>
        </p:nvSpPr>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AE75737A-B0D4-9545-53EC-6985819668A6}"/>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5" name="Rezervirano mjesto podnožja 4">
            <a:extLst>
              <a:ext uri="{FF2B5EF4-FFF2-40B4-BE49-F238E27FC236}">
                <a16:creationId xmlns:a16="http://schemas.microsoft.com/office/drawing/2014/main" id="{98247FA7-6EE5-07E6-640A-68EC5A9860FD}"/>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A2C525E5-E62D-3CE3-DADB-F55B1C9B666A}"/>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1591575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sekcije">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201C11D-7FB5-3332-C1DF-11D6AE52294A}"/>
              </a:ext>
            </a:extLst>
          </p:cNvPr>
          <p:cNvSpPr>
            <a:spLocks noGrp="1"/>
          </p:cNvSpPr>
          <p:nvPr>
            <p:ph type="title"/>
          </p:nvPr>
        </p:nvSpPr>
        <p:spPr>
          <a:xfrm>
            <a:off x="831850" y="1709738"/>
            <a:ext cx="10515600" cy="2852737"/>
          </a:xfrm>
        </p:spPr>
        <p:txBody>
          <a:bodyPr anchor="b"/>
          <a:lstStyle>
            <a:lvl1pPr>
              <a:defRPr sz="6000"/>
            </a:lvl1pPr>
          </a:lstStyle>
          <a:p>
            <a:r>
              <a:rPr lang="hr-HR"/>
              <a:t>Kliknite da biste uredili stil naslova matrice</a:t>
            </a:r>
          </a:p>
        </p:txBody>
      </p:sp>
      <p:sp>
        <p:nvSpPr>
          <p:cNvPr id="3" name="Rezervirano mjesto teksta 2">
            <a:extLst>
              <a:ext uri="{FF2B5EF4-FFF2-40B4-BE49-F238E27FC236}">
                <a16:creationId xmlns:a16="http://schemas.microsoft.com/office/drawing/2014/main" id="{5708CD1E-D90B-0428-D74D-748AED0F26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r-HR"/>
              <a:t>Kliknite da biste uredili matrice</a:t>
            </a:r>
          </a:p>
        </p:txBody>
      </p:sp>
      <p:sp>
        <p:nvSpPr>
          <p:cNvPr id="4" name="Rezervirano mjesto datuma 3">
            <a:extLst>
              <a:ext uri="{FF2B5EF4-FFF2-40B4-BE49-F238E27FC236}">
                <a16:creationId xmlns:a16="http://schemas.microsoft.com/office/drawing/2014/main" id="{E60B6A4E-D4A1-F660-DD6B-9F88BC46544B}"/>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5" name="Rezervirano mjesto podnožja 4">
            <a:extLst>
              <a:ext uri="{FF2B5EF4-FFF2-40B4-BE49-F238E27FC236}">
                <a16:creationId xmlns:a16="http://schemas.microsoft.com/office/drawing/2014/main" id="{392BD19D-8FCB-53AA-FAC6-2C18742BF800}"/>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825A4E17-FFF5-C20F-2277-8198E933EA9C}"/>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297353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B26CF8E-8A12-143F-AF5A-126C94E7960A}"/>
              </a:ext>
            </a:extLst>
          </p:cNvPr>
          <p:cNvSpPr>
            <a:spLocks noGrp="1"/>
          </p:cNvSpPr>
          <p:nvPr>
            <p:ph type="title"/>
          </p:nvPr>
        </p:nvSpPr>
        <p:spPr/>
        <p:txBody>
          <a:bodyPr/>
          <a:lstStyle/>
          <a:p>
            <a:r>
              <a:rPr lang="hr-HR"/>
              <a:t>Kliknite da biste uredili stil naslova matrice</a:t>
            </a:r>
          </a:p>
        </p:txBody>
      </p:sp>
      <p:sp>
        <p:nvSpPr>
          <p:cNvPr id="3" name="Rezervirano mjesto sadržaja 2">
            <a:extLst>
              <a:ext uri="{FF2B5EF4-FFF2-40B4-BE49-F238E27FC236}">
                <a16:creationId xmlns:a16="http://schemas.microsoft.com/office/drawing/2014/main" id="{E7AEE79E-7ECF-866F-5A29-F8EE375302C7}"/>
              </a:ext>
            </a:extLst>
          </p:cNvPr>
          <p:cNvSpPr>
            <a:spLocks noGrp="1"/>
          </p:cNvSpPr>
          <p:nvPr>
            <p:ph sz="half" idx="1"/>
          </p:nvPr>
        </p:nvSpPr>
        <p:spPr>
          <a:xfrm>
            <a:off x="838200" y="1825625"/>
            <a:ext cx="5181600" cy="435133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sadržaja 3">
            <a:extLst>
              <a:ext uri="{FF2B5EF4-FFF2-40B4-BE49-F238E27FC236}">
                <a16:creationId xmlns:a16="http://schemas.microsoft.com/office/drawing/2014/main" id="{14904897-901D-49EA-ECB0-9A26E3526138}"/>
              </a:ext>
            </a:extLst>
          </p:cNvPr>
          <p:cNvSpPr>
            <a:spLocks noGrp="1"/>
          </p:cNvSpPr>
          <p:nvPr>
            <p:ph sz="half" idx="2"/>
          </p:nvPr>
        </p:nvSpPr>
        <p:spPr>
          <a:xfrm>
            <a:off x="6172200" y="1825625"/>
            <a:ext cx="5181600" cy="435133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5" name="Rezervirano mjesto datuma 4">
            <a:extLst>
              <a:ext uri="{FF2B5EF4-FFF2-40B4-BE49-F238E27FC236}">
                <a16:creationId xmlns:a16="http://schemas.microsoft.com/office/drawing/2014/main" id="{DF883FED-776B-E998-15B7-2EC5146A4FDC}"/>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6" name="Rezervirano mjesto podnožja 5">
            <a:extLst>
              <a:ext uri="{FF2B5EF4-FFF2-40B4-BE49-F238E27FC236}">
                <a16:creationId xmlns:a16="http://schemas.microsoft.com/office/drawing/2014/main" id="{91A6BB31-0253-6E5F-10F5-7FB95A5192A7}"/>
              </a:ext>
            </a:extLst>
          </p:cNvPr>
          <p:cNvSpPr>
            <a:spLocks noGrp="1"/>
          </p:cNvSpPr>
          <p:nvPr>
            <p:ph type="ftr" sz="quarter" idx="11"/>
          </p:nvPr>
        </p:nvSpPr>
        <p:spPr/>
        <p:txBody>
          <a:bodyPr/>
          <a:lstStyle/>
          <a:p>
            <a:endParaRPr lang="hr-HR"/>
          </a:p>
        </p:txBody>
      </p:sp>
      <p:sp>
        <p:nvSpPr>
          <p:cNvPr id="7" name="Rezervirano mjesto broja slajda 6">
            <a:extLst>
              <a:ext uri="{FF2B5EF4-FFF2-40B4-BE49-F238E27FC236}">
                <a16:creationId xmlns:a16="http://schemas.microsoft.com/office/drawing/2014/main" id="{FF0DD80B-49E5-3F6E-1298-215CC54A7EFE}"/>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551116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16CF18B3-A77D-2763-5596-46482899A2DB}"/>
              </a:ext>
            </a:extLst>
          </p:cNvPr>
          <p:cNvSpPr>
            <a:spLocks noGrp="1"/>
          </p:cNvSpPr>
          <p:nvPr>
            <p:ph type="title"/>
          </p:nvPr>
        </p:nvSpPr>
        <p:spPr>
          <a:xfrm>
            <a:off x="839788" y="365125"/>
            <a:ext cx="10515600" cy="1325563"/>
          </a:xfrm>
        </p:spPr>
        <p:txBody>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07FBEBE6-43A8-CE94-3E69-CD5047D9CC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a:t>Kliknite da biste uredili matrice</a:t>
            </a:r>
          </a:p>
        </p:txBody>
      </p:sp>
      <p:sp>
        <p:nvSpPr>
          <p:cNvPr id="4" name="Rezervirano mjesto sadržaja 3">
            <a:extLst>
              <a:ext uri="{FF2B5EF4-FFF2-40B4-BE49-F238E27FC236}">
                <a16:creationId xmlns:a16="http://schemas.microsoft.com/office/drawing/2014/main" id="{96A39D67-16A4-307B-D99E-6DA83984DF59}"/>
              </a:ext>
            </a:extLst>
          </p:cNvPr>
          <p:cNvSpPr>
            <a:spLocks noGrp="1"/>
          </p:cNvSpPr>
          <p:nvPr>
            <p:ph sz="half" idx="2"/>
          </p:nvPr>
        </p:nvSpPr>
        <p:spPr>
          <a:xfrm>
            <a:off x="839788" y="2505075"/>
            <a:ext cx="5157787" cy="368458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5" name="Rezervirano mjesto teksta 4">
            <a:extLst>
              <a:ext uri="{FF2B5EF4-FFF2-40B4-BE49-F238E27FC236}">
                <a16:creationId xmlns:a16="http://schemas.microsoft.com/office/drawing/2014/main" id="{E2E9C620-6CC6-3383-8AAC-741F729EC3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a:t>Kliknite da biste uredili matrice</a:t>
            </a:r>
          </a:p>
        </p:txBody>
      </p:sp>
      <p:sp>
        <p:nvSpPr>
          <p:cNvPr id="6" name="Rezervirano mjesto sadržaja 5">
            <a:extLst>
              <a:ext uri="{FF2B5EF4-FFF2-40B4-BE49-F238E27FC236}">
                <a16:creationId xmlns:a16="http://schemas.microsoft.com/office/drawing/2014/main" id="{008D3724-7A4E-ACFB-6E45-70CD34C463CE}"/>
              </a:ext>
            </a:extLst>
          </p:cNvPr>
          <p:cNvSpPr>
            <a:spLocks noGrp="1"/>
          </p:cNvSpPr>
          <p:nvPr>
            <p:ph sz="quarter" idx="4"/>
          </p:nvPr>
        </p:nvSpPr>
        <p:spPr>
          <a:xfrm>
            <a:off x="6172200" y="2505075"/>
            <a:ext cx="5183188" cy="368458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7" name="Rezervirano mjesto datuma 6">
            <a:extLst>
              <a:ext uri="{FF2B5EF4-FFF2-40B4-BE49-F238E27FC236}">
                <a16:creationId xmlns:a16="http://schemas.microsoft.com/office/drawing/2014/main" id="{8A393A15-81B1-BC04-96A3-2D03169015DD}"/>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8" name="Rezervirano mjesto podnožja 7">
            <a:extLst>
              <a:ext uri="{FF2B5EF4-FFF2-40B4-BE49-F238E27FC236}">
                <a16:creationId xmlns:a16="http://schemas.microsoft.com/office/drawing/2014/main" id="{A4BE2A2E-27E7-DA41-726D-F53910A948FF}"/>
              </a:ext>
            </a:extLst>
          </p:cNvPr>
          <p:cNvSpPr>
            <a:spLocks noGrp="1"/>
          </p:cNvSpPr>
          <p:nvPr>
            <p:ph type="ftr" sz="quarter" idx="11"/>
          </p:nvPr>
        </p:nvSpPr>
        <p:spPr/>
        <p:txBody>
          <a:bodyPr/>
          <a:lstStyle/>
          <a:p>
            <a:endParaRPr lang="hr-HR"/>
          </a:p>
        </p:txBody>
      </p:sp>
      <p:sp>
        <p:nvSpPr>
          <p:cNvPr id="9" name="Rezervirano mjesto broja slajda 8">
            <a:extLst>
              <a:ext uri="{FF2B5EF4-FFF2-40B4-BE49-F238E27FC236}">
                <a16:creationId xmlns:a16="http://schemas.microsoft.com/office/drawing/2014/main" id="{8AA2BB44-42F3-8DE4-8547-E2E3D77893A2}"/>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4004046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967C5C8E-3EE4-2C1A-16A7-6105028C46E4}"/>
              </a:ext>
            </a:extLst>
          </p:cNvPr>
          <p:cNvSpPr>
            <a:spLocks noGrp="1"/>
          </p:cNvSpPr>
          <p:nvPr>
            <p:ph type="title"/>
          </p:nvPr>
        </p:nvSpPr>
        <p:spPr/>
        <p:txBody>
          <a:bodyPr/>
          <a:lstStyle/>
          <a:p>
            <a:r>
              <a:rPr lang="hr-HR"/>
              <a:t>Kliknite da biste uredili stil naslova matrice</a:t>
            </a:r>
          </a:p>
        </p:txBody>
      </p:sp>
      <p:sp>
        <p:nvSpPr>
          <p:cNvPr id="3" name="Rezervirano mjesto datuma 2">
            <a:extLst>
              <a:ext uri="{FF2B5EF4-FFF2-40B4-BE49-F238E27FC236}">
                <a16:creationId xmlns:a16="http://schemas.microsoft.com/office/drawing/2014/main" id="{2254A4C4-B4E6-FD2A-F534-9B6DD7C3AE95}"/>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4" name="Rezervirano mjesto podnožja 3">
            <a:extLst>
              <a:ext uri="{FF2B5EF4-FFF2-40B4-BE49-F238E27FC236}">
                <a16:creationId xmlns:a16="http://schemas.microsoft.com/office/drawing/2014/main" id="{2962E358-D79F-CED7-1DF4-898E5497FE1E}"/>
              </a:ext>
            </a:extLst>
          </p:cNvPr>
          <p:cNvSpPr>
            <a:spLocks noGrp="1"/>
          </p:cNvSpPr>
          <p:nvPr>
            <p:ph type="ftr" sz="quarter" idx="11"/>
          </p:nvPr>
        </p:nvSpPr>
        <p:spPr/>
        <p:txBody>
          <a:bodyPr/>
          <a:lstStyle/>
          <a:p>
            <a:endParaRPr lang="hr-HR"/>
          </a:p>
        </p:txBody>
      </p:sp>
      <p:sp>
        <p:nvSpPr>
          <p:cNvPr id="5" name="Rezervirano mjesto broja slajda 4">
            <a:extLst>
              <a:ext uri="{FF2B5EF4-FFF2-40B4-BE49-F238E27FC236}">
                <a16:creationId xmlns:a16="http://schemas.microsoft.com/office/drawing/2014/main" id="{F45887A4-558F-B058-8914-384DC14A3E02}"/>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1353681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2" name="Rezervirano mjesto datuma 1">
            <a:extLst>
              <a:ext uri="{FF2B5EF4-FFF2-40B4-BE49-F238E27FC236}">
                <a16:creationId xmlns:a16="http://schemas.microsoft.com/office/drawing/2014/main" id="{D4134D2D-163D-2B38-65AA-D313D8D857C2}"/>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3" name="Rezervirano mjesto podnožja 2">
            <a:extLst>
              <a:ext uri="{FF2B5EF4-FFF2-40B4-BE49-F238E27FC236}">
                <a16:creationId xmlns:a16="http://schemas.microsoft.com/office/drawing/2014/main" id="{2390BB70-B253-A73C-2A97-3FDAEF5C31D3}"/>
              </a:ext>
            </a:extLst>
          </p:cNvPr>
          <p:cNvSpPr>
            <a:spLocks noGrp="1"/>
          </p:cNvSpPr>
          <p:nvPr>
            <p:ph type="ftr" sz="quarter" idx="11"/>
          </p:nvPr>
        </p:nvSpPr>
        <p:spPr/>
        <p:txBody>
          <a:bodyPr/>
          <a:lstStyle/>
          <a:p>
            <a:endParaRPr lang="hr-HR"/>
          </a:p>
        </p:txBody>
      </p:sp>
      <p:sp>
        <p:nvSpPr>
          <p:cNvPr id="4" name="Rezervirano mjesto broja slajda 3">
            <a:extLst>
              <a:ext uri="{FF2B5EF4-FFF2-40B4-BE49-F238E27FC236}">
                <a16:creationId xmlns:a16="http://schemas.microsoft.com/office/drawing/2014/main" id="{B16AA6E9-A441-F7DE-9614-8AFFDDBD481D}"/>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290842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 opis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109E2961-1259-5BC8-9461-E8802D333C56}"/>
              </a:ext>
            </a:extLst>
          </p:cNvPr>
          <p:cNvSpPr>
            <a:spLocks noGrp="1"/>
          </p:cNvSpPr>
          <p:nvPr>
            <p:ph type="title"/>
          </p:nvPr>
        </p:nvSpPr>
        <p:spPr>
          <a:xfrm>
            <a:off x="839788" y="457200"/>
            <a:ext cx="3932237" cy="1600200"/>
          </a:xfrm>
        </p:spPr>
        <p:txBody>
          <a:bodyPr anchor="b"/>
          <a:lstStyle>
            <a:lvl1pPr>
              <a:defRPr sz="3200"/>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AB5DB279-607B-E488-471E-7F611CC029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teksta 3">
            <a:extLst>
              <a:ext uri="{FF2B5EF4-FFF2-40B4-BE49-F238E27FC236}">
                <a16:creationId xmlns:a16="http://schemas.microsoft.com/office/drawing/2014/main" id="{47BD2229-1035-FD7F-89BB-28AC4794C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a:t>Kliknite da biste uredili matrice</a:t>
            </a:r>
          </a:p>
        </p:txBody>
      </p:sp>
      <p:sp>
        <p:nvSpPr>
          <p:cNvPr id="5" name="Rezervirano mjesto datuma 4">
            <a:extLst>
              <a:ext uri="{FF2B5EF4-FFF2-40B4-BE49-F238E27FC236}">
                <a16:creationId xmlns:a16="http://schemas.microsoft.com/office/drawing/2014/main" id="{3BA67D8A-EF21-0FF1-0C7E-9B30AA2546EF}"/>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6" name="Rezervirano mjesto podnožja 5">
            <a:extLst>
              <a:ext uri="{FF2B5EF4-FFF2-40B4-BE49-F238E27FC236}">
                <a16:creationId xmlns:a16="http://schemas.microsoft.com/office/drawing/2014/main" id="{8717B591-720C-F44F-AF91-5F3CD0661DA8}"/>
              </a:ext>
            </a:extLst>
          </p:cNvPr>
          <p:cNvSpPr>
            <a:spLocks noGrp="1"/>
          </p:cNvSpPr>
          <p:nvPr>
            <p:ph type="ftr" sz="quarter" idx="11"/>
          </p:nvPr>
        </p:nvSpPr>
        <p:spPr/>
        <p:txBody>
          <a:bodyPr/>
          <a:lstStyle/>
          <a:p>
            <a:endParaRPr lang="hr-HR"/>
          </a:p>
        </p:txBody>
      </p:sp>
      <p:sp>
        <p:nvSpPr>
          <p:cNvPr id="7" name="Rezervirano mjesto broja slajda 6">
            <a:extLst>
              <a:ext uri="{FF2B5EF4-FFF2-40B4-BE49-F238E27FC236}">
                <a16:creationId xmlns:a16="http://schemas.microsoft.com/office/drawing/2014/main" id="{C993D95A-6A87-E109-33B0-E2E06E19B19C}"/>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405480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ka s opis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CCB15624-867B-6281-E6B8-7199655CF8D0}"/>
              </a:ext>
            </a:extLst>
          </p:cNvPr>
          <p:cNvSpPr>
            <a:spLocks noGrp="1"/>
          </p:cNvSpPr>
          <p:nvPr>
            <p:ph type="title"/>
          </p:nvPr>
        </p:nvSpPr>
        <p:spPr>
          <a:xfrm>
            <a:off x="839788" y="457200"/>
            <a:ext cx="3932237" cy="1600200"/>
          </a:xfrm>
        </p:spPr>
        <p:txBody>
          <a:bodyPr anchor="b"/>
          <a:lstStyle>
            <a:lvl1pPr>
              <a:defRPr sz="3200"/>
            </a:lvl1pPr>
          </a:lstStyle>
          <a:p>
            <a:r>
              <a:rPr lang="hr-HR"/>
              <a:t>Kliknite da biste uredili stil naslova matrice</a:t>
            </a:r>
          </a:p>
        </p:txBody>
      </p:sp>
      <p:sp>
        <p:nvSpPr>
          <p:cNvPr id="3" name="Rezervirano mjesto slike 2">
            <a:extLst>
              <a:ext uri="{FF2B5EF4-FFF2-40B4-BE49-F238E27FC236}">
                <a16:creationId xmlns:a16="http://schemas.microsoft.com/office/drawing/2014/main" id="{B393A1F8-99C6-F5B5-5BC6-9A6264E9E3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Rezervirano mjesto teksta 3">
            <a:extLst>
              <a:ext uri="{FF2B5EF4-FFF2-40B4-BE49-F238E27FC236}">
                <a16:creationId xmlns:a16="http://schemas.microsoft.com/office/drawing/2014/main" id="{336EBA78-5A48-A326-995B-9FAB5370EF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a:t>Kliknite da biste uredili matrice</a:t>
            </a:r>
          </a:p>
        </p:txBody>
      </p:sp>
      <p:sp>
        <p:nvSpPr>
          <p:cNvPr id="5" name="Rezervirano mjesto datuma 4">
            <a:extLst>
              <a:ext uri="{FF2B5EF4-FFF2-40B4-BE49-F238E27FC236}">
                <a16:creationId xmlns:a16="http://schemas.microsoft.com/office/drawing/2014/main" id="{E5354099-E526-8B39-EC70-85BB4A404DAE}"/>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6" name="Rezervirano mjesto podnožja 5">
            <a:extLst>
              <a:ext uri="{FF2B5EF4-FFF2-40B4-BE49-F238E27FC236}">
                <a16:creationId xmlns:a16="http://schemas.microsoft.com/office/drawing/2014/main" id="{041A1D22-6404-E1CE-1921-1BD7EFA37F5D}"/>
              </a:ext>
            </a:extLst>
          </p:cNvPr>
          <p:cNvSpPr>
            <a:spLocks noGrp="1"/>
          </p:cNvSpPr>
          <p:nvPr>
            <p:ph type="ftr" sz="quarter" idx="11"/>
          </p:nvPr>
        </p:nvSpPr>
        <p:spPr/>
        <p:txBody>
          <a:bodyPr/>
          <a:lstStyle/>
          <a:p>
            <a:endParaRPr lang="hr-HR"/>
          </a:p>
        </p:txBody>
      </p:sp>
      <p:sp>
        <p:nvSpPr>
          <p:cNvPr id="7" name="Rezervirano mjesto broja slajda 6">
            <a:extLst>
              <a:ext uri="{FF2B5EF4-FFF2-40B4-BE49-F238E27FC236}">
                <a16:creationId xmlns:a16="http://schemas.microsoft.com/office/drawing/2014/main" id="{6F5C6E36-CC67-26D5-917E-D052A6EA2E44}"/>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99062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E5C63DB-E1CC-F0EE-5929-A98D2D3EAF0C}"/>
              </a:ext>
            </a:extLst>
          </p:cNvPr>
          <p:cNvSpPr>
            <a:spLocks noGrp="1"/>
          </p:cNvSpPr>
          <p:nvPr>
            <p:ph type="title"/>
          </p:nvPr>
        </p:nvSpPr>
        <p:spPr/>
        <p:txBody>
          <a:bodyPr/>
          <a:lstStyle/>
          <a:p>
            <a:r>
              <a:rPr lang="hr-HR"/>
              <a:t>Kliknite da biste uredili stil naslova matrice</a:t>
            </a:r>
          </a:p>
        </p:txBody>
      </p:sp>
      <p:sp>
        <p:nvSpPr>
          <p:cNvPr id="3" name="Rezervirano mjesto okomitog teksta 2">
            <a:extLst>
              <a:ext uri="{FF2B5EF4-FFF2-40B4-BE49-F238E27FC236}">
                <a16:creationId xmlns:a16="http://schemas.microsoft.com/office/drawing/2014/main" id="{CF624486-B4C0-770E-4A78-2B6FEDD2C8B8}"/>
              </a:ext>
            </a:extLst>
          </p:cNvPr>
          <p:cNvSpPr>
            <a:spLocks noGrp="1"/>
          </p:cNvSpPr>
          <p:nvPr>
            <p:ph type="body" orient="vert" idx="1"/>
          </p:nvPr>
        </p:nvSpPr>
        <p:spPr/>
        <p:txBody>
          <a:bodyPr vert="eaVert"/>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3D84BC2E-E680-A495-D804-CA5556782F32}"/>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5" name="Rezervirano mjesto podnožja 4">
            <a:extLst>
              <a:ext uri="{FF2B5EF4-FFF2-40B4-BE49-F238E27FC236}">
                <a16:creationId xmlns:a16="http://schemas.microsoft.com/office/drawing/2014/main" id="{D7DF0D75-657A-C1F2-3E37-F2DFCA12DB04}"/>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19FC869A-361C-E622-CA3D-FC3C13651C31}"/>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3411265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Okomiti naslov i tekst">
    <p:spTree>
      <p:nvGrpSpPr>
        <p:cNvPr id="1" name=""/>
        <p:cNvGrpSpPr/>
        <p:nvPr/>
      </p:nvGrpSpPr>
      <p:grpSpPr>
        <a:xfrm>
          <a:off x="0" y="0"/>
          <a:ext cx="0" cy="0"/>
          <a:chOff x="0" y="0"/>
          <a:chExt cx="0" cy="0"/>
        </a:xfrm>
      </p:grpSpPr>
      <p:sp>
        <p:nvSpPr>
          <p:cNvPr id="2" name="Okomiti naslov 1">
            <a:extLst>
              <a:ext uri="{FF2B5EF4-FFF2-40B4-BE49-F238E27FC236}">
                <a16:creationId xmlns:a16="http://schemas.microsoft.com/office/drawing/2014/main" id="{021A38A1-8E8B-0D6C-1F89-5E555E689962}"/>
              </a:ext>
            </a:extLst>
          </p:cNvPr>
          <p:cNvSpPr>
            <a:spLocks noGrp="1"/>
          </p:cNvSpPr>
          <p:nvPr>
            <p:ph type="title" orient="vert"/>
          </p:nvPr>
        </p:nvSpPr>
        <p:spPr>
          <a:xfrm>
            <a:off x="8724900" y="365125"/>
            <a:ext cx="2628900" cy="5811838"/>
          </a:xfrm>
        </p:spPr>
        <p:txBody>
          <a:bodyPr vert="eaVert"/>
          <a:lstStyle/>
          <a:p>
            <a:r>
              <a:rPr lang="hr-HR"/>
              <a:t>Kliknite da biste uredili stil naslova matrice</a:t>
            </a:r>
          </a:p>
        </p:txBody>
      </p:sp>
      <p:sp>
        <p:nvSpPr>
          <p:cNvPr id="3" name="Rezervirano mjesto okomitog teksta 2">
            <a:extLst>
              <a:ext uri="{FF2B5EF4-FFF2-40B4-BE49-F238E27FC236}">
                <a16:creationId xmlns:a16="http://schemas.microsoft.com/office/drawing/2014/main" id="{033643D1-9012-AFA0-AC9B-B89212C21D44}"/>
              </a:ext>
            </a:extLst>
          </p:cNvPr>
          <p:cNvSpPr>
            <a:spLocks noGrp="1"/>
          </p:cNvSpPr>
          <p:nvPr>
            <p:ph type="body" orient="vert" idx="1"/>
          </p:nvPr>
        </p:nvSpPr>
        <p:spPr>
          <a:xfrm>
            <a:off x="838200" y="365125"/>
            <a:ext cx="7734300" cy="5811838"/>
          </a:xfrm>
        </p:spPr>
        <p:txBody>
          <a:bodyPr vert="eaVert"/>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D96F3E92-E8DC-75F7-B2FF-8E19D2C01DA0}"/>
              </a:ext>
            </a:extLst>
          </p:cNvPr>
          <p:cNvSpPr>
            <a:spLocks noGrp="1"/>
          </p:cNvSpPr>
          <p:nvPr>
            <p:ph type="dt" sz="half" idx="10"/>
          </p:nvPr>
        </p:nvSpPr>
        <p:spPr/>
        <p:txBody>
          <a:bodyPr/>
          <a:lstStyle/>
          <a:p>
            <a:fld id="{E1B847E6-C548-44CB-A2B1-64D4C346CD56}" type="datetimeFigureOut">
              <a:rPr lang="hr-HR" smtClean="0"/>
              <a:t>6.3.2025.</a:t>
            </a:fld>
            <a:endParaRPr lang="hr-HR"/>
          </a:p>
        </p:txBody>
      </p:sp>
      <p:sp>
        <p:nvSpPr>
          <p:cNvPr id="5" name="Rezervirano mjesto podnožja 4">
            <a:extLst>
              <a:ext uri="{FF2B5EF4-FFF2-40B4-BE49-F238E27FC236}">
                <a16:creationId xmlns:a16="http://schemas.microsoft.com/office/drawing/2014/main" id="{71C87BFE-E2E0-951D-50E7-F178F7C19608}"/>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1B65B809-772C-0AE9-3E60-AF049DC63B82}"/>
              </a:ext>
            </a:extLst>
          </p:cNvPr>
          <p:cNvSpPr>
            <a:spLocks noGrp="1"/>
          </p:cNvSpPr>
          <p:nvPr>
            <p:ph type="sldNum" sz="quarter" idx="12"/>
          </p:nvPr>
        </p:nvSpPr>
        <p:spPr/>
        <p:txBody>
          <a:bodyPr/>
          <a:lstStyle/>
          <a:p>
            <a:fld id="{062FCE7A-4CE0-4DEE-B078-7513DC67C960}" type="slidenum">
              <a:rPr lang="hr-HR" smtClean="0"/>
              <a:t>‹#›</a:t>
            </a:fld>
            <a:endParaRPr lang="hr-HR"/>
          </a:p>
        </p:txBody>
      </p:sp>
    </p:spTree>
    <p:extLst>
      <p:ext uri="{BB962C8B-B14F-4D97-AF65-F5344CB8AC3E}">
        <p14:creationId xmlns:p14="http://schemas.microsoft.com/office/powerpoint/2010/main" val="267446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6950915-8464-19F5-4361-23D5466816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A6F6D952-449B-5FE2-176B-9A5B73CA55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018D456D-B19A-4ECA-45A1-178BDC6D40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B847E6-C548-44CB-A2B1-64D4C346CD56}" type="datetimeFigureOut">
              <a:rPr lang="hr-HR" smtClean="0"/>
              <a:t>6.3.2025.</a:t>
            </a:fld>
            <a:endParaRPr lang="hr-HR"/>
          </a:p>
        </p:txBody>
      </p:sp>
      <p:sp>
        <p:nvSpPr>
          <p:cNvPr id="5" name="Rezervirano mjesto podnožja 4">
            <a:extLst>
              <a:ext uri="{FF2B5EF4-FFF2-40B4-BE49-F238E27FC236}">
                <a16:creationId xmlns:a16="http://schemas.microsoft.com/office/drawing/2014/main" id="{8A9A5AA9-CDBE-DB8E-10FA-D1A67BC7C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64ECE2B6-3595-E810-FE51-E2158033F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2FCE7A-4CE0-4DEE-B078-7513DC67C960}" type="slidenum">
              <a:rPr lang="hr-HR" smtClean="0"/>
              <a:t>‹#›</a:t>
            </a:fld>
            <a:endParaRPr lang="hr-HR"/>
          </a:p>
        </p:txBody>
      </p:sp>
    </p:spTree>
    <p:extLst>
      <p:ext uri="{BB962C8B-B14F-4D97-AF65-F5344CB8AC3E}">
        <p14:creationId xmlns:p14="http://schemas.microsoft.com/office/powerpoint/2010/main" val="3670325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Naslov 1">
            <a:extLst>
              <a:ext uri="{FF2B5EF4-FFF2-40B4-BE49-F238E27FC236}">
                <a16:creationId xmlns:a16="http://schemas.microsoft.com/office/drawing/2014/main" id="{3C03D3B9-38E2-0DA0-C0CB-9C3B9A6BDB06}"/>
              </a:ext>
            </a:extLst>
          </p:cNvPr>
          <p:cNvSpPr>
            <a:spLocks noGrp="1"/>
          </p:cNvSpPr>
          <p:nvPr>
            <p:ph type="ctrTitle"/>
          </p:nvPr>
        </p:nvSpPr>
        <p:spPr>
          <a:xfrm>
            <a:off x="3215729" y="1764407"/>
            <a:ext cx="5760846" cy="2310312"/>
          </a:xfrm>
        </p:spPr>
        <p:txBody>
          <a:bodyPr>
            <a:normAutofit/>
          </a:bodyPr>
          <a:lstStyle/>
          <a:p>
            <a:r>
              <a:rPr lang="hr-HR" sz="5200" dirty="0">
                <a:solidFill>
                  <a:schemeClr val="tx2"/>
                </a:solidFill>
              </a:rPr>
              <a:t>PRIRODNA DEDUKCIJA</a:t>
            </a:r>
          </a:p>
        </p:txBody>
      </p:sp>
      <p:sp>
        <p:nvSpPr>
          <p:cNvPr id="3" name="Podnaslov 2">
            <a:extLst>
              <a:ext uri="{FF2B5EF4-FFF2-40B4-BE49-F238E27FC236}">
                <a16:creationId xmlns:a16="http://schemas.microsoft.com/office/drawing/2014/main" id="{CA2EC6D6-90D3-E431-9FC8-0F1862E2147D}"/>
              </a:ext>
            </a:extLst>
          </p:cNvPr>
          <p:cNvSpPr>
            <a:spLocks noGrp="1"/>
          </p:cNvSpPr>
          <p:nvPr>
            <p:ph type="subTitle" idx="1"/>
          </p:nvPr>
        </p:nvSpPr>
        <p:spPr>
          <a:xfrm>
            <a:off x="3215729" y="4165152"/>
            <a:ext cx="5760846" cy="682079"/>
          </a:xfrm>
        </p:spPr>
        <p:txBody>
          <a:bodyPr>
            <a:normAutofit/>
          </a:bodyPr>
          <a:lstStyle/>
          <a:p>
            <a:endParaRPr lang="hr-HR" dirty="0">
              <a:solidFill>
                <a:schemeClr val="tx2"/>
              </a:solidFill>
            </a:endParaRPr>
          </a:p>
        </p:txBody>
      </p:sp>
    </p:spTree>
    <p:extLst>
      <p:ext uri="{BB962C8B-B14F-4D97-AF65-F5344CB8AC3E}">
        <p14:creationId xmlns:p14="http://schemas.microsoft.com/office/powerpoint/2010/main" val="32699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Naslov 1">
            <a:extLst>
              <a:ext uri="{FF2B5EF4-FFF2-40B4-BE49-F238E27FC236}">
                <a16:creationId xmlns:a16="http://schemas.microsoft.com/office/drawing/2014/main" id="{B901EF7B-0BD8-55A3-5465-14AE2009ACBE}"/>
              </a:ext>
            </a:extLst>
          </p:cNvPr>
          <p:cNvSpPr>
            <a:spLocks noGrp="1"/>
          </p:cNvSpPr>
          <p:nvPr>
            <p:ph type="title"/>
          </p:nvPr>
        </p:nvSpPr>
        <p:spPr>
          <a:xfrm>
            <a:off x="838201" y="345810"/>
            <a:ext cx="5120561" cy="1325563"/>
          </a:xfrm>
        </p:spPr>
        <p:txBody>
          <a:bodyPr>
            <a:normAutofit/>
          </a:bodyPr>
          <a:lstStyle/>
          <a:p>
            <a:endParaRPr lang="hr-HR"/>
          </a:p>
        </p:txBody>
      </p:sp>
      <p:sp>
        <p:nvSpPr>
          <p:cNvPr id="3" name="Rezervirano mjesto sadržaja 2">
            <a:extLst>
              <a:ext uri="{FF2B5EF4-FFF2-40B4-BE49-F238E27FC236}">
                <a16:creationId xmlns:a16="http://schemas.microsoft.com/office/drawing/2014/main" id="{A3AE34B9-00D1-7A1B-3B69-1C39AB077B63}"/>
              </a:ext>
            </a:extLst>
          </p:cNvPr>
          <p:cNvSpPr>
            <a:spLocks noGrp="1"/>
          </p:cNvSpPr>
          <p:nvPr>
            <p:ph idx="1"/>
          </p:nvPr>
        </p:nvSpPr>
        <p:spPr>
          <a:xfrm>
            <a:off x="116732" y="1825625"/>
            <a:ext cx="6605081" cy="4935098"/>
          </a:xfrm>
        </p:spPr>
        <p:txBody>
          <a:bodyPr>
            <a:normAutofit/>
          </a:bodyPr>
          <a:lstStyle/>
          <a:p>
            <a:r>
              <a:rPr lang="hr-HR" sz="3200" dirty="0"/>
              <a:t>Ako neće na Zemlji biti više tekuće vode nego sada, onda se na njoj neće otopiti ledene kape. Ako će se povisiti prosječna temperatura na Zemlji, ledene kape će se otopiti. Stoga,  na Zemlji neće biti puno više tekuće vode nego što je sada samo ako se neće povisiti prosječna temperatura na Zemlji. </a:t>
            </a:r>
          </a:p>
          <a:p>
            <a:r>
              <a:rPr lang="hr-HR" sz="3200" dirty="0"/>
              <a:t>(P, V,O)</a:t>
            </a:r>
          </a:p>
          <a:p>
            <a:endParaRPr lang="hr-HR" dirty="0"/>
          </a:p>
        </p:txBody>
      </p:sp>
      <p:sp>
        <p:nvSpPr>
          <p:cNvPr id="1033" name="Oval 103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Slika 3">
            <a:extLst>
              <a:ext uri="{FF2B5EF4-FFF2-40B4-BE49-F238E27FC236}">
                <a16:creationId xmlns:a16="http://schemas.microsoft.com/office/drawing/2014/main" id="{9C27819F-94C9-69C1-A820-081B37713140}"/>
              </a:ext>
            </a:extLst>
          </p:cNvPr>
          <p:cNvPicPr>
            <a:picLocks noChangeAspect="1"/>
          </p:cNvPicPr>
          <p:nvPr/>
        </p:nvPicPr>
        <p:blipFill rotWithShape="1">
          <a:blip r:embed="rId2"/>
          <a:srcRect r="41824"/>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035" name="Arc 1034">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026" name="Picture 2" descr="10 zanimljivosti o planeti Zemlji | Joomboos.24sata.hr">
            <a:extLst>
              <a:ext uri="{FF2B5EF4-FFF2-40B4-BE49-F238E27FC236}">
                <a16:creationId xmlns:a16="http://schemas.microsoft.com/office/drawing/2014/main" id="{94943707-4E92-1BC5-77BD-D402D7F952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22" r="16306" b="-2"/>
          <a:stretch/>
        </p:blipFill>
        <p:spPr bwMode="auto">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152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Naslov 1">
            <a:extLst>
              <a:ext uri="{FF2B5EF4-FFF2-40B4-BE49-F238E27FC236}">
                <a16:creationId xmlns:a16="http://schemas.microsoft.com/office/drawing/2014/main" id="{A83D4022-887D-F1FA-E2C6-3829730536EE}"/>
              </a:ext>
            </a:extLst>
          </p:cNvPr>
          <p:cNvSpPr>
            <a:spLocks noGrp="1"/>
          </p:cNvSpPr>
          <p:nvPr>
            <p:ph type="title"/>
          </p:nvPr>
        </p:nvSpPr>
        <p:spPr>
          <a:xfrm>
            <a:off x="838201" y="365125"/>
            <a:ext cx="5393360" cy="1325563"/>
          </a:xfrm>
        </p:spPr>
        <p:txBody>
          <a:bodyPr>
            <a:normAutofit/>
          </a:bodyPr>
          <a:lstStyle/>
          <a:p>
            <a:endParaRPr lang="hr-HR"/>
          </a:p>
        </p:txBody>
      </p:sp>
      <p:sp>
        <p:nvSpPr>
          <p:cNvPr id="2057" name="Freeform: Shape 2056">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zervirano mjesto sadržaja 2">
            <a:extLst>
              <a:ext uri="{FF2B5EF4-FFF2-40B4-BE49-F238E27FC236}">
                <a16:creationId xmlns:a16="http://schemas.microsoft.com/office/drawing/2014/main" id="{0577D0D4-734F-E850-9659-1D4A3ED9A0A5}"/>
              </a:ext>
            </a:extLst>
          </p:cNvPr>
          <p:cNvSpPr>
            <a:spLocks noGrp="1"/>
          </p:cNvSpPr>
          <p:nvPr>
            <p:ph idx="1"/>
          </p:nvPr>
        </p:nvSpPr>
        <p:spPr>
          <a:xfrm>
            <a:off x="838200" y="1825625"/>
            <a:ext cx="5393361" cy="4351338"/>
          </a:xfrm>
        </p:spPr>
        <p:txBody>
          <a:bodyPr>
            <a:normAutofit/>
          </a:bodyPr>
          <a:lstStyle/>
          <a:p>
            <a:r>
              <a:rPr lang="hr-HR" dirty="0"/>
              <a:t>Željko je razmišljao: „Poći ću na more, ali ne neću kupati. No, kupat ću se ako pođem na more.” Dokažite da je Željkovo razmišljanje protuslovno! (M, K)</a:t>
            </a:r>
          </a:p>
        </p:txBody>
      </p:sp>
      <p:sp>
        <p:nvSpPr>
          <p:cNvPr id="2059" name="Oval 2058">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Freeform: Shape 2060">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2050" name="Picture 2" descr="Koje su zdravstvene prednosti plivanja u moru? - Fitness.com.hr">
            <a:extLst>
              <a:ext uri="{FF2B5EF4-FFF2-40B4-BE49-F238E27FC236}">
                <a16:creationId xmlns:a16="http://schemas.microsoft.com/office/drawing/2014/main" id="{5F613A2F-ABB0-7782-562F-4A21EEE2C7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392" r="17054"/>
          <a:stretch/>
        </p:blipFill>
        <p:spPr bwMode="auto">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2063" name="Freeform: Shape 2062">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065" name="Straight Connector 2064">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67" name="Freeform: Shape 2066">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9" name="Freeform: Shape 2068">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01492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Naslov 1">
            <a:extLst>
              <a:ext uri="{FF2B5EF4-FFF2-40B4-BE49-F238E27FC236}">
                <a16:creationId xmlns:a16="http://schemas.microsoft.com/office/drawing/2014/main" id="{CFCB5178-B6F1-95DD-5B3D-3AA15A7E3665}"/>
              </a:ext>
            </a:extLst>
          </p:cNvPr>
          <p:cNvSpPr>
            <a:spLocks noGrp="1"/>
          </p:cNvSpPr>
          <p:nvPr>
            <p:ph type="title"/>
          </p:nvPr>
        </p:nvSpPr>
        <p:spPr>
          <a:xfrm>
            <a:off x="640080" y="325369"/>
            <a:ext cx="4368602" cy="1956841"/>
          </a:xfrm>
        </p:spPr>
        <p:txBody>
          <a:bodyPr anchor="b">
            <a:normAutofit/>
          </a:bodyPr>
          <a:lstStyle/>
          <a:p>
            <a:endParaRPr lang="hr-HR" sz="5400"/>
          </a:p>
        </p:txBody>
      </p:sp>
      <p:sp>
        <p:nvSpPr>
          <p:cNvPr id="308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zervirano mjesto sadržaja 2">
            <a:extLst>
              <a:ext uri="{FF2B5EF4-FFF2-40B4-BE49-F238E27FC236}">
                <a16:creationId xmlns:a16="http://schemas.microsoft.com/office/drawing/2014/main" id="{0AB3F10E-88BF-0111-5DEA-E03D59C54E87}"/>
              </a:ext>
            </a:extLst>
          </p:cNvPr>
          <p:cNvSpPr>
            <a:spLocks noGrp="1"/>
          </p:cNvSpPr>
          <p:nvPr>
            <p:ph idx="1"/>
          </p:nvPr>
        </p:nvSpPr>
        <p:spPr>
          <a:xfrm>
            <a:off x="243191" y="2872899"/>
            <a:ext cx="5350213" cy="3320668"/>
          </a:xfrm>
        </p:spPr>
        <p:txBody>
          <a:bodyPr>
            <a:normAutofit/>
          </a:bodyPr>
          <a:lstStyle/>
          <a:p>
            <a:r>
              <a:rPr lang="hr-HR" sz="3600" dirty="0"/>
              <a:t>∏ je prirodan broj samo ako je pozitivan i cijeli. No ∏ nije cijeli broj, pa nije ni prirodan (N, P, C)</a:t>
            </a:r>
          </a:p>
        </p:txBody>
      </p:sp>
      <p:pic>
        <p:nvPicPr>
          <p:cNvPr id="3074" name="Picture 2" descr="Danas se obilježava Svjetski dan broja Pi - zenicainfo.ba">
            <a:extLst>
              <a:ext uri="{FF2B5EF4-FFF2-40B4-BE49-F238E27FC236}">
                <a16:creationId xmlns:a16="http://schemas.microsoft.com/office/drawing/2014/main" id="{BA174B56-C147-7173-4D36-8BF854C441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913"/>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74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Naslov 1">
            <a:extLst>
              <a:ext uri="{FF2B5EF4-FFF2-40B4-BE49-F238E27FC236}">
                <a16:creationId xmlns:a16="http://schemas.microsoft.com/office/drawing/2014/main" id="{E7A1A147-A48E-D535-EF64-01DF25447EB9}"/>
              </a:ext>
            </a:extLst>
          </p:cNvPr>
          <p:cNvSpPr>
            <a:spLocks noGrp="1"/>
          </p:cNvSpPr>
          <p:nvPr>
            <p:ph type="title"/>
          </p:nvPr>
        </p:nvSpPr>
        <p:spPr>
          <a:xfrm>
            <a:off x="804672" y="802955"/>
            <a:ext cx="4766330" cy="1454051"/>
          </a:xfrm>
        </p:spPr>
        <p:txBody>
          <a:bodyPr>
            <a:normAutofit/>
          </a:bodyPr>
          <a:lstStyle/>
          <a:p>
            <a:endParaRPr lang="hr-HR" sz="3600">
              <a:solidFill>
                <a:schemeClr val="tx2"/>
              </a:solidFill>
            </a:endParaRPr>
          </a:p>
        </p:txBody>
      </p:sp>
      <p:sp>
        <p:nvSpPr>
          <p:cNvPr id="3" name="Rezervirano mjesto sadržaja 2">
            <a:extLst>
              <a:ext uri="{FF2B5EF4-FFF2-40B4-BE49-F238E27FC236}">
                <a16:creationId xmlns:a16="http://schemas.microsoft.com/office/drawing/2014/main" id="{B5AD4AA4-A690-DBDE-CA19-7296CA67536B}"/>
              </a:ext>
            </a:extLst>
          </p:cNvPr>
          <p:cNvSpPr>
            <a:spLocks noGrp="1"/>
          </p:cNvSpPr>
          <p:nvPr>
            <p:ph idx="1"/>
          </p:nvPr>
        </p:nvSpPr>
        <p:spPr>
          <a:xfrm>
            <a:off x="341376" y="2421683"/>
            <a:ext cx="5631407" cy="4008300"/>
          </a:xfrm>
        </p:spPr>
        <p:txBody>
          <a:bodyPr anchor="t">
            <a:noAutofit/>
          </a:bodyPr>
          <a:lstStyle/>
          <a:p>
            <a:r>
              <a:rPr lang="hr-HR" sz="4000" dirty="0">
                <a:solidFill>
                  <a:schemeClr val="tx2"/>
                </a:solidFill>
              </a:rPr>
              <a:t>Ako je ∏ pozitivan i cijeli broj, onda je i prirodan. Stoga, ako je ∏ pozitivan broj, onda je i cijeli samo ako je prirodan ( N, P, C)</a:t>
            </a:r>
          </a:p>
        </p:txBody>
      </p:sp>
      <p:grpSp>
        <p:nvGrpSpPr>
          <p:cNvPr id="4107" name="Group 410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4108" name="Freeform: Shape 4107">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Freeform: Shape 4108">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0" name="Freeform: Shape 4109">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Freeform: Shape 4110">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98" name="Picture 2" descr="IMA LI TO SMISLA? Izračunali su trilijun brojki broja pi | Tech | Pametne  platforme">
            <a:extLst>
              <a:ext uri="{FF2B5EF4-FFF2-40B4-BE49-F238E27FC236}">
                <a16:creationId xmlns:a16="http://schemas.microsoft.com/office/drawing/2014/main" id="{788DC1C5-436A-F0DE-45BD-3E6B083CB95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08392" y="1819656"/>
            <a:ext cx="4142232" cy="4142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219215"/>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169</Words>
  <Application>Microsoft Office PowerPoint</Application>
  <PresentationFormat>Široki zaslon</PresentationFormat>
  <Paragraphs>6</Paragraphs>
  <Slides>5</Slides>
  <Notes>0</Notes>
  <HiddenSlides>0</HiddenSlides>
  <MMClips>0</MMClips>
  <ScaleCrop>false</ScaleCrop>
  <HeadingPairs>
    <vt:vector size="6" baseType="variant">
      <vt:variant>
        <vt:lpstr>Korišteni fontovi</vt:lpstr>
      </vt:variant>
      <vt:variant>
        <vt:i4>3</vt:i4>
      </vt:variant>
      <vt:variant>
        <vt:lpstr>Tema</vt:lpstr>
      </vt:variant>
      <vt:variant>
        <vt:i4>1</vt:i4>
      </vt:variant>
      <vt:variant>
        <vt:lpstr>Naslovi slajdova</vt:lpstr>
      </vt:variant>
      <vt:variant>
        <vt:i4>5</vt:i4>
      </vt:variant>
    </vt:vector>
  </HeadingPairs>
  <TitlesOfParts>
    <vt:vector size="9" baseType="lpstr">
      <vt:lpstr>Arial</vt:lpstr>
      <vt:lpstr>Calibri</vt:lpstr>
      <vt:lpstr>Calibri Light</vt:lpstr>
      <vt:lpstr>Tema sustava Office</vt:lpstr>
      <vt:lpstr>PRIRODNA DEDUKCIJA</vt:lpstr>
      <vt:lpstr>PowerPoint prezentacija</vt:lpstr>
      <vt:lpstr>PowerPoint prezentacija</vt:lpstr>
      <vt:lpstr>PowerPoint prezentacija</vt:lpstr>
      <vt:lpstr>PowerPoint prezentacija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PRIRODNA DEDUKCIJA</dc:title>
  <dc:creator>Mirela Turk</dc:creator>
  <cp:lastModifiedBy>Mirela Turk</cp:lastModifiedBy>
  <cp:revision>4</cp:revision>
  <dcterms:created xsi:type="dcterms:W3CDTF">2024-02-26T07:35:59Z</dcterms:created>
  <dcterms:modified xsi:type="dcterms:W3CDTF">2025-03-06T18:55:22Z</dcterms:modified>
</cp:coreProperties>
</file>