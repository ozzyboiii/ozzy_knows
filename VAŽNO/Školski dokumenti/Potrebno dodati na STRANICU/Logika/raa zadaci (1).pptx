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sp>
        <p:nvSpPr>
          <p:cNvPr id="2" name="Naslov 1"/>
          <p:cNvSpPr>
            <a:spLocks noGrp="1"/>
          </p:cNvSpPr>
          <p:nvPr>
            <p:ph type="ctrTitle"/>
          </p:nvPr>
        </p:nvSpPr>
        <p:spPr>
          <a:xfrm>
            <a:off x="1524000" y="1122363"/>
            <a:ext cx="9144000" cy="2387600"/>
          </a:xfrm>
        </p:spPr>
        <p:txBody>
          <a:bodyPr anchor="b"/>
          <a:lstStyle>
            <a:lvl1pPr algn="ctr">
              <a:defRPr sz="6000"/>
            </a:lvl1pPr>
          </a:lstStyle>
          <a:p>
            <a:r>
              <a:rPr lang="hr-HR"/>
              <a:t>Uredite stil naslova matrice</a:t>
            </a:r>
          </a:p>
        </p:txBody>
      </p:sp>
      <p:sp>
        <p:nvSpPr>
          <p:cNvPr id="3" name="Podnaslov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a:t>Kliknite da biste uredili stil podnaslova matrice</a:t>
            </a:r>
          </a:p>
        </p:txBody>
      </p:sp>
      <p:sp>
        <p:nvSpPr>
          <p:cNvPr id="4" name="Rezervirano mjesto datuma 3"/>
          <p:cNvSpPr>
            <a:spLocks noGrp="1"/>
          </p:cNvSpPr>
          <p:nvPr>
            <p:ph type="dt" sz="half" idx="10"/>
          </p:nvPr>
        </p:nvSpPr>
        <p:spPr/>
        <p:txBody>
          <a:bodyPr/>
          <a:lstStyle/>
          <a:p>
            <a:fld id="{15F450FE-A0C9-48D3-B1D8-F92C2CEF8352}" type="datetimeFigureOut">
              <a:rPr lang="hr-HR" smtClean="0"/>
              <a:t>10.3.2021.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1156244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a:t>Uredite stil naslova matrice</a:t>
            </a:r>
          </a:p>
        </p:txBody>
      </p:sp>
      <p:sp>
        <p:nvSpPr>
          <p:cNvPr id="3" name="Rezervirano mjesto sadržaja 2"/>
          <p:cNvSpPr>
            <a:spLocks noGrp="1"/>
          </p:cNvSpPr>
          <p:nvPr>
            <p:ph idx="1"/>
          </p:nvPr>
        </p:nvSpPr>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datuma 3"/>
          <p:cNvSpPr>
            <a:spLocks noGrp="1"/>
          </p:cNvSpPr>
          <p:nvPr>
            <p:ph type="dt" sz="half" idx="10"/>
          </p:nvPr>
        </p:nvSpPr>
        <p:spPr/>
        <p:txBody>
          <a:bodyPr/>
          <a:lstStyle/>
          <a:p>
            <a:fld id="{15F450FE-A0C9-48D3-B1D8-F92C2CEF8352}" type="datetimeFigureOut">
              <a:rPr lang="hr-HR" smtClean="0"/>
              <a:t>10.3.2021.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47041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aglavlje sekcije">
    <p:spTree>
      <p:nvGrpSpPr>
        <p:cNvPr id="1" name=""/>
        <p:cNvGrpSpPr/>
        <p:nvPr/>
      </p:nvGrpSpPr>
      <p:grpSpPr>
        <a:xfrm>
          <a:off x="0" y="0"/>
          <a:ext cx="0" cy="0"/>
          <a:chOff x="0" y="0"/>
          <a:chExt cx="0" cy="0"/>
        </a:xfrm>
      </p:grpSpPr>
      <p:sp>
        <p:nvSpPr>
          <p:cNvPr id="2" name="Naslov 1"/>
          <p:cNvSpPr>
            <a:spLocks noGrp="1"/>
          </p:cNvSpPr>
          <p:nvPr>
            <p:ph type="title"/>
          </p:nvPr>
        </p:nvSpPr>
        <p:spPr>
          <a:xfrm>
            <a:off x="831850" y="1709738"/>
            <a:ext cx="10515600" cy="2852737"/>
          </a:xfrm>
        </p:spPr>
        <p:txBody>
          <a:bodyPr anchor="b"/>
          <a:lstStyle>
            <a:lvl1pPr>
              <a:defRPr sz="6000"/>
            </a:lvl1pPr>
          </a:lstStyle>
          <a:p>
            <a:r>
              <a:rPr lang="hr-HR"/>
              <a:t>Uredite stil naslova matrice</a:t>
            </a:r>
          </a:p>
        </p:txBody>
      </p:sp>
      <p:sp>
        <p:nvSpPr>
          <p:cNvPr id="3" name="Rezervirano mjesto teksta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r-HR"/>
              <a:t>Uredite stilove teksta matrice</a:t>
            </a:r>
          </a:p>
        </p:txBody>
      </p:sp>
      <p:sp>
        <p:nvSpPr>
          <p:cNvPr id="4" name="Rezervirano mjesto datuma 3"/>
          <p:cNvSpPr>
            <a:spLocks noGrp="1"/>
          </p:cNvSpPr>
          <p:nvPr>
            <p:ph type="dt" sz="half" idx="10"/>
          </p:nvPr>
        </p:nvSpPr>
        <p:spPr/>
        <p:txBody>
          <a:bodyPr/>
          <a:lstStyle/>
          <a:p>
            <a:fld id="{15F450FE-A0C9-48D3-B1D8-F92C2CEF8352}" type="datetimeFigureOut">
              <a:rPr lang="hr-HR" smtClean="0"/>
              <a:t>10.3.2021.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4211401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a:t>Uredite stil naslova matrice</a:t>
            </a:r>
          </a:p>
        </p:txBody>
      </p:sp>
      <p:sp>
        <p:nvSpPr>
          <p:cNvPr id="3" name="Rezervirano mjesto sadržaja 2"/>
          <p:cNvSpPr>
            <a:spLocks noGrp="1"/>
          </p:cNvSpPr>
          <p:nvPr>
            <p:ph sz="half" idx="1"/>
          </p:nvPr>
        </p:nvSpPr>
        <p:spPr>
          <a:xfrm>
            <a:off x="838200" y="1825625"/>
            <a:ext cx="5181600" cy="4351338"/>
          </a:xfrm>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sadržaja 3"/>
          <p:cNvSpPr>
            <a:spLocks noGrp="1"/>
          </p:cNvSpPr>
          <p:nvPr>
            <p:ph sz="half" idx="2"/>
          </p:nvPr>
        </p:nvSpPr>
        <p:spPr>
          <a:xfrm>
            <a:off x="6172200" y="1825625"/>
            <a:ext cx="5181600" cy="4351338"/>
          </a:xfrm>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5" name="Rezervirano mjesto datuma 4"/>
          <p:cNvSpPr>
            <a:spLocks noGrp="1"/>
          </p:cNvSpPr>
          <p:nvPr>
            <p:ph type="dt" sz="half" idx="10"/>
          </p:nvPr>
        </p:nvSpPr>
        <p:spPr/>
        <p:txBody>
          <a:bodyPr/>
          <a:lstStyle/>
          <a:p>
            <a:fld id="{15F450FE-A0C9-48D3-B1D8-F92C2CEF8352}" type="datetimeFigureOut">
              <a:rPr lang="hr-HR" smtClean="0"/>
              <a:t>10.3.2021.</a:t>
            </a:fld>
            <a:endParaRPr lang="hr-HR"/>
          </a:p>
        </p:txBody>
      </p:sp>
      <p:sp>
        <p:nvSpPr>
          <p:cNvPr id="6" name="Rezervirano mjesto podnožja 5"/>
          <p:cNvSpPr>
            <a:spLocks noGrp="1"/>
          </p:cNvSpPr>
          <p:nvPr>
            <p:ph type="ftr" sz="quarter" idx="11"/>
          </p:nvPr>
        </p:nvSpPr>
        <p:spPr/>
        <p:txBody>
          <a:bodyPr/>
          <a:lstStyle/>
          <a:p>
            <a:endParaRPr lang="hr-HR"/>
          </a:p>
        </p:txBody>
      </p:sp>
      <p:sp>
        <p:nvSpPr>
          <p:cNvPr id="7" name="Rezervirano mjesto broja slajda 6"/>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597529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Usporedba">
    <p:spTree>
      <p:nvGrpSpPr>
        <p:cNvPr id="1" name=""/>
        <p:cNvGrpSpPr/>
        <p:nvPr/>
      </p:nvGrpSpPr>
      <p:grpSpPr>
        <a:xfrm>
          <a:off x="0" y="0"/>
          <a:ext cx="0" cy="0"/>
          <a:chOff x="0" y="0"/>
          <a:chExt cx="0" cy="0"/>
        </a:xfrm>
      </p:grpSpPr>
      <p:sp>
        <p:nvSpPr>
          <p:cNvPr id="2" name="Naslov 1"/>
          <p:cNvSpPr>
            <a:spLocks noGrp="1"/>
          </p:cNvSpPr>
          <p:nvPr>
            <p:ph type="title"/>
          </p:nvPr>
        </p:nvSpPr>
        <p:spPr>
          <a:xfrm>
            <a:off x="839788" y="365125"/>
            <a:ext cx="10515600" cy="1325563"/>
          </a:xfrm>
        </p:spPr>
        <p:txBody>
          <a:bodyPr/>
          <a:lstStyle/>
          <a:p>
            <a:r>
              <a:rPr lang="hr-HR"/>
              <a:t>Uredite stil naslova matrice</a:t>
            </a:r>
          </a:p>
        </p:txBody>
      </p:sp>
      <p:sp>
        <p:nvSpPr>
          <p:cNvPr id="3" name="Rezervirano mjesto teksta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r-HR"/>
              <a:t>Uredite stilove teksta matrice</a:t>
            </a:r>
          </a:p>
        </p:txBody>
      </p:sp>
      <p:sp>
        <p:nvSpPr>
          <p:cNvPr id="4" name="Rezervirano mjesto sadržaja 3"/>
          <p:cNvSpPr>
            <a:spLocks noGrp="1"/>
          </p:cNvSpPr>
          <p:nvPr>
            <p:ph sz="half" idx="2"/>
          </p:nvPr>
        </p:nvSpPr>
        <p:spPr>
          <a:xfrm>
            <a:off x="839788" y="2505075"/>
            <a:ext cx="5157787" cy="3684588"/>
          </a:xfrm>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5" name="Rezervirano mjesto teksta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r-HR"/>
              <a:t>Uredite stilove teksta matrice</a:t>
            </a:r>
          </a:p>
        </p:txBody>
      </p:sp>
      <p:sp>
        <p:nvSpPr>
          <p:cNvPr id="6" name="Rezervirano mjesto sadržaja 5"/>
          <p:cNvSpPr>
            <a:spLocks noGrp="1"/>
          </p:cNvSpPr>
          <p:nvPr>
            <p:ph sz="quarter" idx="4"/>
          </p:nvPr>
        </p:nvSpPr>
        <p:spPr>
          <a:xfrm>
            <a:off x="6172200" y="2505075"/>
            <a:ext cx="5183188" cy="3684588"/>
          </a:xfrm>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7" name="Rezervirano mjesto datuma 6"/>
          <p:cNvSpPr>
            <a:spLocks noGrp="1"/>
          </p:cNvSpPr>
          <p:nvPr>
            <p:ph type="dt" sz="half" idx="10"/>
          </p:nvPr>
        </p:nvSpPr>
        <p:spPr/>
        <p:txBody>
          <a:bodyPr/>
          <a:lstStyle/>
          <a:p>
            <a:fld id="{15F450FE-A0C9-48D3-B1D8-F92C2CEF8352}" type="datetimeFigureOut">
              <a:rPr lang="hr-HR" smtClean="0"/>
              <a:t>10.3.2021.</a:t>
            </a:fld>
            <a:endParaRPr lang="hr-HR"/>
          </a:p>
        </p:txBody>
      </p:sp>
      <p:sp>
        <p:nvSpPr>
          <p:cNvPr id="8" name="Rezervirano mjesto podnožja 7"/>
          <p:cNvSpPr>
            <a:spLocks noGrp="1"/>
          </p:cNvSpPr>
          <p:nvPr>
            <p:ph type="ftr" sz="quarter" idx="11"/>
          </p:nvPr>
        </p:nvSpPr>
        <p:spPr/>
        <p:txBody>
          <a:bodyPr/>
          <a:lstStyle/>
          <a:p>
            <a:endParaRPr lang="hr-HR"/>
          </a:p>
        </p:txBody>
      </p:sp>
      <p:sp>
        <p:nvSpPr>
          <p:cNvPr id="9" name="Rezervirano mjesto broja slajda 8"/>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1837484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amo naslov">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a:t>Uredite stil naslova matrice</a:t>
            </a:r>
          </a:p>
        </p:txBody>
      </p:sp>
      <p:sp>
        <p:nvSpPr>
          <p:cNvPr id="3" name="Rezervirano mjesto datuma 2"/>
          <p:cNvSpPr>
            <a:spLocks noGrp="1"/>
          </p:cNvSpPr>
          <p:nvPr>
            <p:ph type="dt" sz="half" idx="10"/>
          </p:nvPr>
        </p:nvSpPr>
        <p:spPr/>
        <p:txBody>
          <a:bodyPr/>
          <a:lstStyle/>
          <a:p>
            <a:fld id="{15F450FE-A0C9-48D3-B1D8-F92C2CEF8352}" type="datetimeFigureOut">
              <a:rPr lang="hr-HR" smtClean="0"/>
              <a:t>10.3.2021.</a:t>
            </a:fld>
            <a:endParaRPr lang="hr-HR"/>
          </a:p>
        </p:txBody>
      </p:sp>
      <p:sp>
        <p:nvSpPr>
          <p:cNvPr id="4" name="Rezervirano mjesto podnožja 3"/>
          <p:cNvSpPr>
            <a:spLocks noGrp="1"/>
          </p:cNvSpPr>
          <p:nvPr>
            <p:ph type="ftr" sz="quarter" idx="11"/>
          </p:nvPr>
        </p:nvSpPr>
        <p:spPr/>
        <p:txBody>
          <a:bodyPr/>
          <a:lstStyle/>
          <a:p>
            <a:endParaRPr lang="hr-HR"/>
          </a:p>
        </p:txBody>
      </p:sp>
      <p:sp>
        <p:nvSpPr>
          <p:cNvPr id="5" name="Rezervirano mjesto broja slajda 4"/>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2714633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azno">
    <p:spTree>
      <p:nvGrpSpPr>
        <p:cNvPr id="1" name=""/>
        <p:cNvGrpSpPr/>
        <p:nvPr/>
      </p:nvGrpSpPr>
      <p:grpSpPr>
        <a:xfrm>
          <a:off x="0" y="0"/>
          <a:ext cx="0" cy="0"/>
          <a:chOff x="0" y="0"/>
          <a:chExt cx="0" cy="0"/>
        </a:xfrm>
      </p:grpSpPr>
      <p:sp>
        <p:nvSpPr>
          <p:cNvPr id="2" name="Rezervirano mjesto datuma 1"/>
          <p:cNvSpPr>
            <a:spLocks noGrp="1"/>
          </p:cNvSpPr>
          <p:nvPr>
            <p:ph type="dt" sz="half" idx="10"/>
          </p:nvPr>
        </p:nvSpPr>
        <p:spPr/>
        <p:txBody>
          <a:bodyPr/>
          <a:lstStyle/>
          <a:p>
            <a:fld id="{15F450FE-A0C9-48D3-B1D8-F92C2CEF8352}" type="datetimeFigureOut">
              <a:rPr lang="hr-HR" smtClean="0"/>
              <a:t>10.3.2021.</a:t>
            </a:fld>
            <a:endParaRPr lang="hr-HR"/>
          </a:p>
        </p:txBody>
      </p:sp>
      <p:sp>
        <p:nvSpPr>
          <p:cNvPr id="3" name="Rezervirano mjesto podnožja 2"/>
          <p:cNvSpPr>
            <a:spLocks noGrp="1"/>
          </p:cNvSpPr>
          <p:nvPr>
            <p:ph type="ftr" sz="quarter" idx="11"/>
          </p:nvPr>
        </p:nvSpPr>
        <p:spPr/>
        <p:txBody>
          <a:bodyPr/>
          <a:lstStyle/>
          <a:p>
            <a:endParaRPr lang="hr-HR"/>
          </a:p>
        </p:txBody>
      </p:sp>
      <p:sp>
        <p:nvSpPr>
          <p:cNvPr id="4" name="Rezervirano mjesto broja slajda 3"/>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166543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Sadržaj s opisom">
    <p:spTree>
      <p:nvGrpSpPr>
        <p:cNvPr id="1" name=""/>
        <p:cNvGrpSpPr/>
        <p:nvPr/>
      </p:nvGrpSpPr>
      <p:grpSpPr>
        <a:xfrm>
          <a:off x="0" y="0"/>
          <a:ext cx="0" cy="0"/>
          <a:chOff x="0" y="0"/>
          <a:chExt cx="0" cy="0"/>
        </a:xfrm>
      </p:grpSpPr>
      <p:sp>
        <p:nvSpPr>
          <p:cNvPr id="2" name="Naslov 1"/>
          <p:cNvSpPr>
            <a:spLocks noGrp="1"/>
          </p:cNvSpPr>
          <p:nvPr>
            <p:ph type="title"/>
          </p:nvPr>
        </p:nvSpPr>
        <p:spPr>
          <a:xfrm>
            <a:off x="839788" y="457200"/>
            <a:ext cx="3932237" cy="1600200"/>
          </a:xfrm>
        </p:spPr>
        <p:txBody>
          <a:bodyPr anchor="b"/>
          <a:lstStyle>
            <a:lvl1pPr>
              <a:defRPr sz="3200"/>
            </a:lvl1pPr>
          </a:lstStyle>
          <a:p>
            <a:r>
              <a:rPr lang="hr-HR"/>
              <a:t>Uredite stil naslova matrice</a:t>
            </a:r>
          </a:p>
        </p:txBody>
      </p:sp>
      <p:sp>
        <p:nvSpPr>
          <p:cNvPr id="3" name="Rezervirano mjesto sadržaja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teksta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r-HR"/>
              <a:t>Uredite stilove teksta matrice</a:t>
            </a:r>
          </a:p>
        </p:txBody>
      </p:sp>
      <p:sp>
        <p:nvSpPr>
          <p:cNvPr id="5" name="Rezervirano mjesto datuma 4"/>
          <p:cNvSpPr>
            <a:spLocks noGrp="1"/>
          </p:cNvSpPr>
          <p:nvPr>
            <p:ph type="dt" sz="half" idx="10"/>
          </p:nvPr>
        </p:nvSpPr>
        <p:spPr/>
        <p:txBody>
          <a:bodyPr/>
          <a:lstStyle/>
          <a:p>
            <a:fld id="{15F450FE-A0C9-48D3-B1D8-F92C2CEF8352}" type="datetimeFigureOut">
              <a:rPr lang="hr-HR" smtClean="0"/>
              <a:t>10.3.2021.</a:t>
            </a:fld>
            <a:endParaRPr lang="hr-HR"/>
          </a:p>
        </p:txBody>
      </p:sp>
      <p:sp>
        <p:nvSpPr>
          <p:cNvPr id="6" name="Rezervirano mjesto podnožja 5"/>
          <p:cNvSpPr>
            <a:spLocks noGrp="1"/>
          </p:cNvSpPr>
          <p:nvPr>
            <p:ph type="ftr" sz="quarter" idx="11"/>
          </p:nvPr>
        </p:nvSpPr>
        <p:spPr/>
        <p:txBody>
          <a:bodyPr/>
          <a:lstStyle/>
          <a:p>
            <a:endParaRPr lang="hr-HR"/>
          </a:p>
        </p:txBody>
      </p:sp>
      <p:sp>
        <p:nvSpPr>
          <p:cNvPr id="7" name="Rezervirano mjesto broja slajda 6"/>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3756734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Slika s opisom">
    <p:spTree>
      <p:nvGrpSpPr>
        <p:cNvPr id="1" name=""/>
        <p:cNvGrpSpPr/>
        <p:nvPr/>
      </p:nvGrpSpPr>
      <p:grpSpPr>
        <a:xfrm>
          <a:off x="0" y="0"/>
          <a:ext cx="0" cy="0"/>
          <a:chOff x="0" y="0"/>
          <a:chExt cx="0" cy="0"/>
        </a:xfrm>
      </p:grpSpPr>
      <p:sp>
        <p:nvSpPr>
          <p:cNvPr id="2" name="Naslov 1"/>
          <p:cNvSpPr>
            <a:spLocks noGrp="1"/>
          </p:cNvSpPr>
          <p:nvPr>
            <p:ph type="title"/>
          </p:nvPr>
        </p:nvSpPr>
        <p:spPr>
          <a:xfrm>
            <a:off x="839788" y="457200"/>
            <a:ext cx="3932237" cy="1600200"/>
          </a:xfrm>
        </p:spPr>
        <p:txBody>
          <a:bodyPr anchor="b"/>
          <a:lstStyle>
            <a:lvl1pPr>
              <a:defRPr sz="3200"/>
            </a:lvl1pPr>
          </a:lstStyle>
          <a:p>
            <a:r>
              <a:rPr lang="hr-HR"/>
              <a:t>Uredite stil naslova matrice</a:t>
            </a:r>
          </a:p>
        </p:txBody>
      </p:sp>
      <p:sp>
        <p:nvSpPr>
          <p:cNvPr id="3" name="Rezervirano mjesto slik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Rezervirano mjesto teksta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r-HR"/>
              <a:t>Uredite stilove teksta matrice</a:t>
            </a:r>
          </a:p>
        </p:txBody>
      </p:sp>
      <p:sp>
        <p:nvSpPr>
          <p:cNvPr id="5" name="Rezervirano mjesto datuma 4"/>
          <p:cNvSpPr>
            <a:spLocks noGrp="1"/>
          </p:cNvSpPr>
          <p:nvPr>
            <p:ph type="dt" sz="half" idx="10"/>
          </p:nvPr>
        </p:nvSpPr>
        <p:spPr/>
        <p:txBody>
          <a:bodyPr/>
          <a:lstStyle/>
          <a:p>
            <a:fld id="{15F450FE-A0C9-48D3-B1D8-F92C2CEF8352}" type="datetimeFigureOut">
              <a:rPr lang="hr-HR" smtClean="0"/>
              <a:t>10.3.2021.</a:t>
            </a:fld>
            <a:endParaRPr lang="hr-HR"/>
          </a:p>
        </p:txBody>
      </p:sp>
      <p:sp>
        <p:nvSpPr>
          <p:cNvPr id="6" name="Rezervirano mjesto podnožja 5"/>
          <p:cNvSpPr>
            <a:spLocks noGrp="1"/>
          </p:cNvSpPr>
          <p:nvPr>
            <p:ph type="ftr" sz="quarter" idx="11"/>
          </p:nvPr>
        </p:nvSpPr>
        <p:spPr/>
        <p:txBody>
          <a:bodyPr/>
          <a:lstStyle/>
          <a:p>
            <a:endParaRPr lang="hr-HR"/>
          </a:p>
        </p:txBody>
      </p:sp>
      <p:sp>
        <p:nvSpPr>
          <p:cNvPr id="7" name="Rezervirano mjesto broja slajda 6"/>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1000179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slov i okomiti tekst">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a:t>Uredite stil naslova matrice</a:t>
            </a:r>
          </a:p>
        </p:txBody>
      </p:sp>
      <p:sp>
        <p:nvSpPr>
          <p:cNvPr id="3" name="Rezervirano mjesto okomitog teksta 2"/>
          <p:cNvSpPr>
            <a:spLocks noGrp="1"/>
          </p:cNvSpPr>
          <p:nvPr>
            <p:ph type="body" orient="vert" idx="1"/>
          </p:nvPr>
        </p:nvSpPr>
        <p:spPr/>
        <p:txBody>
          <a:bodyPr vert="eaVert"/>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datuma 3"/>
          <p:cNvSpPr>
            <a:spLocks noGrp="1"/>
          </p:cNvSpPr>
          <p:nvPr>
            <p:ph type="dt" sz="half" idx="10"/>
          </p:nvPr>
        </p:nvSpPr>
        <p:spPr/>
        <p:txBody>
          <a:bodyPr/>
          <a:lstStyle/>
          <a:p>
            <a:fld id="{15F450FE-A0C9-48D3-B1D8-F92C2CEF8352}" type="datetimeFigureOut">
              <a:rPr lang="hr-HR" smtClean="0"/>
              <a:t>10.3.2021.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862149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Okomiti naslov i tekst">
    <p:spTree>
      <p:nvGrpSpPr>
        <p:cNvPr id="1" name=""/>
        <p:cNvGrpSpPr/>
        <p:nvPr/>
      </p:nvGrpSpPr>
      <p:grpSpPr>
        <a:xfrm>
          <a:off x="0" y="0"/>
          <a:ext cx="0" cy="0"/>
          <a:chOff x="0" y="0"/>
          <a:chExt cx="0" cy="0"/>
        </a:xfrm>
      </p:grpSpPr>
      <p:sp>
        <p:nvSpPr>
          <p:cNvPr id="2" name="Okomiti naslov 1"/>
          <p:cNvSpPr>
            <a:spLocks noGrp="1"/>
          </p:cNvSpPr>
          <p:nvPr>
            <p:ph type="title" orient="vert"/>
          </p:nvPr>
        </p:nvSpPr>
        <p:spPr>
          <a:xfrm>
            <a:off x="8724900" y="365125"/>
            <a:ext cx="2628900" cy="5811838"/>
          </a:xfrm>
        </p:spPr>
        <p:txBody>
          <a:bodyPr vert="eaVert"/>
          <a:lstStyle/>
          <a:p>
            <a:r>
              <a:rPr lang="hr-HR"/>
              <a:t>Uredite stil naslova matrice</a:t>
            </a:r>
          </a:p>
        </p:txBody>
      </p:sp>
      <p:sp>
        <p:nvSpPr>
          <p:cNvPr id="3" name="Rezervirano mjesto okomitog teksta 2"/>
          <p:cNvSpPr>
            <a:spLocks noGrp="1"/>
          </p:cNvSpPr>
          <p:nvPr>
            <p:ph type="body" orient="vert" idx="1"/>
          </p:nvPr>
        </p:nvSpPr>
        <p:spPr>
          <a:xfrm>
            <a:off x="838200" y="365125"/>
            <a:ext cx="7734300" cy="5811838"/>
          </a:xfrm>
        </p:spPr>
        <p:txBody>
          <a:bodyPr vert="eaVert"/>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datuma 3"/>
          <p:cNvSpPr>
            <a:spLocks noGrp="1"/>
          </p:cNvSpPr>
          <p:nvPr>
            <p:ph type="dt" sz="half" idx="10"/>
          </p:nvPr>
        </p:nvSpPr>
        <p:spPr/>
        <p:txBody>
          <a:bodyPr/>
          <a:lstStyle/>
          <a:p>
            <a:fld id="{15F450FE-A0C9-48D3-B1D8-F92C2CEF8352}" type="datetimeFigureOut">
              <a:rPr lang="hr-HR" smtClean="0"/>
              <a:t>10.3.2021.</a:t>
            </a:fld>
            <a:endParaRPr lang="hr-HR"/>
          </a:p>
        </p:txBody>
      </p:sp>
      <p:sp>
        <p:nvSpPr>
          <p:cNvPr id="5" name="Rezervirano mjesto podnožja 4"/>
          <p:cNvSpPr>
            <a:spLocks noGrp="1"/>
          </p:cNvSpPr>
          <p:nvPr>
            <p:ph type="ftr" sz="quarter" idx="11"/>
          </p:nvPr>
        </p:nvSpPr>
        <p:spPr/>
        <p:txBody>
          <a:bodyPr/>
          <a:lstStyle/>
          <a:p>
            <a:endParaRPr lang="hr-HR"/>
          </a:p>
        </p:txBody>
      </p:sp>
      <p:sp>
        <p:nvSpPr>
          <p:cNvPr id="6" name="Rezervirano mjesto broja slajda 5"/>
          <p:cNvSpPr>
            <a:spLocks noGrp="1"/>
          </p:cNvSpPr>
          <p:nvPr>
            <p:ph type="sldNum" sz="quarter" idx="12"/>
          </p:nvPr>
        </p:nvSpPr>
        <p:spPr/>
        <p:txBody>
          <a:bodyPr/>
          <a:lstStyle/>
          <a:p>
            <a:fld id="{0FB42CA9-EBD6-4FE0-A051-0B809068853C}" type="slidenum">
              <a:rPr lang="hr-HR" smtClean="0"/>
              <a:t>‹#›</a:t>
            </a:fld>
            <a:endParaRPr lang="hr-HR"/>
          </a:p>
        </p:txBody>
      </p:sp>
    </p:spTree>
    <p:extLst>
      <p:ext uri="{BB962C8B-B14F-4D97-AF65-F5344CB8AC3E}">
        <p14:creationId xmlns:p14="http://schemas.microsoft.com/office/powerpoint/2010/main" val="179071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a:t>Uredite stil naslova matrice</a:t>
            </a:r>
          </a:p>
        </p:txBody>
      </p:sp>
      <p:sp>
        <p:nvSpPr>
          <p:cNvPr id="3" name="Rezervirano mjesto teksta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datum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F450FE-A0C9-48D3-B1D8-F92C2CEF8352}" type="datetimeFigureOut">
              <a:rPr lang="hr-HR" smtClean="0"/>
              <a:t>10.3.2021.</a:t>
            </a:fld>
            <a:endParaRPr lang="hr-HR"/>
          </a:p>
        </p:txBody>
      </p:sp>
      <p:sp>
        <p:nvSpPr>
          <p:cNvPr id="5" name="Rezervirano mjesto podnožj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B42CA9-EBD6-4FE0-A051-0B809068853C}" type="slidenum">
              <a:rPr lang="hr-HR" smtClean="0"/>
              <a:t>‹#›</a:t>
            </a:fld>
            <a:endParaRPr lang="hr-HR"/>
          </a:p>
        </p:txBody>
      </p:sp>
    </p:spTree>
    <p:extLst>
      <p:ext uri="{BB962C8B-B14F-4D97-AF65-F5344CB8AC3E}">
        <p14:creationId xmlns:p14="http://schemas.microsoft.com/office/powerpoint/2010/main" val="114184179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ctrTitle"/>
          </p:nvPr>
        </p:nvSpPr>
        <p:spPr/>
        <p:txBody>
          <a:bodyPr/>
          <a:lstStyle/>
          <a:p>
            <a:r>
              <a:rPr lang="hr-HR" b="1" dirty="0">
                <a:solidFill>
                  <a:srgbClr val="0070C0"/>
                </a:solidFill>
                <a:effectLst>
                  <a:outerShdw blurRad="38100" dist="38100" dir="2700000" algn="tl">
                    <a:srgbClr val="000000">
                      <a:alpha val="43137"/>
                    </a:srgbClr>
                  </a:outerShdw>
                </a:effectLst>
              </a:rPr>
              <a:t>RAA</a:t>
            </a:r>
          </a:p>
        </p:txBody>
      </p:sp>
      <p:sp>
        <p:nvSpPr>
          <p:cNvPr id="3" name="Podnaslov 2"/>
          <p:cNvSpPr>
            <a:spLocks noGrp="1"/>
          </p:cNvSpPr>
          <p:nvPr>
            <p:ph type="subTitle" idx="1"/>
          </p:nvPr>
        </p:nvSpPr>
        <p:spPr/>
        <p:txBody>
          <a:bodyPr>
            <a:noAutofit/>
          </a:bodyPr>
          <a:lstStyle/>
          <a:p>
            <a:r>
              <a:rPr lang="hr-HR" sz="4000" dirty="0">
                <a:solidFill>
                  <a:srgbClr val="FF0000"/>
                </a:solidFill>
              </a:rPr>
              <a:t>VALJANOST ZAKLJUČKA</a:t>
            </a:r>
          </a:p>
          <a:p>
            <a:pPr algn="l"/>
            <a:r>
              <a:rPr lang="hr-HR" sz="4000" dirty="0">
                <a:solidFill>
                  <a:srgbClr val="00B050"/>
                </a:solidFill>
              </a:rPr>
              <a:t>ZADATAK: provjeri valjanost zaključka metodom RAA</a:t>
            </a:r>
          </a:p>
        </p:txBody>
      </p:sp>
    </p:spTree>
    <p:extLst>
      <p:ext uri="{BB962C8B-B14F-4D97-AF65-F5344CB8AC3E}">
        <p14:creationId xmlns:p14="http://schemas.microsoft.com/office/powerpoint/2010/main" val="28136729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pPr algn="ctr"/>
            <a:r>
              <a:rPr lang="hr-HR" b="1" dirty="0">
                <a:solidFill>
                  <a:srgbClr val="7030A0"/>
                </a:solidFill>
                <a:effectLst>
                  <a:outerShdw blurRad="38100" dist="38100" dir="2700000" algn="tl">
                    <a:srgbClr val="000000">
                      <a:alpha val="43137"/>
                    </a:srgbClr>
                  </a:outerShdw>
                </a:effectLst>
              </a:rPr>
              <a:t>IVICA I MARICA</a:t>
            </a:r>
          </a:p>
        </p:txBody>
      </p:sp>
      <p:sp>
        <p:nvSpPr>
          <p:cNvPr id="3" name="Rezervirano mjesto sadržaja 2"/>
          <p:cNvSpPr>
            <a:spLocks noGrp="1"/>
          </p:cNvSpPr>
          <p:nvPr>
            <p:ph idx="1"/>
          </p:nvPr>
        </p:nvSpPr>
        <p:spPr>
          <a:xfrm>
            <a:off x="684212" y="1690688"/>
            <a:ext cx="11507788" cy="5011326"/>
          </a:xfrm>
        </p:spPr>
        <p:txBody>
          <a:bodyPr/>
          <a:lstStyle/>
          <a:p>
            <a:r>
              <a:rPr lang="hr-HR" altLang="sr-Latn-RS" sz="3600" b="1" dirty="0">
                <a:cs typeface="Arial" panose="020B0604020202020204" pitchFamily="34" charset="0"/>
              </a:rPr>
              <a:t>Ako je Marica uzela najmanje dvije jabuke, a Ivica najmanje dvije kruške, onda nije slučaj da ima još voća u kuhinji. No, još ima voća u kuhinji. Stoga, </a:t>
            </a:r>
            <a:r>
              <a:rPr lang="hr-HR" altLang="sr-Latn-RS" sz="3600" b="1" dirty="0">
                <a:solidFill>
                  <a:srgbClr val="FF0000"/>
                </a:solidFill>
                <a:cs typeface="Arial" panose="020B0604020202020204" pitchFamily="34" charset="0"/>
              </a:rPr>
              <a:t>ako je Marica uzela najmanje dvije jabuke, onda Ivica nije uzeo najmanje dvije kruške.</a:t>
            </a:r>
          </a:p>
          <a:p>
            <a:pPr marL="0" indent="0">
              <a:buNone/>
            </a:pPr>
            <a:endParaRPr lang="hr-HR" altLang="sr-Latn-RS" b="1" dirty="0">
              <a:cs typeface="Arial" panose="020B0604020202020204" pitchFamily="34" charset="0"/>
            </a:endParaRPr>
          </a:p>
          <a:p>
            <a:pPr>
              <a:spcBef>
                <a:spcPct val="0"/>
              </a:spcBef>
              <a:buNone/>
            </a:pPr>
            <a:r>
              <a:rPr lang="hr-HR" altLang="sr-Latn-RS" b="1" dirty="0">
                <a:cs typeface="Arial" panose="020B0604020202020204" pitchFamily="34" charset="0"/>
              </a:rPr>
              <a:t>Ključ prevođenja:</a:t>
            </a:r>
          </a:p>
          <a:p>
            <a:pPr>
              <a:spcBef>
                <a:spcPct val="0"/>
              </a:spcBef>
              <a:buNone/>
            </a:pPr>
            <a:r>
              <a:rPr lang="hr-HR" altLang="sr-Latn-RS" b="1" i="1" dirty="0">
                <a:solidFill>
                  <a:srgbClr val="0070C0"/>
                </a:solidFill>
                <a:cs typeface="Arial" panose="020B0604020202020204" pitchFamily="34" charset="0"/>
              </a:rPr>
              <a:t>M </a:t>
            </a:r>
            <a:r>
              <a:rPr lang="hr-HR" altLang="sr-Latn-RS" b="1" dirty="0">
                <a:solidFill>
                  <a:srgbClr val="0070C0"/>
                </a:solidFill>
                <a:cs typeface="Arial" panose="020B0604020202020204" pitchFamily="34" charset="0"/>
              </a:rPr>
              <a:t>za ‘Marica je uzela najmanje dvije jabuke.’</a:t>
            </a:r>
          </a:p>
          <a:p>
            <a:pPr>
              <a:spcBef>
                <a:spcPct val="0"/>
              </a:spcBef>
              <a:buNone/>
            </a:pPr>
            <a:r>
              <a:rPr lang="hr-HR" altLang="sr-Latn-RS" b="1" i="1" dirty="0">
                <a:solidFill>
                  <a:srgbClr val="0070C0"/>
                </a:solidFill>
                <a:cs typeface="Arial" panose="020B0604020202020204" pitchFamily="34" charset="0"/>
              </a:rPr>
              <a:t>I </a:t>
            </a:r>
            <a:r>
              <a:rPr lang="hr-HR" altLang="sr-Latn-RS" b="1" dirty="0">
                <a:solidFill>
                  <a:srgbClr val="0070C0"/>
                </a:solidFill>
                <a:cs typeface="Arial" panose="020B0604020202020204" pitchFamily="34" charset="0"/>
              </a:rPr>
              <a:t>za ‘Ivica je uzeo najmanje dvije kruške.’</a:t>
            </a:r>
          </a:p>
          <a:p>
            <a:pPr>
              <a:spcBef>
                <a:spcPct val="0"/>
              </a:spcBef>
              <a:buNone/>
            </a:pPr>
            <a:r>
              <a:rPr lang="hr-HR" altLang="sr-Latn-RS" b="1" i="1" dirty="0">
                <a:solidFill>
                  <a:srgbClr val="0070C0"/>
                </a:solidFill>
                <a:cs typeface="Arial" panose="020B0604020202020204" pitchFamily="34" charset="0"/>
              </a:rPr>
              <a:t>V </a:t>
            </a:r>
            <a:r>
              <a:rPr lang="hr-HR" altLang="sr-Latn-RS" b="1" dirty="0">
                <a:solidFill>
                  <a:srgbClr val="0070C0"/>
                </a:solidFill>
                <a:cs typeface="Arial" panose="020B0604020202020204" pitchFamily="34" charset="0"/>
              </a:rPr>
              <a:t>za ‘Ima još voća u kuhinji.’</a:t>
            </a:r>
          </a:p>
          <a:p>
            <a:endParaRPr lang="hr-HR" dirty="0"/>
          </a:p>
        </p:txBody>
      </p:sp>
    </p:spTree>
    <p:extLst>
      <p:ext uri="{BB962C8B-B14F-4D97-AF65-F5344CB8AC3E}">
        <p14:creationId xmlns:p14="http://schemas.microsoft.com/office/powerpoint/2010/main" val="35498710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pPr algn="ctr"/>
            <a:r>
              <a:rPr lang="hr-HR" b="1" dirty="0">
                <a:solidFill>
                  <a:srgbClr val="7030A0"/>
                </a:solidFill>
                <a:effectLst>
                  <a:outerShdw blurRad="38100" dist="38100" dir="2700000" algn="tl">
                    <a:srgbClr val="000000">
                      <a:alpha val="43137"/>
                    </a:srgbClr>
                  </a:outerShdw>
                </a:effectLst>
              </a:rPr>
              <a:t>MAČKA I GORILA</a:t>
            </a:r>
          </a:p>
        </p:txBody>
      </p:sp>
      <p:sp>
        <p:nvSpPr>
          <p:cNvPr id="3" name="Rezervirano mjesto sadržaja 2"/>
          <p:cNvSpPr>
            <a:spLocks noGrp="1"/>
          </p:cNvSpPr>
          <p:nvPr>
            <p:ph idx="1"/>
          </p:nvPr>
        </p:nvSpPr>
        <p:spPr>
          <a:xfrm>
            <a:off x="322729" y="1344706"/>
            <a:ext cx="11869271" cy="5357308"/>
          </a:xfrm>
        </p:spPr>
        <p:txBody>
          <a:bodyPr>
            <a:normAutofit/>
          </a:bodyPr>
          <a:lstStyle/>
          <a:p>
            <a:pPr>
              <a:spcBef>
                <a:spcPct val="0"/>
              </a:spcBef>
              <a:buNone/>
            </a:pPr>
            <a:r>
              <a:rPr lang="hr-HR" altLang="sr-Latn-RS" dirty="0"/>
              <a:t>Ako mačka Lina voli ribu, onda nije takva da je ne možemo nešto naučiti.</a:t>
            </a:r>
          </a:p>
          <a:p>
            <a:pPr>
              <a:spcBef>
                <a:spcPct val="0"/>
              </a:spcBef>
              <a:buNone/>
            </a:pPr>
            <a:r>
              <a:rPr lang="hr-HR" altLang="sr-Latn-RS" dirty="0"/>
              <a:t>Ako mačka Lina nema rep, neće se igrati s gorilom.</a:t>
            </a:r>
          </a:p>
          <a:p>
            <a:pPr>
              <a:spcBef>
                <a:spcPct val="0"/>
              </a:spcBef>
              <a:buNone/>
            </a:pPr>
            <a:r>
              <a:rPr lang="hr-HR" altLang="sr-Latn-RS" dirty="0"/>
              <a:t>Ako mačka Lina ima brkove, onda voli ribu.</a:t>
            </a:r>
          </a:p>
          <a:p>
            <a:pPr>
              <a:spcBef>
                <a:spcPct val="0"/>
              </a:spcBef>
              <a:buNone/>
            </a:pPr>
            <a:r>
              <a:rPr lang="hr-HR" altLang="sr-Latn-RS" dirty="0"/>
              <a:t>Ako mačku Linu možemo nešto naučiti, onda nema zelene oči.</a:t>
            </a:r>
          </a:p>
          <a:p>
            <a:pPr>
              <a:spcBef>
                <a:spcPct val="0"/>
              </a:spcBef>
              <a:buNone/>
            </a:pPr>
            <a:r>
              <a:rPr lang="hr-HR" altLang="sr-Latn-RS" dirty="0"/>
              <a:t>Mačka Lina nema rep ako nema brkove.</a:t>
            </a:r>
          </a:p>
          <a:p>
            <a:pPr>
              <a:spcBef>
                <a:spcPct val="0"/>
              </a:spcBef>
              <a:buNone/>
            </a:pPr>
            <a:r>
              <a:rPr lang="hr-HR" altLang="sr-Latn-RS" dirty="0"/>
              <a:t>Prema tome, </a:t>
            </a:r>
            <a:r>
              <a:rPr lang="hr-HR" altLang="sr-Latn-RS" dirty="0">
                <a:solidFill>
                  <a:srgbClr val="FF0000"/>
                </a:solidFill>
              </a:rPr>
              <a:t>ako mačka Lina ima zelene oči, neće se igrati s gorilom.</a:t>
            </a:r>
          </a:p>
          <a:p>
            <a:pPr>
              <a:spcBef>
                <a:spcPct val="0"/>
              </a:spcBef>
              <a:buNone/>
            </a:pPr>
            <a:r>
              <a:rPr lang="hr-HR" altLang="sr-Latn-RS" dirty="0"/>
              <a:t>Simboli:</a:t>
            </a:r>
          </a:p>
          <a:p>
            <a:pPr>
              <a:spcBef>
                <a:spcPct val="0"/>
              </a:spcBef>
              <a:buNone/>
            </a:pPr>
            <a:r>
              <a:rPr lang="hr-HR" altLang="sr-Latn-RS" dirty="0">
                <a:solidFill>
                  <a:srgbClr val="0070C0"/>
                </a:solidFill>
              </a:rPr>
              <a:t>V: Mačka Lina voli ribu.</a:t>
            </a:r>
          </a:p>
          <a:p>
            <a:pPr>
              <a:spcBef>
                <a:spcPct val="0"/>
              </a:spcBef>
              <a:buNone/>
            </a:pPr>
            <a:r>
              <a:rPr lang="hr-HR" altLang="sr-Latn-RS" dirty="0">
                <a:solidFill>
                  <a:srgbClr val="0070C0"/>
                </a:solidFill>
              </a:rPr>
              <a:t>U: Mačku Linu možemo nešto naučiti.</a:t>
            </a:r>
          </a:p>
          <a:p>
            <a:pPr>
              <a:spcBef>
                <a:spcPct val="0"/>
              </a:spcBef>
              <a:buNone/>
            </a:pPr>
            <a:r>
              <a:rPr lang="hr-HR" altLang="sr-Latn-RS" dirty="0">
                <a:solidFill>
                  <a:srgbClr val="0070C0"/>
                </a:solidFill>
              </a:rPr>
              <a:t>R: Mačka Lina ima rep. </a:t>
            </a:r>
          </a:p>
          <a:p>
            <a:pPr>
              <a:spcBef>
                <a:spcPct val="0"/>
              </a:spcBef>
              <a:buNone/>
            </a:pPr>
            <a:r>
              <a:rPr lang="hr-HR" altLang="sr-Latn-RS" dirty="0">
                <a:solidFill>
                  <a:srgbClr val="0070C0"/>
                </a:solidFill>
              </a:rPr>
              <a:t>G: Mačka Lina će se igrati s gorilom.</a:t>
            </a:r>
          </a:p>
          <a:p>
            <a:pPr>
              <a:spcBef>
                <a:spcPct val="0"/>
              </a:spcBef>
              <a:buNone/>
            </a:pPr>
            <a:r>
              <a:rPr lang="hr-HR" altLang="sr-Latn-RS" dirty="0">
                <a:solidFill>
                  <a:srgbClr val="0070C0"/>
                </a:solidFill>
              </a:rPr>
              <a:t>B: Mačka Lina ima brkove.</a:t>
            </a:r>
          </a:p>
          <a:p>
            <a:pPr>
              <a:spcBef>
                <a:spcPct val="0"/>
              </a:spcBef>
              <a:buNone/>
            </a:pPr>
            <a:r>
              <a:rPr lang="hr-HR" altLang="sr-Latn-RS" dirty="0">
                <a:solidFill>
                  <a:srgbClr val="0070C0"/>
                </a:solidFill>
              </a:rPr>
              <a:t>Z: Mačka Lina ima zelene oči.</a:t>
            </a:r>
          </a:p>
          <a:p>
            <a:endParaRPr lang="hr-HR" dirty="0"/>
          </a:p>
        </p:txBody>
      </p:sp>
    </p:spTree>
    <p:extLst>
      <p:ext uri="{BB962C8B-B14F-4D97-AF65-F5344CB8AC3E}">
        <p14:creationId xmlns:p14="http://schemas.microsoft.com/office/powerpoint/2010/main" val="19979630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pPr algn="ctr"/>
            <a:r>
              <a:rPr lang="hr-HR" b="1" dirty="0">
                <a:solidFill>
                  <a:srgbClr val="7030A0"/>
                </a:solidFill>
                <a:effectLst>
                  <a:outerShdw blurRad="38100" dist="38100" dir="2700000" algn="tl">
                    <a:srgbClr val="000000">
                      <a:alpha val="43137"/>
                    </a:srgbClr>
                  </a:outerShdw>
                </a:effectLst>
              </a:rPr>
              <a:t>MACKO I LUTONJA</a:t>
            </a:r>
          </a:p>
        </p:txBody>
      </p:sp>
      <p:sp>
        <p:nvSpPr>
          <p:cNvPr id="3" name="Rezervirano mjesto sadržaja 2"/>
          <p:cNvSpPr>
            <a:spLocks noGrp="1"/>
          </p:cNvSpPr>
          <p:nvPr>
            <p:ph idx="1"/>
          </p:nvPr>
        </p:nvSpPr>
        <p:spPr>
          <a:xfrm>
            <a:off x="207981" y="1129551"/>
            <a:ext cx="11984019" cy="5556325"/>
          </a:xfrm>
        </p:spPr>
        <p:txBody>
          <a:bodyPr>
            <a:normAutofit/>
          </a:bodyPr>
          <a:lstStyle/>
          <a:p>
            <a:pPr>
              <a:spcBef>
                <a:spcPct val="0"/>
              </a:spcBef>
              <a:buNone/>
            </a:pPr>
            <a:r>
              <a:rPr lang="hr-HR" altLang="sr-Latn-RS" b="1" dirty="0">
                <a:cs typeface="Arial" panose="020B0604020202020204" pitchFamily="34" charset="0"/>
              </a:rPr>
              <a:t>Nezvani gost nepredviđeno je pojeo pripremljeni odrezak, ostavljen na stolu</a:t>
            </a:r>
          </a:p>
          <a:p>
            <a:pPr>
              <a:spcBef>
                <a:spcPct val="0"/>
              </a:spcBef>
              <a:buNone/>
            </a:pPr>
            <a:r>
              <a:rPr lang="hr-HR" altLang="sr-Latn-RS" b="1" dirty="0">
                <a:cs typeface="Arial" panose="020B0604020202020204" pitchFamily="34" charset="0"/>
              </a:rPr>
              <a:t>u dvorištu. Kuhar </a:t>
            </a:r>
            <a:r>
              <a:rPr lang="hr-HR" altLang="sr-Latn-RS" b="1" dirty="0" err="1">
                <a:cs typeface="Arial" panose="020B0604020202020204" pitchFamily="34" charset="0"/>
              </a:rPr>
              <a:t>Lonco</a:t>
            </a:r>
            <a:r>
              <a:rPr lang="hr-HR" altLang="sr-Latn-RS" b="1" dirty="0">
                <a:cs typeface="Arial" panose="020B0604020202020204" pitchFamily="34" charset="0"/>
              </a:rPr>
              <a:t> razmišlja:</a:t>
            </a:r>
          </a:p>
          <a:p>
            <a:pPr>
              <a:spcBef>
                <a:spcPct val="0"/>
              </a:spcBef>
              <a:buNone/>
            </a:pPr>
            <a:r>
              <a:rPr lang="hr-HR" altLang="sr-Latn-RS" b="1" dirty="0">
                <a:cs typeface="Arial" panose="020B0604020202020204" pitchFamily="34" charset="0"/>
              </a:rPr>
              <a:t>To je učinio pas </a:t>
            </a:r>
            <a:r>
              <a:rPr lang="hr-HR" altLang="sr-Latn-RS" b="1" dirty="0" err="1">
                <a:cs typeface="Arial" panose="020B0604020202020204" pitchFamily="34" charset="0"/>
              </a:rPr>
              <a:t>Lutonja</a:t>
            </a:r>
            <a:r>
              <a:rPr lang="hr-HR" altLang="sr-Latn-RS" b="1" dirty="0">
                <a:cs typeface="Arial" panose="020B0604020202020204" pitchFamily="34" charset="0"/>
              </a:rPr>
              <a:t> ako je bio jako gladan.</a:t>
            </a:r>
          </a:p>
          <a:p>
            <a:pPr>
              <a:spcBef>
                <a:spcPct val="0"/>
              </a:spcBef>
              <a:buNone/>
            </a:pPr>
            <a:r>
              <a:rPr lang="hr-HR" altLang="sr-Latn-RS" b="1" dirty="0">
                <a:cs typeface="Arial" panose="020B0604020202020204" pitchFamily="34" charset="0"/>
              </a:rPr>
              <a:t>No ako to nije učinio pas </a:t>
            </a:r>
            <a:r>
              <a:rPr lang="hr-HR" altLang="sr-Latn-RS" b="1" dirty="0" err="1">
                <a:cs typeface="Arial" panose="020B0604020202020204" pitchFamily="34" charset="0"/>
              </a:rPr>
              <a:t>Lutonja</a:t>
            </a:r>
            <a:r>
              <a:rPr lang="hr-HR" altLang="sr-Latn-RS" b="1" dirty="0">
                <a:cs typeface="Arial" panose="020B0604020202020204" pitchFamily="34" charset="0"/>
              </a:rPr>
              <a:t>, to je svakako učinio mačak </a:t>
            </a:r>
            <a:r>
              <a:rPr lang="hr-HR" altLang="sr-Latn-RS" b="1" dirty="0" err="1">
                <a:cs typeface="Arial" panose="020B0604020202020204" pitchFamily="34" charset="0"/>
              </a:rPr>
              <a:t>Macko</a:t>
            </a:r>
            <a:r>
              <a:rPr lang="hr-HR" altLang="sr-Latn-RS" b="1" dirty="0">
                <a:cs typeface="Arial" panose="020B0604020202020204" pitchFamily="34" charset="0"/>
              </a:rPr>
              <a:t>.</a:t>
            </a:r>
          </a:p>
          <a:p>
            <a:pPr>
              <a:spcBef>
                <a:spcPct val="0"/>
              </a:spcBef>
              <a:buNone/>
            </a:pPr>
            <a:r>
              <a:rPr lang="hr-HR" altLang="sr-Latn-RS" b="1" dirty="0">
                <a:cs typeface="Arial" panose="020B0604020202020204" pitchFamily="34" charset="0"/>
              </a:rPr>
              <a:t>Međutim, </a:t>
            </a:r>
            <a:r>
              <a:rPr lang="hr-HR" altLang="sr-Latn-RS" b="1" dirty="0" err="1">
                <a:cs typeface="Arial" panose="020B0604020202020204" pitchFamily="34" charset="0"/>
              </a:rPr>
              <a:t>Macko</a:t>
            </a:r>
            <a:r>
              <a:rPr lang="hr-HR" altLang="sr-Latn-RS" b="1" dirty="0">
                <a:cs typeface="Arial" panose="020B0604020202020204" pitchFamily="34" charset="0"/>
              </a:rPr>
              <a:t> je pojeo odrezak ako i samo ako </a:t>
            </a:r>
            <a:r>
              <a:rPr lang="hr-HR" altLang="sr-Latn-RS" b="1" dirty="0" err="1">
                <a:cs typeface="Arial" panose="020B0604020202020204" pitchFamily="34" charset="0"/>
              </a:rPr>
              <a:t>Lutonja</a:t>
            </a:r>
            <a:r>
              <a:rPr lang="hr-HR" altLang="sr-Latn-RS" b="1" dirty="0">
                <a:cs typeface="Arial" panose="020B0604020202020204" pitchFamily="34" charset="0"/>
              </a:rPr>
              <a:t> nije </a:t>
            </a:r>
            <a:r>
              <a:rPr lang="hr-HR" altLang="sr-Latn-RS" b="1" dirty="0" err="1">
                <a:cs typeface="Arial" panose="020B0604020202020204" pitchFamily="34" charset="0"/>
              </a:rPr>
              <a:t>primjetio</a:t>
            </a:r>
            <a:r>
              <a:rPr lang="hr-HR" altLang="sr-Latn-RS" b="1" dirty="0">
                <a:cs typeface="Arial" panose="020B0604020202020204" pitchFamily="34" charset="0"/>
              </a:rPr>
              <a:t> Macka.</a:t>
            </a:r>
          </a:p>
          <a:p>
            <a:pPr>
              <a:spcBef>
                <a:spcPct val="0"/>
              </a:spcBef>
              <a:buNone/>
            </a:pPr>
            <a:r>
              <a:rPr lang="hr-HR" altLang="sr-Latn-RS" b="1" dirty="0">
                <a:cs typeface="Arial" panose="020B0604020202020204" pitchFamily="34" charset="0"/>
              </a:rPr>
              <a:t>A </a:t>
            </a:r>
            <a:r>
              <a:rPr lang="hr-HR" altLang="sr-Latn-RS" b="1" dirty="0" err="1">
                <a:cs typeface="Arial" panose="020B0604020202020204" pitchFamily="34" charset="0"/>
              </a:rPr>
              <a:t>Lutonja</a:t>
            </a:r>
            <a:r>
              <a:rPr lang="hr-HR" altLang="sr-Latn-RS" b="1" dirty="0">
                <a:cs typeface="Arial" panose="020B0604020202020204" pitchFamily="34" charset="0"/>
              </a:rPr>
              <a:t> ga je </a:t>
            </a:r>
            <a:r>
              <a:rPr lang="hr-HR" altLang="sr-Latn-RS" b="1" dirty="0" err="1">
                <a:cs typeface="Arial" panose="020B0604020202020204" pitchFamily="34" charset="0"/>
              </a:rPr>
              <a:t>primjetio</a:t>
            </a:r>
            <a:r>
              <a:rPr lang="hr-HR" altLang="sr-Latn-RS" b="1" dirty="0">
                <a:cs typeface="Arial" panose="020B0604020202020204" pitchFamily="34" charset="0"/>
              </a:rPr>
              <a:t> ako nije bio jako jako gladan.</a:t>
            </a:r>
          </a:p>
          <a:p>
            <a:pPr>
              <a:spcBef>
                <a:spcPct val="0"/>
              </a:spcBef>
              <a:buNone/>
            </a:pPr>
            <a:r>
              <a:rPr lang="hr-HR" altLang="sr-Latn-RS" b="1" dirty="0">
                <a:solidFill>
                  <a:srgbClr val="FF0000"/>
                </a:solidFill>
                <a:cs typeface="Arial" panose="020B0604020202020204" pitchFamily="34" charset="0"/>
              </a:rPr>
              <a:t>Tko li je pojeo odrezak? </a:t>
            </a:r>
          </a:p>
          <a:p>
            <a:pPr>
              <a:spcBef>
                <a:spcPct val="0"/>
              </a:spcBef>
              <a:buNone/>
            </a:pPr>
            <a:endParaRPr lang="hr-HR" altLang="sr-Latn-RS" b="1" dirty="0">
              <a:solidFill>
                <a:srgbClr val="FF0000"/>
              </a:solidFill>
              <a:cs typeface="Arial" panose="020B0604020202020204" pitchFamily="34" charset="0"/>
            </a:endParaRPr>
          </a:p>
          <a:p>
            <a:pPr>
              <a:spcBef>
                <a:spcPct val="0"/>
              </a:spcBef>
              <a:buNone/>
            </a:pPr>
            <a:r>
              <a:rPr lang="hr-HR" altLang="sr-Latn-RS" b="1" dirty="0">
                <a:solidFill>
                  <a:srgbClr val="0070C0"/>
                </a:solidFill>
                <a:cs typeface="Arial" panose="020B0604020202020204" pitchFamily="34" charset="0"/>
              </a:rPr>
              <a:t>G: </a:t>
            </a:r>
            <a:r>
              <a:rPr lang="hr-HR" altLang="sr-Latn-RS" b="1" dirty="0" err="1">
                <a:solidFill>
                  <a:srgbClr val="0070C0"/>
                </a:solidFill>
                <a:cs typeface="Arial" panose="020B0604020202020204" pitchFamily="34" charset="0"/>
              </a:rPr>
              <a:t>Lutonja</a:t>
            </a:r>
            <a:r>
              <a:rPr lang="hr-HR" altLang="sr-Latn-RS" b="1" dirty="0">
                <a:solidFill>
                  <a:srgbClr val="0070C0"/>
                </a:solidFill>
                <a:cs typeface="Arial" panose="020B0604020202020204" pitchFamily="34" charset="0"/>
              </a:rPr>
              <a:t> je bio jako gladan. </a:t>
            </a:r>
          </a:p>
          <a:p>
            <a:pPr>
              <a:spcBef>
                <a:spcPct val="0"/>
              </a:spcBef>
              <a:buNone/>
            </a:pPr>
            <a:r>
              <a:rPr lang="hr-HR" altLang="sr-Latn-RS" b="1" dirty="0">
                <a:solidFill>
                  <a:srgbClr val="0070C0"/>
                </a:solidFill>
                <a:cs typeface="Arial" panose="020B0604020202020204" pitchFamily="34" charset="0"/>
              </a:rPr>
              <a:t>L: </a:t>
            </a:r>
            <a:r>
              <a:rPr lang="hr-HR" altLang="sr-Latn-RS" b="1" dirty="0" err="1">
                <a:solidFill>
                  <a:srgbClr val="0070C0"/>
                </a:solidFill>
                <a:cs typeface="Arial" panose="020B0604020202020204" pitchFamily="34" charset="0"/>
              </a:rPr>
              <a:t>Lutonja</a:t>
            </a:r>
            <a:r>
              <a:rPr lang="hr-HR" altLang="sr-Latn-RS" b="1" dirty="0">
                <a:solidFill>
                  <a:srgbClr val="0070C0"/>
                </a:solidFill>
                <a:cs typeface="Arial" panose="020B0604020202020204" pitchFamily="34" charset="0"/>
              </a:rPr>
              <a:t> je pojeo odrezak.</a:t>
            </a:r>
          </a:p>
          <a:p>
            <a:pPr>
              <a:spcBef>
                <a:spcPct val="0"/>
              </a:spcBef>
              <a:buNone/>
            </a:pPr>
            <a:r>
              <a:rPr lang="hr-HR" altLang="sr-Latn-RS" b="1" dirty="0">
                <a:solidFill>
                  <a:srgbClr val="0070C0"/>
                </a:solidFill>
                <a:cs typeface="Arial" panose="020B0604020202020204" pitchFamily="34" charset="0"/>
              </a:rPr>
              <a:t>M: </a:t>
            </a:r>
            <a:r>
              <a:rPr lang="hr-HR" altLang="sr-Latn-RS" b="1" dirty="0" err="1">
                <a:solidFill>
                  <a:srgbClr val="0070C0"/>
                </a:solidFill>
                <a:cs typeface="Arial" panose="020B0604020202020204" pitchFamily="34" charset="0"/>
              </a:rPr>
              <a:t>Macko</a:t>
            </a:r>
            <a:r>
              <a:rPr lang="hr-HR" altLang="sr-Latn-RS" b="1" dirty="0">
                <a:solidFill>
                  <a:srgbClr val="0070C0"/>
                </a:solidFill>
                <a:cs typeface="Arial" panose="020B0604020202020204" pitchFamily="34" charset="0"/>
              </a:rPr>
              <a:t> je pojeo odrezak</a:t>
            </a:r>
          </a:p>
          <a:p>
            <a:pPr>
              <a:spcBef>
                <a:spcPct val="0"/>
              </a:spcBef>
              <a:buNone/>
            </a:pPr>
            <a:r>
              <a:rPr lang="hr-HR" altLang="sr-Latn-RS" b="1" dirty="0">
                <a:solidFill>
                  <a:srgbClr val="0070C0"/>
                </a:solidFill>
                <a:cs typeface="Arial" panose="020B0604020202020204" pitchFamily="34" charset="0"/>
              </a:rPr>
              <a:t>P: </a:t>
            </a:r>
            <a:r>
              <a:rPr lang="hr-HR" altLang="sr-Latn-RS" b="1" dirty="0" err="1">
                <a:solidFill>
                  <a:srgbClr val="0070C0"/>
                </a:solidFill>
                <a:cs typeface="Arial" panose="020B0604020202020204" pitchFamily="34" charset="0"/>
              </a:rPr>
              <a:t>Lutonja</a:t>
            </a:r>
            <a:r>
              <a:rPr lang="hr-HR" altLang="sr-Latn-RS" b="1" dirty="0">
                <a:solidFill>
                  <a:srgbClr val="0070C0"/>
                </a:solidFill>
                <a:cs typeface="Arial" panose="020B0604020202020204" pitchFamily="34" charset="0"/>
              </a:rPr>
              <a:t> je </a:t>
            </a:r>
            <a:r>
              <a:rPr lang="hr-HR" altLang="sr-Latn-RS" b="1" dirty="0" err="1">
                <a:solidFill>
                  <a:srgbClr val="0070C0"/>
                </a:solidFill>
                <a:cs typeface="Arial" panose="020B0604020202020204" pitchFamily="34" charset="0"/>
              </a:rPr>
              <a:t>primjetio</a:t>
            </a:r>
            <a:r>
              <a:rPr lang="hr-HR" altLang="sr-Latn-RS" b="1" dirty="0">
                <a:solidFill>
                  <a:srgbClr val="0070C0"/>
                </a:solidFill>
                <a:cs typeface="Arial" panose="020B0604020202020204" pitchFamily="34" charset="0"/>
              </a:rPr>
              <a:t> Macka</a:t>
            </a:r>
          </a:p>
          <a:p>
            <a:endParaRPr lang="hr-HR" dirty="0"/>
          </a:p>
        </p:txBody>
      </p:sp>
    </p:spTree>
    <p:extLst>
      <p:ext uri="{BB962C8B-B14F-4D97-AF65-F5344CB8AC3E}">
        <p14:creationId xmlns:p14="http://schemas.microsoft.com/office/powerpoint/2010/main" val="4249882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pPr algn="ctr"/>
            <a:r>
              <a:rPr lang="hr-HR" b="1" dirty="0">
                <a:solidFill>
                  <a:srgbClr val="7030A0"/>
                </a:solidFill>
                <a:effectLst>
                  <a:outerShdw blurRad="38100" dist="38100" dir="2700000" algn="tl">
                    <a:srgbClr val="000000">
                      <a:alpha val="43137"/>
                    </a:srgbClr>
                  </a:outerShdw>
                </a:effectLst>
              </a:rPr>
              <a:t>VEDRAN JE PRVAŠIĆ?</a:t>
            </a:r>
          </a:p>
        </p:txBody>
      </p:sp>
      <p:sp>
        <p:nvSpPr>
          <p:cNvPr id="3" name="Rezervirano mjesto sadržaja 2"/>
          <p:cNvSpPr>
            <a:spLocks noGrp="1"/>
          </p:cNvSpPr>
          <p:nvPr>
            <p:ph idx="1"/>
          </p:nvPr>
        </p:nvSpPr>
        <p:spPr>
          <a:xfrm>
            <a:off x="161365" y="1366220"/>
            <a:ext cx="11768866" cy="5491779"/>
          </a:xfrm>
        </p:spPr>
        <p:txBody>
          <a:bodyPr>
            <a:normAutofit fontScale="92500"/>
          </a:bodyPr>
          <a:lstStyle/>
          <a:p>
            <a:pPr>
              <a:spcBef>
                <a:spcPct val="0"/>
              </a:spcBef>
              <a:buNone/>
            </a:pPr>
            <a:r>
              <a:rPr lang="hr-HR" altLang="sr-Latn-RS" dirty="0"/>
              <a:t>Samo ako je Neven košarkaš, Vedran ne trenira nogomet a Iva nije fotoreporterka.</a:t>
            </a:r>
          </a:p>
          <a:p>
            <a:pPr>
              <a:spcBef>
                <a:spcPct val="0"/>
              </a:spcBef>
              <a:buNone/>
            </a:pPr>
            <a:r>
              <a:rPr lang="hr-HR" altLang="sr-Latn-RS" dirty="0"/>
              <a:t>Vedran ne trenira nogomet ako je dao prvi koš na utakmici. </a:t>
            </a:r>
          </a:p>
          <a:p>
            <a:pPr>
              <a:spcBef>
                <a:spcPct val="0"/>
              </a:spcBef>
              <a:buNone/>
            </a:pPr>
            <a:r>
              <a:rPr lang="hr-HR" altLang="sr-Latn-RS" dirty="0"/>
              <a:t>Ako Goran svira gitaru a Neven je košarkaš, onda je Vedran </a:t>
            </a:r>
            <a:r>
              <a:rPr lang="hr-HR" altLang="sr-Latn-RS" dirty="0" err="1"/>
              <a:t>prvašić</a:t>
            </a:r>
            <a:r>
              <a:rPr lang="hr-HR" altLang="sr-Latn-RS" dirty="0"/>
              <a:t>.</a:t>
            </a:r>
          </a:p>
          <a:p>
            <a:pPr>
              <a:spcBef>
                <a:spcPct val="0"/>
              </a:spcBef>
              <a:buNone/>
            </a:pPr>
            <a:r>
              <a:rPr lang="hr-HR" altLang="sr-Latn-RS" dirty="0"/>
              <a:t>Vedran je dao svoj prvi koš na utakmici. </a:t>
            </a:r>
          </a:p>
          <a:p>
            <a:pPr>
              <a:spcBef>
                <a:spcPct val="0"/>
              </a:spcBef>
              <a:buNone/>
            </a:pPr>
            <a:r>
              <a:rPr lang="hr-HR" altLang="sr-Latn-RS" dirty="0"/>
              <a:t>Iva nije </a:t>
            </a:r>
            <a:r>
              <a:rPr lang="hr-HR" altLang="sr-Latn-RS" dirty="0" err="1"/>
              <a:t>fotoreporterka,ako</a:t>
            </a:r>
            <a:r>
              <a:rPr lang="hr-HR" altLang="sr-Latn-RS" dirty="0"/>
              <a:t> Goran svira gitaru. </a:t>
            </a:r>
          </a:p>
          <a:p>
            <a:pPr>
              <a:spcBef>
                <a:spcPct val="0"/>
              </a:spcBef>
              <a:buNone/>
            </a:pPr>
            <a:r>
              <a:rPr lang="hr-HR" altLang="sr-Latn-RS" dirty="0"/>
              <a:t>Nije istina da Goran ne svira gitaru. </a:t>
            </a:r>
          </a:p>
          <a:p>
            <a:pPr>
              <a:spcBef>
                <a:spcPct val="0"/>
              </a:spcBef>
              <a:buNone/>
            </a:pPr>
            <a:r>
              <a:rPr lang="hr-HR" altLang="sr-Latn-RS" dirty="0"/>
              <a:t>Dakle</a:t>
            </a:r>
            <a:r>
              <a:rPr lang="hr-HR" altLang="sr-Latn-RS" dirty="0">
                <a:solidFill>
                  <a:srgbClr val="FF0000"/>
                </a:solidFill>
              </a:rPr>
              <a:t>, Vedran je </a:t>
            </a:r>
            <a:r>
              <a:rPr lang="hr-HR" altLang="sr-Latn-RS" dirty="0" err="1">
                <a:solidFill>
                  <a:srgbClr val="FF0000"/>
                </a:solidFill>
              </a:rPr>
              <a:t>prvašić</a:t>
            </a:r>
            <a:r>
              <a:rPr lang="hr-HR" altLang="sr-Latn-RS" dirty="0">
                <a:solidFill>
                  <a:srgbClr val="FF0000"/>
                </a:solidFill>
              </a:rPr>
              <a:t>.</a:t>
            </a:r>
          </a:p>
          <a:p>
            <a:pPr>
              <a:spcBef>
                <a:spcPct val="0"/>
              </a:spcBef>
              <a:buNone/>
            </a:pPr>
            <a:endParaRPr lang="hr-HR" altLang="sr-Latn-RS" dirty="0">
              <a:solidFill>
                <a:srgbClr val="FF0000"/>
              </a:solidFill>
            </a:endParaRPr>
          </a:p>
          <a:p>
            <a:pPr>
              <a:spcBef>
                <a:spcPct val="0"/>
              </a:spcBef>
              <a:buNone/>
            </a:pPr>
            <a:r>
              <a:rPr lang="hr-HR" altLang="sr-Latn-RS" dirty="0"/>
              <a:t>Simboli:</a:t>
            </a:r>
            <a:endParaRPr lang="hr-HR" altLang="sr-Latn-RS" dirty="0">
              <a:solidFill>
                <a:srgbClr val="0070C0"/>
              </a:solidFill>
            </a:endParaRPr>
          </a:p>
          <a:p>
            <a:pPr>
              <a:spcBef>
                <a:spcPct val="0"/>
              </a:spcBef>
              <a:buNone/>
            </a:pPr>
            <a:r>
              <a:rPr lang="hr-HR" altLang="sr-Latn-RS" dirty="0">
                <a:solidFill>
                  <a:srgbClr val="0070C0"/>
                </a:solidFill>
              </a:rPr>
              <a:t>A: Iva je fotoreporterka.</a:t>
            </a:r>
          </a:p>
          <a:p>
            <a:pPr>
              <a:spcBef>
                <a:spcPct val="0"/>
              </a:spcBef>
              <a:buNone/>
            </a:pPr>
            <a:r>
              <a:rPr lang="hr-HR" altLang="sr-Latn-RS" dirty="0">
                <a:solidFill>
                  <a:srgbClr val="0070C0"/>
                </a:solidFill>
              </a:rPr>
              <a:t>B: Neven je košarkaš.</a:t>
            </a:r>
          </a:p>
          <a:p>
            <a:pPr>
              <a:spcBef>
                <a:spcPct val="0"/>
              </a:spcBef>
              <a:buNone/>
            </a:pPr>
            <a:r>
              <a:rPr lang="hr-HR" altLang="sr-Latn-RS" dirty="0">
                <a:solidFill>
                  <a:srgbClr val="0070C0"/>
                </a:solidFill>
              </a:rPr>
              <a:t>C: Vedran trenira nogomet. </a:t>
            </a:r>
          </a:p>
          <a:p>
            <a:pPr>
              <a:spcBef>
                <a:spcPct val="0"/>
              </a:spcBef>
              <a:buNone/>
            </a:pPr>
            <a:r>
              <a:rPr lang="hr-HR" altLang="sr-Latn-RS" dirty="0">
                <a:solidFill>
                  <a:srgbClr val="0070C0"/>
                </a:solidFill>
              </a:rPr>
              <a:t>D: Goran svira gitaru.</a:t>
            </a:r>
          </a:p>
          <a:p>
            <a:pPr>
              <a:spcBef>
                <a:spcPct val="0"/>
              </a:spcBef>
              <a:buNone/>
            </a:pPr>
            <a:r>
              <a:rPr lang="hr-HR" altLang="sr-Latn-RS" dirty="0">
                <a:solidFill>
                  <a:srgbClr val="0070C0"/>
                </a:solidFill>
              </a:rPr>
              <a:t>E: Vedran je dao prvi koš na utakmici.</a:t>
            </a:r>
          </a:p>
          <a:p>
            <a:pPr>
              <a:spcBef>
                <a:spcPct val="0"/>
              </a:spcBef>
              <a:buNone/>
            </a:pPr>
            <a:r>
              <a:rPr lang="hr-HR" altLang="sr-Latn-RS" dirty="0">
                <a:solidFill>
                  <a:srgbClr val="0070C0"/>
                </a:solidFill>
              </a:rPr>
              <a:t>F: Vedran je </a:t>
            </a:r>
            <a:r>
              <a:rPr lang="hr-HR" altLang="sr-Latn-RS" dirty="0" err="1">
                <a:solidFill>
                  <a:srgbClr val="0070C0"/>
                </a:solidFill>
              </a:rPr>
              <a:t>prvašić</a:t>
            </a:r>
            <a:r>
              <a:rPr lang="hr-HR" altLang="sr-Latn-RS" dirty="0">
                <a:solidFill>
                  <a:srgbClr val="0070C0"/>
                </a:solidFill>
              </a:rPr>
              <a:t>.</a:t>
            </a:r>
          </a:p>
          <a:p>
            <a:endParaRPr lang="hr-HR" dirty="0"/>
          </a:p>
        </p:txBody>
      </p:sp>
    </p:spTree>
    <p:extLst>
      <p:ext uri="{BB962C8B-B14F-4D97-AF65-F5344CB8AC3E}">
        <p14:creationId xmlns:p14="http://schemas.microsoft.com/office/powerpoint/2010/main" val="19642890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70769CE-8D56-46D3-B8EA-D76717577663}"/>
              </a:ext>
            </a:extLst>
          </p:cNvPr>
          <p:cNvSpPr>
            <a:spLocks noGrp="1"/>
          </p:cNvSpPr>
          <p:nvPr>
            <p:ph type="title"/>
          </p:nvPr>
        </p:nvSpPr>
        <p:spPr/>
        <p:txBody>
          <a:bodyPr/>
          <a:lstStyle/>
          <a:p>
            <a:r>
              <a:rPr lang="hr-HR" b="1" dirty="0">
                <a:solidFill>
                  <a:srgbClr val="7030A0"/>
                </a:solidFill>
                <a:effectLst>
                  <a:outerShdw blurRad="38100" dist="38100" dir="2700000" algn="tl">
                    <a:srgbClr val="000000">
                      <a:alpha val="43137"/>
                    </a:srgbClr>
                  </a:outerShdw>
                </a:effectLst>
              </a:rPr>
              <a:t>DARTH VADER I VOJSKA KLONOVA</a:t>
            </a:r>
          </a:p>
        </p:txBody>
      </p:sp>
      <p:sp>
        <p:nvSpPr>
          <p:cNvPr id="3" name="Rezervirano mjesto sadržaja 2">
            <a:extLst>
              <a:ext uri="{FF2B5EF4-FFF2-40B4-BE49-F238E27FC236}">
                <a16:creationId xmlns:a16="http://schemas.microsoft.com/office/drawing/2014/main" id="{D00D83E6-F415-48F0-A78B-A861DB275AC5}"/>
              </a:ext>
            </a:extLst>
          </p:cNvPr>
          <p:cNvSpPr>
            <a:spLocks noGrp="1"/>
          </p:cNvSpPr>
          <p:nvPr>
            <p:ph idx="1"/>
          </p:nvPr>
        </p:nvSpPr>
        <p:spPr>
          <a:xfrm>
            <a:off x="150829" y="1385740"/>
            <a:ext cx="11849493" cy="5472259"/>
          </a:xfrm>
        </p:spPr>
        <p:txBody>
          <a:bodyPr>
            <a:normAutofit/>
          </a:bodyPr>
          <a:lstStyle/>
          <a:p>
            <a:pPr marL="0" indent="0" algn="just">
              <a:buNone/>
            </a:pPr>
            <a:r>
              <a:rPr lang="hr-HR" b="1" dirty="0"/>
              <a:t>Vojska klonova napada planet ako ne stigne nova zapovijed. Ako vojska klonova napadne, </a:t>
            </a:r>
            <a:r>
              <a:rPr lang="hr-HR" b="1" dirty="0" err="1"/>
              <a:t>Darth</a:t>
            </a:r>
            <a:r>
              <a:rPr lang="hr-HR" b="1" dirty="0"/>
              <a:t> Vader će im se pridružiti. On neće nadgledati izgradnju nove svemirske postaje ukoliko im se pridruži. Ali ako ne stigne nova zapovijed, onda će on ipak nadgledati izgradnju nove svemirske postaje.</a:t>
            </a:r>
          </a:p>
          <a:p>
            <a:pPr marL="0" indent="0">
              <a:buNone/>
            </a:pPr>
            <a:r>
              <a:rPr lang="hr-HR" b="1" dirty="0">
                <a:solidFill>
                  <a:srgbClr val="FF0000"/>
                </a:solidFill>
              </a:rPr>
              <a:t>Koja </a:t>
            </a:r>
            <a:r>
              <a:rPr lang="hr-HR" b="1" dirty="0" err="1">
                <a:solidFill>
                  <a:srgbClr val="FF0000"/>
                </a:solidFill>
              </a:rPr>
              <a:t>konkluzija</a:t>
            </a:r>
            <a:r>
              <a:rPr lang="hr-HR" b="1" dirty="0">
                <a:solidFill>
                  <a:srgbClr val="FF0000"/>
                </a:solidFill>
              </a:rPr>
              <a:t> slijedi iz navedenih premisa?</a:t>
            </a:r>
          </a:p>
          <a:p>
            <a:pPr marL="514350" indent="-514350">
              <a:buAutoNum type="alphaLcParenR"/>
            </a:pPr>
            <a:r>
              <a:rPr lang="hr-HR" dirty="0"/>
              <a:t>Vojska klonova napast će planet</a:t>
            </a:r>
          </a:p>
          <a:p>
            <a:pPr marL="514350" indent="-514350">
              <a:buAutoNum type="alphaLcParenR"/>
            </a:pPr>
            <a:r>
              <a:rPr lang="hr-HR" dirty="0"/>
              <a:t>Stići će nova zapovijed</a:t>
            </a:r>
          </a:p>
          <a:p>
            <a:pPr marL="0" indent="0">
              <a:buNone/>
            </a:pPr>
            <a:r>
              <a:rPr lang="hr-HR" b="1" dirty="0">
                <a:solidFill>
                  <a:srgbClr val="0070C0"/>
                </a:solidFill>
              </a:rPr>
              <a:t>Z </a:t>
            </a:r>
            <a:r>
              <a:rPr lang="hr-HR" b="1">
                <a:solidFill>
                  <a:srgbClr val="0070C0"/>
                </a:solidFill>
              </a:rPr>
              <a:t>– Stići </a:t>
            </a:r>
            <a:r>
              <a:rPr lang="hr-HR" b="1" dirty="0">
                <a:solidFill>
                  <a:srgbClr val="0070C0"/>
                </a:solidFill>
              </a:rPr>
              <a:t>će nova zapovijed</a:t>
            </a:r>
          </a:p>
          <a:p>
            <a:pPr marL="0" indent="0">
              <a:buNone/>
            </a:pPr>
            <a:r>
              <a:rPr lang="hr-HR" b="1" dirty="0">
                <a:solidFill>
                  <a:srgbClr val="0070C0"/>
                </a:solidFill>
              </a:rPr>
              <a:t>V – Vojska klonova napast će planet</a:t>
            </a:r>
          </a:p>
          <a:p>
            <a:pPr marL="0" indent="0">
              <a:buNone/>
            </a:pPr>
            <a:r>
              <a:rPr lang="hr-HR" b="1" dirty="0">
                <a:solidFill>
                  <a:srgbClr val="0070C0"/>
                </a:solidFill>
              </a:rPr>
              <a:t>D – </a:t>
            </a:r>
            <a:r>
              <a:rPr lang="hr-HR" b="1" dirty="0" err="1">
                <a:solidFill>
                  <a:srgbClr val="0070C0"/>
                </a:solidFill>
              </a:rPr>
              <a:t>Darth</a:t>
            </a:r>
            <a:r>
              <a:rPr lang="hr-HR" b="1" dirty="0">
                <a:solidFill>
                  <a:srgbClr val="0070C0"/>
                </a:solidFill>
              </a:rPr>
              <a:t> Vader će se pridružiti vojsci klonova</a:t>
            </a:r>
          </a:p>
          <a:p>
            <a:pPr marL="0" indent="0">
              <a:buNone/>
            </a:pPr>
            <a:r>
              <a:rPr lang="hr-HR" b="1" dirty="0">
                <a:solidFill>
                  <a:srgbClr val="0070C0"/>
                </a:solidFill>
              </a:rPr>
              <a:t>S – </a:t>
            </a:r>
            <a:r>
              <a:rPr lang="hr-HR" b="1" dirty="0" err="1">
                <a:solidFill>
                  <a:srgbClr val="0070C0"/>
                </a:solidFill>
              </a:rPr>
              <a:t>Darth</a:t>
            </a:r>
            <a:r>
              <a:rPr lang="hr-HR" b="1" dirty="0">
                <a:solidFill>
                  <a:srgbClr val="0070C0"/>
                </a:solidFill>
              </a:rPr>
              <a:t> Vader će nadgledati izgradnju nove svemirske postaje</a:t>
            </a:r>
          </a:p>
        </p:txBody>
      </p:sp>
    </p:spTree>
    <p:extLst>
      <p:ext uri="{BB962C8B-B14F-4D97-AF65-F5344CB8AC3E}">
        <p14:creationId xmlns:p14="http://schemas.microsoft.com/office/powerpoint/2010/main" val="2528500760"/>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TotalTime>
  <Words>551</Words>
  <Application>Microsoft Office PowerPoint</Application>
  <PresentationFormat>Široki zaslon</PresentationFormat>
  <Paragraphs>62</Paragraphs>
  <Slides>6</Slides>
  <Notes>0</Notes>
  <HiddenSlides>0</HiddenSlides>
  <MMClips>0</MMClips>
  <ScaleCrop>false</ScaleCrop>
  <HeadingPairs>
    <vt:vector size="6" baseType="variant">
      <vt:variant>
        <vt:lpstr>Korišteni fontovi</vt:lpstr>
      </vt:variant>
      <vt:variant>
        <vt:i4>3</vt:i4>
      </vt:variant>
      <vt:variant>
        <vt:lpstr>Tema</vt:lpstr>
      </vt:variant>
      <vt:variant>
        <vt:i4>1</vt:i4>
      </vt:variant>
      <vt:variant>
        <vt:lpstr>Naslovi slajdova</vt:lpstr>
      </vt:variant>
      <vt:variant>
        <vt:i4>6</vt:i4>
      </vt:variant>
    </vt:vector>
  </HeadingPairs>
  <TitlesOfParts>
    <vt:vector size="10" baseType="lpstr">
      <vt:lpstr>Arial</vt:lpstr>
      <vt:lpstr>Calibri</vt:lpstr>
      <vt:lpstr>Calibri Light</vt:lpstr>
      <vt:lpstr>Tema sustava Office</vt:lpstr>
      <vt:lpstr>RAA</vt:lpstr>
      <vt:lpstr>IVICA I MARICA</vt:lpstr>
      <vt:lpstr>MAČKA I GORILA</vt:lpstr>
      <vt:lpstr>MACKO I LUTONJA</vt:lpstr>
      <vt:lpstr>VEDRAN JE PRVAŠIĆ?</vt:lpstr>
      <vt:lpstr>DARTH VADER I VOJSKA KLONOVA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RAA</dc:title>
  <dc:creator>Mirela Turk</dc:creator>
  <cp:lastModifiedBy>Mirela</cp:lastModifiedBy>
  <cp:revision>6</cp:revision>
  <dcterms:created xsi:type="dcterms:W3CDTF">2020-04-05T19:22:24Z</dcterms:created>
  <dcterms:modified xsi:type="dcterms:W3CDTF">2021-03-10T21:30:30Z</dcterms:modified>
</cp:coreProperties>
</file>