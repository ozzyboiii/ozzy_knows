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smtClean="0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60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104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529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500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577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3234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5851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4010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7726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258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0804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71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03224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7787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 smtClean="0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97639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07947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102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mtClean="0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084C5-2C27-4C8F-9111-C89F4E64A110}" type="datetimeFigureOut">
              <a:rPr lang="hr-HR" smtClean="0"/>
              <a:t>30.5.2020.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F4756-206C-4502-B444-B24069903C9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13895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smtClean="0"/>
              <a:t>Pogreške u zaključivanju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hr-HR" b="1" dirty="0"/>
              <a:t>POGREŠKE RELEVANTNOSTI </a:t>
            </a:r>
            <a:r>
              <a:rPr lang="hr-HR" dirty="0"/>
              <a:t>– premise nisu relevantne za zaključak (pogreške diskursa)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598573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>
                <a:solidFill>
                  <a:srgbClr val="FF0000"/>
                </a:solidFill>
              </a:rPr>
              <a:t>ARGUMENTUM AD BACULUM</a:t>
            </a:r>
            <a:endParaRPr lang="hr-HR" dirty="0">
              <a:solidFill>
                <a:srgbClr val="FF0000"/>
              </a:solidFill>
            </a:endParaRP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Ideja ove pogreške, koja dolazi od latinskog „pozivanje na štap (batinu)“ je da će se </a:t>
            </a:r>
            <a:r>
              <a:rPr lang="hr-H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nešto štetno dogoditi onome tko ne prihvati </a:t>
            </a:r>
            <a:r>
              <a:rPr lang="hr-HR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konkluziju</a:t>
            </a:r>
            <a:r>
              <a:rPr lang="hr-H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zaključka.</a:t>
            </a:r>
          </a:p>
          <a:p>
            <a:pPr lvl="0"/>
            <a:r>
              <a:rPr lang="hr-HR" dirty="0"/>
              <a:t>Kada nekome kažemo da je neki glumac najbolji na svijetu te da ćemo ga istući ako se ne slaže. Prijetnja ili pozivanje na silu je implicitno. Premisa nije relevantna za </a:t>
            </a:r>
            <a:r>
              <a:rPr lang="hr-HR" dirty="0" err="1"/>
              <a:t>konkluziju</a:t>
            </a:r>
            <a:r>
              <a:rPr lang="hr-HR" dirty="0"/>
              <a:t> niti se radi o valjanom zaključku.</a:t>
            </a:r>
          </a:p>
          <a:p>
            <a:pPr lvl="0"/>
            <a:r>
              <a:rPr lang="hr-HR" dirty="0">
                <a:solidFill>
                  <a:srgbClr val="00B050"/>
                </a:solidFill>
              </a:rPr>
              <a:t>„Bolje vam je vjerovati da Bog postoji jer ako ne vjerujete, kada umrete, bit će vam suđeno i Bog će vas poslati u pakao zauvijek. Ne želite biti mučeni u paklu, zar ne?</a:t>
            </a:r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439704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  <p:sndAc>
          <p:stSnd>
            <p:snd r:embed="rId2" name="cashreg.wav"/>
          </p:stSnd>
        </p:sndAc>
      </p:transition>
    </mc:Choice>
    <mc:Fallback>
      <p:transition spd="slow">
        <p:fade/>
        <p:sndAc>
          <p:stSnd>
            <p:snd r:embed="rId2" name="cashreg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/>
              <a:t> </a:t>
            </a:r>
            <a:br>
              <a:rPr lang="hr-HR" dirty="0"/>
            </a:br>
            <a:r>
              <a:rPr lang="hr-H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ARGUMENTUM AD POPULUM</a:t>
            </a:r>
            <a:r>
              <a:rPr lang="hr-HR" dirty="0"/>
              <a:t/>
            </a:r>
            <a:br>
              <a:rPr lang="hr-HR" dirty="0"/>
            </a:b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što neki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 prihvaća velik broj osoba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nije razlog da je taj sud istinit. Svi mogu biti u krivu.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Može se raditi o bezazlenom marketingu </a:t>
            </a:r>
            <a:r>
              <a:rPr lang="hr-H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„Pivo x najpopularnije je u Hrvatskoj, dakle ono je najbolje pivo.“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Char char="-"/>
            </a:pPr>
            <a:r>
              <a:rPr lang="hr-H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„Rijetko tko danas vjeruje da Zemlja nije okrugla. Dakle, Zemlja je okrugla.“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7272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  <p:sndAc>
          <p:stSnd>
            <p:snd r:embed="rId2" name="bomb.wav"/>
          </p:stSnd>
        </p:sndAc>
      </p:transition>
    </mc:Choice>
    <mc:Fallback>
      <p:transition spd="slow">
        <p:fade/>
        <p:sndAc>
          <p:stSnd>
            <p:snd r:embed="rId2" name="bomb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hr-H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ARGUMENTUM AD HOMINEM</a:t>
            </a:r>
            <a:r>
              <a:rPr lang="hr-HR" dirty="0"/>
              <a:t/>
            </a:r>
            <a:br>
              <a:rPr lang="hr-HR" dirty="0"/>
            </a:b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Ovu pogrešku činimo kada u argumentiranju protiv nekog zaključka ne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„napadamo“</a:t>
            </a:r>
            <a:r>
              <a:rPr lang="hr-H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premise ili formu zaključka, nego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osobu koja ga je formirala ili izrekla</a:t>
            </a:r>
            <a:r>
              <a:rPr lang="hr-H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hr-H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Ako nam profesor Horvatin iz biologije kaže kako ne treba pušiti jer to šteti zdravlju, a mi na to odgovorimo kako je poznato da i on puši, počinili smo ovu pogrešku.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Ili kada netko ne </a:t>
            </a:r>
            <a:r>
              <a:rPr lang="hr-HR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uspijeva 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pobiti neku argumentima tvrdnju s kojom se ne slaže, pa je pokušava oboriti pričajući da je onaj koji ju je postavio „stari pijanac“, „sin luđaka“ i sl., dakle upotrebljava argument protiv čovjeka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166109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  <p:sndAc>
          <p:stSnd>
            <p:snd r:embed="rId2" name="hammer.wav"/>
          </p:stSnd>
        </p:sndAc>
      </p:transition>
    </mc:Choice>
    <mc:Fallback>
      <p:transition spd="slow">
        <p:fade/>
        <p:sndAc>
          <p:stSnd>
            <p:snd r:embed="rId2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</a:pPr>
            <a:r>
              <a:rPr lang="hr-H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ARGUMENTUM AD MISERICORDIAN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Ako nekoga optužuju da je pronevjerio novac, a on odgovara da ima bolesnu ženu i malu djecu;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reći ćemo da upotrebljava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argument za milosrđe</a:t>
            </a:r>
            <a:r>
              <a:rPr lang="hr-H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Ovaj </a:t>
            </a:r>
            <a:r>
              <a:rPr lang="hr-H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pseudoargument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upotrebljava onaj tko izbjegavajući raspravu o biti sporne stvari, nastoji probuditi samilost kod sugovornika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300073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  <p:sndAc>
          <p:stSnd>
            <p:snd r:embed="rId2" name="explode.wav"/>
          </p:stSnd>
        </p:sndAc>
      </p:transition>
    </mc:Choice>
    <mc:Fallback>
      <p:transition spd="slow">
        <p:fade/>
        <p:sndAc>
          <p:stSnd>
            <p:snd r:embed="rId2" name="explod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741382" y="500062"/>
            <a:ext cx="10515600" cy="1325563"/>
          </a:xfrm>
        </p:spPr>
        <p:txBody>
          <a:bodyPr>
            <a:normAutofit fontScale="90000"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</a:pPr>
            <a:r>
              <a:rPr lang="hr-H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ARGUMENTUM AD VERECUNDIAM 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Dok se neki rado pozivaju na „općenito“ mišljenje, drugi više vole da se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pozivaju na mišljenje istaknutih pojedinaca, velikih ljudi, autoriteta, znalaca. 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Takvo pozivanje ima neki smisao kada se stručnjaci prepiru o nekom stručnom pitanju, ali ono nije dokaz i ne može odlučiti u sporovima među samim stručnjacima.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Najmanje je takvo pozivanje na mjestu kada se autoritet u jednoj oblasti citira kao </a:t>
            </a:r>
            <a:r>
              <a:rPr lang="hr-H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arbitrar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 drugoj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hr-H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Npr. kad se crkveni oci citiraju kao autoritet u nauci, ili kad se političari citiraju kao autoriteti u umjetnosti.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Char char="-"/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Pogreška kad se sporna teza dokazuje pozivanjem na mišljenje autoriteta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93778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applause.wav"/>
          </p:stSnd>
        </p:sndAc>
      </p:transition>
    </mc:Choice>
    <mc:Fallback>
      <p:transition spd="slow"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</a:pPr>
            <a:r>
              <a:rPr lang="hr-HR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IGNORATIO ELENCHI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Ova pogreška koja znači </a:t>
            </a:r>
            <a:r>
              <a:rPr lang="hr-HR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„ignoriranje dokaza“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 naziva se još „irelevantna </a:t>
            </a:r>
            <a:r>
              <a:rPr lang="hr-H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konkluzija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“, jedna je od najstarijih pogreška. Možemo je prevesti i kao „promašena tema“.</a:t>
            </a: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Riječ je o pogrešci kada umjesto neke </a:t>
            </a:r>
            <a:r>
              <a:rPr lang="hr-H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konkluzije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koja slijedi iz premisa, izvedemo neku drugu, koja je obično nejasno povezana s tom </a:t>
            </a:r>
            <a:r>
              <a:rPr lang="hr-H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konkluzijom</a:t>
            </a: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hr-H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Npr. </a:t>
            </a:r>
            <a:r>
              <a:rPr lang="hr-H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ako vas policajac zaustavi zbog vožnje na motoru bez kacige, a vi odbijete platiti kaznu s argumentom da gradom slobodno šeću opasni kriminalci te sa se policija treba baviti njima, a ne vama, počinili ste ovu pogrešku.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hr-HR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Npr</a:t>
            </a:r>
            <a:r>
              <a:rPr lang="hr-H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kada neki kršćanin počne argumentirati da je kršćanstvo u potpunosti istinita nauka jer je pomoglo mnogim ljudima, bez obzira koliko dobro on to argumentirao, neće dokazati prvotnu tezu (da je kršćanstvo istinita nauka)</a:t>
            </a:r>
            <a:endParaRPr lang="hr-H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374228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9718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sparavanje">
  <a:themeElements>
    <a:clrScheme name="Isparavanj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Isparavanje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sparavanje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TM04033937[[fn=Isparavanje]]</Template>
  <TotalTime>22</TotalTime>
  <Words>589</Words>
  <Application>Microsoft Office PowerPoint</Application>
  <PresentationFormat>Široki zaslon</PresentationFormat>
  <Paragraphs>28</Paragraphs>
  <Slides>8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Isparavanje</vt:lpstr>
      <vt:lpstr>Pogreške u zaključivanju</vt:lpstr>
      <vt:lpstr>ARGUMENTUM AD BACULUM</vt:lpstr>
      <vt:lpstr>  ARGUMENTUM AD POPULUM </vt:lpstr>
      <vt:lpstr>ARGUMENTUM AD HOMINEM </vt:lpstr>
      <vt:lpstr>ARGUMENTUM AD MISERICORDIAN </vt:lpstr>
      <vt:lpstr>ARGUMENTUM AD VERECUNDIAM  </vt:lpstr>
      <vt:lpstr>IGNORATIO ELENCHI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Pogreške u zaključivanju</dc:title>
  <dc:creator>Mirela Turk</dc:creator>
  <cp:lastModifiedBy>Mirela Turk</cp:lastModifiedBy>
  <cp:revision>3</cp:revision>
  <dcterms:created xsi:type="dcterms:W3CDTF">2020-05-30T19:55:42Z</dcterms:created>
  <dcterms:modified xsi:type="dcterms:W3CDTF">2020-05-30T20:17:44Z</dcterms:modified>
</cp:coreProperties>
</file>