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5" r:id="rId9"/>
    <p:sldId id="266" r:id="rId10"/>
    <p:sldId id="267" r:id="rId11"/>
    <p:sldId id="264" r:id="rId12"/>
    <p:sldId id="257" r:id="rId13"/>
  </p:sldIdLst>
  <p:sldSz cx="12192000" cy="6858000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1A7EAD0-4552-444C-8F36-5C5272EF3CEE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6713A39-2949-44DB-BA6D-BEA57447AD86}">
      <dgm:prSet/>
      <dgm:spPr/>
      <dgm:t>
        <a:bodyPr/>
        <a:lstStyle/>
        <a:p>
          <a:r>
            <a:rPr lang="hr-HR" dirty="0"/>
            <a:t>Malo više o eroziji tla i akumulaciji sedimenata</a:t>
          </a:r>
          <a:endParaRPr lang="en-US" dirty="0"/>
        </a:p>
      </dgm:t>
    </dgm:pt>
    <dgm:pt modelId="{C2EEBD2C-0131-436F-9294-A3029D89FA16}" type="parTrans" cxnId="{1D5FDCF7-8CB4-451C-B92A-D037BFEA51EC}">
      <dgm:prSet/>
      <dgm:spPr/>
      <dgm:t>
        <a:bodyPr/>
        <a:lstStyle/>
        <a:p>
          <a:endParaRPr lang="en-US"/>
        </a:p>
      </dgm:t>
    </dgm:pt>
    <dgm:pt modelId="{42A1568B-F0AF-45D4-AA66-F43ACFDDB978}" type="sibTrans" cxnId="{1D5FDCF7-8CB4-451C-B92A-D037BFEA51EC}">
      <dgm:prSet/>
      <dgm:spPr/>
      <dgm:t>
        <a:bodyPr/>
        <a:lstStyle/>
        <a:p>
          <a:endParaRPr lang="en-US"/>
        </a:p>
      </dgm:t>
    </dgm:pt>
    <dgm:pt modelId="{D38BCBAA-EF83-4436-ABBF-E633C44A2B9A}">
      <dgm:prSet/>
      <dgm:spPr/>
      <dgm:t>
        <a:bodyPr/>
        <a:lstStyle/>
        <a:p>
          <a:r>
            <a:rPr lang="hr-HR" dirty="0"/>
            <a:t>Proces nastanka</a:t>
          </a:r>
          <a:endParaRPr lang="en-US" dirty="0"/>
        </a:p>
      </dgm:t>
    </dgm:pt>
    <dgm:pt modelId="{3B2209EB-F8CA-4E54-A9EA-04D4D3DFB527}" type="parTrans" cxnId="{90661400-9F49-4B67-B54D-6B2682F96FFE}">
      <dgm:prSet/>
      <dgm:spPr/>
      <dgm:t>
        <a:bodyPr/>
        <a:lstStyle/>
        <a:p>
          <a:endParaRPr lang="en-US"/>
        </a:p>
      </dgm:t>
    </dgm:pt>
    <dgm:pt modelId="{03675D27-2B3F-4DCB-916A-52C8AA87F64C}" type="sibTrans" cxnId="{90661400-9F49-4B67-B54D-6B2682F96FFE}">
      <dgm:prSet/>
      <dgm:spPr/>
      <dgm:t>
        <a:bodyPr/>
        <a:lstStyle/>
        <a:p>
          <a:endParaRPr lang="en-US"/>
        </a:p>
      </dgm:t>
    </dgm:pt>
    <dgm:pt modelId="{E0E0DC73-3C34-489F-8F5D-73D37102C3B5}">
      <dgm:prSet/>
      <dgm:spPr/>
      <dgm:t>
        <a:bodyPr/>
        <a:lstStyle/>
        <a:p>
          <a:r>
            <a:rPr lang="hr-HR" dirty="0"/>
            <a:t>Prirodni uzročnici erozije tla</a:t>
          </a:r>
          <a:endParaRPr lang="en-US" dirty="0"/>
        </a:p>
      </dgm:t>
    </dgm:pt>
    <dgm:pt modelId="{DBDEAB02-0C7D-4C20-833E-D6BBE11BA86D}" type="parTrans" cxnId="{8420F36E-8F25-4C05-96E1-1F66E36D7B8E}">
      <dgm:prSet/>
      <dgm:spPr/>
      <dgm:t>
        <a:bodyPr/>
        <a:lstStyle/>
        <a:p>
          <a:endParaRPr lang="en-US"/>
        </a:p>
      </dgm:t>
    </dgm:pt>
    <dgm:pt modelId="{4B3367FB-0DDF-4640-A5DB-5C8D5EE5AF19}" type="sibTrans" cxnId="{8420F36E-8F25-4C05-96E1-1F66E36D7B8E}">
      <dgm:prSet/>
      <dgm:spPr/>
      <dgm:t>
        <a:bodyPr/>
        <a:lstStyle/>
        <a:p>
          <a:endParaRPr lang="en-US"/>
        </a:p>
      </dgm:t>
    </dgm:pt>
    <dgm:pt modelId="{984A5C4F-5BF2-464A-82DB-D9D3BF5EF4C5}">
      <dgm:prSet/>
      <dgm:spPr/>
      <dgm:t>
        <a:bodyPr/>
        <a:lstStyle/>
        <a:p>
          <a:r>
            <a:rPr lang="hr-HR" dirty="0"/>
            <a:t>Ljudsko djelovanje</a:t>
          </a:r>
          <a:endParaRPr lang="en-US" dirty="0"/>
        </a:p>
      </dgm:t>
    </dgm:pt>
    <dgm:pt modelId="{A33884AB-8769-4864-91B1-BF3A3979C1C2}" type="parTrans" cxnId="{C9AC4C7B-05C6-4F86-AB51-FC1C78D3C972}">
      <dgm:prSet/>
      <dgm:spPr/>
      <dgm:t>
        <a:bodyPr/>
        <a:lstStyle/>
        <a:p>
          <a:endParaRPr lang="en-US"/>
        </a:p>
      </dgm:t>
    </dgm:pt>
    <dgm:pt modelId="{0B70E3A4-F27D-411C-9017-F06F2F8B506D}" type="sibTrans" cxnId="{C9AC4C7B-05C6-4F86-AB51-FC1C78D3C972}">
      <dgm:prSet/>
      <dgm:spPr/>
      <dgm:t>
        <a:bodyPr/>
        <a:lstStyle/>
        <a:p>
          <a:endParaRPr lang="en-US"/>
        </a:p>
      </dgm:t>
    </dgm:pt>
    <dgm:pt modelId="{2B02AFEA-05DD-40C7-A470-8544380B61B7}">
      <dgm:prSet/>
      <dgm:spPr/>
      <dgm:t>
        <a:bodyPr/>
        <a:lstStyle/>
        <a:p>
          <a:r>
            <a:rPr lang="hr-HR" dirty="0"/>
            <a:t>Posljedice erozije tla</a:t>
          </a:r>
          <a:endParaRPr lang="en-US" dirty="0"/>
        </a:p>
      </dgm:t>
    </dgm:pt>
    <dgm:pt modelId="{DAE24E6A-7E0F-4E36-A0D7-1C2789A2675B}" type="parTrans" cxnId="{A07E05B4-1EF4-4951-B081-32FA795B53BF}">
      <dgm:prSet/>
      <dgm:spPr/>
      <dgm:t>
        <a:bodyPr/>
        <a:lstStyle/>
        <a:p>
          <a:endParaRPr lang="en-US"/>
        </a:p>
      </dgm:t>
    </dgm:pt>
    <dgm:pt modelId="{9DB742F3-E4E1-4A24-83D5-34F68B464810}" type="sibTrans" cxnId="{A07E05B4-1EF4-4951-B081-32FA795B53BF}">
      <dgm:prSet/>
      <dgm:spPr/>
      <dgm:t>
        <a:bodyPr/>
        <a:lstStyle/>
        <a:p>
          <a:endParaRPr lang="en-US"/>
        </a:p>
      </dgm:t>
    </dgm:pt>
    <dgm:pt modelId="{EC4EE202-CE57-4C2A-BCB9-DAC25D7C5237}">
      <dgm:prSet/>
      <dgm:spPr/>
      <dgm:t>
        <a:bodyPr/>
        <a:lstStyle/>
        <a:p>
          <a:r>
            <a:rPr lang="hr-HR" dirty="0"/>
            <a:t>Važni primjeri</a:t>
          </a:r>
          <a:endParaRPr lang="en-US" dirty="0"/>
        </a:p>
      </dgm:t>
    </dgm:pt>
    <dgm:pt modelId="{957E0E25-80C3-4DFB-8545-5336EE8CD7B1}" type="parTrans" cxnId="{0CDF7285-F96B-494D-8CD3-9819B959FFDA}">
      <dgm:prSet/>
      <dgm:spPr/>
      <dgm:t>
        <a:bodyPr/>
        <a:lstStyle/>
        <a:p>
          <a:endParaRPr lang="en-US"/>
        </a:p>
      </dgm:t>
    </dgm:pt>
    <dgm:pt modelId="{71CB7A57-0A87-4554-AF4C-5F932A65A183}" type="sibTrans" cxnId="{0CDF7285-F96B-494D-8CD3-9819B959FFDA}">
      <dgm:prSet/>
      <dgm:spPr/>
      <dgm:t>
        <a:bodyPr/>
        <a:lstStyle/>
        <a:p>
          <a:endParaRPr lang="en-US"/>
        </a:p>
      </dgm:t>
    </dgm:pt>
    <dgm:pt modelId="{763F58CE-E833-4C38-80D0-31F2CEE7DD18}">
      <dgm:prSet/>
      <dgm:spPr/>
      <dgm:t>
        <a:bodyPr/>
        <a:lstStyle/>
        <a:p>
          <a:r>
            <a:rPr lang="hr-HR" dirty="0"/>
            <a:t>Strategije ublažavanja</a:t>
          </a:r>
          <a:endParaRPr lang="en-US" dirty="0"/>
        </a:p>
      </dgm:t>
    </dgm:pt>
    <dgm:pt modelId="{2C4AB8B1-0225-47DB-ABE5-F98BD829C330}" type="parTrans" cxnId="{15A8E4E2-4D17-4416-A431-2249FFDCD9AA}">
      <dgm:prSet/>
      <dgm:spPr/>
      <dgm:t>
        <a:bodyPr/>
        <a:lstStyle/>
        <a:p>
          <a:endParaRPr lang="en-US"/>
        </a:p>
      </dgm:t>
    </dgm:pt>
    <dgm:pt modelId="{03478927-1084-4313-8603-977634479415}" type="sibTrans" cxnId="{15A8E4E2-4D17-4416-A431-2249FFDCD9AA}">
      <dgm:prSet/>
      <dgm:spPr/>
      <dgm:t>
        <a:bodyPr/>
        <a:lstStyle/>
        <a:p>
          <a:endParaRPr lang="en-US"/>
        </a:p>
      </dgm:t>
    </dgm:pt>
    <dgm:pt modelId="{ABA80949-776C-4756-876E-87DDFB318EA2}" type="pres">
      <dgm:prSet presAssocID="{21A7EAD0-4552-444C-8F36-5C5272EF3CEE}" presName="vert0" presStyleCnt="0">
        <dgm:presLayoutVars>
          <dgm:dir/>
          <dgm:animOne val="branch"/>
          <dgm:animLvl val="lvl"/>
        </dgm:presLayoutVars>
      </dgm:prSet>
      <dgm:spPr/>
    </dgm:pt>
    <dgm:pt modelId="{D88446D4-837A-48EA-8479-6B7122A9465D}" type="pres">
      <dgm:prSet presAssocID="{76713A39-2949-44DB-BA6D-BEA57447AD86}" presName="thickLine" presStyleLbl="alignNode1" presStyleIdx="0" presStyleCnt="7"/>
      <dgm:spPr/>
    </dgm:pt>
    <dgm:pt modelId="{75AA0A64-C188-4850-BD7C-4FA933FB472C}" type="pres">
      <dgm:prSet presAssocID="{76713A39-2949-44DB-BA6D-BEA57447AD86}" presName="horz1" presStyleCnt="0"/>
      <dgm:spPr/>
    </dgm:pt>
    <dgm:pt modelId="{84C3BFE0-D12B-4269-B6F1-BB0A5750A4C2}" type="pres">
      <dgm:prSet presAssocID="{76713A39-2949-44DB-BA6D-BEA57447AD86}" presName="tx1" presStyleLbl="revTx" presStyleIdx="0" presStyleCnt="7"/>
      <dgm:spPr/>
    </dgm:pt>
    <dgm:pt modelId="{DE6FB341-F6C0-464A-8B81-B4AD8A0CD4A5}" type="pres">
      <dgm:prSet presAssocID="{76713A39-2949-44DB-BA6D-BEA57447AD86}" presName="vert1" presStyleCnt="0"/>
      <dgm:spPr/>
    </dgm:pt>
    <dgm:pt modelId="{1842EECC-8500-43D2-8880-207C51C74F95}" type="pres">
      <dgm:prSet presAssocID="{D38BCBAA-EF83-4436-ABBF-E633C44A2B9A}" presName="thickLine" presStyleLbl="alignNode1" presStyleIdx="1" presStyleCnt="7"/>
      <dgm:spPr/>
    </dgm:pt>
    <dgm:pt modelId="{5026310F-198F-4AB6-8C4B-1C2D4EF68747}" type="pres">
      <dgm:prSet presAssocID="{D38BCBAA-EF83-4436-ABBF-E633C44A2B9A}" presName="horz1" presStyleCnt="0"/>
      <dgm:spPr/>
    </dgm:pt>
    <dgm:pt modelId="{92EA80DF-FDBA-451B-B125-EFC1F2D1E29D}" type="pres">
      <dgm:prSet presAssocID="{D38BCBAA-EF83-4436-ABBF-E633C44A2B9A}" presName="tx1" presStyleLbl="revTx" presStyleIdx="1" presStyleCnt="7"/>
      <dgm:spPr/>
    </dgm:pt>
    <dgm:pt modelId="{6D99FF0A-5455-48D7-888B-3A9FF9C5EB9A}" type="pres">
      <dgm:prSet presAssocID="{D38BCBAA-EF83-4436-ABBF-E633C44A2B9A}" presName="vert1" presStyleCnt="0"/>
      <dgm:spPr/>
    </dgm:pt>
    <dgm:pt modelId="{723D8A55-13D6-4F42-A6D5-DE88EE585E27}" type="pres">
      <dgm:prSet presAssocID="{E0E0DC73-3C34-489F-8F5D-73D37102C3B5}" presName="thickLine" presStyleLbl="alignNode1" presStyleIdx="2" presStyleCnt="7"/>
      <dgm:spPr/>
    </dgm:pt>
    <dgm:pt modelId="{720266C8-E8DB-4379-ABDA-09F7237A9F18}" type="pres">
      <dgm:prSet presAssocID="{E0E0DC73-3C34-489F-8F5D-73D37102C3B5}" presName="horz1" presStyleCnt="0"/>
      <dgm:spPr/>
    </dgm:pt>
    <dgm:pt modelId="{24F4DD5A-17C8-4EAA-918B-245CAD79FF4A}" type="pres">
      <dgm:prSet presAssocID="{E0E0DC73-3C34-489F-8F5D-73D37102C3B5}" presName="tx1" presStyleLbl="revTx" presStyleIdx="2" presStyleCnt="7"/>
      <dgm:spPr/>
    </dgm:pt>
    <dgm:pt modelId="{38A57518-DA26-4BB0-BB56-BFC267DF59F1}" type="pres">
      <dgm:prSet presAssocID="{E0E0DC73-3C34-489F-8F5D-73D37102C3B5}" presName="vert1" presStyleCnt="0"/>
      <dgm:spPr/>
    </dgm:pt>
    <dgm:pt modelId="{D0CA7069-FBFC-4154-800B-1DC927984574}" type="pres">
      <dgm:prSet presAssocID="{984A5C4F-5BF2-464A-82DB-D9D3BF5EF4C5}" presName="thickLine" presStyleLbl="alignNode1" presStyleIdx="3" presStyleCnt="7"/>
      <dgm:spPr/>
    </dgm:pt>
    <dgm:pt modelId="{01B72505-1DCD-4AB1-A6D1-D9AA03F7875B}" type="pres">
      <dgm:prSet presAssocID="{984A5C4F-5BF2-464A-82DB-D9D3BF5EF4C5}" presName="horz1" presStyleCnt="0"/>
      <dgm:spPr/>
    </dgm:pt>
    <dgm:pt modelId="{E43BD480-D1B7-4AE4-99DC-685243760E06}" type="pres">
      <dgm:prSet presAssocID="{984A5C4F-5BF2-464A-82DB-D9D3BF5EF4C5}" presName="tx1" presStyleLbl="revTx" presStyleIdx="3" presStyleCnt="7"/>
      <dgm:spPr/>
    </dgm:pt>
    <dgm:pt modelId="{653671A0-67E5-4A29-A767-213903F299BE}" type="pres">
      <dgm:prSet presAssocID="{984A5C4F-5BF2-464A-82DB-D9D3BF5EF4C5}" presName="vert1" presStyleCnt="0"/>
      <dgm:spPr/>
    </dgm:pt>
    <dgm:pt modelId="{F84A9CBF-DF2E-4E52-93C3-B849434B3907}" type="pres">
      <dgm:prSet presAssocID="{2B02AFEA-05DD-40C7-A470-8544380B61B7}" presName="thickLine" presStyleLbl="alignNode1" presStyleIdx="4" presStyleCnt="7"/>
      <dgm:spPr/>
    </dgm:pt>
    <dgm:pt modelId="{FDD42D3A-E304-47D7-A001-AE6CFA2D8D9A}" type="pres">
      <dgm:prSet presAssocID="{2B02AFEA-05DD-40C7-A470-8544380B61B7}" presName="horz1" presStyleCnt="0"/>
      <dgm:spPr/>
    </dgm:pt>
    <dgm:pt modelId="{6B845BAF-68BE-47D4-954F-CA0515D4266B}" type="pres">
      <dgm:prSet presAssocID="{2B02AFEA-05DD-40C7-A470-8544380B61B7}" presName="tx1" presStyleLbl="revTx" presStyleIdx="4" presStyleCnt="7"/>
      <dgm:spPr/>
    </dgm:pt>
    <dgm:pt modelId="{891811C2-5F4D-415C-A205-5E19A0C5B573}" type="pres">
      <dgm:prSet presAssocID="{2B02AFEA-05DD-40C7-A470-8544380B61B7}" presName="vert1" presStyleCnt="0"/>
      <dgm:spPr/>
    </dgm:pt>
    <dgm:pt modelId="{148C33C4-1506-40BA-99E6-A72AA522A469}" type="pres">
      <dgm:prSet presAssocID="{EC4EE202-CE57-4C2A-BCB9-DAC25D7C5237}" presName="thickLine" presStyleLbl="alignNode1" presStyleIdx="5" presStyleCnt="7"/>
      <dgm:spPr/>
    </dgm:pt>
    <dgm:pt modelId="{A8AEEE5B-B900-499F-B1F4-85AA131B61E1}" type="pres">
      <dgm:prSet presAssocID="{EC4EE202-CE57-4C2A-BCB9-DAC25D7C5237}" presName="horz1" presStyleCnt="0"/>
      <dgm:spPr/>
    </dgm:pt>
    <dgm:pt modelId="{11926AFF-9C98-4C53-AEEA-C84E4E3AD4BF}" type="pres">
      <dgm:prSet presAssocID="{EC4EE202-CE57-4C2A-BCB9-DAC25D7C5237}" presName="tx1" presStyleLbl="revTx" presStyleIdx="5" presStyleCnt="7"/>
      <dgm:spPr/>
    </dgm:pt>
    <dgm:pt modelId="{68758237-E9FC-44E8-9226-90F08568A8D7}" type="pres">
      <dgm:prSet presAssocID="{EC4EE202-CE57-4C2A-BCB9-DAC25D7C5237}" presName="vert1" presStyleCnt="0"/>
      <dgm:spPr/>
    </dgm:pt>
    <dgm:pt modelId="{74D66B4F-CEA0-408E-B2B7-F90AB7A25F7A}" type="pres">
      <dgm:prSet presAssocID="{763F58CE-E833-4C38-80D0-31F2CEE7DD18}" presName="thickLine" presStyleLbl="alignNode1" presStyleIdx="6" presStyleCnt="7"/>
      <dgm:spPr/>
    </dgm:pt>
    <dgm:pt modelId="{D427468C-763D-4A4B-B8EB-C5AD76EE07F0}" type="pres">
      <dgm:prSet presAssocID="{763F58CE-E833-4C38-80D0-31F2CEE7DD18}" presName="horz1" presStyleCnt="0"/>
      <dgm:spPr/>
    </dgm:pt>
    <dgm:pt modelId="{5C069458-F173-4A3F-9F18-331A0ABE2453}" type="pres">
      <dgm:prSet presAssocID="{763F58CE-E833-4C38-80D0-31F2CEE7DD18}" presName="tx1" presStyleLbl="revTx" presStyleIdx="6" presStyleCnt="7"/>
      <dgm:spPr/>
    </dgm:pt>
    <dgm:pt modelId="{A01EF076-4900-4ABA-8B73-AD702196E0E0}" type="pres">
      <dgm:prSet presAssocID="{763F58CE-E833-4C38-80D0-31F2CEE7DD18}" presName="vert1" presStyleCnt="0"/>
      <dgm:spPr/>
    </dgm:pt>
  </dgm:ptLst>
  <dgm:cxnLst>
    <dgm:cxn modelId="{90661400-9F49-4B67-B54D-6B2682F96FFE}" srcId="{21A7EAD0-4552-444C-8F36-5C5272EF3CEE}" destId="{D38BCBAA-EF83-4436-ABBF-E633C44A2B9A}" srcOrd="1" destOrd="0" parTransId="{3B2209EB-F8CA-4E54-A9EA-04D4D3DFB527}" sibTransId="{03675D27-2B3F-4DCB-916A-52C8AA87F64C}"/>
    <dgm:cxn modelId="{D8328A08-20B6-48FA-B370-1B273C86C81B}" type="presOf" srcId="{EC4EE202-CE57-4C2A-BCB9-DAC25D7C5237}" destId="{11926AFF-9C98-4C53-AEEA-C84E4E3AD4BF}" srcOrd="0" destOrd="0" presId="urn:microsoft.com/office/officeart/2008/layout/LinedList"/>
    <dgm:cxn modelId="{9C127021-7418-445B-A969-462C4E38AE4C}" type="presOf" srcId="{2B02AFEA-05DD-40C7-A470-8544380B61B7}" destId="{6B845BAF-68BE-47D4-954F-CA0515D4266B}" srcOrd="0" destOrd="0" presId="urn:microsoft.com/office/officeart/2008/layout/LinedList"/>
    <dgm:cxn modelId="{5E77A95B-2959-4041-9FE1-E741EE6FFAF7}" type="presOf" srcId="{E0E0DC73-3C34-489F-8F5D-73D37102C3B5}" destId="{24F4DD5A-17C8-4EAA-918B-245CAD79FF4A}" srcOrd="0" destOrd="0" presId="urn:microsoft.com/office/officeart/2008/layout/LinedList"/>
    <dgm:cxn modelId="{B3EB884D-7CE0-4460-AFF1-98A43DBF88A3}" type="presOf" srcId="{D38BCBAA-EF83-4436-ABBF-E633C44A2B9A}" destId="{92EA80DF-FDBA-451B-B125-EFC1F2D1E29D}" srcOrd="0" destOrd="0" presId="urn:microsoft.com/office/officeart/2008/layout/LinedList"/>
    <dgm:cxn modelId="{8420F36E-8F25-4C05-96E1-1F66E36D7B8E}" srcId="{21A7EAD0-4552-444C-8F36-5C5272EF3CEE}" destId="{E0E0DC73-3C34-489F-8F5D-73D37102C3B5}" srcOrd="2" destOrd="0" parTransId="{DBDEAB02-0C7D-4C20-833E-D6BBE11BA86D}" sibTransId="{4B3367FB-0DDF-4640-A5DB-5C8D5EE5AF19}"/>
    <dgm:cxn modelId="{3CF18857-0AE5-46CF-8441-41DA491C2B61}" type="presOf" srcId="{21A7EAD0-4552-444C-8F36-5C5272EF3CEE}" destId="{ABA80949-776C-4756-876E-87DDFB318EA2}" srcOrd="0" destOrd="0" presId="urn:microsoft.com/office/officeart/2008/layout/LinedList"/>
    <dgm:cxn modelId="{C9AC4C7B-05C6-4F86-AB51-FC1C78D3C972}" srcId="{21A7EAD0-4552-444C-8F36-5C5272EF3CEE}" destId="{984A5C4F-5BF2-464A-82DB-D9D3BF5EF4C5}" srcOrd="3" destOrd="0" parTransId="{A33884AB-8769-4864-91B1-BF3A3979C1C2}" sibTransId="{0B70E3A4-F27D-411C-9017-F06F2F8B506D}"/>
    <dgm:cxn modelId="{0CDF7285-F96B-494D-8CD3-9819B959FFDA}" srcId="{21A7EAD0-4552-444C-8F36-5C5272EF3CEE}" destId="{EC4EE202-CE57-4C2A-BCB9-DAC25D7C5237}" srcOrd="5" destOrd="0" parTransId="{957E0E25-80C3-4DFB-8545-5336EE8CD7B1}" sibTransId="{71CB7A57-0A87-4554-AF4C-5F932A65A183}"/>
    <dgm:cxn modelId="{A07E05B4-1EF4-4951-B081-32FA795B53BF}" srcId="{21A7EAD0-4552-444C-8F36-5C5272EF3CEE}" destId="{2B02AFEA-05DD-40C7-A470-8544380B61B7}" srcOrd="4" destOrd="0" parTransId="{DAE24E6A-7E0F-4E36-A0D7-1C2789A2675B}" sibTransId="{9DB742F3-E4E1-4A24-83D5-34F68B464810}"/>
    <dgm:cxn modelId="{301D04C8-E493-4655-8667-D45E6B4AA49F}" type="presOf" srcId="{763F58CE-E833-4C38-80D0-31F2CEE7DD18}" destId="{5C069458-F173-4A3F-9F18-331A0ABE2453}" srcOrd="0" destOrd="0" presId="urn:microsoft.com/office/officeart/2008/layout/LinedList"/>
    <dgm:cxn modelId="{16F99ACE-D0E9-4F96-B603-E6CBFC4BFB69}" type="presOf" srcId="{984A5C4F-5BF2-464A-82DB-D9D3BF5EF4C5}" destId="{E43BD480-D1B7-4AE4-99DC-685243760E06}" srcOrd="0" destOrd="0" presId="urn:microsoft.com/office/officeart/2008/layout/LinedList"/>
    <dgm:cxn modelId="{15A8E4E2-4D17-4416-A431-2249FFDCD9AA}" srcId="{21A7EAD0-4552-444C-8F36-5C5272EF3CEE}" destId="{763F58CE-E833-4C38-80D0-31F2CEE7DD18}" srcOrd="6" destOrd="0" parTransId="{2C4AB8B1-0225-47DB-ABE5-F98BD829C330}" sibTransId="{03478927-1084-4313-8603-977634479415}"/>
    <dgm:cxn modelId="{3B5222E7-0ABE-414F-B629-56773FCD209B}" type="presOf" srcId="{76713A39-2949-44DB-BA6D-BEA57447AD86}" destId="{84C3BFE0-D12B-4269-B6F1-BB0A5750A4C2}" srcOrd="0" destOrd="0" presId="urn:microsoft.com/office/officeart/2008/layout/LinedList"/>
    <dgm:cxn modelId="{1D5FDCF7-8CB4-451C-B92A-D037BFEA51EC}" srcId="{21A7EAD0-4552-444C-8F36-5C5272EF3CEE}" destId="{76713A39-2949-44DB-BA6D-BEA57447AD86}" srcOrd="0" destOrd="0" parTransId="{C2EEBD2C-0131-436F-9294-A3029D89FA16}" sibTransId="{42A1568B-F0AF-45D4-AA66-F43ACFDDB978}"/>
    <dgm:cxn modelId="{57994B13-6E4D-4CC2-9D25-15BD671A71B2}" type="presParOf" srcId="{ABA80949-776C-4756-876E-87DDFB318EA2}" destId="{D88446D4-837A-48EA-8479-6B7122A9465D}" srcOrd="0" destOrd="0" presId="urn:microsoft.com/office/officeart/2008/layout/LinedList"/>
    <dgm:cxn modelId="{AF654904-5DFD-4365-BF96-D6CA0C55456F}" type="presParOf" srcId="{ABA80949-776C-4756-876E-87DDFB318EA2}" destId="{75AA0A64-C188-4850-BD7C-4FA933FB472C}" srcOrd="1" destOrd="0" presId="urn:microsoft.com/office/officeart/2008/layout/LinedList"/>
    <dgm:cxn modelId="{41C827D7-7D23-47FA-BBEB-1F79A2408ED2}" type="presParOf" srcId="{75AA0A64-C188-4850-BD7C-4FA933FB472C}" destId="{84C3BFE0-D12B-4269-B6F1-BB0A5750A4C2}" srcOrd="0" destOrd="0" presId="urn:microsoft.com/office/officeart/2008/layout/LinedList"/>
    <dgm:cxn modelId="{DCABBABB-1429-4843-9407-77A0E08DFA01}" type="presParOf" srcId="{75AA0A64-C188-4850-BD7C-4FA933FB472C}" destId="{DE6FB341-F6C0-464A-8B81-B4AD8A0CD4A5}" srcOrd="1" destOrd="0" presId="urn:microsoft.com/office/officeart/2008/layout/LinedList"/>
    <dgm:cxn modelId="{7C41C3B6-E915-4680-A35D-9A30F8422600}" type="presParOf" srcId="{ABA80949-776C-4756-876E-87DDFB318EA2}" destId="{1842EECC-8500-43D2-8880-207C51C74F95}" srcOrd="2" destOrd="0" presId="urn:microsoft.com/office/officeart/2008/layout/LinedList"/>
    <dgm:cxn modelId="{F3DD2D09-B7FC-4704-87FC-EE12CD0A9DF4}" type="presParOf" srcId="{ABA80949-776C-4756-876E-87DDFB318EA2}" destId="{5026310F-198F-4AB6-8C4B-1C2D4EF68747}" srcOrd="3" destOrd="0" presId="urn:microsoft.com/office/officeart/2008/layout/LinedList"/>
    <dgm:cxn modelId="{1197E6F3-2541-4E61-9D0A-FD6554BCEDD5}" type="presParOf" srcId="{5026310F-198F-4AB6-8C4B-1C2D4EF68747}" destId="{92EA80DF-FDBA-451B-B125-EFC1F2D1E29D}" srcOrd="0" destOrd="0" presId="urn:microsoft.com/office/officeart/2008/layout/LinedList"/>
    <dgm:cxn modelId="{E64CD862-6763-4B00-8B51-3DA63CBAAB12}" type="presParOf" srcId="{5026310F-198F-4AB6-8C4B-1C2D4EF68747}" destId="{6D99FF0A-5455-48D7-888B-3A9FF9C5EB9A}" srcOrd="1" destOrd="0" presId="urn:microsoft.com/office/officeart/2008/layout/LinedList"/>
    <dgm:cxn modelId="{980B2D9C-8B37-40CA-9555-5E3261E46B5A}" type="presParOf" srcId="{ABA80949-776C-4756-876E-87DDFB318EA2}" destId="{723D8A55-13D6-4F42-A6D5-DE88EE585E27}" srcOrd="4" destOrd="0" presId="urn:microsoft.com/office/officeart/2008/layout/LinedList"/>
    <dgm:cxn modelId="{70CD9BB8-8824-4ED5-96B9-91950CD54D89}" type="presParOf" srcId="{ABA80949-776C-4756-876E-87DDFB318EA2}" destId="{720266C8-E8DB-4379-ABDA-09F7237A9F18}" srcOrd="5" destOrd="0" presId="urn:microsoft.com/office/officeart/2008/layout/LinedList"/>
    <dgm:cxn modelId="{E860245E-8462-4B71-8AF3-DFE7F02866D5}" type="presParOf" srcId="{720266C8-E8DB-4379-ABDA-09F7237A9F18}" destId="{24F4DD5A-17C8-4EAA-918B-245CAD79FF4A}" srcOrd="0" destOrd="0" presId="urn:microsoft.com/office/officeart/2008/layout/LinedList"/>
    <dgm:cxn modelId="{4968E106-319B-4C64-8FC7-EB943D63A2B8}" type="presParOf" srcId="{720266C8-E8DB-4379-ABDA-09F7237A9F18}" destId="{38A57518-DA26-4BB0-BB56-BFC267DF59F1}" srcOrd="1" destOrd="0" presId="urn:microsoft.com/office/officeart/2008/layout/LinedList"/>
    <dgm:cxn modelId="{E7AF3D9C-B610-47A9-9D55-7281D8182951}" type="presParOf" srcId="{ABA80949-776C-4756-876E-87DDFB318EA2}" destId="{D0CA7069-FBFC-4154-800B-1DC927984574}" srcOrd="6" destOrd="0" presId="urn:microsoft.com/office/officeart/2008/layout/LinedList"/>
    <dgm:cxn modelId="{DDAC7414-BDB2-4708-88E4-6A5AA2E4EDF1}" type="presParOf" srcId="{ABA80949-776C-4756-876E-87DDFB318EA2}" destId="{01B72505-1DCD-4AB1-A6D1-D9AA03F7875B}" srcOrd="7" destOrd="0" presId="urn:microsoft.com/office/officeart/2008/layout/LinedList"/>
    <dgm:cxn modelId="{CDD7707F-D823-424E-9E55-B9A864B4033F}" type="presParOf" srcId="{01B72505-1DCD-4AB1-A6D1-D9AA03F7875B}" destId="{E43BD480-D1B7-4AE4-99DC-685243760E06}" srcOrd="0" destOrd="0" presId="urn:microsoft.com/office/officeart/2008/layout/LinedList"/>
    <dgm:cxn modelId="{32756195-85E7-4435-ACD0-CBC98055E775}" type="presParOf" srcId="{01B72505-1DCD-4AB1-A6D1-D9AA03F7875B}" destId="{653671A0-67E5-4A29-A767-213903F299BE}" srcOrd="1" destOrd="0" presId="urn:microsoft.com/office/officeart/2008/layout/LinedList"/>
    <dgm:cxn modelId="{DBF184CD-6CA8-4729-A4E3-F3CC3F3F8F66}" type="presParOf" srcId="{ABA80949-776C-4756-876E-87DDFB318EA2}" destId="{F84A9CBF-DF2E-4E52-93C3-B849434B3907}" srcOrd="8" destOrd="0" presId="urn:microsoft.com/office/officeart/2008/layout/LinedList"/>
    <dgm:cxn modelId="{5106B6AE-64EA-4ECF-BF9D-49C03608917D}" type="presParOf" srcId="{ABA80949-776C-4756-876E-87DDFB318EA2}" destId="{FDD42D3A-E304-47D7-A001-AE6CFA2D8D9A}" srcOrd="9" destOrd="0" presId="urn:microsoft.com/office/officeart/2008/layout/LinedList"/>
    <dgm:cxn modelId="{EB1CDAF8-8EF1-4261-A46C-EE21FE22457D}" type="presParOf" srcId="{FDD42D3A-E304-47D7-A001-AE6CFA2D8D9A}" destId="{6B845BAF-68BE-47D4-954F-CA0515D4266B}" srcOrd="0" destOrd="0" presId="urn:microsoft.com/office/officeart/2008/layout/LinedList"/>
    <dgm:cxn modelId="{CC1B2185-9580-4DA1-B970-5963624FFA74}" type="presParOf" srcId="{FDD42D3A-E304-47D7-A001-AE6CFA2D8D9A}" destId="{891811C2-5F4D-415C-A205-5E19A0C5B573}" srcOrd="1" destOrd="0" presId="urn:microsoft.com/office/officeart/2008/layout/LinedList"/>
    <dgm:cxn modelId="{179B66CB-B805-4B55-A016-D15AD41A2E17}" type="presParOf" srcId="{ABA80949-776C-4756-876E-87DDFB318EA2}" destId="{148C33C4-1506-40BA-99E6-A72AA522A469}" srcOrd="10" destOrd="0" presId="urn:microsoft.com/office/officeart/2008/layout/LinedList"/>
    <dgm:cxn modelId="{90D4A249-9E9E-4258-95D5-10924174D728}" type="presParOf" srcId="{ABA80949-776C-4756-876E-87DDFB318EA2}" destId="{A8AEEE5B-B900-499F-B1F4-85AA131B61E1}" srcOrd="11" destOrd="0" presId="urn:microsoft.com/office/officeart/2008/layout/LinedList"/>
    <dgm:cxn modelId="{8B35DF7F-3E5E-45C6-A4A0-3123B3536259}" type="presParOf" srcId="{A8AEEE5B-B900-499F-B1F4-85AA131B61E1}" destId="{11926AFF-9C98-4C53-AEEA-C84E4E3AD4BF}" srcOrd="0" destOrd="0" presId="urn:microsoft.com/office/officeart/2008/layout/LinedList"/>
    <dgm:cxn modelId="{4693C713-BC9F-4E20-8196-5463D0DFAE03}" type="presParOf" srcId="{A8AEEE5B-B900-499F-B1F4-85AA131B61E1}" destId="{68758237-E9FC-44E8-9226-90F08568A8D7}" srcOrd="1" destOrd="0" presId="urn:microsoft.com/office/officeart/2008/layout/LinedList"/>
    <dgm:cxn modelId="{F8B6780D-AF75-4254-AA78-F32A52319091}" type="presParOf" srcId="{ABA80949-776C-4756-876E-87DDFB318EA2}" destId="{74D66B4F-CEA0-408E-B2B7-F90AB7A25F7A}" srcOrd="12" destOrd="0" presId="urn:microsoft.com/office/officeart/2008/layout/LinedList"/>
    <dgm:cxn modelId="{78412E8D-8BBD-496D-A238-F3AAA48CBCB2}" type="presParOf" srcId="{ABA80949-776C-4756-876E-87DDFB318EA2}" destId="{D427468C-763D-4A4B-B8EB-C5AD76EE07F0}" srcOrd="13" destOrd="0" presId="urn:microsoft.com/office/officeart/2008/layout/LinedList"/>
    <dgm:cxn modelId="{9F4A5C0C-4ABB-401A-8277-81EF5566FB02}" type="presParOf" srcId="{D427468C-763D-4A4B-B8EB-C5AD76EE07F0}" destId="{5C069458-F173-4A3F-9F18-331A0ABE2453}" srcOrd="0" destOrd="0" presId="urn:microsoft.com/office/officeart/2008/layout/LinedList"/>
    <dgm:cxn modelId="{E6A0F82A-9F8B-4ED8-9A73-309F862102F3}" type="presParOf" srcId="{D427468C-763D-4A4B-B8EB-C5AD76EE07F0}" destId="{A01EF076-4900-4ABA-8B73-AD702196E0E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8446D4-837A-48EA-8479-6B7122A9465D}">
      <dsp:nvSpPr>
        <dsp:cNvPr id="0" name=""/>
        <dsp:cNvSpPr/>
      </dsp:nvSpPr>
      <dsp:spPr>
        <a:xfrm>
          <a:off x="0" y="531"/>
          <a:ext cx="10515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C3BFE0-D12B-4269-B6F1-BB0A5750A4C2}">
      <dsp:nvSpPr>
        <dsp:cNvPr id="0" name=""/>
        <dsp:cNvSpPr/>
      </dsp:nvSpPr>
      <dsp:spPr>
        <a:xfrm>
          <a:off x="0" y="531"/>
          <a:ext cx="10515600" cy="621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800" kern="1200" dirty="0"/>
            <a:t>Malo više o eroziji tla i akumulaciji sedimenata</a:t>
          </a:r>
          <a:endParaRPr lang="en-US" sz="2800" kern="1200" dirty="0"/>
        </a:p>
      </dsp:txBody>
      <dsp:txXfrm>
        <a:off x="0" y="531"/>
        <a:ext cx="10515600" cy="621640"/>
      </dsp:txXfrm>
    </dsp:sp>
    <dsp:sp modelId="{1842EECC-8500-43D2-8880-207C51C74F95}">
      <dsp:nvSpPr>
        <dsp:cNvPr id="0" name=""/>
        <dsp:cNvSpPr/>
      </dsp:nvSpPr>
      <dsp:spPr>
        <a:xfrm>
          <a:off x="0" y="622171"/>
          <a:ext cx="1051560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EA80DF-FDBA-451B-B125-EFC1F2D1E29D}">
      <dsp:nvSpPr>
        <dsp:cNvPr id="0" name=""/>
        <dsp:cNvSpPr/>
      </dsp:nvSpPr>
      <dsp:spPr>
        <a:xfrm>
          <a:off x="0" y="622171"/>
          <a:ext cx="10515600" cy="621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800" kern="1200" dirty="0"/>
            <a:t>Proces nastanka</a:t>
          </a:r>
          <a:endParaRPr lang="en-US" sz="2800" kern="1200" dirty="0"/>
        </a:p>
      </dsp:txBody>
      <dsp:txXfrm>
        <a:off x="0" y="622171"/>
        <a:ext cx="10515600" cy="621640"/>
      </dsp:txXfrm>
    </dsp:sp>
    <dsp:sp modelId="{723D8A55-13D6-4F42-A6D5-DE88EE585E27}">
      <dsp:nvSpPr>
        <dsp:cNvPr id="0" name=""/>
        <dsp:cNvSpPr/>
      </dsp:nvSpPr>
      <dsp:spPr>
        <a:xfrm>
          <a:off x="0" y="1243811"/>
          <a:ext cx="10515600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F4DD5A-17C8-4EAA-918B-245CAD79FF4A}">
      <dsp:nvSpPr>
        <dsp:cNvPr id="0" name=""/>
        <dsp:cNvSpPr/>
      </dsp:nvSpPr>
      <dsp:spPr>
        <a:xfrm>
          <a:off x="0" y="1243811"/>
          <a:ext cx="10515600" cy="621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800" kern="1200" dirty="0"/>
            <a:t>Prirodni uzročnici erozije tla</a:t>
          </a:r>
          <a:endParaRPr lang="en-US" sz="2800" kern="1200" dirty="0"/>
        </a:p>
      </dsp:txBody>
      <dsp:txXfrm>
        <a:off x="0" y="1243811"/>
        <a:ext cx="10515600" cy="621640"/>
      </dsp:txXfrm>
    </dsp:sp>
    <dsp:sp modelId="{D0CA7069-FBFC-4154-800B-1DC927984574}">
      <dsp:nvSpPr>
        <dsp:cNvPr id="0" name=""/>
        <dsp:cNvSpPr/>
      </dsp:nvSpPr>
      <dsp:spPr>
        <a:xfrm>
          <a:off x="0" y="1865451"/>
          <a:ext cx="1051560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3BD480-D1B7-4AE4-99DC-685243760E06}">
      <dsp:nvSpPr>
        <dsp:cNvPr id="0" name=""/>
        <dsp:cNvSpPr/>
      </dsp:nvSpPr>
      <dsp:spPr>
        <a:xfrm>
          <a:off x="0" y="1865451"/>
          <a:ext cx="10515600" cy="621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800" kern="1200" dirty="0"/>
            <a:t>Ljudsko djelovanje</a:t>
          </a:r>
          <a:endParaRPr lang="en-US" sz="2800" kern="1200" dirty="0"/>
        </a:p>
      </dsp:txBody>
      <dsp:txXfrm>
        <a:off x="0" y="1865451"/>
        <a:ext cx="10515600" cy="621640"/>
      </dsp:txXfrm>
    </dsp:sp>
    <dsp:sp modelId="{F84A9CBF-DF2E-4E52-93C3-B849434B3907}">
      <dsp:nvSpPr>
        <dsp:cNvPr id="0" name=""/>
        <dsp:cNvSpPr/>
      </dsp:nvSpPr>
      <dsp:spPr>
        <a:xfrm>
          <a:off x="0" y="2487092"/>
          <a:ext cx="10515600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845BAF-68BE-47D4-954F-CA0515D4266B}">
      <dsp:nvSpPr>
        <dsp:cNvPr id="0" name=""/>
        <dsp:cNvSpPr/>
      </dsp:nvSpPr>
      <dsp:spPr>
        <a:xfrm>
          <a:off x="0" y="2487092"/>
          <a:ext cx="10515600" cy="621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800" kern="1200" dirty="0"/>
            <a:t>Posljedice erozije tla</a:t>
          </a:r>
          <a:endParaRPr lang="en-US" sz="2800" kern="1200" dirty="0"/>
        </a:p>
      </dsp:txBody>
      <dsp:txXfrm>
        <a:off x="0" y="2487092"/>
        <a:ext cx="10515600" cy="621640"/>
      </dsp:txXfrm>
    </dsp:sp>
    <dsp:sp modelId="{148C33C4-1506-40BA-99E6-A72AA522A469}">
      <dsp:nvSpPr>
        <dsp:cNvPr id="0" name=""/>
        <dsp:cNvSpPr/>
      </dsp:nvSpPr>
      <dsp:spPr>
        <a:xfrm>
          <a:off x="0" y="3108732"/>
          <a:ext cx="10515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926AFF-9C98-4C53-AEEA-C84E4E3AD4BF}">
      <dsp:nvSpPr>
        <dsp:cNvPr id="0" name=""/>
        <dsp:cNvSpPr/>
      </dsp:nvSpPr>
      <dsp:spPr>
        <a:xfrm>
          <a:off x="0" y="3108732"/>
          <a:ext cx="10515600" cy="621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800" kern="1200" dirty="0"/>
            <a:t>Važni primjeri</a:t>
          </a:r>
          <a:endParaRPr lang="en-US" sz="2800" kern="1200" dirty="0"/>
        </a:p>
      </dsp:txBody>
      <dsp:txXfrm>
        <a:off x="0" y="3108732"/>
        <a:ext cx="10515600" cy="621640"/>
      </dsp:txXfrm>
    </dsp:sp>
    <dsp:sp modelId="{74D66B4F-CEA0-408E-B2B7-F90AB7A25F7A}">
      <dsp:nvSpPr>
        <dsp:cNvPr id="0" name=""/>
        <dsp:cNvSpPr/>
      </dsp:nvSpPr>
      <dsp:spPr>
        <a:xfrm>
          <a:off x="0" y="3730372"/>
          <a:ext cx="1051560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069458-F173-4A3F-9F18-331A0ABE2453}">
      <dsp:nvSpPr>
        <dsp:cNvPr id="0" name=""/>
        <dsp:cNvSpPr/>
      </dsp:nvSpPr>
      <dsp:spPr>
        <a:xfrm>
          <a:off x="0" y="3730372"/>
          <a:ext cx="10515600" cy="621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800" kern="1200" dirty="0"/>
            <a:t>Strategije ublažavanja</a:t>
          </a:r>
          <a:endParaRPr lang="en-US" sz="2800" kern="1200" dirty="0"/>
        </a:p>
      </dsp:txBody>
      <dsp:txXfrm>
        <a:off x="0" y="3730372"/>
        <a:ext cx="10515600" cy="6216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47B9C-9A4D-836F-64A0-F5C3D565CB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2E0223-B601-A6BB-340B-EBB5279279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B76B2-03AB-2D4F-6548-940C315BB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5CC17-95E4-4699-AF7C-BAB30B11C9B2}" type="datetimeFigureOut">
              <a:rPr lang="hr-HR" smtClean="0"/>
              <a:t>4.3.2026.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C2B8E0-1AB6-0B1D-F0D8-0B92B0169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50CC4-5608-E9C5-2439-9AA3138C7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3FA20-8F75-41CB-8D25-AF976895EBEA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30589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3CC4D-A300-2202-DB74-4B2A38E7E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C3A90-4B36-B83F-EDAC-416BE5A447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EC2F10-5CA2-3555-676B-29811576F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5CC17-95E4-4699-AF7C-BAB30B11C9B2}" type="datetimeFigureOut">
              <a:rPr lang="hr-HR" smtClean="0"/>
              <a:t>4.3.2026.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94745E-5C62-4208-7D8E-FBD5785DE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981A8-E712-2026-82D3-80986A784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3FA20-8F75-41CB-8D25-AF976895EBEA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538378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A3B50-7702-994D-23E4-CC9301A42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D8972F-076B-E4AB-3BA9-451343C1BF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01A193-C5A1-0119-674A-AF838EF47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5CC17-95E4-4699-AF7C-BAB30B11C9B2}" type="datetimeFigureOut">
              <a:rPr lang="hr-HR" smtClean="0"/>
              <a:t>4.3.2026.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7847BC-C238-FC20-8330-A40F9F49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7D0737-F2A1-BEBA-4305-BA0E3F048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3FA20-8F75-41CB-8D25-AF976895EBEA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920807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72CA9-DACF-A70D-4615-28A1D5985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30A1E-686F-13EA-9372-76ADA972E1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1DBD61-E7E0-6A81-6C5B-BE71AB6714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4E4D36-33BD-3B48-DDFD-C99D41B86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5CC17-95E4-4699-AF7C-BAB30B11C9B2}" type="datetimeFigureOut">
              <a:rPr lang="hr-HR" smtClean="0"/>
              <a:t>4.3.2026.</a:t>
            </a:fld>
            <a:endParaRPr lang="hr-H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F35E0-9A76-073C-E295-92F9B7B60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11B4CC-5566-1D0B-AEF1-451BBC71A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3FA20-8F75-41CB-8D25-AF976895EBEA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014334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1DC01-B400-67CC-0F37-9E2785113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5F9E60-B35E-802C-F72D-1BB8EEE15A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006D72-79D8-C424-FB91-53D885DE9C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6DA360-6C14-BD31-44D4-8CA403A598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8D2D9E-F09E-7DF8-0FE3-6962DE893A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8BD532-F8A7-470A-6566-341C20A06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5CC17-95E4-4699-AF7C-BAB30B11C9B2}" type="datetimeFigureOut">
              <a:rPr lang="hr-HR" smtClean="0"/>
              <a:t>4.3.2026.</a:t>
            </a:fld>
            <a:endParaRPr lang="hr-H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C3A6FA-8DE0-A2DD-A083-B53CD25D3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19D2D3-EBC3-9F86-929D-BD537AE4B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3FA20-8F75-41CB-8D25-AF976895EBEA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395522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83BEE-A73D-E02E-2624-C55975B43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57B501-0308-CC37-09D1-A9F51BF18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5CC17-95E4-4699-AF7C-BAB30B11C9B2}" type="datetimeFigureOut">
              <a:rPr lang="hr-HR" smtClean="0"/>
              <a:t>4.3.2026.</a:t>
            </a:fld>
            <a:endParaRPr lang="hr-H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2B5416-C59D-8C92-25A9-43F549F25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327FF8-3C2A-2A77-73FD-51161124E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3FA20-8F75-41CB-8D25-AF976895EBEA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539605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FAE3D4-E944-4EF1-85A4-79AEF6F51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5CC17-95E4-4699-AF7C-BAB30B11C9B2}" type="datetimeFigureOut">
              <a:rPr lang="hr-HR" smtClean="0"/>
              <a:t>4.3.2026.</a:t>
            </a:fld>
            <a:endParaRPr lang="hr-H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8EE1D5-DC59-6996-DF6E-49546DF6A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E24CA-399C-8FA5-B55A-B04ADE49B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3FA20-8F75-41CB-8D25-AF976895EBEA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523453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B3CDA-2373-2AD7-9AAE-6F6AB6A6E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80281-1BDE-1F04-725C-073815B400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22EF60-F08C-FEB9-CC40-2CE733B1B2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A396DD-4CAA-5C90-3342-4DF8CD727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5CC17-95E4-4699-AF7C-BAB30B11C9B2}" type="datetimeFigureOut">
              <a:rPr lang="hr-HR" smtClean="0"/>
              <a:t>4.3.2026.</a:t>
            </a:fld>
            <a:endParaRPr lang="hr-H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0C4C5B-B86E-38D6-469D-BA3B92E88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D587FA-7A55-7503-18F3-3D65043DD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3FA20-8F75-41CB-8D25-AF976895EBEA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004457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B4374-7D28-C3CC-A72A-952DF01D2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7D0D7B-6C08-0ED9-115B-90DE8D8393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r-H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A95631-04D1-3039-A716-A8E8B354FB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94704B-2580-5C46-AF57-28A88C50F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5CC17-95E4-4699-AF7C-BAB30B11C9B2}" type="datetimeFigureOut">
              <a:rPr lang="hr-HR" smtClean="0"/>
              <a:t>4.3.2026.</a:t>
            </a:fld>
            <a:endParaRPr lang="hr-H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EC5D8B-F285-7DAF-9C44-9092E54CA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45667A-05F3-456C-532F-F42CD4630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3FA20-8F75-41CB-8D25-AF976895EBEA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771473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BF2E2-5E47-6F4E-A00A-91668393F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C84466-1BA0-DB18-EF73-20F9F53D35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4551C-A49A-3A6E-BFB4-79FC01C0D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5CC17-95E4-4699-AF7C-BAB30B11C9B2}" type="datetimeFigureOut">
              <a:rPr lang="hr-HR" smtClean="0"/>
              <a:t>4.3.2026.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3AA92-4535-C459-4CEF-F27F3DA74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DE476-1E5D-90FB-5163-F59803D7D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3FA20-8F75-41CB-8D25-AF976895EBEA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847017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3CCB01-6099-3EAB-3F37-17916BF592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A45865-0EC0-6AA2-FB4F-85587B4997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43F347-5625-71EA-7594-A5560A404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5CC17-95E4-4699-AF7C-BAB30B11C9B2}" type="datetimeFigureOut">
              <a:rPr lang="hr-HR" smtClean="0"/>
              <a:t>4.3.2026.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2064DB-CD91-FE86-A46E-54492F107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B82833-AD96-3045-3263-760559353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3FA20-8F75-41CB-8D25-AF976895EBEA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588851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26106C-802F-5016-6EC6-F46387245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0E6983-AD25-4AB1-F648-519AAEACF6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BEECD-9DD5-C69C-C95F-F25686D53F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F5CC17-95E4-4699-AF7C-BAB30B11C9B2}" type="datetimeFigureOut">
              <a:rPr lang="hr-HR" smtClean="0"/>
              <a:t>4.3.2026.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2BFBA3-1100-E42E-9C17-892C61AA09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72B25-C8FD-84AE-4CAF-465F91AFEC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63FA20-8F75-41CB-8D25-AF976895EBEA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245836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share.net/slideshow/natural-and-anthropogenic-impacts-on-sedimentation/266550919" TargetMode="External"/><Relationship Id="rId7" Type="http://schemas.openxmlformats.org/officeDocument/2006/relationships/hyperlink" Target="https://eos.com/blog/soil-erosion/" TargetMode="External"/><Relationship Id="rId2" Type="http://schemas.openxmlformats.org/officeDocument/2006/relationships/hyperlink" Target="https://www.wri.org/insights/causes-and-effects-soil-erosion-and-how-prevent-i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undrr.org/understanding-disaster-risk/terminology/hips/gh0403" TargetMode="External"/><Relationship Id="rId5" Type="http://schemas.openxmlformats.org/officeDocument/2006/relationships/hyperlink" Target="https://en.wikipedia.org/wiki/Soil_erosion" TargetMode="External"/><Relationship Id="rId4" Type="http://schemas.openxmlformats.org/officeDocument/2006/relationships/hyperlink" Target="https://pmc.ncbi.nlm.nih.gov/articles/PMC7691505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EADCAF8-8823-4E89-8612-21029831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CA07B2-0819-4B62-9425-7A52BBDD70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02BEE4-A5D4-40AF-882D-49D34B086F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F5843EB-154F-4459-8954-BB1DF64BBD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5905135-55D9-431B-8D5A-4C5C92B1F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B732812-A0BB-4324-B390-DFEF26C109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1FEC055-6F76-4E20-BC93-76C2F58EA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74CD21D-122E-4F3D-82AF-F4A37C278A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A7FF51F-3820-41BE-8690-7E758ECFA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gradFill>
              <a:gsLst>
                <a:gs pos="813">
                  <a:schemeClr val="bg1">
                    <a:alpha val="41000"/>
                  </a:schemeClr>
                </a:gs>
                <a:gs pos="20000">
                  <a:schemeClr val="accent5">
                    <a:lumMod val="85000"/>
                    <a:alpha val="56000"/>
                  </a:schemeClr>
                </a:gs>
                <a:gs pos="44000">
                  <a:schemeClr val="accent6">
                    <a:lumMod val="40000"/>
                    <a:lumOff val="60000"/>
                    <a:alpha val="57000"/>
                  </a:schemeClr>
                </a:gs>
                <a:gs pos="100000">
                  <a:schemeClr val="bg1">
                    <a:alpha val="59000"/>
                  </a:schemeClr>
                </a:gs>
                <a:gs pos="74000">
                  <a:schemeClr val="accent1">
                    <a:lumMod val="91000"/>
                    <a:lumOff val="9000"/>
                    <a:alpha val="34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5EAD889-EA4D-485F-BA9C-F6473A4329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C2A2E83-54BE-62A9-F721-8F1D42EAD5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5368" y="2043663"/>
            <a:ext cx="6105194" cy="2031055"/>
          </a:xfrm>
        </p:spPr>
        <p:txBody>
          <a:bodyPr>
            <a:normAutofit/>
          </a:bodyPr>
          <a:lstStyle/>
          <a:p>
            <a:r>
              <a:rPr lang="hr-HR" sz="4800">
                <a:solidFill>
                  <a:schemeClr val="tx2"/>
                </a:solidFill>
              </a:rPr>
              <a:t>Erozija tla i akumulacija sedimenata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9EC08C-783B-9545-AFCD-8AAE355D02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5368" y="4160126"/>
            <a:ext cx="6105194" cy="682079"/>
          </a:xfrm>
        </p:spPr>
        <p:txBody>
          <a:bodyPr>
            <a:normAutofit/>
          </a:bodyPr>
          <a:lstStyle/>
          <a:p>
            <a:r>
              <a:rPr lang="hr-HR">
                <a:solidFill>
                  <a:schemeClr val="tx2"/>
                </a:solidFill>
              </a:rPr>
              <a:t>Lovro oreški, 4.c</a:t>
            </a:r>
          </a:p>
        </p:txBody>
      </p:sp>
    </p:spTree>
    <p:extLst>
      <p:ext uri="{BB962C8B-B14F-4D97-AF65-F5344CB8AC3E}">
        <p14:creationId xmlns:p14="http://schemas.microsoft.com/office/powerpoint/2010/main" val="1908276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167407-AD58-E697-5FBA-DA9B36826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hr-HR" sz="5200"/>
              <a:t>Sadržaj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C2D4FBB-D88C-05CB-3E58-C5B7200073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8111040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46714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51" name="Rectangle 5150">
            <a:extLst>
              <a:ext uri="{FF2B5EF4-FFF2-40B4-BE49-F238E27FC236}">
                <a16:creationId xmlns:a16="http://schemas.microsoft.com/office/drawing/2014/main" id="{D2B783EE-0239-4717-BBEA-8C9EAC61C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78EBB5-ABA2-4076-9C9E-58EB0133F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45810"/>
            <a:ext cx="5120561" cy="1325563"/>
          </a:xfrm>
        </p:spPr>
        <p:txBody>
          <a:bodyPr>
            <a:normAutofit/>
          </a:bodyPr>
          <a:lstStyle/>
          <a:p>
            <a:r>
              <a:rPr lang="hr-HR"/>
              <a:t>Ukratko…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B9A7C-ECB1-06D3-1D77-85D5FD2017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092194" cy="4351338"/>
          </a:xfrm>
        </p:spPr>
        <p:txBody>
          <a:bodyPr>
            <a:normAutofit/>
          </a:bodyPr>
          <a:lstStyle/>
          <a:p>
            <a:r>
              <a:rPr lang="hr-HR" sz="2400" dirty="0"/>
              <a:t>Erozija tla jest </a:t>
            </a:r>
            <a:endParaRPr lang="hr-HR" sz="1800" dirty="0"/>
          </a:p>
          <a:p>
            <a:pPr lvl="1"/>
            <a:r>
              <a:rPr lang="hr-HR" sz="1800" dirty="0"/>
              <a:t>proces odnošenja i erodirajućeg gornjeg sloja tla </a:t>
            </a:r>
          </a:p>
          <a:p>
            <a:pPr lvl="1"/>
            <a:r>
              <a:rPr lang="hr-HR" sz="1800" dirty="0"/>
              <a:t>Djeluju prirodni čimbenici i čovjek </a:t>
            </a:r>
          </a:p>
          <a:p>
            <a:pPr lvl="1"/>
            <a:r>
              <a:rPr lang="hr-HR" sz="1800" dirty="0"/>
              <a:t>tri glavna procesa (odvajanja čestica tla, transporta i akumulacija)</a:t>
            </a:r>
          </a:p>
          <a:p>
            <a:r>
              <a:rPr lang="hr-HR" sz="2400" dirty="0"/>
              <a:t>Akumulacija sedimenata </a:t>
            </a:r>
          </a:p>
          <a:p>
            <a:pPr lvl="1"/>
            <a:r>
              <a:rPr lang="pt-BR" sz="1800" dirty="0"/>
              <a:t>taloženje erodiranih čestica iz vode, zraka ili suspenzije na novo mjesto</a:t>
            </a:r>
            <a:r>
              <a:rPr lang="hr-HR" sz="1800" dirty="0"/>
              <a:t> (</a:t>
            </a:r>
            <a:r>
              <a:rPr lang="pt-BR" sz="1800" dirty="0"/>
              <a:t>rijeka, jezera ili obal</a:t>
            </a:r>
            <a:r>
              <a:rPr lang="hr-HR" sz="1800" dirty="0"/>
              <a:t>a), uzrokujući </a:t>
            </a:r>
            <a:r>
              <a:rPr lang="hr-HR" sz="1800" dirty="0" err="1"/>
              <a:t>zapunjavanje</a:t>
            </a:r>
            <a:r>
              <a:rPr lang="hr-HR" sz="1800" dirty="0"/>
              <a:t> vodotoka ili formiranje sedimentnih stijena</a:t>
            </a:r>
          </a:p>
        </p:txBody>
      </p:sp>
      <p:sp>
        <p:nvSpPr>
          <p:cNvPr id="5153" name="Oval 5152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20569" y="1364732"/>
            <a:ext cx="947488" cy="9217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5C0346-2333-F69D-F4AB-5F7EADF6A1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766" r="21668"/>
          <a:stretch>
            <a:fillRect/>
          </a:stretch>
        </p:blipFill>
        <p:spPr>
          <a:xfrm>
            <a:off x="7901259" y="2727729"/>
            <a:ext cx="4290741" cy="4130271"/>
          </a:xfrm>
          <a:custGeom>
            <a:avLst/>
            <a:gdLst/>
            <a:ahLst/>
            <a:cxnLst/>
            <a:rect l="l" t="t" r="r" b="b"/>
            <a:pathLst>
              <a:path w="4290741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1" y="751286"/>
                </a:lnTo>
                <a:lnTo>
                  <a:pt x="4290741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</p:spPr>
      </p:pic>
      <p:sp>
        <p:nvSpPr>
          <p:cNvPr id="5155" name="Arc 5154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4759070" flipV="1">
            <a:off x="6034138" y="-673140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122" name="Picture 2" descr="Erozija tla uzrokovana velikim kišnim padalinama (foto V ...">
            <a:extLst>
              <a:ext uri="{FF2B5EF4-FFF2-40B4-BE49-F238E27FC236}">
                <a16:creationId xmlns:a16="http://schemas.microsoft.com/office/drawing/2014/main" id="{D13F26F2-5537-9C22-AA9A-49595EB10B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20" r="18758" b="-2"/>
          <a:stretch>
            <a:fillRect/>
          </a:stretch>
        </p:blipFill>
        <p:spPr bwMode="auto">
          <a:xfrm>
            <a:off x="6261607" y="1"/>
            <a:ext cx="3519312" cy="3007909"/>
          </a:xfrm>
          <a:custGeom>
            <a:avLst/>
            <a:gdLst/>
            <a:ahLst/>
            <a:cxnLst/>
            <a:rect l="l" t="t" r="r" b="b"/>
            <a:pathLst>
              <a:path w="3519312" h="3007909">
                <a:moveTo>
                  <a:pt x="519780" y="0"/>
                </a:moveTo>
                <a:lnTo>
                  <a:pt x="2999532" y="0"/>
                </a:lnTo>
                <a:lnTo>
                  <a:pt x="3003921" y="3989"/>
                </a:lnTo>
                <a:cubicBezTo>
                  <a:pt x="3322356" y="322424"/>
                  <a:pt x="3519312" y="762338"/>
                  <a:pt x="3519312" y="1248253"/>
                </a:cubicBezTo>
                <a:cubicBezTo>
                  <a:pt x="3519312" y="2220084"/>
                  <a:pt x="2731487" y="3007909"/>
                  <a:pt x="1759656" y="3007909"/>
                </a:cubicBezTo>
                <a:cubicBezTo>
                  <a:pt x="787826" y="3007909"/>
                  <a:pt x="0" y="2220084"/>
                  <a:pt x="0" y="1248253"/>
                </a:cubicBezTo>
                <a:cubicBezTo>
                  <a:pt x="0" y="762338"/>
                  <a:pt x="196957" y="322424"/>
                  <a:pt x="515392" y="3989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80679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9F1FFA9-D672-408C-9220-ADEEC6ABD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2C6106-49CB-20A2-F0C2-5E1E60CC7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330565" cy="847658"/>
          </a:xfrm>
        </p:spPr>
        <p:txBody>
          <a:bodyPr>
            <a:normAutofit/>
          </a:bodyPr>
          <a:lstStyle/>
          <a:p>
            <a:r>
              <a:rPr lang="hr-HR" dirty="0"/>
              <a:t>Proces nastanka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E2FDD-C195-805A-060C-66040050A2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732" y="1106904"/>
            <a:ext cx="4570427" cy="5524901"/>
          </a:xfrm>
        </p:spPr>
        <p:txBody>
          <a:bodyPr>
            <a:normAutofit/>
          </a:bodyPr>
          <a:lstStyle/>
          <a:p>
            <a:pPr fontAlgn="base"/>
            <a:r>
              <a:rPr lang="en-US" sz="1300" b="1" dirty="0"/>
              <a:t>Particulate Separation</a:t>
            </a:r>
            <a:r>
              <a:rPr lang="en-US" sz="1300" dirty="0"/>
              <a:t>: Detachment of soil particles.</a:t>
            </a:r>
          </a:p>
          <a:p>
            <a:pPr fontAlgn="base"/>
            <a:r>
              <a:rPr lang="en-US" sz="1300" b="1" dirty="0"/>
              <a:t>Transport</a:t>
            </a:r>
            <a:r>
              <a:rPr lang="en-US" sz="1300" dirty="0"/>
              <a:t>: Movement of particles by agents like water and wind.</a:t>
            </a:r>
          </a:p>
          <a:p>
            <a:r>
              <a:rPr lang="en-US" sz="1300" b="1" dirty="0"/>
              <a:t>Sedimentation</a:t>
            </a:r>
            <a:r>
              <a:rPr lang="en-US" sz="1300" dirty="0"/>
              <a:t>: Deposition of transported particles.</a:t>
            </a:r>
            <a:endParaRPr lang="hr-HR" sz="1300" dirty="0"/>
          </a:p>
          <a:p>
            <a:endParaRPr lang="en-US" sz="1300" dirty="0"/>
          </a:p>
          <a:p>
            <a:r>
              <a:rPr lang="en-US" sz="1300" dirty="0"/>
              <a:t>Natural Depositional Environments</a:t>
            </a:r>
          </a:p>
          <a:p>
            <a:r>
              <a:rPr lang="en-US" sz="1300" dirty="0"/>
              <a:t>River deltas and floodplains: Fertile agricultural lands built by centuries of sediment deposition.</a:t>
            </a:r>
          </a:p>
          <a:p>
            <a:r>
              <a:rPr lang="en-US" sz="1300" dirty="0"/>
              <a:t>Alluvial fans: Fan-shaped deposits at the base of mountains.</a:t>
            </a:r>
          </a:p>
          <a:p>
            <a:r>
              <a:rPr lang="en-US" sz="1300" dirty="0"/>
              <a:t>• Coastal beaches and dunes: Dynamic sediment stores shaped by wave and wind action</a:t>
            </a:r>
            <a:endParaRPr lang="hr-HR" sz="13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3F247A-2124-7A12-ABA2-61B3788BBB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224" r="-1" b="6228"/>
          <a:stretch>
            <a:fillRect/>
          </a:stretch>
        </p:blipFill>
        <p:spPr>
          <a:xfrm>
            <a:off x="4904316" y="-4"/>
            <a:ext cx="7287684" cy="3694372"/>
          </a:xfrm>
          <a:custGeom>
            <a:avLst/>
            <a:gdLst/>
            <a:ahLst/>
            <a:cxnLst/>
            <a:rect l="l" t="t" r="r" b="b"/>
            <a:pathLst>
              <a:path w="7287684" h="3694372">
                <a:moveTo>
                  <a:pt x="1047969" y="0"/>
                </a:moveTo>
                <a:lnTo>
                  <a:pt x="7287684" y="0"/>
                </a:lnTo>
                <a:lnTo>
                  <a:pt x="7287684" y="814388"/>
                </a:lnTo>
                <a:lnTo>
                  <a:pt x="7287684" y="3694372"/>
                </a:lnTo>
                <a:lnTo>
                  <a:pt x="471411" y="3694372"/>
                </a:lnTo>
                <a:lnTo>
                  <a:pt x="470992" y="3686621"/>
                </a:lnTo>
                <a:cubicBezTo>
                  <a:pt x="458999" y="3642419"/>
                  <a:pt x="427907" y="3602236"/>
                  <a:pt x="376383" y="3554015"/>
                </a:cubicBezTo>
                <a:cubicBezTo>
                  <a:pt x="315976" y="3500438"/>
                  <a:pt x="255568" y="3454003"/>
                  <a:pt x="170288" y="3407569"/>
                </a:cubicBezTo>
                <a:cubicBezTo>
                  <a:pt x="365723" y="3382565"/>
                  <a:pt x="163181" y="3296841"/>
                  <a:pt x="230695" y="3243263"/>
                </a:cubicBezTo>
                <a:cubicBezTo>
                  <a:pt x="369276" y="3221831"/>
                  <a:pt x="479431" y="3393282"/>
                  <a:pt x="667759" y="3343275"/>
                </a:cubicBezTo>
                <a:cubicBezTo>
                  <a:pt x="440344" y="3196828"/>
                  <a:pt x="184501" y="3150393"/>
                  <a:pt x="17493" y="2953940"/>
                </a:cubicBezTo>
                <a:cubicBezTo>
                  <a:pt x="56580" y="2911078"/>
                  <a:pt x="95667" y="2953940"/>
                  <a:pt x="127647" y="2936081"/>
                </a:cubicBezTo>
                <a:cubicBezTo>
                  <a:pt x="127647" y="2925365"/>
                  <a:pt x="500751" y="2993232"/>
                  <a:pt x="522071" y="2714625"/>
                </a:cubicBezTo>
                <a:cubicBezTo>
                  <a:pt x="529178" y="2714625"/>
                  <a:pt x="536285" y="2714625"/>
                  <a:pt x="543391" y="2703909"/>
                </a:cubicBezTo>
                <a:cubicBezTo>
                  <a:pt x="582478" y="2664619"/>
                  <a:pt x="546945" y="2571750"/>
                  <a:pt x="610905" y="2564606"/>
                </a:cubicBezTo>
                <a:cubicBezTo>
                  <a:pt x="681973" y="2557462"/>
                  <a:pt x="749487" y="2525315"/>
                  <a:pt x="824107" y="2543175"/>
                </a:cubicBezTo>
                <a:cubicBezTo>
                  <a:pt x="880961" y="2557462"/>
                  <a:pt x="941368" y="2575322"/>
                  <a:pt x="1001776" y="2575322"/>
                </a:cubicBezTo>
                <a:cubicBezTo>
                  <a:pt x="1065736" y="2575322"/>
                  <a:pt x="1154570" y="2696766"/>
                  <a:pt x="1193658" y="2536031"/>
                </a:cubicBezTo>
                <a:cubicBezTo>
                  <a:pt x="1193658" y="2528888"/>
                  <a:pt x="1303812" y="2546747"/>
                  <a:pt x="1364219" y="2553891"/>
                </a:cubicBezTo>
                <a:cubicBezTo>
                  <a:pt x="1413966" y="2561035"/>
                  <a:pt x="1474374" y="2593181"/>
                  <a:pt x="1509907" y="2528888"/>
                </a:cubicBezTo>
                <a:cubicBezTo>
                  <a:pt x="1527674" y="2489596"/>
                  <a:pt x="1442393" y="2418159"/>
                  <a:pt x="1367772" y="2411015"/>
                </a:cubicBezTo>
                <a:cubicBezTo>
                  <a:pt x="1300259" y="2403872"/>
                  <a:pt x="1232745" y="2396728"/>
                  <a:pt x="1168784" y="2411015"/>
                </a:cubicBezTo>
                <a:cubicBezTo>
                  <a:pt x="1090610" y="2428875"/>
                  <a:pt x="1047969" y="2400300"/>
                  <a:pt x="1026649" y="2336007"/>
                </a:cubicBezTo>
                <a:cubicBezTo>
                  <a:pt x="1001776" y="2268141"/>
                  <a:pt x="955582" y="2232422"/>
                  <a:pt x="891621" y="2200275"/>
                </a:cubicBezTo>
                <a:cubicBezTo>
                  <a:pt x="735273" y="2121694"/>
                  <a:pt x="586032" y="2028825"/>
                  <a:pt x="415470" y="1982390"/>
                </a:cubicBezTo>
                <a:cubicBezTo>
                  <a:pt x="383490" y="1975246"/>
                  <a:pt x="344403" y="1960959"/>
                  <a:pt x="330189" y="1900238"/>
                </a:cubicBezTo>
                <a:cubicBezTo>
                  <a:pt x="792127" y="1993106"/>
                  <a:pt x="1211424" y="2232422"/>
                  <a:pt x="1687576" y="2218135"/>
                </a:cubicBezTo>
                <a:cubicBezTo>
                  <a:pt x="1559654" y="2143125"/>
                  <a:pt x="1406860" y="2139554"/>
                  <a:pt x="1268278" y="2085975"/>
                </a:cubicBezTo>
                <a:cubicBezTo>
                  <a:pt x="1367772" y="2046685"/>
                  <a:pt x="1460160" y="2089547"/>
                  <a:pt x="1552548" y="2110978"/>
                </a:cubicBezTo>
                <a:cubicBezTo>
                  <a:pt x="1630722" y="2128837"/>
                  <a:pt x="1701789" y="2132410"/>
                  <a:pt x="1708896" y="2021681"/>
                </a:cubicBezTo>
                <a:cubicBezTo>
                  <a:pt x="1708896" y="2010965"/>
                  <a:pt x="1708896" y="2003821"/>
                  <a:pt x="1708896" y="1993106"/>
                </a:cubicBezTo>
                <a:cubicBezTo>
                  <a:pt x="1680469" y="1946672"/>
                  <a:pt x="1641382" y="1925240"/>
                  <a:pt x="1591635" y="1910953"/>
                </a:cubicBezTo>
                <a:cubicBezTo>
                  <a:pt x="1563208" y="1903809"/>
                  <a:pt x="1524121" y="1889522"/>
                  <a:pt x="1524121" y="1857375"/>
                </a:cubicBezTo>
                <a:cubicBezTo>
                  <a:pt x="1527674" y="1735931"/>
                  <a:pt x="1431733" y="1700212"/>
                  <a:pt x="1339346" y="1664493"/>
                </a:cubicBezTo>
                <a:cubicBezTo>
                  <a:pt x="1389093" y="1603772"/>
                  <a:pt x="1431733" y="1646635"/>
                  <a:pt x="1470820" y="1643062"/>
                </a:cubicBezTo>
                <a:cubicBezTo>
                  <a:pt x="1495694" y="1639491"/>
                  <a:pt x="1520567" y="1635919"/>
                  <a:pt x="1520567" y="1603772"/>
                </a:cubicBezTo>
                <a:cubicBezTo>
                  <a:pt x="1520567" y="1578769"/>
                  <a:pt x="1509907" y="1546622"/>
                  <a:pt x="1485034" y="1546622"/>
                </a:cubicBezTo>
                <a:cubicBezTo>
                  <a:pt x="1328686" y="1543050"/>
                  <a:pt x="1239851" y="1371600"/>
                  <a:pt x="1076396" y="1371600"/>
                </a:cubicBezTo>
                <a:cubicBezTo>
                  <a:pt x="976902" y="1371600"/>
                  <a:pt x="1126144" y="1275159"/>
                  <a:pt x="1044416" y="1235869"/>
                </a:cubicBezTo>
                <a:cubicBezTo>
                  <a:pt x="1026649" y="1225153"/>
                  <a:pt x="1094163" y="1210866"/>
                  <a:pt x="1122590" y="1214437"/>
                </a:cubicBezTo>
                <a:cubicBezTo>
                  <a:pt x="1151017" y="1218009"/>
                  <a:pt x="1175891" y="1243013"/>
                  <a:pt x="1211424" y="1225153"/>
                </a:cubicBezTo>
                <a:cubicBezTo>
                  <a:pt x="1229191" y="1160860"/>
                  <a:pt x="1182997" y="1135856"/>
                  <a:pt x="1140357" y="1117997"/>
                </a:cubicBezTo>
                <a:cubicBezTo>
                  <a:pt x="1047969" y="1075135"/>
                  <a:pt x="955582" y="1025129"/>
                  <a:pt x="852534" y="1010841"/>
                </a:cubicBezTo>
                <a:cubicBezTo>
                  <a:pt x="817001" y="1007269"/>
                  <a:pt x="795680" y="989409"/>
                  <a:pt x="799234" y="953690"/>
                </a:cubicBezTo>
                <a:cubicBezTo>
                  <a:pt x="806340" y="907256"/>
                  <a:pt x="841874" y="921544"/>
                  <a:pt x="870301" y="925115"/>
                </a:cubicBezTo>
                <a:cubicBezTo>
                  <a:pt x="888068" y="928688"/>
                  <a:pt x="905835" y="939403"/>
                  <a:pt x="923602" y="914400"/>
                </a:cubicBezTo>
                <a:cubicBezTo>
                  <a:pt x="611794" y="724198"/>
                  <a:pt x="409919" y="684684"/>
                  <a:pt x="132090" y="589415"/>
                </a:cubicBezTo>
                <a:lnTo>
                  <a:pt x="31922" y="552917"/>
                </a:lnTo>
                <a:lnTo>
                  <a:pt x="26859" y="541335"/>
                </a:lnTo>
                <a:cubicBezTo>
                  <a:pt x="20137" y="534929"/>
                  <a:pt x="8953" y="532232"/>
                  <a:pt x="0" y="527681"/>
                </a:cubicBezTo>
                <a:cubicBezTo>
                  <a:pt x="5969" y="516305"/>
                  <a:pt x="7617" y="502963"/>
                  <a:pt x="17905" y="493550"/>
                </a:cubicBezTo>
                <a:cubicBezTo>
                  <a:pt x="23947" y="488022"/>
                  <a:pt x="35344" y="487159"/>
                  <a:pt x="44763" y="486724"/>
                </a:cubicBezTo>
                <a:lnTo>
                  <a:pt x="165722" y="483650"/>
                </a:lnTo>
                <a:lnTo>
                  <a:pt x="193385" y="498723"/>
                </a:lnTo>
                <a:cubicBezTo>
                  <a:pt x="210263" y="511671"/>
                  <a:pt x="227142" y="525066"/>
                  <a:pt x="315976" y="535781"/>
                </a:cubicBezTo>
                <a:cubicBezTo>
                  <a:pt x="401257" y="546497"/>
                  <a:pt x="479431" y="582216"/>
                  <a:pt x="575372" y="525066"/>
                </a:cubicBezTo>
                <a:cubicBezTo>
                  <a:pt x="639332" y="485775"/>
                  <a:pt x="742380" y="528637"/>
                  <a:pt x="820554" y="560785"/>
                </a:cubicBezTo>
                <a:cubicBezTo>
                  <a:pt x="884515" y="589360"/>
                  <a:pt x="948475" y="596503"/>
                  <a:pt x="1033756" y="560785"/>
                </a:cubicBezTo>
                <a:cubicBezTo>
                  <a:pt x="955582" y="539354"/>
                  <a:pt x="895175" y="521494"/>
                  <a:pt x="834767" y="507206"/>
                </a:cubicBezTo>
                <a:cubicBezTo>
                  <a:pt x="785020" y="496491"/>
                  <a:pt x="756593" y="471488"/>
                  <a:pt x="760147" y="417909"/>
                </a:cubicBezTo>
                <a:cubicBezTo>
                  <a:pt x="760147" y="389334"/>
                  <a:pt x="749487" y="350044"/>
                  <a:pt x="785020" y="335757"/>
                </a:cubicBezTo>
                <a:cubicBezTo>
                  <a:pt x="813447" y="321469"/>
                  <a:pt x="852534" y="335757"/>
                  <a:pt x="866748" y="360759"/>
                </a:cubicBezTo>
                <a:cubicBezTo>
                  <a:pt x="884515" y="407194"/>
                  <a:pt x="902281" y="450056"/>
                  <a:pt x="962689" y="453629"/>
                </a:cubicBezTo>
                <a:cubicBezTo>
                  <a:pt x="1044416" y="460771"/>
                  <a:pt x="998222" y="432197"/>
                  <a:pt x="984009" y="396478"/>
                </a:cubicBezTo>
                <a:cubicBezTo>
                  <a:pt x="969795" y="357188"/>
                  <a:pt x="1012436" y="346472"/>
                  <a:pt x="1040863" y="353615"/>
                </a:cubicBezTo>
                <a:cubicBezTo>
                  <a:pt x="1147464" y="385763"/>
                  <a:pt x="1257618" y="328613"/>
                  <a:pt x="1367772" y="375047"/>
                </a:cubicBezTo>
                <a:cubicBezTo>
                  <a:pt x="1339346" y="260747"/>
                  <a:pt x="1278938" y="210741"/>
                  <a:pt x="1151017" y="192881"/>
                </a:cubicBezTo>
                <a:cubicBezTo>
                  <a:pt x="1104823" y="189310"/>
                  <a:pt x="1055076" y="196453"/>
                  <a:pt x="1012436" y="164306"/>
                </a:cubicBezTo>
                <a:cubicBezTo>
                  <a:pt x="987562" y="146447"/>
                  <a:pt x="962689" y="125016"/>
                  <a:pt x="980456" y="89297"/>
                </a:cubicBezTo>
                <a:cubicBezTo>
                  <a:pt x="991116" y="64294"/>
                  <a:pt x="1019542" y="64294"/>
                  <a:pt x="1044416" y="71437"/>
                </a:cubicBezTo>
                <a:cubicBezTo>
                  <a:pt x="1147464" y="110728"/>
                  <a:pt x="1257618" y="121444"/>
                  <a:pt x="1364219" y="135731"/>
                </a:cubicBezTo>
                <a:cubicBezTo>
                  <a:pt x="1381986" y="139303"/>
                  <a:pt x="1399753" y="146447"/>
                  <a:pt x="1417520" y="110728"/>
                </a:cubicBezTo>
                <a:cubicBezTo>
                  <a:pt x="1293152" y="78581"/>
                  <a:pt x="1172337" y="35719"/>
                  <a:pt x="1047969" y="0"/>
                </a:cubicBezTo>
                <a:close/>
              </a:path>
            </a:pathLst>
          </a:cu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C60286-BBB1-9C86-B6BF-DEC1CAE3AB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500" b="-1"/>
          <a:stretch>
            <a:fillRect/>
          </a:stretch>
        </p:blipFill>
        <p:spPr>
          <a:xfrm>
            <a:off x="4726728" y="3802961"/>
            <a:ext cx="7472381" cy="3055043"/>
          </a:xfrm>
          <a:custGeom>
            <a:avLst/>
            <a:gdLst/>
            <a:ahLst/>
            <a:cxnLst/>
            <a:rect l="l" t="t" r="r" b="b"/>
            <a:pathLst>
              <a:path w="7472381" h="3055043">
                <a:moveTo>
                  <a:pt x="638975" y="0"/>
                </a:moveTo>
                <a:lnTo>
                  <a:pt x="7472381" y="0"/>
                </a:lnTo>
                <a:lnTo>
                  <a:pt x="7472381" y="2579984"/>
                </a:lnTo>
                <a:lnTo>
                  <a:pt x="7472381" y="3055043"/>
                </a:lnTo>
                <a:lnTo>
                  <a:pt x="6992676" y="3055043"/>
                </a:lnTo>
                <a:lnTo>
                  <a:pt x="1946893" y="3055043"/>
                </a:lnTo>
                <a:cubicBezTo>
                  <a:pt x="1801205" y="2983605"/>
                  <a:pt x="1662624" y="2897880"/>
                  <a:pt x="1506276" y="2855018"/>
                </a:cubicBezTo>
                <a:cubicBezTo>
                  <a:pt x="1399675" y="2826443"/>
                  <a:pt x="1296627" y="2776437"/>
                  <a:pt x="1314394" y="2626417"/>
                </a:cubicBezTo>
                <a:cubicBezTo>
                  <a:pt x="1317947" y="2583555"/>
                  <a:pt x="1289520" y="2551409"/>
                  <a:pt x="1246880" y="2562124"/>
                </a:cubicBezTo>
                <a:cubicBezTo>
                  <a:pt x="1165153" y="2583555"/>
                  <a:pt x="1126065" y="2522833"/>
                  <a:pt x="1079872" y="2476399"/>
                </a:cubicBezTo>
                <a:cubicBezTo>
                  <a:pt x="998144" y="2394247"/>
                  <a:pt x="919970" y="2308520"/>
                  <a:pt x="788495" y="2294233"/>
                </a:cubicBezTo>
                <a:cubicBezTo>
                  <a:pt x="813369" y="2229939"/>
                  <a:pt x="856009" y="2237083"/>
                  <a:pt x="895097" y="2251371"/>
                </a:cubicBezTo>
                <a:cubicBezTo>
                  <a:pt x="998144" y="2287090"/>
                  <a:pt x="1101192" y="2326380"/>
                  <a:pt x="1204239" y="2362099"/>
                </a:cubicBezTo>
                <a:cubicBezTo>
                  <a:pt x="1271754" y="2383530"/>
                  <a:pt x="1339267" y="2415677"/>
                  <a:pt x="1428102" y="2390674"/>
                </a:cubicBezTo>
                <a:cubicBezTo>
                  <a:pt x="1349928" y="2262087"/>
                  <a:pt x="1218453" y="2237083"/>
                  <a:pt x="1111852" y="2197793"/>
                </a:cubicBezTo>
                <a:cubicBezTo>
                  <a:pt x="980377" y="2147787"/>
                  <a:pt x="902203" y="2054918"/>
                  <a:pt x="806262" y="1947762"/>
                </a:cubicBezTo>
                <a:cubicBezTo>
                  <a:pt x="902203" y="1919187"/>
                  <a:pt x="962610" y="1997768"/>
                  <a:pt x="1040785" y="1994196"/>
                </a:cubicBezTo>
                <a:cubicBezTo>
                  <a:pt x="1044338" y="1983480"/>
                  <a:pt x="1051445" y="1962049"/>
                  <a:pt x="1051445" y="1962049"/>
                </a:cubicBezTo>
                <a:cubicBezTo>
                  <a:pt x="923523" y="1904899"/>
                  <a:pt x="866670" y="1797743"/>
                  <a:pt x="845349" y="1665583"/>
                </a:cubicBezTo>
                <a:cubicBezTo>
                  <a:pt x="838243" y="1597718"/>
                  <a:pt x="792049" y="1576287"/>
                  <a:pt x="745855" y="1544140"/>
                </a:cubicBezTo>
                <a:cubicBezTo>
                  <a:pt x="589507" y="1433411"/>
                  <a:pt x="422499" y="1333399"/>
                  <a:pt x="291024" y="1183381"/>
                </a:cubicBezTo>
                <a:cubicBezTo>
                  <a:pt x="443819" y="1201239"/>
                  <a:pt x="564633" y="1301252"/>
                  <a:pt x="724535" y="1344115"/>
                </a:cubicBezTo>
                <a:cubicBezTo>
                  <a:pt x="596614" y="1179808"/>
                  <a:pt x="429605" y="1094083"/>
                  <a:pt x="276811" y="994071"/>
                </a:cubicBezTo>
                <a:cubicBezTo>
                  <a:pt x="205743" y="947637"/>
                  <a:pt x="141783" y="890486"/>
                  <a:pt x="60055" y="865484"/>
                </a:cubicBezTo>
                <a:cubicBezTo>
                  <a:pt x="31628" y="858340"/>
                  <a:pt x="-18119" y="840481"/>
                  <a:pt x="6755" y="790474"/>
                </a:cubicBezTo>
                <a:cubicBezTo>
                  <a:pt x="28075" y="747612"/>
                  <a:pt x="67162" y="761900"/>
                  <a:pt x="102696" y="772614"/>
                </a:cubicBezTo>
                <a:cubicBezTo>
                  <a:pt x="187976" y="801190"/>
                  <a:pt x="280364" y="801190"/>
                  <a:pt x="397625" y="801190"/>
                </a:cubicBezTo>
                <a:cubicBezTo>
                  <a:pt x="298131" y="665458"/>
                  <a:pt x="116909" y="708321"/>
                  <a:pt x="31628" y="565446"/>
                </a:cubicBezTo>
                <a:cubicBezTo>
                  <a:pt x="138229" y="540444"/>
                  <a:pt x="219957" y="590450"/>
                  <a:pt x="305237" y="601165"/>
                </a:cubicBezTo>
                <a:cubicBezTo>
                  <a:pt x="383412" y="611881"/>
                  <a:pt x="401178" y="586877"/>
                  <a:pt x="383412" y="508296"/>
                </a:cubicBezTo>
                <a:cubicBezTo>
                  <a:pt x="354985" y="386853"/>
                  <a:pt x="397625" y="326130"/>
                  <a:pt x="511333" y="358278"/>
                </a:cubicBezTo>
                <a:cubicBezTo>
                  <a:pt x="617934" y="390424"/>
                  <a:pt x="628594" y="343990"/>
                  <a:pt x="600167" y="276124"/>
                </a:cubicBezTo>
                <a:cubicBezTo>
                  <a:pt x="557527" y="176112"/>
                  <a:pt x="603720" y="97531"/>
                  <a:pt x="635701" y="118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463242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74B0B678-CD10-4371-96E5-2706F4579F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9270323-9616-4384-857D-E86B78272E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A3838D5-9565-4601-BAC3-D1B5BDB803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349A4B8-3246-4579-922E-FE1155C7F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AD9696-15C8-10E5-B637-04927C8F3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7475" y="847827"/>
            <a:ext cx="5408813" cy="1169585"/>
          </a:xfrm>
        </p:spPr>
        <p:txBody>
          <a:bodyPr anchor="b">
            <a:normAutofit/>
          </a:bodyPr>
          <a:lstStyle/>
          <a:p>
            <a:r>
              <a:rPr lang="hr-HR" sz="4000"/>
              <a:t>Uzročnici erozije tla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2A120C6-C28D-BEA4-E261-5A9FB1037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075" y="774285"/>
            <a:ext cx="3147772" cy="2581173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57331" y="2188548"/>
            <a:ext cx="5041025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5F4491-67F1-B6C5-7B60-8C0678F07F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744" y="3502542"/>
            <a:ext cx="4847553" cy="248437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4647C-8ABB-F9B5-B13C-A3AF1D896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8786" y="2508105"/>
            <a:ext cx="5408813" cy="1863935"/>
          </a:xfrm>
        </p:spPr>
        <p:txBody>
          <a:bodyPr anchor="ctr">
            <a:normAutofit/>
          </a:bodyPr>
          <a:lstStyle/>
          <a:p>
            <a:r>
              <a:rPr lang="en-US" sz="2000" dirty="0"/>
              <a:t>Voda </a:t>
            </a:r>
            <a:r>
              <a:rPr lang="hr-HR" sz="2000" dirty="0"/>
              <a:t>(</a:t>
            </a:r>
            <a:r>
              <a:rPr lang="en-US" sz="2000" dirty="0" err="1"/>
              <a:t>dominantn</a:t>
            </a:r>
            <a:r>
              <a:rPr lang="hr-HR" sz="2000" dirty="0"/>
              <a:t>a)</a:t>
            </a:r>
            <a:r>
              <a:rPr lang="en-US" sz="2000" dirty="0"/>
              <a:t> </a:t>
            </a:r>
            <a:endParaRPr lang="hr-HR" sz="2000" dirty="0"/>
          </a:p>
          <a:p>
            <a:r>
              <a:rPr lang="en-US" sz="2000" dirty="0" err="1"/>
              <a:t>Erozija</a:t>
            </a:r>
            <a:r>
              <a:rPr lang="en-US" sz="2000" dirty="0"/>
              <a:t> </a:t>
            </a:r>
            <a:r>
              <a:rPr lang="en-US" sz="2000" dirty="0" err="1"/>
              <a:t>vjetrom</a:t>
            </a:r>
            <a:r>
              <a:rPr lang="en-US" sz="2000" dirty="0"/>
              <a:t>, </a:t>
            </a:r>
            <a:endParaRPr lang="hr-HR" sz="2000" dirty="0"/>
          </a:p>
          <a:p>
            <a:r>
              <a:rPr lang="en-US" sz="2000" dirty="0" err="1"/>
              <a:t>gravitacijsko</a:t>
            </a:r>
            <a:r>
              <a:rPr lang="en-US" sz="2000" dirty="0"/>
              <a:t> </a:t>
            </a:r>
            <a:r>
              <a:rPr lang="en-US" sz="2000" dirty="0" err="1"/>
              <a:t>kretanje</a:t>
            </a:r>
            <a:r>
              <a:rPr lang="en-US" sz="2000" dirty="0"/>
              <a:t> </a:t>
            </a:r>
            <a:endParaRPr lang="hr-HR" sz="2000" dirty="0"/>
          </a:p>
          <a:p>
            <a:r>
              <a:rPr lang="en-US" sz="2000" dirty="0" err="1"/>
              <a:t>obalna</a:t>
            </a:r>
            <a:r>
              <a:rPr lang="en-US" sz="2000" dirty="0"/>
              <a:t> </a:t>
            </a:r>
            <a:r>
              <a:rPr lang="en-US" sz="2000" dirty="0" err="1"/>
              <a:t>erozija</a:t>
            </a:r>
            <a:endParaRPr lang="hr-HR" sz="2000" dirty="0"/>
          </a:p>
        </p:txBody>
      </p:sp>
    </p:spTree>
    <p:extLst>
      <p:ext uri="{BB962C8B-B14F-4D97-AF65-F5344CB8AC3E}">
        <p14:creationId xmlns:p14="http://schemas.microsoft.com/office/powerpoint/2010/main" val="8169054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4CC3C11-06C7-0336-0696-F15D706B4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7924" y="991261"/>
            <a:ext cx="5754696" cy="1837349"/>
          </a:xfrm>
        </p:spPr>
        <p:txBody>
          <a:bodyPr>
            <a:normAutofit/>
          </a:bodyPr>
          <a:lstStyle/>
          <a:p>
            <a:pPr algn="ctr"/>
            <a:r>
              <a:rPr lang="hr-HR" sz="3600" b="1" dirty="0">
                <a:solidFill>
                  <a:schemeClr val="tx2"/>
                </a:solidFill>
              </a:rPr>
              <a:t>Ljudsko djelovanje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59F28-F7B5-3714-4571-0A770FC2C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8072" y="2979335"/>
            <a:ext cx="6853187" cy="3748723"/>
          </a:xfrm>
        </p:spPr>
        <p:txBody>
          <a:bodyPr anchor="t">
            <a:normAutofit/>
          </a:bodyPr>
          <a:lstStyle/>
          <a:p>
            <a:r>
              <a:rPr lang="en-US" dirty="0" err="1">
                <a:solidFill>
                  <a:schemeClr val="tx2"/>
                </a:solidFill>
              </a:rPr>
              <a:t>Krčenje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šuma</a:t>
            </a:r>
            <a:r>
              <a:rPr lang="en-US" dirty="0">
                <a:solidFill>
                  <a:schemeClr val="tx2"/>
                </a:solidFill>
              </a:rPr>
              <a:t> (</a:t>
            </a:r>
            <a:r>
              <a:rPr lang="en-US" dirty="0" err="1">
                <a:solidFill>
                  <a:schemeClr val="tx2"/>
                </a:solidFill>
              </a:rPr>
              <a:t>Uklanja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korijenov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sustav</a:t>
            </a:r>
            <a:r>
              <a:rPr lang="en-US" dirty="0">
                <a:solidFill>
                  <a:schemeClr val="tx2"/>
                </a:solidFill>
              </a:rPr>
              <a:t> koji </a:t>
            </a:r>
            <a:r>
              <a:rPr lang="en-US" dirty="0" err="1">
                <a:solidFill>
                  <a:schemeClr val="tx2"/>
                </a:solidFill>
              </a:rPr>
              <a:t>veže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tlo</a:t>
            </a:r>
            <a:r>
              <a:rPr lang="en-US" dirty="0">
                <a:solidFill>
                  <a:schemeClr val="tx2"/>
                </a:solidFill>
              </a:rPr>
              <a:t>)</a:t>
            </a:r>
          </a:p>
          <a:p>
            <a:r>
              <a:rPr lang="en-US" dirty="0" err="1">
                <a:solidFill>
                  <a:schemeClr val="tx2"/>
                </a:solidFill>
              </a:rPr>
              <a:t>Konvencionalna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poljoprivreda</a:t>
            </a:r>
            <a:r>
              <a:rPr lang="en-US" dirty="0">
                <a:solidFill>
                  <a:schemeClr val="tx2"/>
                </a:solidFill>
              </a:rPr>
              <a:t> (</a:t>
            </a:r>
            <a:r>
              <a:rPr lang="en-US" dirty="0" err="1">
                <a:solidFill>
                  <a:schemeClr val="tx2"/>
                </a:solidFill>
              </a:rPr>
              <a:t>Obrada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tla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narušava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strukturu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tla</a:t>
            </a:r>
            <a:r>
              <a:rPr lang="en-US" dirty="0">
                <a:solidFill>
                  <a:schemeClr val="tx2"/>
                </a:solidFill>
              </a:rPr>
              <a:t>)</a:t>
            </a:r>
          </a:p>
          <a:p>
            <a:r>
              <a:rPr lang="en-US" dirty="0" err="1">
                <a:solidFill>
                  <a:schemeClr val="tx2"/>
                </a:solidFill>
              </a:rPr>
              <a:t>Gradnja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i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urbanizacija</a:t>
            </a:r>
            <a:r>
              <a:rPr lang="en-US" dirty="0">
                <a:solidFill>
                  <a:schemeClr val="tx2"/>
                </a:solidFill>
              </a:rPr>
              <a:t> (</a:t>
            </a:r>
            <a:r>
              <a:rPr lang="en-US" dirty="0" err="1">
                <a:solidFill>
                  <a:schemeClr val="tx2"/>
                </a:solidFill>
              </a:rPr>
              <a:t>Nepropusne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površine</a:t>
            </a:r>
            <a:r>
              <a:rPr lang="en-US" dirty="0">
                <a:solidFill>
                  <a:schemeClr val="tx2"/>
                </a:solidFill>
              </a:rPr>
              <a:t>)</a:t>
            </a:r>
          </a:p>
          <a:p>
            <a:r>
              <a:rPr lang="en-US" dirty="0" err="1">
                <a:solidFill>
                  <a:schemeClr val="tx2"/>
                </a:solidFill>
              </a:rPr>
              <a:t>Prekomjerna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ispaša</a:t>
            </a:r>
            <a:r>
              <a:rPr lang="en-US" dirty="0">
                <a:solidFill>
                  <a:schemeClr val="tx2"/>
                </a:solidFill>
              </a:rPr>
              <a:t> (</a:t>
            </a:r>
            <a:r>
              <a:rPr lang="en-US" dirty="0" err="1">
                <a:solidFill>
                  <a:schemeClr val="tx2"/>
                </a:solidFill>
              </a:rPr>
              <a:t>Stoka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uklanja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zaštitnu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vegetaciju</a:t>
            </a:r>
            <a:r>
              <a:rPr lang="en-US" dirty="0">
                <a:solidFill>
                  <a:schemeClr val="tx2"/>
                </a:solidFill>
              </a:rPr>
              <a:t>)</a:t>
            </a:r>
            <a:endParaRPr lang="hr-HR" dirty="0">
              <a:solidFill>
                <a:schemeClr val="tx2"/>
              </a:solidFill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5267509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!!Rectangle">
            <a:extLst>
              <a:ext uri="{FF2B5EF4-FFF2-40B4-BE49-F238E27FC236}">
                <a16:creationId xmlns:a16="http://schemas.microsoft.com/office/drawing/2014/main" id="{362810D9-2C5A-477D-949C-C191895477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8467"/>
            <a:ext cx="12191999" cy="686646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Growing plant">
            <a:extLst>
              <a:ext uri="{FF2B5EF4-FFF2-40B4-BE49-F238E27FC236}">
                <a16:creationId xmlns:a16="http://schemas.microsoft.com/office/drawing/2014/main" id="{CCC5CAD5-CC78-3EE3-FCB9-F973F011F12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5000"/>
          </a:blip>
          <a:srcRect t="6719" b="9011"/>
          <a:stretch>
            <a:fillRect/>
          </a:stretch>
        </p:blipFill>
        <p:spPr>
          <a:xfrm>
            <a:off x="20" y="-9107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141A6FB-4504-73C9-E59C-298BB313C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</p:spPr>
        <p:txBody>
          <a:bodyPr>
            <a:normAutofit/>
          </a:bodyPr>
          <a:lstStyle/>
          <a:p>
            <a:r>
              <a:rPr lang="hr-HR">
                <a:solidFill>
                  <a:srgbClr val="FFFFFF"/>
                </a:solidFill>
              </a:rPr>
              <a:t>Posljedice</a:t>
            </a:r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D6F0B-72E3-2F34-8CF9-61506E1142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sz="2000" dirty="0" err="1">
                <a:solidFill>
                  <a:srgbClr val="FFFFFF"/>
                </a:solidFill>
              </a:rPr>
              <a:t>Plodnost</a:t>
            </a:r>
            <a:r>
              <a:rPr lang="en-US" sz="2000" dirty="0">
                <a:solidFill>
                  <a:srgbClr val="FFFFFF"/>
                </a:solidFill>
              </a:rPr>
              <a:t> </a:t>
            </a:r>
            <a:r>
              <a:rPr lang="en-US" sz="2000" dirty="0" err="1">
                <a:solidFill>
                  <a:srgbClr val="FFFFFF"/>
                </a:solidFill>
              </a:rPr>
              <a:t>tla</a:t>
            </a:r>
            <a:r>
              <a:rPr lang="en-US" sz="2000" dirty="0">
                <a:solidFill>
                  <a:srgbClr val="FFFFFF"/>
                </a:solidFill>
              </a:rPr>
              <a:t> (</a:t>
            </a:r>
            <a:r>
              <a:rPr lang="en-US" sz="2000" dirty="0" err="1">
                <a:solidFill>
                  <a:srgbClr val="FFFFFF"/>
                </a:solidFill>
              </a:rPr>
              <a:t>smanjuje</a:t>
            </a:r>
            <a:r>
              <a:rPr lang="en-US" sz="2000" dirty="0">
                <a:solidFill>
                  <a:srgbClr val="FFFFFF"/>
                </a:solidFill>
              </a:rPr>
              <a:t> </a:t>
            </a:r>
            <a:r>
              <a:rPr lang="en-US" sz="2000" dirty="0" err="1">
                <a:solidFill>
                  <a:srgbClr val="FFFFFF"/>
                </a:solidFill>
              </a:rPr>
              <a:t>poljoprivrednu</a:t>
            </a:r>
            <a:r>
              <a:rPr lang="en-US" sz="2000" dirty="0">
                <a:solidFill>
                  <a:srgbClr val="FFFFFF"/>
                </a:solidFill>
              </a:rPr>
              <a:t> </a:t>
            </a:r>
            <a:r>
              <a:rPr lang="en-US" sz="2000" dirty="0" err="1">
                <a:solidFill>
                  <a:srgbClr val="FFFFFF"/>
                </a:solidFill>
              </a:rPr>
              <a:t>produktivnost</a:t>
            </a:r>
            <a:r>
              <a:rPr lang="en-US" sz="2000" dirty="0">
                <a:solidFill>
                  <a:srgbClr val="FFFFFF"/>
                </a:solidFill>
              </a:rPr>
              <a:t>)</a:t>
            </a:r>
          </a:p>
          <a:p>
            <a:r>
              <a:rPr lang="en-US" sz="2000" dirty="0" err="1">
                <a:solidFill>
                  <a:srgbClr val="FFFFFF"/>
                </a:solidFill>
              </a:rPr>
              <a:t>Kvaliteta</a:t>
            </a:r>
            <a:r>
              <a:rPr lang="en-US" sz="2000" dirty="0">
                <a:solidFill>
                  <a:srgbClr val="FFFFFF"/>
                </a:solidFill>
              </a:rPr>
              <a:t> </a:t>
            </a:r>
            <a:r>
              <a:rPr lang="en-US" sz="2000" dirty="0" err="1">
                <a:solidFill>
                  <a:srgbClr val="FFFFFF"/>
                </a:solidFill>
              </a:rPr>
              <a:t>vode</a:t>
            </a:r>
            <a:r>
              <a:rPr lang="en-US" sz="2000" dirty="0">
                <a:solidFill>
                  <a:srgbClr val="FFFFFF"/>
                </a:solidFill>
              </a:rPr>
              <a:t> (</a:t>
            </a:r>
            <a:r>
              <a:rPr lang="en-US" sz="2000" dirty="0" err="1">
                <a:solidFill>
                  <a:srgbClr val="FFFFFF"/>
                </a:solidFill>
              </a:rPr>
              <a:t>voda</a:t>
            </a:r>
            <a:r>
              <a:rPr lang="en-US" sz="2000" dirty="0">
                <a:solidFill>
                  <a:srgbClr val="FFFFFF"/>
                </a:solidFill>
              </a:rPr>
              <a:t> </a:t>
            </a:r>
            <a:r>
              <a:rPr lang="en-US" sz="2000" dirty="0" err="1">
                <a:solidFill>
                  <a:srgbClr val="FFFFFF"/>
                </a:solidFill>
              </a:rPr>
              <a:t>opterećena</a:t>
            </a:r>
            <a:r>
              <a:rPr lang="en-US" sz="2000" dirty="0">
                <a:solidFill>
                  <a:srgbClr val="FFFFFF"/>
                </a:solidFill>
              </a:rPr>
              <a:t> </a:t>
            </a:r>
            <a:r>
              <a:rPr lang="en-US" sz="2000" dirty="0" err="1">
                <a:solidFill>
                  <a:srgbClr val="FFFFFF"/>
                </a:solidFill>
              </a:rPr>
              <a:t>sedimentom</a:t>
            </a:r>
            <a:r>
              <a:rPr lang="en-US" sz="2000" dirty="0">
                <a:solidFill>
                  <a:srgbClr val="FFFFFF"/>
                </a:solidFill>
              </a:rPr>
              <a:t> </a:t>
            </a:r>
            <a:r>
              <a:rPr lang="en-US" sz="2000" dirty="0" err="1">
                <a:solidFill>
                  <a:srgbClr val="FFFFFF"/>
                </a:solidFill>
              </a:rPr>
              <a:t>degradira</a:t>
            </a:r>
            <a:r>
              <a:rPr lang="en-US" sz="2000" dirty="0">
                <a:solidFill>
                  <a:srgbClr val="FFFFFF"/>
                </a:solidFill>
              </a:rPr>
              <a:t> </a:t>
            </a:r>
            <a:r>
              <a:rPr lang="en-US" sz="2000" dirty="0" err="1">
                <a:solidFill>
                  <a:srgbClr val="FFFFFF"/>
                </a:solidFill>
              </a:rPr>
              <a:t>izvore</a:t>
            </a:r>
            <a:r>
              <a:rPr lang="en-US" sz="2000" dirty="0">
                <a:solidFill>
                  <a:srgbClr val="FFFFFF"/>
                </a:solidFill>
              </a:rPr>
              <a:t> </a:t>
            </a:r>
            <a:r>
              <a:rPr lang="en-US" sz="2000" dirty="0" err="1">
                <a:solidFill>
                  <a:srgbClr val="FFFFFF"/>
                </a:solidFill>
              </a:rPr>
              <a:t>pitke</a:t>
            </a:r>
            <a:r>
              <a:rPr lang="en-US" sz="2000" dirty="0">
                <a:solidFill>
                  <a:srgbClr val="FFFFFF"/>
                </a:solidFill>
              </a:rPr>
              <a:t> </a:t>
            </a:r>
            <a:r>
              <a:rPr lang="en-US" sz="2000" dirty="0" err="1">
                <a:solidFill>
                  <a:srgbClr val="FFFFFF"/>
                </a:solidFill>
              </a:rPr>
              <a:t>vode</a:t>
            </a:r>
            <a:r>
              <a:rPr lang="en-US" sz="2000" dirty="0">
                <a:solidFill>
                  <a:srgbClr val="FFFFFF"/>
                </a:solidFill>
              </a:rPr>
              <a:t>)</a:t>
            </a:r>
          </a:p>
          <a:p>
            <a:r>
              <a:rPr lang="en-US" sz="2000" dirty="0" err="1">
                <a:solidFill>
                  <a:srgbClr val="FFFFFF"/>
                </a:solidFill>
              </a:rPr>
              <a:t>Vodeni</a:t>
            </a:r>
            <a:r>
              <a:rPr lang="en-US" sz="2000" dirty="0">
                <a:solidFill>
                  <a:srgbClr val="FFFFFF"/>
                </a:solidFill>
              </a:rPr>
              <a:t> </a:t>
            </a:r>
            <a:r>
              <a:rPr lang="en-US" sz="2000" dirty="0" err="1">
                <a:solidFill>
                  <a:srgbClr val="FFFFFF"/>
                </a:solidFill>
              </a:rPr>
              <a:t>ekosustavi</a:t>
            </a:r>
            <a:r>
              <a:rPr lang="en-US" sz="2000" dirty="0">
                <a:solidFill>
                  <a:srgbClr val="FFFFFF"/>
                </a:solidFill>
              </a:rPr>
              <a:t> (</a:t>
            </a:r>
            <a:r>
              <a:rPr lang="en-US" sz="2000" dirty="0" err="1">
                <a:solidFill>
                  <a:srgbClr val="FFFFFF"/>
                </a:solidFill>
              </a:rPr>
              <a:t>blokiraju</a:t>
            </a:r>
            <a:r>
              <a:rPr lang="en-US" sz="2000" dirty="0">
                <a:solidFill>
                  <a:srgbClr val="FFFFFF"/>
                </a:solidFill>
              </a:rPr>
              <a:t> </a:t>
            </a:r>
            <a:r>
              <a:rPr lang="en-US" sz="2000" dirty="0" err="1">
                <a:solidFill>
                  <a:srgbClr val="FFFFFF"/>
                </a:solidFill>
              </a:rPr>
              <a:t>sunčevu</a:t>
            </a:r>
            <a:r>
              <a:rPr lang="en-US" sz="2000" dirty="0">
                <a:solidFill>
                  <a:srgbClr val="FFFFFF"/>
                </a:solidFill>
              </a:rPr>
              <a:t> </a:t>
            </a:r>
            <a:r>
              <a:rPr lang="en-US" sz="2000" dirty="0" err="1">
                <a:solidFill>
                  <a:srgbClr val="FFFFFF"/>
                </a:solidFill>
              </a:rPr>
              <a:t>svjetlost</a:t>
            </a:r>
            <a:r>
              <a:rPr lang="en-US" sz="2000" dirty="0">
                <a:solidFill>
                  <a:srgbClr val="FFFFFF"/>
                </a:solidFill>
              </a:rPr>
              <a:t> </a:t>
            </a:r>
            <a:r>
              <a:rPr lang="en-US" sz="2000" dirty="0" err="1">
                <a:solidFill>
                  <a:srgbClr val="FFFFFF"/>
                </a:solidFill>
              </a:rPr>
              <a:t>i</a:t>
            </a:r>
            <a:r>
              <a:rPr lang="en-US" sz="2000" dirty="0">
                <a:solidFill>
                  <a:srgbClr val="FFFFFF"/>
                </a:solidFill>
              </a:rPr>
              <a:t> </a:t>
            </a:r>
            <a:r>
              <a:rPr lang="en-US" sz="2000" dirty="0" err="1">
                <a:solidFill>
                  <a:srgbClr val="FFFFFF"/>
                </a:solidFill>
              </a:rPr>
              <a:t>smanjuju</a:t>
            </a:r>
            <a:r>
              <a:rPr lang="en-US" sz="2000" dirty="0">
                <a:solidFill>
                  <a:srgbClr val="FFFFFF"/>
                </a:solidFill>
              </a:rPr>
              <a:t> </a:t>
            </a:r>
            <a:r>
              <a:rPr lang="en-US" sz="2000" dirty="0" err="1">
                <a:solidFill>
                  <a:srgbClr val="FFFFFF"/>
                </a:solidFill>
              </a:rPr>
              <a:t>razinu</a:t>
            </a:r>
            <a:r>
              <a:rPr lang="en-US" sz="2000" dirty="0">
                <a:solidFill>
                  <a:srgbClr val="FFFFFF"/>
                </a:solidFill>
              </a:rPr>
              <a:t> </a:t>
            </a:r>
            <a:r>
              <a:rPr lang="en-US" sz="2000" dirty="0" err="1">
                <a:solidFill>
                  <a:srgbClr val="FFFFFF"/>
                </a:solidFill>
              </a:rPr>
              <a:t>kisika</a:t>
            </a:r>
            <a:r>
              <a:rPr lang="en-US" sz="2000" dirty="0">
                <a:solidFill>
                  <a:srgbClr val="FFFFFF"/>
                </a:solidFill>
              </a:rPr>
              <a:t>)</a:t>
            </a:r>
          </a:p>
          <a:p>
            <a:r>
              <a:rPr lang="en-US" sz="2000" dirty="0" err="1">
                <a:solidFill>
                  <a:srgbClr val="FFFFFF"/>
                </a:solidFill>
              </a:rPr>
              <a:t>Poplave</a:t>
            </a:r>
            <a:r>
              <a:rPr lang="en-US" sz="2000" dirty="0">
                <a:solidFill>
                  <a:srgbClr val="FFFFFF"/>
                </a:solidFill>
              </a:rPr>
              <a:t> (</a:t>
            </a:r>
            <a:r>
              <a:rPr lang="en-US" sz="2000" dirty="0" err="1">
                <a:solidFill>
                  <a:srgbClr val="FFFFFF"/>
                </a:solidFill>
              </a:rPr>
              <a:t>riječni</a:t>
            </a:r>
            <a:r>
              <a:rPr lang="en-US" sz="2000" dirty="0">
                <a:solidFill>
                  <a:srgbClr val="FFFFFF"/>
                </a:solidFill>
              </a:rPr>
              <a:t> </a:t>
            </a:r>
            <a:r>
              <a:rPr lang="en-US" sz="2000" dirty="0" err="1">
                <a:solidFill>
                  <a:srgbClr val="FFFFFF"/>
                </a:solidFill>
              </a:rPr>
              <a:t>kanali</a:t>
            </a:r>
            <a:r>
              <a:rPr lang="en-US" sz="2000" dirty="0">
                <a:solidFill>
                  <a:srgbClr val="FFFFFF"/>
                </a:solidFill>
              </a:rPr>
              <a:t> </a:t>
            </a:r>
            <a:r>
              <a:rPr lang="en-US" sz="2000" dirty="0" err="1">
                <a:solidFill>
                  <a:srgbClr val="FFFFFF"/>
                </a:solidFill>
              </a:rPr>
              <a:t>ispunjeni</a:t>
            </a:r>
            <a:r>
              <a:rPr lang="en-US" sz="2000" dirty="0">
                <a:solidFill>
                  <a:srgbClr val="FFFFFF"/>
                </a:solidFill>
              </a:rPr>
              <a:t> </a:t>
            </a:r>
            <a:r>
              <a:rPr lang="en-US" sz="2000" dirty="0" err="1">
                <a:solidFill>
                  <a:srgbClr val="FFFFFF"/>
                </a:solidFill>
              </a:rPr>
              <a:t>sedimentom</a:t>
            </a:r>
            <a:r>
              <a:rPr lang="en-US" sz="2000" dirty="0">
                <a:solidFill>
                  <a:srgbClr val="FFFFFF"/>
                </a:solidFill>
              </a:rPr>
              <a:t> </a:t>
            </a:r>
            <a:r>
              <a:rPr lang="en-US" sz="2000" dirty="0" err="1">
                <a:solidFill>
                  <a:srgbClr val="FFFFFF"/>
                </a:solidFill>
              </a:rPr>
              <a:t>imaju</a:t>
            </a:r>
            <a:r>
              <a:rPr lang="en-US" sz="2000" dirty="0">
                <a:solidFill>
                  <a:srgbClr val="FFFFFF"/>
                </a:solidFill>
              </a:rPr>
              <a:t> </a:t>
            </a:r>
            <a:r>
              <a:rPr lang="en-US" sz="2000" dirty="0" err="1">
                <a:solidFill>
                  <a:srgbClr val="FFFFFF"/>
                </a:solidFill>
              </a:rPr>
              <a:t>smanjeni</a:t>
            </a:r>
            <a:r>
              <a:rPr lang="en-US" sz="2000" dirty="0">
                <a:solidFill>
                  <a:srgbClr val="FFFFFF"/>
                </a:solidFill>
              </a:rPr>
              <a:t> </a:t>
            </a:r>
            <a:r>
              <a:rPr lang="en-US" sz="2000" dirty="0" err="1">
                <a:solidFill>
                  <a:srgbClr val="FFFFFF"/>
                </a:solidFill>
              </a:rPr>
              <a:t>kapacitet</a:t>
            </a:r>
            <a:r>
              <a:rPr lang="en-US" sz="2000" dirty="0">
                <a:solidFill>
                  <a:srgbClr val="FFFFFF"/>
                </a:solidFill>
              </a:rPr>
              <a:t>).</a:t>
            </a:r>
          </a:p>
          <a:p>
            <a:r>
              <a:rPr lang="en-US" sz="2000" dirty="0" err="1">
                <a:solidFill>
                  <a:srgbClr val="FFFFFF"/>
                </a:solidFill>
              </a:rPr>
              <a:t>Kruženje</a:t>
            </a:r>
            <a:r>
              <a:rPr lang="en-US" sz="2000" dirty="0">
                <a:solidFill>
                  <a:srgbClr val="FFFFFF"/>
                </a:solidFill>
              </a:rPr>
              <a:t> </a:t>
            </a:r>
            <a:r>
              <a:rPr lang="en-US" sz="2000" dirty="0" err="1">
                <a:solidFill>
                  <a:srgbClr val="FFFFFF"/>
                </a:solidFill>
              </a:rPr>
              <a:t>ugljika</a:t>
            </a:r>
            <a:r>
              <a:rPr lang="en-US" sz="2000" dirty="0">
                <a:solidFill>
                  <a:srgbClr val="FFFFFF"/>
                </a:solidFill>
              </a:rPr>
              <a:t> (</a:t>
            </a:r>
            <a:r>
              <a:rPr lang="en-US" sz="2000" dirty="0" err="1">
                <a:solidFill>
                  <a:srgbClr val="FFFFFF"/>
                </a:solidFill>
              </a:rPr>
              <a:t>pohranjeni</a:t>
            </a:r>
            <a:r>
              <a:rPr lang="en-US" sz="2000" dirty="0">
                <a:solidFill>
                  <a:srgbClr val="FFFFFF"/>
                </a:solidFill>
              </a:rPr>
              <a:t> </a:t>
            </a:r>
            <a:r>
              <a:rPr lang="en-US" sz="2000" dirty="0" err="1">
                <a:solidFill>
                  <a:srgbClr val="FFFFFF"/>
                </a:solidFill>
              </a:rPr>
              <a:t>ugljik</a:t>
            </a:r>
            <a:r>
              <a:rPr lang="en-US" sz="2000" dirty="0">
                <a:solidFill>
                  <a:srgbClr val="FFFFFF"/>
                </a:solidFill>
              </a:rPr>
              <a:t> u </a:t>
            </a:r>
            <a:r>
              <a:rPr lang="en-US" sz="2000" dirty="0" err="1">
                <a:solidFill>
                  <a:srgbClr val="FFFFFF"/>
                </a:solidFill>
              </a:rPr>
              <a:t>tlu</a:t>
            </a:r>
            <a:r>
              <a:rPr lang="en-US" sz="2000" dirty="0">
                <a:solidFill>
                  <a:srgbClr val="FFFFFF"/>
                </a:solidFill>
              </a:rPr>
              <a:t> </a:t>
            </a:r>
            <a:r>
              <a:rPr lang="en-US" sz="2000" dirty="0" err="1">
                <a:solidFill>
                  <a:srgbClr val="FFFFFF"/>
                </a:solidFill>
              </a:rPr>
              <a:t>ispušta</a:t>
            </a:r>
            <a:r>
              <a:rPr lang="en-US" sz="2000" dirty="0">
                <a:solidFill>
                  <a:srgbClr val="FFFFFF"/>
                </a:solidFill>
              </a:rPr>
              <a:t> se u </a:t>
            </a:r>
            <a:r>
              <a:rPr lang="en-US" sz="2000" dirty="0" err="1">
                <a:solidFill>
                  <a:srgbClr val="FFFFFF"/>
                </a:solidFill>
              </a:rPr>
              <a:t>atmosferu</a:t>
            </a:r>
            <a:r>
              <a:rPr lang="en-US" sz="2000" dirty="0">
                <a:solidFill>
                  <a:srgbClr val="FFFFFF"/>
                </a:solidFill>
              </a:rPr>
              <a:t>)</a:t>
            </a:r>
            <a:endParaRPr lang="hr-HR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06999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5" name="Rectangle 4104">
            <a:extLst>
              <a:ext uri="{FF2B5EF4-FFF2-40B4-BE49-F238E27FC236}">
                <a16:creationId xmlns:a16="http://schemas.microsoft.com/office/drawing/2014/main" id="{99F1FFA9-D672-408C-9220-ADEEC6ABD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D2BA4A-2283-E161-AA0C-B691A651E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05" y="365125"/>
            <a:ext cx="5245769" cy="1938076"/>
          </a:xfrm>
        </p:spPr>
        <p:txBody>
          <a:bodyPr>
            <a:normAutofit/>
          </a:bodyPr>
          <a:lstStyle/>
          <a:p>
            <a:r>
              <a:rPr lang="en-US" dirty="0"/>
              <a:t>China's Loess Plateau</a:t>
            </a:r>
            <a:endParaRPr lang="hr-H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C1A79-8B45-B48E-74C9-E012BB875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482589"/>
            <a:ext cx="3816096" cy="3694373"/>
          </a:xfrm>
        </p:spPr>
        <p:txBody>
          <a:bodyPr>
            <a:normAutofit/>
          </a:bodyPr>
          <a:lstStyle/>
          <a:p>
            <a:r>
              <a:rPr lang="en-US" sz="2000" dirty="0"/>
              <a:t>Problem: </a:t>
            </a:r>
            <a:r>
              <a:rPr lang="en-US" sz="2000" dirty="0" err="1"/>
              <a:t>Gubilo</a:t>
            </a:r>
            <a:r>
              <a:rPr lang="en-US" sz="2000" dirty="0"/>
              <a:t> se ~1,6 </a:t>
            </a:r>
            <a:r>
              <a:rPr lang="en-US" sz="2000" dirty="0" err="1"/>
              <a:t>milijardi</a:t>
            </a:r>
            <a:r>
              <a:rPr lang="en-US" sz="2000" dirty="0"/>
              <a:t> </a:t>
            </a:r>
            <a:r>
              <a:rPr lang="en-US" sz="2000" dirty="0" err="1"/>
              <a:t>tona</a:t>
            </a:r>
            <a:r>
              <a:rPr lang="en-US" sz="2000" dirty="0"/>
              <a:t> </a:t>
            </a:r>
            <a:r>
              <a:rPr lang="en-US" sz="2000" dirty="0" err="1"/>
              <a:t>sedimenta</a:t>
            </a:r>
            <a:r>
              <a:rPr lang="en-US" sz="2000" dirty="0"/>
              <a:t> </a:t>
            </a:r>
            <a:r>
              <a:rPr lang="en-US" sz="2000" dirty="0" err="1"/>
              <a:t>godišnje</a:t>
            </a:r>
            <a:r>
              <a:rPr lang="en-US" sz="2000" dirty="0"/>
              <a:t> u </a:t>
            </a:r>
            <a:r>
              <a:rPr lang="en-US" sz="2000" dirty="0" err="1"/>
              <a:t>Žutu</a:t>
            </a:r>
            <a:r>
              <a:rPr lang="en-US" sz="2000" dirty="0"/>
              <a:t> </a:t>
            </a:r>
            <a:r>
              <a:rPr lang="en-US" sz="2000" dirty="0" err="1"/>
              <a:t>rijeku</a:t>
            </a:r>
            <a:r>
              <a:rPr lang="en-US" sz="2000" dirty="0"/>
              <a:t>.</a:t>
            </a:r>
          </a:p>
          <a:p>
            <a:r>
              <a:rPr lang="en-US" sz="2000" dirty="0" err="1"/>
              <a:t>Akcija</a:t>
            </a:r>
            <a:r>
              <a:rPr lang="en-US" sz="2000" dirty="0"/>
              <a:t>: </a:t>
            </a:r>
            <a:r>
              <a:rPr lang="en-US" sz="2000" dirty="0" err="1"/>
              <a:t>Masovni</a:t>
            </a:r>
            <a:r>
              <a:rPr lang="en-US" sz="2000" dirty="0"/>
              <a:t> program </a:t>
            </a:r>
            <a:r>
              <a:rPr lang="en-US" sz="2000" dirty="0" err="1"/>
              <a:t>pošumljavanja</a:t>
            </a:r>
            <a:r>
              <a:rPr lang="en-US" sz="2000" dirty="0"/>
              <a:t> </a:t>
            </a:r>
            <a:r>
              <a:rPr lang="en-US" sz="2000" dirty="0" err="1"/>
              <a:t>i</a:t>
            </a:r>
            <a:r>
              <a:rPr lang="en-US" sz="2000" dirty="0"/>
              <a:t> </a:t>
            </a:r>
            <a:r>
              <a:rPr lang="en-US" sz="2000" dirty="0" err="1"/>
              <a:t>terasiranja</a:t>
            </a:r>
            <a:r>
              <a:rPr lang="en-US" sz="2000" dirty="0"/>
              <a:t> (1999.-2015.).</a:t>
            </a:r>
          </a:p>
          <a:p>
            <a:r>
              <a:rPr lang="en-US" sz="2000" dirty="0" err="1"/>
              <a:t>Rezultat</a:t>
            </a:r>
            <a:r>
              <a:rPr lang="en-US" sz="2000" dirty="0"/>
              <a:t>: </a:t>
            </a:r>
            <a:r>
              <a:rPr lang="en-US" sz="2000" dirty="0" err="1"/>
              <a:t>Erozija</a:t>
            </a:r>
            <a:r>
              <a:rPr lang="en-US" sz="2000" dirty="0"/>
              <a:t> </a:t>
            </a:r>
            <a:r>
              <a:rPr lang="en-US" sz="2000" dirty="0" err="1"/>
              <a:t>smanjena</a:t>
            </a:r>
            <a:r>
              <a:rPr lang="en-US" sz="2000" dirty="0"/>
              <a:t> za ~50%; </a:t>
            </a:r>
            <a:r>
              <a:rPr lang="en-US" sz="2000" dirty="0" err="1"/>
              <a:t>vegetacijski</a:t>
            </a:r>
            <a:r>
              <a:rPr lang="en-US" sz="2000" dirty="0"/>
              <a:t> </a:t>
            </a:r>
            <a:r>
              <a:rPr lang="en-US" sz="2000" dirty="0" err="1"/>
              <a:t>pokrov</a:t>
            </a:r>
            <a:r>
              <a:rPr lang="en-US" sz="2000" dirty="0"/>
              <a:t> </a:t>
            </a:r>
            <a:r>
              <a:rPr lang="en-US" sz="2000" dirty="0" err="1"/>
              <a:t>povećan</a:t>
            </a:r>
            <a:endParaRPr lang="hr-HR" sz="2000" dirty="0"/>
          </a:p>
        </p:txBody>
      </p:sp>
      <p:pic>
        <p:nvPicPr>
          <p:cNvPr id="4100" name="Picture 4" descr="Learning to Communicate the Lessons of the Loess Plateau ...">
            <a:extLst>
              <a:ext uri="{FF2B5EF4-FFF2-40B4-BE49-F238E27FC236}">
                <a16:creationId xmlns:a16="http://schemas.microsoft.com/office/drawing/2014/main" id="{5218E138-F2F8-88E0-2FA1-D3AD5A3C54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11" r="-1" b="4367"/>
          <a:stretch>
            <a:fillRect/>
          </a:stretch>
        </p:blipFill>
        <p:spPr bwMode="auto">
          <a:xfrm>
            <a:off x="4904316" y="-4"/>
            <a:ext cx="7287684" cy="3694372"/>
          </a:xfrm>
          <a:custGeom>
            <a:avLst/>
            <a:gdLst/>
            <a:ahLst/>
            <a:cxnLst/>
            <a:rect l="l" t="t" r="r" b="b"/>
            <a:pathLst>
              <a:path w="7287684" h="3694372">
                <a:moveTo>
                  <a:pt x="1047969" y="0"/>
                </a:moveTo>
                <a:lnTo>
                  <a:pt x="7287684" y="0"/>
                </a:lnTo>
                <a:lnTo>
                  <a:pt x="7287684" y="814388"/>
                </a:lnTo>
                <a:lnTo>
                  <a:pt x="7287684" y="3694372"/>
                </a:lnTo>
                <a:lnTo>
                  <a:pt x="471411" y="3694372"/>
                </a:lnTo>
                <a:lnTo>
                  <a:pt x="470992" y="3686621"/>
                </a:lnTo>
                <a:cubicBezTo>
                  <a:pt x="458999" y="3642419"/>
                  <a:pt x="427907" y="3602236"/>
                  <a:pt x="376383" y="3554015"/>
                </a:cubicBezTo>
                <a:cubicBezTo>
                  <a:pt x="315976" y="3500438"/>
                  <a:pt x="255568" y="3454003"/>
                  <a:pt x="170288" y="3407569"/>
                </a:cubicBezTo>
                <a:cubicBezTo>
                  <a:pt x="365723" y="3382565"/>
                  <a:pt x="163181" y="3296841"/>
                  <a:pt x="230695" y="3243263"/>
                </a:cubicBezTo>
                <a:cubicBezTo>
                  <a:pt x="369276" y="3221831"/>
                  <a:pt x="479431" y="3393282"/>
                  <a:pt x="667759" y="3343275"/>
                </a:cubicBezTo>
                <a:cubicBezTo>
                  <a:pt x="440344" y="3196828"/>
                  <a:pt x="184501" y="3150393"/>
                  <a:pt x="17493" y="2953940"/>
                </a:cubicBezTo>
                <a:cubicBezTo>
                  <a:pt x="56580" y="2911078"/>
                  <a:pt x="95667" y="2953940"/>
                  <a:pt x="127647" y="2936081"/>
                </a:cubicBezTo>
                <a:cubicBezTo>
                  <a:pt x="127647" y="2925365"/>
                  <a:pt x="500751" y="2993232"/>
                  <a:pt x="522071" y="2714625"/>
                </a:cubicBezTo>
                <a:cubicBezTo>
                  <a:pt x="529178" y="2714625"/>
                  <a:pt x="536285" y="2714625"/>
                  <a:pt x="543391" y="2703909"/>
                </a:cubicBezTo>
                <a:cubicBezTo>
                  <a:pt x="582478" y="2664619"/>
                  <a:pt x="546945" y="2571750"/>
                  <a:pt x="610905" y="2564606"/>
                </a:cubicBezTo>
                <a:cubicBezTo>
                  <a:pt x="681973" y="2557462"/>
                  <a:pt x="749487" y="2525315"/>
                  <a:pt x="824107" y="2543175"/>
                </a:cubicBezTo>
                <a:cubicBezTo>
                  <a:pt x="880961" y="2557462"/>
                  <a:pt x="941368" y="2575322"/>
                  <a:pt x="1001776" y="2575322"/>
                </a:cubicBezTo>
                <a:cubicBezTo>
                  <a:pt x="1065736" y="2575322"/>
                  <a:pt x="1154570" y="2696766"/>
                  <a:pt x="1193658" y="2536031"/>
                </a:cubicBezTo>
                <a:cubicBezTo>
                  <a:pt x="1193658" y="2528888"/>
                  <a:pt x="1303812" y="2546747"/>
                  <a:pt x="1364219" y="2553891"/>
                </a:cubicBezTo>
                <a:cubicBezTo>
                  <a:pt x="1413966" y="2561035"/>
                  <a:pt x="1474374" y="2593181"/>
                  <a:pt x="1509907" y="2528888"/>
                </a:cubicBezTo>
                <a:cubicBezTo>
                  <a:pt x="1527674" y="2489596"/>
                  <a:pt x="1442393" y="2418159"/>
                  <a:pt x="1367772" y="2411015"/>
                </a:cubicBezTo>
                <a:cubicBezTo>
                  <a:pt x="1300259" y="2403872"/>
                  <a:pt x="1232745" y="2396728"/>
                  <a:pt x="1168784" y="2411015"/>
                </a:cubicBezTo>
                <a:cubicBezTo>
                  <a:pt x="1090610" y="2428875"/>
                  <a:pt x="1047969" y="2400300"/>
                  <a:pt x="1026649" y="2336007"/>
                </a:cubicBezTo>
                <a:cubicBezTo>
                  <a:pt x="1001776" y="2268141"/>
                  <a:pt x="955582" y="2232422"/>
                  <a:pt x="891621" y="2200275"/>
                </a:cubicBezTo>
                <a:cubicBezTo>
                  <a:pt x="735273" y="2121694"/>
                  <a:pt x="586032" y="2028825"/>
                  <a:pt x="415470" y="1982390"/>
                </a:cubicBezTo>
                <a:cubicBezTo>
                  <a:pt x="383490" y="1975246"/>
                  <a:pt x="344403" y="1960959"/>
                  <a:pt x="330189" y="1900238"/>
                </a:cubicBezTo>
                <a:cubicBezTo>
                  <a:pt x="792127" y="1993106"/>
                  <a:pt x="1211424" y="2232422"/>
                  <a:pt x="1687576" y="2218135"/>
                </a:cubicBezTo>
                <a:cubicBezTo>
                  <a:pt x="1559654" y="2143125"/>
                  <a:pt x="1406860" y="2139554"/>
                  <a:pt x="1268278" y="2085975"/>
                </a:cubicBezTo>
                <a:cubicBezTo>
                  <a:pt x="1367772" y="2046685"/>
                  <a:pt x="1460160" y="2089547"/>
                  <a:pt x="1552548" y="2110978"/>
                </a:cubicBezTo>
                <a:cubicBezTo>
                  <a:pt x="1630722" y="2128837"/>
                  <a:pt x="1701789" y="2132410"/>
                  <a:pt x="1708896" y="2021681"/>
                </a:cubicBezTo>
                <a:cubicBezTo>
                  <a:pt x="1708896" y="2010965"/>
                  <a:pt x="1708896" y="2003821"/>
                  <a:pt x="1708896" y="1993106"/>
                </a:cubicBezTo>
                <a:cubicBezTo>
                  <a:pt x="1680469" y="1946672"/>
                  <a:pt x="1641382" y="1925240"/>
                  <a:pt x="1591635" y="1910953"/>
                </a:cubicBezTo>
                <a:cubicBezTo>
                  <a:pt x="1563208" y="1903809"/>
                  <a:pt x="1524121" y="1889522"/>
                  <a:pt x="1524121" y="1857375"/>
                </a:cubicBezTo>
                <a:cubicBezTo>
                  <a:pt x="1527674" y="1735931"/>
                  <a:pt x="1431733" y="1700212"/>
                  <a:pt x="1339346" y="1664493"/>
                </a:cubicBezTo>
                <a:cubicBezTo>
                  <a:pt x="1389093" y="1603772"/>
                  <a:pt x="1431733" y="1646635"/>
                  <a:pt x="1470820" y="1643062"/>
                </a:cubicBezTo>
                <a:cubicBezTo>
                  <a:pt x="1495694" y="1639491"/>
                  <a:pt x="1520567" y="1635919"/>
                  <a:pt x="1520567" y="1603772"/>
                </a:cubicBezTo>
                <a:cubicBezTo>
                  <a:pt x="1520567" y="1578769"/>
                  <a:pt x="1509907" y="1546622"/>
                  <a:pt x="1485034" y="1546622"/>
                </a:cubicBezTo>
                <a:cubicBezTo>
                  <a:pt x="1328686" y="1543050"/>
                  <a:pt x="1239851" y="1371600"/>
                  <a:pt x="1076396" y="1371600"/>
                </a:cubicBezTo>
                <a:cubicBezTo>
                  <a:pt x="976902" y="1371600"/>
                  <a:pt x="1126144" y="1275159"/>
                  <a:pt x="1044416" y="1235869"/>
                </a:cubicBezTo>
                <a:cubicBezTo>
                  <a:pt x="1026649" y="1225153"/>
                  <a:pt x="1094163" y="1210866"/>
                  <a:pt x="1122590" y="1214437"/>
                </a:cubicBezTo>
                <a:cubicBezTo>
                  <a:pt x="1151017" y="1218009"/>
                  <a:pt x="1175891" y="1243013"/>
                  <a:pt x="1211424" y="1225153"/>
                </a:cubicBezTo>
                <a:cubicBezTo>
                  <a:pt x="1229191" y="1160860"/>
                  <a:pt x="1182997" y="1135856"/>
                  <a:pt x="1140357" y="1117997"/>
                </a:cubicBezTo>
                <a:cubicBezTo>
                  <a:pt x="1047969" y="1075135"/>
                  <a:pt x="955582" y="1025129"/>
                  <a:pt x="852534" y="1010841"/>
                </a:cubicBezTo>
                <a:cubicBezTo>
                  <a:pt x="817001" y="1007269"/>
                  <a:pt x="795680" y="989409"/>
                  <a:pt x="799234" y="953690"/>
                </a:cubicBezTo>
                <a:cubicBezTo>
                  <a:pt x="806340" y="907256"/>
                  <a:pt x="841874" y="921544"/>
                  <a:pt x="870301" y="925115"/>
                </a:cubicBezTo>
                <a:cubicBezTo>
                  <a:pt x="888068" y="928688"/>
                  <a:pt x="905835" y="939403"/>
                  <a:pt x="923602" y="914400"/>
                </a:cubicBezTo>
                <a:cubicBezTo>
                  <a:pt x="611794" y="724198"/>
                  <a:pt x="409919" y="684684"/>
                  <a:pt x="132090" y="589415"/>
                </a:cubicBezTo>
                <a:lnTo>
                  <a:pt x="31922" y="552917"/>
                </a:lnTo>
                <a:lnTo>
                  <a:pt x="26859" y="541335"/>
                </a:lnTo>
                <a:cubicBezTo>
                  <a:pt x="20137" y="534929"/>
                  <a:pt x="8953" y="532232"/>
                  <a:pt x="0" y="527681"/>
                </a:cubicBezTo>
                <a:cubicBezTo>
                  <a:pt x="5969" y="516305"/>
                  <a:pt x="7617" y="502963"/>
                  <a:pt x="17905" y="493550"/>
                </a:cubicBezTo>
                <a:cubicBezTo>
                  <a:pt x="23947" y="488022"/>
                  <a:pt x="35344" y="487159"/>
                  <a:pt x="44763" y="486724"/>
                </a:cubicBezTo>
                <a:lnTo>
                  <a:pt x="165722" y="483650"/>
                </a:lnTo>
                <a:lnTo>
                  <a:pt x="193385" y="498723"/>
                </a:lnTo>
                <a:cubicBezTo>
                  <a:pt x="210263" y="511671"/>
                  <a:pt x="227142" y="525066"/>
                  <a:pt x="315976" y="535781"/>
                </a:cubicBezTo>
                <a:cubicBezTo>
                  <a:pt x="401257" y="546497"/>
                  <a:pt x="479431" y="582216"/>
                  <a:pt x="575372" y="525066"/>
                </a:cubicBezTo>
                <a:cubicBezTo>
                  <a:pt x="639332" y="485775"/>
                  <a:pt x="742380" y="528637"/>
                  <a:pt x="820554" y="560785"/>
                </a:cubicBezTo>
                <a:cubicBezTo>
                  <a:pt x="884515" y="589360"/>
                  <a:pt x="948475" y="596503"/>
                  <a:pt x="1033756" y="560785"/>
                </a:cubicBezTo>
                <a:cubicBezTo>
                  <a:pt x="955582" y="539354"/>
                  <a:pt x="895175" y="521494"/>
                  <a:pt x="834767" y="507206"/>
                </a:cubicBezTo>
                <a:cubicBezTo>
                  <a:pt x="785020" y="496491"/>
                  <a:pt x="756593" y="471488"/>
                  <a:pt x="760147" y="417909"/>
                </a:cubicBezTo>
                <a:cubicBezTo>
                  <a:pt x="760147" y="389334"/>
                  <a:pt x="749487" y="350044"/>
                  <a:pt x="785020" y="335757"/>
                </a:cubicBezTo>
                <a:cubicBezTo>
                  <a:pt x="813447" y="321469"/>
                  <a:pt x="852534" y="335757"/>
                  <a:pt x="866748" y="360759"/>
                </a:cubicBezTo>
                <a:cubicBezTo>
                  <a:pt x="884515" y="407194"/>
                  <a:pt x="902281" y="450056"/>
                  <a:pt x="962689" y="453629"/>
                </a:cubicBezTo>
                <a:cubicBezTo>
                  <a:pt x="1044416" y="460771"/>
                  <a:pt x="998222" y="432197"/>
                  <a:pt x="984009" y="396478"/>
                </a:cubicBezTo>
                <a:cubicBezTo>
                  <a:pt x="969795" y="357188"/>
                  <a:pt x="1012436" y="346472"/>
                  <a:pt x="1040863" y="353615"/>
                </a:cubicBezTo>
                <a:cubicBezTo>
                  <a:pt x="1147464" y="385763"/>
                  <a:pt x="1257618" y="328613"/>
                  <a:pt x="1367772" y="375047"/>
                </a:cubicBezTo>
                <a:cubicBezTo>
                  <a:pt x="1339346" y="260747"/>
                  <a:pt x="1278938" y="210741"/>
                  <a:pt x="1151017" y="192881"/>
                </a:cubicBezTo>
                <a:cubicBezTo>
                  <a:pt x="1104823" y="189310"/>
                  <a:pt x="1055076" y="196453"/>
                  <a:pt x="1012436" y="164306"/>
                </a:cubicBezTo>
                <a:cubicBezTo>
                  <a:pt x="987562" y="146447"/>
                  <a:pt x="962689" y="125016"/>
                  <a:pt x="980456" y="89297"/>
                </a:cubicBezTo>
                <a:cubicBezTo>
                  <a:pt x="991116" y="64294"/>
                  <a:pt x="1019542" y="64294"/>
                  <a:pt x="1044416" y="71437"/>
                </a:cubicBezTo>
                <a:cubicBezTo>
                  <a:pt x="1147464" y="110728"/>
                  <a:pt x="1257618" y="121444"/>
                  <a:pt x="1364219" y="135731"/>
                </a:cubicBezTo>
                <a:cubicBezTo>
                  <a:pt x="1381986" y="139303"/>
                  <a:pt x="1399753" y="146447"/>
                  <a:pt x="1417520" y="110728"/>
                </a:cubicBezTo>
                <a:cubicBezTo>
                  <a:pt x="1293152" y="78581"/>
                  <a:pt x="1172337" y="35719"/>
                  <a:pt x="1047969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Scenery of Loess Plateau in North China's Shanxi[1 ...">
            <a:extLst>
              <a:ext uri="{FF2B5EF4-FFF2-40B4-BE49-F238E27FC236}">
                <a16:creationId xmlns:a16="http://schemas.microsoft.com/office/drawing/2014/main" id="{D5EE2331-B656-8112-77D0-74CC7F477D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743" b="12777"/>
          <a:stretch>
            <a:fillRect/>
          </a:stretch>
        </p:blipFill>
        <p:spPr bwMode="auto">
          <a:xfrm>
            <a:off x="4726728" y="3802961"/>
            <a:ext cx="7472381" cy="3055043"/>
          </a:xfrm>
          <a:custGeom>
            <a:avLst/>
            <a:gdLst/>
            <a:ahLst/>
            <a:cxnLst/>
            <a:rect l="l" t="t" r="r" b="b"/>
            <a:pathLst>
              <a:path w="7472381" h="3055043">
                <a:moveTo>
                  <a:pt x="638975" y="0"/>
                </a:moveTo>
                <a:lnTo>
                  <a:pt x="7472381" y="0"/>
                </a:lnTo>
                <a:lnTo>
                  <a:pt x="7472381" y="2579984"/>
                </a:lnTo>
                <a:lnTo>
                  <a:pt x="7472381" y="3055043"/>
                </a:lnTo>
                <a:lnTo>
                  <a:pt x="6992676" y="3055043"/>
                </a:lnTo>
                <a:lnTo>
                  <a:pt x="1946893" y="3055043"/>
                </a:lnTo>
                <a:cubicBezTo>
                  <a:pt x="1801205" y="2983605"/>
                  <a:pt x="1662624" y="2897880"/>
                  <a:pt x="1506276" y="2855018"/>
                </a:cubicBezTo>
                <a:cubicBezTo>
                  <a:pt x="1399675" y="2826443"/>
                  <a:pt x="1296627" y="2776437"/>
                  <a:pt x="1314394" y="2626417"/>
                </a:cubicBezTo>
                <a:cubicBezTo>
                  <a:pt x="1317947" y="2583555"/>
                  <a:pt x="1289520" y="2551409"/>
                  <a:pt x="1246880" y="2562124"/>
                </a:cubicBezTo>
                <a:cubicBezTo>
                  <a:pt x="1165153" y="2583555"/>
                  <a:pt x="1126065" y="2522833"/>
                  <a:pt x="1079872" y="2476399"/>
                </a:cubicBezTo>
                <a:cubicBezTo>
                  <a:pt x="998144" y="2394247"/>
                  <a:pt x="919970" y="2308520"/>
                  <a:pt x="788495" y="2294233"/>
                </a:cubicBezTo>
                <a:cubicBezTo>
                  <a:pt x="813369" y="2229939"/>
                  <a:pt x="856009" y="2237083"/>
                  <a:pt x="895097" y="2251371"/>
                </a:cubicBezTo>
                <a:cubicBezTo>
                  <a:pt x="998144" y="2287090"/>
                  <a:pt x="1101192" y="2326380"/>
                  <a:pt x="1204239" y="2362099"/>
                </a:cubicBezTo>
                <a:cubicBezTo>
                  <a:pt x="1271754" y="2383530"/>
                  <a:pt x="1339267" y="2415677"/>
                  <a:pt x="1428102" y="2390674"/>
                </a:cubicBezTo>
                <a:cubicBezTo>
                  <a:pt x="1349928" y="2262087"/>
                  <a:pt x="1218453" y="2237083"/>
                  <a:pt x="1111852" y="2197793"/>
                </a:cubicBezTo>
                <a:cubicBezTo>
                  <a:pt x="980377" y="2147787"/>
                  <a:pt x="902203" y="2054918"/>
                  <a:pt x="806262" y="1947762"/>
                </a:cubicBezTo>
                <a:cubicBezTo>
                  <a:pt x="902203" y="1919187"/>
                  <a:pt x="962610" y="1997768"/>
                  <a:pt x="1040785" y="1994196"/>
                </a:cubicBezTo>
                <a:cubicBezTo>
                  <a:pt x="1044338" y="1983480"/>
                  <a:pt x="1051445" y="1962049"/>
                  <a:pt x="1051445" y="1962049"/>
                </a:cubicBezTo>
                <a:cubicBezTo>
                  <a:pt x="923523" y="1904899"/>
                  <a:pt x="866670" y="1797743"/>
                  <a:pt x="845349" y="1665583"/>
                </a:cubicBezTo>
                <a:cubicBezTo>
                  <a:pt x="838243" y="1597718"/>
                  <a:pt x="792049" y="1576287"/>
                  <a:pt x="745855" y="1544140"/>
                </a:cubicBezTo>
                <a:cubicBezTo>
                  <a:pt x="589507" y="1433411"/>
                  <a:pt x="422499" y="1333399"/>
                  <a:pt x="291024" y="1183381"/>
                </a:cubicBezTo>
                <a:cubicBezTo>
                  <a:pt x="443819" y="1201239"/>
                  <a:pt x="564633" y="1301252"/>
                  <a:pt x="724535" y="1344115"/>
                </a:cubicBezTo>
                <a:cubicBezTo>
                  <a:pt x="596614" y="1179808"/>
                  <a:pt x="429605" y="1094083"/>
                  <a:pt x="276811" y="994071"/>
                </a:cubicBezTo>
                <a:cubicBezTo>
                  <a:pt x="205743" y="947637"/>
                  <a:pt x="141783" y="890486"/>
                  <a:pt x="60055" y="865484"/>
                </a:cubicBezTo>
                <a:cubicBezTo>
                  <a:pt x="31628" y="858340"/>
                  <a:pt x="-18119" y="840481"/>
                  <a:pt x="6755" y="790474"/>
                </a:cubicBezTo>
                <a:cubicBezTo>
                  <a:pt x="28075" y="747612"/>
                  <a:pt x="67162" y="761900"/>
                  <a:pt x="102696" y="772614"/>
                </a:cubicBezTo>
                <a:cubicBezTo>
                  <a:pt x="187976" y="801190"/>
                  <a:pt x="280364" y="801190"/>
                  <a:pt x="397625" y="801190"/>
                </a:cubicBezTo>
                <a:cubicBezTo>
                  <a:pt x="298131" y="665458"/>
                  <a:pt x="116909" y="708321"/>
                  <a:pt x="31628" y="565446"/>
                </a:cubicBezTo>
                <a:cubicBezTo>
                  <a:pt x="138229" y="540444"/>
                  <a:pt x="219957" y="590450"/>
                  <a:pt x="305237" y="601165"/>
                </a:cubicBezTo>
                <a:cubicBezTo>
                  <a:pt x="383412" y="611881"/>
                  <a:pt x="401178" y="586877"/>
                  <a:pt x="383412" y="508296"/>
                </a:cubicBezTo>
                <a:cubicBezTo>
                  <a:pt x="354985" y="386853"/>
                  <a:pt x="397625" y="326130"/>
                  <a:pt x="511333" y="358278"/>
                </a:cubicBezTo>
                <a:cubicBezTo>
                  <a:pt x="617934" y="390424"/>
                  <a:pt x="628594" y="343990"/>
                  <a:pt x="600167" y="276124"/>
                </a:cubicBezTo>
                <a:cubicBezTo>
                  <a:pt x="557527" y="176112"/>
                  <a:pt x="603720" y="97531"/>
                  <a:pt x="635701" y="1180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37132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2" name="Rectangle 2061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F953B6-0FE4-8E51-C13B-15A830D7F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41752"/>
            <a:ext cx="4391024" cy="1323439"/>
          </a:xfrm>
        </p:spPr>
        <p:txBody>
          <a:bodyPr anchor="t">
            <a:normAutofit/>
          </a:bodyPr>
          <a:lstStyle/>
          <a:p>
            <a:r>
              <a:rPr lang="hr-HR" sz="4000">
                <a:solidFill>
                  <a:schemeClr val="bg1"/>
                </a:solidFill>
              </a:rPr>
              <a:t>Mississippi River Delta, USA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2189E-FD6F-935C-56E2-C38E95476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46400"/>
            <a:ext cx="4391024" cy="2454300"/>
          </a:xfrm>
        </p:spPr>
        <p:txBody>
          <a:bodyPr>
            <a:normAutofit/>
          </a:bodyPr>
          <a:lstStyle/>
          <a:p>
            <a:r>
              <a:rPr lang="en-US" sz="2000">
                <a:solidFill>
                  <a:schemeClr val="bg1">
                    <a:alpha val="80000"/>
                  </a:schemeClr>
                </a:solidFill>
              </a:rPr>
              <a:t>Problem: Gubitak zemljišta od ~75 km2/godišnje zbog brana koje zadržavaju sediment i slijeganja tla.</a:t>
            </a:r>
          </a:p>
          <a:p>
            <a:r>
              <a:rPr lang="en-US" sz="2000">
                <a:solidFill>
                  <a:schemeClr val="bg1">
                    <a:alpha val="80000"/>
                  </a:schemeClr>
                </a:solidFill>
              </a:rPr>
              <a:t>Djelovanje: Projektiranje preusmjeravanja sedimenta radi preusmjeravanja riječnog sedimenta radi obnove obalnih močvara.</a:t>
            </a:r>
            <a:endParaRPr lang="hr-HR" sz="2000">
              <a:solidFill>
                <a:schemeClr val="bg1">
                  <a:alpha val="80000"/>
                </a:schemeClr>
              </a:solidFill>
            </a:endParaRPr>
          </a:p>
        </p:txBody>
      </p:sp>
      <p:grpSp>
        <p:nvGrpSpPr>
          <p:cNvPr id="2064" name="Group 2063">
            <a:extLst>
              <a:ext uri="{FF2B5EF4-FFF2-40B4-BE49-F238E27FC236}">
                <a16:creationId xmlns:a16="http://schemas.microsoft.com/office/drawing/2014/main" id="{D44E3F87-3D58-4B03-86B2-15A5C5B9C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96000" y="841376"/>
            <a:ext cx="5260976" cy="4707593"/>
            <a:chOff x="6096000" y="841376"/>
            <a:chExt cx="5260976" cy="4707593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grpSp>
          <p:nvGrpSpPr>
            <p:cNvPr id="2065" name="Group 2064">
              <a:extLst>
                <a:ext uri="{FF2B5EF4-FFF2-40B4-BE49-F238E27FC236}">
                  <a16:creationId xmlns:a16="http://schemas.microsoft.com/office/drawing/2014/main" id="{B4D09509-F6FC-47A6-B196-CCCFD8E830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96001" y="841376"/>
              <a:ext cx="5260975" cy="4707593"/>
              <a:chOff x="6096001" y="841376"/>
              <a:chExt cx="5260975" cy="4707593"/>
            </a:xfrm>
          </p:grpSpPr>
          <p:sp>
            <p:nvSpPr>
              <p:cNvPr id="2069" name="Freeform: Shape 2068">
                <a:extLst>
                  <a:ext uri="{FF2B5EF4-FFF2-40B4-BE49-F238E27FC236}">
                    <a16:creationId xmlns:a16="http://schemas.microsoft.com/office/drawing/2014/main" id="{BA5B9D66-192D-4F12-964D-2B23A1D275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70" name="Freeform: Shape 2069">
                <a:extLst>
                  <a:ext uri="{FF2B5EF4-FFF2-40B4-BE49-F238E27FC236}">
                    <a16:creationId xmlns:a16="http://schemas.microsoft.com/office/drawing/2014/main" id="{C9C14E68-C469-4A71-AF08-169DB545FC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066" name="Group 2065">
              <a:extLst>
                <a:ext uri="{FF2B5EF4-FFF2-40B4-BE49-F238E27FC236}">
                  <a16:creationId xmlns:a16="http://schemas.microsoft.com/office/drawing/2014/main" id="{B2C18990-7F62-45E8-B68F-47E95E481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96000" y="4138312"/>
              <a:ext cx="5260975" cy="1410656"/>
              <a:chOff x="6096000" y="4138312"/>
              <a:chExt cx="5260975" cy="1410656"/>
            </a:xfrm>
          </p:grpSpPr>
          <p:sp>
            <p:nvSpPr>
              <p:cNvPr id="2067" name="Freeform: Shape 2066">
                <a:extLst>
                  <a:ext uri="{FF2B5EF4-FFF2-40B4-BE49-F238E27FC236}">
                    <a16:creationId xmlns:a16="http://schemas.microsoft.com/office/drawing/2014/main" id="{AC206BB2-3759-4DF0-9932-7445B6367A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68" name="Freeform: Shape 2067">
                <a:extLst>
                  <a:ext uri="{FF2B5EF4-FFF2-40B4-BE49-F238E27FC236}">
                    <a16:creationId xmlns:a16="http://schemas.microsoft.com/office/drawing/2014/main" id="{381FA6FA-3CB6-4F57-8871-82DDE5BE86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blipFill dpi="0" rotWithShape="1">
                <a:blip r:embed="rId2">
                  <a:alphaModFix amt="57000"/>
                </a:blip>
                <a:srcRect/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2050" name="Picture 2" descr="Mississippi River water level so low, people are walking to ...">
            <a:extLst>
              <a:ext uri="{FF2B5EF4-FFF2-40B4-BE49-F238E27FC236}">
                <a16:creationId xmlns:a16="http://schemas.microsoft.com/office/drawing/2014/main" id="{6C9A03F9-13DA-088C-9C7D-E9B9B8A0BD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9" r="3285" b="2"/>
          <a:stretch>
            <a:fillRect/>
          </a:stretch>
        </p:blipFill>
        <p:spPr bwMode="auto">
          <a:xfrm>
            <a:off x="6541932" y="1611141"/>
            <a:ext cx="4369112" cy="2542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67415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4FBB3-48BB-B18A-B620-CA298DB6D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0283" y="741391"/>
            <a:ext cx="3397017" cy="1616203"/>
          </a:xfrm>
        </p:spPr>
        <p:txBody>
          <a:bodyPr anchor="b">
            <a:normAutofit/>
          </a:bodyPr>
          <a:lstStyle/>
          <a:p>
            <a:r>
              <a:rPr lang="hr-HR" sz="3200"/>
              <a:t>Ethiopian Highlands</a:t>
            </a:r>
          </a:p>
        </p:txBody>
      </p:sp>
      <p:pic>
        <p:nvPicPr>
          <p:cNvPr id="3074" name="Picture 2" descr="Ethiopia Landscapes - Stunning Landscapes in Ethiopia">
            <a:extLst>
              <a:ext uri="{FF2B5EF4-FFF2-40B4-BE49-F238E27FC236}">
                <a16:creationId xmlns:a16="http://schemas.microsoft.com/office/drawing/2014/main" id="{1E027889-4FEE-A4C4-014F-897054F92D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19" r="6010" b="-1"/>
          <a:stretch>
            <a:fillRect/>
          </a:stretch>
        </p:blipFill>
        <p:spPr bwMode="auto">
          <a:xfrm>
            <a:off x="884698" y="877413"/>
            <a:ext cx="6406903" cy="5043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079" name="Group 3078">
            <a:extLst>
              <a:ext uri="{FF2B5EF4-FFF2-40B4-BE49-F238E27FC236}">
                <a16:creationId xmlns:a16="http://schemas.microsoft.com/office/drawing/2014/main" id="{BE589684-54CA-64D8-C963-5F19FF75B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84697" y="5858828"/>
            <a:ext cx="6406903" cy="123363"/>
            <a:chOff x="7015162" y="5858828"/>
            <a:chExt cx="4300544" cy="123363"/>
          </a:xfrm>
        </p:grpSpPr>
        <p:sp>
          <p:nvSpPr>
            <p:cNvPr id="3080" name="Rectangle 3079">
              <a:extLst>
                <a:ext uri="{FF2B5EF4-FFF2-40B4-BE49-F238E27FC236}">
                  <a16:creationId xmlns:a16="http://schemas.microsoft.com/office/drawing/2014/main" id="{9B56B8E8-B789-DA4D-E4BE-03FA3165B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03753" y="3770237"/>
              <a:ext cx="123362" cy="4300544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81" name="Rectangle 3080">
              <a:extLst>
                <a:ext uri="{FF2B5EF4-FFF2-40B4-BE49-F238E27FC236}">
                  <a16:creationId xmlns:a16="http://schemas.microsoft.com/office/drawing/2014/main" id="{2255D907-377D-0DF9-B4A4-4B44C46FB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09789" y="4876274"/>
              <a:ext cx="123362" cy="2088471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5E21E-C8D8-B528-3650-0AE68979E0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10284" y="2533476"/>
            <a:ext cx="3405415" cy="3447832"/>
          </a:xfrm>
        </p:spPr>
        <p:txBody>
          <a:bodyPr anchor="t">
            <a:normAutofit/>
          </a:bodyPr>
          <a:lstStyle/>
          <a:p>
            <a:r>
              <a:rPr lang="en-US" sz="2000" dirty="0"/>
              <a:t>Problem: </a:t>
            </a:r>
            <a:r>
              <a:rPr lang="en-US" sz="2000" dirty="0" err="1"/>
              <a:t>Ozbiljna</a:t>
            </a:r>
            <a:r>
              <a:rPr lang="en-US" sz="2000" dirty="0"/>
              <a:t> </a:t>
            </a:r>
            <a:r>
              <a:rPr lang="en-US" sz="2000" dirty="0" err="1"/>
              <a:t>degradacija</a:t>
            </a:r>
            <a:r>
              <a:rPr lang="en-US" sz="2000" dirty="0"/>
              <a:t> </a:t>
            </a:r>
            <a:r>
              <a:rPr lang="en-US" sz="2000" dirty="0" err="1"/>
              <a:t>zemljišta</a:t>
            </a:r>
            <a:r>
              <a:rPr lang="en-US" sz="2000" dirty="0"/>
              <a:t> </a:t>
            </a:r>
            <a:r>
              <a:rPr lang="en-US" sz="2000" dirty="0" err="1"/>
              <a:t>zbog</a:t>
            </a:r>
            <a:r>
              <a:rPr lang="en-US" sz="2000" dirty="0"/>
              <a:t> </a:t>
            </a:r>
            <a:r>
              <a:rPr lang="en-US" sz="2000" dirty="0" err="1"/>
              <a:t>krčenja</a:t>
            </a:r>
            <a:r>
              <a:rPr lang="en-US" sz="2000" dirty="0"/>
              <a:t> </a:t>
            </a:r>
            <a:r>
              <a:rPr lang="en-US" sz="2000" dirty="0" err="1"/>
              <a:t>šuma</a:t>
            </a:r>
            <a:r>
              <a:rPr lang="en-US" sz="2000" dirty="0"/>
              <a:t> </a:t>
            </a:r>
            <a:r>
              <a:rPr lang="en-US" sz="2000" dirty="0" err="1"/>
              <a:t>i</a:t>
            </a:r>
            <a:r>
              <a:rPr lang="en-US" sz="2000" dirty="0"/>
              <a:t> </a:t>
            </a:r>
            <a:r>
              <a:rPr lang="en-US" sz="2000" dirty="0" err="1"/>
              <a:t>prekomjerne</a:t>
            </a:r>
            <a:r>
              <a:rPr lang="en-US" sz="2000" dirty="0"/>
              <a:t> </a:t>
            </a:r>
            <a:r>
              <a:rPr lang="en-US" sz="2000" dirty="0" err="1"/>
              <a:t>ispaše</a:t>
            </a:r>
            <a:r>
              <a:rPr lang="en-US" sz="2000" dirty="0"/>
              <a:t>.</a:t>
            </a:r>
          </a:p>
          <a:p>
            <a:r>
              <a:rPr lang="en-US" sz="2000" dirty="0" err="1"/>
              <a:t>Djelovanje</a:t>
            </a:r>
            <a:r>
              <a:rPr lang="en-US" sz="2000" dirty="0"/>
              <a:t>: Programi </a:t>
            </a:r>
            <a:r>
              <a:rPr lang="en-US" sz="2000" dirty="0" err="1"/>
              <a:t>upravljanja</a:t>
            </a:r>
            <a:r>
              <a:rPr lang="en-US" sz="2000" dirty="0"/>
              <a:t> </a:t>
            </a:r>
            <a:r>
              <a:rPr lang="en-US" sz="2000" dirty="0" err="1"/>
              <a:t>slivovima</a:t>
            </a:r>
            <a:r>
              <a:rPr lang="en-US" sz="2000" dirty="0"/>
              <a:t> u </a:t>
            </a:r>
            <a:r>
              <a:rPr lang="en-US" sz="2000" dirty="0" err="1"/>
              <a:t>zajednici</a:t>
            </a:r>
            <a:r>
              <a:rPr lang="en-US" sz="2000" dirty="0"/>
              <a:t>.</a:t>
            </a:r>
          </a:p>
          <a:p>
            <a:r>
              <a:rPr lang="en-US" sz="2000" dirty="0" err="1"/>
              <a:t>Rezultat</a:t>
            </a:r>
            <a:r>
              <a:rPr lang="en-US" sz="2000" dirty="0"/>
              <a:t>: </a:t>
            </a:r>
            <a:r>
              <a:rPr lang="en-US" sz="2000" dirty="0" err="1"/>
              <a:t>Obnovljeni</a:t>
            </a:r>
            <a:r>
              <a:rPr lang="en-US" sz="2000" dirty="0"/>
              <a:t> </a:t>
            </a:r>
            <a:r>
              <a:rPr lang="en-US" sz="2000" dirty="0" err="1"/>
              <a:t>milijuni</a:t>
            </a:r>
            <a:r>
              <a:rPr lang="en-US" sz="2000" dirty="0"/>
              <a:t> </a:t>
            </a:r>
            <a:r>
              <a:rPr lang="en-US" sz="2000" dirty="0" err="1"/>
              <a:t>hektara</a:t>
            </a:r>
            <a:r>
              <a:rPr lang="en-US" sz="2000" dirty="0"/>
              <a:t> </a:t>
            </a:r>
            <a:r>
              <a:rPr lang="en-US" sz="2000" dirty="0" err="1"/>
              <a:t>kamenim</a:t>
            </a:r>
            <a:r>
              <a:rPr lang="en-US" sz="2000" dirty="0"/>
              <a:t> </a:t>
            </a:r>
            <a:r>
              <a:rPr lang="en-US" sz="2000" dirty="0" err="1"/>
              <a:t>nasipima</a:t>
            </a:r>
            <a:r>
              <a:rPr lang="en-US" sz="2000" dirty="0"/>
              <a:t> </a:t>
            </a:r>
            <a:r>
              <a:rPr lang="en-US" sz="2000" dirty="0" err="1"/>
              <a:t>i</a:t>
            </a:r>
            <a:r>
              <a:rPr lang="en-US" sz="2000" dirty="0"/>
              <a:t> </a:t>
            </a:r>
            <a:r>
              <a:rPr lang="en-US" sz="2000" dirty="0" err="1"/>
              <a:t>pošumljavanjem</a:t>
            </a:r>
            <a:r>
              <a:rPr lang="en-US" sz="2000" dirty="0"/>
              <a:t>.</a:t>
            </a:r>
            <a:endParaRPr lang="hr-HR" sz="2000" dirty="0"/>
          </a:p>
        </p:txBody>
      </p:sp>
    </p:spTree>
    <p:extLst>
      <p:ext uri="{BB962C8B-B14F-4D97-AF65-F5344CB8AC3E}">
        <p14:creationId xmlns:p14="http://schemas.microsoft.com/office/powerpoint/2010/main" val="32677512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!!Rectangle">
            <a:extLst>
              <a:ext uri="{FF2B5EF4-FFF2-40B4-BE49-F238E27FC236}">
                <a16:creationId xmlns:a16="http://schemas.microsoft.com/office/drawing/2014/main" id="{362810D9-2C5A-477D-949C-C191895477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8467"/>
            <a:ext cx="12191999" cy="686646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7C78D1-372A-C0EF-6E46-9FAFEB276D7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5000"/>
          </a:blip>
          <a:srcRect t="28936" b="31689"/>
          <a:stretch>
            <a:fillRect/>
          </a:stretch>
        </p:blipFill>
        <p:spPr>
          <a:xfrm>
            <a:off x="20" y="-9107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E8145A0-5AC0-1E93-3485-94D9EF2F5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</p:spPr>
        <p:txBody>
          <a:bodyPr>
            <a:normAutofit/>
          </a:bodyPr>
          <a:lstStyle/>
          <a:p>
            <a:r>
              <a:rPr lang="hr-HR">
                <a:solidFill>
                  <a:srgbClr val="FFFFFF"/>
                </a:solidFill>
              </a:rPr>
              <a:t>Sprječavanje štete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9E2AB43-347D-DF6A-C2B6-D99F4341CF6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47308" y="591344"/>
            <a:ext cx="6906491" cy="55856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 fontScale="92500" lnSpcReduction="20000"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Vegetativne </a:t>
            </a:r>
            <a:r>
              <a:rPr kumimoji="0" lang="sr-Latn-RS" altLang="sr-Latn-RS" sz="18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mjere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sr-Latn-RS" altLang="sr-Latn-RS" sz="18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Revegetacija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i pošumljavanje: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sr-Latn-RS" altLang="sr-Latn-RS" sz="18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Korijenje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veže tlo, a krošnja presreće oborine. e </a:t>
            </a:r>
            <a:r>
              <a:rPr kumimoji="0" lang="sr-Latn-RS" altLang="sr-Latn-RS" sz="18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Pokrovni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sr-Latn-RS" altLang="sr-Latn-RS" sz="18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usjevi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i </a:t>
            </a:r>
            <a:r>
              <a:rPr kumimoji="0" lang="sr-Latn-RS" altLang="sr-Latn-RS" sz="18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malčiranje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Održavanje zaštite tla između </a:t>
            </a:r>
            <a:r>
              <a:rPr kumimoji="0" lang="sr-Latn-RS" altLang="sr-Latn-RS" sz="18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vegetacijskih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sezona.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kumimoji="0" lang="sr-Latn-RS" altLang="sr-Latn-RS" sz="18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Priobalni zaštitni pojasevi: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sr-Latn-RS" altLang="sr-Latn-RS" sz="18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Vegetacijske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zone uz vodene </a:t>
            </a:r>
            <a:r>
              <a:rPr kumimoji="0" lang="sr-Latn-RS" altLang="sr-Latn-RS" sz="18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putove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hvataju sediment prije potoka.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kumimoji="0" lang="sr-Latn-RS" altLang="sr-Latn-RS" sz="18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Strukturne </a:t>
            </a:r>
            <a:r>
              <a:rPr kumimoji="0" lang="sr-Latn-RS" altLang="sr-Latn-RS" sz="18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mjere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sr-Latn-RS" altLang="sr-Latn-RS" sz="18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Terasiranje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Smanjuje duljinu padina i brzinu otjecanja na strmom terenu.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kumimoji="0" lang="sr-Latn-RS" altLang="sr-Latn-RS" sz="18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sr-Latn-RS" altLang="sr-Latn-RS" sz="18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Provjera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brana i sedimentnih bazena: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Hvatanje sedimenta u odvodnim kanalima.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kumimoji="0" lang="sr-Latn-RS" altLang="sr-Latn-RS" sz="18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Ograde od mulja: Privremene barijere za zaštitu poremećenih gradilišta.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kumimoji="0" lang="sr-Latn-RS" altLang="sr-Latn-RS" sz="18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sr-Latn-RS" altLang="sr-Latn-RS" sz="18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Praks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upravljanja zemljištem --Očuvanje-Obrada tla: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Očuvanje strukture tla i organske tvari-(bez obrade)- – Konturna poljoprivreda: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Oranje duž kontura padina za usporavanje otjecanja.</a:t>
            </a:r>
          </a:p>
        </p:txBody>
      </p:sp>
    </p:spTree>
    <p:extLst>
      <p:ext uri="{BB962C8B-B14F-4D97-AF65-F5344CB8AC3E}">
        <p14:creationId xmlns:p14="http://schemas.microsoft.com/office/powerpoint/2010/main" val="13855313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87BF42CA-AD55-48B4-8949-C4DCA60A6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6AE1D3D-3106-4CB2-AA7C-0C1642AC0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A31B6AF-B711-4CDB-8C2B-16E963DDC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8137" y="0"/>
            <a:ext cx="5646974" cy="6483075"/>
            <a:chOff x="-19221" y="0"/>
            <a:chExt cx="5646974" cy="6483075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A818331-E13C-49C6-B98D-A60AD0E8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7C4629D-4AB7-48D4-A61B-1AE1837A7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1E30050-9FC4-4CC7-8C0B-BF5EFD106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7E03733-50FD-49A6-B226-40F6A0AD4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A614510-A9F4-41B6-B78E-F49E390C7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ED27E88-BCAA-CDB2-FB64-0F7F8824E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053641"/>
            <a:ext cx="3669161" cy="2760098"/>
          </a:xfrm>
        </p:spPr>
        <p:txBody>
          <a:bodyPr>
            <a:normAutofit/>
          </a:bodyPr>
          <a:lstStyle/>
          <a:p>
            <a:r>
              <a:rPr lang="hr-HR" sz="4000">
                <a:solidFill>
                  <a:schemeClr val="tx2"/>
                </a:solidFill>
              </a:rPr>
              <a:t>Izvori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6641CB-86BA-46FC-4FE0-E8EB555514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9683" y="801866"/>
            <a:ext cx="6253019" cy="5230634"/>
          </a:xfrm>
          <a:noFill/>
          <a:ln>
            <a:noFill/>
          </a:ln>
        </p:spPr>
        <p:txBody>
          <a:bodyPr anchor="ctr">
            <a:normAutofit/>
          </a:bodyPr>
          <a:lstStyle/>
          <a:p>
            <a:r>
              <a:rPr lang="hr-HR" sz="1800" u="sng" dirty="0">
                <a:solidFill>
                  <a:schemeClr val="tx2"/>
                </a:solidFill>
                <a:hlinkClick r:id="rId2"/>
              </a:rPr>
              <a:t>https://www.wri.org/insights/causes-and-effects-soil-erosion-and-how-prevent-it</a:t>
            </a:r>
            <a:endParaRPr lang="hr-HR" sz="1800" b="0" dirty="0">
              <a:solidFill>
                <a:schemeClr val="tx2"/>
              </a:solidFill>
              <a:effectLst/>
            </a:endParaRPr>
          </a:p>
          <a:p>
            <a:r>
              <a:rPr lang="hr-HR" sz="1800" u="sng" dirty="0">
                <a:solidFill>
                  <a:schemeClr val="tx2"/>
                </a:solidFill>
                <a:hlinkClick r:id="rId3"/>
              </a:rPr>
              <a:t>https://www.slideshare.net/slideshow/natural-and-anthropogenic-impacts-on-sedimentation/266550919</a:t>
            </a:r>
            <a:endParaRPr lang="hr-HR" sz="1800" b="0" dirty="0">
              <a:solidFill>
                <a:schemeClr val="tx2"/>
              </a:solidFill>
              <a:effectLst/>
            </a:endParaRPr>
          </a:p>
          <a:p>
            <a:r>
              <a:rPr lang="hr-HR" sz="1800" u="sng" dirty="0">
                <a:solidFill>
                  <a:schemeClr val="tx2"/>
                </a:solidFill>
                <a:hlinkClick r:id="rId4"/>
              </a:rPr>
              <a:t>https://pmc.ncbi.nlm.nih.gov/articles/PMC7691505/</a:t>
            </a:r>
            <a:endParaRPr lang="hr-HR" sz="1800" b="0" dirty="0">
              <a:solidFill>
                <a:schemeClr val="tx2"/>
              </a:solidFill>
              <a:effectLst/>
            </a:endParaRPr>
          </a:p>
          <a:p>
            <a:r>
              <a:rPr lang="hr-HR" sz="1800" u="sng" dirty="0">
                <a:solidFill>
                  <a:schemeClr val="tx2"/>
                </a:solidFill>
                <a:hlinkClick r:id="rId5"/>
              </a:rPr>
              <a:t>https://en.wikipedia.org/wiki/Soil_erosion</a:t>
            </a:r>
            <a:endParaRPr lang="hr-HR" sz="1800" b="0" dirty="0">
              <a:solidFill>
                <a:schemeClr val="tx2"/>
              </a:solidFill>
              <a:effectLst/>
            </a:endParaRPr>
          </a:p>
          <a:p>
            <a:r>
              <a:rPr lang="hr-HR" sz="1800" u="sng" dirty="0">
                <a:solidFill>
                  <a:schemeClr val="tx2"/>
                </a:solidFill>
                <a:hlinkClick r:id="rId6"/>
              </a:rPr>
              <a:t>https://www.undrr.org/understanding-disaster-risk/terminology/hips/gh0403</a:t>
            </a:r>
            <a:endParaRPr lang="hr-HR" sz="1800" b="0" dirty="0">
              <a:solidFill>
                <a:schemeClr val="tx2"/>
              </a:solidFill>
              <a:effectLst/>
            </a:endParaRPr>
          </a:p>
          <a:p>
            <a:r>
              <a:rPr lang="hr-HR" sz="1800" u="sng" dirty="0">
                <a:solidFill>
                  <a:schemeClr val="tx2"/>
                </a:solidFill>
                <a:hlinkClick r:id="rId7"/>
              </a:rPr>
              <a:t>https://eos.com/blog/soil-erosion/</a:t>
            </a:r>
            <a:endParaRPr lang="hr-HR" sz="1800" b="0" dirty="0">
              <a:solidFill>
                <a:schemeClr val="tx2"/>
              </a:solidFill>
              <a:effectLst/>
            </a:endParaRPr>
          </a:p>
          <a:p>
            <a:endParaRPr lang="hr-HR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54917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568</Words>
  <Application>Microsoft Office PowerPoint</Application>
  <PresentationFormat>Widescreen</PresentationFormat>
  <Paragraphs>79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Erozija tla i akumulacija sedimenata</vt:lpstr>
      <vt:lpstr>Sadržaj</vt:lpstr>
      <vt:lpstr>Ukratko…</vt:lpstr>
      <vt:lpstr>Proces nastanka</vt:lpstr>
      <vt:lpstr>Uzročnici erozije tla</vt:lpstr>
      <vt:lpstr>Ljudsko djelovanje</vt:lpstr>
      <vt:lpstr>Posljedice</vt:lpstr>
      <vt:lpstr>China's Loess Plateau</vt:lpstr>
      <vt:lpstr>Mississippi River Delta, USA</vt:lpstr>
      <vt:lpstr>Ethiopian Highlands</vt:lpstr>
      <vt:lpstr>Sprječavanje štete</vt:lpstr>
      <vt:lpstr>Izvori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CrozzyBoii</dc:creator>
  <cp:lastModifiedBy>CrozzyBoii</cp:lastModifiedBy>
  <cp:revision>2</cp:revision>
  <dcterms:created xsi:type="dcterms:W3CDTF">2026-03-04T01:20:29Z</dcterms:created>
  <dcterms:modified xsi:type="dcterms:W3CDTF">2026-03-04T02:43:03Z</dcterms:modified>
</cp:coreProperties>
</file>